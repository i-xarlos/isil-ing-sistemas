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Lst>
  <p:sldSz cy="5715000" cx="9144000"/>
  <p:notesSz cx="6797675" cy="99266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iZSyRqKLTE8faMfuie/GVPohru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21" Type="http://schemas.openxmlformats.org/officeDocument/2006/relationships/slide" Target="slides/slide17.xml"/><Relationship Id="rId43" Type="http://customschemas.google.com/relationships/presentationmetadata" Target="meta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1"/>
            <a:ext cx="2945659" cy="49805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50443" y="1"/>
            <a:ext cx="2945659" cy="498056"/>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28584"/>
            <a:ext cx="2945659" cy="49805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P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Arial"/>
              <a:buNone/>
            </a:pPr>
            <a:r>
              <a:t/>
            </a:r>
            <a:endParaRPr>
              <a:latin typeface="Arial"/>
              <a:ea typeface="Arial"/>
              <a:cs typeface="Arial"/>
              <a:sym typeface="Arial"/>
            </a:endParaRPr>
          </a:p>
        </p:txBody>
      </p:sp>
      <p:sp>
        <p:nvSpPr>
          <p:cNvPr id="29" name="Google Shape;29;p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4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 name="Google Shape;40;p4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41" name="Google Shape;41;p4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s-P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52" name="Google Shape;52;p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p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65" name="Google Shape;65;p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100">
              <a:latin typeface="Arial"/>
              <a:ea typeface="Arial"/>
              <a:cs typeface="Arial"/>
              <a:sym typeface="Arial"/>
            </a:endParaRPr>
          </a:p>
        </p:txBody>
      </p:sp>
      <p:sp>
        <p:nvSpPr>
          <p:cNvPr id="73" name="Google Shape;73;p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PE" sz="900">
                <a:latin typeface="Arial"/>
                <a:ea typeface="Arial"/>
                <a:cs typeface="Arial"/>
                <a:sym typeface="Arial"/>
              </a:rPr>
              <a:t>Un ejemplo que puede usarse: </a:t>
            </a:r>
            <a:r>
              <a:rPr b="0" i="0" lang="es-PE" sz="900">
                <a:solidFill>
                  <a:srgbClr val="ECECEC"/>
                </a:solidFill>
                <a:latin typeface="Arial"/>
                <a:ea typeface="Arial"/>
                <a:cs typeface="Arial"/>
                <a:sym typeface="Arial"/>
              </a:rPr>
              <a:t>Imagina que has diseñado una nueva app para aprender a programar. Quieres saber si a los usuarios les gusta y cómo la usan. Aquí es donde entra la investigación cualitativa:</a:t>
            </a:r>
            <a:endParaRPr/>
          </a:p>
          <a:p>
            <a:pPr indent="-57150" lvl="0" marL="0" rtl="0" algn="l">
              <a:lnSpc>
                <a:spcPct val="100000"/>
              </a:lnSpc>
              <a:spcBef>
                <a:spcPts val="0"/>
              </a:spcBef>
              <a:spcAft>
                <a:spcPts val="0"/>
              </a:spcAft>
              <a:buClr>
                <a:srgbClr val="ECECEC"/>
              </a:buClr>
              <a:buSzPts val="900"/>
              <a:buFont typeface="Arial"/>
              <a:buChar char="•"/>
            </a:pPr>
            <a:r>
              <a:rPr b="1" i="0" lang="es-PE" sz="900">
                <a:solidFill>
                  <a:srgbClr val="ECECEC"/>
                </a:solidFill>
                <a:latin typeface="Arial"/>
                <a:ea typeface="Arial"/>
                <a:cs typeface="Arial"/>
                <a:sym typeface="Arial"/>
              </a:rPr>
              <a:t>Entrevistas</a:t>
            </a:r>
            <a:r>
              <a:rPr b="0" i="0" lang="es-PE" sz="900">
                <a:solidFill>
                  <a:srgbClr val="ECECEC"/>
                </a:solidFill>
                <a:latin typeface="Arial"/>
                <a:ea typeface="Arial"/>
                <a:cs typeface="Arial"/>
                <a:sym typeface="Arial"/>
              </a:rPr>
              <a:t>: Hablas con usuarios para saber qué piensan de la app, qué les gusta y qué no.</a:t>
            </a:r>
            <a:endParaRPr/>
          </a:p>
          <a:p>
            <a:pPr indent="-57150" lvl="0" marL="0" rtl="0" algn="l">
              <a:lnSpc>
                <a:spcPct val="100000"/>
              </a:lnSpc>
              <a:spcBef>
                <a:spcPts val="0"/>
              </a:spcBef>
              <a:spcAft>
                <a:spcPts val="0"/>
              </a:spcAft>
              <a:buClr>
                <a:srgbClr val="ECECEC"/>
              </a:buClr>
              <a:buSzPts val="900"/>
              <a:buFont typeface="Arial"/>
              <a:buChar char="•"/>
            </a:pPr>
            <a:r>
              <a:rPr b="1" i="0" lang="es-PE" sz="900">
                <a:solidFill>
                  <a:srgbClr val="ECECEC"/>
                </a:solidFill>
                <a:latin typeface="Arial"/>
                <a:ea typeface="Arial"/>
                <a:cs typeface="Arial"/>
                <a:sym typeface="Arial"/>
              </a:rPr>
              <a:t>Observación</a:t>
            </a:r>
            <a:r>
              <a:rPr b="0" i="0" lang="es-PE" sz="900">
                <a:solidFill>
                  <a:srgbClr val="ECECEC"/>
                </a:solidFill>
                <a:latin typeface="Arial"/>
                <a:ea typeface="Arial"/>
                <a:cs typeface="Arial"/>
                <a:sym typeface="Arial"/>
              </a:rPr>
              <a:t>: Observas a algunas personas usando la app, anotando cualquier problema que tengan y cómo intentan solucionarlo.</a:t>
            </a:r>
            <a:endParaRPr/>
          </a:p>
          <a:p>
            <a:pPr indent="-57150" lvl="0" marL="0" rtl="0" algn="l">
              <a:lnSpc>
                <a:spcPct val="100000"/>
              </a:lnSpc>
              <a:spcBef>
                <a:spcPts val="0"/>
              </a:spcBef>
              <a:spcAft>
                <a:spcPts val="0"/>
              </a:spcAft>
              <a:buClr>
                <a:srgbClr val="ECECEC"/>
              </a:buClr>
              <a:buSzPts val="900"/>
              <a:buFont typeface="Arial"/>
              <a:buChar char="•"/>
            </a:pPr>
            <a:r>
              <a:rPr b="1" i="0" lang="es-PE" sz="900">
                <a:solidFill>
                  <a:srgbClr val="ECECEC"/>
                </a:solidFill>
                <a:latin typeface="Arial"/>
                <a:ea typeface="Arial"/>
                <a:cs typeface="Arial"/>
                <a:sym typeface="Arial"/>
              </a:rPr>
              <a:t>Grupos de Discusión</a:t>
            </a:r>
            <a:r>
              <a:rPr b="0" i="0" lang="es-PE" sz="900">
                <a:solidFill>
                  <a:srgbClr val="ECECEC"/>
                </a:solidFill>
                <a:latin typeface="Arial"/>
                <a:ea typeface="Arial"/>
                <a:cs typeface="Arial"/>
                <a:sym typeface="Arial"/>
              </a:rPr>
              <a:t>: Juntas a algunos usuarios para que discutan sus experiencias, lo que te puede dar ideas sobre mejoras o nuevas funciones.</a:t>
            </a:r>
            <a:endParaRPr/>
          </a:p>
          <a:p>
            <a:pPr indent="0" lvl="0" marL="0" rtl="0" algn="l">
              <a:lnSpc>
                <a:spcPct val="100000"/>
              </a:lnSpc>
              <a:spcBef>
                <a:spcPts val="0"/>
              </a:spcBef>
              <a:spcAft>
                <a:spcPts val="0"/>
              </a:spcAft>
              <a:buSzPts val="1400"/>
              <a:buNone/>
            </a:pPr>
            <a:r>
              <a:t/>
            </a:r>
            <a:endParaRPr sz="1100">
              <a:latin typeface="Arial"/>
              <a:ea typeface="Arial"/>
              <a:cs typeface="Arial"/>
              <a:sym typeface="Arial"/>
            </a:endParaRPr>
          </a:p>
        </p:txBody>
      </p:sp>
      <p:sp>
        <p:nvSpPr>
          <p:cNvPr id="80" name="Google Shape;80;p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91" name="Google Shape;91;p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PE" sz="1000">
                <a:latin typeface="Arial"/>
                <a:ea typeface="Arial"/>
                <a:cs typeface="Arial"/>
                <a:sym typeface="Arial"/>
              </a:rPr>
              <a:t>Encuestas: Envías una encuesta a tus usuarios preguntándoles que califiquen su satisfacción del 1 al 10 antes y después de usar la nueva función.</a:t>
            </a:r>
            <a:endParaRPr/>
          </a:p>
          <a:p>
            <a:pPr indent="0" lvl="0" marL="0" marR="0" rtl="0" algn="l">
              <a:lnSpc>
                <a:spcPct val="100000"/>
              </a:lnSpc>
              <a:spcBef>
                <a:spcPts val="0"/>
              </a:spcBef>
              <a:spcAft>
                <a:spcPts val="0"/>
              </a:spcAft>
              <a:buClr>
                <a:schemeClr val="dk1"/>
              </a:buClr>
              <a:buSzPts val="1000"/>
              <a:buFont typeface="Arial"/>
              <a:buNone/>
            </a:pPr>
            <a:r>
              <a:rPr lang="es-PE" sz="1000">
                <a:latin typeface="Arial"/>
                <a:ea typeface="Arial"/>
                <a:cs typeface="Arial"/>
                <a:sym typeface="Arial"/>
              </a:rPr>
              <a:t>Experimentos: Realizas un A/B testing, mostrando la nueva función a la mitad de los usuarios y la versión anterior a la otra mitad, comparando las tasas de uso y satisfacción entre ambos grupos.</a:t>
            </a:r>
            <a:endParaRPr sz="1000">
              <a:latin typeface="Arial"/>
              <a:ea typeface="Arial"/>
              <a:cs typeface="Arial"/>
              <a:sym typeface="Arial"/>
            </a:endParaRPr>
          </a:p>
          <a:p>
            <a:pPr indent="0" lvl="0" marL="0" marR="0" rtl="0" algn="l">
              <a:lnSpc>
                <a:spcPct val="100000"/>
              </a:lnSpc>
              <a:spcBef>
                <a:spcPts val="0"/>
              </a:spcBef>
              <a:spcAft>
                <a:spcPts val="0"/>
              </a:spcAft>
              <a:buClr>
                <a:schemeClr val="dk1"/>
              </a:buClr>
              <a:buSzPts val="1000"/>
              <a:buFont typeface="Arial"/>
              <a:buNone/>
            </a:pPr>
            <a:r>
              <a:rPr lang="es-PE" sz="1000">
                <a:latin typeface="Arial"/>
                <a:ea typeface="Arial"/>
                <a:cs typeface="Arial"/>
                <a:sym typeface="Arial"/>
              </a:rPr>
              <a:t>Recolecciones de Datos: Analizas las respuestas usando software estadístico para ver si la satisfacción promedio ha aumentado (Ejm: Amplitude imagen)</a:t>
            </a:r>
            <a:endParaRPr/>
          </a:p>
        </p:txBody>
      </p:sp>
      <p:sp>
        <p:nvSpPr>
          <p:cNvPr id="106" name="Google Shape;106;p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p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123" name="Google Shape;123;p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134" name="Google Shape;134;p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1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050"/>
              <a:buFont typeface="Arial"/>
              <a:buNone/>
            </a:pPr>
            <a:r>
              <a:rPr lang="es-PE" sz="1050">
                <a:latin typeface="Arial"/>
                <a:ea typeface="Arial"/>
                <a:cs typeface="Arial"/>
                <a:sym typeface="Arial"/>
              </a:rPr>
              <a:t>Sin embargo, no se trata de descubrir la pólvora constantemente, hay empresas que ya destinan parte de su presupuesto para poder desarrollar contenidos que puedan ser de valor para otras instituciones.</a:t>
            </a:r>
            <a:endParaRPr/>
          </a:p>
          <a:p>
            <a:pPr indent="0" lvl="0" marL="0" rtl="0" algn="l">
              <a:lnSpc>
                <a:spcPct val="100000"/>
              </a:lnSpc>
              <a:spcBef>
                <a:spcPts val="0"/>
              </a:spcBef>
              <a:spcAft>
                <a:spcPts val="0"/>
              </a:spcAft>
              <a:buClr>
                <a:schemeClr val="dk1"/>
              </a:buClr>
              <a:buSzPts val="1050"/>
              <a:buFont typeface="Arial"/>
              <a:buNone/>
            </a:pPr>
            <a:r>
              <a:rPr lang="es-PE" sz="1050">
                <a:latin typeface="Arial"/>
                <a:ea typeface="Arial"/>
                <a:cs typeface="Arial"/>
                <a:sym typeface="Arial"/>
              </a:rPr>
              <a:t>Claro está que para acceder a esta información muchas veces se tiene que pagar.</a:t>
            </a:r>
            <a:endParaRPr/>
          </a:p>
          <a:p>
            <a:pPr indent="0" lvl="0" marL="0" rtl="0" algn="l">
              <a:lnSpc>
                <a:spcPct val="100000"/>
              </a:lnSpc>
              <a:spcBef>
                <a:spcPts val="0"/>
              </a:spcBef>
              <a:spcAft>
                <a:spcPts val="0"/>
              </a:spcAft>
              <a:buClr>
                <a:schemeClr val="dk1"/>
              </a:buClr>
              <a:buSzPts val="1050"/>
              <a:buFont typeface="Arial"/>
              <a:buNone/>
            </a:pPr>
            <a:r>
              <a:rPr lang="es-PE" sz="1050">
                <a:latin typeface="Arial"/>
                <a:ea typeface="Arial"/>
                <a:cs typeface="Arial"/>
                <a:sym typeface="Arial"/>
              </a:rPr>
              <a:t>Ejemplo: Revistas reconocidas como HBR, McKinsey &amp; otras consultoras que publican sus hallazgos y tendencias para lo que se viene en adelante.</a:t>
            </a:r>
            <a:endParaRPr/>
          </a:p>
        </p:txBody>
      </p:sp>
      <p:sp>
        <p:nvSpPr>
          <p:cNvPr id="144" name="Google Shape;144;p1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1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lang="es-PE" sz="1000">
                <a:latin typeface="Arial"/>
                <a:ea typeface="Arial"/>
                <a:cs typeface="Arial"/>
                <a:sym typeface="Arial"/>
              </a:rPr>
              <a:t>Si todo es importante / prioridad, entonces nada es importante / prioridad.</a:t>
            </a:r>
            <a:endParaRPr/>
          </a:p>
          <a:p>
            <a:pPr indent="0" lvl="0" marL="0" marR="0" rtl="0" algn="l">
              <a:lnSpc>
                <a:spcPct val="100000"/>
              </a:lnSpc>
              <a:spcBef>
                <a:spcPts val="0"/>
              </a:spcBef>
              <a:spcAft>
                <a:spcPts val="0"/>
              </a:spcAft>
              <a:buClr>
                <a:schemeClr val="dk1"/>
              </a:buClr>
              <a:buSzPts val="1000"/>
              <a:buFont typeface="Calibri"/>
              <a:buNone/>
            </a:pPr>
            <a:r>
              <a:t/>
            </a:r>
            <a:endParaRPr sz="1000">
              <a:latin typeface="Arial"/>
              <a:ea typeface="Arial"/>
              <a:cs typeface="Arial"/>
              <a:sym typeface="Arial"/>
            </a:endParaRPr>
          </a:p>
        </p:txBody>
      </p:sp>
      <p:sp>
        <p:nvSpPr>
          <p:cNvPr id="161" name="Google Shape;161;p1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1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Arial"/>
              <a:buNone/>
            </a:pPr>
            <a:r>
              <a:rPr lang="es-PE">
                <a:latin typeface="Arial"/>
                <a:ea typeface="Arial"/>
                <a:cs typeface="Arial"/>
                <a:sym typeface="Arial"/>
              </a:rPr>
              <a:t>Las fuentes secundarias siempre van a tener una diversidad más amplia de mercado entrevistado, lo cual es importante a tomar en cuenta pues las realidades son distintas entre países / regiones / continentes. Pongámonos a pensar en nuestras tradiciones, comidas, costumbres que finalmente nos llevan a comportarnos de una manera. </a:t>
            </a:r>
            <a:endParaRPr/>
          </a:p>
          <a:p>
            <a:pPr indent="0" lvl="0" marL="0" rtl="0" algn="l">
              <a:lnSpc>
                <a:spcPct val="100000"/>
              </a:lnSpc>
              <a:spcBef>
                <a:spcPts val="0"/>
              </a:spcBef>
              <a:spcAft>
                <a:spcPts val="0"/>
              </a:spcAft>
              <a:buClr>
                <a:schemeClr val="dk1"/>
              </a:buClr>
              <a:buSzPts val="1200"/>
              <a:buFont typeface="Arial"/>
              <a:buNone/>
            </a:pPr>
            <a:r>
              <a:rPr lang="es-PE">
                <a:latin typeface="Arial"/>
                <a:ea typeface="Arial"/>
                <a:cs typeface="Arial"/>
                <a:sym typeface="Arial"/>
              </a:rPr>
              <a:t>Ejemplo: gamers vs. Deportistas, </a:t>
            </a:r>
            <a:endParaRPr/>
          </a:p>
          <a:p>
            <a:pPr indent="0" lvl="0" marL="0" rtl="0" algn="l">
              <a:lnSpc>
                <a:spcPct val="100000"/>
              </a:lnSpc>
              <a:spcBef>
                <a:spcPts val="0"/>
              </a:spcBef>
              <a:spcAft>
                <a:spcPts val="0"/>
              </a:spcAft>
              <a:buClr>
                <a:schemeClr val="dk1"/>
              </a:buClr>
              <a:buSzPts val="1200"/>
              <a:buFont typeface="Arial"/>
              <a:buNone/>
            </a:pPr>
            <a:r>
              <a:rPr lang="es-PE">
                <a:latin typeface="Arial"/>
                <a:ea typeface="Arial"/>
                <a:cs typeface="Arial"/>
                <a:sym typeface="Arial"/>
              </a:rPr>
              <a:t>Un enfoque cliente céntrico debe discernir muy bien esta información para entender cómo la va a utilizar.</a:t>
            </a:r>
            <a:endParaRPr/>
          </a:p>
        </p:txBody>
      </p:sp>
      <p:sp>
        <p:nvSpPr>
          <p:cNvPr id="186" name="Google Shape;186;p1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1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4" name="Google Shape;204;p1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212" name="Google Shape;212;p1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1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Arial"/>
              <a:buNone/>
            </a:pPr>
            <a:r>
              <a:rPr lang="es-PE">
                <a:latin typeface="Arial"/>
                <a:ea typeface="Arial"/>
                <a:cs typeface="Arial"/>
                <a:sym typeface="Arial"/>
              </a:rPr>
              <a:t>¿Alguna vez han visto este tipo de campañas?</a:t>
            </a:r>
            <a:endParaRPr/>
          </a:p>
          <a:p>
            <a:pPr indent="0" lvl="0" marL="0" rtl="0" algn="l">
              <a:lnSpc>
                <a:spcPct val="100000"/>
              </a:lnSpc>
              <a:spcBef>
                <a:spcPts val="0"/>
              </a:spcBef>
              <a:spcAft>
                <a:spcPts val="0"/>
              </a:spcAft>
              <a:buClr>
                <a:schemeClr val="dk1"/>
              </a:buClr>
              <a:buSzPts val="1200"/>
              <a:buFont typeface="Arial"/>
              <a:buNone/>
            </a:pPr>
            <a:r>
              <a:rPr lang="es-PE">
                <a:latin typeface="Arial"/>
                <a:ea typeface="Arial"/>
                <a:cs typeface="Arial"/>
                <a:sym typeface="Arial"/>
              </a:rPr>
              <a:t>Colocar imágenes de NPS, campañas de “responde y gánate XYZ”, QRs después de comer un menú.</a:t>
            </a:r>
            <a:endParaRPr/>
          </a:p>
        </p:txBody>
      </p:sp>
      <p:sp>
        <p:nvSpPr>
          <p:cNvPr id="221" name="Google Shape;221;p1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1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PE" sz="1000">
                <a:latin typeface="Arial"/>
                <a:ea typeface="Arial"/>
                <a:cs typeface="Arial"/>
                <a:sym typeface="Arial"/>
              </a:rPr>
              <a:t>Nota: Sí, en definitiva puede ser complicado y engorroso hacer todo esto, pero para eso es importante que nos apoyemos de las herramientas digitales que existen.</a:t>
            </a:r>
            <a:endParaRPr sz="1000">
              <a:latin typeface="Arial"/>
              <a:ea typeface="Arial"/>
              <a:cs typeface="Arial"/>
              <a:sym typeface="Arial"/>
            </a:endParaRPr>
          </a:p>
        </p:txBody>
      </p:sp>
      <p:sp>
        <p:nvSpPr>
          <p:cNvPr id="232" name="Google Shape;232;p1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1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243" name="Google Shape;243;p1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1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262" name="Google Shape;262;p1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1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2" name="Google Shape;302;p1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2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310" name="Google Shape;310;p2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p2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350" name="Google Shape;350;p2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p2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1400"/>
              <a:buNone/>
            </a:pPr>
            <a:r>
              <a:t/>
            </a:r>
            <a:endParaRPr sz="1200">
              <a:latin typeface="Arial"/>
              <a:ea typeface="Arial"/>
              <a:cs typeface="Arial"/>
              <a:sym typeface="Arial"/>
            </a:endParaRPr>
          </a:p>
        </p:txBody>
      </p:sp>
      <p:sp>
        <p:nvSpPr>
          <p:cNvPr id="359" name="Google Shape;359;p2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2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2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050"/>
              <a:buFont typeface="Arial"/>
              <a:buNone/>
            </a:pPr>
            <a:r>
              <a:rPr lang="es-PE" sz="1050">
                <a:latin typeface="Arial"/>
                <a:ea typeface="Arial"/>
                <a:cs typeface="Arial"/>
                <a:sym typeface="Arial"/>
              </a:rPr>
              <a:t>Es importante que entiendan que este proceso se ejecuta SEA CUANTITATIVA o CUALITATIVAMENTE. Se puede llegar a dibujar algo en pizarra para poder facilitar el entendimiento de esta parte.</a:t>
            </a:r>
            <a:endParaRPr/>
          </a:p>
          <a:p>
            <a:pPr indent="0" lvl="0" marL="0" rtl="0" algn="l">
              <a:lnSpc>
                <a:spcPct val="100000"/>
              </a:lnSpc>
              <a:spcBef>
                <a:spcPts val="0"/>
              </a:spcBef>
              <a:spcAft>
                <a:spcPts val="0"/>
              </a:spcAft>
              <a:buClr>
                <a:schemeClr val="dk1"/>
              </a:buClr>
              <a:buSzPts val="1050"/>
              <a:buFont typeface="Arial"/>
              <a:buNone/>
            </a:pPr>
            <a:r>
              <a:rPr lang="es-PE" sz="1050">
                <a:latin typeface="Arial"/>
                <a:ea typeface="Arial"/>
                <a:cs typeface="Arial"/>
                <a:sym typeface="Arial"/>
              </a:rPr>
              <a:t>Ejemplo: Sesión de brainstorming o retrospectiva.</a:t>
            </a:r>
            <a:endParaRPr/>
          </a:p>
        </p:txBody>
      </p:sp>
      <p:sp>
        <p:nvSpPr>
          <p:cNvPr id="395" name="Google Shape;395;p2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p2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000">
              <a:latin typeface="Arial"/>
              <a:ea typeface="Arial"/>
              <a:cs typeface="Arial"/>
              <a:sym typeface="Arial"/>
            </a:endParaRPr>
          </a:p>
        </p:txBody>
      </p:sp>
      <p:sp>
        <p:nvSpPr>
          <p:cNvPr id="405" name="Google Shape;405;p2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2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p2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PE" sz="1050">
                <a:latin typeface="Arial"/>
                <a:ea typeface="Arial"/>
                <a:cs typeface="Arial"/>
                <a:sym typeface="Arial"/>
              </a:rPr>
              <a:t>Seamos pragmáticos: Si no nos sirve, entonces no podemos considerarlo un análisis o insight valioso.</a:t>
            </a:r>
            <a:endParaRPr sz="1050">
              <a:latin typeface="Arial"/>
              <a:ea typeface="Arial"/>
              <a:cs typeface="Arial"/>
              <a:sym typeface="Arial"/>
            </a:endParaRPr>
          </a:p>
        </p:txBody>
      </p:sp>
      <p:sp>
        <p:nvSpPr>
          <p:cNvPr id="433" name="Google Shape;433;p2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2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p2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400">
              <a:latin typeface="Arial"/>
              <a:ea typeface="Arial"/>
              <a:cs typeface="Arial"/>
              <a:sym typeface="Arial"/>
            </a:endParaRPr>
          </a:p>
        </p:txBody>
      </p:sp>
      <p:sp>
        <p:nvSpPr>
          <p:cNvPr id="456" name="Google Shape;456;p2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2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p2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464" name="Google Shape;464;p2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2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1" name="Google Shape;471;p2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472" name="Google Shape;472;p2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2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481" name="Google Shape;481;p2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3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p3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491" name="Google Shape;491;p3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3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8" name="Google Shape;498;p3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499" name="Google Shape;499;p3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3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 name="Google Shape;506;p3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507" name="Google Shape;507;p3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49:notes"/>
          <p:cNvSpPr txBox="1"/>
          <p:nvPr>
            <p:ph idx="1" type="body"/>
          </p:nvPr>
        </p:nvSpPr>
        <p:spPr>
          <a:xfrm>
            <a:off x="679768" y="4777194"/>
            <a:ext cx="5438140" cy="390861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p4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3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p3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b="0" sz="1200">
              <a:latin typeface="Arial"/>
              <a:ea typeface="Arial"/>
              <a:cs typeface="Arial"/>
              <a:sym typeface="Arial"/>
            </a:endParaRPr>
          </a:p>
        </p:txBody>
      </p:sp>
      <p:sp>
        <p:nvSpPr>
          <p:cNvPr id="525" name="Google Shape;525;p3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50:notes"/>
          <p:cNvSpPr txBox="1"/>
          <p:nvPr>
            <p:ph idx="1" type="body"/>
          </p:nvPr>
        </p:nvSpPr>
        <p:spPr>
          <a:xfrm>
            <a:off x="679768" y="4777194"/>
            <a:ext cx="5438140" cy="390861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7" name="Google Shape;537;p5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3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5" name="Google Shape;545;p3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3" marL="0" marR="0" rtl="0" algn="l">
              <a:lnSpc>
                <a:spcPct val="100000"/>
              </a:lnSpc>
              <a:spcBef>
                <a:spcPts val="0"/>
              </a:spcBef>
              <a:spcAft>
                <a:spcPts val="0"/>
              </a:spcAft>
              <a:buClr>
                <a:schemeClr val="dk1"/>
              </a:buClr>
              <a:buSzPts val="1200"/>
              <a:buFont typeface="Arial"/>
              <a:buNone/>
            </a:pPr>
            <a:r>
              <a:rPr lang="es-PE" sz="1200">
                <a:solidFill>
                  <a:schemeClr val="dk1"/>
                </a:solidFill>
                <a:latin typeface="Arial"/>
                <a:ea typeface="Arial"/>
                <a:cs typeface="Arial"/>
                <a:sym typeface="Arial"/>
              </a:rPr>
              <a:t> </a:t>
            </a:r>
            <a:endParaRPr/>
          </a:p>
          <a:p>
            <a:pPr indent="0" lvl="0" marL="0" rtl="0" algn="l">
              <a:lnSpc>
                <a:spcPct val="100000"/>
              </a:lnSpc>
              <a:spcBef>
                <a:spcPts val="0"/>
              </a:spcBef>
              <a:spcAft>
                <a:spcPts val="0"/>
              </a:spcAft>
              <a:buSzPts val="1400"/>
              <a:buNone/>
            </a:pPr>
            <a:r>
              <a:t/>
            </a:r>
            <a:endParaRPr sz="1200">
              <a:latin typeface="Arial"/>
              <a:ea typeface="Arial"/>
              <a:cs typeface="Arial"/>
              <a:sym typeface="Arial"/>
            </a:endParaRPr>
          </a:p>
        </p:txBody>
      </p:sp>
      <p:sp>
        <p:nvSpPr>
          <p:cNvPr id="546" name="Google Shape;546;p3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PE"/>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51:notes"/>
          <p:cNvSpPr txBox="1"/>
          <p:nvPr>
            <p:ph idx="1" type="body"/>
          </p:nvPr>
        </p:nvSpPr>
        <p:spPr>
          <a:xfrm>
            <a:off x="679768" y="4777194"/>
            <a:ext cx="5438140" cy="390861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6" name="Google Shape;556;p5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p:cSld name="Diapositiva de título">
    <p:spTree>
      <p:nvGrpSpPr>
        <p:cNvPr id="14"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 name="Shape 1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ema - 1 Imagen A">
  <p:cSld name="Subtema - 1 Imagen A">
    <p:spTree>
      <p:nvGrpSpPr>
        <p:cNvPr id="17" name="Shape 17"/>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p:cSld name="Título y objetos">
    <p:spTree>
      <p:nvGrpSpPr>
        <p:cNvPr id="18" name="Shape 18"/>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ítulo y objetos">
  <p:cSld name="2_Título y objetos">
    <p:spTree>
      <p:nvGrpSpPr>
        <p:cNvPr id="19" name="Shape 19"/>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ítulo y objetos">
  <p:cSld name="1_Título y objetos">
    <p:spTree>
      <p:nvGrpSpPr>
        <p:cNvPr id="20" name="Shape 20"/>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ema - 1 Imagen B">
  <p:cSld name="Subtema - 1 Imagen B">
    <p:spTree>
      <p:nvGrpSpPr>
        <p:cNvPr id="21" name="Shape 21"/>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ema - 1 Imagen Centrada">
  <p:cSld name="Subtema - 1 Imagen Centrada">
    <p:spTree>
      <p:nvGrpSpPr>
        <p:cNvPr id="22" name="Shape 22"/>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ema - 2 Imágenes">
  <p:cSld name="Subtema - 2 Imágenes">
    <p:spTree>
      <p:nvGrpSpPr>
        <p:cNvPr id="23" name="Shape 23"/>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ema - Imagen Gigante">
  <p:cSld name="Subtema - Imagen Gigante">
    <p:spTree>
      <p:nvGrpSpPr>
        <p:cNvPr id="24" name="Shape 2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ema - Video">
  <p:cSld name="Subtema - Video">
    <p:spTree>
      <p:nvGrpSpPr>
        <p:cNvPr id="25" name="Shape 2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0.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35"/>
          <p:cNvGrpSpPr/>
          <p:nvPr/>
        </p:nvGrpSpPr>
        <p:grpSpPr>
          <a:xfrm>
            <a:off x="944054" y="5369051"/>
            <a:ext cx="7804380" cy="215444"/>
            <a:chOff x="944054" y="5369051"/>
            <a:chExt cx="7804380" cy="215444"/>
          </a:xfrm>
        </p:grpSpPr>
        <p:sp>
          <p:nvSpPr>
            <p:cNvPr id="11" name="Google Shape;11;p35"/>
            <p:cNvSpPr txBox="1"/>
            <p:nvPr/>
          </p:nvSpPr>
          <p:spPr>
            <a:xfrm>
              <a:off x="944054" y="5369051"/>
              <a:ext cx="3350597"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s-PE" sz="800" u="none" cap="none" strike="noStrike">
                  <a:solidFill>
                    <a:srgbClr val="7F7F7F"/>
                  </a:solidFill>
                  <a:latin typeface="Calibri"/>
                  <a:ea typeface="Calibri"/>
                  <a:cs typeface="Calibri"/>
                  <a:sym typeface="Calibri"/>
                </a:rPr>
                <a:t>CUSTOMER CENTRICITY PARA TECNOLOGÍAS DE INFORMACIÓN • TEMA 03</a:t>
              </a:r>
              <a:endParaRPr b="0" i="0" sz="800" u="none" cap="none" strike="noStrike">
                <a:solidFill>
                  <a:srgbClr val="7F7F7F"/>
                </a:solidFill>
                <a:latin typeface="Calibri"/>
                <a:ea typeface="Calibri"/>
                <a:cs typeface="Calibri"/>
                <a:sym typeface="Calibri"/>
              </a:endParaRPr>
            </a:p>
          </p:txBody>
        </p:sp>
        <p:sp>
          <p:nvSpPr>
            <p:cNvPr id="12" name="Google Shape;12;p35"/>
            <p:cNvSpPr/>
            <p:nvPr/>
          </p:nvSpPr>
          <p:spPr>
            <a:xfrm>
              <a:off x="7323044" y="5384440"/>
              <a:ext cx="1425390" cy="1846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600"/>
                <a:buFont typeface="Arial"/>
                <a:buNone/>
              </a:pPr>
              <a:r>
                <a:rPr b="0" i="0" lang="es-PE" sz="600" u="none" cap="none" strike="noStrike">
                  <a:solidFill>
                    <a:srgbClr val="7F7F7F"/>
                  </a:solidFill>
                  <a:latin typeface="Calibri"/>
                  <a:ea typeface="Calibri"/>
                  <a:cs typeface="Calibri"/>
                  <a:sym typeface="Calibri"/>
                </a:rPr>
                <a:t>© ISIL. Todos los derechos reservados</a:t>
              </a:r>
              <a:endParaRPr b="0" i="0" sz="1400" u="none" cap="none" strike="noStrike">
                <a:solidFill>
                  <a:srgbClr val="000000"/>
                </a:solidFill>
                <a:latin typeface="Arial"/>
                <a:ea typeface="Arial"/>
                <a:cs typeface="Arial"/>
                <a:sym typeface="Arial"/>
              </a:endParaRPr>
            </a:p>
          </p:txBody>
        </p:sp>
      </p:grpSp>
      <p:pic>
        <p:nvPicPr>
          <p:cNvPr id="13" name="Google Shape;13;p35"/>
          <p:cNvPicPr preferRelativeResize="0"/>
          <p:nvPr/>
        </p:nvPicPr>
        <p:blipFill rotWithShape="1">
          <a:blip r:embed="rId1">
            <a:alphaModFix amt="20000"/>
          </a:blip>
          <a:srcRect b="0" l="0" r="0" t="0"/>
          <a:stretch/>
        </p:blipFill>
        <p:spPr>
          <a:xfrm>
            <a:off x="495300" y="5328911"/>
            <a:ext cx="448573" cy="25075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800">
          <p15:clr>
            <a:srgbClr val="F26B43"/>
          </p15:clr>
        </p15:guide>
        <p15:guide id="2" pos="2880">
          <p15:clr>
            <a:srgbClr val="F26B43"/>
          </p15:clr>
        </p15:guide>
        <p15:guide id="3" pos="2993">
          <p15:clr>
            <a:srgbClr val="F26B43"/>
          </p15:clr>
        </p15:guide>
        <p15:guide id="4" pos="5465">
          <p15:clr>
            <a:srgbClr val="F26B43"/>
          </p15:clr>
        </p15:guide>
        <p15:guide id="5" pos="2767">
          <p15:clr>
            <a:srgbClr val="F26B43"/>
          </p15:clr>
        </p15:guide>
        <p15:guide id="6" pos="317">
          <p15:clr>
            <a:srgbClr val="F26B43"/>
          </p15:clr>
        </p15:guide>
        <p15:guide id="7" orient="horz" pos="3297">
          <p15:clr>
            <a:srgbClr val="F26B43"/>
          </p15:clr>
        </p15:guide>
        <p15:guide id="8" orient="horz" pos="303">
          <p15:clr>
            <a:srgbClr val="F26B43"/>
          </p15:clr>
        </p15:guide>
        <p15:guide id="9" orient="horz" pos="59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8.png"/><Relationship Id="rId5"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6.jpg"/><Relationship Id="rId4" Type="http://schemas.openxmlformats.org/officeDocument/2006/relationships/image" Target="../media/image6.jpg"/><Relationship Id="rId5" Type="http://schemas.openxmlformats.org/officeDocument/2006/relationships/image" Target="../media/image2.png"/><Relationship Id="rId6" Type="http://schemas.openxmlformats.org/officeDocument/2006/relationships/image" Target="../media/image7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5.png"/><Relationship Id="rId9"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3.png"/><Relationship Id="rId7" Type="http://schemas.openxmlformats.org/officeDocument/2006/relationships/image" Target="../media/image13.png"/><Relationship Id="rId8"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7.png"/><Relationship Id="rId6" Type="http://schemas.openxmlformats.org/officeDocument/2006/relationships/image" Target="../media/image34.png"/><Relationship Id="rId7"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9.jp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1" Type="http://schemas.openxmlformats.org/officeDocument/2006/relationships/image" Target="../media/image31.png"/><Relationship Id="rId10" Type="http://schemas.openxmlformats.org/officeDocument/2006/relationships/image" Target="../media/image47.png"/><Relationship Id="rId12" Type="http://schemas.openxmlformats.org/officeDocument/2006/relationships/image" Target="../media/image48.png"/><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21.png"/><Relationship Id="rId4" Type="http://schemas.openxmlformats.org/officeDocument/2006/relationships/image" Target="../media/image38.png"/><Relationship Id="rId9" Type="http://schemas.openxmlformats.org/officeDocument/2006/relationships/image" Target="../media/image54.png"/><Relationship Id="rId5" Type="http://schemas.openxmlformats.org/officeDocument/2006/relationships/image" Target="../media/image43.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3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hyperlink" Target="https://www.gartner.com/en/human-resources/trends/top-priorities-for-hr-leaders" TargetMode="External"/><Relationship Id="rId4" Type="http://schemas.openxmlformats.org/officeDocument/2006/relationships/image" Target="../media/image32.png"/><Relationship Id="rId5"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3.png"/><Relationship Id="rId4" Type="http://schemas.openxmlformats.org/officeDocument/2006/relationships/image" Target="../media/image6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36.png"/><Relationship Id="rId4" Type="http://schemas.openxmlformats.org/officeDocument/2006/relationships/image" Target="../media/image40.png"/><Relationship Id="rId5" Type="http://schemas.openxmlformats.org/officeDocument/2006/relationships/image" Target="../media/image42.png"/><Relationship Id="rId6" Type="http://schemas.openxmlformats.org/officeDocument/2006/relationships/image" Target="../media/image3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39.png"/><Relationship Id="rId4" Type="http://schemas.openxmlformats.org/officeDocument/2006/relationships/image" Target="../media/image45.png"/><Relationship Id="rId5" Type="http://schemas.openxmlformats.org/officeDocument/2006/relationships/image" Target="../media/image5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41.png"/><Relationship Id="rId4" Type="http://schemas.openxmlformats.org/officeDocument/2006/relationships/image" Target="../media/image67.png"/><Relationship Id="rId5" Type="http://schemas.openxmlformats.org/officeDocument/2006/relationships/image" Target="../media/image52.png"/><Relationship Id="rId6" Type="http://schemas.openxmlformats.org/officeDocument/2006/relationships/image" Target="../media/image4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41.png"/><Relationship Id="rId4" Type="http://schemas.openxmlformats.org/officeDocument/2006/relationships/image" Target="../media/image67.png"/><Relationship Id="rId5" Type="http://schemas.openxmlformats.org/officeDocument/2006/relationships/image" Target="../media/image52.png"/><Relationship Id="rId6" Type="http://schemas.openxmlformats.org/officeDocument/2006/relationships/image" Target="../media/image4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3.png"/><Relationship Id="rId4" Type="http://schemas.openxmlformats.org/officeDocument/2006/relationships/image" Target="../media/image7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51.png"/><Relationship Id="rId4" Type="http://schemas.openxmlformats.org/officeDocument/2006/relationships/image" Target="../media/image61.png"/><Relationship Id="rId5" Type="http://schemas.openxmlformats.org/officeDocument/2006/relationships/image" Target="../media/image5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56.jpg"/><Relationship Id="rId4" Type="http://schemas.openxmlformats.org/officeDocument/2006/relationships/image" Target="../media/image5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50.gif"/><Relationship Id="rId4" Type="http://schemas.openxmlformats.org/officeDocument/2006/relationships/image" Target="../media/image4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59.jpg"/><Relationship Id="rId4" Type="http://schemas.openxmlformats.org/officeDocument/2006/relationships/image" Target="../media/image7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72.gi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6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60.png"/><Relationship Id="rId4" Type="http://schemas.openxmlformats.org/officeDocument/2006/relationships/image" Target="../media/image6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0.png"/><Relationship Id="rId4" Type="http://schemas.openxmlformats.org/officeDocument/2006/relationships/image" Target="../media/image6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63.png"/><Relationship Id="rId4" Type="http://schemas.openxmlformats.org/officeDocument/2006/relationships/image" Target="../media/image6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0.png"/><Relationship Id="rId4" Type="http://schemas.openxmlformats.org/officeDocument/2006/relationships/image" Target="../media/image7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74.png"/><Relationship Id="rId4" Type="http://schemas.openxmlformats.org/officeDocument/2006/relationships/image" Target="../media/image6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7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sp>
        <p:nvSpPr>
          <p:cNvPr id="31" name="Google Shape;31;p1"/>
          <p:cNvSpPr/>
          <p:nvPr/>
        </p:nvSpPr>
        <p:spPr>
          <a:xfrm>
            <a:off x="182879" y="5120640"/>
            <a:ext cx="4304965" cy="46201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 name="Google Shape;32;p1"/>
          <p:cNvSpPr txBox="1"/>
          <p:nvPr/>
        </p:nvSpPr>
        <p:spPr>
          <a:xfrm>
            <a:off x="503238" y="854409"/>
            <a:ext cx="3104743" cy="1384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1" i="0" lang="es-PE" sz="900" u="none" cap="none" strike="noStrike">
                <a:solidFill>
                  <a:srgbClr val="7F7F7F"/>
                </a:solidFill>
                <a:latin typeface="Calibri"/>
                <a:ea typeface="Calibri"/>
                <a:cs typeface="Calibri"/>
                <a:sym typeface="Calibri"/>
              </a:rPr>
              <a:t>COSTUMER CENTRICITY EN TECNOLOGÍAS DE INFORMACIÓN</a:t>
            </a:r>
            <a:endParaRPr b="0" i="0" sz="1400" u="none" cap="none" strike="noStrike">
              <a:solidFill>
                <a:srgbClr val="000000"/>
              </a:solidFill>
              <a:latin typeface="Arial"/>
              <a:ea typeface="Arial"/>
              <a:cs typeface="Arial"/>
              <a:sym typeface="Arial"/>
            </a:endParaRPr>
          </a:p>
        </p:txBody>
      </p:sp>
      <p:sp>
        <p:nvSpPr>
          <p:cNvPr id="33" name="Google Shape;33;p1"/>
          <p:cNvSpPr/>
          <p:nvPr/>
        </p:nvSpPr>
        <p:spPr>
          <a:xfrm>
            <a:off x="503249" y="2177575"/>
            <a:ext cx="3104700" cy="7017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Clr>
                <a:srgbClr val="000000"/>
              </a:buClr>
              <a:buSzPts val="1900"/>
              <a:buFont typeface="Arial"/>
              <a:buNone/>
            </a:pPr>
            <a:r>
              <a:rPr b="0" i="0" lang="es-PE" sz="1900" u="none" cap="none" strike="noStrike">
                <a:solidFill>
                  <a:schemeClr val="dk1"/>
                </a:solidFill>
                <a:latin typeface="Arial"/>
                <a:ea typeface="Arial"/>
                <a:cs typeface="Arial"/>
                <a:sym typeface="Arial"/>
              </a:rPr>
              <a:t>COMPRENSIÓN DEL CLIENTE: </a:t>
            </a:r>
            <a:endParaRPr/>
          </a:p>
          <a:p>
            <a:pPr indent="0" lvl="0" marL="0" marR="0" rtl="0" algn="l">
              <a:lnSpc>
                <a:spcPct val="80000"/>
              </a:lnSpc>
              <a:spcBef>
                <a:spcPts val="0"/>
              </a:spcBef>
              <a:spcAft>
                <a:spcPts val="0"/>
              </a:spcAft>
              <a:buClr>
                <a:srgbClr val="000000"/>
              </a:buClr>
              <a:buSzPts val="1900"/>
              <a:buFont typeface="Arial"/>
              <a:buNone/>
            </a:pPr>
            <a:r>
              <a:rPr b="1" i="0" lang="es-PE" sz="1900" u="none" cap="none" strike="noStrike">
                <a:solidFill>
                  <a:schemeClr val="dk1"/>
                </a:solidFill>
                <a:latin typeface="Arial"/>
                <a:ea typeface="Arial"/>
                <a:cs typeface="Arial"/>
                <a:sym typeface="Arial"/>
              </a:rPr>
              <a:t>INVESTIGACIÓN </a:t>
            </a:r>
            <a:endParaRPr/>
          </a:p>
          <a:p>
            <a:pPr indent="0" lvl="0" marL="0" marR="0" rtl="0" algn="l">
              <a:lnSpc>
                <a:spcPct val="80000"/>
              </a:lnSpc>
              <a:spcBef>
                <a:spcPts val="0"/>
              </a:spcBef>
              <a:spcAft>
                <a:spcPts val="0"/>
              </a:spcAft>
              <a:buClr>
                <a:srgbClr val="000000"/>
              </a:buClr>
              <a:buSzPts val="1900"/>
              <a:buFont typeface="Arial"/>
              <a:buNone/>
            </a:pPr>
            <a:r>
              <a:rPr b="1" i="0" lang="es-PE" sz="1900" u="none" cap="none" strike="noStrike">
                <a:solidFill>
                  <a:schemeClr val="dk1"/>
                </a:solidFill>
                <a:latin typeface="Arial"/>
                <a:ea typeface="Arial"/>
                <a:cs typeface="Arial"/>
                <a:sym typeface="Arial"/>
              </a:rPr>
              <a:t>&amp; ANÁLISIS</a:t>
            </a:r>
            <a:endParaRPr/>
          </a:p>
        </p:txBody>
      </p:sp>
      <p:sp>
        <p:nvSpPr>
          <p:cNvPr id="34" name="Google Shape;34;p1"/>
          <p:cNvSpPr/>
          <p:nvPr/>
        </p:nvSpPr>
        <p:spPr>
          <a:xfrm>
            <a:off x="503238" y="3348720"/>
            <a:ext cx="2845526" cy="1421928"/>
          </a:xfrm>
          <a:prstGeom prst="rect">
            <a:avLst/>
          </a:prstGeom>
          <a:noFill/>
          <a:ln>
            <a:noFill/>
          </a:ln>
        </p:spPr>
        <p:txBody>
          <a:bodyPr anchorCtr="0" anchor="t" bIns="0" lIns="0" spcFirstLastPara="1" rIns="0" wrap="square" tIns="0">
            <a:spAutoFit/>
          </a:bodyPr>
          <a:lstStyle/>
          <a:p>
            <a:pPr indent="-177800" lvl="0" marL="177800" marR="0" rtl="0" algn="l">
              <a:lnSpc>
                <a:spcPct val="120000"/>
              </a:lnSpc>
              <a:spcBef>
                <a:spcPts val="0"/>
              </a:spcBef>
              <a:spcAft>
                <a:spcPts val="0"/>
              </a:spcAft>
              <a:buClr>
                <a:srgbClr val="D51B47"/>
              </a:buClr>
              <a:buSzPts val="1100"/>
              <a:buFont typeface="Arial"/>
              <a:buChar char="•"/>
            </a:pPr>
            <a:r>
              <a:rPr b="0" i="0" lang="es-PE" sz="1100" u="none" cap="none" strike="noStrike">
                <a:solidFill>
                  <a:schemeClr val="dk1"/>
                </a:solidFill>
                <a:latin typeface="Arial"/>
                <a:ea typeface="Arial"/>
                <a:cs typeface="Arial"/>
                <a:sym typeface="Arial"/>
              </a:rPr>
              <a:t>Tipos de investigación aplicados a la comprensión del cliente</a:t>
            </a:r>
            <a:endParaRPr/>
          </a:p>
          <a:p>
            <a:pPr indent="-177800" lvl="0" marL="177800" marR="0" rtl="0" algn="l">
              <a:lnSpc>
                <a:spcPct val="120000"/>
              </a:lnSpc>
              <a:spcBef>
                <a:spcPts val="0"/>
              </a:spcBef>
              <a:spcAft>
                <a:spcPts val="0"/>
              </a:spcAft>
              <a:buClr>
                <a:srgbClr val="D51B47"/>
              </a:buClr>
              <a:buSzPts val="1100"/>
              <a:buFont typeface="Arial"/>
              <a:buChar char="•"/>
            </a:pPr>
            <a:r>
              <a:rPr b="0" i="0" lang="es-PE" sz="1100" u="none" cap="none" strike="noStrike">
                <a:solidFill>
                  <a:schemeClr val="dk1"/>
                </a:solidFill>
                <a:latin typeface="Arial"/>
                <a:ea typeface="Arial"/>
                <a:cs typeface="Arial"/>
                <a:sym typeface="Arial"/>
              </a:rPr>
              <a:t>Herramientas y técnicas de recolección de datos cualitativos y cuantitativos</a:t>
            </a:r>
            <a:endParaRPr/>
          </a:p>
          <a:p>
            <a:pPr indent="-177800" lvl="0" marL="177800" marR="0" rtl="0" algn="l">
              <a:lnSpc>
                <a:spcPct val="120000"/>
              </a:lnSpc>
              <a:spcBef>
                <a:spcPts val="0"/>
              </a:spcBef>
              <a:spcAft>
                <a:spcPts val="0"/>
              </a:spcAft>
              <a:buClr>
                <a:srgbClr val="D51B47"/>
              </a:buClr>
              <a:buSzPts val="1100"/>
              <a:buFont typeface="Arial"/>
              <a:buChar char="•"/>
            </a:pPr>
            <a:r>
              <a:rPr b="0" i="0" lang="es-PE" sz="1100" u="none" cap="none" strike="noStrike">
                <a:solidFill>
                  <a:schemeClr val="dk1"/>
                </a:solidFill>
                <a:latin typeface="Arial"/>
                <a:ea typeface="Arial"/>
                <a:cs typeface="Arial"/>
                <a:sym typeface="Arial"/>
              </a:rPr>
              <a:t>Análisis de datos para identificar patrones y tendencias</a:t>
            </a:r>
            <a:endParaRPr/>
          </a:p>
          <a:p>
            <a:pPr indent="-177800" lvl="0" marL="177800" marR="0" rtl="0" algn="l">
              <a:lnSpc>
                <a:spcPct val="120000"/>
              </a:lnSpc>
              <a:spcBef>
                <a:spcPts val="0"/>
              </a:spcBef>
              <a:spcAft>
                <a:spcPts val="0"/>
              </a:spcAft>
              <a:buClr>
                <a:srgbClr val="D51B47"/>
              </a:buClr>
              <a:buSzPts val="1100"/>
              <a:buFont typeface="Arial"/>
              <a:buChar char="•"/>
            </a:pPr>
            <a:r>
              <a:rPr b="0" i="0" lang="es-PE" sz="1100" u="none" cap="none" strike="noStrike">
                <a:solidFill>
                  <a:schemeClr val="dk1"/>
                </a:solidFill>
                <a:latin typeface="Arial"/>
                <a:ea typeface="Arial"/>
                <a:cs typeface="Arial"/>
                <a:sym typeface="Arial"/>
              </a:rPr>
              <a:t>Prácticas para entrevistas a usuarios </a:t>
            </a:r>
            <a:endParaRPr b="0" i="0" sz="1100" u="none" cap="none" strike="noStrike">
              <a:solidFill>
                <a:schemeClr val="dk1"/>
              </a:solidFill>
              <a:latin typeface="Arial"/>
              <a:ea typeface="Arial"/>
              <a:cs typeface="Arial"/>
              <a:sym typeface="Arial"/>
            </a:endParaRPr>
          </a:p>
        </p:txBody>
      </p:sp>
      <p:sp>
        <p:nvSpPr>
          <p:cNvPr id="35" name="Google Shape;35;p1"/>
          <p:cNvSpPr txBox="1"/>
          <p:nvPr/>
        </p:nvSpPr>
        <p:spPr>
          <a:xfrm>
            <a:off x="743902" y="1819386"/>
            <a:ext cx="1457648"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s-PE" sz="2000" u="none" cap="none" strike="noStrike">
                <a:solidFill>
                  <a:srgbClr val="D51B47"/>
                </a:solidFill>
                <a:latin typeface="Calibri"/>
                <a:ea typeface="Calibri"/>
                <a:cs typeface="Calibri"/>
                <a:sym typeface="Calibri"/>
              </a:rPr>
              <a:t>TEMA 03</a:t>
            </a:r>
            <a:endParaRPr b="0" i="0" sz="1400" u="none" cap="none" strike="noStrike">
              <a:solidFill>
                <a:srgbClr val="D51B47"/>
              </a:solidFill>
              <a:latin typeface="Arial"/>
              <a:ea typeface="Arial"/>
              <a:cs typeface="Arial"/>
              <a:sym typeface="Arial"/>
            </a:endParaRPr>
          </a:p>
        </p:txBody>
      </p:sp>
      <p:pic>
        <p:nvPicPr>
          <p:cNvPr id="36" name="Google Shape;36;p1"/>
          <p:cNvPicPr preferRelativeResize="0"/>
          <p:nvPr/>
        </p:nvPicPr>
        <p:blipFill rotWithShape="1">
          <a:blip r:embed="rId3">
            <a:alphaModFix/>
          </a:blip>
          <a:srcRect b="0" l="0" r="0" t="0"/>
          <a:stretch/>
        </p:blipFill>
        <p:spPr>
          <a:xfrm>
            <a:off x="507464" y="1883411"/>
            <a:ext cx="166865" cy="170453"/>
          </a:xfrm>
          <a:prstGeom prst="rect">
            <a:avLst/>
          </a:prstGeom>
          <a:noFill/>
          <a:ln>
            <a:noFill/>
          </a:ln>
        </p:spPr>
      </p:pic>
      <p:pic>
        <p:nvPicPr>
          <p:cNvPr id="37" name="Google Shape;37;p1"/>
          <p:cNvPicPr preferRelativeResize="0"/>
          <p:nvPr/>
        </p:nvPicPr>
        <p:blipFill rotWithShape="1">
          <a:blip r:embed="rId4">
            <a:alphaModFix/>
          </a:blip>
          <a:srcRect b="0" l="0" r="0" t="0"/>
          <a:stretch/>
        </p:blipFill>
        <p:spPr>
          <a:xfrm>
            <a:off x="3768109" y="0"/>
            <a:ext cx="5395913" cy="5715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48"/>
          <p:cNvSpPr/>
          <p:nvPr/>
        </p:nvSpPr>
        <p:spPr>
          <a:xfrm>
            <a:off x="0" y="1"/>
            <a:ext cx="9144000" cy="5715000"/>
          </a:xfrm>
          <a:prstGeom prst="rect">
            <a:avLst/>
          </a:prstGeom>
          <a:solidFill>
            <a:srgbClr val="ED434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44" name="Google Shape;44;p48"/>
          <p:cNvPicPr preferRelativeResize="0"/>
          <p:nvPr/>
        </p:nvPicPr>
        <p:blipFill rotWithShape="1">
          <a:blip r:embed="rId3">
            <a:alphaModFix/>
          </a:blip>
          <a:srcRect b="0" l="0" r="0" t="0"/>
          <a:stretch/>
        </p:blipFill>
        <p:spPr>
          <a:xfrm>
            <a:off x="1" y="946969"/>
            <a:ext cx="2072213" cy="3898064"/>
          </a:xfrm>
          <a:prstGeom prst="rect">
            <a:avLst/>
          </a:prstGeom>
          <a:noFill/>
          <a:ln>
            <a:noFill/>
          </a:ln>
        </p:spPr>
      </p:pic>
      <p:sp>
        <p:nvSpPr>
          <p:cNvPr id="45" name="Google Shape;45;p48"/>
          <p:cNvSpPr/>
          <p:nvPr/>
        </p:nvSpPr>
        <p:spPr>
          <a:xfrm>
            <a:off x="149817" y="3724759"/>
            <a:ext cx="1037633" cy="1069383"/>
          </a:xfrm>
          <a:prstGeom prst="rect">
            <a:avLst/>
          </a:prstGeom>
          <a:solidFill>
            <a:srgbClr val="ED434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 name="Google Shape;46;p48"/>
          <p:cNvSpPr txBox="1"/>
          <p:nvPr/>
        </p:nvSpPr>
        <p:spPr>
          <a:xfrm>
            <a:off x="2519363" y="2540738"/>
            <a:ext cx="4581728" cy="81253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Clr>
                <a:srgbClr val="000000"/>
              </a:buClr>
              <a:buSzPts val="3300"/>
              <a:buFont typeface="Arial"/>
              <a:buNone/>
            </a:pPr>
            <a:r>
              <a:rPr b="0" i="0" lang="es-PE" sz="3300" u="none" cap="none" strike="noStrike">
                <a:solidFill>
                  <a:schemeClr val="lt1"/>
                </a:solidFill>
                <a:latin typeface="Arial"/>
                <a:ea typeface="Arial"/>
                <a:cs typeface="Arial"/>
                <a:sym typeface="Arial"/>
              </a:rPr>
              <a:t>INTRODUCCIÓN</a:t>
            </a:r>
            <a:endParaRPr b="0" i="0" sz="14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Clr>
                <a:srgbClr val="000000"/>
              </a:buClr>
              <a:buSzPts val="3300"/>
              <a:buFont typeface="Arial"/>
              <a:buNone/>
            </a:pPr>
            <a:r>
              <a:rPr b="1" i="0" lang="es-PE" sz="3300" u="none" cap="none" strike="noStrike">
                <a:solidFill>
                  <a:schemeClr val="lt1"/>
                </a:solidFill>
                <a:latin typeface="Arial"/>
                <a:ea typeface="Arial"/>
                <a:cs typeface="Arial"/>
                <a:sym typeface="Arial"/>
              </a:rPr>
              <a:t>DE LA SESIÓN</a:t>
            </a:r>
            <a:endParaRPr b="1" i="0" sz="1400" u="none" cap="none" strike="noStrike">
              <a:solidFill>
                <a:srgbClr val="000000"/>
              </a:solidFill>
              <a:latin typeface="Arial"/>
              <a:ea typeface="Arial"/>
              <a:cs typeface="Arial"/>
              <a:sym typeface="Arial"/>
            </a:endParaRPr>
          </a:p>
        </p:txBody>
      </p:sp>
      <p:pic>
        <p:nvPicPr>
          <p:cNvPr id="47" name="Google Shape;47;p48"/>
          <p:cNvPicPr preferRelativeResize="0"/>
          <p:nvPr/>
        </p:nvPicPr>
        <p:blipFill rotWithShape="1">
          <a:blip r:embed="rId4">
            <a:alphaModFix amt="16000"/>
          </a:blip>
          <a:srcRect b="0" l="0" r="0" t="0"/>
          <a:stretch/>
        </p:blipFill>
        <p:spPr>
          <a:xfrm>
            <a:off x="334433" y="3817749"/>
            <a:ext cx="809264" cy="809264"/>
          </a:xfrm>
          <a:prstGeom prst="rect">
            <a:avLst/>
          </a:prstGeom>
          <a:noFill/>
          <a:ln>
            <a:noFill/>
          </a:ln>
        </p:spPr>
      </p:pic>
      <p:pic>
        <p:nvPicPr>
          <p:cNvPr id="48" name="Google Shape;48;p48"/>
          <p:cNvPicPr preferRelativeResize="0"/>
          <p:nvPr/>
        </p:nvPicPr>
        <p:blipFill rotWithShape="1">
          <a:blip r:embed="rId5">
            <a:alphaModFix/>
          </a:blip>
          <a:srcRect b="0" l="0" r="0" t="0"/>
          <a:stretch/>
        </p:blipFill>
        <p:spPr>
          <a:xfrm>
            <a:off x="2528619" y="2194222"/>
            <a:ext cx="202176" cy="20821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2"/>
          <p:cNvSpPr/>
          <p:nvPr/>
        </p:nvSpPr>
        <p:spPr>
          <a:xfrm>
            <a:off x="6918960" y="5364480"/>
            <a:ext cx="2133600" cy="22445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 name="Google Shape;55;p2"/>
          <p:cNvSpPr txBox="1"/>
          <p:nvPr/>
        </p:nvSpPr>
        <p:spPr>
          <a:xfrm>
            <a:off x="1282298" y="918372"/>
            <a:ext cx="5579678" cy="2369880"/>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None/>
            </a:pPr>
            <a:r>
              <a:rPr b="0" i="0" lang="es-PE" sz="1400" u="none" cap="none" strike="noStrike">
                <a:solidFill>
                  <a:srgbClr val="262626"/>
                </a:solidFill>
                <a:latin typeface="Calibri"/>
                <a:ea typeface="Calibri"/>
                <a:cs typeface="Calibri"/>
                <a:sym typeface="Calibri"/>
              </a:rPr>
              <a:t>Nuestro foco en el cliente debe permitirnos entenderlo en su totalidad previo a plantear soluciones, lo que implica tener a nuestra disposición la mayor cantidad de información para ello. Esto puede implicar apoyarnos de investigaciones que se han realizado previamente o diseñar una por nuestra cuenta. </a:t>
            </a:r>
            <a:endParaRPr/>
          </a:p>
          <a:p>
            <a:pPr indent="0" lvl="0" marL="113325" marR="0" rtl="0" algn="l">
              <a:lnSpc>
                <a:spcPct val="100000"/>
              </a:lnSpc>
              <a:spcBef>
                <a:spcPts val="0"/>
              </a:spcBef>
              <a:spcAft>
                <a:spcPts val="0"/>
              </a:spcAft>
              <a:buNone/>
            </a:pPr>
            <a:r>
              <a:t/>
            </a:r>
            <a:endParaRPr b="0" i="0" sz="1400" u="none" cap="none" strike="noStrike">
              <a:solidFill>
                <a:srgbClr val="262626"/>
              </a:solidFill>
              <a:latin typeface="Calibri"/>
              <a:ea typeface="Calibri"/>
              <a:cs typeface="Calibri"/>
              <a:sym typeface="Calibri"/>
            </a:endParaRPr>
          </a:p>
          <a:p>
            <a:pPr indent="0" lvl="0" marL="11725" marR="0" rtl="0" algn="l">
              <a:lnSpc>
                <a:spcPct val="100000"/>
              </a:lnSpc>
              <a:spcBef>
                <a:spcPts val="0"/>
              </a:spcBef>
              <a:spcAft>
                <a:spcPts val="0"/>
              </a:spcAft>
              <a:buNone/>
            </a:pPr>
            <a:r>
              <a:rPr b="0" i="0" lang="es-PE" sz="1400" u="none" cap="none" strike="noStrike">
                <a:solidFill>
                  <a:srgbClr val="262626"/>
                </a:solidFill>
                <a:latin typeface="Calibri"/>
                <a:ea typeface="Calibri"/>
                <a:cs typeface="Calibri"/>
                <a:sym typeface="Calibri"/>
              </a:rPr>
              <a:t>En esta sesión cubriremos:</a:t>
            </a:r>
            <a:endParaRPr b="0" i="0" sz="1400" u="none" cap="none" strike="noStrike">
              <a:solidFill>
                <a:srgbClr val="262626"/>
              </a:solidFill>
              <a:latin typeface="Calibri"/>
              <a:ea typeface="Calibri"/>
              <a:cs typeface="Calibri"/>
              <a:sym typeface="Calibri"/>
            </a:endParaRPr>
          </a:p>
          <a:p>
            <a:pPr indent="-174625" lvl="1" marL="182563" marR="0" rtl="0" algn="l">
              <a:lnSpc>
                <a:spcPct val="100000"/>
              </a:lnSpc>
              <a:spcBef>
                <a:spcPts val="0"/>
              </a:spcBef>
              <a:spcAft>
                <a:spcPts val="0"/>
              </a:spcAft>
              <a:buClr>
                <a:srgbClr val="EE4342"/>
              </a:buClr>
              <a:buSzPts val="1400"/>
              <a:buFont typeface="Arial"/>
              <a:buChar char="•"/>
            </a:pPr>
            <a:r>
              <a:rPr b="0" i="0" lang="es-PE" sz="1400" u="none" cap="none" strike="noStrike">
                <a:solidFill>
                  <a:srgbClr val="262626"/>
                </a:solidFill>
                <a:latin typeface="Calibri"/>
                <a:ea typeface="Calibri"/>
                <a:cs typeface="Calibri"/>
                <a:sym typeface="Calibri"/>
              </a:rPr>
              <a:t>¿Qué tipo de investigaciones pueden sumar a esto?</a:t>
            </a:r>
            <a:endParaRPr b="0" i="0" sz="1400" u="none" cap="none" strike="noStrike">
              <a:solidFill>
                <a:srgbClr val="262626"/>
              </a:solidFill>
              <a:latin typeface="Calibri"/>
              <a:ea typeface="Calibri"/>
              <a:cs typeface="Calibri"/>
              <a:sym typeface="Calibri"/>
            </a:endParaRPr>
          </a:p>
          <a:p>
            <a:pPr indent="-174625" lvl="1" marL="182563" marR="0" rtl="0" algn="l">
              <a:lnSpc>
                <a:spcPct val="100000"/>
              </a:lnSpc>
              <a:spcBef>
                <a:spcPts val="0"/>
              </a:spcBef>
              <a:spcAft>
                <a:spcPts val="0"/>
              </a:spcAft>
              <a:buClr>
                <a:srgbClr val="EE4342"/>
              </a:buClr>
              <a:buSzPts val="1400"/>
              <a:buFont typeface="Arial"/>
              <a:buChar char="•"/>
            </a:pPr>
            <a:r>
              <a:rPr b="0" i="0" lang="es-PE" sz="1400" u="none" cap="none" strike="noStrike">
                <a:solidFill>
                  <a:srgbClr val="262626"/>
                </a:solidFill>
                <a:latin typeface="Calibri"/>
                <a:ea typeface="Calibri"/>
                <a:cs typeface="Calibri"/>
                <a:sym typeface="Calibri"/>
              </a:rPr>
              <a:t>¿Qué son las fuentes primarias y secundarias? Beneficios</a:t>
            </a:r>
            <a:endParaRPr b="0" i="0" sz="1400" u="none" cap="none" strike="noStrike">
              <a:solidFill>
                <a:srgbClr val="262626"/>
              </a:solidFill>
              <a:latin typeface="Calibri"/>
              <a:ea typeface="Calibri"/>
              <a:cs typeface="Calibri"/>
              <a:sym typeface="Calibri"/>
            </a:endParaRPr>
          </a:p>
          <a:p>
            <a:pPr indent="-174625" lvl="1" marL="182563" marR="0" rtl="0" algn="l">
              <a:lnSpc>
                <a:spcPct val="100000"/>
              </a:lnSpc>
              <a:spcBef>
                <a:spcPts val="0"/>
              </a:spcBef>
              <a:spcAft>
                <a:spcPts val="0"/>
              </a:spcAft>
              <a:buClr>
                <a:srgbClr val="EE4342"/>
              </a:buClr>
              <a:buSzPts val="1400"/>
              <a:buFont typeface="Arial"/>
              <a:buChar char="•"/>
            </a:pPr>
            <a:r>
              <a:rPr b="0" i="0" lang="es-PE" sz="1400" u="none" cap="none" strike="noStrike">
                <a:solidFill>
                  <a:srgbClr val="262626"/>
                </a:solidFill>
                <a:latin typeface="Calibri"/>
                <a:ea typeface="Calibri"/>
                <a:cs typeface="Calibri"/>
                <a:sym typeface="Calibri"/>
              </a:rPr>
              <a:t>¿Cómo puedo llegar a conclusiones en base a todo lo que he recopilado?</a:t>
            </a:r>
            <a:endParaRPr b="0" i="0" sz="1400" u="none" cap="none" strike="noStrike">
              <a:solidFill>
                <a:srgbClr val="262626"/>
              </a:solidFill>
              <a:latin typeface="Calibri"/>
              <a:ea typeface="Calibri"/>
              <a:cs typeface="Calibri"/>
              <a:sym typeface="Calibri"/>
            </a:endParaRPr>
          </a:p>
          <a:p>
            <a:pPr indent="-174625" lvl="1" marL="182563" marR="0" rtl="0" algn="l">
              <a:lnSpc>
                <a:spcPct val="100000"/>
              </a:lnSpc>
              <a:spcBef>
                <a:spcPts val="0"/>
              </a:spcBef>
              <a:spcAft>
                <a:spcPts val="0"/>
              </a:spcAft>
              <a:buClr>
                <a:srgbClr val="EE4342"/>
              </a:buClr>
              <a:buSzPts val="1400"/>
              <a:buFont typeface="Arial"/>
              <a:buChar char="•"/>
            </a:pPr>
            <a:r>
              <a:rPr b="0" i="0" lang="es-PE" sz="1400" u="none" cap="none" strike="noStrike">
                <a:solidFill>
                  <a:srgbClr val="262626"/>
                </a:solidFill>
                <a:latin typeface="Calibri"/>
                <a:ea typeface="Calibri"/>
                <a:cs typeface="Calibri"/>
                <a:sym typeface="Calibri"/>
              </a:rPr>
              <a:t>¿Cómo diseño una entrevista? ¿Qué debo evitar realizar?</a:t>
            </a:r>
            <a:endParaRPr b="0" i="0" sz="1400" u="none" cap="none" strike="noStrike">
              <a:solidFill>
                <a:srgbClr val="262626"/>
              </a:solidFill>
              <a:latin typeface="Calibri"/>
              <a:ea typeface="Calibri"/>
              <a:cs typeface="Calibri"/>
              <a:sym typeface="Calibri"/>
            </a:endParaRPr>
          </a:p>
        </p:txBody>
      </p:sp>
      <p:pic>
        <p:nvPicPr>
          <p:cNvPr id="56" name="Google Shape;56;p2"/>
          <p:cNvPicPr preferRelativeResize="0"/>
          <p:nvPr/>
        </p:nvPicPr>
        <p:blipFill rotWithShape="1">
          <a:blip r:embed="rId3">
            <a:alphaModFix/>
          </a:blip>
          <a:srcRect b="0" l="0" r="0" t="0"/>
          <a:stretch/>
        </p:blipFill>
        <p:spPr>
          <a:xfrm>
            <a:off x="1010839" y="954885"/>
            <a:ext cx="117851" cy="121369"/>
          </a:xfrm>
          <a:prstGeom prst="rect">
            <a:avLst/>
          </a:prstGeom>
          <a:noFill/>
          <a:ln>
            <a:noFill/>
          </a:ln>
        </p:spPr>
      </p:pic>
      <p:sp>
        <p:nvSpPr>
          <p:cNvPr id="57" name="Google Shape;57;p2"/>
          <p:cNvSpPr/>
          <p:nvPr/>
        </p:nvSpPr>
        <p:spPr>
          <a:xfrm>
            <a:off x="8133347" y="163629"/>
            <a:ext cx="808522" cy="754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58" name="Google Shape;58;p2"/>
          <p:cNvPicPr preferRelativeResize="0"/>
          <p:nvPr/>
        </p:nvPicPr>
        <p:blipFill rotWithShape="1">
          <a:blip r:embed="rId4">
            <a:alphaModFix amt="42000"/>
          </a:blip>
          <a:srcRect b="0" l="0" r="0" t="0"/>
          <a:stretch/>
        </p:blipFill>
        <p:spPr>
          <a:xfrm>
            <a:off x="6986661" y="3052731"/>
            <a:ext cx="1689027" cy="2181257"/>
          </a:xfrm>
          <a:prstGeom prst="rect">
            <a:avLst/>
          </a:prstGeom>
          <a:noFill/>
          <a:ln>
            <a:noFill/>
          </a:ln>
        </p:spPr>
      </p:pic>
      <p:pic>
        <p:nvPicPr>
          <p:cNvPr id="59" name="Google Shape;59;p2"/>
          <p:cNvPicPr preferRelativeResize="0"/>
          <p:nvPr/>
        </p:nvPicPr>
        <p:blipFill rotWithShape="1">
          <a:blip r:embed="rId3">
            <a:alphaModFix/>
          </a:blip>
          <a:srcRect b="0" l="0" r="0" t="0"/>
          <a:stretch/>
        </p:blipFill>
        <p:spPr>
          <a:xfrm>
            <a:off x="1010839" y="2229524"/>
            <a:ext cx="117851" cy="121369"/>
          </a:xfrm>
          <a:prstGeom prst="rect">
            <a:avLst/>
          </a:prstGeom>
          <a:noFill/>
          <a:ln>
            <a:noFill/>
          </a:ln>
        </p:spPr>
      </p:pic>
      <p:sp>
        <p:nvSpPr>
          <p:cNvPr id="60" name="Google Shape;60;p2"/>
          <p:cNvSpPr/>
          <p:nvPr/>
        </p:nvSpPr>
        <p:spPr>
          <a:xfrm>
            <a:off x="301556" y="5321030"/>
            <a:ext cx="8453337" cy="29183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 name="Google Shape;61;p2"/>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INTRODUCCIÓN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3"/>
          <p:cNvSpPr/>
          <p:nvPr/>
        </p:nvSpPr>
        <p:spPr>
          <a:xfrm>
            <a:off x="0" y="0"/>
            <a:ext cx="9144000" cy="5715000"/>
          </a:xfrm>
          <a:prstGeom prst="rect">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8" name="Google Shape;68;p3"/>
          <p:cNvSpPr txBox="1"/>
          <p:nvPr/>
        </p:nvSpPr>
        <p:spPr>
          <a:xfrm>
            <a:off x="1008063" y="3169972"/>
            <a:ext cx="7261294" cy="66479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2400"/>
              <a:buFont typeface="Arial"/>
              <a:buNone/>
            </a:pPr>
            <a:r>
              <a:rPr b="0" i="0" lang="es-PE" sz="2400" u="none" cap="none" strike="noStrike">
                <a:solidFill>
                  <a:schemeClr val="lt1"/>
                </a:solidFill>
                <a:latin typeface="Arial"/>
                <a:ea typeface="Arial"/>
                <a:cs typeface="Arial"/>
                <a:sym typeface="Arial"/>
              </a:rPr>
              <a:t>TIPOS DE INVESTIGACIÓN APLICADOS A </a:t>
            </a:r>
            <a:br>
              <a:rPr b="1" i="0" lang="es-PE" sz="2400" u="none" cap="none" strike="noStrike">
                <a:solidFill>
                  <a:schemeClr val="lt1"/>
                </a:solidFill>
                <a:latin typeface="Arial"/>
                <a:ea typeface="Arial"/>
                <a:cs typeface="Arial"/>
                <a:sym typeface="Arial"/>
              </a:rPr>
            </a:br>
            <a:r>
              <a:rPr b="1" i="0" lang="es-PE" sz="2400" u="none" cap="none" strike="noStrike">
                <a:solidFill>
                  <a:schemeClr val="lt1"/>
                </a:solidFill>
                <a:latin typeface="Arial"/>
                <a:ea typeface="Arial"/>
                <a:cs typeface="Arial"/>
                <a:sym typeface="Arial"/>
              </a:rPr>
              <a:t>LA COMPRENSIÓN DEL CLIENTE</a:t>
            </a:r>
            <a:endParaRPr/>
          </a:p>
        </p:txBody>
      </p:sp>
      <p:pic>
        <p:nvPicPr>
          <p:cNvPr id="69" name="Google Shape;69;p3"/>
          <p:cNvPicPr preferRelativeResize="0"/>
          <p:nvPr/>
        </p:nvPicPr>
        <p:blipFill rotWithShape="1">
          <a:blip r:embed="rId3">
            <a:alphaModFix/>
          </a:blip>
          <a:srcRect b="0" l="0" r="0" t="0"/>
          <a:stretch/>
        </p:blipFill>
        <p:spPr>
          <a:xfrm>
            <a:off x="1008063" y="2869612"/>
            <a:ext cx="195423" cy="20125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4"/>
          <p:cNvSpPr txBox="1"/>
          <p:nvPr/>
        </p:nvSpPr>
        <p:spPr>
          <a:xfrm>
            <a:off x="503238" y="949325"/>
            <a:ext cx="8172449" cy="3339376"/>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¿POR QUÉ UNA INVESTIGACIÓN?</a:t>
            </a:r>
            <a:endParaRPr b="1" i="0" sz="1600" u="none" cap="none" strike="noStrike">
              <a:solidFill>
                <a:srgbClr val="262626"/>
              </a:solidFill>
              <a:latin typeface="Calibri"/>
              <a:ea typeface="Calibri"/>
              <a:cs typeface="Calibri"/>
              <a:sym typeface="Calibri"/>
            </a:endParaRPr>
          </a:p>
          <a:p>
            <a:pPr indent="-184150" lvl="0" marL="184150" marR="0" rtl="0" algn="l">
              <a:lnSpc>
                <a:spcPct val="100000"/>
              </a:lnSpc>
              <a:spcBef>
                <a:spcPts val="600"/>
              </a:spcBef>
              <a:spcAft>
                <a:spcPts val="0"/>
              </a:spcAft>
              <a:buClr>
                <a:srgbClr val="262626"/>
              </a:buClr>
              <a:buSzPts val="1400"/>
              <a:buFont typeface="Arial"/>
              <a:buChar char="•"/>
            </a:pPr>
            <a:r>
              <a:rPr b="0" i="0" lang="es-PE" sz="1400" u="none" cap="none" strike="noStrike">
                <a:solidFill>
                  <a:srgbClr val="262626"/>
                </a:solidFill>
                <a:latin typeface="Calibri"/>
                <a:ea typeface="Calibri"/>
                <a:cs typeface="Calibri"/>
                <a:sym typeface="Calibri"/>
              </a:rPr>
              <a:t>La investigación de mercados permite conocer las tendencias del mercado, por ello se recomienda realizarla con cierta frecuencia para conocer a fondo a los clientes.</a:t>
            </a:r>
            <a:endParaRPr b="0" i="0" sz="1400" u="none" cap="none" strike="noStrike">
              <a:solidFill>
                <a:srgbClr val="262626"/>
              </a:solidFill>
              <a:latin typeface="Calibri"/>
              <a:ea typeface="Calibri"/>
              <a:cs typeface="Calibri"/>
              <a:sym typeface="Calibri"/>
            </a:endParaRPr>
          </a:p>
          <a:p>
            <a:pPr indent="-184150" lvl="0" marL="184150" marR="0" rtl="0" algn="l">
              <a:lnSpc>
                <a:spcPct val="100000"/>
              </a:lnSpc>
              <a:spcBef>
                <a:spcPts val="0"/>
              </a:spcBef>
              <a:spcAft>
                <a:spcPts val="0"/>
              </a:spcAft>
              <a:buClr>
                <a:srgbClr val="262626"/>
              </a:buClr>
              <a:buSzPts val="1400"/>
              <a:buFont typeface="Arial"/>
              <a:buChar char="•"/>
            </a:pPr>
            <a:r>
              <a:rPr b="0" i="0" lang="es-PE" sz="1400" u="none" cap="none" strike="noStrike">
                <a:solidFill>
                  <a:srgbClr val="262626"/>
                </a:solidFill>
                <a:latin typeface="Calibri"/>
                <a:ea typeface="Calibri"/>
                <a:cs typeface="Calibri"/>
                <a:sym typeface="Calibri"/>
              </a:rPr>
              <a:t>Ayuda a saber cómo cambian las preferencias (y los gustos) de los clientes.</a:t>
            </a:r>
            <a:endParaRPr b="0" i="0" sz="1400" u="none" cap="none" strike="noStrike">
              <a:solidFill>
                <a:srgbClr val="262626"/>
              </a:solidFill>
              <a:latin typeface="Calibri"/>
              <a:ea typeface="Calibri"/>
              <a:cs typeface="Calibri"/>
              <a:sym typeface="Calibri"/>
            </a:endParaRPr>
          </a:p>
          <a:p>
            <a:pPr indent="-184150" lvl="0" marL="184150" marR="0" rtl="0" algn="l">
              <a:lnSpc>
                <a:spcPct val="100000"/>
              </a:lnSpc>
              <a:spcBef>
                <a:spcPts val="0"/>
              </a:spcBef>
              <a:spcAft>
                <a:spcPts val="0"/>
              </a:spcAft>
              <a:buClr>
                <a:srgbClr val="262626"/>
              </a:buClr>
              <a:buSzPts val="1400"/>
              <a:buFont typeface="Arial"/>
              <a:buChar char="•"/>
            </a:pPr>
            <a:r>
              <a:rPr b="0" i="0" lang="es-PE" sz="1400" u="none" cap="none" strike="noStrike">
                <a:solidFill>
                  <a:srgbClr val="262626"/>
                </a:solidFill>
                <a:latin typeface="Calibri"/>
                <a:ea typeface="Calibri"/>
                <a:cs typeface="Calibri"/>
                <a:sym typeface="Calibri"/>
              </a:rPr>
              <a:t>Asimismo, nos ayuda a saber cómo nos perciben los consumidores y sirve de guía para la comunicación con los clientes actuales y los potenciales.</a:t>
            </a:r>
            <a:endParaRPr b="0" i="0" sz="1400" u="none" cap="none" strike="noStrike">
              <a:solidFill>
                <a:srgbClr val="262626"/>
              </a:solidFill>
              <a:latin typeface="Calibri"/>
              <a:ea typeface="Calibri"/>
              <a:cs typeface="Calibri"/>
              <a:sym typeface="Calibri"/>
            </a:endParaRPr>
          </a:p>
          <a:p>
            <a:pPr indent="-184150" lvl="0" marL="184150" marR="0" rtl="0" algn="l">
              <a:lnSpc>
                <a:spcPct val="100000"/>
              </a:lnSpc>
              <a:spcBef>
                <a:spcPts val="0"/>
              </a:spcBef>
              <a:spcAft>
                <a:spcPts val="0"/>
              </a:spcAft>
              <a:buClr>
                <a:srgbClr val="262626"/>
              </a:buClr>
              <a:buSzPts val="1400"/>
              <a:buFont typeface="Arial"/>
              <a:buChar char="•"/>
            </a:pPr>
            <a:r>
              <a:rPr b="0" i="0" lang="es-PE" sz="1400" u="none" cap="none" strike="noStrike">
                <a:solidFill>
                  <a:srgbClr val="262626"/>
                </a:solidFill>
                <a:latin typeface="Calibri"/>
                <a:ea typeface="Calibri"/>
                <a:cs typeface="Calibri"/>
                <a:sym typeface="Calibri"/>
              </a:rPr>
              <a:t>Al investigar adecuadamente el mercado, lograremos estar un paso adelante sacando ventaja a nuestros competidores.</a:t>
            </a:r>
            <a:endParaRPr b="0" i="0" sz="1400" u="none" cap="none" strike="noStrike">
              <a:solidFill>
                <a:srgbClr val="262626"/>
              </a:solidFill>
              <a:latin typeface="Calibri"/>
              <a:ea typeface="Calibri"/>
              <a:cs typeface="Calibri"/>
              <a:sym typeface="Calibri"/>
            </a:endParaRPr>
          </a:p>
          <a:p>
            <a:pPr indent="-184150" lvl="0" marL="184150" marR="0" rtl="0" algn="l">
              <a:lnSpc>
                <a:spcPct val="100000"/>
              </a:lnSpc>
              <a:spcBef>
                <a:spcPts val="0"/>
              </a:spcBef>
              <a:spcAft>
                <a:spcPts val="0"/>
              </a:spcAft>
              <a:buClr>
                <a:srgbClr val="262626"/>
              </a:buClr>
              <a:buSzPts val="1400"/>
              <a:buFont typeface="Arial"/>
              <a:buChar char="•"/>
            </a:pPr>
            <a:r>
              <a:rPr b="0" i="0" lang="es-PE" sz="1400" u="none" cap="none" strike="noStrike">
                <a:solidFill>
                  <a:srgbClr val="262626"/>
                </a:solidFill>
                <a:latin typeface="Calibri"/>
                <a:ea typeface="Calibri"/>
                <a:cs typeface="Calibri"/>
                <a:sym typeface="Calibri"/>
              </a:rPr>
              <a:t>La </a:t>
            </a:r>
            <a:r>
              <a:rPr b="1" i="1" lang="es-PE" sz="1400" u="none" cap="none" strike="noStrike">
                <a:solidFill>
                  <a:srgbClr val="262626"/>
                </a:solidFill>
                <a:latin typeface="Calibri"/>
                <a:ea typeface="Calibri"/>
                <a:cs typeface="Calibri"/>
                <a:sym typeface="Calibri"/>
              </a:rPr>
              <a:t>investigación de clientes </a:t>
            </a:r>
            <a:r>
              <a:rPr b="0" i="0" lang="es-PE" sz="1400" u="none" cap="none" strike="noStrike">
                <a:solidFill>
                  <a:srgbClr val="262626"/>
                </a:solidFill>
                <a:latin typeface="Calibri"/>
                <a:ea typeface="Calibri"/>
                <a:cs typeface="Calibri"/>
                <a:sym typeface="Calibri"/>
              </a:rPr>
              <a:t>es un paso imprescindible para conocer con mayor seguridad quién utiliza los productos de una marca, por qué, cómo, dónde y cuándo lo hará; generando resultados válidos, fiables, oportunos, exactos y completos.</a:t>
            </a:r>
            <a:endParaRPr b="0" i="0" sz="1400" u="none" cap="none" strike="noStrike">
              <a:solidFill>
                <a:srgbClr val="262626"/>
              </a:solidFill>
              <a:latin typeface="Calibri"/>
              <a:ea typeface="Calibri"/>
              <a:cs typeface="Calibri"/>
              <a:sym typeface="Calibri"/>
            </a:endParaRPr>
          </a:p>
          <a:p>
            <a:pPr indent="-184150" lvl="0" marL="184150" marR="0" rtl="0" algn="l">
              <a:lnSpc>
                <a:spcPct val="100000"/>
              </a:lnSpc>
              <a:spcBef>
                <a:spcPts val="0"/>
              </a:spcBef>
              <a:spcAft>
                <a:spcPts val="0"/>
              </a:spcAft>
              <a:buClr>
                <a:schemeClr val="dk1"/>
              </a:buClr>
              <a:buSzPts val="1400"/>
              <a:buFont typeface="Arial"/>
              <a:buNone/>
            </a:pPr>
            <a:r>
              <a:t/>
            </a:r>
            <a:endParaRPr b="0" i="0" sz="1400" u="none" cap="none" strike="noStrike">
              <a:solidFill>
                <a:srgbClr val="262626"/>
              </a:solidFill>
              <a:latin typeface="Calibri"/>
              <a:ea typeface="Calibri"/>
              <a:cs typeface="Calibri"/>
              <a:sym typeface="Calibri"/>
            </a:endParaRPr>
          </a:p>
          <a:p>
            <a:pPr indent="-184150" lvl="0" marL="184150" marR="0" rtl="0" algn="l">
              <a:lnSpc>
                <a:spcPct val="100000"/>
              </a:lnSpc>
              <a:spcBef>
                <a:spcPts val="0"/>
              </a:spcBef>
              <a:spcAft>
                <a:spcPts val="0"/>
              </a:spcAft>
              <a:buClr>
                <a:srgbClr val="262626"/>
              </a:buClr>
              <a:buSzPts val="1400"/>
              <a:buFont typeface="Arial"/>
              <a:buChar char="•"/>
            </a:pPr>
            <a:r>
              <a:rPr b="0" i="0" lang="es-PE" sz="1400" u="none" cap="none" strike="noStrike">
                <a:solidFill>
                  <a:srgbClr val="262626"/>
                </a:solidFill>
                <a:latin typeface="Calibri"/>
                <a:ea typeface="Calibri"/>
                <a:cs typeface="Calibri"/>
                <a:sym typeface="Calibri"/>
              </a:rPr>
              <a:t>Como existen </a:t>
            </a:r>
            <a:r>
              <a:rPr b="1" i="0" lang="es-PE" sz="1400" u="none" cap="none" strike="noStrike">
                <a:solidFill>
                  <a:srgbClr val="00B1C3"/>
                </a:solidFill>
                <a:latin typeface="Calibri"/>
                <a:ea typeface="Calibri"/>
                <a:cs typeface="Calibri"/>
                <a:sym typeface="Calibri"/>
              </a:rPr>
              <a:t>diferentes tipos de investigación </a:t>
            </a:r>
            <a:r>
              <a:rPr b="0" i="0" lang="es-PE" sz="1400" u="none" cap="none" strike="noStrike">
                <a:solidFill>
                  <a:srgbClr val="262626"/>
                </a:solidFill>
                <a:latin typeface="Calibri"/>
                <a:ea typeface="Calibri"/>
                <a:cs typeface="Calibri"/>
                <a:sym typeface="Calibri"/>
              </a:rPr>
              <a:t>y cada uno puede servir en momentos diferentes, se debe ser preciso en elegir aquel acorde a las necesidades del estudio y seguir su proceso para crear el nuevo conocimiento esperado.</a:t>
            </a:r>
            <a:endParaRPr b="0" i="0" sz="1400" u="none" cap="none" strike="noStrike">
              <a:solidFill>
                <a:srgbClr val="262626"/>
              </a:solidFill>
              <a:latin typeface="Calibri"/>
              <a:ea typeface="Calibri"/>
              <a:cs typeface="Calibri"/>
              <a:sym typeface="Calibri"/>
            </a:endParaRPr>
          </a:p>
        </p:txBody>
      </p:sp>
      <p:sp>
        <p:nvSpPr>
          <p:cNvPr id="76" name="Google Shape;76;p4"/>
          <p:cNvSpPr/>
          <p:nvPr/>
        </p:nvSpPr>
        <p:spPr>
          <a:xfrm>
            <a:off x="503238" y="377170"/>
            <a:ext cx="446881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TIPOS DE INVESTIGACIÓN APLICADOS A LA COMPRENSIÓN DEL CLIENTE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id="82" name="Google Shape;82;p5"/>
          <p:cNvPicPr preferRelativeResize="0"/>
          <p:nvPr/>
        </p:nvPicPr>
        <p:blipFill rotWithShape="1">
          <a:blip r:embed="rId3">
            <a:alphaModFix/>
          </a:blip>
          <a:srcRect b="0" l="8415" r="0" t="0"/>
          <a:stretch/>
        </p:blipFill>
        <p:spPr>
          <a:xfrm>
            <a:off x="3447244" y="3182907"/>
            <a:ext cx="2608288" cy="1900237"/>
          </a:xfrm>
          <a:prstGeom prst="rect">
            <a:avLst/>
          </a:prstGeom>
          <a:noFill/>
          <a:ln>
            <a:noFill/>
          </a:ln>
        </p:spPr>
      </p:pic>
      <p:sp>
        <p:nvSpPr>
          <p:cNvPr id="83" name="Google Shape;83;p5"/>
          <p:cNvSpPr txBox="1"/>
          <p:nvPr/>
        </p:nvSpPr>
        <p:spPr>
          <a:xfrm>
            <a:off x="511341" y="948928"/>
            <a:ext cx="8164200" cy="1954800"/>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INVESTIGACIÓN CUALITATIVA</a:t>
            </a:r>
            <a:endParaRPr b="1" i="0" sz="1600" u="none" cap="none" strike="noStrike">
              <a:solidFill>
                <a:schemeClr val="dk1"/>
              </a:solidFill>
              <a:latin typeface="Calibri"/>
              <a:ea typeface="Calibri"/>
              <a:cs typeface="Calibri"/>
              <a:sym typeface="Calibri"/>
            </a:endParaRPr>
          </a:p>
          <a:p>
            <a:pPr indent="-171450" lvl="0" marL="182563" marR="0" rtl="0" algn="l">
              <a:lnSpc>
                <a:spcPct val="100000"/>
              </a:lnSpc>
              <a:spcBef>
                <a:spcPts val="600"/>
              </a:spcBef>
              <a:spcAft>
                <a:spcPts val="0"/>
              </a:spcAft>
              <a:buClr>
                <a:srgbClr val="000000"/>
              </a:buClr>
              <a:buSzPts val="1600"/>
              <a:buFont typeface="Arial"/>
              <a:buChar char="•"/>
            </a:pPr>
            <a:r>
              <a:rPr b="0" i="0" lang="es-PE" sz="1600" u="none" cap="none" strike="noStrike">
                <a:solidFill>
                  <a:schemeClr val="dk1"/>
                </a:solidFill>
                <a:latin typeface="Calibri"/>
                <a:ea typeface="Calibri"/>
                <a:cs typeface="Calibri"/>
                <a:sym typeface="Calibri"/>
              </a:rPr>
              <a:t>Muy utilizad</a:t>
            </a:r>
            <a:r>
              <a:rPr lang="es-PE" sz="1600">
                <a:solidFill>
                  <a:schemeClr val="dk1"/>
                </a:solidFill>
                <a:latin typeface="Calibri"/>
                <a:ea typeface="Calibri"/>
                <a:cs typeface="Calibri"/>
                <a:sym typeface="Calibri"/>
              </a:rPr>
              <a:t>a</a:t>
            </a:r>
            <a:r>
              <a:rPr b="0" i="0" lang="es-PE" sz="1600" u="none" cap="none" strike="noStrike">
                <a:solidFill>
                  <a:schemeClr val="dk1"/>
                </a:solidFill>
                <a:latin typeface="Calibri"/>
                <a:ea typeface="Calibri"/>
                <a:cs typeface="Calibri"/>
                <a:sym typeface="Calibri"/>
              </a:rPr>
              <a:t> en ciencias sociales y humanas para ayudar a entender el racional de las personas. En este enfoque, se busca entender a detalle el: </a:t>
            </a:r>
            <a:r>
              <a:rPr b="1" i="0" lang="es-PE" sz="1600" u="none" cap="none" strike="noStrike">
                <a:solidFill>
                  <a:schemeClr val="dk1"/>
                </a:solidFill>
                <a:latin typeface="Calibri"/>
                <a:ea typeface="Calibri"/>
                <a:cs typeface="Calibri"/>
                <a:sym typeface="Calibri"/>
              </a:rPr>
              <a:t>cómo y por qué </a:t>
            </a:r>
            <a:r>
              <a:rPr b="0" i="0" lang="es-PE" sz="1600" u="none" cap="none" strike="noStrike">
                <a:solidFill>
                  <a:schemeClr val="dk1"/>
                </a:solidFill>
                <a:latin typeface="Calibri"/>
                <a:ea typeface="Calibri"/>
                <a:cs typeface="Calibri"/>
                <a:sym typeface="Calibri"/>
              </a:rPr>
              <a:t>de las cosas.</a:t>
            </a:r>
            <a:endParaRPr b="0" i="0" sz="1600" u="none" cap="none" strike="noStrike">
              <a:solidFill>
                <a:schemeClr val="dk1"/>
              </a:solidFill>
              <a:latin typeface="Calibri"/>
              <a:ea typeface="Calibri"/>
              <a:cs typeface="Calibri"/>
              <a:sym typeface="Calibri"/>
            </a:endParaRPr>
          </a:p>
          <a:p>
            <a:pPr indent="-171450" lvl="0" marL="182563" marR="0" rtl="0" algn="l">
              <a:lnSpc>
                <a:spcPct val="100000"/>
              </a:lnSpc>
              <a:spcBef>
                <a:spcPts val="600"/>
              </a:spcBef>
              <a:spcAft>
                <a:spcPts val="0"/>
              </a:spcAft>
              <a:buClr>
                <a:srgbClr val="000000"/>
              </a:buClr>
              <a:buSzPts val="1600"/>
              <a:buFont typeface="Arial"/>
              <a:buChar char="•"/>
            </a:pPr>
            <a:r>
              <a:rPr b="0" i="0" lang="es-PE" sz="1600" u="none" cap="none" strike="noStrike">
                <a:solidFill>
                  <a:schemeClr val="dk1"/>
                </a:solidFill>
                <a:latin typeface="Calibri"/>
                <a:ea typeface="Calibri"/>
                <a:cs typeface="Calibri"/>
                <a:sym typeface="Calibri"/>
              </a:rPr>
              <a:t>Para llevarse a cabo, se pueden dar en espacios como </a:t>
            </a:r>
            <a:r>
              <a:rPr lang="es-PE" sz="1600">
                <a:solidFill>
                  <a:schemeClr val="dk1"/>
                </a:solidFill>
                <a:latin typeface="Calibri"/>
                <a:ea typeface="Calibri"/>
                <a:cs typeface="Calibri"/>
                <a:sym typeface="Calibri"/>
              </a:rPr>
              <a:t>e</a:t>
            </a:r>
            <a:r>
              <a:rPr b="0" i="0" lang="es-PE" sz="1600" u="none" cap="none" strike="noStrike">
                <a:solidFill>
                  <a:schemeClr val="dk1"/>
                </a:solidFill>
                <a:latin typeface="Calibri"/>
                <a:ea typeface="Calibri"/>
                <a:cs typeface="Calibri"/>
                <a:sym typeface="Calibri"/>
              </a:rPr>
              <a:t>ntrevistas, </a:t>
            </a:r>
            <a:r>
              <a:rPr lang="es-PE" sz="1600">
                <a:solidFill>
                  <a:schemeClr val="dk1"/>
                </a:solidFill>
                <a:latin typeface="Calibri"/>
                <a:ea typeface="Calibri"/>
                <a:cs typeface="Calibri"/>
                <a:sym typeface="Calibri"/>
              </a:rPr>
              <a:t>f</a:t>
            </a:r>
            <a:r>
              <a:rPr b="0" i="0" lang="es-PE" sz="1600" u="none" cap="none" strike="noStrike">
                <a:solidFill>
                  <a:schemeClr val="dk1"/>
                </a:solidFill>
                <a:latin typeface="Calibri"/>
                <a:ea typeface="Calibri"/>
                <a:cs typeface="Calibri"/>
                <a:sym typeface="Calibri"/>
              </a:rPr>
              <a:t>ocus </a:t>
            </a:r>
            <a:r>
              <a:rPr lang="es-PE" sz="1600">
                <a:solidFill>
                  <a:schemeClr val="dk1"/>
                </a:solidFill>
                <a:latin typeface="Calibri"/>
                <a:ea typeface="Calibri"/>
                <a:cs typeface="Calibri"/>
                <a:sym typeface="Calibri"/>
              </a:rPr>
              <a:t>g</a:t>
            </a:r>
            <a:r>
              <a:rPr b="0" i="0" lang="es-PE" sz="1600" u="none" cap="none" strike="noStrike">
                <a:solidFill>
                  <a:schemeClr val="dk1"/>
                </a:solidFill>
                <a:latin typeface="Calibri"/>
                <a:ea typeface="Calibri"/>
                <a:cs typeface="Calibri"/>
                <a:sym typeface="Calibri"/>
              </a:rPr>
              <a:t>roup, </a:t>
            </a:r>
            <a:r>
              <a:rPr lang="es-PE" sz="1600">
                <a:solidFill>
                  <a:schemeClr val="dk1"/>
                </a:solidFill>
                <a:latin typeface="Calibri"/>
                <a:ea typeface="Calibri"/>
                <a:cs typeface="Calibri"/>
                <a:sym typeface="Calibri"/>
              </a:rPr>
              <a:t>o</a:t>
            </a:r>
            <a:r>
              <a:rPr b="0" i="0" lang="es-PE" sz="1600" u="none" cap="none" strike="noStrike">
                <a:solidFill>
                  <a:schemeClr val="dk1"/>
                </a:solidFill>
                <a:latin typeface="Calibri"/>
                <a:ea typeface="Calibri"/>
                <a:cs typeface="Calibri"/>
                <a:sym typeface="Calibri"/>
              </a:rPr>
              <a:t>bservaciones, </a:t>
            </a:r>
            <a:r>
              <a:rPr lang="es-PE" sz="1600">
                <a:solidFill>
                  <a:schemeClr val="dk1"/>
                </a:solidFill>
                <a:latin typeface="Calibri"/>
                <a:ea typeface="Calibri"/>
                <a:cs typeface="Calibri"/>
                <a:sym typeface="Calibri"/>
              </a:rPr>
              <a:t>a</a:t>
            </a:r>
            <a:r>
              <a:rPr b="0" i="0" lang="es-PE" sz="1600" u="none" cap="none" strike="noStrike">
                <a:solidFill>
                  <a:schemeClr val="dk1"/>
                </a:solidFill>
                <a:latin typeface="Calibri"/>
                <a:ea typeface="Calibri"/>
                <a:cs typeface="Calibri"/>
                <a:sym typeface="Calibri"/>
              </a:rPr>
              <a:t>nálisis de </a:t>
            </a:r>
            <a:r>
              <a:rPr lang="es-PE" sz="1600">
                <a:solidFill>
                  <a:schemeClr val="dk1"/>
                </a:solidFill>
                <a:latin typeface="Calibri"/>
                <a:ea typeface="Calibri"/>
                <a:cs typeface="Calibri"/>
                <a:sym typeface="Calibri"/>
              </a:rPr>
              <a:t>c</a:t>
            </a:r>
            <a:r>
              <a:rPr b="0" i="0" lang="es-PE" sz="1600" u="none" cap="none" strike="noStrike">
                <a:solidFill>
                  <a:schemeClr val="dk1"/>
                </a:solidFill>
                <a:latin typeface="Calibri"/>
                <a:ea typeface="Calibri"/>
                <a:cs typeface="Calibri"/>
                <a:sym typeface="Calibri"/>
              </a:rPr>
              <a:t>ontenidos.</a:t>
            </a:r>
            <a:endParaRPr b="0" i="0" sz="1600" u="none" cap="none" strike="noStrike">
              <a:solidFill>
                <a:srgbClr val="262626"/>
              </a:solidFill>
              <a:latin typeface="Calibri"/>
              <a:ea typeface="Calibri"/>
              <a:cs typeface="Calibri"/>
              <a:sym typeface="Calibri"/>
            </a:endParaRPr>
          </a:p>
          <a:p>
            <a:pPr indent="-171450" lvl="0" marL="182563" marR="0" rtl="0" algn="l">
              <a:lnSpc>
                <a:spcPct val="100000"/>
              </a:lnSpc>
              <a:spcBef>
                <a:spcPts val="600"/>
              </a:spcBef>
              <a:spcAft>
                <a:spcPts val="600"/>
              </a:spcAft>
              <a:buClr>
                <a:srgbClr val="000000"/>
              </a:buClr>
              <a:buSzPts val="1600"/>
              <a:buFont typeface="Arial"/>
              <a:buChar char="•"/>
            </a:pPr>
            <a:r>
              <a:rPr b="1" i="0" lang="es-PE" sz="1600" u="none" cap="none" strike="noStrike">
                <a:solidFill>
                  <a:schemeClr val="dk1"/>
                </a:solidFill>
                <a:latin typeface="Calibri"/>
                <a:ea typeface="Calibri"/>
                <a:cs typeface="Calibri"/>
                <a:sym typeface="Calibri"/>
              </a:rPr>
              <a:t>Ejemplo: </a:t>
            </a:r>
            <a:r>
              <a:rPr b="0" i="1" lang="es-PE" sz="1600" u="none" cap="none" strike="noStrike">
                <a:solidFill>
                  <a:schemeClr val="dk1"/>
                </a:solidFill>
                <a:latin typeface="Calibri"/>
                <a:ea typeface="Calibri"/>
                <a:cs typeface="Calibri"/>
                <a:sym typeface="Calibri"/>
              </a:rPr>
              <a:t>En lugar de querer entender cuántos clics se dan, te interesa saber qué sienten, piensan sobre la experiencia.</a:t>
            </a:r>
            <a:endParaRPr b="0" i="1" sz="1600" u="none" cap="none" strike="noStrike">
              <a:solidFill>
                <a:schemeClr val="dk1"/>
              </a:solidFill>
              <a:latin typeface="Calibri"/>
              <a:ea typeface="Calibri"/>
              <a:cs typeface="Calibri"/>
              <a:sym typeface="Calibri"/>
            </a:endParaRPr>
          </a:p>
        </p:txBody>
      </p:sp>
      <p:pic>
        <p:nvPicPr>
          <p:cNvPr descr="Research types: working papers, preprints, journal articles" id="84" name="Google Shape;84;p5"/>
          <p:cNvPicPr preferRelativeResize="0"/>
          <p:nvPr/>
        </p:nvPicPr>
        <p:blipFill rotWithShape="1">
          <a:blip r:embed="rId4">
            <a:alphaModFix/>
          </a:blip>
          <a:srcRect b="0" l="0" r="0" t="0"/>
          <a:stretch/>
        </p:blipFill>
        <p:spPr>
          <a:xfrm>
            <a:off x="5951095" y="3182907"/>
            <a:ext cx="2724593" cy="1813094"/>
          </a:xfrm>
          <a:prstGeom prst="rect">
            <a:avLst/>
          </a:prstGeom>
          <a:noFill/>
          <a:ln>
            <a:noFill/>
          </a:ln>
        </p:spPr>
      </p:pic>
      <p:sp>
        <p:nvSpPr>
          <p:cNvPr id="85" name="Google Shape;85;p5"/>
          <p:cNvSpPr/>
          <p:nvPr/>
        </p:nvSpPr>
        <p:spPr>
          <a:xfrm>
            <a:off x="503238" y="377170"/>
            <a:ext cx="446881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TIPOS DE INVESTIGACIÓN APLICADOS A LA COMPRENSIÓN DEL CLIENTE </a:t>
            </a:r>
            <a:endParaRPr b="0" i="0" sz="1400" u="none" cap="none" strike="noStrike">
              <a:solidFill>
                <a:srgbClr val="000000"/>
              </a:solidFill>
              <a:latin typeface="Arial"/>
              <a:ea typeface="Arial"/>
              <a:cs typeface="Arial"/>
              <a:sym typeface="Arial"/>
            </a:endParaRPr>
          </a:p>
        </p:txBody>
      </p:sp>
      <p:pic>
        <p:nvPicPr>
          <p:cNvPr id="86" name="Google Shape;86;p5"/>
          <p:cNvPicPr preferRelativeResize="0"/>
          <p:nvPr/>
        </p:nvPicPr>
        <p:blipFill rotWithShape="1">
          <a:blip r:embed="rId5">
            <a:alphaModFix/>
          </a:blip>
          <a:srcRect b="2204" l="3896" r="3112" t="1063"/>
          <a:stretch/>
        </p:blipFill>
        <p:spPr>
          <a:xfrm>
            <a:off x="5994943" y="3004221"/>
            <a:ext cx="1046426" cy="2229767"/>
          </a:xfrm>
          <a:prstGeom prst="rect">
            <a:avLst/>
          </a:prstGeom>
          <a:noFill/>
          <a:ln>
            <a:noFill/>
          </a:ln>
        </p:spPr>
      </p:pic>
      <p:pic>
        <p:nvPicPr>
          <p:cNvPr id="87" name="Google Shape;87;p5"/>
          <p:cNvPicPr preferRelativeResize="0"/>
          <p:nvPr/>
        </p:nvPicPr>
        <p:blipFill rotWithShape="1">
          <a:blip r:embed="rId6">
            <a:alphaModFix/>
          </a:blip>
          <a:srcRect b="0" l="0" r="0" t="0"/>
          <a:stretch/>
        </p:blipFill>
        <p:spPr>
          <a:xfrm>
            <a:off x="511341" y="3182907"/>
            <a:ext cx="2894608" cy="190023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6"/>
          <p:cNvSpPr txBox="1"/>
          <p:nvPr/>
        </p:nvSpPr>
        <p:spPr>
          <a:xfrm>
            <a:off x="511341" y="949325"/>
            <a:ext cx="3881400" cy="4094400"/>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None/>
            </a:pPr>
            <a:r>
              <a:rPr b="1" i="0" lang="es-PE" sz="1600" u="none" cap="none" strike="noStrike">
                <a:solidFill>
                  <a:schemeClr val="dk1"/>
                </a:solidFill>
                <a:latin typeface="Calibri"/>
                <a:ea typeface="Calibri"/>
                <a:cs typeface="Calibri"/>
                <a:sym typeface="Calibri"/>
              </a:rPr>
              <a:t>OBSERVACIONES</a:t>
            </a:r>
            <a:endParaRPr b="1" i="0" sz="1600" u="none" cap="none" strike="noStrike">
              <a:solidFill>
                <a:schemeClr val="dk1"/>
              </a:solidFill>
              <a:latin typeface="Calibri"/>
              <a:ea typeface="Calibri"/>
              <a:cs typeface="Calibri"/>
              <a:sym typeface="Calibri"/>
            </a:endParaRPr>
          </a:p>
          <a:p>
            <a:pPr indent="0" lvl="0" marL="11725" marR="0" rtl="0" algn="l">
              <a:lnSpc>
                <a:spcPct val="100000"/>
              </a:lnSpc>
              <a:spcBef>
                <a:spcPts val="600"/>
              </a:spcBef>
              <a:spcAft>
                <a:spcPts val="0"/>
              </a:spcAft>
              <a:buNone/>
            </a:pPr>
            <a:r>
              <a:rPr b="0" i="0" lang="es-PE" sz="1600" u="none" cap="none" strike="noStrike">
                <a:solidFill>
                  <a:schemeClr val="dk1"/>
                </a:solidFill>
                <a:latin typeface="Calibri"/>
                <a:ea typeface="Calibri"/>
                <a:cs typeface="Calibri"/>
                <a:sym typeface="Calibri"/>
              </a:rPr>
              <a:t>Estudio detallado del comportamiento de las personas en un entorno auténtico o controlado. De los más conocidos de nuestra industria es el “eye tracking” a través de webcams o la integración con softwares que trackean esto.</a:t>
            </a:r>
            <a:endParaRPr/>
          </a:p>
          <a:p>
            <a:pPr indent="0" lvl="0" marL="11725"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62626"/>
              </a:solidFill>
              <a:latin typeface="Calibri"/>
              <a:ea typeface="Calibri"/>
              <a:cs typeface="Calibri"/>
              <a:sym typeface="Calibri"/>
            </a:endParaRPr>
          </a:p>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ANÁLISIS DE CONTENIDOS</a:t>
            </a:r>
            <a:endParaRPr b="1" i="0" sz="1600" u="none" cap="none" strike="noStrike">
              <a:solidFill>
                <a:schemeClr val="dk1"/>
              </a:solidFill>
              <a:latin typeface="Calibri"/>
              <a:ea typeface="Calibri"/>
              <a:cs typeface="Calibri"/>
              <a:sym typeface="Calibri"/>
            </a:endParaRPr>
          </a:p>
          <a:p>
            <a:pPr indent="0" lvl="0" marL="11725" marR="0" rtl="0" algn="l">
              <a:lnSpc>
                <a:spcPct val="100000"/>
              </a:lnSpc>
              <a:spcBef>
                <a:spcPts val="600"/>
              </a:spcBef>
              <a:spcAft>
                <a:spcPts val="0"/>
              </a:spcAft>
              <a:buNone/>
            </a:pPr>
            <a:r>
              <a:rPr b="0" i="0" lang="es-PE" sz="1600" u="none" cap="none" strike="noStrike">
                <a:solidFill>
                  <a:schemeClr val="dk1"/>
                </a:solidFill>
                <a:latin typeface="Calibri"/>
                <a:ea typeface="Calibri"/>
                <a:cs typeface="Calibri"/>
                <a:sym typeface="Calibri"/>
              </a:rPr>
              <a:t>Se basa en el análisis de todas las fuentes de información que tenemos de carácter público: </a:t>
            </a:r>
            <a:r>
              <a:rPr lang="es-PE" sz="1600">
                <a:solidFill>
                  <a:schemeClr val="dk1"/>
                </a:solidFill>
                <a:latin typeface="Calibri"/>
                <a:ea typeface="Calibri"/>
                <a:cs typeface="Calibri"/>
                <a:sym typeface="Calibri"/>
              </a:rPr>
              <a:t>r</a:t>
            </a:r>
            <a:r>
              <a:rPr b="0" i="0" lang="es-PE" sz="1600" u="none" cap="none" strike="noStrike">
                <a:solidFill>
                  <a:schemeClr val="dk1"/>
                </a:solidFill>
                <a:latin typeface="Calibri"/>
                <a:ea typeface="Calibri"/>
                <a:cs typeface="Calibri"/>
                <a:sym typeface="Calibri"/>
              </a:rPr>
              <a:t>edes sociales, foros, reseñas, etc.</a:t>
            </a:r>
            <a:endParaRPr b="0" i="0" sz="1600" u="none" cap="none" strike="noStrike">
              <a:solidFill>
                <a:schemeClr val="dk1"/>
              </a:solidFill>
              <a:latin typeface="Calibri"/>
              <a:ea typeface="Calibri"/>
              <a:cs typeface="Calibri"/>
              <a:sym typeface="Calibri"/>
            </a:endParaRPr>
          </a:p>
          <a:p>
            <a:pPr indent="0" lvl="0" marL="11725" marR="0" rtl="0" algn="l">
              <a:lnSpc>
                <a:spcPct val="100000"/>
              </a:lnSpc>
              <a:spcBef>
                <a:spcPts val="0"/>
              </a:spcBef>
              <a:spcAft>
                <a:spcPts val="0"/>
              </a:spcAft>
              <a:buNone/>
            </a:pPr>
            <a:r>
              <a:rPr b="0" i="0" lang="es-PE" sz="1600" u="none" cap="none" strike="noStrike">
                <a:solidFill>
                  <a:schemeClr val="dk1"/>
                </a:solidFill>
                <a:latin typeface="Calibri"/>
                <a:ea typeface="Calibri"/>
                <a:cs typeface="Calibri"/>
                <a:sym typeface="Calibri"/>
              </a:rPr>
              <a:t>Para ello, se reúne todo el contenido que quieres analizar y se categoriza para identificar los patrones y puntos más repetidos.</a:t>
            </a:r>
            <a:endParaRPr b="0" i="0" sz="1600" u="none" cap="none" strike="noStrike">
              <a:solidFill>
                <a:schemeClr val="dk1"/>
              </a:solidFill>
              <a:latin typeface="Calibri"/>
              <a:ea typeface="Calibri"/>
              <a:cs typeface="Calibri"/>
              <a:sym typeface="Calibri"/>
            </a:endParaRPr>
          </a:p>
          <a:p>
            <a:pPr indent="0" lvl="0" marL="11725"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62626"/>
              </a:solidFill>
              <a:latin typeface="Calibri"/>
              <a:ea typeface="Calibri"/>
              <a:cs typeface="Calibri"/>
              <a:sym typeface="Calibri"/>
            </a:endParaRPr>
          </a:p>
        </p:txBody>
      </p:sp>
      <p:sp>
        <p:nvSpPr>
          <p:cNvPr id="94" name="Google Shape;94;p6"/>
          <p:cNvSpPr/>
          <p:nvPr/>
        </p:nvSpPr>
        <p:spPr>
          <a:xfrm>
            <a:off x="503238" y="377170"/>
            <a:ext cx="446881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TIPOS DE INVESTIGACIÓN APLICADOS A LA COMPRENSIÓN DEL CLIENTE </a:t>
            </a:r>
            <a:endParaRPr b="0" i="0" sz="1400" u="none" cap="none" strike="noStrike">
              <a:solidFill>
                <a:srgbClr val="000000"/>
              </a:solidFill>
              <a:latin typeface="Arial"/>
              <a:ea typeface="Arial"/>
              <a:cs typeface="Arial"/>
              <a:sym typeface="Arial"/>
            </a:endParaRPr>
          </a:p>
        </p:txBody>
      </p:sp>
      <p:sp>
        <p:nvSpPr>
          <p:cNvPr id="95" name="Google Shape;95;p6"/>
          <p:cNvSpPr/>
          <p:nvPr/>
        </p:nvSpPr>
        <p:spPr>
          <a:xfrm>
            <a:off x="4751388" y="949325"/>
            <a:ext cx="3924300" cy="1908176"/>
          </a:xfrm>
          <a:prstGeom prst="rect">
            <a:avLst/>
          </a:prstGeom>
          <a:solidFill>
            <a:srgbClr val="D9DBE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96" name="Google Shape;96;p6"/>
          <p:cNvPicPr preferRelativeResize="0"/>
          <p:nvPr/>
        </p:nvPicPr>
        <p:blipFill rotWithShape="1">
          <a:blip r:embed="rId3">
            <a:alphaModFix/>
          </a:blip>
          <a:srcRect b="0" l="0" r="0" t="0"/>
          <a:stretch/>
        </p:blipFill>
        <p:spPr>
          <a:xfrm>
            <a:off x="5168296" y="1461113"/>
            <a:ext cx="1250128" cy="310938"/>
          </a:xfrm>
          <a:prstGeom prst="rect">
            <a:avLst/>
          </a:prstGeom>
          <a:noFill/>
          <a:ln>
            <a:noFill/>
          </a:ln>
        </p:spPr>
      </p:pic>
      <p:pic>
        <p:nvPicPr>
          <p:cNvPr id="97" name="Google Shape;97;p6"/>
          <p:cNvPicPr preferRelativeResize="0"/>
          <p:nvPr/>
        </p:nvPicPr>
        <p:blipFill rotWithShape="1">
          <a:blip r:embed="rId4">
            <a:alphaModFix/>
          </a:blip>
          <a:srcRect b="0" l="0" r="0" t="0"/>
          <a:stretch/>
        </p:blipFill>
        <p:spPr>
          <a:xfrm>
            <a:off x="5098162" y="1861120"/>
            <a:ext cx="1358836" cy="649879"/>
          </a:xfrm>
          <a:prstGeom prst="rect">
            <a:avLst/>
          </a:prstGeom>
          <a:noFill/>
          <a:ln>
            <a:noFill/>
          </a:ln>
        </p:spPr>
      </p:pic>
      <p:pic>
        <p:nvPicPr>
          <p:cNvPr id="98" name="Google Shape;98;p6"/>
          <p:cNvPicPr preferRelativeResize="0"/>
          <p:nvPr/>
        </p:nvPicPr>
        <p:blipFill rotWithShape="1">
          <a:blip r:embed="rId5">
            <a:alphaModFix/>
          </a:blip>
          <a:srcRect b="0" l="0" r="0" t="0"/>
          <a:stretch/>
        </p:blipFill>
        <p:spPr>
          <a:xfrm>
            <a:off x="4751388" y="3090150"/>
            <a:ext cx="2117301" cy="2148211"/>
          </a:xfrm>
          <a:prstGeom prst="rect">
            <a:avLst/>
          </a:prstGeom>
          <a:noFill/>
          <a:ln>
            <a:noFill/>
          </a:ln>
        </p:spPr>
      </p:pic>
      <p:pic>
        <p:nvPicPr>
          <p:cNvPr id="99" name="Google Shape;99;p6"/>
          <p:cNvPicPr preferRelativeResize="0"/>
          <p:nvPr/>
        </p:nvPicPr>
        <p:blipFill rotWithShape="1">
          <a:blip r:embed="rId6">
            <a:alphaModFix/>
          </a:blip>
          <a:srcRect b="0" l="0" r="0" t="0"/>
          <a:stretch/>
        </p:blipFill>
        <p:spPr>
          <a:xfrm>
            <a:off x="6946932" y="3093277"/>
            <a:ext cx="1728755" cy="1077890"/>
          </a:xfrm>
          <a:prstGeom prst="rect">
            <a:avLst/>
          </a:prstGeom>
          <a:noFill/>
          <a:ln>
            <a:noFill/>
          </a:ln>
        </p:spPr>
      </p:pic>
      <p:pic>
        <p:nvPicPr>
          <p:cNvPr id="100" name="Google Shape;100;p6"/>
          <p:cNvPicPr preferRelativeResize="0"/>
          <p:nvPr/>
        </p:nvPicPr>
        <p:blipFill rotWithShape="1">
          <a:blip r:embed="rId7">
            <a:alphaModFix/>
          </a:blip>
          <a:srcRect b="0" l="0" r="0" t="0"/>
          <a:stretch/>
        </p:blipFill>
        <p:spPr>
          <a:xfrm>
            <a:off x="6942531" y="4440789"/>
            <a:ext cx="773695" cy="684578"/>
          </a:xfrm>
          <a:prstGeom prst="rect">
            <a:avLst/>
          </a:prstGeom>
          <a:noFill/>
          <a:ln>
            <a:noFill/>
          </a:ln>
        </p:spPr>
      </p:pic>
      <p:pic>
        <p:nvPicPr>
          <p:cNvPr id="101" name="Google Shape;101;p6"/>
          <p:cNvPicPr preferRelativeResize="0"/>
          <p:nvPr/>
        </p:nvPicPr>
        <p:blipFill rotWithShape="1">
          <a:blip r:embed="rId8">
            <a:alphaModFix/>
          </a:blip>
          <a:srcRect b="0" l="0" r="0" t="0"/>
          <a:stretch/>
        </p:blipFill>
        <p:spPr>
          <a:xfrm>
            <a:off x="7791762" y="4440789"/>
            <a:ext cx="824681" cy="653560"/>
          </a:xfrm>
          <a:prstGeom prst="rect">
            <a:avLst/>
          </a:prstGeom>
          <a:noFill/>
          <a:ln>
            <a:noFill/>
          </a:ln>
        </p:spPr>
      </p:pic>
      <p:pic>
        <p:nvPicPr>
          <p:cNvPr id="102" name="Google Shape;102;p6"/>
          <p:cNvPicPr preferRelativeResize="0"/>
          <p:nvPr/>
        </p:nvPicPr>
        <p:blipFill rotWithShape="1">
          <a:blip r:embed="rId9">
            <a:alphaModFix/>
          </a:blip>
          <a:srcRect b="2204" l="3896" r="3112" t="1063"/>
          <a:stretch/>
        </p:blipFill>
        <p:spPr>
          <a:xfrm rot="706016">
            <a:off x="6861489" y="728910"/>
            <a:ext cx="1046426" cy="222976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7"/>
          <p:cNvSpPr txBox="1"/>
          <p:nvPr/>
        </p:nvSpPr>
        <p:spPr>
          <a:xfrm>
            <a:off x="504173" y="944922"/>
            <a:ext cx="3904200" cy="3278700"/>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INVESTIGACIÓN CUANTITATIVA</a:t>
            </a:r>
            <a:endParaRPr b="1" i="0" sz="1600" u="none" cap="none" strike="noStrike">
              <a:solidFill>
                <a:schemeClr val="dk1"/>
              </a:solidFill>
              <a:latin typeface="Calibri"/>
              <a:ea typeface="Calibri"/>
              <a:cs typeface="Calibri"/>
              <a:sym typeface="Calibri"/>
            </a:endParaRPr>
          </a:p>
          <a:p>
            <a:pPr indent="-171450" lvl="0" marL="182563" marR="0" rtl="0" algn="l">
              <a:lnSpc>
                <a:spcPct val="100000"/>
              </a:lnSpc>
              <a:spcBef>
                <a:spcPts val="600"/>
              </a:spcBef>
              <a:spcAft>
                <a:spcPts val="0"/>
              </a:spcAft>
              <a:buClr>
                <a:srgbClr val="000000"/>
              </a:buClr>
              <a:buSzPts val="1600"/>
              <a:buFont typeface="Arial"/>
              <a:buChar char="•"/>
            </a:pPr>
            <a:r>
              <a:rPr b="0" i="0" lang="es-PE" sz="1600" u="none" cap="none" strike="noStrike">
                <a:solidFill>
                  <a:schemeClr val="dk1"/>
                </a:solidFill>
                <a:latin typeface="Calibri"/>
                <a:ea typeface="Calibri"/>
                <a:cs typeface="Calibri"/>
                <a:sym typeface="Calibri"/>
              </a:rPr>
              <a:t>Utilizado más por perfiles analíticos para entender patrones y tendencias en base a los datos proporcionados. Enfoque está en entender </a:t>
            </a:r>
            <a:r>
              <a:rPr b="1" i="0" lang="es-PE" sz="1600" u="none" cap="none" strike="noStrike">
                <a:solidFill>
                  <a:schemeClr val="dk1"/>
                </a:solidFill>
                <a:latin typeface="Calibri"/>
                <a:ea typeface="Calibri"/>
                <a:cs typeface="Calibri"/>
                <a:sym typeface="Calibri"/>
              </a:rPr>
              <a:t>qué, cuánto y cuándo.</a:t>
            </a:r>
            <a:endParaRPr/>
          </a:p>
          <a:p>
            <a:pPr indent="-69850" lvl="0" marL="182563"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Calibri"/>
              <a:ea typeface="Calibri"/>
              <a:cs typeface="Calibri"/>
              <a:sym typeface="Calibri"/>
            </a:endParaRPr>
          </a:p>
          <a:p>
            <a:pPr indent="-171450" lvl="0" marL="182563" marR="0" rtl="0" algn="l">
              <a:lnSpc>
                <a:spcPct val="100000"/>
              </a:lnSpc>
              <a:spcBef>
                <a:spcPts val="0"/>
              </a:spcBef>
              <a:spcAft>
                <a:spcPts val="0"/>
              </a:spcAft>
              <a:buClr>
                <a:srgbClr val="000000"/>
              </a:buClr>
              <a:buSzPts val="1600"/>
              <a:buFont typeface="Arial"/>
              <a:buChar char="•"/>
            </a:pPr>
            <a:r>
              <a:rPr b="0" i="0" lang="es-PE" sz="1600" u="none" cap="none" strike="noStrike">
                <a:solidFill>
                  <a:schemeClr val="dk1"/>
                </a:solidFill>
                <a:latin typeface="Calibri"/>
                <a:ea typeface="Calibri"/>
                <a:cs typeface="Calibri"/>
                <a:sym typeface="Calibri"/>
              </a:rPr>
              <a:t>Para realizarlos, se utilizan</a:t>
            </a:r>
            <a:r>
              <a:rPr lang="es-PE" sz="1600">
                <a:solidFill>
                  <a:schemeClr val="dk1"/>
                </a:solidFill>
                <a:latin typeface="Calibri"/>
                <a:ea typeface="Calibri"/>
                <a:cs typeface="Calibri"/>
                <a:sym typeface="Calibri"/>
              </a:rPr>
              <a:t> e</a:t>
            </a:r>
            <a:r>
              <a:rPr b="0" i="0" lang="es-PE" sz="1600" u="none" cap="none" strike="noStrike">
                <a:solidFill>
                  <a:schemeClr val="dk1"/>
                </a:solidFill>
                <a:latin typeface="Calibri"/>
                <a:ea typeface="Calibri"/>
                <a:cs typeface="Calibri"/>
                <a:sym typeface="Calibri"/>
              </a:rPr>
              <a:t>ncuestas, </a:t>
            </a:r>
            <a:r>
              <a:rPr lang="es-PE" sz="1600">
                <a:solidFill>
                  <a:schemeClr val="dk1"/>
                </a:solidFill>
                <a:latin typeface="Calibri"/>
                <a:ea typeface="Calibri"/>
                <a:cs typeface="Calibri"/>
                <a:sym typeface="Calibri"/>
              </a:rPr>
              <a:t>e</a:t>
            </a:r>
            <a:r>
              <a:rPr b="0" i="0" lang="es-PE" sz="1600" u="none" cap="none" strike="noStrike">
                <a:solidFill>
                  <a:schemeClr val="dk1"/>
                </a:solidFill>
                <a:latin typeface="Calibri"/>
                <a:ea typeface="Calibri"/>
                <a:cs typeface="Calibri"/>
                <a:sym typeface="Calibri"/>
              </a:rPr>
              <a:t>xperimentaciones y recolecciones de datos automáticas.</a:t>
            </a:r>
            <a:endParaRPr/>
          </a:p>
          <a:p>
            <a:pPr indent="-69850" lvl="0" marL="182563"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171450" lvl="0" marL="182563" marR="0" rtl="0" algn="l">
              <a:lnSpc>
                <a:spcPct val="100000"/>
              </a:lnSpc>
              <a:spcBef>
                <a:spcPts val="0"/>
              </a:spcBef>
              <a:spcAft>
                <a:spcPts val="0"/>
              </a:spcAft>
              <a:buClr>
                <a:srgbClr val="000000"/>
              </a:buClr>
              <a:buSzPts val="1600"/>
              <a:buFont typeface="Arial"/>
              <a:buChar char="•"/>
            </a:pPr>
            <a:r>
              <a:rPr b="0" i="0" lang="es-PE" sz="1600" u="none" cap="none" strike="noStrike">
                <a:solidFill>
                  <a:srgbClr val="262626"/>
                </a:solidFill>
                <a:latin typeface="Calibri"/>
                <a:ea typeface="Calibri"/>
                <a:cs typeface="Calibri"/>
                <a:sym typeface="Calibri"/>
              </a:rPr>
              <a:t>Ejemplo: </a:t>
            </a:r>
            <a:r>
              <a:rPr b="0" i="1" lang="es-PE" sz="1600" u="none" cap="none" strike="noStrike">
                <a:solidFill>
                  <a:srgbClr val="262626"/>
                </a:solidFill>
                <a:latin typeface="Calibri"/>
                <a:ea typeface="Calibri"/>
                <a:cs typeface="Calibri"/>
                <a:sym typeface="Calibri"/>
              </a:rPr>
              <a:t>Generó dos versiones de la aplicación para entender cuál genera más retención de tiempo.</a:t>
            </a:r>
            <a:r>
              <a:rPr b="0" i="0" lang="es-PE" sz="1600" u="none" cap="none" strike="noStrike">
                <a:solidFill>
                  <a:srgbClr val="262626"/>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9" name="Google Shape;109;p7"/>
          <p:cNvSpPr/>
          <p:nvPr/>
        </p:nvSpPr>
        <p:spPr>
          <a:xfrm>
            <a:off x="503238" y="377170"/>
            <a:ext cx="446881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TIPOS DE INVESTIGACIÓN APLICADOS A LA COMPRENSIÓN DEL CLIENTE </a:t>
            </a:r>
            <a:endParaRPr b="0" i="0" sz="1400" u="none" cap="none" strike="noStrike">
              <a:solidFill>
                <a:srgbClr val="000000"/>
              </a:solidFill>
              <a:latin typeface="Arial"/>
              <a:ea typeface="Arial"/>
              <a:cs typeface="Arial"/>
              <a:sym typeface="Arial"/>
            </a:endParaRPr>
          </a:p>
        </p:txBody>
      </p:sp>
      <p:sp>
        <p:nvSpPr>
          <p:cNvPr id="110" name="Google Shape;110;p7"/>
          <p:cNvSpPr/>
          <p:nvPr/>
        </p:nvSpPr>
        <p:spPr>
          <a:xfrm>
            <a:off x="4751388" y="949325"/>
            <a:ext cx="3924299" cy="4284663"/>
          </a:xfrm>
          <a:prstGeom prst="rect">
            <a:avLst/>
          </a:prstGeom>
          <a:solidFill>
            <a:srgbClr val="D9DBE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Choose the right measurement for your Event Segmentation chart – Amplitude" id="111" name="Google Shape;111;p7"/>
          <p:cNvPicPr preferRelativeResize="0"/>
          <p:nvPr/>
        </p:nvPicPr>
        <p:blipFill rotWithShape="1">
          <a:blip r:embed="rId3">
            <a:alphaModFix/>
          </a:blip>
          <a:srcRect b="0" l="0" r="0" t="0"/>
          <a:stretch/>
        </p:blipFill>
        <p:spPr>
          <a:xfrm>
            <a:off x="4919299" y="3712375"/>
            <a:ext cx="3588476" cy="1331348"/>
          </a:xfrm>
          <a:prstGeom prst="rect">
            <a:avLst/>
          </a:prstGeom>
          <a:noFill/>
          <a:ln>
            <a:noFill/>
          </a:ln>
        </p:spPr>
      </p:pic>
      <p:grpSp>
        <p:nvGrpSpPr>
          <p:cNvPr id="112" name="Google Shape;112;p7"/>
          <p:cNvGrpSpPr/>
          <p:nvPr/>
        </p:nvGrpSpPr>
        <p:grpSpPr>
          <a:xfrm>
            <a:off x="5578564" y="1071153"/>
            <a:ext cx="2280673" cy="2363433"/>
            <a:chOff x="1234487" y="2567921"/>
            <a:chExt cx="2492022" cy="2582452"/>
          </a:xfrm>
        </p:grpSpPr>
        <p:pic>
          <p:nvPicPr>
            <p:cNvPr id="113" name="Google Shape;113;p7"/>
            <p:cNvPicPr preferRelativeResize="0"/>
            <p:nvPr/>
          </p:nvPicPr>
          <p:blipFill rotWithShape="1">
            <a:blip r:embed="rId4">
              <a:alphaModFix/>
            </a:blip>
            <a:srcRect b="0" l="0" r="0" t="0"/>
            <a:stretch/>
          </p:blipFill>
          <p:spPr>
            <a:xfrm>
              <a:off x="1234487" y="2911805"/>
              <a:ext cx="950861" cy="2238567"/>
            </a:xfrm>
            <a:prstGeom prst="rect">
              <a:avLst/>
            </a:prstGeom>
            <a:noFill/>
            <a:ln>
              <a:noFill/>
            </a:ln>
          </p:spPr>
        </p:pic>
        <p:sp>
          <p:nvSpPr>
            <p:cNvPr id="114" name="Google Shape;114;p7"/>
            <p:cNvSpPr txBox="1"/>
            <p:nvPr/>
          </p:nvSpPr>
          <p:spPr>
            <a:xfrm>
              <a:off x="2177851" y="3661756"/>
              <a:ext cx="609549"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PE" sz="1800" u="none" cap="none" strike="noStrike">
                  <a:solidFill>
                    <a:schemeClr val="dk1"/>
                  </a:solidFill>
                  <a:latin typeface="Calibri"/>
                  <a:ea typeface="Calibri"/>
                  <a:cs typeface="Calibri"/>
                  <a:sym typeface="Calibri"/>
                </a:rPr>
                <a:t>VS</a:t>
              </a:r>
              <a:endParaRPr b="0" i="0" sz="1800" u="none" cap="none" strike="noStrike">
                <a:solidFill>
                  <a:srgbClr val="000000"/>
                </a:solidFill>
                <a:latin typeface="Arial"/>
                <a:ea typeface="Arial"/>
                <a:cs typeface="Arial"/>
                <a:sym typeface="Arial"/>
              </a:endParaRPr>
            </a:p>
          </p:txBody>
        </p:sp>
        <p:pic>
          <p:nvPicPr>
            <p:cNvPr id="115" name="Google Shape;115;p7"/>
            <p:cNvPicPr preferRelativeResize="0"/>
            <p:nvPr/>
          </p:nvPicPr>
          <p:blipFill rotWithShape="1">
            <a:blip r:embed="rId5">
              <a:alphaModFix/>
            </a:blip>
            <a:srcRect b="0" l="0" r="0" t="0"/>
            <a:stretch/>
          </p:blipFill>
          <p:spPr>
            <a:xfrm>
              <a:off x="2794896" y="2911807"/>
              <a:ext cx="931613" cy="2238566"/>
            </a:xfrm>
            <a:prstGeom prst="rect">
              <a:avLst/>
            </a:prstGeom>
            <a:noFill/>
            <a:ln>
              <a:noFill/>
            </a:ln>
          </p:spPr>
        </p:pic>
        <p:pic>
          <p:nvPicPr>
            <p:cNvPr id="116" name="Google Shape;116;p7"/>
            <p:cNvPicPr preferRelativeResize="0"/>
            <p:nvPr/>
          </p:nvPicPr>
          <p:blipFill rotWithShape="1">
            <a:blip r:embed="rId6">
              <a:alphaModFix/>
            </a:blip>
            <a:srcRect b="0" l="0" r="0" t="0"/>
            <a:stretch/>
          </p:blipFill>
          <p:spPr>
            <a:xfrm>
              <a:off x="1369703" y="2648924"/>
              <a:ext cx="208576" cy="208576"/>
            </a:xfrm>
            <a:prstGeom prst="rect">
              <a:avLst/>
            </a:prstGeom>
            <a:noFill/>
            <a:ln>
              <a:noFill/>
            </a:ln>
          </p:spPr>
        </p:pic>
        <p:pic>
          <p:nvPicPr>
            <p:cNvPr id="117" name="Google Shape;117;p7"/>
            <p:cNvPicPr preferRelativeResize="0"/>
            <p:nvPr/>
          </p:nvPicPr>
          <p:blipFill rotWithShape="1">
            <a:blip r:embed="rId7">
              <a:alphaModFix/>
            </a:blip>
            <a:srcRect b="0" l="0" r="0" t="0"/>
            <a:stretch/>
          </p:blipFill>
          <p:spPr>
            <a:xfrm>
              <a:off x="2943744" y="2648923"/>
              <a:ext cx="208577" cy="208577"/>
            </a:xfrm>
            <a:prstGeom prst="rect">
              <a:avLst/>
            </a:prstGeom>
            <a:noFill/>
            <a:ln>
              <a:noFill/>
            </a:ln>
          </p:spPr>
        </p:pic>
        <p:sp>
          <p:nvSpPr>
            <p:cNvPr id="118" name="Google Shape;118;p7"/>
            <p:cNvSpPr txBox="1"/>
            <p:nvPr/>
          </p:nvSpPr>
          <p:spPr>
            <a:xfrm>
              <a:off x="1587889" y="2567921"/>
              <a:ext cx="365775"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PE" sz="2000" u="none" cap="none" strike="noStrike">
                  <a:solidFill>
                    <a:srgbClr val="8EC540"/>
                  </a:solidFill>
                  <a:latin typeface="Calibri"/>
                  <a:ea typeface="Calibri"/>
                  <a:cs typeface="Calibri"/>
                  <a:sym typeface="Calibri"/>
                </a:rPr>
                <a:t>A</a:t>
              </a:r>
              <a:endParaRPr b="0" i="0" sz="2000" u="none" cap="none" strike="noStrike">
                <a:solidFill>
                  <a:srgbClr val="8EC540"/>
                </a:solidFill>
                <a:latin typeface="Arial"/>
                <a:ea typeface="Arial"/>
                <a:cs typeface="Arial"/>
                <a:sym typeface="Arial"/>
              </a:endParaRPr>
            </a:p>
          </p:txBody>
        </p:sp>
        <p:sp>
          <p:nvSpPr>
            <p:cNvPr id="119" name="Google Shape;119;p7"/>
            <p:cNvSpPr txBox="1"/>
            <p:nvPr/>
          </p:nvSpPr>
          <p:spPr>
            <a:xfrm>
              <a:off x="3218069" y="2567921"/>
              <a:ext cx="365775"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PE" sz="2000" u="none" cap="none" strike="noStrike">
                  <a:solidFill>
                    <a:srgbClr val="EF4639"/>
                  </a:solidFill>
                  <a:latin typeface="Calibri"/>
                  <a:ea typeface="Calibri"/>
                  <a:cs typeface="Calibri"/>
                  <a:sym typeface="Calibri"/>
                </a:rPr>
                <a:t>B</a:t>
              </a:r>
              <a:endParaRPr b="0" i="0" sz="2000" u="none" cap="none" strike="noStrike">
                <a:solidFill>
                  <a:srgbClr val="EF4639"/>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8"/>
          <p:cNvSpPr/>
          <p:nvPr/>
        </p:nvSpPr>
        <p:spPr>
          <a:xfrm>
            <a:off x="503238" y="377170"/>
            <a:ext cx="446881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TIPOS DE INVESTIGACIÓN APLICADOS A LA COMPRENSIÓN DEL CLIENTE </a:t>
            </a:r>
            <a:endParaRPr b="0" i="0" sz="1400" u="none" cap="none" strike="noStrike">
              <a:solidFill>
                <a:srgbClr val="000000"/>
              </a:solidFill>
              <a:latin typeface="Arial"/>
              <a:ea typeface="Arial"/>
              <a:cs typeface="Arial"/>
              <a:sym typeface="Arial"/>
            </a:endParaRPr>
          </a:p>
        </p:txBody>
      </p:sp>
      <p:pic>
        <p:nvPicPr>
          <p:cNvPr id="126" name="Google Shape;126;p8"/>
          <p:cNvPicPr preferRelativeResize="0"/>
          <p:nvPr/>
        </p:nvPicPr>
        <p:blipFill rotWithShape="1">
          <a:blip r:embed="rId3">
            <a:alphaModFix/>
          </a:blip>
          <a:srcRect b="0" l="15938" r="18791" t="0"/>
          <a:stretch/>
        </p:blipFill>
        <p:spPr>
          <a:xfrm>
            <a:off x="503238" y="949325"/>
            <a:ext cx="8172450" cy="4284663"/>
          </a:xfrm>
          <a:prstGeom prst="rect">
            <a:avLst/>
          </a:prstGeom>
          <a:noFill/>
          <a:ln>
            <a:noFill/>
          </a:ln>
        </p:spPr>
      </p:pic>
      <p:grpSp>
        <p:nvGrpSpPr>
          <p:cNvPr id="127" name="Google Shape;127;p8"/>
          <p:cNvGrpSpPr/>
          <p:nvPr/>
        </p:nvGrpSpPr>
        <p:grpSpPr>
          <a:xfrm>
            <a:off x="503238" y="2034981"/>
            <a:ext cx="2330578" cy="2454644"/>
            <a:chOff x="503238" y="2034981"/>
            <a:chExt cx="2330578" cy="2454644"/>
          </a:xfrm>
        </p:grpSpPr>
        <p:sp>
          <p:nvSpPr>
            <p:cNvPr id="128" name="Google Shape;128;p8"/>
            <p:cNvSpPr/>
            <p:nvPr/>
          </p:nvSpPr>
          <p:spPr>
            <a:xfrm rot="5400000">
              <a:off x="441205" y="2097014"/>
              <a:ext cx="2454644" cy="2330578"/>
            </a:xfrm>
            <a:prstGeom prst="round2SameRect">
              <a:avLst>
                <a:gd fmla="val 5165" name="adj1"/>
                <a:gd fmla="val 0" name="adj2"/>
              </a:avLst>
            </a:prstGeom>
            <a:solidFill>
              <a:srgbClr val="714F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29" name="Google Shape;129;p8"/>
            <p:cNvPicPr preferRelativeResize="0"/>
            <p:nvPr/>
          </p:nvPicPr>
          <p:blipFill rotWithShape="1">
            <a:blip r:embed="rId4">
              <a:alphaModFix/>
            </a:blip>
            <a:srcRect b="0" l="0" r="0" t="0"/>
            <a:stretch/>
          </p:blipFill>
          <p:spPr>
            <a:xfrm>
              <a:off x="813604" y="2215564"/>
              <a:ext cx="121379" cy="121379"/>
            </a:xfrm>
            <a:prstGeom prst="rect">
              <a:avLst/>
            </a:prstGeom>
            <a:noFill/>
            <a:ln>
              <a:noFill/>
            </a:ln>
          </p:spPr>
        </p:pic>
        <p:sp>
          <p:nvSpPr>
            <p:cNvPr id="130" name="Google Shape;130;p8"/>
            <p:cNvSpPr txBox="1"/>
            <p:nvPr/>
          </p:nvSpPr>
          <p:spPr>
            <a:xfrm>
              <a:off x="813605" y="2455217"/>
              <a:ext cx="1916896" cy="161582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0" i="0" lang="es-PE" sz="1500" u="none" cap="none" strike="noStrike">
                  <a:solidFill>
                    <a:srgbClr val="FEC212"/>
                  </a:solidFill>
                  <a:latin typeface="Calibri"/>
                  <a:ea typeface="Calibri"/>
                  <a:cs typeface="Calibri"/>
                  <a:sym typeface="Calibri"/>
                </a:rPr>
                <a:t>Son complementarias</a:t>
              </a:r>
              <a:endParaRPr/>
            </a:p>
            <a:p>
              <a:pPr indent="0" lvl="0" marL="0" marR="0" rtl="0" algn="l">
                <a:lnSpc>
                  <a:spcPct val="100000"/>
                </a:lnSpc>
                <a:spcBef>
                  <a:spcPts val="0"/>
                </a:spcBef>
                <a:spcAft>
                  <a:spcPts val="0"/>
                </a:spcAft>
                <a:buNone/>
              </a:pPr>
              <a:r>
                <a:rPr b="0" i="0" lang="es-PE" sz="1500" u="none" cap="none" strike="noStrike">
                  <a:solidFill>
                    <a:schemeClr val="lt1"/>
                  </a:solidFill>
                  <a:latin typeface="Calibri"/>
                  <a:ea typeface="Calibri"/>
                  <a:cs typeface="Calibri"/>
                  <a:sym typeface="Calibri"/>
                </a:rPr>
                <a:t>Es el trabajo de cada uno de nosotros encontrar </a:t>
              </a:r>
              <a:r>
                <a:rPr b="1" i="0" lang="es-PE" sz="1500" u="none" cap="none" strike="noStrike">
                  <a:solidFill>
                    <a:schemeClr val="lt1"/>
                  </a:solidFill>
                  <a:latin typeface="Calibri"/>
                  <a:ea typeface="Calibri"/>
                  <a:cs typeface="Calibri"/>
                  <a:sym typeface="Calibri"/>
                </a:rPr>
                <a:t>cómo nos vamos a apoyar</a:t>
              </a:r>
              <a:r>
                <a:rPr b="0" i="0" lang="es-PE" sz="1500" u="none" cap="none" strike="noStrike">
                  <a:solidFill>
                    <a:schemeClr val="lt1"/>
                  </a:solidFill>
                  <a:latin typeface="Calibri"/>
                  <a:ea typeface="Calibri"/>
                  <a:cs typeface="Calibri"/>
                  <a:sym typeface="Calibri"/>
                </a:rPr>
                <a:t> en ambos enfoques para construir una solución</a:t>
              </a:r>
              <a:endParaRPr b="0" i="0" sz="1500" u="none" cap="none" strike="noStrike">
                <a:solidFill>
                  <a:schemeClr val="lt1"/>
                </a:solidFill>
                <a:latin typeface="Calibri"/>
                <a:ea typeface="Calibri"/>
                <a:cs typeface="Calibri"/>
                <a:sym typeface="Calibri"/>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9"/>
          <p:cNvSpPr/>
          <p:nvPr/>
        </p:nvSpPr>
        <p:spPr>
          <a:xfrm>
            <a:off x="503238" y="377170"/>
            <a:ext cx="446881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TIPOS DE INVESTIGACIÓN APLICADOS A LA COMPRENSIÓN DEL CLIENTE </a:t>
            </a:r>
            <a:endParaRPr b="0" i="0" sz="1400" u="none" cap="none" strike="noStrike">
              <a:solidFill>
                <a:srgbClr val="000000"/>
              </a:solidFill>
              <a:latin typeface="Arial"/>
              <a:ea typeface="Arial"/>
              <a:cs typeface="Arial"/>
              <a:sym typeface="Arial"/>
            </a:endParaRPr>
          </a:p>
        </p:txBody>
      </p:sp>
      <p:sp>
        <p:nvSpPr>
          <p:cNvPr id="137" name="Google Shape;137;p9"/>
          <p:cNvSpPr/>
          <p:nvPr/>
        </p:nvSpPr>
        <p:spPr>
          <a:xfrm>
            <a:off x="503237" y="964906"/>
            <a:ext cx="3889375" cy="435426"/>
          </a:xfrm>
          <a:prstGeom prst="roundRect">
            <a:avLst>
              <a:gd fmla="val 16667" name="adj"/>
            </a:avLst>
          </a:prstGeom>
          <a:solidFill>
            <a:srgbClr val="8FC53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i="0" lang="es-PE" sz="1600" u="none" cap="none" strike="noStrike">
                <a:solidFill>
                  <a:schemeClr val="lt1"/>
                </a:solidFill>
                <a:latin typeface="Calibri"/>
                <a:ea typeface="Calibri"/>
                <a:cs typeface="Calibri"/>
                <a:sym typeface="Calibri"/>
              </a:rPr>
              <a:t>Cualitativa</a:t>
            </a:r>
            <a:endParaRPr b="1" i="0" sz="1600" u="none" cap="none" strike="noStrike">
              <a:solidFill>
                <a:schemeClr val="lt1"/>
              </a:solidFill>
              <a:latin typeface="Calibri"/>
              <a:ea typeface="Calibri"/>
              <a:cs typeface="Calibri"/>
              <a:sym typeface="Calibri"/>
            </a:endParaRPr>
          </a:p>
        </p:txBody>
      </p:sp>
      <p:sp>
        <p:nvSpPr>
          <p:cNvPr id="138" name="Google Shape;138;p9"/>
          <p:cNvSpPr/>
          <p:nvPr/>
        </p:nvSpPr>
        <p:spPr>
          <a:xfrm>
            <a:off x="4751388" y="949325"/>
            <a:ext cx="3924300" cy="435426"/>
          </a:xfrm>
          <a:prstGeom prst="roundRect">
            <a:avLst>
              <a:gd fmla="val 16667" name="adj"/>
            </a:avLst>
          </a:prstGeom>
          <a:solidFill>
            <a:srgbClr val="715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s-PE" sz="1600" u="none" cap="none" strike="noStrike">
                <a:solidFill>
                  <a:schemeClr val="lt1"/>
                </a:solidFill>
                <a:latin typeface="Calibri"/>
                <a:ea typeface="Calibri"/>
                <a:cs typeface="Calibri"/>
                <a:sym typeface="Calibri"/>
              </a:rPr>
              <a:t>Cuantitativa</a:t>
            </a:r>
            <a:endParaRPr/>
          </a:p>
        </p:txBody>
      </p:sp>
      <p:sp>
        <p:nvSpPr>
          <p:cNvPr id="139" name="Google Shape;139;p9"/>
          <p:cNvSpPr/>
          <p:nvPr/>
        </p:nvSpPr>
        <p:spPr>
          <a:xfrm>
            <a:off x="4751388" y="1478573"/>
            <a:ext cx="3924300" cy="2516484"/>
          </a:xfrm>
          <a:prstGeom prst="roundRect">
            <a:avLst>
              <a:gd fmla="val 3823" name="adj"/>
            </a:avLst>
          </a:prstGeom>
          <a:solidFill>
            <a:srgbClr val="E3DCED"/>
          </a:solidFill>
          <a:ln>
            <a:noFill/>
          </a:ln>
        </p:spPr>
        <p:txBody>
          <a:bodyPr anchorCtr="0" anchor="t" bIns="45700" lIns="108000" spcFirstLastPara="1" rIns="108000" wrap="square" tIns="144000">
            <a:noAutofit/>
          </a:bodyPr>
          <a:lstStyle/>
          <a:p>
            <a:pPr indent="-173038" lvl="0" marL="184150" marR="0" rtl="0" algn="l">
              <a:lnSpc>
                <a:spcPct val="100000"/>
              </a:lnSpc>
              <a:spcBef>
                <a:spcPts val="0"/>
              </a:spcBef>
              <a:spcAft>
                <a:spcPts val="0"/>
              </a:spcAft>
              <a:buClr>
                <a:srgbClr val="714FA0"/>
              </a:buClr>
              <a:buSzPts val="1600"/>
              <a:buFont typeface="Arial"/>
              <a:buChar char="•"/>
            </a:pPr>
            <a:r>
              <a:rPr b="0" i="0" lang="es-PE" sz="1600" u="none" cap="none" strike="noStrike">
                <a:solidFill>
                  <a:schemeClr val="dk1"/>
                </a:solidFill>
                <a:latin typeface="Calibri"/>
                <a:ea typeface="Calibri"/>
                <a:cs typeface="Calibri"/>
                <a:sym typeface="Calibri"/>
              </a:rPr>
              <a:t>Enfoque en</a:t>
            </a:r>
            <a:r>
              <a:rPr lang="es-PE" sz="1600">
                <a:solidFill>
                  <a:schemeClr val="dk1"/>
                </a:solidFill>
                <a:latin typeface="Calibri"/>
                <a:ea typeface="Calibri"/>
                <a:cs typeface="Calibri"/>
                <a:sym typeface="Calibri"/>
              </a:rPr>
              <a:t> q</a:t>
            </a:r>
            <a:r>
              <a:rPr b="0" i="0" lang="es-PE" sz="1600" u="none" cap="none" strike="noStrike">
                <a:solidFill>
                  <a:schemeClr val="dk1"/>
                </a:solidFill>
                <a:latin typeface="Calibri"/>
                <a:ea typeface="Calibri"/>
                <a:cs typeface="Calibri"/>
                <a:sym typeface="Calibri"/>
              </a:rPr>
              <a:t>ué, cuánto y cuándo.</a:t>
            </a:r>
            <a:endParaRPr b="0" i="0" sz="1600" u="none" cap="none" strike="noStrike">
              <a:solidFill>
                <a:schemeClr val="dk1"/>
              </a:solidFill>
              <a:latin typeface="Calibri"/>
              <a:ea typeface="Calibri"/>
              <a:cs typeface="Calibri"/>
              <a:sym typeface="Calibri"/>
            </a:endParaRPr>
          </a:p>
          <a:p>
            <a:pPr indent="-173038" lvl="0" marL="184150" marR="0" rtl="0" algn="l">
              <a:lnSpc>
                <a:spcPct val="100000"/>
              </a:lnSpc>
              <a:spcBef>
                <a:spcPts val="780"/>
              </a:spcBef>
              <a:spcAft>
                <a:spcPts val="0"/>
              </a:spcAft>
              <a:buClr>
                <a:srgbClr val="714FA0"/>
              </a:buClr>
              <a:buSzPts val="1600"/>
              <a:buFont typeface="Arial"/>
              <a:buChar char="•"/>
            </a:pPr>
            <a:r>
              <a:rPr b="0" i="0" lang="es-PE" sz="1600" u="none" cap="none" strike="noStrike">
                <a:solidFill>
                  <a:schemeClr val="dk1"/>
                </a:solidFill>
                <a:latin typeface="Calibri"/>
                <a:ea typeface="Calibri"/>
                <a:cs typeface="Calibri"/>
                <a:sym typeface="Calibri"/>
              </a:rPr>
              <a:t>Guiada por perfiles bastante analíticos.</a:t>
            </a:r>
            <a:endParaRPr b="0" i="0" sz="1600" u="none" cap="none" strike="noStrike">
              <a:solidFill>
                <a:schemeClr val="dk1"/>
              </a:solidFill>
              <a:latin typeface="Calibri"/>
              <a:ea typeface="Calibri"/>
              <a:cs typeface="Calibri"/>
              <a:sym typeface="Calibri"/>
            </a:endParaRPr>
          </a:p>
          <a:p>
            <a:pPr indent="-173038" lvl="0" marL="184150" marR="0" rtl="0" algn="l">
              <a:lnSpc>
                <a:spcPct val="100000"/>
              </a:lnSpc>
              <a:spcBef>
                <a:spcPts val="780"/>
              </a:spcBef>
              <a:spcAft>
                <a:spcPts val="0"/>
              </a:spcAft>
              <a:buClr>
                <a:srgbClr val="714FA0"/>
              </a:buClr>
              <a:buSzPts val="1600"/>
              <a:buFont typeface="Arial"/>
              <a:buChar char="•"/>
            </a:pPr>
            <a:r>
              <a:rPr b="0" i="0" lang="es-PE" sz="1600" u="none" cap="none" strike="noStrike">
                <a:solidFill>
                  <a:schemeClr val="dk1"/>
                </a:solidFill>
                <a:latin typeface="Calibri"/>
                <a:ea typeface="Calibri"/>
                <a:cs typeface="Calibri"/>
                <a:sym typeface="Calibri"/>
              </a:rPr>
              <a:t>Encuestas, experimentos y recolección de datos automáticas.</a:t>
            </a:r>
            <a:endParaRPr b="0" i="0" sz="1600" u="none" cap="none" strike="noStrike">
              <a:solidFill>
                <a:schemeClr val="dk1"/>
              </a:solidFill>
              <a:latin typeface="Calibri"/>
              <a:ea typeface="Calibri"/>
              <a:cs typeface="Calibri"/>
              <a:sym typeface="Calibri"/>
            </a:endParaRPr>
          </a:p>
          <a:p>
            <a:pPr indent="-173038" lvl="0" marL="184150" marR="0" rtl="0" algn="l">
              <a:lnSpc>
                <a:spcPct val="100000"/>
              </a:lnSpc>
              <a:spcBef>
                <a:spcPts val="780"/>
              </a:spcBef>
              <a:spcAft>
                <a:spcPts val="0"/>
              </a:spcAft>
              <a:buClr>
                <a:srgbClr val="714FA0"/>
              </a:buClr>
              <a:buSzPts val="1600"/>
              <a:buFont typeface="Arial"/>
              <a:buChar char="•"/>
            </a:pPr>
            <a:r>
              <a:rPr b="0" i="0" lang="es-PE" sz="1600" u="none" cap="none" strike="noStrike">
                <a:solidFill>
                  <a:schemeClr val="dk1"/>
                </a:solidFill>
                <a:latin typeface="Calibri"/>
                <a:ea typeface="Calibri"/>
                <a:cs typeface="Calibri"/>
                <a:sym typeface="Calibri"/>
              </a:rPr>
              <a:t>El output permite una comparación bastante objetiva y que puede ayudar a predecir comportamientos futuros</a:t>
            </a:r>
            <a:endParaRPr b="0" i="0" sz="1600" u="none" cap="none" strike="noStrike">
              <a:solidFill>
                <a:schemeClr val="dk1"/>
              </a:solidFill>
              <a:latin typeface="Calibri"/>
              <a:ea typeface="Calibri"/>
              <a:cs typeface="Calibri"/>
              <a:sym typeface="Calibri"/>
            </a:endParaRPr>
          </a:p>
        </p:txBody>
      </p:sp>
      <p:sp>
        <p:nvSpPr>
          <p:cNvPr id="140" name="Google Shape;140;p9"/>
          <p:cNvSpPr/>
          <p:nvPr/>
        </p:nvSpPr>
        <p:spPr>
          <a:xfrm>
            <a:off x="503238" y="1478574"/>
            <a:ext cx="3892550" cy="2516483"/>
          </a:xfrm>
          <a:prstGeom prst="roundRect">
            <a:avLst>
              <a:gd fmla="val 3823" name="adj"/>
            </a:avLst>
          </a:prstGeom>
          <a:solidFill>
            <a:srgbClr val="DDEEC7"/>
          </a:solidFill>
          <a:ln>
            <a:noFill/>
          </a:ln>
        </p:spPr>
        <p:txBody>
          <a:bodyPr anchorCtr="0" anchor="t" bIns="45700" lIns="36000" spcFirstLastPara="1" rIns="108000" wrap="square" tIns="144000">
            <a:noAutofit/>
          </a:bodyPr>
          <a:lstStyle/>
          <a:p>
            <a:pPr indent="-182563" lvl="0" marL="269875" marR="0" rtl="0" algn="l">
              <a:lnSpc>
                <a:spcPct val="100000"/>
              </a:lnSpc>
              <a:spcBef>
                <a:spcPts val="0"/>
              </a:spcBef>
              <a:spcAft>
                <a:spcPts val="0"/>
              </a:spcAft>
              <a:buClr>
                <a:srgbClr val="8EC540"/>
              </a:buClr>
              <a:buSzPts val="1600"/>
              <a:buFont typeface="Arial"/>
              <a:buChar char="•"/>
            </a:pPr>
            <a:r>
              <a:rPr b="0" i="0" lang="es-PE" sz="1600" u="none" cap="none" strike="noStrike">
                <a:solidFill>
                  <a:schemeClr val="dk1"/>
                </a:solidFill>
                <a:latin typeface="Calibri"/>
                <a:ea typeface="Calibri"/>
                <a:cs typeface="Calibri"/>
                <a:sym typeface="Calibri"/>
              </a:rPr>
              <a:t>Enfoque en</a:t>
            </a:r>
            <a:r>
              <a:rPr lang="es-PE" sz="1600">
                <a:solidFill>
                  <a:schemeClr val="dk1"/>
                </a:solidFill>
                <a:latin typeface="Calibri"/>
                <a:ea typeface="Calibri"/>
                <a:cs typeface="Calibri"/>
                <a:sym typeface="Calibri"/>
              </a:rPr>
              <a:t> c</a:t>
            </a:r>
            <a:r>
              <a:rPr b="0" i="0" lang="es-PE" sz="1600" u="none" cap="none" strike="noStrike">
                <a:solidFill>
                  <a:schemeClr val="dk1"/>
                </a:solidFill>
                <a:latin typeface="Calibri"/>
                <a:ea typeface="Calibri"/>
                <a:cs typeface="Calibri"/>
                <a:sym typeface="Calibri"/>
              </a:rPr>
              <a:t>ómo y por qué</a:t>
            </a:r>
            <a:endParaRPr b="0" i="0" sz="1600" u="none" cap="none" strike="noStrike">
              <a:solidFill>
                <a:schemeClr val="dk1"/>
              </a:solidFill>
              <a:latin typeface="Calibri"/>
              <a:ea typeface="Calibri"/>
              <a:cs typeface="Calibri"/>
              <a:sym typeface="Calibri"/>
            </a:endParaRPr>
          </a:p>
          <a:p>
            <a:pPr indent="-182563" lvl="0" marL="269875" marR="0" rtl="0" algn="l">
              <a:lnSpc>
                <a:spcPct val="100000"/>
              </a:lnSpc>
              <a:spcBef>
                <a:spcPts val="780"/>
              </a:spcBef>
              <a:spcAft>
                <a:spcPts val="0"/>
              </a:spcAft>
              <a:buClr>
                <a:srgbClr val="8EC540"/>
              </a:buClr>
              <a:buSzPts val="1600"/>
              <a:buFont typeface="Arial"/>
              <a:buChar char="•"/>
            </a:pPr>
            <a:r>
              <a:rPr b="0" i="0" lang="es-PE" sz="1600" u="none" cap="none" strike="noStrike">
                <a:solidFill>
                  <a:schemeClr val="dk1"/>
                </a:solidFill>
                <a:latin typeface="Calibri"/>
                <a:ea typeface="Calibri"/>
                <a:cs typeface="Calibri"/>
                <a:sym typeface="Calibri"/>
              </a:rPr>
              <a:t>Guiada por perfiles bastante empáticos.</a:t>
            </a:r>
            <a:endParaRPr b="0" i="0" sz="1600" u="none" cap="none" strike="noStrike">
              <a:solidFill>
                <a:schemeClr val="dk1"/>
              </a:solidFill>
              <a:latin typeface="Calibri"/>
              <a:ea typeface="Calibri"/>
              <a:cs typeface="Calibri"/>
              <a:sym typeface="Calibri"/>
            </a:endParaRPr>
          </a:p>
          <a:p>
            <a:pPr indent="-182563" lvl="0" marL="269875" marR="0" rtl="0" algn="l">
              <a:lnSpc>
                <a:spcPct val="100000"/>
              </a:lnSpc>
              <a:spcBef>
                <a:spcPts val="780"/>
              </a:spcBef>
              <a:spcAft>
                <a:spcPts val="0"/>
              </a:spcAft>
              <a:buClr>
                <a:srgbClr val="8EC540"/>
              </a:buClr>
              <a:buSzPts val="1600"/>
              <a:buFont typeface="Arial"/>
              <a:buChar char="•"/>
            </a:pPr>
            <a:r>
              <a:rPr b="0" i="0" lang="es-PE" sz="1600" u="none" cap="none" strike="noStrike">
                <a:solidFill>
                  <a:schemeClr val="dk1"/>
                </a:solidFill>
                <a:latin typeface="Calibri"/>
                <a:ea typeface="Calibri"/>
                <a:cs typeface="Calibri"/>
                <a:sym typeface="Calibri"/>
              </a:rPr>
              <a:t>Herramientas: Entrevistas, Focus Groups, Observación y Análisis de contenidos</a:t>
            </a:r>
            <a:endParaRPr b="0" i="0" sz="1600" u="none" cap="none" strike="noStrike">
              <a:solidFill>
                <a:schemeClr val="dk1"/>
              </a:solidFill>
              <a:latin typeface="Calibri"/>
              <a:ea typeface="Calibri"/>
              <a:cs typeface="Calibri"/>
              <a:sym typeface="Calibri"/>
            </a:endParaRPr>
          </a:p>
          <a:p>
            <a:pPr indent="-182563" lvl="0" marL="269875" marR="0" rtl="0" algn="l">
              <a:lnSpc>
                <a:spcPct val="100000"/>
              </a:lnSpc>
              <a:spcBef>
                <a:spcPts val="780"/>
              </a:spcBef>
              <a:spcAft>
                <a:spcPts val="0"/>
              </a:spcAft>
              <a:buClr>
                <a:srgbClr val="8EC540"/>
              </a:buClr>
              <a:buSzPts val="1600"/>
              <a:buFont typeface="Arial"/>
              <a:buChar char="•"/>
            </a:pPr>
            <a:r>
              <a:rPr b="0" i="0" lang="es-PE" sz="1600" u="none" cap="none" strike="noStrike">
                <a:solidFill>
                  <a:schemeClr val="dk1"/>
                </a:solidFill>
                <a:latin typeface="Calibri"/>
                <a:ea typeface="Calibri"/>
                <a:cs typeface="Calibri"/>
                <a:sym typeface="Calibri"/>
              </a:rPr>
              <a:t>Output permite el entendimiento profundo del contexto y complejidad de los fenómenos</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10"/>
          <p:cNvPicPr preferRelativeResize="0"/>
          <p:nvPr/>
        </p:nvPicPr>
        <p:blipFill rotWithShape="1">
          <a:blip r:embed="rId3">
            <a:alphaModFix/>
          </a:blip>
          <a:srcRect b="0" l="0" r="0" t="0"/>
          <a:stretch/>
        </p:blipFill>
        <p:spPr>
          <a:xfrm>
            <a:off x="1792592" y="2419330"/>
            <a:ext cx="1473321" cy="874784"/>
          </a:xfrm>
          <a:prstGeom prst="rect">
            <a:avLst/>
          </a:prstGeom>
          <a:noFill/>
          <a:ln>
            <a:noFill/>
          </a:ln>
        </p:spPr>
      </p:pic>
      <p:pic>
        <p:nvPicPr>
          <p:cNvPr descr="Magic Quadrant | Gartner | España" id="147" name="Google Shape;147;p10"/>
          <p:cNvPicPr preferRelativeResize="0"/>
          <p:nvPr/>
        </p:nvPicPr>
        <p:blipFill rotWithShape="1">
          <a:blip r:embed="rId4">
            <a:alphaModFix/>
          </a:blip>
          <a:srcRect b="0" l="0" r="0" t="0"/>
          <a:stretch/>
        </p:blipFill>
        <p:spPr>
          <a:xfrm>
            <a:off x="671212" y="3533774"/>
            <a:ext cx="1739472" cy="986479"/>
          </a:xfrm>
          <a:prstGeom prst="rect">
            <a:avLst/>
          </a:prstGeom>
          <a:noFill/>
          <a:ln>
            <a:noFill/>
          </a:ln>
        </p:spPr>
      </p:pic>
      <p:pic>
        <p:nvPicPr>
          <p:cNvPr descr="Forrester Research To Broadcast Its 2023 Fourth-Quarter And Full-Year  Earnings Conference Call" id="148" name="Google Shape;148;p10"/>
          <p:cNvPicPr preferRelativeResize="0"/>
          <p:nvPr/>
        </p:nvPicPr>
        <p:blipFill rotWithShape="1">
          <a:blip r:embed="rId5">
            <a:alphaModFix/>
          </a:blip>
          <a:srcRect b="0" l="0" r="0" t="0"/>
          <a:stretch/>
        </p:blipFill>
        <p:spPr>
          <a:xfrm>
            <a:off x="5315514" y="2417091"/>
            <a:ext cx="2204440" cy="787720"/>
          </a:xfrm>
          <a:prstGeom prst="rect">
            <a:avLst/>
          </a:prstGeom>
          <a:noFill/>
          <a:ln>
            <a:noFill/>
          </a:ln>
        </p:spPr>
      </p:pic>
      <p:pic>
        <p:nvPicPr>
          <p:cNvPr id="149" name="Google Shape;149;p10"/>
          <p:cNvPicPr preferRelativeResize="0"/>
          <p:nvPr/>
        </p:nvPicPr>
        <p:blipFill rotWithShape="1">
          <a:blip r:embed="rId6">
            <a:alphaModFix/>
          </a:blip>
          <a:srcRect b="0" l="0" r="0" t="0"/>
          <a:stretch/>
        </p:blipFill>
        <p:spPr>
          <a:xfrm>
            <a:off x="4326054" y="3826147"/>
            <a:ext cx="1861875" cy="401732"/>
          </a:xfrm>
          <a:prstGeom prst="rect">
            <a:avLst/>
          </a:prstGeom>
          <a:noFill/>
          <a:ln>
            <a:noFill/>
          </a:ln>
        </p:spPr>
      </p:pic>
      <p:pic>
        <p:nvPicPr>
          <p:cNvPr descr="CB Insights' Potential Sale, Waste Management Innovation, &amp; Cendana  Capital's Seed-Stage Funding" id="150" name="Google Shape;150;p10"/>
          <p:cNvPicPr preferRelativeResize="0"/>
          <p:nvPr/>
        </p:nvPicPr>
        <p:blipFill rotWithShape="1">
          <a:blip r:embed="rId7">
            <a:alphaModFix/>
          </a:blip>
          <a:srcRect b="0" l="0" r="0" t="0"/>
          <a:stretch/>
        </p:blipFill>
        <p:spPr>
          <a:xfrm>
            <a:off x="7266442" y="2440220"/>
            <a:ext cx="1514475" cy="757238"/>
          </a:xfrm>
          <a:prstGeom prst="rect">
            <a:avLst/>
          </a:prstGeom>
          <a:noFill/>
          <a:ln>
            <a:noFill/>
          </a:ln>
        </p:spPr>
      </p:pic>
      <p:pic>
        <p:nvPicPr>
          <p:cNvPr id="151" name="Google Shape;151;p10"/>
          <p:cNvPicPr preferRelativeResize="0"/>
          <p:nvPr/>
        </p:nvPicPr>
        <p:blipFill rotWithShape="1">
          <a:blip r:embed="rId8">
            <a:alphaModFix/>
          </a:blip>
          <a:srcRect b="0" l="0" r="0" t="0"/>
          <a:stretch/>
        </p:blipFill>
        <p:spPr>
          <a:xfrm>
            <a:off x="3375361" y="2417091"/>
            <a:ext cx="2083931" cy="874785"/>
          </a:xfrm>
          <a:prstGeom prst="rect">
            <a:avLst/>
          </a:prstGeom>
          <a:noFill/>
          <a:ln>
            <a:noFill/>
          </a:ln>
        </p:spPr>
      </p:pic>
      <p:pic>
        <p:nvPicPr>
          <p:cNvPr id="152" name="Google Shape;152;p10"/>
          <p:cNvPicPr preferRelativeResize="0"/>
          <p:nvPr/>
        </p:nvPicPr>
        <p:blipFill rotWithShape="1">
          <a:blip r:embed="rId9">
            <a:alphaModFix/>
          </a:blip>
          <a:srcRect b="0" l="0" r="0" t="0"/>
          <a:stretch/>
        </p:blipFill>
        <p:spPr>
          <a:xfrm>
            <a:off x="2559272" y="3564974"/>
            <a:ext cx="1592482" cy="924078"/>
          </a:xfrm>
          <a:prstGeom prst="rect">
            <a:avLst/>
          </a:prstGeom>
          <a:noFill/>
          <a:ln>
            <a:noFill/>
          </a:ln>
        </p:spPr>
      </p:pic>
      <p:pic>
        <p:nvPicPr>
          <p:cNvPr id="153" name="Google Shape;153;p10"/>
          <p:cNvPicPr preferRelativeResize="0"/>
          <p:nvPr/>
        </p:nvPicPr>
        <p:blipFill rotWithShape="1">
          <a:blip r:embed="rId10">
            <a:alphaModFix/>
          </a:blip>
          <a:srcRect b="0" l="0" r="0" t="0"/>
          <a:stretch/>
        </p:blipFill>
        <p:spPr>
          <a:xfrm>
            <a:off x="631700" y="2380139"/>
            <a:ext cx="1081454" cy="1081454"/>
          </a:xfrm>
          <a:prstGeom prst="rect">
            <a:avLst/>
          </a:prstGeom>
          <a:noFill/>
          <a:ln>
            <a:noFill/>
          </a:ln>
        </p:spPr>
      </p:pic>
      <p:pic>
        <p:nvPicPr>
          <p:cNvPr descr="Bain &amp; Company" id="154" name="Google Shape;154;p10"/>
          <p:cNvPicPr preferRelativeResize="0"/>
          <p:nvPr/>
        </p:nvPicPr>
        <p:blipFill rotWithShape="1">
          <a:blip r:embed="rId11">
            <a:alphaModFix/>
          </a:blip>
          <a:srcRect b="0" l="0" r="0" t="0"/>
          <a:stretch/>
        </p:blipFill>
        <p:spPr>
          <a:xfrm>
            <a:off x="6384898" y="3529034"/>
            <a:ext cx="995958" cy="995958"/>
          </a:xfrm>
          <a:prstGeom prst="rect">
            <a:avLst/>
          </a:prstGeom>
          <a:noFill/>
          <a:ln>
            <a:noFill/>
          </a:ln>
        </p:spPr>
      </p:pic>
      <p:pic>
        <p:nvPicPr>
          <p:cNvPr descr="Harvard Business Review | Noa: Understand the news that matters" id="155" name="Google Shape;155;p10"/>
          <p:cNvPicPr preferRelativeResize="0"/>
          <p:nvPr/>
        </p:nvPicPr>
        <p:blipFill rotWithShape="1">
          <a:blip r:embed="rId12">
            <a:alphaModFix/>
          </a:blip>
          <a:srcRect b="0" l="0" r="0" t="0"/>
          <a:stretch/>
        </p:blipFill>
        <p:spPr>
          <a:xfrm>
            <a:off x="7519954" y="3521038"/>
            <a:ext cx="1007453" cy="1011950"/>
          </a:xfrm>
          <a:prstGeom prst="rect">
            <a:avLst/>
          </a:prstGeom>
          <a:noFill/>
          <a:ln>
            <a:noFill/>
          </a:ln>
        </p:spPr>
      </p:pic>
      <p:sp>
        <p:nvSpPr>
          <p:cNvPr id="156" name="Google Shape;156;p10"/>
          <p:cNvSpPr/>
          <p:nvPr/>
        </p:nvSpPr>
        <p:spPr>
          <a:xfrm>
            <a:off x="503238" y="377170"/>
            <a:ext cx="446881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TIPOS DE INVESTIGACIÓN APLICADOS A LA COMPRENSIÓN DEL CLIENTE </a:t>
            </a:r>
            <a:endParaRPr b="0" i="0" sz="1400" u="none" cap="none" strike="noStrike">
              <a:solidFill>
                <a:srgbClr val="000000"/>
              </a:solidFill>
              <a:latin typeface="Arial"/>
              <a:ea typeface="Arial"/>
              <a:cs typeface="Arial"/>
              <a:sym typeface="Arial"/>
            </a:endParaRPr>
          </a:p>
        </p:txBody>
      </p:sp>
      <p:sp>
        <p:nvSpPr>
          <p:cNvPr id="157" name="Google Shape;157;p10"/>
          <p:cNvSpPr txBox="1"/>
          <p:nvPr/>
        </p:nvSpPr>
        <p:spPr>
          <a:xfrm>
            <a:off x="503238" y="946421"/>
            <a:ext cx="8172450" cy="815608"/>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FUENTES SECUNDARIAS</a:t>
            </a:r>
            <a:endParaRPr b="1" i="0" sz="1600" u="none" cap="none" strike="noStrike">
              <a:solidFill>
                <a:schemeClr val="dk1"/>
              </a:solidFill>
              <a:latin typeface="Calibri"/>
              <a:ea typeface="Calibri"/>
              <a:cs typeface="Calibri"/>
              <a:sym typeface="Calibri"/>
            </a:endParaRPr>
          </a:p>
          <a:p>
            <a:pPr indent="0" lvl="0" marL="11725" marR="0" rtl="0" algn="l">
              <a:lnSpc>
                <a:spcPct val="100000"/>
              </a:lnSpc>
              <a:spcBef>
                <a:spcPts val="600"/>
              </a:spcBef>
              <a:spcAft>
                <a:spcPts val="0"/>
              </a:spcAft>
              <a:buClr>
                <a:srgbClr val="000000"/>
              </a:buClr>
              <a:buSzPts val="1600"/>
              <a:buFont typeface="Arial"/>
              <a:buNone/>
            </a:pPr>
            <a:r>
              <a:rPr b="0" i="0" lang="es-PE" sz="1600" u="none" cap="none" strike="noStrike">
                <a:solidFill>
                  <a:schemeClr val="dk1"/>
                </a:solidFill>
                <a:latin typeface="Calibri"/>
                <a:ea typeface="Calibri"/>
                <a:cs typeface="Calibri"/>
                <a:sym typeface="Calibri"/>
              </a:rPr>
              <a:t>Siempre podemos recurrir a información que es pública y completa desarrollada por especialistas en estos temas</a:t>
            </a:r>
            <a:r>
              <a:rPr lang="es-PE" sz="1600">
                <a:solidFill>
                  <a:schemeClr val="dk1"/>
                </a:solidFill>
                <a:latin typeface="Calibri"/>
                <a:ea typeface="Calibri"/>
                <a:cs typeface="Calibri"/>
                <a:sym typeface="Calibri"/>
              </a:rPr>
              <a:t>;</a:t>
            </a:r>
            <a:r>
              <a:rPr b="0" i="0" lang="es-PE" sz="1600" u="none" cap="none" strike="noStrike">
                <a:solidFill>
                  <a:schemeClr val="dk1"/>
                </a:solidFill>
                <a:latin typeface="Calibri"/>
                <a:ea typeface="Calibri"/>
                <a:cs typeface="Calibri"/>
                <a:sym typeface="Calibri"/>
              </a:rPr>
              <a:t> a esto le llamamos fuentes secundarias.</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1"/>
          <p:cNvSpPr txBox="1"/>
          <p:nvPr/>
        </p:nvSpPr>
        <p:spPr>
          <a:xfrm>
            <a:off x="503238" y="943634"/>
            <a:ext cx="7645680" cy="7386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s-PE" sz="1600" u="none" cap="none" strike="noStrike">
                <a:solidFill>
                  <a:schemeClr val="dk1"/>
                </a:solidFill>
                <a:latin typeface="Calibri"/>
                <a:ea typeface="Calibri"/>
                <a:cs typeface="Calibri"/>
                <a:sym typeface="Calibri"/>
              </a:rPr>
              <a:t>Al igual que las investigaciones cualitativas y cuantitativas, tanto las fuentes primarias como secundarias se pueden complementar entre sí. Sin embargo, las primarias deben darse para sustentar una decisión o guiar la construcción de una solución.</a:t>
            </a:r>
            <a:endParaRPr b="1" i="0" sz="1600" u="none" cap="none" strike="noStrike">
              <a:solidFill>
                <a:schemeClr val="dk1"/>
              </a:solidFill>
              <a:latin typeface="Calibri"/>
              <a:ea typeface="Calibri"/>
              <a:cs typeface="Calibri"/>
              <a:sym typeface="Calibri"/>
            </a:endParaRPr>
          </a:p>
        </p:txBody>
      </p:sp>
      <p:cxnSp>
        <p:nvCxnSpPr>
          <p:cNvPr id="164" name="Google Shape;164;p11"/>
          <p:cNvCxnSpPr/>
          <p:nvPr/>
        </p:nvCxnSpPr>
        <p:spPr>
          <a:xfrm>
            <a:off x="13497457" y="2250044"/>
            <a:ext cx="3455987" cy="0"/>
          </a:xfrm>
          <a:prstGeom prst="straightConnector1">
            <a:avLst/>
          </a:prstGeom>
          <a:noFill/>
          <a:ln cap="flat" cmpd="sng" w="9525">
            <a:solidFill>
              <a:srgbClr val="BFBFBF"/>
            </a:solidFill>
            <a:prstDash val="solid"/>
            <a:round/>
            <a:headEnd len="sm" w="sm" type="none"/>
            <a:tailEnd len="sm" w="sm" type="none"/>
          </a:ln>
        </p:spPr>
      </p:cxnSp>
      <p:cxnSp>
        <p:nvCxnSpPr>
          <p:cNvPr id="165" name="Google Shape;165;p11"/>
          <p:cNvCxnSpPr/>
          <p:nvPr/>
        </p:nvCxnSpPr>
        <p:spPr>
          <a:xfrm>
            <a:off x="13497457" y="2566824"/>
            <a:ext cx="3455987" cy="0"/>
          </a:xfrm>
          <a:prstGeom prst="straightConnector1">
            <a:avLst/>
          </a:prstGeom>
          <a:noFill/>
          <a:ln cap="flat" cmpd="sng" w="9525">
            <a:solidFill>
              <a:srgbClr val="BFBFBF"/>
            </a:solidFill>
            <a:prstDash val="solid"/>
            <a:round/>
            <a:headEnd len="sm" w="sm" type="none"/>
            <a:tailEnd len="sm" w="sm" type="none"/>
          </a:ln>
        </p:spPr>
      </p:cxnSp>
      <p:cxnSp>
        <p:nvCxnSpPr>
          <p:cNvPr id="166" name="Google Shape;166;p11"/>
          <p:cNvCxnSpPr/>
          <p:nvPr/>
        </p:nvCxnSpPr>
        <p:spPr>
          <a:xfrm>
            <a:off x="13497457" y="2890989"/>
            <a:ext cx="3455987" cy="0"/>
          </a:xfrm>
          <a:prstGeom prst="straightConnector1">
            <a:avLst/>
          </a:prstGeom>
          <a:noFill/>
          <a:ln cap="flat" cmpd="sng" w="9525">
            <a:solidFill>
              <a:srgbClr val="BFBFBF"/>
            </a:solidFill>
            <a:prstDash val="solid"/>
            <a:round/>
            <a:headEnd len="sm" w="sm" type="none"/>
            <a:tailEnd len="sm" w="sm" type="none"/>
          </a:ln>
        </p:spPr>
      </p:cxnSp>
      <p:cxnSp>
        <p:nvCxnSpPr>
          <p:cNvPr id="167" name="Google Shape;167;p11"/>
          <p:cNvCxnSpPr/>
          <p:nvPr/>
        </p:nvCxnSpPr>
        <p:spPr>
          <a:xfrm>
            <a:off x="13497457" y="3219332"/>
            <a:ext cx="3452579" cy="0"/>
          </a:xfrm>
          <a:prstGeom prst="straightConnector1">
            <a:avLst/>
          </a:prstGeom>
          <a:noFill/>
          <a:ln cap="flat" cmpd="sng" w="9525">
            <a:solidFill>
              <a:srgbClr val="BFBFBF"/>
            </a:solidFill>
            <a:prstDash val="solid"/>
            <a:round/>
            <a:headEnd len="sm" w="sm" type="none"/>
            <a:tailEnd len="sm" w="sm" type="none"/>
          </a:ln>
        </p:spPr>
      </p:cxnSp>
      <p:cxnSp>
        <p:nvCxnSpPr>
          <p:cNvPr id="168" name="Google Shape;168;p11"/>
          <p:cNvCxnSpPr/>
          <p:nvPr/>
        </p:nvCxnSpPr>
        <p:spPr>
          <a:xfrm>
            <a:off x="13497457" y="3543496"/>
            <a:ext cx="3455987" cy="0"/>
          </a:xfrm>
          <a:prstGeom prst="straightConnector1">
            <a:avLst/>
          </a:prstGeom>
          <a:noFill/>
          <a:ln cap="flat" cmpd="sng" w="9525">
            <a:solidFill>
              <a:srgbClr val="BFBFBF"/>
            </a:solidFill>
            <a:prstDash val="solid"/>
            <a:round/>
            <a:headEnd len="sm" w="sm" type="none"/>
            <a:tailEnd len="sm" w="sm" type="none"/>
          </a:ln>
        </p:spPr>
      </p:cxnSp>
      <p:cxnSp>
        <p:nvCxnSpPr>
          <p:cNvPr id="169" name="Google Shape;169;p11"/>
          <p:cNvCxnSpPr/>
          <p:nvPr/>
        </p:nvCxnSpPr>
        <p:spPr>
          <a:xfrm>
            <a:off x="13497457" y="3870430"/>
            <a:ext cx="3455987" cy="0"/>
          </a:xfrm>
          <a:prstGeom prst="straightConnector1">
            <a:avLst/>
          </a:prstGeom>
          <a:noFill/>
          <a:ln cap="flat" cmpd="sng" w="9525">
            <a:solidFill>
              <a:srgbClr val="BFBFBF"/>
            </a:solidFill>
            <a:prstDash val="solid"/>
            <a:round/>
            <a:headEnd len="sm" w="sm" type="none"/>
            <a:tailEnd len="sm" w="sm" type="none"/>
          </a:ln>
        </p:spPr>
      </p:cxnSp>
      <p:sp>
        <p:nvSpPr>
          <p:cNvPr id="170" name="Google Shape;170;p11"/>
          <p:cNvSpPr/>
          <p:nvPr/>
        </p:nvSpPr>
        <p:spPr>
          <a:xfrm>
            <a:off x="503238" y="377170"/>
            <a:ext cx="446881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TIPOS DE INVESTIGACIÓN APLICADOS A LA COMPRENSIÓN DEL CLIENTE </a:t>
            </a:r>
            <a:endParaRPr b="0" i="0" sz="1400" u="none" cap="none" strike="noStrike">
              <a:solidFill>
                <a:srgbClr val="000000"/>
              </a:solidFill>
              <a:latin typeface="Arial"/>
              <a:ea typeface="Arial"/>
              <a:cs typeface="Arial"/>
              <a:sym typeface="Arial"/>
            </a:endParaRPr>
          </a:p>
        </p:txBody>
      </p:sp>
      <p:sp>
        <p:nvSpPr>
          <p:cNvPr id="171" name="Google Shape;171;p11"/>
          <p:cNvSpPr/>
          <p:nvPr/>
        </p:nvSpPr>
        <p:spPr>
          <a:xfrm>
            <a:off x="4681816" y="2323158"/>
            <a:ext cx="3175640" cy="501005"/>
          </a:xfrm>
          <a:prstGeom prst="roundRect">
            <a:avLst>
              <a:gd fmla="val 18326" name="adj"/>
            </a:avLst>
          </a:prstGeom>
          <a:solidFill>
            <a:srgbClr val="00B1C2"/>
          </a:solidFill>
          <a:ln>
            <a:noFill/>
          </a:ln>
        </p:spPr>
        <p:txBody>
          <a:bodyPr anchorCtr="0" anchor="ctr" bIns="45700" lIns="91425" spcFirstLastPara="1" rIns="91425" wrap="square" tIns="45700">
            <a:noAutofit/>
          </a:bodyPr>
          <a:lstStyle/>
          <a:p>
            <a:pPr indent="0" lvl="0" marL="11430" marR="0" rtl="0" algn="ctr">
              <a:lnSpc>
                <a:spcPct val="100000"/>
              </a:lnSpc>
              <a:spcBef>
                <a:spcPts val="0"/>
              </a:spcBef>
              <a:spcAft>
                <a:spcPts val="0"/>
              </a:spcAft>
              <a:buNone/>
            </a:pPr>
            <a:r>
              <a:rPr b="1" i="0" lang="es-PE" sz="1400" u="none" cap="none" strike="noStrike">
                <a:solidFill>
                  <a:schemeClr val="lt1"/>
                </a:solidFill>
                <a:latin typeface="Calibri"/>
                <a:ea typeface="Calibri"/>
                <a:cs typeface="Calibri"/>
                <a:sym typeface="Calibri"/>
              </a:rPr>
              <a:t>Fuentes Secundarias</a:t>
            </a:r>
            <a:endParaRPr b="1" i="0" sz="1400" u="none" cap="none" strike="noStrike">
              <a:solidFill>
                <a:schemeClr val="lt1"/>
              </a:solidFill>
              <a:latin typeface="Calibri"/>
              <a:ea typeface="Calibri"/>
              <a:cs typeface="Calibri"/>
              <a:sym typeface="Calibri"/>
            </a:endParaRPr>
          </a:p>
        </p:txBody>
      </p:sp>
      <p:sp>
        <p:nvSpPr>
          <p:cNvPr id="172" name="Google Shape;172;p11"/>
          <p:cNvSpPr/>
          <p:nvPr/>
        </p:nvSpPr>
        <p:spPr>
          <a:xfrm>
            <a:off x="4681816" y="2897709"/>
            <a:ext cx="3175640" cy="1618497"/>
          </a:xfrm>
          <a:prstGeom prst="roundRect">
            <a:avLst>
              <a:gd fmla="val 2748" name="adj"/>
            </a:avLst>
          </a:prstGeom>
          <a:solidFill>
            <a:srgbClr val="D1EFF4"/>
          </a:solidFill>
          <a:ln>
            <a:noFill/>
          </a:ln>
        </p:spPr>
        <p:txBody>
          <a:bodyPr anchorCtr="0" anchor="t" bIns="45700" lIns="36000" spcFirstLastPara="1" rIns="108000" wrap="square" tIns="108000">
            <a:noAutofit/>
          </a:bodyPr>
          <a:lstStyle/>
          <a:p>
            <a:pPr indent="-134938" lvl="0" marL="222250" marR="0" rtl="0" algn="l">
              <a:lnSpc>
                <a:spcPct val="100000"/>
              </a:lnSpc>
              <a:spcBef>
                <a:spcPts val="0"/>
              </a:spcBef>
              <a:spcAft>
                <a:spcPts val="0"/>
              </a:spcAft>
              <a:buClr>
                <a:srgbClr val="00B1C2"/>
              </a:buClr>
              <a:buSzPts val="1400"/>
              <a:buFont typeface="Arial"/>
              <a:buChar char="•"/>
            </a:pPr>
            <a:r>
              <a:rPr b="0" i="0" lang="es-PE" sz="1400" u="none" cap="none" strike="noStrike">
                <a:solidFill>
                  <a:srgbClr val="000000"/>
                </a:solidFill>
                <a:latin typeface="Calibri"/>
                <a:ea typeface="Calibri"/>
                <a:cs typeface="Calibri"/>
                <a:sym typeface="Calibri"/>
              </a:rPr>
              <a:t>No ejecutadas ni dirigidas por nosotros, persiguen otros objetivos más generales. Ej.: Publicaciones de revistas (HBR, McKinsey, etc.)</a:t>
            </a:r>
            <a:endParaRPr/>
          </a:p>
          <a:p>
            <a:pPr indent="-134938" lvl="0" marL="222250" marR="0" rtl="0" algn="l">
              <a:lnSpc>
                <a:spcPct val="100000"/>
              </a:lnSpc>
              <a:spcBef>
                <a:spcPts val="0"/>
              </a:spcBef>
              <a:spcAft>
                <a:spcPts val="0"/>
              </a:spcAft>
              <a:buClr>
                <a:srgbClr val="00B1C2"/>
              </a:buClr>
              <a:buSzPts val="1400"/>
              <a:buFont typeface="Arial"/>
              <a:buChar char="•"/>
            </a:pPr>
            <a:r>
              <a:rPr b="0" i="0" lang="es-PE" sz="1400" u="none" cap="none" strike="noStrike">
                <a:solidFill>
                  <a:srgbClr val="000000"/>
                </a:solidFill>
                <a:latin typeface="Calibri"/>
                <a:ea typeface="Calibri"/>
                <a:cs typeface="Calibri"/>
                <a:sym typeface="Calibri"/>
              </a:rPr>
              <a:t>Son accesibles por todos.</a:t>
            </a:r>
            <a:endParaRPr b="0" i="0" sz="1400" u="none" cap="none" strike="noStrike">
              <a:solidFill>
                <a:srgbClr val="000000"/>
              </a:solidFill>
              <a:latin typeface="Calibri"/>
              <a:ea typeface="Calibri"/>
              <a:cs typeface="Calibri"/>
              <a:sym typeface="Calibri"/>
            </a:endParaRPr>
          </a:p>
        </p:txBody>
      </p:sp>
      <p:grpSp>
        <p:nvGrpSpPr>
          <p:cNvPr id="173" name="Google Shape;173;p11"/>
          <p:cNvGrpSpPr/>
          <p:nvPr/>
        </p:nvGrpSpPr>
        <p:grpSpPr>
          <a:xfrm>
            <a:off x="4466050" y="2371787"/>
            <a:ext cx="459474" cy="403823"/>
            <a:chOff x="5892512" y="2805541"/>
            <a:chExt cx="459474" cy="403823"/>
          </a:xfrm>
        </p:grpSpPr>
        <p:sp>
          <p:nvSpPr>
            <p:cNvPr id="174" name="Google Shape;174;p11"/>
            <p:cNvSpPr/>
            <p:nvPr/>
          </p:nvSpPr>
          <p:spPr>
            <a:xfrm>
              <a:off x="5956277" y="2824919"/>
              <a:ext cx="395709" cy="376075"/>
            </a:xfrm>
            <a:prstGeom prst="ellipse">
              <a:avLst/>
            </a:prstGeom>
            <a:solidFill>
              <a:srgbClr val="0B828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Arial"/>
                <a:ea typeface="Arial"/>
                <a:cs typeface="Arial"/>
                <a:sym typeface="Arial"/>
              </a:endParaRPr>
            </a:p>
          </p:txBody>
        </p:sp>
        <p:sp>
          <p:nvSpPr>
            <p:cNvPr id="175" name="Google Shape;175;p11"/>
            <p:cNvSpPr/>
            <p:nvPr/>
          </p:nvSpPr>
          <p:spPr>
            <a:xfrm>
              <a:off x="5892512" y="2805541"/>
              <a:ext cx="424906" cy="40382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Arial"/>
                <a:ea typeface="Arial"/>
                <a:cs typeface="Arial"/>
                <a:sym typeface="Arial"/>
              </a:endParaRPr>
            </a:p>
          </p:txBody>
        </p:sp>
        <p:sp>
          <p:nvSpPr>
            <p:cNvPr id="176" name="Google Shape;176;p11"/>
            <p:cNvSpPr/>
            <p:nvPr/>
          </p:nvSpPr>
          <p:spPr>
            <a:xfrm rot="5400000">
              <a:off x="6076285" y="2946262"/>
              <a:ext cx="186870" cy="122381"/>
            </a:xfrm>
            <a:prstGeom prst="triangle">
              <a:avLst>
                <a:gd fmla="val 50000" name="adj"/>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Arial"/>
                <a:ea typeface="Arial"/>
                <a:cs typeface="Arial"/>
                <a:sym typeface="Arial"/>
              </a:endParaRPr>
            </a:p>
          </p:txBody>
        </p:sp>
      </p:grpSp>
      <p:sp>
        <p:nvSpPr>
          <p:cNvPr id="177" name="Google Shape;177;p11"/>
          <p:cNvSpPr/>
          <p:nvPr/>
        </p:nvSpPr>
        <p:spPr>
          <a:xfrm>
            <a:off x="1296210" y="2323158"/>
            <a:ext cx="3175640" cy="501005"/>
          </a:xfrm>
          <a:prstGeom prst="roundRect">
            <a:avLst>
              <a:gd fmla="val 18326" name="adj"/>
            </a:avLst>
          </a:prstGeom>
          <a:solidFill>
            <a:srgbClr val="808799"/>
          </a:solidFill>
          <a:ln>
            <a:noFill/>
          </a:ln>
        </p:spPr>
        <p:txBody>
          <a:bodyPr anchorCtr="0" anchor="ctr" bIns="45700" lIns="91425" spcFirstLastPara="1" rIns="91425" wrap="square" tIns="45700">
            <a:noAutofit/>
          </a:bodyPr>
          <a:lstStyle/>
          <a:p>
            <a:pPr indent="0" lvl="0" marL="11725" marR="0" rtl="0" algn="ctr">
              <a:lnSpc>
                <a:spcPct val="100000"/>
              </a:lnSpc>
              <a:spcBef>
                <a:spcPts val="0"/>
              </a:spcBef>
              <a:spcAft>
                <a:spcPts val="0"/>
              </a:spcAft>
              <a:buNone/>
            </a:pPr>
            <a:r>
              <a:rPr b="1" i="0" lang="es-PE" sz="1500" u="none" cap="none" strike="noStrike">
                <a:solidFill>
                  <a:schemeClr val="lt1"/>
                </a:solidFill>
                <a:latin typeface="Calibri"/>
                <a:ea typeface="Calibri"/>
                <a:cs typeface="Calibri"/>
                <a:sym typeface="Calibri"/>
              </a:rPr>
              <a:t>Fuentes Primarias</a:t>
            </a:r>
            <a:endParaRPr b="1" i="0" sz="1500" u="none" cap="none" strike="noStrike">
              <a:solidFill>
                <a:schemeClr val="lt1"/>
              </a:solidFill>
              <a:latin typeface="Calibri"/>
              <a:ea typeface="Calibri"/>
              <a:cs typeface="Calibri"/>
              <a:sym typeface="Calibri"/>
            </a:endParaRPr>
          </a:p>
        </p:txBody>
      </p:sp>
      <p:sp>
        <p:nvSpPr>
          <p:cNvPr id="178" name="Google Shape;178;p11"/>
          <p:cNvSpPr/>
          <p:nvPr/>
        </p:nvSpPr>
        <p:spPr>
          <a:xfrm>
            <a:off x="1296210" y="2897709"/>
            <a:ext cx="3175640" cy="1618500"/>
          </a:xfrm>
          <a:prstGeom prst="roundRect">
            <a:avLst>
              <a:gd fmla="val 2748" name="adj"/>
            </a:avLst>
          </a:prstGeom>
          <a:solidFill>
            <a:srgbClr val="D9DBE2"/>
          </a:solidFill>
          <a:ln>
            <a:noFill/>
          </a:ln>
        </p:spPr>
        <p:txBody>
          <a:bodyPr anchorCtr="0" anchor="t" bIns="45700" lIns="72000" spcFirstLastPara="1" rIns="108000" wrap="square" tIns="108000">
            <a:noAutofit/>
          </a:bodyPr>
          <a:lstStyle/>
          <a:p>
            <a:pPr indent="-128588" lvl="0" marL="138113" marR="0" rtl="0" algn="l">
              <a:lnSpc>
                <a:spcPct val="100000"/>
              </a:lnSpc>
              <a:spcBef>
                <a:spcPts val="0"/>
              </a:spcBef>
              <a:spcAft>
                <a:spcPts val="0"/>
              </a:spcAft>
              <a:buClr>
                <a:srgbClr val="808799"/>
              </a:buClr>
              <a:buSzPts val="1400"/>
              <a:buFont typeface="Arial"/>
              <a:buChar char="•"/>
            </a:pPr>
            <a:r>
              <a:rPr b="0" i="0" lang="es-PE" sz="1400" u="none" cap="none" strike="noStrike">
                <a:solidFill>
                  <a:srgbClr val="262626"/>
                </a:solidFill>
                <a:latin typeface="Calibri"/>
                <a:ea typeface="Calibri"/>
                <a:cs typeface="Calibri"/>
                <a:sym typeface="Calibri"/>
              </a:rPr>
              <a:t>Las ejecutamos y dirigimos nosotros con un objetivo específico.</a:t>
            </a:r>
            <a:endParaRPr/>
          </a:p>
          <a:p>
            <a:pPr indent="-39687" lvl="0" marL="138113" marR="0" rtl="0" algn="l">
              <a:lnSpc>
                <a:spcPct val="100000"/>
              </a:lnSpc>
              <a:spcBef>
                <a:spcPts val="0"/>
              </a:spcBef>
              <a:spcAft>
                <a:spcPts val="0"/>
              </a:spcAft>
              <a:buClr>
                <a:srgbClr val="808799"/>
              </a:buClr>
              <a:buSzPts val="1400"/>
              <a:buFont typeface="Arial"/>
              <a:buNone/>
            </a:pPr>
            <a:r>
              <a:t/>
            </a:r>
            <a:endParaRPr b="0" i="0" sz="1400" u="none" cap="none" strike="noStrike">
              <a:solidFill>
                <a:srgbClr val="262626"/>
              </a:solidFill>
              <a:latin typeface="Calibri"/>
              <a:ea typeface="Calibri"/>
              <a:cs typeface="Calibri"/>
              <a:sym typeface="Calibri"/>
            </a:endParaRPr>
          </a:p>
          <a:p>
            <a:pPr indent="-128588" lvl="0" marL="138113" marR="0" rtl="0" algn="l">
              <a:lnSpc>
                <a:spcPct val="100000"/>
              </a:lnSpc>
              <a:spcBef>
                <a:spcPts val="0"/>
              </a:spcBef>
              <a:spcAft>
                <a:spcPts val="0"/>
              </a:spcAft>
              <a:buClr>
                <a:srgbClr val="808799"/>
              </a:buClr>
              <a:buSzPts val="1400"/>
              <a:buFont typeface="Arial"/>
              <a:buChar char="•"/>
            </a:pPr>
            <a:r>
              <a:rPr b="0" i="0" lang="es-PE" sz="1400" u="none" cap="none" strike="noStrike">
                <a:solidFill>
                  <a:srgbClr val="262626"/>
                </a:solidFill>
                <a:latin typeface="Calibri"/>
                <a:ea typeface="Calibri"/>
                <a:cs typeface="Calibri"/>
                <a:sym typeface="Calibri"/>
              </a:rPr>
              <a:t>Están documentadas para el acceso exclusivo del staff de la organización.</a:t>
            </a:r>
            <a:endParaRPr b="0" i="0" sz="1400" u="none" cap="none" strike="noStrike">
              <a:solidFill>
                <a:srgbClr val="262626"/>
              </a:solidFill>
              <a:latin typeface="Calibri"/>
              <a:ea typeface="Calibri"/>
              <a:cs typeface="Calibri"/>
              <a:sym typeface="Calibri"/>
            </a:endParaRPr>
          </a:p>
        </p:txBody>
      </p:sp>
      <p:sp>
        <p:nvSpPr>
          <p:cNvPr id="179" name="Google Shape;179;p11"/>
          <p:cNvSpPr/>
          <p:nvPr/>
        </p:nvSpPr>
        <p:spPr>
          <a:xfrm rot="5400000">
            <a:off x="-5395925" y="2168991"/>
            <a:ext cx="186870" cy="122381"/>
          </a:xfrm>
          <a:prstGeom prst="triangle">
            <a:avLst>
              <a:gd fmla="val 50000" name="adj"/>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Arial"/>
              <a:ea typeface="Arial"/>
              <a:cs typeface="Arial"/>
              <a:sym typeface="Arial"/>
            </a:endParaRPr>
          </a:p>
        </p:txBody>
      </p:sp>
      <p:sp>
        <p:nvSpPr>
          <p:cNvPr id="180" name="Google Shape;180;p11"/>
          <p:cNvSpPr/>
          <p:nvPr/>
        </p:nvSpPr>
        <p:spPr>
          <a:xfrm>
            <a:off x="1143957" y="2365379"/>
            <a:ext cx="395709" cy="376075"/>
          </a:xfrm>
          <a:prstGeom prst="ellipse">
            <a:avLst/>
          </a:prstGeom>
          <a:solidFill>
            <a:srgbClr val="5C617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Arial"/>
              <a:ea typeface="Arial"/>
              <a:cs typeface="Arial"/>
              <a:sym typeface="Arial"/>
            </a:endParaRPr>
          </a:p>
        </p:txBody>
      </p:sp>
      <p:sp>
        <p:nvSpPr>
          <p:cNvPr id="181" name="Google Shape;181;p11"/>
          <p:cNvSpPr/>
          <p:nvPr/>
        </p:nvSpPr>
        <p:spPr>
          <a:xfrm>
            <a:off x="1080192" y="2346001"/>
            <a:ext cx="424906" cy="40382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Arial"/>
              <a:ea typeface="Arial"/>
              <a:cs typeface="Arial"/>
              <a:sym typeface="Arial"/>
            </a:endParaRPr>
          </a:p>
        </p:txBody>
      </p:sp>
      <p:sp>
        <p:nvSpPr>
          <p:cNvPr id="182" name="Google Shape;182;p11"/>
          <p:cNvSpPr/>
          <p:nvPr/>
        </p:nvSpPr>
        <p:spPr>
          <a:xfrm rot="5400000">
            <a:off x="1263965" y="2486722"/>
            <a:ext cx="186870" cy="122381"/>
          </a:xfrm>
          <a:prstGeom prst="triangle">
            <a:avLst>
              <a:gd fmla="val 50000" name="adj"/>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2"/>
          <p:cNvSpPr txBox="1"/>
          <p:nvPr/>
        </p:nvSpPr>
        <p:spPr>
          <a:xfrm>
            <a:off x="5074074" y="4032846"/>
            <a:ext cx="316523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1" lang="es-PE" sz="1400" u="none" cap="none" strike="noStrike">
                <a:solidFill>
                  <a:schemeClr val="dk1"/>
                </a:solidFill>
                <a:latin typeface="Calibri"/>
                <a:ea typeface="Calibri"/>
                <a:cs typeface="Calibri"/>
                <a:sym typeface="Calibri"/>
              </a:rPr>
              <a:t>Desarrollado por el equipo</a:t>
            </a:r>
            <a:endParaRPr b="1" i="1" sz="1400" u="none" cap="none" strike="noStrike">
              <a:solidFill>
                <a:schemeClr val="dk1"/>
              </a:solidFill>
              <a:latin typeface="Calibri"/>
              <a:ea typeface="Calibri"/>
              <a:cs typeface="Calibri"/>
              <a:sym typeface="Calibri"/>
            </a:endParaRPr>
          </a:p>
        </p:txBody>
      </p:sp>
      <p:sp>
        <p:nvSpPr>
          <p:cNvPr id="189" name="Google Shape;189;p12"/>
          <p:cNvSpPr/>
          <p:nvPr/>
        </p:nvSpPr>
        <p:spPr>
          <a:xfrm>
            <a:off x="491642" y="1448218"/>
            <a:ext cx="4080357" cy="330422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0" name="Google Shape;190;p12"/>
          <p:cNvSpPr txBox="1"/>
          <p:nvPr/>
        </p:nvSpPr>
        <p:spPr>
          <a:xfrm>
            <a:off x="4751388" y="959726"/>
            <a:ext cx="2083777"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Primaria</a:t>
            </a:r>
            <a:endParaRPr b="1" i="0" sz="1600" u="none" cap="none" strike="noStrike">
              <a:solidFill>
                <a:schemeClr val="dk1"/>
              </a:solidFill>
              <a:latin typeface="Calibri"/>
              <a:ea typeface="Calibri"/>
              <a:cs typeface="Calibri"/>
              <a:sym typeface="Calibri"/>
            </a:endParaRPr>
          </a:p>
        </p:txBody>
      </p:sp>
      <p:sp>
        <p:nvSpPr>
          <p:cNvPr id="191" name="Google Shape;191;p12"/>
          <p:cNvSpPr txBox="1"/>
          <p:nvPr/>
        </p:nvSpPr>
        <p:spPr>
          <a:xfrm>
            <a:off x="534445" y="959726"/>
            <a:ext cx="2083777"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Secundaria</a:t>
            </a:r>
            <a:endParaRPr b="1" i="0" sz="1600" u="none" cap="none" strike="noStrike">
              <a:solidFill>
                <a:schemeClr val="dk1"/>
              </a:solidFill>
              <a:latin typeface="Calibri"/>
              <a:ea typeface="Calibri"/>
              <a:cs typeface="Calibri"/>
              <a:sym typeface="Calibri"/>
            </a:endParaRPr>
          </a:p>
        </p:txBody>
      </p:sp>
      <p:sp>
        <p:nvSpPr>
          <p:cNvPr id="192" name="Google Shape;192;p12"/>
          <p:cNvSpPr/>
          <p:nvPr/>
        </p:nvSpPr>
        <p:spPr>
          <a:xfrm>
            <a:off x="503238" y="377170"/>
            <a:ext cx="446881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TIPOS DE INVESTIGACIÓN APLICADOS A LA COMPRENSIÓN DEL CLIENTE </a:t>
            </a:r>
            <a:endParaRPr b="0" i="0" sz="1400" u="none" cap="none" strike="noStrike">
              <a:solidFill>
                <a:srgbClr val="000000"/>
              </a:solidFill>
              <a:latin typeface="Arial"/>
              <a:ea typeface="Arial"/>
              <a:cs typeface="Arial"/>
              <a:sym typeface="Arial"/>
            </a:endParaRPr>
          </a:p>
        </p:txBody>
      </p:sp>
      <p:sp>
        <p:nvSpPr>
          <p:cNvPr id="193" name="Google Shape;193;p12"/>
          <p:cNvSpPr txBox="1"/>
          <p:nvPr/>
        </p:nvSpPr>
        <p:spPr>
          <a:xfrm>
            <a:off x="891267" y="4338006"/>
            <a:ext cx="316523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1" lang="es-PE" sz="1400" u="none" cap="none" strike="noStrike">
                <a:solidFill>
                  <a:schemeClr val="dk1"/>
                </a:solidFill>
                <a:latin typeface="Calibri"/>
                <a:ea typeface="Calibri"/>
                <a:cs typeface="Calibri"/>
                <a:sym typeface="Calibri"/>
              </a:rPr>
              <a:t>¿Estarán mis clientes aquí?</a:t>
            </a:r>
            <a:endParaRPr b="1" i="1" sz="1400" u="none" cap="none" strike="noStrike">
              <a:solidFill>
                <a:schemeClr val="dk1"/>
              </a:solidFill>
              <a:latin typeface="Calibri"/>
              <a:ea typeface="Calibri"/>
              <a:cs typeface="Calibri"/>
              <a:sym typeface="Calibri"/>
            </a:endParaRPr>
          </a:p>
        </p:txBody>
      </p:sp>
      <p:sp>
        <p:nvSpPr>
          <p:cNvPr id="194" name="Google Shape;194;p12"/>
          <p:cNvSpPr/>
          <p:nvPr/>
        </p:nvSpPr>
        <p:spPr>
          <a:xfrm>
            <a:off x="506796" y="5124018"/>
            <a:ext cx="5983449" cy="1538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Fuente: </a:t>
            </a:r>
            <a:r>
              <a:rPr b="0" i="0" lang="es-PE" sz="1000" u="sng" cap="none" strike="noStrike">
                <a:solidFill>
                  <a:srgbClr val="7F7F7F"/>
                </a:solidFill>
                <a:latin typeface="Calibri"/>
                <a:ea typeface="Calibri"/>
                <a:cs typeface="Calibri"/>
                <a:sym typeface="Calibri"/>
                <a:hlinkClick r:id="rId3">
                  <a:extLst>
                    <a:ext uri="{A12FA001-AC4F-418D-AE19-62706E023703}">
                      <ahyp:hlinkClr val="tx"/>
                    </a:ext>
                  </a:extLst>
                </a:hlinkClick>
              </a:rPr>
              <a:t>https://www.gartner.com/en/human-resources/trends/top-priorities-for-hr-leaders</a:t>
            </a:r>
            <a:r>
              <a:rPr b="0" i="0" lang="es-PE" sz="1000" u="none" cap="none" strike="noStrike">
                <a:solidFill>
                  <a:srgbClr val="7F7F7F"/>
                </a:solidFill>
                <a:latin typeface="Calibri"/>
                <a:ea typeface="Calibri"/>
                <a:cs typeface="Calibri"/>
                <a:sym typeface="Calibri"/>
              </a:rPr>
              <a:t> </a:t>
            </a:r>
            <a:endParaRPr/>
          </a:p>
        </p:txBody>
      </p:sp>
      <p:sp>
        <p:nvSpPr>
          <p:cNvPr id="195" name="Google Shape;195;p12"/>
          <p:cNvSpPr/>
          <p:nvPr/>
        </p:nvSpPr>
        <p:spPr>
          <a:xfrm>
            <a:off x="4759747" y="1448218"/>
            <a:ext cx="3924301" cy="330422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96" name="Google Shape;196;p12"/>
          <p:cNvPicPr preferRelativeResize="0"/>
          <p:nvPr/>
        </p:nvPicPr>
        <p:blipFill rotWithShape="1">
          <a:blip r:embed="rId4">
            <a:alphaModFix/>
          </a:blip>
          <a:srcRect b="0" l="0" r="0" t="0"/>
          <a:stretch/>
        </p:blipFill>
        <p:spPr>
          <a:xfrm>
            <a:off x="4907015" y="1851687"/>
            <a:ext cx="3629765" cy="2339943"/>
          </a:xfrm>
          <a:prstGeom prst="rect">
            <a:avLst/>
          </a:prstGeom>
          <a:noFill/>
          <a:ln>
            <a:noFill/>
          </a:ln>
        </p:spPr>
      </p:pic>
      <p:sp>
        <p:nvSpPr>
          <p:cNvPr id="197" name="Google Shape;197;p12"/>
          <p:cNvSpPr/>
          <p:nvPr/>
        </p:nvSpPr>
        <p:spPr>
          <a:xfrm>
            <a:off x="601789" y="1852464"/>
            <a:ext cx="3855053" cy="233843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98" name="Google Shape;198;p12"/>
          <p:cNvPicPr preferRelativeResize="0"/>
          <p:nvPr/>
        </p:nvPicPr>
        <p:blipFill rotWithShape="1">
          <a:blip r:embed="rId5">
            <a:alphaModFix/>
          </a:blip>
          <a:srcRect b="0" l="0" r="0" t="0"/>
          <a:stretch/>
        </p:blipFill>
        <p:spPr>
          <a:xfrm>
            <a:off x="762615" y="1960748"/>
            <a:ext cx="3527547" cy="1475494"/>
          </a:xfrm>
          <a:prstGeom prst="rect">
            <a:avLst/>
          </a:prstGeom>
          <a:noFill/>
          <a:ln>
            <a:noFill/>
          </a:ln>
        </p:spPr>
      </p:pic>
      <p:cxnSp>
        <p:nvCxnSpPr>
          <p:cNvPr id="199" name="Google Shape;199;p12"/>
          <p:cNvCxnSpPr/>
          <p:nvPr/>
        </p:nvCxnSpPr>
        <p:spPr>
          <a:xfrm rot="5400000">
            <a:off x="38058" y="3216143"/>
            <a:ext cx="2155500" cy="510000"/>
          </a:xfrm>
          <a:prstGeom prst="bentConnector3">
            <a:avLst>
              <a:gd fmla="val 0" name="adj1"/>
            </a:avLst>
          </a:prstGeom>
          <a:noFill/>
          <a:ln cap="flat" cmpd="sng" w="25400">
            <a:solidFill>
              <a:srgbClr val="EF4639"/>
            </a:solidFill>
            <a:prstDash val="solid"/>
            <a:round/>
            <a:headEnd len="sm" w="sm" type="none"/>
            <a:tailEnd len="med" w="med" type="triangle"/>
          </a:ln>
          <a:effectLst>
            <a:outerShdw sx="1000" rotWithShape="0" dist="20000" sy="1000">
              <a:srgbClr val="000000"/>
            </a:outerShdw>
          </a:effectLst>
        </p:spPr>
      </p:cxnSp>
      <p:sp>
        <p:nvSpPr>
          <p:cNvPr id="200" name="Google Shape;200;p12"/>
          <p:cNvSpPr/>
          <p:nvPr/>
        </p:nvSpPr>
        <p:spPr>
          <a:xfrm>
            <a:off x="1370808" y="2277701"/>
            <a:ext cx="2701523" cy="369277"/>
          </a:xfrm>
          <a:prstGeom prst="rect">
            <a:avLst/>
          </a:prstGeom>
          <a:noFill/>
          <a:ln cap="flat" cmpd="sng" w="28575">
            <a:solidFill>
              <a:srgbClr val="EF4639"/>
            </a:solidFill>
            <a:prstDash val="solid"/>
            <a:round/>
            <a:headEnd len="sm" w="sm" type="none"/>
            <a:tailEnd len="sm" w="sm" type="none"/>
          </a:ln>
          <a:effectLst>
            <a:outerShdw sx="1000" rotWithShape="0" dist="23000" sy="1000">
              <a:srgbClr val="0000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3"/>
          <p:cNvSpPr/>
          <p:nvPr/>
        </p:nvSpPr>
        <p:spPr>
          <a:xfrm>
            <a:off x="0" y="0"/>
            <a:ext cx="9144000" cy="5715000"/>
          </a:xfrm>
          <a:prstGeom prst="rect">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7" name="Google Shape;207;p13"/>
          <p:cNvSpPr txBox="1"/>
          <p:nvPr/>
        </p:nvSpPr>
        <p:spPr>
          <a:xfrm>
            <a:off x="1008063" y="3169972"/>
            <a:ext cx="5993558" cy="126803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2400"/>
              <a:buFont typeface="Arial"/>
              <a:buNone/>
            </a:pPr>
            <a:r>
              <a:rPr b="0" i="0" lang="es-PE" sz="2400" u="none" cap="none" strike="noStrike">
                <a:solidFill>
                  <a:schemeClr val="lt1"/>
                </a:solidFill>
                <a:latin typeface="Arial"/>
                <a:ea typeface="Arial"/>
                <a:cs typeface="Arial"/>
                <a:sym typeface="Arial"/>
              </a:rPr>
              <a:t>HERRAMIENTAS Y TÉCNICAS </a:t>
            </a:r>
            <a:endParaRPr/>
          </a:p>
          <a:p>
            <a:pPr indent="0" lvl="0" marL="0" marR="0" rtl="0" algn="l">
              <a:lnSpc>
                <a:spcPct val="90000"/>
              </a:lnSpc>
              <a:spcBef>
                <a:spcPts val="0"/>
              </a:spcBef>
              <a:spcAft>
                <a:spcPts val="0"/>
              </a:spcAft>
              <a:buNone/>
            </a:pPr>
            <a:r>
              <a:rPr b="1" i="0" lang="es-PE" sz="2400" u="none" cap="none" strike="noStrike">
                <a:solidFill>
                  <a:schemeClr val="lt1"/>
                </a:solidFill>
                <a:latin typeface="Arial"/>
                <a:ea typeface="Arial"/>
                <a:cs typeface="Arial"/>
                <a:sym typeface="Arial"/>
              </a:rPr>
              <a:t>DE RECOLECCIÓN DE DATOS </a:t>
            </a:r>
            <a:endParaRPr/>
          </a:p>
          <a:p>
            <a:pPr indent="0" lvl="0" marL="0" marR="0" rtl="0" algn="l">
              <a:lnSpc>
                <a:spcPct val="90000"/>
              </a:lnSpc>
              <a:spcBef>
                <a:spcPts val="0"/>
              </a:spcBef>
              <a:spcAft>
                <a:spcPts val="0"/>
              </a:spcAft>
              <a:buNone/>
            </a:pPr>
            <a:r>
              <a:rPr b="1" i="0" lang="es-PE" sz="2400" u="none" cap="none" strike="noStrike">
                <a:solidFill>
                  <a:schemeClr val="lt1"/>
                </a:solidFill>
                <a:latin typeface="Arial"/>
                <a:ea typeface="Arial"/>
                <a:cs typeface="Arial"/>
                <a:sym typeface="Arial"/>
              </a:rPr>
              <a:t>CUALITATIVOS Y CUANTITATIVOS</a:t>
            </a:r>
            <a:endParaRPr b="1" i="0" sz="2400" u="none" cap="none" strike="noStrike">
              <a:solidFill>
                <a:schemeClr val="lt1"/>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1600"/>
              <a:buFont typeface="Arial"/>
              <a:buNone/>
            </a:pPr>
            <a:r>
              <a:t/>
            </a:r>
            <a:endParaRPr b="0" i="0" sz="1600" u="none" cap="none" strike="noStrike">
              <a:solidFill>
                <a:schemeClr val="lt1"/>
              </a:solidFill>
              <a:latin typeface="Calibri"/>
              <a:ea typeface="Calibri"/>
              <a:cs typeface="Calibri"/>
              <a:sym typeface="Calibri"/>
            </a:endParaRPr>
          </a:p>
        </p:txBody>
      </p:sp>
      <p:pic>
        <p:nvPicPr>
          <p:cNvPr id="208" name="Google Shape;208;p13"/>
          <p:cNvPicPr preferRelativeResize="0"/>
          <p:nvPr/>
        </p:nvPicPr>
        <p:blipFill rotWithShape="1">
          <a:blip r:embed="rId3">
            <a:alphaModFix/>
          </a:blip>
          <a:srcRect b="0" l="0" r="0" t="0"/>
          <a:stretch/>
        </p:blipFill>
        <p:spPr>
          <a:xfrm>
            <a:off x="1008063" y="2869612"/>
            <a:ext cx="195423" cy="20125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14"/>
          <p:cNvPicPr preferRelativeResize="0"/>
          <p:nvPr/>
        </p:nvPicPr>
        <p:blipFill rotWithShape="1">
          <a:blip r:embed="rId3">
            <a:alphaModFix/>
          </a:blip>
          <a:srcRect b="0" l="0" r="0" t="0"/>
          <a:stretch/>
        </p:blipFill>
        <p:spPr>
          <a:xfrm>
            <a:off x="646891" y="2149609"/>
            <a:ext cx="1222115" cy="1204625"/>
          </a:xfrm>
          <a:prstGeom prst="rect">
            <a:avLst/>
          </a:prstGeom>
          <a:noFill/>
          <a:ln>
            <a:noFill/>
          </a:ln>
        </p:spPr>
      </p:pic>
      <p:sp>
        <p:nvSpPr>
          <p:cNvPr id="215" name="Google Shape;215;p14"/>
          <p:cNvSpPr/>
          <p:nvPr/>
        </p:nvSpPr>
        <p:spPr>
          <a:xfrm>
            <a:off x="503237" y="383310"/>
            <a:ext cx="5144029" cy="3323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HERRAMIENTAS Y TÉCNICAS DE RECOLECCIÓN DE DATOS CUALITATIVOS Y CUANTITATIVOS</a:t>
            </a:r>
            <a:endParaRPr b="0" i="0" sz="1000" u="none" cap="none" strike="noStrike">
              <a:solidFill>
                <a:srgbClr val="A5A5A5"/>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6" name="Google Shape;216;p14"/>
          <p:cNvPicPr preferRelativeResize="0"/>
          <p:nvPr/>
        </p:nvPicPr>
        <p:blipFill rotWithShape="1">
          <a:blip r:embed="rId4">
            <a:alphaModFix/>
          </a:blip>
          <a:srcRect b="0" l="27208" r="27730" t="0"/>
          <a:stretch/>
        </p:blipFill>
        <p:spPr>
          <a:xfrm flipH="1">
            <a:off x="6006351" y="912813"/>
            <a:ext cx="2596200" cy="4321175"/>
          </a:xfrm>
          <a:prstGeom prst="rect">
            <a:avLst/>
          </a:prstGeom>
          <a:noFill/>
          <a:ln>
            <a:noFill/>
          </a:ln>
        </p:spPr>
      </p:pic>
      <p:sp>
        <p:nvSpPr>
          <p:cNvPr id="217" name="Google Shape;217;p14"/>
          <p:cNvSpPr txBox="1"/>
          <p:nvPr/>
        </p:nvSpPr>
        <p:spPr>
          <a:xfrm>
            <a:off x="2198114" y="2333445"/>
            <a:ext cx="4387743" cy="1908215"/>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Clr>
                <a:srgbClr val="000000"/>
              </a:buClr>
              <a:buSzPts val="3100"/>
              <a:buFont typeface="Arial"/>
              <a:buNone/>
            </a:pPr>
            <a:r>
              <a:rPr b="0" i="0" lang="es-PE" sz="3100" u="none" cap="none" strike="noStrike">
                <a:solidFill>
                  <a:schemeClr val="dk1"/>
                </a:solidFill>
                <a:latin typeface="Arial"/>
                <a:ea typeface="Arial"/>
                <a:cs typeface="Arial"/>
                <a:sym typeface="Arial"/>
              </a:rPr>
              <a:t>¿QUÉ HERRAMIENTAS</a:t>
            </a:r>
            <a:endParaRPr/>
          </a:p>
          <a:p>
            <a:pPr indent="0" lvl="0" marL="0" marR="0" rtl="0" algn="l">
              <a:lnSpc>
                <a:spcPct val="80000"/>
              </a:lnSpc>
              <a:spcBef>
                <a:spcPts val="0"/>
              </a:spcBef>
              <a:spcAft>
                <a:spcPts val="0"/>
              </a:spcAft>
              <a:buNone/>
            </a:pPr>
            <a:r>
              <a:rPr b="0" i="0" lang="es-PE" sz="3100" u="none" cap="none" strike="noStrike">
                <a:solidFill>
                  <a:schemeClr val="dk1"/>
                </a:solidFill>
                <a:latin typeface="Arial"/>
                <a:ea typeface="Arial"/>
                <a:cs typeface="Arial"/>
                <a:sym typeface="Arial"/>
              </a:rPr>
              <a:t>ADICIONALES</a:t>
            </a:r>
            <a:r>
              <a:rPr b="0" i="0" lang="es-PE" sz="3100" u="none" cap="none" strike="noStrike">
                <a:solidFill>
                  <a:srgbClr val="92C14D"/>
                </a:solidFill>
                <a:latin typeface="Arial"/>
                <a:ea typeface="Arial"/>
                <a:cs typeface="Arial"/>
                <a:sym typeface="Arial"/>
              </a:rPr>
              <a:t> </a:t>
            </a:r>
            <a:endParaRPr/>
          </a:p>
          <a:p>
            <a:pPr indent="0" lvl="0" marL="0" marR="0" rtl="0" algn="l">
              <a:lnSpc>
                <a:spcPct val="80000"/>
              </a:lnSpc>
              <a:spcBef>
                <a:spcPts val="0"/>
              </a:spcBef>
              <a:spcAft>
                <a:spcPts val="0"/>
              </a:spcAft>
              <a:buNone/>
            </a:pPr>
            <a:r>
              <a:rPr b="1" i="0" lang="es-PE" sz="3100" u="none" cap="none" strike="noStrike">
                <a:solidFill>
                  <a:srgbClr val="92C14D"/>
                </a:solidFill>
                <a:latin typeface="Arial"/>
                <a:ea typeface="Arial"/>
                <a:cs typeface="Arial"/>
                <a:sym typeface="Arial"/>
              </a:rPr>
              <a:t>NOS SERVIRÁN </a:t>
            </a:r>
            <a:endParaRPr/>
          </a:p>
          <a:p>
            <a:pPr indent="0" lvl="0" marL="0" marR="0" rtl="0" algn="l">
              <a:lnSpc>
                <a:spcPct val="80000"/>
              </a:lnSpc>
              <a:spcBef>
                <a:spcPts val="0"/>
              </a:spcBef>
              <a:spcAft>
                <a:spcPts val="0"/>
              </a:spcAft>
              <a:buNone/>
            </a:pPr>
            <a:r>
              <a:rPr b="1" i="0" lang="es-PE" sz="3100" u="none" cap="none" strike="noStrike">
                <a:solidFill>
                  <a:srgbClr val="92C14D"/>
                </a:solidFill>
                <a:latin typeface="Arial"/>
                <a:ea typeface="Arial"/>
                <a:cs typeface="Arial"/>
                <a:sym typeface="Arial"/>
              </a:rPr>
              <a:t>PARA ESTO? </a:t>
            </a:r>
            <a:endParaRPr b="1" i="0" sz="3100" u="none" cap="none" strike="noStrike">
              <a:solidFill>
                <a:srgbClr val="92C14D"/>
              </a:solidFill>
              <a:latin typeface="Arial"/>
              <a:ea typeface="Arial"/>
              <a:cs typeface="Arial"/>
              <a:sym typeface="Arial"/>
            </a:endParaRPr>
          </a:p>
          <a:p>
            <a:pPr indent="0" lvl="0" marL="0" marR="0" rtl="0" algn="l">
              <a:lnSpc>
                <a:spcPct val="80000"/>
              </a:lnSpc>
              <a:spcBef>
                <a:spcPts val="0"/>
              </a:spcBef>
              <a:spcAft>
                <a:spcPts val="0"/>
              </a:spcAft>
              <a:buClr>
                <a:srgbClr val="000000"/>
              </a:buClr>
              <a:buSzPts val="3100"/>
              <a:buFont typeface="Arial"/>
              <a:buNone/>
            </a:pPr>
            <a:r>
              <a:t/>
            </a:r>
            <a:endParaRPr b="0" i="0" sz="31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5"/>
          <p:cNvSpPr/>
          <p:nvPr/>
        </p:nvSpPr>
        <p:spPr>
          <a:xfrm>
            <a:off x="503237" y="383310"/>
            <a:ext cx="5144029" cy="3323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HERRAMIENTAS Y TÉCNICAS DE RECOLECCIÓN DE DATOS CUALITATIVOS Y CUANTITATIVOS</a:t>
            </a:r>
            <a:endParaRPr b="0" i="0" sz="1000" u="none" cap="none" strike="noStrike">
              <a:solidFill>
                <a:srgbClr val="A5A5A5"/>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4" name="Google Shape;224;p15"/>
          <p:cNvGrpSpPr/>
          <p:nvPr/>
        </p:nvGrpSpPr>
        <p:grpSpPr>
          <a:xfrm>
            <a:off x="503238" y="1925823"/>
            <a:ext cx="8172450" cy="2266906"/>
            <a:chOff x="606495" y="1745934"/>
            <a:chExt cx="7876074" cy="2184696"/>
          </a:xfrm>
        </p:grpSpPr>
        <p:pic>
          <p:nvPicPr>
            <p:cNvPr id="225" name="Google Shape;225;p15"/>
            <p:cNvPicPr preferRelativeResize="0"/>
            <p:nvPr/>
          </p:nvPicPr>
          <p:blipFill rotWithShape="1">
            <a:blip r:embed="rId3">
              <a:alphaModFix/>
            </a:blip>
            <a:srcRect b="1297" l="2371" r="722" t="664"/>
            <a:stretch/>
          </p:blipFill>
          <p:spPr>
            <a:xfrm>
              <a:off x="606495" y="1745934"/>
              <a:ext cx="1715200" cy="2184695"/>
            </a:xfrm>
            <a:prstGeom prst="rect">
              <a:avLst/>
            </a:prstGeom>
            <a:noFill/>
            <a:ln>
              <a:noFill/>
            </a:ln>
          </p:spPr>
        </p:pic>
        <p:pic>
          <p:nvPicPr>
            <p:cNvPr id="226" name="Google Shape;226;p15"/>
            <p:cNvPicPr preferRelativeResize="0"/>
            <p:nvPr/>
          </p:nvPicPr>
          <p:blipFill rotWithShape="1">
            <a:blip r:embed="rId4">
              <a:alphaModFix/>
            </a:blip>
            <a:srcRect b="1151" l="7306" r="5337" t="3105"/>
            <a:stretch/>
          </p:blipFill>
          <p:spPr>
            <a:xfrm>
              <a:off x="2357328" y="1745935"/>
              <a:ext cx="1977234" cy="2184695"/>
            </a:xfrm>
            <a:prstGeom prst="rect">
              <a:avLst/>
            </a:prstGeom>
            <a:noFill/>
            <a:ln>
              <a:noFill/>
            </a:ln>
          </p:spPr>
        </p:pic>
        <p:pic>
          <p:nvPicPr>
            <p:cNvPr id="227" name="Google Shape;227;p15"/>
            <p:cNvPicPr preferRelativeResize="0"/>
            <p:nvPr/>
          </p:nvPicPr>
          <p:blipFill rotWithShape="1">
            <a:blip r:embed="rId5">
              <a:alphaModFix/>
            </a:blip>
            <a:srcRect b="0" l="0" r="12528" t="0"/>
            <a:stretch/>
          </p:blipFill>
          <p:spPr>
            <a:xfrm>
              <a:off x="4392613" y="1745935"/>
              <a:ext cx="2331965" cy="2184695"/>
            </a:xfrm>
            <a:prstGeom prst="rect">
              <a:avLst/>
            </a:prstGeom>
            <a:noFill/>
            <a:ln>
              <a:noFill/>
            </a:ln>
          </p:spPr>
        </p:pic>
        <p:pic>
          <p:nvPicPr>
            <p:cNvPr id="228" name="Google Shape;228;p15"/>
            <p:cNvPicPr preferRelativeResize="0"/>
            <p:nvPr/>
          </p:nvPicPr>
          <p:blipFill rotWithShape="1">
            <a:blip r:embed="rId6">
              <a:alphaModFix/>
            </a:blip>
            <a:srcRect b="0" l="4518" r="7024" t="0"/>
            <a:stretch/>
          </p:blipFill>
          <p:spPr>
            <a:xfrm>
              <a:off x="6777191" y="1745934"/>
              <a:ext cx="1705378" cy="2184695"/>
            </a:xfrm>
            <a:prstGeom prst="rect">
              <a:avLst/>
            </a:prstGeom>
            <a:noFill/>
            <a:ln>
              <a:noFill/>
            </a:ln>
          </p:spPr>
        </p:pic>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6"/>
          <p:cNvSpPr txBox="1"/>
          <p:nvPr/>
        </p:nvSpPr>
        <p:spPr>
          <a:xfrm>
            <a:off x="511342" y="949325"/>
            <a:ext cx="3881271" cy="3831818"/>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800"/>
              <a:buFont typeface="Arial"/>
              <a:buNone/>
            </a:pPr>
            <a:r>
              <a:rPr b="1" i="0" lang="es-PE" sz="1800" u="none" cap="none" strike="noStrike">
                <a:solidFill>
                  <a:srgbClr val="262626"/>
                </a:solidFill>
                <a:latin typeface="Calibri"/>
                <a:ea typeface="Calibri"/>
                <a:cs typeface="Calibri"/>
                <a:sym typeface="Calibri"/>
              </a:rPr>
              <a:t>HERRAMIENTAS DE </a:t>
            </a:r>
            <a:br>
              <a:rPr b="1" i="0" lang="es-PE" sz="1800" u="none" cap="none" strike="noStrike">
                <a:solidFill>
                  <a:srgbClr val="262626"/>
                </a:solidFill>
                <a:latin typeface="Calibri"/>
                <a:ea typeface="Calibri"/>
                <a:cs typeface="Calibri"/>
                <a:sym typeface="Calibri"/>
              </a:rPr>
            </a:br>
            <a:r>
              <a:rPr b="1" i="0" lang="es-PE" sz="1800" u="none" cap="none" strike="noStrike">
                <a:solidFill>
                  <a:srgbClr val="262626"/>
                </a:solidFill>
                <a:latin typeface="Calibri"/>
                <a:ea typeface="Calibri"/>
                <a:cs typeface="Calibri"/>
                <a:sym typeface="Calibri"/>
              </a:rPr>
              <a:t>RECOLECCIÓN DE DATOS</a:t>
            </a:r>
            <a:endParaRPr b="0" i="0" sz="1400" u="none" cap="none" strike="noStrike">
              <a:solidFill>
                <a:srgbClr val="000000"/>
              </a:solidFill>
              <a:latin typeface="Arial"/>
              <a:ea typeface="Arial"/>
              <a:cs typeface="Arial"/>
              <a:sym typeface="Arial"/>
            </a:endParaRPr>
          </a:p>
          <a:p>
            <a:pPr indent="-171450" lvl="0" marL="182563" marR="0" rtl="0" algn="l">
              <a:lnSpc>
                <a:spcPct val="100000"/>
              </a:lnSpc>
              <a:spcBef>
                <a:spcPts val="600"/>
              </a:spcBef>
              <a:spcAft>
                <a:spcPts val="0"/>
              </a:spcAft>
              <a:buClr>
                <a:srgbClr val="000000"/>
              </a:buClr>
              <a:buSzPts val="1600"/>
              <a:buFont typeface="Arial"/>
              <a:buChar char="•"/>
            </a:pPr>
            <a:r>
              <a:rPr b="0" i="0" lang="es-PE" sz="1600" u="none" cap="none" strike="noStrike">
                <a:solidFill>
                  <a:schemeClr val="dk1"/>
                </a:solidFill>
                <a:latin typeface="Calibri"/>
                <a:ea typeface="Calibri"/>
                <a:cs typeface="Calibri"/>
                <a:sym typeface="Calibri"/>
              </a:rPr>
              <a:t>Ya superando los formularios de papel antiguos, ahora tenemos una gran cantidad de herramientas que están a una integración de distancia de nuestras soluciones digitales.</a:t>
            </a:r>
            <a:endParaRPr b="0" i="0" sz="1600" u="none" cap="none" strike="noStrike">
              <a:solidFill>
                <a:schemeClr val="dk1"/>
              </a:solidFill>
              <a:latin typeface="Calibri"/>
              <a:ea typeface="Calibri"/>
              <a:cs typeface="Calibri"/>
              <a:sym typeface="Calibri"/>
            </a:endParaRPr>
          </a:p>
          <a:p>
            <a:pPr indent="-171450" lvl="0" marL="182563" marR="0" rtl="0" algn="l">
              <a:lnSpc>
                <a:spcPct val="100000"/>
              </a:lnSpc>
              <a:spcBef>
                <a:spcPts val="0"/>
              </a:spcBef>
              <a:spcAft>
                <a:spcPts val="0"/>
              </a:spcAft>
              <a:buClr>
                <a:srgbClr val="000000"/>
              </a:buClr>
              <a:buSzPts val="1600"/>
              <a:buFont typeface="Arial"/>
              <a:buChar char="•"/>
            </a:pPr>
            <a:r>
              <a:rPr b="0" i="0" lang="es-PE" sz="1600" u="none" cap="none" strike="noStrike">
                <a:solidFill>
                  <a:schemeClr val="dk1"/>
                </a:solidFill>
                <a:latin typeface="Calibri"/>
                <a:ea typeface="Calibri"/>
                <a:cs typeface="Calibri"/>
                <a:sym typeface="Calibri"/>
              </a:rPr>
              <a:t>Gracias a estas herramientas, podremos llegar a conocer a nuestros clientes por diversos medios (WhatsApp, email, dentro del mismo producto, etc.).</a:t>
            </a:r>
            <a:endParaRPr/>
          </a:p>
          <a:p>
            <a:pPr indent="-69850" lvl="0" marL="182563"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171450" lvl="0" marL="182563" marR="0" rtl="0" algn="l">
              <a:lnSpc>
                <a:spcPct val="100000"/>
              </a:lnSpc>
              <a:spcBef>
                <a:spcPts val="0"/>
              </a:spcBef>
              <a:spcAft>
                <a:spcPts val="0"/>
              </a:spcAft>
              <a:buClr>
                <a:srgbClr val="000000"/>
              </a:buClr>
              <a:buSzPts val="1600"/>
              <a:buFont typeface="Arial"/>
              <a:buChar char="•"/>
            </a:pPr>
            <a:r>
              <a:rPr b="1" i="0" lang="es-PE" sz="1600" u="none" cap="none" strike="noStrike">
                <a:solidFill>
                  <a:schemeClr val="dk1"/>
                </a:solidFill>
                <a:latin typeface="Calibri"/>
                <a:ea typeface="Calibri"/>
                <a:cs typeface="Calibri"/>
                <a:sym typeface="Calibri"/>
              </a:rPr>
              <a:t>Recomendación: </a:t>
            </a:r>
            <a:r>
              <a:rPr b="0" i="0" lang="es-PE" sz="1600" u="none" cap="none" strike="noStrike">
                <a:solidFill>
                  <a:schemeClr val="dk1"/>
                </a:solidFill>
                <a:latin typeface="Calibri"/>
                <a:ea typeface="Calibri"/>
                <a:cs typeface="Calibri"/>
                <a:sym typeface="Calibri"/>
              </a:rPr>
              <a:t>Aprovechemos siempre las herramientas que permitan después un análisis de información.</a:t>
            </a:r>
            <a:endParaRPr b="0" i="0" sz="1600" u="none" cap="none" strike="noStrike">
              <a:solidFill>
                <a:schemeClr val="dk1"/>
              </a:solidFill>
              <a:latin typeface="Calibri"/>
              <a:ea typeface="Calibri"/>
              <a:cs typeface="Calibri"/>
              <a:sym typeface="Calibri"/>
            </a:endParaRPr>
          </a:p>
        </p:txBody>
      </p:sp>
      <p:sp>
        <p:nvSpPr>
          <p:cNvPr id="235" name="Google Shape;235;p16"/>
          <p:cNvSpPr/>
          <p:nvPr/>
        </p:nvSpPr>
        <p:spPr>
          <a:xfrm>
            <a:off x="503237" y="383310"/>
            <a:ext cx="5144029" cy="3323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HERRAMIENTAS Y TÉCNICAS DE RECOLECCIÓN DE DATOS CUALITATIVOS Y CUANTITATIVOS</a:t>
            </a:r>
            <a:endParaRPr b="0" i="0" sz="1000" u="none" cap="none" strike="noStrike">
              <a:solidFill>
                <a:srgbClr val="A5A5A5"/>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6"/>
          <p:cNvSpPr/>
          <p:nvPr/>
        </p:nvSpPr>
        <p:spPr>
          <a:xfrm>
            <a:off x="4572000" y="959537"/>
            <a:ext cx="4103688" cy="4274452"/>
          </a:xfrm>
          <a:prstGeom prst="rect">
            <a:avLst/>
          </a:prstGeom>
          <a:solidFill>
            <a:srgbClr val="D9DBE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Mi primer typeform - Centro de Ayuda | Typeform" id="237" name="Google Shape;237;p16"/>
          <p:cNvPicPr preferRelativeResize="0"/>
          <p:nvPr/>
        </p:nvPicPr>
        <p:blipFill rotWithShape="1">
          <a:blip r:embed="rId3">
            <a:alphaModFix/>
          </a:blip>
          <a:srcRect b="0" l="0" r="0" t="0"/>
          <a:stretch/>
        </p:blipFill>
        <p:spPr>
          <a:xfrm>
            <a:off x="4751388" y="1135069"/>
            <a:ext cx="3777433" cy="1838220"/>
          </a:xfrm>
          <a:prstGeom prst="rect">
            <a:avLst/>
          </a:prstGeom>
          <a:noFill/>
          <a:ln>
            <a:noFill/>
          </a:ln>
        </p:spPr>
      </p:pic>
      <p:pic>
        <p:nvPicPr>
          <p:cNvPr id="238" name="Google Shape;238;p16"/>
          <p:cNvPicPr preferRelativeResize="0"/>
          <p:nvPr/>
        </p:nvPicPr>
        <p:blipFill rotWithShape="1">
          <a:blip r:embed="rId4">
            <a:alphaModFix/>
          </a:blip>
          <a:srcRect b="19878" l="0" r="25293" t="0"/>
          <a:stretch/>
        </p:blipFill>
        <p:spPr>
          <a:xfrm>
            <a:off x="5573828" y="2793705"/>
            <a:ext cx="2879442" cy="2256430"/>
          </a:xfrm>
          <a:prstGeom prst="rect">
            <a:avLst/>
          </a:prstGeom>
          <a:noFill/>
          <a:ln>
            <a:noFill/>
          </a:ln>
        </p:spPr>
      </p:pic>
      <p:pic>
        <p:nvPicPr>
          <p:cNvPr id="239" name="Google Shape;239;p16"/>
          <p:cNvPicPr preferRelativeResize="0"/>
          <p:nvPr/>
        </p:nvPicPr>
        <p:blipFill rotWithShape="1">
          <a:blip r:embed="rId5">
            <a:alphaModFix/>
          </a:blip>
          <a:srcRect b="12076" l="6635" r="15589" t="57663"/>
          <a:stretch/>
        </p:blipFill>
        <p:spPr>
          <a:xfrm>
            <a:off x="3270248" y="4431412"/>
            <a:ext cx="2603503" cy="47582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7"/>
          <p:cNvSpPr txBox="1"/>
          <p:nvPr/>
        </p:nvSpPr>
        <p:spPr>
          <a:xfrm>
            <a:off x="511340" y="949325"/>
            <a:ext cx="8164347" cy="815608"/>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rgbClr val="262626"/>
                </a:solidFill>
                <a:latin typeface="Calibri"/>
                <a:ea typeface="Calibri"/>
                <a:cs typeface="Calibri"/>
                <a:sym typeface="Calibri"/>
              </a:rPr>
              <a:t>¿Cómo nos podremos apoyar de AI / Herramientas Digitales en estos procesos?</a:t>
            </a:r>
            <a:endParaRPr b="1" i="0" sz="1600" u="none" cap="none" strike="noStrike">
              <a:solidFill>
                <a:srgbClr val="262626"/>
              </a:solidFill>
              <a:latin typeface="Calibri"/>
              <a:ea typeface="Calibri"/>
              <a:cs typeface="Calibri"/>
              <a:sym typeface="Calibri"/>
            </a:endParaRPr>
          </a:p>
          <a:p>
            <a:pPr indent="0" lvl="0" marL="11725" marR="0" rtl="0" algn="l">
              <a:lnSpc>
                <a:spcPct val="100000"/>
              </a:lnSpc>
              <a:spcBef>
                <a:spcPts val="600"/>
              </a:spcBef>
              <a:spcAft>
                <a:spcPts val="0"/>
              </a:spcAft>
              <a:buClr>
                <a:srgbClr val="000000"/>
              </a:buClr>
              <a:buSzPts val="1600"/>
              <a:buFont typeface="Arial"/>
              <a:buNone/>
            </a:pPr>
            <a:r>
              <a:rPr b="0" i="0" lang="es-PE" sz="1600" u="none" cap="none" strike="noStrike">
                <a:solidFill>
                  <a:srgbClr val="262626"/>
                </a:solidFill>
                <a:latin typeface="Calibri"/>
                <a:ea typeface="Calibri"/>
                <a:cs typeface="Calibri"/>
                <a:sym typeface="Calibri"/>
              </a:rPr>
              <a:t>Para muchas de las fases de este proceso, existen herramientas que pueden facilitar el trabajo e incluso hacerlo más efectivo y eficiente:</a:t>
            </a:r>
            <a:endParaRPr b="0" i="0" sz="1400" u="none" cap="none" strike="noStrike">
              <a:solidFill>
                <a:srgbClr val="000000"/>
              </a:solidFill>
              <a:latin typeface="Arial"/>
              <a:ea typeface="Arial"/>
              <a:cs typeface="Arial"/>
              <a:sym typeface="Arial"/>
            </a:endParaRPr>
          </a:p>
        </p:txBody>
      </p:sp>
      <p:sp>
        <p:nvSpPr>
          <p:cNvPr id="246" name="Google Shape;246;p17"/>
          <p:cNvSpPr/>
          <p:nvPr/>
        </p:nvSpPr>
        <p:spPr>
          <a:xfrm>
            <a:off x="503237" y="383310"/>
            <a:ext cx="5144029" cy="3323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HERRAMIENTAS Y TÉCNICAS DE RECOLECCIÓN DE DATOS CUALITATIVOS Y CUANTITATIVOS</a:t>
            </a:r>
            <a:endParaRPr b="0" i="0" sz="1000" u="none" cap="none" strike="noStrike">
              <a:solidFill>
                <a:srgbClr val="A5A5A5"/>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17"/>
          <p:cNvSpPr txBox="1"/>
          <p:nvPr/>
        </p:nvSpPr>
        <p:spPr>
          <a:xfrm>
            <a:off x="920009" y="1997217"/>
            <a:ext cx="5639089" cy="29700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PE" sz="1400" u="none" cap="none" strike="noStrike">
                <a:solidFill>
                  <a:srgbClr val="EF4639"/>
                </a:solidFill>
                <a:latin typeface="Calibri"/>
                <a:ea typeface="Calibri"/>
                <a:cs typeface="Calibri"/>
                <a:sym typeface="Calibri"/>
              </a:rPr>
              <a:t>Automatización de transcripciones: </a:t>
            </a:r>
            <a:br>
              <a:rPr b="1" i="0" lang="es-PE" sz="1400" u="none" cap="none" strike="noStrike">
                <a:solidFill>
                  <a:srgbClr val="00B1C3"/>
                </a:solidFill>
                <a:latin typeface="Calibri"/>
                <a:ea typeface="Calibri"/>
                <a:cs typeface="Calibri"/>
                <a:sym typeface="Calibri"/>
              </a:rPr>
            </a:br>
            <a:r>
              <a:rPr b="0" i="0" lang="es-PE" sz="1400" u="none" cap="none" strike="noStrike">
                <a:solidFill>
                  <a:srgbClr val="262626"/>
                </a:solidFill>
                <a:latin typeface="Calibri"/>
                <a:ea typeface="Calibri"/>
                <a:cs typeface="Calibri"/>
                <a:sym typeface="Calibri"/>
              </a:rPr>
              <a:t>tl;dv, otter.ai, tactiq.</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None/>
            </a:pPr>
            <a:r>
              <a:rPr b="1" i="0" lang="es-PE" sz="1400" u="none" cap="none" strike="noStrike">
                <a:solidFill>
                  <a:srgbClr val="EF4639"/>
                </a:solidFill>
                <a:latin typeface="Calibri"/>
                <a:ea typeface="Calibri"/>
                <a:cs typeface="Calibri"/>
                <a:sym typeface="Calibri"/>
              </a:rPr>
              <a:t>Análisis avanzados de datos: </a:t>
            </a:r>
            <a:br>
              <a:rPr b="1" i="0" lang="es-PE" sz="1400" u="none" cap="none" strike="noStrike">
                <a:solidFill>
                  <a:srgbClr val="00B1C3"/>
                </a:solidFill>
                <a:latin typeface="Calibri"/>
                <a:ea typeface="Calibri"/>
                <a:cs typeface="Calibri"/>
                <a:sym typeface="Calibri"/>
              </a:rPr>
            </a:br>
            <a:r>
              <a:rPr b="0" i="0" lang="es-PE" sz="1400" u="none" cap="none" strike="noStrike">
                <a:solidFill>
                  <a:srgbClr val="262626"/>
                </a:solidFill>
                <a:latin typeface="Calibri"/>
                <a:ea typeface="Calibri"/>
                <a:cs typeface="Calibri"/>
                <a:sym typeface="Calibri"/>
              </a:rPr>
              <a:t>Dovetail, notably.ai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None/>
            </a:pPr>
            <a:r>
              <a:rPr b="1" i="0" lang="es-PE" sz="1400" u="none" cap="none" strike="noStrike">
                <a:solidFill>
                  <a:srgbClr val="EF4639"/>
                </a:solidFill>
                <a:latin typeface="Calibri"/>
                <a:ea typeface="Calibri"/>
                <a:cs typeface="Calibri"/>
                <a:sym typeface="Calibri"/>
              </a:rPr>
              <a:t>Envío de campañas de reclutamiento para entrevistas: </a:t>
            </a:r>
            <a:br>
              <a:rPr b="1" i="0" lang="es-PE" sz="1400" u="none" cap="none" strike="noStrike">
                <a:solidFill>
                  <a:srgbClr val="00B1C3"/>
                </a:solidFill>
                <a:latin typeface="Calibri"/>
                <a:ea typeface="Calibri"/>
                <a:cs typeface="Calibri"/>
                <a:sym typeface="Calibri"/>
              </a:rPr>
            </a:br>
            <a:r>
              <a:rPr b="0" i="0" lang="es-PE" sz="1400" u="none" cap="none" strike="noStrike">
                <a:solidFill>
                  <a:srgbClr val="262626"/>
                </a:solidFill>
                <a:latin typeface="Calibri"/>
                <a:ea typeface="Calibri"/>
                <a:cs typeface="Calibri"/>
                <a:sym typeface="Calibri"/>
              </a:rPr>
              <a:t>Senda Pp</a:t>
            </a:r>
            <a:endParaRPr/>
          </a:p>
          <a:p>
            <a:pPr indent="0" lvl="0" marL="0" marR="0" rtl="0" algn="l">
              <a:lnSpc>
                <a:spcPct val="100000"/>
              </a:lnSpc>
              <a:spcBef>
                <a:spcPts val="600"/>
              </a:spcBef>
              <a:spcAft>
                <a:spcPts val="0"/>
              </a:spcAft>
              <a:buNone/>
            </a:pPr>
            <a:r>
              <a:rPr b="1" i="0" lang="es-PE" sz="1400" u="none" cap="none" strike="noStrike">
                <a:solidFill>
                  <a:srgbClr val="EF4639"/>
                </a:solidFill>
                <a:latin typeface="Calibri"/>
                <a:ea typeface="Calibri"/>
                <a:cs typeface="Calibri"/>
                <a:sym typeface="Calibri"/>
              </a:rPr>
              <a:t>Creación de cuestionarios dentro de tus productos: </a:t>
            </a:r>
            <a:br>
              <a:rPr b="1" i="0" lang="es-PE" sz="1400" u="none" cap="none" strike="noStrike">
                <a:solidFill>
                  <a:srgbClr val="00B1C3"/>
                </a:solidFill>
                <a:latin typeface="Calibri"/>
                <a:ea typeface="Calibri"/>
                <a:cs typeface="Calibri"/>
                <a:sym typeface="Calibri"/>
              </a:rPr>
            </a:br>
            <a:r>
              <a:rPr b="0" i="0" lang="es-PE" sz="1400" u="none" cap="none" strike="noStrike">
                <a:solidFill>
                  <a:srgbClr val="262626"/>
                </a:solidFill>
                <a:latin typeface="Calibri"/>
                <a:ea typeface="Calibri"/>
                <a:cs typeface="Calibri"/>
                <a:sym typeface="Calibri"/>
              </a:rPr>
              <a:t>Intercom.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None/>
            </a:pPr>
            <a:r>
              <a:rPr b="1" i="0" lang="es-PE" sz="1400" u="none" cap="none" strike="noStrike">
                <a:solidFill>
                  <a:srgbClr val="EF4639"/>
                </a:solidFill>
                <a:latin typeface="Calibri"/>
                <a:ea typeface="Calibri"/>
                <a:cs typeface="Calibri"/>
                <a:sym typeface="Calibri"/>
              </a:rPr>
              <a:t>Diseño de cuestionarios: </a:t>
            </a:r>
            <a:br>
              <a:rPr b="1" i="0" lang="es-PE" sz="1400" u="none" cap="none" strike="noStrike">
                <a:solidFill>
                  <a:srgbClr val="00B1C3"/>
                </a:solidFill>
                <a:latin typeface="Calibri"/>
                <a:ea typeface="Calibri"/>
                <a:cs typeface="Calibri"/>
                <a:sym typeface="Calibri"/>
              </a:rPr>
            </a:br>
            <a:r>
              <a:rPr b="0" i="0" lang="es-PE" sz="1400" u="none" cap="none" strike="noStrike">
                <a:solidFill>
                  <a:srgbClr val="262626"/>
                </a:solidFill>
                <a:latin typeface="Calibri"/>
                <a:ea typeface="Calibri"/>
                <a:cs typeface="Calibri"/>
                <a:sym typeface="Calibri"/>
              </a:rPr>
              <a:t>Google Forms, Surveymonkey, Typeform.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None/>
            </a:pPr>
            <a:r>
              <a:rPr b="1" i="0" lang="es-PE" sz="1400" u="none" cap="none" strike="noStrike">
                <a:solidFill>
                  <a:srgbClr val="EF4639"/>
                </a:solidFill>
                <a:latin typeface="Calibri"/>
                <a:ea typeface="Calibri"/>
                <a:cs typeface="Calibri"/>
                <a:sym typeface="Calibri"/>
              </a:rPr>
              <a:t>New*: </a:t>
            </a:r>
            <a:br>
              <a:rPr b="1" i="0" lang="es-PE" sz="1400" u="none" cap="none" strike="noStrike">
                <a:solidFill>
                  <a:srgbClr val="00B1C3"/>
                </a:solidFill>
                <a:latin typeface="Calibri"/>
                <a:ea typeface="Calibri"/>
                <a:cs typeface="Calibri"/>
                <a:sym typeface="Calibri"/>
              </a:rPr>
            </a:br>
            <a:r>
              <a:rPr b="0" i="0" lang="es-PE" sz="1400" u="none" cap="none" strike="noStrike">
                <a:solidFill>
                  <a:srgbClr val="262626"/>
                </a:solidFill>
                <a:latin typeface="Calibri"/>
                <a:ea typeface="Calibri"/>
                <a:cs typeface="Calibri"/>
                <a:sym typeface="Calibri"/>
              </a:rPr>
              <a:t>Interpretación de resultados gracias a Chat GPT.</a:t>
            </a:r>
            <a:endParaRPr b="0" i="0" sz="1400" u="none" cap="none" strike="noStrike">
              <a:solidFill>
                <a:srgbClr val="000000"/>
              </a:solidFill>
              <a:latin typeface="Arial"/>
              <a:ea typeface="Arial"/>
              <a:cs typeface="Arial"/>
              <a:sym typeface="Arial"/>
            </a:endParaRPr>
          </a:p>
        </p:txBody>
      </p:sp>
      <p:cxnSp>
        <p:nvCxnSpPr>
          <p:cNvPr id="248" name="Google Shape;248;p17"/>
          <p:cNvCxnSpPr/>
          <p:nvPr/>
        </p:nvCxnSpPr>
        <p:spPr>
          <a:xfrm>
            <a:off x="668951" y="2216571"/>
            <a:ext cx="0" cy="262678"/>
          </a:xfrm>
          <a:prstGeom prst="straightConnector1">
            <a:avLst/>
          </a:prstGeom>
          <a:noFill/>
          <a:ln cap="flat" cmpd="sng" w="12700">
            <a:solidFill>
              <a:srgbClr val="EE4639"/>
            </a:solidFill>
            <a:prstDash val="solid"/>
            <a:round/>
            <a:headEnd len="sm" w="sm" type="none"/>
            <a:tailEnd len="sm" w="sm" type="none"/>
          </a:ln>
        </p:spPr>
      </p:cxnSp>
      <p:sp>
        <p:nvSpPr>
          <p:cNvPr id="249" name="Google Shape;249;p17"/>
          <p:cNvSpPr/>
          <p:nvPr/>
        </p:nvSpPr>
        <p:spPr>
          <a:xfrm>
            <a:off x="592609" y="2023473"/>
            <a:ext cx="152683" cy="152683"/>
          </a:xfrm>
          <a:prstGeom prst="mathPlus">
            <a:avLst>
              <a:gd fmla="val 15202" name="adj1"/>
            </a:avLst>
          </a:prstGeom>
          <a:solidFill>
            <a:srgbClr val="EE46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0" name="Google Shape;250;p17"/>
          <p:cNvSpPr/>
          <p:nvPr/>
        </p:nvSpPr>
        <p:spPr>
          <a:xfrm>
            <a:off x="592609" y="2527807"/>
            <a:ext cx="152683" cy="152683"/>
          </a:xfrm>
          <a:prstGeom prst="mathPlus">
            <a:avLst>
              <a:gd fmla="val 15202" name="adj1"/>
            </a:avLst>
          </a:prstGeom>
          <a:solidFill>
            <a:srgbClr val="EE46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1" name="Google Shape;251;p17"/>
          <p:cNvSpPr/>
          <p:nvPr/>
        </p:nvSpPr>
        <p:spPr>
          <a:xfrm>
            <a:off x="592609" y="3027427"/>
            <a:ext cx="152683" cy="152683"/>
          </a:xfrm>
          <a:prstGeom prst="mathPlus">
            <a:avLst>
              <a:gd fmla="val 15202" name="adj1"/>
            </a:avLst>
          </a:prstGeom>
          <a:solidFill>
            <a:srgbClr val="EE46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252" name="Google Shape;252;p17"/>
          <p:cNvCxnSpPr/>
          <p:nvPr/>
        </p:nvCxnSpPr>
        <p:spPr>
          <a:xfrm>
            <a:off x="668951" y="2716191"/>
            <a:ext cx="0" cy="262678"/>
          </a:xfrm>
          <a:prstGeom prst="straightConnector1">
            <a:avLst/>
          </a:prstGeom>
          <a:noFill/>
          <a:ln cap="flat" cmpd="sng" w="12700">
            <a:solidFill>
              <a:srgbClr val="EE4639"/>
            </a:solidFill>
            <a:prstDash val="solid"/>
            <a:round/>
            <a:headEnd len="sm" w="sm" type="none"/>
            <a:tailEnd len="sm" w="sm" type="none"/>
          </a:ln>
        </p:spPr>
      </p:cxnSp>
      <p:sp>
        <p:nvSpPr>
          <p:cNvPr id="253" name="Google Shape;253;p17"/>
          <p:cNvSpPr/>
          <p:nvPr/>
        </p:nvSpPr>
        <p:spPr>
          <a:xfrm>
            <a:off x="592609" y="3522334"/>
            <a:ext cx="152683" cy="152683"/>
          </a:xfrm>
          <a:prstGeom prst="mathPlus">
            <a:avLst>
              <a:gd fmla="val 15202" name="adj1"/>
            </a:avLst>
          </a:prstGeom>
          <a:solidFill>
            <a:srgbClr val="EE46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254" name="Google Shape;254;p17"/>
          <p:cNvCxnSpPr/>
          <p:nvPr/>
        </p:nvCxnSpPr>
        <p:spPr>
          <a:xfrm>
            <a:off x="668951" y="3211098"/>
            <a:ext cx="0" cy="262678"/>
          </a:xfrm>
          <a:prstGeom prst="straightConnector1">
            <a:avLst/>
          </a:prstGeom>
          <a:noFill/>
          <a:ln cap="flat" cmpd="sng" w="12700">
            <a:solidFill>
              <a:srgbClr val="EE4639"/>
            </a:solidFill>
            <a:prstDash val="solid"/>
            <a:round/>
            <a:headEnd len="sm" w="sm" type="none"/>
            <a:tailEnd len="sm" w="sm" type="none"/>
          </a:ln>
        </p:spPr>
      </p:cxnSp>
      <p:sp>
        <p:nvSpPr>
          <p:cNvPr id="255" name="Google Shape;255;p17"/>
          <p:cNvSpPr/>
          <p:nvPr/>
        </p:nvSpPr>
        <p:spPr>
          <a:xfrm>
            <a:off x="592609" y="4045521"/>
            <a:ext cx="152683" cy="152683"/>
          </a:xfrm>
          <a:prstGeom prst="mathPlus">
            <a:avLst>
              <a:gd fmla="val 15202" name="adj1"/>
            </a:avLst>
          </a:prstGeom>
          <a:solidFill>
            <a:srgbClr val="EE46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256" name="Google Shape;256;p17"/>
          <p:cNvCxnSpPr/>
          <p:nvPr/>
        </p:nvCxnSpPr>
        <p:spPr>
          <a:xfrm>
            <a:off x="668951" y="3706005"/>
            <a:ext cx="0" cy="262678"/>
          </a:xfrm>
          <a:prstGeom prst="straightConnector1">
            <a:avLst/>
          </a:prstGeom>
          <a:noFill/>
          <a:ln cap="flat" cmpd="sng" w="12700">
            <a:solidFill>
              <a:srgbClr val="EE4639"/>
            </a:solidFill>
            <a:prstDash val="solid"/>
            <a:round/>
            <a:headEnd len="sm" w="sm" type="none"/>
            <a:tailEnd len="sm" w="sm" type="none"/>
          </a:ln>
        </p:spPr>
      </p:cxnSp>
      <p:sp>
        <p:nvSpPr>
          <p:cNvPr id="257" name="Google Shape;257;p17"/>
          <p:cNvSpPr/>
          <p:nvPr/>
        </p:nvSpPr>
        <p:spPr>
          <a:xfrm>
            <a:off x="592609" y="4554568"/>
            <a:ext cx="152683" cy="152683"/>
          </a:xfrm>
          <a:prstGeom prst="mathPlus">
            <a:avLst>
              <a:gd fmla="val 15202" name="adj1"/>
            </a:avLst>
          </a:prstGeom>
          <a:solidFill>
            <a:srgbClr val="EE46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258" name="Google Shape;258;p17"/>
          <p:cNvCxnSpPr/>
          <p:nvPr/>
        </p:nvCxnSpPr>
        <p:spPr>
          <a:xfrm>
            <a:off x="668951" y="4233906"/>
            <a:ext cx="0" cy="262678"/>
          </a:xfrm>
          <a:prstGeom prst="straightConnector1">
            <a:avLst/>
          </a:prstGeom>
          <a:noFill/>
          <a:ln cap="flat" cmpd="sng" w="12700">
            <a:solidFill>
              <a:srgbClr val="EE4639"/>
            </a:solidFill>
            <a:prstDash val="solid"/>
            <a:round/>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8"/>
          <p:cNvSpPr/>
          <p:nvPr/>
        </p:nvSpPr>
        <p:spPr>
          <a:xfrm>
            <a:off x="503237" y="383310"/>
            <a:ext cx="5144029" cy="3323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HERRAMIENTAS Y TÉCNICAS DE RECOLECCIÓN DE DATOS CUALITATIVOS Y CUANTITATIVOS</a:t>
            </a:r>
            <a:endParaRPr b="0" i="0" sz="1000" u="none" cap="none" strike="noStrike">
              <a:solidFill>
                <a:srgbClr val="A5A5A5"/>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18"/>
          <p:cNvSpPr/>
          <p:nvPr/>
        </p:nvSpPr>
        <p:spPr>
          <a:xfrm>
            <a:off x="2368618" y="960157"/>
            <a:ext cx="2430125" cy="3800521"/>
          </a:xfrm>
          <a:prstGeom prst="roundRect">
            <a:avLst>
              <a:gd fmla="val 6397" name="adj"/>
            </a:avLst>
          </a:prstGeom>
          <a:solidFill>
            <a:schemeClr val="lt1"/>
          </a:solidFill>
          <a:ln cap="flat" cmpd="sng" w="38100">
            <a:solidFill>
              <a:srgbClr val="8EC540"/>
            </a:solidFill>
            <a:prstDash val="solid"/>
            <a:round/>
            <a:headEnd len="sm" w="sm" type="none"/>
            <a:tailEnd len="sm" w="sm" type="none"/>
          </a:ln>
        </p:spPr>
        <p:txBody>
          <a:bodyPr anchorCtr="0" anchor="t" bIns="45700" lIns="91425" spcFirstLastPara="1" rIns="91425" wrap="square" tIns="288000">
            <a:noAutofit/>
          </a:bodyPr>
          <a:lstStyle/>
          <a:p>
            <a:pPr indent="0" lvl="0" marL="0" marR="0" rtl="0" algn="ctr">
              <a:lnSpc>
                <a:spcPct val="100000"/>
              </a:lnSpc>
              <a:spcBef>
                <a:spcPts val="0"/>
              </a:spcBef>
              <a:spcAft>
                <a:spcPts val="0"/>
              </a:spcAft>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b="1" i="0" lang="es-PE" sz="1300" u="none" cap="none" strike="noStrike">
                <a:solidFill>
                  <a:schemeClr val="dk1"/>
                </a:solidFill>
                <a:latin typeface="Calibri"/>
                <a:ea typeface="Calibri"/>
                <a:cs typeface="Calibri"/>
                <a:sym typeface="Calibri"/>
              </a:rPr>
              <a:t>Elegiremos los aspectos más </a:t>
            </a:r>
            <a:r>
              <a:rPr b="1" i="0" lang="es-PE" sz="1300" u="none" cap="none" strike="noStrike">
                <a:solidFill>
                  <a:srgbClr val="8EC540"/>
                </a:solidFill>
                <a:latin typeface="Calibri"/>
                <a:ea typeface="Calibri"/>
                <a:cs typeface="Calibri"/>
                <a:sym typeface="Calibri"/>
              </a:rPr>
              <a:t>logísticos:</a:t>
            </a:r>
            <a:endParaRPr b="1" i="0" sz="1300" u="none" cap="none" strike="noStrike">
              <a:solidFill>
                <a:srgbClr val="8EC540"/>
              </a:solidFill>
              <a:latin typeface="Calibri"/>
              <a:ea typeface="Calibri"/>
              <a:cs typeface="Calibri"/>
              <a:sym typeface="Calibri"/>
            </a:endParaRPr>
          </a:p>
          <a:p>
            <a:pPr indent="0" lvl="0" marL="0" marR="0" rtl="0" algn="ctr">
              <a:lnSpc>
                <a:spcPct val="100000"/>
              </a:lnSpc>
              <a:spcBef>
                <a:spcPts val="0"/>
              </a:spcBef>
              <a:spcAft>
                <a:spcPts val="0"/>
              </a:spcAft>
              <a:buNone/>
            </a:pPr>
            <a:r>
              <a:rPr b="1" i="0" lang="es-PE" sz="1300" u="none" cap="none" strike="noStrike">
                <a:solidFill>
                  <a:schemeClr val="dk1"/>
                </a:solidFill>
                <a:latin typeface="Calibri"/>
                <a:ea typeface="Calibri"/>
                <a:cs typeface="Calibri"/>
                <a:sym typeface="Calibri"/>
              </a:rPr>
              <a:t>¿Cómo vamos a obtener la información?</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b="1" i="0" lang="es-PE" sz="1300" u="none" cap="none" strike="noStrike">
                <a:solidFill>
                  <a:schemeClr val="dk1"/>
                </a:solidFill>
                <a:latin typeface="Calibri"/>
                <a:ea typeface="Calibri"/>
                <a:cs typeface="Calibri"/>
                <a:sym typeface="Calibri"/>
              </a:rPr>
              <a:t>¿Por dónde?</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b="1" i="0" lang="es-PE" sz="1300" u="none" cap="none" strike="noStrike">
                <a:solidFill>
                  <a:schemeClr val="dk1"/>
                </a:solidFill>
                <a:latin typeface="Calibri"/>
                <a:ea typeface="Calibri"/>
                <a:cs typeface="Calibri"/>
                <a:sym typeface="Calibri"/>
              </a:rPr>
              <a:t>¿A quiénes buscamos?</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b="1" i="0" lang="es-PE" sz="1300" u="none" cap="none" strike="noStrike">
                <a:solidFill>
                  <a:schemeClr val="dk1"/>
                </a:solidFill>
                <a:latin typeface="Calibri"/>
                <a:ea typeface="Calibri"/>
                <a:cs typeface="Calibri"/>
                <a:sym typeface="Calibri"/>
              </a:rPr>
              <a:t>¿Daremos algún incentivo por responder?</a:t>
            </a:r>
            <a:endParaRPr b="1" i="0" sz="1300" u="none" cap="none" strike="noStrike">
              <a:solidFill>
                <a:schemeClr val="dk1"/>
              </a:solidFill>
              <a:latin typeface="Calibri"/>
              <a:ea typeface="Calibri"/>
              <a:cs typeface="Calibri"/>
              <a:sym typeface="Calibri"/>
            </a:endParaRPr>
          </a:p>
        </p:txBody>
      </p:sp>
      <p:sp>
        <p:nvSpPr>
          <p:cNvPr id="266" name="Google Shape;266;p18"/>
          <p:cNvSpPr/>
          <p:nvPr/>
        </p:nvSpPr>
        <p:spPr>
          <a:xfrm>
            <a:off x="505568" y="4015673"/>
            <a:ext cx="1775164" cy="162841"/>
          </a:xfrm>
          <a:prstGeom prst="rect">
            <a:avLst/>
          </a:prstGeom>
          <a:solidFill>
            <a:srgbClr val="00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7" name="Google Shape;267;p18"/>
          <p:cNvSpPr/>
          <p:nvPr/>
        </p:nvSpPr>
        <p:spPr>
          <a:xfrm>
            <a:off x="2353786" y="4026514"/>
            <a:ext cx="2435499" cy="723755"/>
          </a:xfrm>
          <a:prstGeom prst="roundRect">
            <a:avLst>
              <a:gd fmla="val 22057" name="adj"/>
            </a:avLst>
          </a:prstGeom>
          <a:solidFill>
            <a:srgbClr val="8EC5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s-PE" sz="1400" u="none" cap="none" strike="noStrike">
                <a:solidFill>
                  <a:schemeClr val="lt1"/>
                </a:solidFill>
                <a:latin typeface="Calibri"/>
                <a:ea typeface="Calibri"/>
                <a:cs typeface="Calibri"/>
                <a:sym typeface="Calibri"/>
              </a:rPr>
              <a:t>CANAL &amp; </a:t>
            </a:r>
            <a:endParaRPr/>
          </a:p>
          <a:p>
            <a:pPr indent="0" lvl="0" marL="0" marR="0" rtl="0" algn="ctr">
              <a:lnSpc>
                <a:spcPct val="100000"/>
              </a:lnSpc>
              <a:spcBef>
                <a:spcPts val="0"/>
              </a:spcBef>
              <a:spcAft>
                <a:spcPts val="0"/>
              </a:spcAft>
              <a:buClr>
                <a:srgbClr val="000000"/>
              </a:buClr>
              <a:buSzPts val="1400"/>
              <a:buFont typeface="Arial"/>
              <a:buNone/>
            </a:pPr>
            <a:r>
              <a:rPr b="1" i="0" lang="es-PE" sz="1400" u="none" cap="none" strike="noStrike">
                <a:solidFill>
                  <a:schemeClr val="lt1"/>
                </a:solidFill>
                <a:latin typeface="Calibri"/>
                <a:ea typeface="Calibri"/>
                <a:cs typeface="Calibri"/>
                <a:sym typeface="Calibri"/>
              </a:rPr>
              <a:t>SEGMENTO</a:t>
            </a:r>
            <a:endParaRPr b="1" i="0" sz="1400" u="none" cap="none" strike="noStrike">
              <a:solidFill>
                <a:schemeClr val="lt1"/>
              </a:solidFill>
              <a:latin typeface="Calibri"/>
              <a:ea typeface="Calibri"/>
              <a:cs typeface="Calibri"/>
              <a:sym typeface="Calibri"/>
            </a:endParaRPr>
          </a:p>
        </p:txBody>
      </p:sp>
      <p:sp>
        <p:nvSpPr>
          <p:cNvPr id="268" name="Google Shape;268;p18"/>
          <p:cNvSpPr/>
          <p:nvPr/>
        </p:nvSpPr>
        <p:spPr>
          <a:xfrm>
            <a:off x="2375194" y="4015673"/>
            <a:ext cx="2423550" cy="177804"/>
          </a:xfrm>
          <a:prstGeom prst="rect">
            <a:avLst/>
          </a:prstGeom>
          <a:solidFill>
            <a:srgbClr val="8EC5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9" name="Google Shape;269;p18"/>
          <p:cNvSpPr/>
          <p:nvPr/>
        </p:nvSpPr>
        <p:spPr>
          <a:xfrm>
            <a:off x="2210850" y="4178670"/>
            <a:ext cx="395709" cy="376075"/>
          </a:xfrm>
          <a:prstGeom prst="ellipse">
            <a:avLst/>
          </a:prstGeom>
          <a:solidFill>
            <a:srgbClr val="418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sp>
        <p:nvSpPr>
          <p:cNvPr id="270" name="Google Shape;270;p18"/>
          <p:cNvSpPr/>
          <p:nvPr/>
        </p:nvSpPr>
        <p:spPr>
          <a:xfrm>
            <a:off x="2147084" y="4164796"/>
            <a:ext cx="424906" cy="40382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sp>
        <p:nvSpPr>
          <p:cNvPr id="271" name="Google Shape;271;p18"/>
          <p:cNvSpPr/>
          <p:nvPr/>
        </p:nvSpPr>
        <p:spPr>
          <a:xfrm>
            <a:off x="6841006" y="949325"/>
            <a:ext cx="1855624" cy="3800522"/>
          </a:xfrm>
          <a:prstGeom prst="roundRect">
            <a:avLst>
              <a:gd fmla="val 6572" name="adj"/>
            </a:avLst>
          </a:prstGeom>
          <a:noFill/>
          <a:ln cap="flat" cmpd="sng" w="38100">
            <a:solidFill>
              <a:srgbClr val="714FA0"/>
            </a:solidFill>
            <a:prstDash val="solid"/>
            <a:round/>
            <a:headEnd len="sm" w="sm" type="none"/>
            <a:tailEnd len="sm" w="sm" type="none"/>
          </a:ln>
        </p:spPr>
        <p:txBody>
          <a:bodyPr anchorCtr="0" anchor="t" bIns="45700" lIns="91425" spcFirstLastPara="1" rIns="91425" wrap="square" tIns="288000">
            <a:noAutofit/>
          </a:bodyPr>
          <a:lstStyle/>
          <a:p>
            <a:pPr indent="0" lvl="0" marL="0" marR="0" rtl="0" algn="ctr">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00"/>
              <a:buFont typeface="Arial"/>
              <a:buNone/>
            </a:pPr>
            <a:r>
              <a:rPr b="1" i="0" lang="es-PE" sz="1300" u="none" cap="none" strike="noStrike">
                <a:solidFill>
                  <a:schemeClr val="dk1"/>
                </a:solidFill>
                <a:latin typeface="Calibri"/>
                <a:ea typeface="Calibri"/>
                <a:cs typeface="Calibri"/>
                <a:sym typeface="Calibri"/>
              </a:rPr>
              <a:t>Después del periodo de tiempo establecido, veremos </a:t>
            </a:r>
            <a:r>
              <a:rPr b="1" i="0" lang="es-PE" sz="1300" u="none" cap="none" strike="noStrike">
                <a:solidFill>
                  <a:srgbClr val="714FA0"/>
                </a:solidFill>
                <a:latin typeface="Calibri"/>
                <a:ea typeface="Calibri"/>
                <a:cs typeface="Calibri"/>
                <a:sym typeface="Calibri"/>
              </a:rPr>
              <a:t>cómo se relacionan </a:t>
            </a:r>
            <a:r>
              <a:rPr b="1" i="0" lang="es-PE" sz="1300" u="none" cap="none" strike="noStrike">
                <a:solidFill>
                  <a:schemeClr val="dk1"/>
                </a:solidFill>
                <a:latin typeface="Calibri"/>
                <a:ea typeface="Calibri"/>
                <a:cs typeface="Calibri"/>
                <a:sym typeface="Calibri"/>
              </a:rPr>
              <a:t>todas las respuestas para poder establecer insights que se puedan documentar.</a:t>
            </a:r>
            <a:endParaRPr b="1" i="0" sz="1300" u="none" cap="none" strike="noStrike">
              <a:solidFill>
                <a:schemeClr val="dk1"/>
              </a:solidFill>
              <a:latin typeface="Calibri"/>
              <a:ea typeface="Calibri"/>
              <a:cs typeface="Calibri"/>
              <a:sym typeface="Calibri"/>
            </a:endParaRPr>
          </a:p>
        </p:txBody>
      </p:sp>
      <p:sp>
        <p:nvSpPr>
          <p:cNvPr id="272" name="Google Shape;272;p18"/>
          <p:cNvSpPr/>
          <p:nvPr/>
        </p:nvSpPr>
        <p:spPr>
          <a:xfrm>
            <a:off x="6844655" y="4021673"/>
            <a:ext cx="1859921" cy="177804"/>
          </a:xfrm>
          <a:prstGeom prst="rect">
            <a:avLst/>
          </a:prstGeom>
          <a:solidFill>
            <a:srgbClr val="714F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3" name="Google Shape;273;p18"/>
          <p:cNvSpPr/>
          <p:nvPr/>
        </p:nvSpPr>
        <p:spPr>
          <a:xfrm>
            <a:off x="6833059" y="4045237"/>
            <a:ext cx="1863570" cy="704608"/>
          </a:xfrm>
          <a:prstGeom prst="roundRect">
            <a:avLst>
              <a:gd fmla="val 22013" name="adj"/>
            </a:avLst>
          </a:prstGeom>
          <a:solidFill>
            <a:srgbClr val="714F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s-PE" sz="1400" u="none" cap="none" strike="noStrike">
                <a:solidFill>
                  <a:schemeClr val="lt1"/>
                </a:solidFill>
                <a:latin typeface="Calibri"/>
                <a:ea typeface="Calibri"/>
                <a:cs typeface="Calibri"/>
                <a:sym typeface="Calibri"/>
              </a:rPr>
              <a:t>ANÁLISIS &amp; CONCLUSIONES</a:t>
            </a:r>
            <a:endParaRPr b="0" i="0" sz="1400" u="none" cap="none" strike="noStrike">
              <a:solidFill>
                <a:srgbClr val="000000"/>
              </a:solidFill>
              <a:latin typeface="Arial"/>
              <a:ea typeface="Arial"/>
              <a:cs typeface="Arial"/>
              <a:sym typeface="Arial"/>
            </a:endParaRPr>
          </a:p>
        </p:txBody>
      </p:sp>
      <p:grpSp>
        <p:nvGrpSpPr>
          <p:cNvPr id="274" name="Google Shape;274;p18"/>
          <p:cNvGrpSpPr/>
          <p:nvPr/>
        </p:nvGrpSpPr>
        <p:grpSpPr>
          <a:xfrm>
            <a:off x="6621622" y="4166813"/>
            <a:ext cx="459475" cy="403823"/>
            <a:chOff x="6746160" y="4293199"/>
            <a:chExt cx="459475" cy="403823"/>
          </a:xfrm>
        </p:grpSpPr>
        <p:sp>
          <p:nvSpPr>
            <p:cNvPr id="275" name="Google Shape;275;p18"/>
            <p:cNvSpPr/>
            <p:nvPr/>
          </p:nvSpPr>
          <p:spPr>
            <a:xfrm>
              <a:off x="6809926" y="4307073"/>
              <a:ext cx="395709" cy="376075"/>
            </a:xfrm>
            <a:prstGeom prst="ellipse">
              <a:avLst/>
            </a:prstGeom>
            <a:solidFill>
              <a:srgbClr val="4D367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sp>
          <p:nvSpPr>
            <p:cNvPr id="276" name="Google Shape;276;p18"/>
            <p:cNvSpPr/>
            <p:nvPr/>
          </p:nvSpPr>
          <p:spPr>
            <a:xfrm>
              <a:off x="6746160" y="4293199"/>
              <a:ext cx="424906" cy="40382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sp>
          <p:nvSpPr>
            <p:cNvPr id="277" name="Google Shape;277;p18"/>
            <p:cNvSpPr/>
            <p:nvPr/>
          </p:nvSpPr>
          <p:spPr>
            <a:xfrm rot="5400000">
              <a:off x="6929933" y="4433920"/>
              <a:ext cx="186870" cy="122381"/>
            </a:xfrm>
            <a:prstGeom prst="triangle">
              <a:avLst>
                <a:gd fmla="val 50000" name="adj"/>
              </a:avLst>
            </a:prstGeom>
            <a:solidFill>
              <a:srgbClr val="714F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grpSp>
      <p:sp>
        <p:nvSpPr>
          <p:cNvPr id="278" name="Google Shape;278;p18"/>
          <p:cNvSpPr/>
          <p:nvPr/>
        </p:nvSpPr>
        <p:spPr>
          <a:xfrm rot="5400000">
            <a:off x="2349488" y="4305518"/>
            <a:ext cx="186870" cy="122381"/>
          </a:xfrm>
          <a:prstGeom prst="triangle">
            <a:avLst>
              <a:gd fmla="val 50000" name="adj"/>
            </a:avLst>
          </a:prstGeom>
          <a:solidFill>
            <a:srgbClr val="8EC5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sp>
        <p:nvSpPr>
          <p:cNvPr id="279" name="Google Shape;279;p18"/>
          <p:cNvSpPr/>
          <p:nvPr/>
        </p:nvSpPr>
        <p:spPr>
          <a:xfrm>
            <a:off x="512749" y="4017779"/>
            <a:ext cx="1767217" cy="78887"/>
          </a:xfrm>
          <a:prstGeom prst="rect">
            <a:avLst/>
          </a:prstGeom>
          <a:solidFill>
            <a:srgbClr val="00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0" name="Google Shape;280;p18"/>
          <p:cNvSpPr/>
          <p:nvPr/>
        </p:nvSpPr>
        <p:spPr>
          <a:xfrm>
            <a:off x="4891910" y="949325"/>
            <a:ext cx="1855624" cy="3800522"/>
          </a:xfrm>
          <a:prstGeom prst="roundRect">
            <a:avLst>
              <a:gd fmla="val 6572" name="adj"/>
            </a:avLst>
          </a:prstGeom>
          <a:noFill/>
          <a:ln cap="flat" cmpd="sng" w="38100">
            <a:solidFill>
              <a:srgbClr val="808799"/>
            </a:solidFill>
            <a:prstDash val="solid"/>
            <a:round/>
            <a:headEnd len="sm" w="sm" type="none"/>
            <a:tailEnd len="sm" w="sm" type="none"/>
          </a:ln>
        </p:spPr>
        <p:txBody>
          <a:bodyPr anchorCtr="0" anchor="t" bIns="45700" lIns="91425" spcFirstLastPara="1" rIns="91425" wrap="square" tIns="288000">
            <a:noAutofit/>
          </a:bodyPr>
          <a:lstStyle/>
          <a:p>
            <a:pPr indent="0" lvl="0" marL="0" marR="0" rtl="0" algn="ctr">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00"/>
              <a:buFont typeface="Arial"/>
              <a:buNone/>
            </a:pPr>
            <a:r>
              <a:rPr b="1" i="0" lang="es-PE" sz="1300" u="none" cap="none" strike="noStrike">
                <a:solidFill>
                  <a:schemeClr val="dk1"/>
                </a:solidFill>
                <a:latin typeface="Calibri"/>
                <a:ea typeface="Calibri"/>
                <a:cs typeface="Calibri"/>
                <a:sym typeface="Calibri"/>
              </a:rPr>
              <a:t>Nos acercaremos al público definido para poder realizar las preguntas. Se sugiere hacer de forma digital para llegar a un </a:t>
            </a:r>
            <a:r>
              <a:rPr b="1" i="0" lang="es-PE" sz="1300" u="none" cap="none" strike="noStrike">
                <a:solidFill>
                  <a:srgbClr val="5C606F"/>
                </a:solidFill>
                <a:latin typeface="Calibri"/>
                <a:ea typeface="Calibri"/>
                <a:cs typeface="Calibri"/>
                <a:sym typeface="Calibri"/>
              </a:rPr>
              <a:t>formato</a:t>
            </a:r>
            <a:r>
              <a:rPr b="1" i="0" lang="es-PE" sz="1300" u="none" cap="none" strike="noStrike">
                <a:solidFill>
                  <a:schemeClr val="dk1"/>
                </a:solidFill>
                <a:latin typeface="Calibri"/>
                <a:ea typeface="Calibri"/>
                <a:cs typeface="Calibri"/>
                <a:sym typeface="Calibri"/>
              </a:rPr>
              <a:t> </a:t>
            </a:r>
            <a:r>
              <a:rPr b="1" i="0" lang="es-PE" sz="1300" u="none" cap="none" strike="noStrike">
                <a:solidFill>
                  <a:srgbClr val="5C606F"/>
                </a:solidFill>
                <a:latin typeface="Calibri"/>
                <a:ea typeface="Calibri"/>
                <a:cs typeface="Calibri"/>
                <a:sym typeface="Calibri"/>
              </a:rPr>
              <a:t>más estandarizado</a:t>
            </a:r>
            <a:endParaRPr b="1" i="0" sz="1300" u="none" cap="none" strike="noStrike">
              <a:solidFill>
                <a:srgbClr val="5C606F"/>
              </a:solidFill>
              <a:latin typeface="Calibri"/>
              <a:ea typeface="Calibri"/>
              <a:cs typeface="Calibri"/>
              <a:sym typeface="Calibri"/>
            </a:endParaRPr>
          </a:p>
        </p:txBody>
      </p:sp>
      <p:sp>
        <p:nvSpPr>
          <p:cNvPr id="281" name="Google Shape;281;p18"/>
          <p:cNvSpPr/>
          <p:nvPr/>
        </p:nvSpPr>
        <p:spPr>
          <a:xfrm>
            <a:off x="4883963" y="4037851"/>
            <a:ext cx="1863570" cy="745002"/>
          </a:xfrm>
          <a:prstGeom prst="roundRect">
            <a:avLst>
              <a:gd fmla="val 22013" name="adj"/>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s-PE" sz="1400" u="none" cap="none" strike="noStrike">
                <a:solidFill>
                  <a:schemeClr val="lt1"/>
                </a:solidFill>
                <a:latin typeface="Calibri"/>
                <a:ea typeface="Calibri"/>
                <a:cs typeface="Calibri"/>
                <a:sym typeface="Calibri"/>
              </a:rPr>
              <a:t>  RECOPILACIÓN DE INFORMACIÓN</a:t>
            </a:r>
            <a:endParaRPr b="0" i="0" sz="1400" u="none" cap="none" strike="noStrike">
              <a:solidFill>
                <a:srgbClr val="000000"/>
              </a:solidFill>
              <a:latin typeface="Arial"/>
              <a:ea typeface="Arial"/>
              <a:cs typeface="Arial"/>
              <a:sym typeface="Arial"/>
            </a:endParaRPr>
          </a:p>
        </p:txBody>
      </p:sp>
      <p:grpSp>
        <p:nvGrpSpPr>
          <p:cNvPr id="282" name="Google Shape;282;p18"/>
          <p:cNvGrpSpPr/>
          <p:nvPr/>
        </p:nvGrpSpPr>
        <p:grpSpPr>
          <a:xfrm>
            <a:off x="293213" y="960157"/>
            <a:ext cx="1992043" cy="3800953"/>
            <a:chOff x="293213" y="399970"/>
            <a:chExt cx="1992043" cy="3800953"/>
          </a:xfrm>
        </p:grpSpPr>
        <p:sp>
          <p:nvSpPr>
            <p:cNvPr id="283" name="Google Shape;283;p18"/>
            <p:cNvSpPr/>
            <p:nvPr/>
          </p:nvSpPr>
          <p:spPr>
            <a:xfrm>
              <a:off x="505568" y="3455488"/>
              <a:ext cx="1777766" cy="745002"/>
            </a:xfrm>
            <a:prstGeom prst="roundRect">
              <a:avLst>
                <a:gd fmla="val 20666" name="adj"/>
              </a:avLst>
            </a:prstGeom>
            <a:solidFill>
              <a:srgbClr val="00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s-PE" sz="1300" u="none" cap="none" strike="noStrike">
                  <a:solidFill>
                    <a:schemeClr val="lt1"/>
                  </a:solidFill>
                  <a:latin typeface="Calibri"/>
                  <a:ea typeface="Calibri"/>
                  <a:cs typeface="Calibri"/>
                  <a:sym typeface="Calibri"/>
                </a:rPr>
                <a:t>DISEÑO DEL CUESTIONARIO</a:t>
              </a:r>
              <a:endParaRPr b="1" i="0" sz="1300" u="none" cap="none" strike="noStrike">
                <a:solidFill>
                  <a:schemeClr val="lt1"/>
                </a:solidFill>
                <a:latin typeface="Calibri"/>
                <a:ea typeface="Calibri"/>
                <a:cs typeface="Calibri"/>
                <a:sym typeface="Calibri"/>
              </a:endParaRPr>
            </a:p>
          </p:txBody>
        </p:sp>
        <p:sp>
          <p:nvSpPr>
            <p:cNvPr id="284" name="Google Shape;284;p18"/>
            <p:cNvSpPr/>
            <p:nvPr/>
          </p:nvSpPr>
          <p:spPr>
            <a:xfrm>
              <a:off x="518039" y="399970"/>
              <a:ext cx="1767217" cy="3800953"/>
            </a:xfrm>
            <a:prstGeom prst="roundRect">
              <a:avLst>
                <a:gd fmla="val 6572" name="adj"/>
              </a:avLst>
            </a:prstGeom>
            <a:noFill/>
            <a:ln cap="flat" cmpd="sng" w="38100">
              <a:solidFill>
                <a:srgbClr val="00B1C3"/>
              </a:solidFill>
              <a:prstDash val="solid"/>
              <a:round/>
              <a:headEnd len="sm" w="sm" type="none"/>
              <a:tailEnd len="sm" w="sm" type="none"/>
            </a:ln>
          </p:spPr>
          <p:txBody>
            <a:bodyPr anchorCtr="0" anchor="t" bIns="45700" lIns="91425" spcFirstLastPara="1" rIns="91425" wrap="square" tIns="288000">
              <a:noAutofit/>
            </a:bodyPr>
            <a:lstStyle/>
            <a:p>
              <a:pPr indent="0" lvl="0" marL="0" marR="0" rtl="0" algn="ctr">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b="1" i="0" lang="es-PE" sz="1300" u="none" cap="none" strike="noStrike">
                  <a:solidFill>
                    <a:schemeClr val="dk1"/>
                  </a:solidFill>
                  <a:latin typeface="Calibri"/>
                  <a:ea typeface="Calibri"/>
                  <a:cs typeface="Calibri"/>
                  <a:sym typeface="Calibri"/>
                </a:rPr>
                <a:t>Se crearán todas </a:t>
              </a:r>
              <a:br>
                <a:rPr b="1" i="0" lang="es-PE" sz="1300" u="none" cap="none" strike="noStrike">
                  <a:solidFill>
                    <a:schemeClr val="dk1"/>
                  </a:solidFill>
                  <a:latin typeface="Calibri"/>
                  <a:ea typeface="Calibri"/>
                  <a:cs typeface="Calibri"/>
                  <a:sym typeface="Calibri"/>
                </a:rPr>
              </a:br>
              <a:r>
                <a:rPr b="1" i="0" lang="es-PE" sz="1300" u="none" cap="none" strike="noStrike">
                  <a:solidFill>
                    <a:schemeClr val="dk1"/>
                  </a:solidFill>
                  <a:latin typeface="Calibri"/>
                  <a:ea typeface="Calibri"/>
                  <a:cs typeface="Calibri"/>
                  <a:sym typeface="Calibri"/>
                </a:rPr>
                <a:t>las preguntas </a:t>
              </a:r>
              <a:endParaRPr/>
            </a:p>
            <a:p>
              <a:pPr indent="0" lvl="0" marL="0" marR="0" rtl="0" algn="ctr">
                <a:lnSpc>
                  <a:spcPct val="100000"/>
                </a:lnSpc>
                <a:spcBef>
                  <a:spcPts val="0"/>
                </a:spcBef>
                <a:spcAft>
                  <a:spcPts val="0"/>
                </a:spcAft>
                <a:buNone/>
              </a:pPr>
              <a:r>
                <a:rPr b="1" i="0" lang="es-PE" sz="1300" u="none" cap="none" strike="noStrike">
                  <a:solidFill>
                    <a:schemeClr val="dk1"/>
                  </a:solidFill>
                  <a:latin typeface="Calibri"/>
                  <a:ea typeface="Calibri"/>
                  <a:cs typeface="Calibri"/>
                  <a:sym typeface="Calibri"/>
                </a:rPr>
                <a:t>que son necesarias </a:t>
              </a:r>
              <a:br>
                <a:rPr b="1" i="0" lang="es-PE" sz="1300" u="none" cap="none" strike="noStrike">
                  <a:solidFill>
                    <a:schemeClr val="dk1"/>
                  </a:solidFill>
                  <a:latin typeface="Calibri"/>
                  <a:ea typeface="Calibri"/>
                  <a:cs typeface="Calibri"/>
                  <a:sym typeface="Calibri"/>
                </a:rPr>
              </a:br>
              <a:r>
                <a:rPr b="1" i="0" lang="es-PE" sz="1300" u="none" cap="none" strike="noStrike">
                  <a:solidFill>
                    <a:schemeClr val="dk1"/>
                  </a:solidFill>
                  <a:latin typeface="Calibri"/>
                  <a:ea typeface="Calibri"/>
                  <a:cs typeface="Calibri"/>
                  <a:sym typeface="Calibri"/>
                </a:rPr>
                <a:t>de abordar.</a:t>
              </a:r>
              <a:endParaRPr b="1" i="0" sz="1300" u="none" cap="none" strike="noStrike">
                <a:solidFill>
                  <a:schemeClr val="dk1"/>
                </a:solidFill>
                <a:latin typeface="Calibri"/>
                <a:ea typeface="Calibri"/>
                <a:cs typeface="Calibri"/>
                <a:sym typeface="Calibri"/>
              </a:endParaRPr>
            </a:p>
          </p:txBody>
        </p:sp>
        <p:grpSp>
          <p:nvGrpSpPr>
            <p:cNvPr id="285" name="Google Shape;285;p18"/>
            <p:cNvGrpSpPr/>
            <p:nvPr/>
          </p:nvGrpSpPr>
          <p:grpSpPr>
            <a:xfrm>
              <a:off x="293213" y="3594972"/>
              <a:ext cx="459475" cy="403823"/>
              <a:chOff x="-3831454" y="3290138"/>
              <a:chExt cx="459475" cy="403823"/>
            </a:xfrm>
          </p:grpSpPr>
          <p:sp>
            <p:nvSpPr>
              <p:cNvPr id="286" name="Google Shape;286;p18"/>
              <p:cNvSpPr/>
              <p:nvPr/>
            </p:nvSpPr>
            <p:spPr>
              <a:xfrm>
                <a:off x="-3767688" y="3304012"/>
                <a:ext cx="395709" cy="376075"/>
              </a:xfrm>
              <a:prstGeom prst="ellipse">
                <a:avLst/>
              </a:prstGeom>
              <a:solidFill>
                <a:srgbClr val="0078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sp>
            <p:nvSpPr>
              <p:cNvPr id="287" name="Google Shape;287;p18"/>
              <p:cNvSpPr/>
              <p:nvPr/>
            </p:nvSpPr>
            <p:spPr>
              <a:xfrm>
                <a:off x="-3831454" y="3290138"/>
                <a:ext cx="424906" cy="40382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sp>
            <p:nvSpPr>
              <p:cNvPr id="288" name="Google Shape;288;p18"/>
              <p:cNvSpPr/>
              <p:nvPr/>
            </p:nvSpPr>
            <p:spPr>
              <a:xfrm rot="5400000">
                <a:off x="-3647681" y="3430859"/>
                <a:ext cx="186870" cy="122381"/>
              </a:xfrm>
              <a:prstGeom prst="triangle">
                <a:avLst>
                  <a:gd fmla="val 50000" name="adj"/>
                </a:avLst>
              </a:prstGeom>
              <a:solidFill>
                <a:srgbClr val="00B2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grpSp>
      </p:grpSp>
      <p:sp>
        <p:nvSpPr>
          <p:cNvPr id="289" name="Google Shape;289;p18"/>
          <p:cNvSpPr/>
          <p:nvPr/>
        </p:nvSpPr>
        <p:spPr>
          <a:xfrm>
            <a:off x="4883961" y="4013966"/>
            <a:ext cx="1863569" cy="164548"/>
          </a:xfrm>
          <a:prstGeom prst="rect">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290" name="Google Shape;290;p18"/>
          <p:cNvGrpSpPr/>
          <p:nvPr/>
        </p:nvGrpSpPr>
        <p:grpSpPr>
          <a:xfrm>
            <a:off x="4661552" y="4160147"/>
            <a:ext cx="459475" cy="403823"/>
            <a:chOff x="4947152" y="4394410"/>
            <a:chExt cx="459475" cy="403823"/>
          </a:xfrm>
        </p:grpSpPr>
        <p:sp>
          <p:nvSpPr>
            <p:cNvPr id="291" name="Google Shape;291;p18"/>
            <p:cNvSpPr/>
            <p:nvPr/>
          </p:nvSpPr>
          <p:spPr>
            <a:xfrm>
              <a:off x="5010918" y="4408284"/>
              <a:ext cx="395709" cy="376075"/>
            </a:xfrm>
            <a:prstGeom prst="ellipse">
              <a:avLst/>
            </a:prstGeom>
            <a:solidFill>
              <a:srgbClr val="5C60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sp>
          <p:nvSpPr>
            <p:cNvPr id="292" name="Google Shape;292;p18"/>
            <p:cNvSpPr/>
            <p:nvPr/>
          </p:nvSpPr>
          <p:spPr>
            <a:xfrm>
              <a:off x="4947152" y="4394410"/>
              <a:ext cx="424906" cy="40382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sp>
          <p:nvSpPr>
            <p:cNvPr id="293" name="Google Shape;293;p18"/>
            <p:cNvSpPr/>
            <p:nvPr/>
          </p:nvSpPr>
          <p:spPr>
            <a:xfrm rot="5400000">
              <a:off x="5130925" y="4535131"/>
              <a:ext cx="186870" cy="122381"/>
            </a:xfrm>
            <a:prstGeom prst="triangle">
              <a:avLst>
                <a:gd fmla="val 50000" name="adj"/>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grpSp>
      <p:sp>
        <p:nvSpPr>
          <p:cNvPr id="294" name="Google Shape;294;p18"/>
          <p:cNvSpPr/>
          <p:nvPr/>
        </p:nvSpPr>
        <p:spPr>
          <a:xfrm>
            <a:off x="4645075" y="4150495"/>
            <a:ext cx="164805" cy="432424"/>
          </a:xfrm>
          <a:prstGeom prst="rect">
            <a:avLst/>
          </a:prstGeom>
          <a:solidFill>
            <a:srgbClr val="8EC5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295" name="Google Shape;295;p18"/>
          <p:cNvPicPr preferRelativeResize="0"/>
          <p:nvPr/>
        </p:nvPicPr>
        <p:blipFill rotWithShape="1">
          <a:blip r:embed="rId3">
            <a:alphaModFix/>
          </a:blip>
          <a:srcRect b="0" l="0" r="0" t="0"/>
          <a:stretch/>
        </p:blipFill>
        <p:spPr>
          <a:xfrm>
            <a:off x="5467206" y="1313607"/>
            <a:ext cx="752878" cy="752878"/>
          </a:xfrm>
          <a:prstGeom prst="rect">
            <a:avLst/>
          </a:prstGeom>
          <a:noFill/>
          <a:ln>
            <a:noFill/>
          </a:ln>
        </p:spPr>
      </p:pic>
      <p:pic>
        <p:nvPicPr>
          <p:cNvPr id="296" name="Google Shape;296;p18"/>
          <p:cNvPicPr preferRelativeResize="0"/>
          <p:nvPr/>
        </p:nvPicPr>
        <p:blipFill rotWithShape="1">
          <a:blip r:embed="rId4">
            <a:alphaModFix/>
          </a:blip>
          <a:srcRect b="0" l="0" r="0" t="0"/>
          <a:stretch/>
        </p:blipFill>
        <p:spPr>
          <a:xfrm>
            <a:off x="3188405" y="1329756"/>
            <a:ext cx="843620" cy="693865"/>
          </a:xfrm>
          <a:prstGeom prst="rect">
            <a:avLst/>
          </a:prstGeom>
          <a:noFill/>
          <a:ln>
            <a:noFill/>
          </a:ln>
        </p:spPr>
      </p:pic>
      <p:pic>
        <p:nvPicPr>
          <p:cNvPr id="297" name="Google Shape;297;p18"/>
          <p:cNvPicPr preferRelativeResize="0"/>
          <p:nvPr/>
        </p:nvPicPr>
        <p:blipFill rotWithShape="1">
          <a:blip r:embed="rId5">
            <a:alphaModFix/>
          </a:blip>
          <a:srcRect b="0" l="0" r="0" t="0"/>
          <a:stretch/>
        </p:blipFill>
        <p:spPr>
          <a:xfrm>
            <a:off x="1070627" y="1281901"/>
            <a:ext cx="558373" cy="741720"/>
          </a:xfrm>
          <a:prstGeom prst="rect">
            <a:avLst/>
          </a:prstGeom>
          <a:noFill/>
          <a:ln>
            <a:noFill/>
          </a:ln>
        </p:spPr>
      </p:pic>
      <p:pic>
        <p:nvPicPr>
          <p:cNvPr id="298" name="Google Shape;298;p18"/>
          <p:cNvPicPr preferRelativeResize="0"/>
          <p:nvPr/>
        </p:nvPicPr>
        <p:blipFill rotWithShape="1">
          <a:blip r:embed="rId6">
            <a:alphaModFix/>
          </a:blip>
          <a:srcRect b="0" l="0" r="0" t="0"/>
          <a:stretch/>
        </p:blipFill>
        <p:spPr>
          <a:xfrm>
            <a:off x="7473522" y="1264382"/>
            <a:ext cx="702094" cy="75323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9"/>
          <p:cNvSpPr/>
          <p:nvPr/>
        </p:nvSpPr>
        <p:spPr>
          <a:xfrm>
            <a:off x="0" y="0"/>
            <a:ext cx="9144000" cy="5715000"/>
          </a:xfrm>
          <a:prstGeom prst="rect">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5" name="Google Shape;305;p19"/>
          <p:cNvSpPr txBox="1"/>
          <p:nvPr/>
        </p:nvSpPr>
        <p:spPr>
          <a:xfrm>
            <a:off x="1008063" y="3169972"/>
            <a:ext cx="5993558" cy="935641"/>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2400"/>
              <a:buFont typeface="Arial"/>
              <a:buNone/>
            </a:pPr>
            <a:r>
              <a:rPr b="0" i="0" lang="es-PE" sz="2400" u="none" cap="none" strike="noStrike">
                <a:solidFill>
                  <a:schemeClr val="lt1"/>
                </a:solidFill>
                <a:latin typeface="Arial"/>
                <a:ea typeface="Arial"/>
                <a:cs typeface="Arial"/>
                <a:sym typeface="Arial"/>
              </a:rPr>
              <a:t>ANÁLISIS DE DATOS PARA IDENTIFICAR </a:t>
            </a:r>
            <a:endParaRPr/>
          </a:p>
          <a:p>
            <a:pPr indent="0" lvl="0" marL="0" marR="0" rtl="0" algn="l">
              <a:lnSpc>
                <a:spcPct val="90000"/>
              </a:lnSpc>
              <a:spcBef>
                <a:spcPts val="0"/>
              </a:spcBef>
              <a:spcAft>
                <a:spcPts val="0"/>
              </a:spcAft>
              <a:buClr>
                <a:srgbClr val="000000"/>
              </a:buClr>
              <a:buSzPts val="2400"/>
              <a:buFont typeface="Arial"/>
              <a:buNone/>
            </a:pPr>
            <a:r>
              <a:rPr b="1" i="0" lang="es-PE" sz="2400" u="none" cap="none" strike="noStrike">
                <a:solidFill>
                  <a:schemeClr val="lt1"/>
                </a:solidFill>
                <a:latin typeface="Arial"/>
                <a:ea typeface="Arial"/>
                <a:cs typeface="Arial"/>
                <a:sym typeface="Arial"/>
              </a:rPr>
              <a:t>PATRONES Y TENDENCIAS</a:t>
            </a:r>
            <a:endParaRPr b="1" i="0" sz="2400" u="none" cap="none" strike="noStrike">
              <a:solidFill>
                <a:schemeClr val="lt1"/>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1600"/>
              <a:buFont typeface="Arial"/>
              <a:buNone/>
            </a:pPr>
            <a:r>
              <a:t/>
            </a:r>
            <a:endParaRPr b="0" i="0" sz="1600" u="none" cap="none" strike="noStrike">
              <a:solidFill>
                <a:schemeClr val="lt1"/>
              </a:solidFill>
              <a:latin typeface="Calibri"/>
              <a:ea typeface="Calibri"/>
              <a:cs typeface="Calibri"/>
              <a:sym typeface="Calibri"/>
            </a:endParaRPr>
          </a:p>
        </p:txBody>
      </p:sp>
      <p:pic>
        <p:nvPicPr>
          <p:cNvPr id="306" name="Google Shape;306;p19"/>
          <p:cNvPicPr preferRelativeResize="0"/>
          <p:nvPr/>
        </p:nvPicPr>
        <p:blipFill rotWithShape="1">
          <a:blip r:embed="rId3">
            <a:alphaModFix/>
          </a:blip>
          <a:srcRect b="0" l="0" r="0" t="0"/>
          <a:stretch/>
        </p:blipFill>
        <p:spPr>
          <a:xfrm>
            <a:off x="1008063" y="2869612"/>
            <a:ext cx="195423" cy="20125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0"/>
          <p:cNvSpPr/>
          <p:nvPr/>
        </p:nvSpPr>
        <p:spPr>
          <a:xfrm>
            <a:off x="503237" y="377668"/>
            <a:ext cx="5144029"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ANÁLISIS DE DATOS PARA IDENTIFICAR PATRONES Y TENDENCIAS</a:t>
            </a:r>
            <a:endParaRPr b="0" i="0" sz="1400" u="none" cap="none" strike="noStrike">
              <a:solidFill>
                <a:srgbClr val="000000"/>
              </a:solidFill>
              <a:latin typeface="Arial"/>
              <a:ea typeface="Arial"/>
              <a:cs typeface="Arial"/>
              <a:sym typeface="Arial"/>
            </a:endParaRPr>
          </a:p>
        </p:txBody>
      </p:sp>
      <p:sp>
        <p:nvSpPr>
          <p:cNvPr id="313" name="Google Shape;313;p20"/>
          <p:cNvSpPr/>
          <p:nvPr/>
        </p:nvSpPr>
        <p:spPr>
          <a:xfrm>
            <a:off x="2368618" y="960157"/>
            <a:ext cx="2430125" cy="3800521"/>
          </a:xfrm>
          <a:prstGeom prst="roundRect">
            <a:avLst>
              <a:gd fmla="val 6397" name="adj"/>
            </a:avLst>
          </a:prstGeom>
          <a:solidFill>
            <a:schemeClr val="lt1"/>
          </a:solidFill>
          <a:ln cap="flat" cmpd="sng" w="38100">
            <a:solidFill>
              <a:srgbClr val="8EC540"/>
            </a:solidFill>
            <a:prstDash val="solid"/>
            <a:round/>
            <a:headEnd len="sm" w="sm" type="none"/>
            <a:tailEnd len="sm" w="sm" type="none"/>
          </a:ln>
        </p:spPr>
        <p:txBody>
          <a:bodyPr anchorCtr="0" anchor="t" bIns="45700" lIns="91425" spcFirstLastPara="1" rIns="91425" wrap="square" tIns="288000">
            <a:noAutofit/>
          </a:bodyPr>
          <a:lstStyle/>
          <a:p>
            <a:pPr indent="0" lvl="0" marL="0" marR="0" rtl="0" algn="ctr">
              <a:lnSpc>
                <a:spcPct val="100000"/>
              </a:lnSpc>
              <a:spcBef>
                <a:spcPts val="0"/>
              </a:spcBef>
              <a:spcAft>
                <a:spcPts val="0"/>
              </a:spcAft>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b="1" i="0" lang="es-PE" sz="1300" u="none" cap="none" strike="noStrike">
                <a:solidFill>
                  <a:srgbClr val="F2F2F2"/>
                </a:solidFill>
                <a:latin typeface="Calibri"/>
                <a:ea typeface="Calibri"/>
                <a:cs typeface="Calibri"/>
                <a:sym typeface="Calibri"/>
              </a:rPr>
              <a:t>Elegiremos los aspectos más logísticos:</a:t>
            </a:r>
            <a:endParaRPr b="1" i="0" sz="1300" u="none" cap="none" strike="noStrike">
              <a:solidFill>
                <a:srgbClr val="F2F2F2"/>
              </a:solidFill>
              <a:latin typeface="Calibri"/>
              <a:ea typeface="Calibri"/>
              <a:cs typeface="Calibri"/>
              <a:sym typeface="Calibri"/>
            </a:endParaRPr>
          </a:p>
          <a:p>
            <a:pPr indent="0" lvl="0" marL="0" marR="0" rtl="0" algn="ctr">
              <a:lnSpc>
                <a:spcPct val="100000"/>
              </a:lnSpc>
              <a:spcBef>
                <a:spcPts val="0"/>
              </a:spcBef>
              <a:spcAft>
                <a:spcPts val="0"/>
              </a:spcAft>
              <a:buNone/>
            </a:pPr>
            <a:r>
              <a:rPr b="1" i="0" lang="es-PE" sz="1300" u="none" cap="none" strike="noStrike">
                <a:solidFill>
                  <a:srgbClr val="F2F2F2"/>
                </a:solidFill>
                <a:latin typeface="Calibri"/>
                <a:ea typeface="Calibri"/>
                <a:cs typeface="Calibri"/>
                <a:sym typeface="Calibri"/>
              </a:rPr>
              <a:t>¿Cómo vamos a obtener la información?</a:t>
            </a:r>
            <a:endParaRPr b="1" i="0" sz="1300" u="none" cap="none" strike="noStrike">
              <a:solidFill>
                <a:srgbClr val="F2F2F2"/>
              </a:solidFill>
              <a:latin typeface="Calibri"/>
              <a:ea typeface="Calibri"/>
              <a:cs typeface="Calibri"/>
              <a:sym typeface="Calibri"/>
            </a:endParaRPr>
          </a:p>
          <a:p>
            <a:pPr indent="0" lvl="0" marL="0" marR="0" rtl="0" algn="ctr">
              <a:lnSpc>
                <a:spcPct val="100000"/>
              </a:lnSpc>
              <a:spcBef>
                <a:spcPts val="0"/>
              </a:spcBef>
              <a:spcAft>
                <a:spcPts val="0"/>
              </a:spcAft>
              <a:buNone/>
            </a:pPr>
            <a:r>
              <a:rPr b="1" i="0" lang="es-PE" sz="1300" u="none" cap="none" strike="noStrike">
                <a:solidFill>
                  <a:srgbClr val="F2F2F2"/>
                </a:solidFill>
                <a:latin typeface="Calibri"/>
                <a:ea typeface="Calibri"/>
                <a:cs typeface="Calibri"/>
                <a:sym typeface="Calibri"/>
              </a:rPr>
              <a:t>¿Por dónde?</a:t>
            </a:r>
            <a:endParaRPr b="1" i="0" sz="1300" u="none" cap="none" strike="noStrike">
              <a:solidFill>
                <a:srgbClr val="F2F2F2"/>
              </a:solidFill>
              <a:latin typeface="Calibri"/>
              <a:ea typeface="Calibri"/>
              <a:cs typeface="Calibri"/>
              <a:sym typeface="Calibri"/>
            </a:endParaRPr>
          </a:p>
          <a:p>
            <a:pPr indent="0" lvl="0" marL="0" marR="0" rtl="0" algn="ctr">
              <a:lnSpc>
                <a:spcPct val="100000"/>
              </a:lnSpc>
              <a:spcBef>
                <a:spcPts val="0"/>
              </a:spcBef>
              <a:spcAft>
                <a:spcPts val="0"/>
              </a:spcAft>
              <a:buNone/>
            </a:pPr>
            <a:r>
              <a:rPr b="1" i="0" lang="es-PE" sz="1300" u="none" cap="none" strike="noStrike">
                <a:solidFill>
                  <a:srgbClr val="F2F2F2"/>
                </a:solidFill>
                <a:latin typeface="Calibri"/>
                <a:ea typeface="Calibri"/>
                <a:cs typeface="Calibri"/>
                <a:sym typeface="Calibri"/>
              </a:rPr>
              <a:t>¿A quiénes buscamos?</a:t>
            </a:r>
            <a:endParaRPr b="1" i="0" sz="1300" u="none" cap="none" strike="noStrike">
              <a:solidFill>
                <a:srgbClr val="F2F2F2"/>
              </a:solidFill>
              <a:latin typeface="Calibri"/>
              <a:ea typeface="Calibri"/>
              <a:cs typeface="Calibri"/>
              <a:sym typeface="Calibri"/>
            </a:endParaRPr>
          </a:p>
          <a:p>
            <a:pPr indent="0" lvl="0" marL="0" marR="0" rtl="0" algn="ctr">
              <a:lnSpc>
                <a:spcPct val="100000"/>
              </a:lnSpc>
              <a:spcBef>
                <a:spcPts val="0"/>
              </a:spcBef>
              <a:spcAft>
                <a:spcPts val="0"/>
              </a:spcAft>
              <a:buNone/>
            </a:pPr>
            <a:r>
              <a:rPr b="1" i="0" lang="es-PE" sz="1300" u="none" cap="none" strike="noStrike">
                <a:solidFill>
                  <a:srgbClr val="F2F2F2"/>
                </a:solidFill>
                <a:latin typeface="Calibri"/>
                <a:ea typeface="Calibri"/>
                <a:cs typeface="Calibri"/>
                <a:sym typeface="Calibri"/>
              </a:rPr>
              <a:t>¿Daremos algún incentivo por responder?</a:t>
            </a:r>
            <a:endParaRPr b="1" i="0" sz="1300" u="none" cap="none" strike="noStrike">
              <a:solidFill>
                <a:srgbClr val="F2F2F2"/>
              </a:solidFill>
              <a:latin typeface="Calibri"/>
              <a:ea typeface="Calibri"/>
              <a:cs typeface="Calibri"/>
              <a:sym typeface="Calibri"/>
            </a:endParaRPr>
          </a:p>
        </p:txBody>
      </p:sp>
      <p:sp>
        <p:nvSpPr>
          <p:cNvPr id="314" name="Google Shape;314;p20"/>
          <p:cNvSpPr/>
          <p:nvPr/>
        </p:nvSpPr>
        <p:spPr>
          <a:xfrm>
            <a:off x="505568" y="4015673"/>
            <a:ext cx="1775164" cy="162841"/>
          </a:xfrm>
          <a:prstGeom prst="rect">
            <a:avLst/>
          </a:prstGeom>
          <a:solidFill>
            <a:srgbClr val="00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5" name="Google Shape;315;p20"/>
          <p:cNvSpPr/>
          <p:nvPr/>
        </p:nvSpPr>
        <p:spPr>
          <a:xfrm>
            <a:off x="2353786" y="4026514"/>
            <a:ext cx="2435499" cy="723755"/>
          </a:xfrm>
          <a:prstGeom prst="roundRect">
            <a:avLst>
              <a:gd fmla="val 22057" name="adj"/>
            </a:avLst>
          </a:prstGeom>
          <a:solidFill>
            <a:srgbClr val="8EC5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s-PE" sz="1400" u="none" cap="none" strike="noStrike">
                <a:solidFill>
                  <a:srgbClr val="D6E3BC"/>
                </a:solidFill>
                <a:latin typeface="Calibri"/>
                <a:ea typeface="Calibri"/>
                <a:cs typeface="Calibri"/>
                <a:sym typeface="Calibri"/>
              </a:rPr>
              <a:t>CANAL &amp; </a:t>
            </a:r>
            <a:endParaRPr/>
          </a:p>
          <a:p>
            <a:pPr indent="0" lvl="0" marL="0" marR="0" rtl="0" algn="ctr">
              <a:lnSpc>
                <a:spcPct val="100000"/>
              </a:lnSpc>
              <a:spcBef>
                <a:spcPts val="0"/>
              </a:spcBef>
              <a:spcAft>
                <a:spcPts val="0"/>
              </a:spcAft>
              <a:buClr>
                <a:srgbClr val="000000"/>
              </a:buClr>
              <a:buSzPts val="1400"/>
              <a:buFont typeface="Arial"/>
              <a:buNone/>
            </a:pPr>
            <a:r>
              <a:rPr b="1" i="0" lang="es-PE" sz="1400" u="none" cap="none" strike="noStrike">
                <a:solidFill>
                  <a:srgbClr val="D6E3BC"/>
                </a:solidFill>
                <a:latin typeface="Calibri"/>
                <a:ea typeface="Calibri"/>
                <a:cs typeface="Calibri"/>
                <a:sym typeface="Calibri"/>
              </a:rPr>
              <a:t>SEGMENTO</a:t>
            </a:r>
            <a:endParaRPr b="1" i="0" sz="1400" u="none" cap="none" strike="noStrike">
              <a:solidFill>
                <a:srgbClr val="D6E3BC"/>
              </a:solidFill>
              <a:latin typeface="Calibri"/>
              <a:ea typeface="Calibri"/>
              <a:cs typeface="Calibri"/>
              <a:sym typeface="Calibri"/>
            </a:endParaRPr>
          </a:p>
        </p:txBody>
      </p:sp>
      <p:sp>
        <p:nvSpPr>
          <p:cNvPr id="316" name="Google Shape;316;p20"/>
          <p:cNvSpPr/>
          <p:nvPr/>
        </p:nvSpPr>
        <p:spPr>
          <a:xfrm>
            <a:off x="2375194" y="4015673"/>
            <a:ext cx="2423550" cy="177804"/>
          </a:xfrm>
          <a:prstGeom prst="rect">
            <a:avLst/>
          </a:prstGeom>
          <a:solidFill>
            <a:srgbClr val="8EC5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7" name="Google Shape;317;p20"/>
          <p:cNvSpPr/>
          <p:nvPr/>
        </p:nvSpPr>
        <p:spPr>
          <a:xfrm>
            <a:off x="2210850" y="4178670"/>
            <a:ext cx="395709" cy="376075"/>
          </a:xfrm>
          <a:prstGeom prst="ellipse">
            <a:avLst/>
          </a:prstGeom>
          <a:solidFill>
            <a:srgbClr val="418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sp>
        <p:nvSpPr>
          <p:cNvPr id="318" name="Google Shape;318;p20"/>
          <p:cNvSpPr/>
          <p:nvPr/>
        </p:nvSpPr>
        <p:spPr>
          <a:xfrm>
            <a:off x="2147084" y="4164796"/>
            <a:ext cx="424906" cy="40382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sp>
        <p:nvSpPr>
          <p:cNvPr id="319" name="Google Shape;319;p20"/>
          <p:cNvSpPr/>
          <p:nvPr/>
        </p:nvSpPr>
        <p:spPr>
          <a:xfrm>
            <a:off x="6841006" y="949325"/>
            <a:ext cx="1855624" cy="3800522"/>
          </a:xfrm>
          <a:prstGeom prst="roundRect">
            <a:avLst>
              <a:gd fmla="val 6572" name="adj"/>
            </a:avLst>
          </a:prstGeom>
          <a:noFill/>
          <a:ln cap="flat" cmpd="sng" w="38100">
            <a:solidFill>
              <a:srgbClr val="714FA0"/>
            </a:solidFill>
            <a:prstDash val="solid"/>
            <a:round/>
            <a:headEnd len="sm" w="sm" type="none"/>
            <a:tailEnd len="sm" w="sm" type="none"/>
          </a:ln>
        </p:spPr>
        <p:txBody>
          <a:bodyPr anchorCtr="0" anchor="t" bIns="45700" lIns="91425" spcFirstLastPara="1" rIns="91425" wrap="square" tIns="288000">
            <a:noAutofit/>
          </a:bodyPr>
          <a:lstStyle/>
          <a:p>
            <a:pPr indent="0" lvl="0" marL="0" marR="0" rtl="0" algn="ctr">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00"/>
              <a:buFont typeface="Arial"/>
              <a:buNone/>
            </a:pPr>
            <a:r>
              <a:rPr b="0" i="0" lang="es-PE" sz="1300" u="none" cap="none" strike="noStrike">
                <a:solidFill>
                  <a:schemeClr val="dk1"/>
                </a:solidFill>
                <a:latin typeface="Calibri"/>
                <a:ea typeface="Calibri"/>
                <a:cs typeface="Calibri"/>
                <a:sym typeface="Calibri"/>
              </a:rPr>
              <a:t>Después del periodo de tiempo establecido, veremos </a:t>
            </a:r>
            <a:r>
              <a:rPr b="1" i="0" lang="es-PE" sz="1300" u="none" cap="none" strike="noStrike">
                <a:solidFill>
                  <a:srgbClr val="714FA0"/>
                </a:solidFill>
                <a:latin typeface="Calibri"/>
                <a:ea typeface="Calibri"/>
                <a:cs typeface="Calibri"/>
                <a:sym typeface="Calibri"/>
              </a:rPr>
              <a:t>cómo se relacionan </a:t>
            </a:r>
            <a:r>
              <a:rPr b="0" i="0" lang="es-PE" sz="1300" u="none" cap="none" strike="noStrike">
                <a:solidFill>
                  <a:schemeClr val="dk1"/>
                </a:solidFill>
                <a:latin typeface="Calibri"/>
                <a:ea typeface="Calibri"/>
                <a:cs typeface="Calibri"/>
                <a:sym typeface="Calibri"/>
              </a:rPr>
              <a:t>todas las respuestas para poder establecer insights que se puedan documentar.</a:t>
            </a:r>
            <a:endParaRPr b="0" i="0" sz="1300" u="none" cap="none" strike="noStrike">
              <a:solidFill>
                <a:schemeClr val="dk1"/>
              </a:solidFill>
              <a:latin typeface="Calibri"/>
              <a:ea typeface="Calibri"/>
              <a:cs typeface="Calibri"/>
              <a:sym typeface="Calibri"/>
            </a:endParaRPr>
          </a:p>
        </p:txBody>
      </p:sp>
      <p:sp>
        <p:nvSpPr>
          <p:cNvPr id="320" name="Google Shape;320;p20"/>
          <p:cNvSpPr/>
          <p:nvPr/>
        </p:nvSpPr>
        <p:spPr>
          <a:xfrm>
            <a:off x="6844655" y="4021673"/>
            <a:ext cx="1859921" cy="177804"/>
          </a:xfrm>
          <a:prstGeom prst="rect">
            <a:avLst/>
          </a:prstGeom>
          <a:solidFill>
            <a:srgbClr val="714F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1" name="Google Shape;321;p20"/>
          <p:cNvSpPr/>
          <p:nvPr/>
        </p:nvSpPr>
        <p:spPr>
          <a:xfrm>
            <a:off x="6833059" y="4045237"/>
            <a:ext cx="1863570" cy="704608"/>
          </a:xfrm>
          <a:prstGeom prst="roundRect">
            <a:avLst>
              <a:gd fmla="val 22013" name="adj"/>
            </a:avLst>
          </a:prstGeom>
          <a:solidFill>
            <a:srgbClr val="714F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s-PE" sz="1400" u="none" cap="none" strike="noStrike">
                <a:solidFill>
                  <a:schemeClr val="lt1"/>
                </a:solidFill>
                <a:latin typeface="Calibri"/>
                <a:ea typeface="Calibri"/>
                <a:cs typeface="Calibri"/>
                <a:sym typeface="Calibri"/>
              </a:rPr>
              <a:t>ANÁLISIS &amp; CONCLUSIONES</a:t>
            </a:r>
            <a:endParaRPr b="0" i="0" sz="1400" u="none" cap="none" strike="noStrike">
              <a:solidFill>
                <a:srgbClr val="000000"/>
              </a:solidFill>
              <a:latin typeface="Arial"/>
              <a:ea typeface="Arial"/>
              <a:cs typeface="Arial"/>
              <a:sym typeface="Arial"/>
            </a:endParaRPr>
          </a:p>
        </p:txBody>
      </p:sp>
      <p:grpSp>
        <p:nvGrpSpPr>
          <p:cNvPr id="322" name="Google Shape;322;p20"/>
          <p:cNvGrpSpPr/>
          <p:nvPr/>
        </p:nvGrpSpPr>
        <p:grpSpPr>
          <a:xfrm>
            <a:off x="6621622" y="4166813"/>
            <a:ext cx="459475" cy="403823"/>
            <a:chOff x="6746160" y="4293199"/>
            <a:chExt cx="459475" cy="403823"/>
          </a:xfrm>
        </p:grpSpPr>
        <p:sp>
          <p:nvSpPr>
            <p:cNvPr id="323" name="Google Shape;323;p20"/>
            <p:cNvSpPr/>
            <p:nvPr/>
          </p:nvSpPr>
          <p:spPr>
            <a:xfrm>
              <a:off x="6809926" y="4307073"/>
              <a:ext cx="395709" cy="376075"/>
            </a:xfrm>
            <a:prstGeom prst="ellipse">
              <a:avLst/>
            </a:prstGeom>
            <a:solidFill>
              <a:srgbClr val="4D367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sp>
          <p:nvSpPr>
            <p:cNvPr id="324" name="Google Shape;324;p20"/>
            <p:cNvSpPr/>
            <p:nvPr/>
          </p:nvSpPr>
          <p:spPr>
            <a:xfrm>
              <a:off x="6746160" y="4293199"/>
              <a:ext cx="424906" cy="40382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sp>
          <p:nvSpPr>
            <p:cNvPr id="325" name="Google Shape;325;p20"/>
            <p:cNvSpPr/>
            <p:nvPr/>
          </p:nvSpPr>
          <p:spPr>
            <a:xfrm rot="5400000">
              <a:off x="6929933" y="4433920"/>
              <a:ext cx="186870" cy="122381"/>
            </a:xfrm>
            <a:prstGeom prst="triangle">
              <a:avLst>
                <a:gd fmla="val 50000" name="adj"/>
              </a:avLst>
            </a:prstGeom>
            <a:solidFill>
              <a:srgbClr val="714F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grpSp>
      <p:sp>
        <p:nvSpPr>
          <p:cNvPr id="326" name="Google Shape;326;p20"/>
          <p:cNvSpPr/>
          <p:nvPr/>
        </p:nvSpPr>
        <p:spPr>
          <a:xfrm rot="5400000">
            <a:off x="2349488" y="4305518"/>
            <a:ext cx="186870" cy="122381"/>
          </a:xfrm>
          <a:prstGeom prst="triangle">
            <a:avLst>
              <a:gd fmla="val 50000" name="adj"/>
            </a:avLst>
          </a:prstGeom>
          <a:solidFill>
            <a:srgbClr val="8EC5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sp>
        <p:nvSpPr>
          <p:cNvPr id="327" name="Google Shape;327;p20"/>
          <p:cNvSpPr/>
          <p:nvPr/>
        </p:nvSpPr>
        <p:spPr>
          <a:xfrm>
            <a:off x="512749" y="4017779"/>
            <a:ext cx="1767217" cy="78887"/>
          </a:xfrm>
          <a:prstGeom prst="rect">
            <a:avLst/>
          </a:prstGeom>
          <a:solidFill>
            <a:srgbClr val="00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8" name="Google Shape;328;p20"/>
          <p:cNvSpPr/>
          <p:nvPr/>
        </p:nvSpPr>
        <p:spPr>
          <a:xfrm>
            <a:off x="4891910" y="949325"/>
            <a:ext cx="1855624" cy="3800522"/>
          </a:xfrm>
          <a:prstGeom prst="roundRect">
            <a:avLst>
              <a:gd fmla="val 6572" name="adj"/>
            </a:avLst>
          </a:prstGeom>
          <a:noFill/>
          <a:ln cap="flat" cmpd="sng" w="38100">
            <a:solidFill>
              <a:srgbClr val="808799"/>
            </a:solidFill>
            <a:prstDash val="solid"/>
            <a:round/>
            <a:headEnd len="sm" w="sm" type="none"/>
            <a:tailEnd len="sm" w="sm" type="none"/>
          </a:ln>
        </p:spPr>
        <p:txBody>
          <a:bodyPr anchorCtr="0" anchor="t" bIns="45700" lIns="91425" spcFirstLastPara="1" rIns="91425" wrap="square" tIns="288000">
            <a:noAutofit/>
          </a:bodyPr>
          <a:lstStyle/>
          <a:p>
            <a:pPr indent="0" lvl="0" marL="0" marR="0" rtl="0" algn="ctr">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300"/>
              <a:buFont typeface="Arial"/>
              <a:buNone/>
            </a:pPr>
            <a:r>
              <a:rPr b="1" i="0" lang="es-PE" sz="1300" u="none" cap="none" strike="noStrike">
                <a:solidFill>
                  <a:srgbClr val="F2F2F2"/>
                </a:solidFill>
                <a:latin typeface="Calibri"/>
                <a:ea typeface="Calibri"/>
                <a:cs typeface="Calibri"/>
                <a:sym typeface="Calibri"/>
              </a:rPr>
              <a:t>Nos acercaremos al público definido para poder realizar las preguntas. Se sugiere hacer de forma digital para llegar a un formato más estandarizado</a:t>
            </a:r>
            <a:endParaRPr b="1" i="0" sz="1300" u="none" cap="none" strike="noStrike">
              <a:solidFill>
                <a:srgbClr val="F2F2F2"/>
              </a:solidFill>
              <a:latin typeface="Calibri"/>
              <a:ea typeface="Calibri"/>
              <a:cs typeface="Calibri"/>
              <a:sym typeface="Calibri"/>
            </a:endParaRPr>
          </a:p>
        </p:txBody>
      </p:sp>
      <p:sp>
        <p:nvSpPr>
          <p:cNvPr id="329" name="Google Shape;329;p20"/>
          <p:cNvSpPr/>
          <p:nvPr/>
        </p:nvSpPr>
        <p:spPr>
          <a:xfrm>
            <a:off x="4883963" y="4037851"/>
            <a:ext cx="1863570" cy="745002"/>
          </a:xfrm>
          <a:prstGeom prst="roundRect">
            <a:avLst>
              <a:gd fmla="val 22013" name="adj"/>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s-PE" sz="1400" u="none" cap="none" strike="noStrike">
                <a:solidFill>
                  <a:srgbClr val="F2F2F2"/>
                </a:solidFill>
                <a:latin typeface="Calibri"/>
                <a:ea typeface="Calibri"/>
                <a:cs typeface="Calibri"/>
                <a:sym typeface="Calibri"/>
              </a:rPr>
              <a:t>  </a:t>
            </a:r>
            <a:r>
              <a:rPr b="1" i="0" lang="es-PE" sz="1400" u="none" cap="none" strike="noStrike">
                <a:solidFill>
                  <a:srgbClr val="A5A5A5"/>
                </a:solidFill>
                <a:latin typeface="Calibri"/>
                <a:ea typeface="Calibri"/>
                <a:cs typeface="Calibri"/>
                <a:sym typeface="Calibri"/>
              </a:rPr>
              <a:t>RECOPILACIÓN DE INFORMACIÓN</a:t>
            </a:r>
            <a:endParaRPr b="0" i="0" sz="1400" u="none" cap="none" strike="noStrike">
              <a:solidFill>
                <a:srgbClr val="A5A5A5"/>
              </a:solidFill>
              <a:latin typeface="Arial"/>
              <a:ea typeface="Arial"/>
              <a:cs typeface="Arial"/>
              <a:sym typeface="Arial"/>
            </a:endParaRPr>
          </a:p>
        </p:txBody>
      </p:sp>
      <p:grpSp>
        <p:nvGrpSpPr>
          <p:cNvPr id="330" name="Google Shape;330;p20"/>
          <p:cNvGrpSpPr/>
          <p:nvPr/>
        </p:nvGrpSpPr>
        <p:grpSpPr>
          <a:xfrm>
            <a:off x="293213" y="960157"/>
            <a:ext cx="1992043" cy="3800953"/>
            <a:chOff x="293213" y="399970"/>
            <a:chExt cx="1992043" cy="3800953"/>
          </a:xfrm>
        </p:grpSpPr>
        <p:sp>
          <p:nvSpPr>
            <p:cNvPr id="331" name="Google Shape;331;p20"/>
            <p:cNvSpPr/>
            <p:nvPr/>
          </p:nvSpPr>
          <p:spPr>
            <a:xfrm>
              <a:off x="505568" y="3455488"/>
              <a:ext cx="1777766" cy="745002"/>
            </a:xfrm>
            <a:prstGeom prst="roundRect">
              <a:avLst>
                <a:gd fmla="val 20666" name="adj"/>
              </a:avLst>
            </a:prstGeom>
            <a:solidFill>
              <a:srgbClr val="00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s-PE" sz="1300" u="none" cap="none" strike="noStrike">
                  <a:solidFill>
                    <a:srgbClr val="31859B"/>
                  </a:solidFill>
                  <a:latin typeface="Calibri"/>
                  <a:ea typeface="Calibri"/>
                  <a:cs typeface="Calibri"/>
                  <a:sym typeface="Calibri"/>
                </a:rPr>
                <a:t>DISEÑO DEL CUESTIONARIO</a:t>
              </a:r>
              <a:endParaRPr b="1" i="0" sz="1300" u="none" cap="none" strike="noStrike">
                <a:solidFill>
                  <a:srgbClr val="31859B"/>
                </a:solidFill>
                <a:latin typeface="Calibri"/>
                <a:ea typeface="Calibri"/>
                <a:cs typeface="Calibri"/>
                <a:sym typeface="Calibri"/>
              </a:endParaRPr>
            </a:p>
          </p:txBody>
        </p:sp>
        <p:sp>
          <p:nvSpPr>
            <p:cNvPr id="332" name="Google Shape;332;p20"/>
            <p:cNvSpPr/>
            <p:nvPr/>
          </p:nvSpPr>
          <p:spPr>
            <a:xfrm>
              <a:off x="518039" y="399970"/>
              <a:ext cx="1767217" cy="3800953"/>
            </a:xfrm>
            <a:prstGeom prst="roundRect">
              <a:avLst>
                <a:gd fmla="val 6572" name="adj"/>
              </a:avLst>
            </a:prstGeom>
            <a:noFill/>
            <a:ln cap="flat" cmpd="sng" w="38100">
              <a:solidFill>
                <a:srgbClr val="00B1C3"/>
              </a:solidFill>
              <a:prstDash val="solid"/>
              <a:round/>
              <a:headEnd len="sm" w="sm" type="none"/>
              <a:tailEnd len="sm" w="sm" type="none"/>
            </a:ln>
          </p:spPr>
          <p:txBody>
            <a:bodyPr anchorCtr="0" anchor="t" bIns="45700" lIns="91425" spcFirstLastPara="1" rIns="91425" wrap="square" tIns="288000">
              <a:noAutofit/>
            </a:bodyPr>
            <a:lstStyle/>
            <a:p>
              <a:pPr indent="0" lvl="0" marL="0" marR="0" rtl="0" algn="ctr">
                <a:lnSpc>
                  <a:spcPct val="100000"/>
                </a:lnSpc>
                <a:spcBef>
                  <a:spcPts val="0"/>
                </a:spcBef>
                <a:spcAft>
                  <a:spcPts val="0"/>
                </a:spcAft>
                <a:buClr>
                  <a:srgbClr val="000000"/>
                </a:buClr>
                <a:buSzPts val="1300"/>
                <a:buFont typeface="Arial"/>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b="1" i="0" sz="13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b="1" i="0" lang="es-PE" sz="1300" u="none" cap="none" strike="noStrike">
                  <a:solidFill>
                    <a:srgbClr val="F2F2F2"/>
                  </a:solidFill>
                  <a:latin typeface="Calibri"/>
                  <a:ea typeface="Calibri"/>
                  <a:cs typeface="Calibri"/>
                  <a:sym typeface="Calibri"/>
                </a:rPr>
                <a:t>Se crearán todas </a:t>
              </a:r>
              <a:br>
                <a:rPr b="1" i="0" lang="es-PE" sz="1300" u="none" cap="none" strike="noStrike">
                  <a:solidFill>
                    <a:srgbClr val="F2F2F2"/>
                  </a:solidFill>
                  <a:latin typeface="Calibri"/>
                  <a:ea typeface="Calibri"/>
                  <a:cs typeface="Calibri"/>
                  <a:sym typeface="Calibri"/>
                </a:rPr>
              </a:br>
              <a:r>
                <a:rPr b="1" i="0" lang="es-PE" sz="1300" u="none" cap="none" strike="noStrike">
                  <a:solidFill>
                    <a:srgbClr val="F2F2F2"/>
                  </a:solidFill>
                  <a:latin typeface="Calibri"/>
                  <a:ea typeface="Calibri"/>
                  <a:cs typeface="Calibri"/>
                  <a:sym typeface="Calibri"/>
                </a:rPr>
                <a:t>las preguntas </a:t>
              </a:r>
              <a:endParaRPr/>
            </a:p>
            <a:p>
              <a:pPr indent="0" lvl="0" marL="0" marR="0" rtl="0" algn="ctr">
                <a:lnSpc>
                  <a:spcPct val="100000"/>
                </a:lnSpc>
                <a:spcBef>
                  <a:spcPts val="0"/>
                </a:spcBef>
                <a:spcAft>
                  <a:spcPts val="0"/>
                </a:spcAft>
                <a:buNone/>
              </a:pPr>
              <a:r>
                <a:rPr b="1" i="0" lang="es-PE" sz="1300" u="none" cap="none" strike="noStrike">
                  <a:solidFill>
                    <a:srgbClr val="F2F2F2"/>
                  </a:solidFill>
                  <a:latin typeface="Calibri"/>
                  <a:ea typeface="Calibri"/>
                  <a:cs typeface="Calibri"/>
                  <a:sym typeface="Calibri"/>
                </a:rPr>
                <a:t>que son necesarias </a:t>
              </a:r>
              <a:br>
                <a:rPr b="1" i="0" lang="es-PE" sz="1300" u="none" cap="none" strike="noStrike">
                  <a:solidFill>
                    <a:srgbClr val="F2F2F2"/>
                  </a:solidFill>
                  <a:latin typeface="Calibri"/>
                  <a:ea typeface="Calibri"/>
                  <a:cs typeface="Calibri"/>
                  <a:sym typeface="Calibri"/>
                </a:rPr>
              </a:br>
              <a:r>
                <a:rPr b="1" i="0" lang="es-PE" sz="1300" u="none" cap="none" strike="noStrike">
                  <a:solidFill>
                    <a:srgbClr val="F2F2F2"/>
                  </a:solidFill>
                  <a:latin typeface="Calibri"/>
                  <a:ea typeface="Calibri"/>
                  <a:cs typeface="Calibri"/>
                  <a:sym typeface="Calibri"/>
                </a:rPr>
                <a:t>de abordar.</a:t>
              </a:r>
              <a:endParaRPr b="1" i="0" sz="1300" u="none" cap="none" strike="noStrike">
                <a:solidFill>
                  <a:srgbClr val="F2F2F2"/>
                </a:solidFill>
                <a:latin typeface="Calibri"/>
                <a:ea typeface="Calibri"/>
                <a:cs typeface="Calibri"/>
                <a:sym typeface="Calibri"/>
              </a:endParaRPr>
            </a:p>
          </p:txBody>
        </p:sp>
        <p:grpSp>
          <p:nvGrpSpPr>
            <p:cNvPr id="333" name="Google Shape;333;p20"/>
            <p:cNvGrpSpPr/>
            <p:nvPr/>
          </p:nvGrpSpPr>
          <p:grpSpPr>
            <a:xfrm>
              <a:off x="293213" y="3594972"/>
              <a:ext cx="459475" cy="403823"/>
              <a:chOff x="-3831454" y="3290138"/>
              <a:chExt cx="459475" cy="403823"/>
            </a:xfrm>
          </p:grpSpPr>
          <p:sp>
            <p:nvSpPr>
              <p:cNvPr id="334" name="Google Shape;334;p20"/>
              <p:cNvSpPr/>
              <p:nvPr/>
            </p:nvSpPr>
            <p:spPr>
              <a:xfrm>
                <a:off x="-3767688" y="3304012"/>
                <a:ext cx="395709" cy="376075"/>
              </a:xfrm>
              <a:prstGeom prst="ellipse">
                <a:avLst/>
              </a:prstGeom>
              <a:solidFill>
                <a:srgbClr val="0078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sp>
            <p:nvSpPr>
              <p:cNvPr id="335" name="Google Shape;335;p20"/>
              <p:cNvSpPr/>
              <p:nvPr/>
            </p:nvSpPr>
            <p:spPr>
              <a:xfrm>
                <a:off x="-3831454" y="3290138"/>
                <a:ext cx="424906" cy="40382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sp>
            <p:nvSpPr>
              <p:cNvPr id="336" name="Google Shape;336;p20"/>
              <p:cNvSpPr/>
              <p:nvPr/>
            </p:nvSpPr>
            <p:spPr>
              <a:xfrm rot="5400000">
                <a:off x="-3647681" y="3430859"/>
                <a:ext cx="186870" cy="122381"/>
              </a:xfrm>
              <a:prstGeom prst="triangle">
                <a:avLst>
                  <a:gd fmla="val 50000" name="adj"/>
                </a:avLst>
              </a:prstGeom>
              <a:solidFill>
                <a:srgbClr val="00B2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grpSp>
      </p:grpSp>
      <p:sp>
        <p:nvSpPr>
          <p:cNvPr id="337" name="Google Shape;337;p20"/>
          <p:cNvSpPr/>
          <p:nvPr/>
        </p:nvSpPr>
        <p:spPr>
          <a:xfrm>
            <a:off x="4883961" y="4013966"/>
            <a:ext cx="1863569" cy="164548"/>
          </a:xfrm>
          <a:prstGeom prst="rect">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338" name="Google Shape;338;p20"/>
          <p:cNvGrpSpPr/>
          <p:nvPr/>
        </p:nvGrpSpPr>
        <p:grpSpPr>
          <a:xfrm>
            <a:off x="4661552" y="4160147"/>
            <a:ext cx="459475" cy="403823"/>
            <a:chOff x="4947152" y="4394410"/>
            <a:chExt cx="459475" cy="403823"/>
          </a:xfrm>
        </p:grpSpPr>
        <p:sp>
          <p:nvSpPr>
            <p:cNvPr id="339" name="Google Shape;339;p20"/>
            <p:cNvSpPr/>
            <p:nvPr/>
          </p:nvSpPr>
          <p:spPr>
            <a:xfrm>
              <a:off x="5010918" y="4408284"/>
              <a:ext cx="395709" cy="376075"/>
            </a:xfrm>
            <a:prstGeom prst="ellipse">
              <a:avLst/>
            </a:prstGeom>
            <a:solidFill>
              <a:srgbClr val="5C60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sp>
          <p:nvSpPr>
            <p:cNvPr id="340" name="Google Shape;340;p20"/>
            <p:cNvSpPr/>
            <p:nvPr/>
          </p:nvSpPr>
          <p:spPr>
            <a:xfrm>
              <a:off x="4947152" y="4394410"/>
              <a:ext cx="424906" cy="40382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sp>
          <p:nvSpPr>
            <p:cNvPr id="341" name="Google Shape;341;p20"/>
            <p:cNvSpPr/>
            <p:nvPr/>
          </p:nvSpPr>
          <p:spPr>
            <a:xfrm rot="5400000">
              <a:off x="5130925" y="4535131"/>
              <a:ext cx="186870" cy="122381"/>
            </a:xfrm>
            <a:prstGeom prst="triangle">
              <a:avLst>
                <a:gd fmla="val 50000" name="adj"/>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Calibri"/>
                <a:ea typeface="Calibri"/>
                <a:cs typeface="Calibri"/>
                <a:sym typeface="Calibri"/>
              </a:endParaRPr>
            </a:p>
          </p:txBody>
        </p:sp>
      </p:grpSp>
      <p:sp>
        <p:nvSpPr>
          <p:cNvPr id="342" name="Google Shape;342;p20"/>
          <p:cNvSpPr/>
          <p:nvPr/>
        </p:nvSpPr>
        <p:spPr>
          <a:xfrm>
            <a:off x="4645075" y="4150495"/>
            <a:ext cx="164805" cy="432424"/>
          </a:xfrm>
          <a:prstGeom prst="rect">
            <a:avLst/>
          </a:prstGeom>
          <a:solidFill>
            <a:srgbClr val="8EC5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343" name="Google Shape;343;p20"/>
          <p:cNvPicPr preferRelativeResize="0"/>
          <p:nvPr/>
        </p:nvPicPr>
        <p:blipFill rotWithShape="1">
          <a:blip r:embed="rId3">
            <a:alphaModFix/>
          </a:blip>
          <a:srcRect b="0" l="0" r="0" t="0"/>
          <a:stretch/>
        </p:blipFill>
        <p:spPr>
          <a:xfrm>
            <a:off x="5467206" y="1313607"/>
            <a:ext cx="752878" cy="752878"/>
          </a:xfrm>
          <a:prstGeom prst="rect">
            <a:avLst/>
          </a:prstGeom>
          <a:noFill/>
          <a:ln>
            <a:noFill/>
          </a:ln>
        </p:spPr>
      </p:pic>
      <p:pic>
        <p:nvPicPr>
          <p:cNvPr id="344" name="Google Shape;344;p20"/>
          <p:cNvPicPr preferRelativeResize="0"/>
          <p:nvPr/>
        </p:nvPicPr>
        <p:blipFill rotWithShape="1">
          <a:blip r:embed="rId4">
            <a:alphaModFix/>
          </a:blip>
          <a:srcRect b="0" l="0" r="0" t="0"/>
          <a:stretch/>
        </p:blipFill>
        <p:spPr>
          <a:xfrm>
            <a:off x="3188405" y="1329756"/>
            <a:ext cx="843620" cy="693865"/>
          </a:xfrm>
          <a:prstGeom prst="rect">
            <a:avLst/>
          </a:prstGeom>
          <a:noFill/>
          <a:ln>
            <a:noFill/>
          </a:ln>
        </p:spPr>
      </p:pic>
      <p:pic>
        <p:nvPicPr>
          <p:cNvPr id="345" name="Google Shape;345;p20"/>
          <p:cNvPicPr preferRelativeResize="0"/>
          <p:nvPr/>
        </p:nvPicPr>
        <p:blipFill rotWithShape="1">
          <a:blip r:embed="rId5">
            <a:alphaModFix/>
          </a:blip>
          <a:srcRect b="0" l="0" r="0" t="0"/>
          <a:stretch/>
        </p:blipFill>
        <p:spPr>
          <a:xfrm>
            <a:off x="1070627" y="1281901"/>
            <a:ext cx="558373" cy="741720"/>
          </a:xfrm>
          <a:prstGeom prst="rect">
            <a:avLst/>
          </a:prstGeom>
          <a:noFill/>
          <a:ln>
            <a:noFill/>
          </a:ln>
        </p:spPr>
      </p:pic>
      <p:pic>
        <p:nvPicPr>
          <p:cNvPr id="346" name="Google Shape;346;p20"/>
          <p:cNvPicPr preferRelativeResize="0"/>
          <p:nvPr/>
        </p:nvPicPr>
        <p:blipFill rotWithShape="1">
          <a:blip r:embed="rId6">
            <a:alphaModFix/>
          </a:blip>
          <a:srcRect b="0" l="0" r="0" t="0"/>
          <a:stretch/>
        </p:blipFill>
        <p:spPr>
          <a:xfrm>
            <a:off x="7473522" y="1264382"/>
            <a:ext cx="702094" cy="75323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pic>
        <p:nvPicPr>
          <p:cNvPr id="352" name="Google Shape;352;p21"/>
          <p:cNvPicPr preferRelativeResize="0"/>
          <p:nvPr/>
        </p:nvPicPr>
        <p:blipFill rotWithShape="1">
          <a:blip r:embed="rId3">
            <a:alphaModFix/>
          </a:blip>
          <a:srcRect b="0" l="0" r="0" t="0"/>
          <a:stretch/>
        </p:blipFill>
        <p:spPr>
          <a:xfrm>
            <a:off x="646891" y="2149609"/>
            <a:ext cx="1222115" cy="1204625"/>
          </a:xfrm>
          <a:prstGeom prst="rect">
            <a:avLst/>
          </a:prstGeom>
          <a:noFill/>
          <a:ln>
            <a:noFill/>
          </a:ln>
        </p:spPr>
      </p:pic>
      <p:sp>
        <p:nvSpPr>
          <p:cNvPr id="353" name="Google Shape;353;p21"/>
          <p:cNvSpPr txBox="1"/>
          <p:nvPr/>
        </p:nvSpPr>
        <p:spPr>
          <a:xfrm>
            <a:off x="2198115" y="2333445"/>
            <a:ext cx="4170028" cy="840230"/>
          </a:xfrm>
          <a:prstGeom prst="rect">
            <a:avLst/>
          </a:prstGeom>
          <a:noFill/>
          <a:ln>
            <a:noFill/>
          </a:ln>
        </p:spPr>
        <p:txBody>
          <a:bodyPr anchorCtr="0" anchor="t" bIns="0" lIns="0" spcFirstLastPara="1" rIns="0" wrap="square" tIns="0">
            <a:spAutoFit/>
          </a:bodyPr>
          <a:lstStyle/>
          <a:p>
            <a:pPr indent="0" lvl="0" marL="0" marR="0" rtl="0" algn="l">
              <a:lnSpc>
                <a:spcPct val="70000"/>
              </a:lnSpc>
              <a:spcBef>
                <a:spcPts val="0"/>
              </a:spcBef>
              <a:spcAft>
                <a:spcPts val="0"/>
              </a:spcAft>
              <a:buNone/>
            </a:pPr>
            <a:r>
              <a:rPr b="0" i="0" lang="es-PE" sz="3200" u="none" cap="none" strike="noStrike">
                <a:solidFill>
                  <a:schemeClr val="dk1"/>
                </a:solidFill>
                <a:latin typeface="Arial"/>
                <a:ea typeface="Arial"/>
                <a:cs typeface="Arial"/>
                <a:sym typeface="Arial"/>
              </a:rPr>
              <a:t>¿QUÉ INVOLUCRA </a:t>
            </a:r>
            <a:r>
              <a:rPr b="1" i="0" lang="es-PE" sz="3200" u="none" cap="none" strike="noStrike">
                <a:solidFill>
                  <a:srgbClr val="92C14D"/>
                </a:solidFill>
                <a:latin typeface="Arial"/>
                <a:ea typeface="Arial"/>
                <a:cs typeface="Arial"/>
                <a:sym typeface="Arial"/>
              </a:rPr>
              <a:t>ANALIZAR DATA?</a:t>
            </a:r>
            <a:endParaRPr b="1" i="0" sz="3200" u="none" cap="none" strike="noStrike">
              <a:solidFill>
                <a:srgbClr val="92C14D"/>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1400"/>
              <a:buFont typeface="Arial"/>
              <a:buNone/>
            </a:pPr>
            <a:r>
              <a:t/>
            </a:r>
            <a:endParaRPr b="1" i="0" sz="1400" u="none" cap="none" strike="noStrike">
              <a:solidFill>
                <a:schemeClr val="dk1"/>
              </a:solidFill>
              <a:latin typeface="Calibri"/>
              <a:ea typeface="Calibri"/>
              <a:cs typeface="Calibri"/>
              <a:sym typeface="Calibri"/>
            </a:endParaRPr>
          </a:p>
        </p:txBody>
      </p:sp>
      <p:sp>
        <p:nvSpPr>
          <p:cNvPr id="354" name="Google Shape;354;p21"/>
          <p:cNvSpPr/>
          <p:nvPr/>
        </p:nvSpPr>
        <p:spPr>
          <a:xfrm>
            <a:off x="503237" y="377668"/>
            <a:ext cx="5144029"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ANÁLISIS DE DATOS PARA IDENTIFICAR PATRONES Y TENDENCIAS</a:t>
            </a:r>
            <a:endParaRPr b="0" i="0" sz="1400" u="none" cap="none" strike="noStrike">
              <a:solidFill>
                <a:srgbClr val="000000"/>
              </a:solidFill>
              <a:latin typeface="Arial"/>
              <a:ea typeface="Arial"/>
              <a:cs typeface="Arial"/>
              <a:sym typeface="Arial"/>
            </a:endParaRPr>
          </a:p>
        </p:txBody>
      </p:sp>
      <p:pic>
        <p:nvPicPr>
          <p:cNvPr id="355" name="Google Shape;355;p21"/>
          <p:cNvPicPr preferRelativeResize="0"/>
          <p:nvPr/>
        </p:nvPicPr>
        <p:blipFill rotWithShape="1">
          <a:blip r:embed="rId4">
            <a:alphaModFix/>
          </a:blip>
          <a:srcRect b="0" l="0" r="0" t="0"/>
          <a:stretch/>
        </p:blipFill>
        <p:spPr>
          <a:xfrm>
            <a:off x="4008384" y="1096104"/>
            <a:ext cx="6225396" cy="415514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2"/>
          <p:cNvSpPr txBox="1"/>
          <p:nvPr/>
        </p:nvSpPr>
        <p:spPr>
          <a:xfrm>
            <a:off x="3045544" y="2117621"/>
            <a:ext cx="216854" cy="531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D81B86"/>
              </a:buClr>
              <a:buSzPts val="2400"/>
              <a:buFont typeface="Calibri"/>
              <a:buNone/>
            </a:pPr>
            <a:r>
              <a:t/>
            </a:r>
            <a:endParaRPr b="1" i="0" sz="2400" u="none" cap="none" strike="noStrike">
              <a:solidFill>
                <a:srgbClr val="D81B86"/>
              </a:solidFill>
              <a:latin typeface="Calibri"/>
              <a:ea typeface="Calibri"/>
              <a:cs typeface="Calibri"/>
              <a:sym typeface="Calibri"/>
            </a:endParaRPr>
          </a:p>
        </p:txBody>
      </p:sp>
      <p:sp>
        <p:nvSpPr>
          <p:cNvPr id="362" name="Google Shape;362;p22"/>
          <p:cNvSpPr txBox="1"/>
          <p:nvPr/>
        </p:nvSpPr>
        <p:spPr>
          <a:xfrm>
            <a:off x="6015797" y="2117621"/>
            <a:ext cx="213032" cy="531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9EC907"/>
              </a:buClr>
              <a:buSzPts val="2400"/>
              <a:buFont typeface="Calibri"/>
              <a:buNone/>
            </a:pPr>
            <a:r>
              <a:t/>
            </a:r>
            <a:endParaRPr b="1" i="0" sz="2400" u="none" cap="none" strike="noStrike">
              <a:solidFill>
                <a:srgbClr val="9EC907"/>
              </a:solidFill>
              <a:latin typeface="Calibri"/>
              <a:ea typeface="Calibri"/>
              <a:cs typeface="Calibri"/>
              <a:sym typeface="Calibri"/>
            </a:endParaRPr>
          </a:p>
        </p:txBody>
      </p:sp>
      <p:sp>
        <p:nvSpPr>
          <p:cNvPr id="363" name="Google Shape;363;p22"/>
          <p:cNvSpPr txBox="1"/>
          <p:nvPr/>
        </p:nvSpPr>
        <p:spPr>
          <a:xfrm>
            <a:off x="503237" y="941538"/>
            <a:ext cx="8172447" cy="13080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s-PE" sz="1600" u="none" cap="none" strike="noStrike">
                <a:solidFill>
                  <a:schemeClr val="dk1"/>
                </a:solidFill>
                <a:latin typeface="Calibri"/>
                <a:ea typeface="Calibri"/>
                <a:cs typeface="Calibri"/>
                <a:sym typeface="Calibri"/>
              </a:rPr>
              <a:t>PROCESO DE ANÁLISIS DE DATOS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s-PE" sz="1600" u="none" cap="none" strike="noStrike">
                <a:solidFill>
                  <a:schemeClr val="dk1"/>
                </a:solidFill>
                <a:latin typeface="Calibri"/>
                <a:ea typeface="Calibri"/>
                <a:cs typeface="Calibri"/>
                <a:sym typeface="Calibri"/>
              </a:rPr>
              <a:t>Después de entender claramente el propósito de la encuesta, es importante que el equipo siga estos 7 pasos para poder asegurar que las conclusiones no lleven a algo erróneo.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PE" sz="1600" u="none" cap="none" strike="noStrike">
                <a:solidFill>
                  <a:schemeClr val="dk1"/>
                </a:solidFill>
                <a:latin typeface="Calibri"/>
                <a:ea typeface="Calibri"/>
                <a:cs typeface="Calibri"/>
                <a:sym typeface="Calibri"/>
              </a:rPr>
              <a:t>Para el paso de Modelos analíticos, siempre se va a poder apoyar de softwares de análisis de información como Python, R, PowerBI, Tableau, o el mismo Excel.</a:t>
            </a:r>
            <a:endParaRPr b="0" i="0" sz="1600" u="none" cap="none" strike="noStrike">
              <a:solidFill>
                <a:schemeClr val="dk1"/>
              </a:solidFill>
              <a:latin typeface="Calibri"/>
              <a:ea typeface="Calibri"/>
              <a:cs typeface="Calibri"/>
              <a:sym typeface="Calibri"/>
            </a:endParaRPr>
          </a:p>
        </p:txBody>
      </p:sp>
      <p:sp>
        <p:nvSpPr>
          <p:cNvPr id="364" name="Google Shape;364;p22"/>
          <p:cNvSpPr/>
          <p:nvPr/>
        </p:nvSpPr>
        <p:spPr>
          <a:xfrm>
            <a:off x="503237" y="377668"/>
            <a:ext cx="5144029"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ANÁLISIS DE DATOS PARA IDENTIFICAR PATRONES Y TENDENCIAS</a:t>
            </a:r>
            <a:endParaRPr b="0" i="0" sz="1400" u="none" cap="none" strike="noStrike">
              <a:solidFill>
                <a:srgbClr val="000000"/>
              </a:solidFill>
              <a:latin typeface="Arial"/>
              <a:ea typeface="Arial"/>
              <a:cs typeface="Arial"/>
              <a:sym typeface="Arial"/>
            </a:endParaRPr>
          </a:p>
        </p:txBody>
      </p:sp>
      <p:sp>
        <p:nvSpPr>
          <p:cNvPr id="365" name="Google Shape;365;p22"/>
          <p:cNvSpPr/>
          <p:nvPr/>
        </p:nvSpPr>
        <p:spPr>
          <a:xfrm>
            <a:off x="503238" y="2872751"/>
            <a:ext cx="8172446" cy="2361237"/>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366" name="Google Shape;366;p22"/>
          <p:cNvGrpSpPr/>
          <p:nvPr/>
        </p:nvGrpSpPr>
        <p:grpSpPr>
          <a:xfrm>
            <a:off x="759457" y="3308571"/>
            <a:ext cx="7660005" cy="1513625"/>
            <a:chOff x="755307" y="2869813"/>
            <a:chExt cx="7660005" cy="1513625"/>
          </a:xfrm>
        </p:grpSpPr>
        <p:sp>
          <p:nvSpPr>
            <p:cNvPr id="367" name="Google Shape;367;p22"/>
            <p:cNvSpPr/>
            <p:nvPr/>
          </p:nvSpPr>
          <p:spPr>
            <a:xfrm>
              <a:off x="755307" y="2873604"/>
              <a:ext cx="1001636" cy="595600"/>
            </a:xfrm>
            <a:prstGeom prst="roundRect">
              <a:avLst>
                <a:gd fmla="val 23854" name="adj"/>
              </a:avLst>
            </a:prstGeom>
            <a:solidFill>
              <a:srgbClr val="00B2C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s-PE" sz="1800" u="none" cap="none" strike="noStrike">
                  <a:solidFill>
                    <a:schemeClr val="lt1"/>
                  </a:solidFill>
                  <a:latin typeface="Calibri"/>
                  <a:ea typeface="Calibri"/>
                  <a:cs typeface="Calibri"/>
                  <a:sym typeface="Calibri"/>
                </a:rPr>
                <a:t>1</a:t>
              </a:r>
              <a:endParaRPr/>
            </a:p>
            <a:p>
              <a:pPr indent="0" lvl="0" marL="0" marR="0" rtl="0" algn="ctr">
                <a:lnSpc>
                  <a:spcPct val="101818"/>
                </a:lnSpc>
                <a:spcBef>
                  <a:spcPts val="0"/>
                </a:spcBef>
                <a:spcAft>
                  <a:spcPts val="0"/>
                </a:spcAft>
                <a:buNone/>
              </a:pPr>
              <a:r>
                <a:rPr b="0" i="0" lang="es-PE" sz="1100" u="none" cap="none" strike="noStrike">
                  <a:solidFill>
                    <a:schemeClr val="lt1"/>
                  </a:solidFill>
                  <a:latin typeface="Calibri"/>
                  <a:ea typeface="Calibri"/>
                  <a:cs typeface="Calibri"/>
                  <a:sym typeface="Calibri"/>
                </a:rPr>
                <a:t>Recopilar la información</a:t>
              </a:r>
              <a:endParaRPr b="0" i="0" sz="1100" u="none" cap="none" strike="noStrike">
                <a:solidFill>
                  <a:schemeClr val="lt1"/>
                </a:solidFill>
                <a:latin typeface="Calibri"/>
                <a:ea typeface="Calibri"/>
                <a:cs typeface="Calibri"/>
                <a:sym typeface="Calibri"/>
              </a:endParaRPr>
            </a:p>
          </p:txBody>
        </p:sp>
        <p:sp>
          <p:nvSpPr>
            <p:cNvPr id="368" name="Google Shape;368;p22"/>
            <p:cNvSpPr/>
            <p:nvPr/>
          </p:nvSpPr>
          <p:spPr>
            <a:xfrm>
              <a:off x="1711274" y="3787838"/>
              <a:ext cx="1001636" cy="595600"/>
            </a:xfrm>
            <a:prstGeom prst="roundRect">
              <a:avLst>
                <a:gd fmla="val 23854" name="adj"/>
              </a:avLst>
            </a:prstGeom>
            <a:solidFill>
              <a:srgbClr val="8EC5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s-PE" sz="1800" u="none" cap="none" strike="noStrike">
                  <a:solidFill>
                    <a:schemeClr val="lt1"/>
                  </a:solidFill>
                  <a:latin typeface="Calibri"/>
                  <a:ea typeface="Calibri"/>
                  <a:cs typeface="Calibri"/>
                  <a:sym typeface="Calibri"/>
                </a:rPr>
                <a:t>2</a:t>
              </a:r>
              <a:endParaRPr/>
            </a:p>
            <a:p>
              <a:pPr indent="0" lvl="0" marL="0" marR="0" rtl="0" algn="ctr">
                <a:lnSpc>
                  <a:spcPct val="101818"/>
                </a:lnSpc>
                <a:spcBef>
                  <a:spcPts val="0"/>
                </a:spcBef>
                <a:spcAft>
                  <a:spcPts val="0"/>
                </a:spcAft>
                <a:buNone/>
              </a:pPr>
              <a:r>
                <a:rPr b="0" i="0" lang="es-PE" sz="1100" u="none" cap="none" strike="noStrike">
                  <a:solidFill>
                    <a:schemeClr val="lt1"/>
                  </a:solidFill>
                  <a:latin typeface="Calibri"/>
                  <a:ea typeface="Calibri"/>
                  <a:cs typeface="Calibri"/>
                  <a:sym typeface="Calibri"/>
                </a:rPr>
                <a:t>Exploración de la data</a:t>
              </a:r>
              <a:endParaRPr/>
            </a:p>
          </p:txBody>
        </p:sp>
        <p:sp>
          <p:nvSpPr>
            <p:cNvPr id="369" name="Google Shape;369;p22"/>
            <p:cNvSpPr/>
            <p:nvPr/>
          </p:nvSpPr>
          <p:spPr>
            <a:xfrm>
              <a:off x="2712910" y="2873604"/>
              <a:ext cx="1169407" cy="595600"/>
            </a:xfrm>
            <a:prstGeom prst="roundRect">
              <a:avLst>
                <a:gd fmla="val 23854" name="adj"/>
              </a:avLst>
            </a:prstGeom>
            <a:solidFill>
              <a:srgbClr val="714F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s-PE" sz="1800" u="none" cap="none" strike="noStrike">
                  <a:solidFill>
                    <a:schemeClr val="lt1"/>
                  </a:solidFill>
                  <a:latin typeface="Calibri"/>
                  <a:ea typeface="Calibri"/>
                  <a:cs typeface="Calibri"/>
                  <a:sym typeface="Calibri"/>
                </a:rPr>
                <a:t>3</a:t>
              </a:r>
              <a:endParaRPr/>
            </a:p>
            <a:p>
              <a:pPr indent="0" lvl="0" marL="0" marR="0" rtl="0" algn="ctr">
                <a:lnSpc>
                  <a:spcPct val="101818"/>
                </a:lnSpc>
                <a:spcBef>
                  <a:spcPts val="0"/>
                </a:spcBef>
                <a:spcAft>
                  <a:spcPts val="0"/>
                </a:spcAft>
                <a:buClr>
                  <a:srgbClr val="000000"/>
                </a:buClr>
                <a:buSzPts val="1100"/>
                <a:buFont typeface="Arial"/>
                <a:buNone/>
              </a:pPr>
              <a:r>
                <a:rPr b="0" i="0" lang="es-PE" sz="1100" u="none" cap="none" strike="noStrike">
                  <a:solidFill>
                    <a:schemeClr val="lt1"/>
                  </a:solidFill>
                  <a:latin typeface="Calibri"/>
                  <a:ea typeface="Calibri"/>
                  <a:cs typeface="Calibri"/>
                  <a:sym typeface="Calibri"/>
                </a:rPr>
                <a:t>Limpieza y procesamiento</a:t>
              </a:r>
              <a:endParaRPr/>
            </a:p>
          </p:txBody>
        </p:sp>
        <p:sp>
          <p:nvSpPr>
            <p:cNvPr id="370" name="Google Shape;370;p22"/>
            <p:cNvSpPr/>
            <p:nvPr/>
          </p:nvSpPr>
          <p:spPr>
            <a:xfrm>
              <a:off x="3973012" y="3787838"/>
              <a:ext cx="1169407" cy="595600"/>
            </a:xfrm>
            <a:prstGeom prst="roundRect">
              <a:avLst>
                <a:gd fmla="val 23854" name="adj"/>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s-PE" sz="1800" u="none" cap="none" strike="noStrike">
                  <a:solidFill>
                    <a:schemeClr val="lt1"/>
                  </a:solidFill>
                  <a:latin typeface="Calibri"/>
                  <a:ea typeface="Calibri"/>
                  <a:cs typeface="Calibri"/>
                  <a:sym typeface="Calibri"/>
                </a:rPr>
                <a:t>4</a:t>
              </a:r>
              <a:endParaRPr/>
            </a:p>
            <a:p>
              <a:pPr indent="0" lvl="0" marL="0" marR="0" rtl="0" algn="ctr">
                <a:lnSpc>
                  <a:spcPct val="101818"/>
                </a:lnSpc>
                <a:spcBef>
                  <a:spcPts val="0"/>
                </a:spcBef>
                <a:spcAft>
                  <a:spcPts val="0"/>
                </a:spcAft>
                <a:buNone/>
              </a:pPr>
              <a:r>
                <a:rPr b="0" i="0" lang="es-PE" sz="1100" u="none" cap="none" strike="noStrike">
                  <a:solidFill>
                    <a:schemeClr val="lt1"/>
                  </a:solidFill>
                  <a:latin typeface="Calibri"/>
                  <a:ea typeface="Calibri"/>
                  <a:cs typeface="Calibri"/>
                  <a:sym typeface="Calibri"/>
                </a:rPr>
                <a:t>Análisis exploratorio</a:t>
              </a:r>
              <a:endParaRPr/>
            </a:p>
          </p:txBody>
        </p:sp>
        <p:sp>
          <p:nvSpPr>
            <p:cNvPr id="371" name="Google Shape;371;p22"/>
            <p:cNvSpPr/>
            <p:nvPr/>
          </p:nvSpPr>
          <p:spPr>
            <a:xfrm>
              <a:off x="5128705" y="2869813"/>
              <a:ext cx="1062891" cy="595600"/>
            </a:xfrm>
            <a:prstGeom prst="roundRect">
              <a:avLst>
                <a:gd fmla="val 23854" name="adj"/>
              </a:avLst>
            </a:prstGeom>
            <a:solidFill>
              <a:srgbClr val="FF782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s-PE" sz="1800" u="none" cap="none" strike="noStrike">
                  <a:solidFill>
                    <a:schemeClr val="lt1"/>
                  </a:solidFill>
                  <a:latin typeface="Calibri"/>
                  <a:ea typeface="Calibri"/>
                  <a:cs typeface="Calibri"/>
                  <a:sym typeface="Calibri"/>
                </a:rPr>
                <a:t>5</a:t>
              </a:r>
              <a:endParaRPr/>
            </a:p>
            <a:p>
              <a:pPr indent="0" lvl="0" marL="0" marR="0" rtl="0" algn="ctr">
                <a:lnSpc>
                  <a:spcPct val="101818"/>
                </a:lnSpc>
                <a:spcBef>
                  <a:spcPts val="0"/>
                </a:spcBef>
                <a:spcAft>
                  <a:spcPts val="0"/>
                </a:spcAft>
                <a:buClr>
                  <a:srgbClr val="000000"/>
                </a:buClr>
                <a:buSzPts val="1100"/>
                <a:buFont typeface="Arial"/>
                <a:buNone/>
              </a:pPr>
              <a:r>
                <a:rPr b="0" i="0" lang="es-PE" sz="1100" u="none" cap="none" strike="noStrike">
                  <a:solidFill>
                    <a:schemeClr val="lt1"/>
                  </a:solidFill>
                  <a:latin typeface="Calibri"/>
                  <a:ea typeface="Calibri"/>
                  <a:cs typeface="Calibri"/>
                  <a:sym typeface="Calibri"/>
                </a:rPr>
                <a:t>Modelos analíticos</a:t>
              </a:r>
              <a:endParaRPr b="0" i="0" sz="1100" u="none" cap="none" strike="noStrike">
                <a:solidFill>
                  <a:schemeClr val="lt1"/>
                </a:solidFill>
                <a:latin typeface="Calibri"/>
                <a:ea typeface="Calibri"/>
                <a:cs typeface="Calibri"/>
                <a:sym typeface="Calibri"/>
              </a:endParaRPr>
            </a:p>
          </p:txBody>
        </p:sp>
        <p:sp>
          <p:nvSpPr>
            <p:cNvPr id="372" name="Google Shape;372;p22"/>
            <p:cNvSpPr/>
            <p:nvPr/>
          </p:nvSpPr>
          <p:spPr>
            <a:xfrm>
              <a:off x="6166268" y="3787838"/>
              <a:ext cx="1169407" cy="595600"/>
            </a:xfrm>
            <a:prstGeom prst="roundRect">
              <a:avLst>
                <a:gd fmla="val 23854" name="adj"/>
              </a:avLst>
            </a:prstGeom>
            <a:solidFill>
              <a:srgbClr val="EF46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s-PE" sz="1800" u="none" cap="none" strike="noStrike">
                  <a:solidFill>
                    <a:schemeClr val="lt1"/>
                  </a:solidFill>
                  <a:latin typeface="Calibri"/>
                  <a:ea typeface="Calibri"/>
                  <a:cs typeface="Calibri"/>
                  <a:sym typeface="Calibri"/>
                </a:rPr>
                <a:t>6</a:t>
              </a:r>
              <a:endParaRPr/>
            </a:p>
            <a:p>
              <a:pPr indent="0" lvl="0" marL="0" marR="0" rtl="0" algn="ctr">
                <a:lnSpc>
                  <a:spcPct val="101818"/>
                </a:lnSpc>
                <a:spcBef>
                  <a:spcPts val="0"/>
                </a:spcBef>
                <a:spcAft>
                  <a:spcPts val="0"/>
                </a:spcAft>
                <a:buNone/>
              </a:pPr>
              <a:r>
                <a:rPr b="0" i="0" lang="es-PE" sz="1100" u="none" cap="none" strike="noStrike">
                  <a:solidFill>
                    <a:schemeClr val="lt1"/>
                  </a:solidFill>
                  <a:latin typeface="Calibri"/>
                  <a:ea typeface="Calibri"/>
                  <a:cs typeface="Calibri"/>
                  <a:sym typeface="Calibri"/>
                </a:rPr>
                <a:t>Interpretación</a:t>
              </a:r>
              <a:endParaRPr b="0" i="0" sz="1100" u="none" cap="none" strike="noStrike">
                <a:solidFill>
                  <a:schemeClr val="lt1"/>
                </a:solidFill>
                <a:latin typeface="Calibri"/>
                <a:ea typeface="Calibri"/>
                <a:cs typeface="Calibri"/>
                <a:sym typeface="Calibri"/>
              </a:endParaRPr>
            </a:p>
          </p:txBody>
        </p:sp>
        <p:sp>
          <p:nvSpPr>
            <p:cNvPr id="373" name="Google Shape;373;p22"/>
            <p:cNvSpPr/>
            <p:nvPr/>
          </p:nvSpPr>
          <p:spPr>
            <a:xfrm>
              <a:off x="7245905" y="2869813"/>
              <a:ext cx="1169407" cy="595600"/>
            </a:xfrm>
            <a:prstGeom prst="roundRect">
              <a:avLst>
                <a:gd fmla="val 23854" name="adj"/>
              </a:avLst>
            </a:prstGeom>
            <a:solidFill>
              <a:srgbClr val="FEC21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s-PE" sz="1800" u="none" cap="none" strike="noStrike">
                  <a:solidFill>
                    <a:schemeClr val="lt1"/>
                  </a:solidFill>
                  <a:latin typeface="Calibri"/>
                  <a:ea typeface="Calibri"/>
                  <a:cs typeface="Calibri"/>
                  <a:sym typeface="Calibri"/>
                </a:rPr>
                <a:t>7</a:t>
              </a:r>
              <a:endParaRPr/>
            </a:p>
            <a:p>
              <a:pPr indent="0" lvl="0" marL="0" marR="0" rtl="0" algn="ctr">
                <a:lnSpc>
                  <a:spcPct val="100000"/>
                </a:lnSpc>
                <a:spcBef>
                  <a:spcPts val="0"/>
                </a:spcBef>
                <a:spcAft>
                  <a:spcPts val="0"/>
                </a:spcAft>
                <a:buClr>
                  <a:srgbClr val="000000"/>
                </a:buClr>
                <a:buSzPts val="1100"/>
                <a:buFont typeface="Arial"/>
                <a:buNone/>
              </a:pPr>
              <a:r>
                <a:rPr b="0" i="0" lang="es-PE" sz="1100" u="none" cap="none" strike="noStrike">
                  <a:solidFill>
                    <a:schemeClr val="lt1"/>
                  </a:solidFill>
                  <a:latin typeface="Calibri"/>
                  <a:ea typeface="Calibri"/>
                  <a:cs typeface="Calibri"/>
                  <a:sym typeface="Calibri"/>
                </a:rPr>
                <a:t>Documentación</a:t>
              </a:r>
              <a:endParaRPr b="0" i="0" sz="1100" u="none" cap="none" strike="noStrike">
                <a:solidFill>
                  <a:schemeClr val="lt1"/>
                </a:solidFill>
                <a:latin typeface="Calibri"/>
                <a:ea typeface="Calibri"/>
                <a:cs typeface="Calibri"/>
                <a:sym typeface="Calibri"/>
              </a:endParaRPr>
            </a:p>
          </p:txBody>
        </p:sp>
        <p:grpSp>
          <p:nvGrpSpPr>
            <p:cNvPr id="374" name="Google Shape;374;p22"/>
            <p:cNvGrpSpPr/>
            <p:nvPr/>
          </p:nvGrpSpPr>
          <p:grpSpPr>
            <a:xfrm>
              <a:off x="1236522" y="3465414"/>
              <a:ext cx="387149" cy="646066"/>
              <a:chOff x="1086051" y="3465414"/>
              <a:chExt cx="387149" cy="646066"/>
            </a:xfrm>
          </p:grpSpPr>
          <p:cxnSp>
            <p:nvCxnSpPr>
              <p:cNvPr id="375" name="Google Shape;375;p22"/>
              <p:cNvCxnSpPr/>
              <p:nvPr/>
            </p:nvCxnSpPr>
            <p:spPr>
              <a:xfrm>
                <a:off x="1086051" y="4111480"/>
                <a:ext cx="387149" cy="0"/>
              </a:xfrm>
              <a:prstGeom prst="straightConnector1">
                <a:avLst/>
              </a:prstGeom>
              <a:noFill/>
              <a:ln cap="flat" cmpd="sng" w="19050">
                <a:solidFill>
                  <a:srgbClr val="7F7F7F"/>
                </a:solidFill>
                <a:prstDash val="solid"/>
                <a:round/>
                <a:headEnd len="sm" w="sm" type="none"/>
                <a:tailEnd len="med" w="med" type="triangle"/>
              </a:ln>
            </p:spPr>
          </p:cxnSp>
          <p:cxnSp>
            <p:nvCxnSpPr>
              <p:cNvPr id="376" name="Google Shape;376;p22"/>
              <p:cNvCxnSpPr/>
              <p:nvPr/>
            </p:nvCxnSpPr>
            <p:spPr>
              <a:xfrm rot="10800000">
                <a:off x="1095846" y="3465414"/>
                <a:ext cx="0" cy="646066"/>
              </a:xfrm>
              <a:prstGeom prst="straightConnector1">
                <a:avLst/>
              </a:prstGeom>
              <a:noFill/>
              <a:ln cap="flat" cmpd="sng" w="19050">
                <a:solidFill>
                  <a:srgbClr val="949494"/>
                </a:solidFill>
                <a:prstDash val="solid"/>
                <a:round/>
                <a:headEnd len="sm" w="sm" type="none"/>
                <a:tailEnd len="sm" w="sm" type="none"/>
              </a:ln>
            </p:spPr>
          </p:cxnSp>
        </p:grpSp>
        <p:grpSp>
          <p:nvGrpSpPr>
            <p:cNvPr id="377" name="Google Shape;377;p22"/>
            <p:cNvGrpSpPr/>
            <p:nvPr/>
          </p:nvGrpSpPr>
          <p:grpSpPr>
            <a:xfrm flipH="1" rot="10800000">
              <a:off x="2156701" y="3141772"/>
              <a:ext cx="531226" cy="646066"/>
              <a:chOff x="1086051" y="3465414"/>
              <a:chExt cx="387149" cy="646066"/>
            </a:xfrm>
          </p:grpSpPr>
          <p:cxnSp>
            <p:nvCxnSpPr>
              <p:cNvPr id="378" name="Google Shape;378;p22"/>
              <p:cNvCxnSpPr/>
              <p:nvPr/>
            </p:nvCxnSpPr>
            <p:spPr>
              <a:xfrm>
                <a:off x="1086051" y="4111480"/>
                <a:ext cx="387149" cy="0"/>
              </a:xfrm>
              <a:prstGeom prst="straightConnector1">
                <a:avLst/>
              </a:prstGeom>
              <a:noFill/>
              <a:ln cap="flat" cmpd="sng" w="19050">
                <a:solidFill>
                  <a:srgbClr val="7F7F7F"/>
                </a:solidFill>
                <a:prstDash val="solid"/>
                <a:round/>
                <a:headEnd len="sm" w="sm" type="none"/>
                <a:tailEnd len="med" w="med" type="triangle"/>
              </a:ln>
            </p:spPr>
          </p:cxnSp>
          <p:cxnSp>
            <p:nvCxnSpPr>
              <p:cNvPr id="379" name="Google Shape;379;p22"/>
              <p:cNvCxnSpPr/>
              <p:nvPr/>
            </p:nvCxnSpPr>
            <p:spPr>
              <a:xfrm rot="10800000">
                <a:off x="1095846" y="3465414"/>
                <a:ext cx="0" cy="646066"/>
              </a:xfrm>
              <a:prstGeom prst="straightConnector1">
                <a:avLst/>
              </a:prstGeom>
              <a:noFill/>
              <a:ln cap="flat" cmpd="sng" w="19050">
                <a:solidFill>
                  <a:srgbClr val="949494"/>
                </a:solidFill>
                <a:prstDash val="solid"/>
                <a:round/>
                <a:headEnd len="sm" w="sm" type="none"/>
                <a:tailEnd len="sm" w="sm" type="none"/>
              </a:ln>
            </p:spPr>
          </p:cxnSp>
        </p:grpSp>
        <p:grpSp>
          <p:nvGrpSpPr>
            <p:cNvPr id="380" name="Google Shape;380;p22"/>
            <p:cNvGrpSpPr/>
            <p:nvPr/>
          </p:nvGrpSpPr>
          <p:grpSpPr>
            <a:xfrm>
              <a:off x="3270927" y="3465414"/>
              <a:ext cx="600021" cy="646066"/>
              <a:chOff x="1086051" y="3465414"/>
              <a:chExt cx="387149" cy="646066"/>
            </a:xfrm>
          </p:grpSpPr>
          <p:cxnSp>
            <p:nvCxnSpPr>
              <p:cNvPr id="381" name="Google Shape;381;p22"/>
              <p:cNvCxnSpPr/>
              <p:nvPr/>
            </p:nvCxnSpPr>
            <p:spPr>
              <a:xfrm>
                <a:off x="1086051" y="4111480"/>
                <a:ext cx="387149" cy="0"/>
              </a:xfrm>
              <a:prstGeom prst="straightConnector1">
                <a:avLst/>
              </a:prstGeom>
              <a:noFill/>
              <a:ln cap="flat" cmpd="sng" w="19050">
                <a:solidFill>
                  <a:srgbClr val="7F7F7F"/>
                </a:solidFill>
                <a:prstDash val="solid"/>
                <a:round/>
                <a:headEnd len="sm" w="sm" type="none"/>
                <a:tailEnd len="med" w="med" type="triangle"/>
              </a:ln>
            </p:spPr>
          </p:cxnSp>
          <p:cxnSp>
            <p:nvCxnSpPr>
              <p:cNvPr id="382" name="Google Shape;382;p22"/>
              <p:cNvCxnSpPr/>
              <p:nvPr/>
            </p:nvCxnSpPr>
            <p:spPr>
              <a:xfrm rot="10800000">
                <a:off x="1095846" y="3465414"/>
                <a:ext cx="0" cy="646066"/>
              </a:xfrm>
              <a:prstGeom prst="straightConnector1">
                <a:avLst/>
              </a:prstGeom>
              <a:noFill/>
              <a:ln cap="flat" cmpd="sng" w="19050">
                <a:solidFill>
                  <a:srgbClr val="949494"/>
                </a:solidFill>
                <a:prstDash val="solid"/>
                <a:round/>
                <a:headEnd len="sm" w="sm" type="none"/>
                <a:tailEnd len="sm" w="sm" type="none"/>
              </a:ln>
            </p:spPr>
          </p:cxnSp>
        </p:grpSp>
        <p:grpSp>
          <p:nvGrpSpPr>
            <p:cNvPr id="383" name="Google Shape;383;p22"/>
            <p:cNvGrpSpPr/>
            <p:nvPr/>
          </p:nvGrpSpPr>
          <p:grpSpPr>
            <a:xfrm>
              <a:off x="5580426" y="3465414"/>
              <a:ext cx="535638" cy="646066"/>
              <a:chOff x="1086051" y="3465414"/>
              <a:chExt cx="387149" cy="646066"/>
            </a:xfrm>
          </p:grpSpPr>
          <p:cxnSp>
            <p:nvCxnSpPr>
              <p:cNvPr id="384" name="Google Shape;384;p22"/>
              <p:cNvCxnSpPr/>
              <p:nvPr/>
            </p:nvCxnSpPr>
            <p:spPr>
              <a:xfrm>
                <a:off x="1086051" y="4111480"/>
                <a:ext cx="387149" cy="0"/>
              </a:xfrm>
              <a:prstGeom prst="straightConnector1">
                <a:avLst/>
              </a:prstGeom>
              <a:noFill/>
              <a:ln cap="flat" cmpd="sng" w="19050">
                <a:solidFill>
                  <a:srgbClr val="7F7F7F"/>
                </a:solidFill>
                <a:prstDash val="solid"/>
                <a:round/>
                <a:headEnd len="sm" w="sm" type="none"/>
                <a:tailEnd len="med" w="med" type="triangle"/>
              </a:ln>
            </p:spPr>
          </p:cxnSp>
          <p:cxnSp>
            <p:nvCxnSpPr>
              <p:cNvPr id="385" name="Google Shape;385;p22"/>
              <p:cNvCxnSpPr/>
              <p:nvPr/>
            </p:nvCxnSpPr>
            <p:spPr>
              <a:xfrm rot="10800000">
                <a:off x="1095846" y="3465414"/>
                <a:ext cx="0" cy="646066"/>
              </a:xfrm>
              <a:prstGeom prst="straightConnector1">
                <a:avLst/>
              </a:prstGeom>
              <a:noFill/>
              <a:ln cap="flat" cmpd="sng" w="19050">
                <a:solidFill>
                  <a:srgbClr val="949494"/>
                </a:solidFill>
                <a:prstDash val="solid"/>
                <a:round/>
                <a:headEnd len="sm" w="sm" type="none"/>
                <a:tailEnd len="sm" w="sm" type="none"/>
              </a:ln>
            </p:spPr>
          </p:cxnSp>
        </p:grpSp>
        <p:grpSp>
          <p:nvGrpSpPr>
            <p:cNvPr id="386" name="Google Shape;386;p22"/>
            <p:cNvGrpSpPr/>
            <p:nvPr/>
          </p:nvGrpSpPr>
          <p:grpSpPr>
            <a:xfrm flipH="1" rot="10800000">
              <a:off x="4445406" y="3141772"/>
              <a:ext cx="531226" cy="646066"/>
              <a:chOff x="1086051" y="3465414"/>
              <a:chExt cx="387149" cy="646066"/>
            </a:xfrm>
          </p:grpSpPr>
          <p:cxnSp>
            <p:nvCxnSpPr>
              <p:cNvPr id="387" name="Google Shape;387;p22"/>
              <p:cNvCxnSpPr/>
              <p:nvPr/>
            </p:nvCxnSpPr>
            <p:spPr>
              <a:xfrm>
                <a:off x="1086051" y="4111480"/>
                <a:ext cx="387149" cy="0"/>
              </a:xfrm>
              <a:prstGeom prst="straightConnector1">
                <a:avLst/>
              </a:prstGeom>
              <a:noFill/>
              <a:ln cap="flat" cmpd="sng" w="19050">
                <a:solidFill>
                  <a:srgbClr val="7F7F7F"/>
                </a:solidFill>
                <a:prstDash val="solid"/>
                <a:round/>
                <a:headEnd len="sm" w="sm" type="none"/>
                <a:tailEnd len="med" w="med" type="triangle"/>
              </a:ln>
            </p:spPr>
          </p:cxnSp>
          <p:cxnSp>
            <p:nvCxnSpPr>
              <p:cNvPr id="388" name="Google Shape;388;p22"/>
              <p:cNvCxnSpPr/>
              <p:nvPr/>
            </p:nvCxnSpPr>
            <p:spPr>
              <a:xfrm rot="10800000">
                <a:off x="1095846" y="3465414"/>
                <a:ext cx="0" cy="646066"/>
              </a:xfrm>
              <a:prstGeom prst="straightConnector1">
                <a:avLst/>
              </a:prstGeom>
              <a:noFill/>
              <a:ln cap="flat" cmpd="sng" w="19050">
                <a:solidFill>
                  <a:srgbClr val="949494"/>
                </a:solidFill>
                <a:prstDash val="solid"/>
                <a:round/>
                <a:headEnd len="sm" w="sm" type="none"/>
                <a:tailEnd len="sm" w="sm" type="none"/>
              </a:ln>
            </p:spPr>
          </p:cxnSp>
        </p:grpSp>
        <p:grpSp>
          <p:nvGrpSpPr>
            <p:cNvPr id="389" name="Google Shape;389;p22"/>
            <p:cNvGrpSpPr/>
            <p:nvPr/>
          </p:nvGrpSpPr>
          <p:grpSpPr>
            <a:xfrm flipH="1" rot="10800000">
              <a:off x="6614270" y="3141772"/>
              <a:ext cx="531226" cy="646066"/>
              <a:chOff x="1086051" y="3465414"/>
              <a:chExt cx="387149" cy="646066"/>
            </a:xfrm>
          </p:grpSpPr>
          <p:cxnSp>
            <p:nvCxnSpPr>
              <p:cNvPr id="390" name="Google Shape;390;p22"/>
              <p:cNvCxnSpPr/>
              <p:nvPr/>
            </p:nvCxnSpPr>
            <p:spPr>
              <a:xfrm>
                <a:off x="1086051" y="4111480"/>
                <a:ext cx="387149" cy="0"/>
              </a:xfrm>
              <a:prstGeom prst="straightConnector1">
                <a:avLst/>
              </a:prstGeom>
              <a:noFill/>
              <a:ln cap="flat" cmpd="sng" w="19050">
                <a:solidFill>
                  <a:srgbClr val="7F7F7F"/>
                </a:solidFill>
                <a:prstDash val="solid"/>
                <a:round/>
                <a:headEnd len="sm" w="sm" type="none"/>
                <a:tailEnd len="med" w="med" type="triangle"/>
              </a:ln>
            </p:spPr>
          </p:cxnSp>
          <p:cxnSp>
            <p:nvCxnSpPr>
              <p:cNvPr id="391" name="Google Shape;391;p22"/>
              <p:cNvCxnSpPr/>
              <p:nvPr/>
            </p:nvCxnSpPr>
            <p:spPr>
              <a:xfrm rot="10800000">
                <a:off x="1095846" y="3465414"/>
                <a:ext cx="0" cy="646066"/>
              </a:xfrm>
              <a:prstGeom prst="straightConnector1">
                <a:avLst/>
              </a:prstGeom>
              <a:noFill/>
              <a:ln cap="flat" cmpd="sng" w="19050">
                <a:solidFill>
                  <a:srgbClr val="949494"/>
                </a:solidFill>
                <a:prstDash val="solid"/>
                <a:round/>
                <a:headEnd len="sm" w="sm" type="none"/>
                <a:tailEnd len="sm" w="sm" type="none"/>
              </a:ln>
            </p:spPr>
          </p:cxn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61"/>
                                        </p:tgtEl>
                                        <p:attrNameLst>
                                          <p:attrName>style.visibility</p:attrName>
                                        </p:attrNameLst>
                                      </p:cBhvr>
                                      <p:to>
                                        <p:strVal val="visible"/>
                                      </p:to>
                                    </p:set>
                                    <p:animEffect filter="fade" transition="in">
                                      <p:cBhvr>
                                        <p:cTn dur="500"/>
                                        <p:tgtEl>
                                          <p:spTgt spid="361"/>
                                        </p:tgtEl>
                                      </p:cBhvr>
                                    </p:animEffect>
                                  </p:childTnLst>
                                </p:cTn>
                              </p:par>
                              <p:par>
                                <p:cTn fill="hold" nodeType="withEffect" presetClass="entr" presetID="10" presetSubtype="0">
                                  <p:stCondLst>
                                    <p:cond delay="0"/>
                                  </p:stCondLst>
                                  <p:childTnLst>
                                    <p:set>
                                      <p:cBhvr>
                                        <p:cTn dur="1" fill="hold">
                                          <p:stCondLst>
                                            <p:cond delay="0"/>
                                          </p:stCondLst>
                                        </p:cTn>
                                        <p:tgtEl>
                                          <p:spTgt spid="362"/>
                                        </p:tgtEl>
                                        <p:attrNameLst>
                                          <p:attrName>style.visibility</p:attrName>
                                        </p:attrNameLst>
                                      </p:cBhvr>
                                      <p:to>
                                        <p:strVal val="visible"/>
                                      </p:to>
                                    </p:set>
                                    <p:animEffect filter="fade" transition="in">
                                      <p:cBhvr>
                                        <p:cTn dur="500"/>
                                        <p:tgtEl>
                                          <p:spTgt spid="3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23"/>
          <p:cNvSpPr txBox="1"/>
          <p:nvPr/>
        </p:nvSpPr>
        <p:spPr>
          <a:xfrm>
            <a:off x="4754567" y="961101"/>
            <a:ext cx="3897000" cy="4017300"/>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rgbClr val="262626"/>
                </a:solidFill>
                <a:latin typeface="Calibri"/>
                <a:ea typeface="Calibri"/>
                <a:cs typeface="Calibri"/>
                <a:sym typeface="Calibri"/>
              </a:rPr>
              <a:t>CATEGORIZACIÓN DE INFORMACIÓN</a:t>
            </a:r>
            <a:endParaRPr b="0" i="0" sz="1400" u="none" cap="none" strike="noStrike">
              <a:solidFill>
                <a:srgbClr val="000000"/>
              </a:solidFill>
              <a:latin typeface="Arial"/>
              <a:ea typeface="Arial"/>
              <a:cs typeface="Arial"/>
              <a:sym typeface="Arial"/>
            </a:endParaRPr>
          </a:p>
          <a:p>
            <a:pPr indent="-184150" lvl="0" marL="184150" marR="0" rtl="0" algn="l">
              <a:lnSpc>
                <a:spcPct val="100000"/>
              </a:lnSpc>
              <a:spcBef>
                <a:spcPts val="600"/>
              </a:spcBef>
              <a:spcAft>
                <a:spcPts val="0"/>
              </a:spcAft>
              <a:buClr>
                <a:srgbClr val="000000"/>
              </a:buClr>
              <a:buSzPts val="1600"/>
              <a:buFont typeface="Arial"/>
              <a:buChar char="•"/>
            </a:pPr>
            <a:r>
              <a:rPr b="0" i="0" lang="es-PE" sz="1600" u="none" cap="none" strike="noStrike">
                <a:solidFill>
                  <a:srgbClr val="262626"/>
                </a:solidFill>
                <a:latin typeface="Calibri"/>
                <a:ea typeface="Calibri"/>
                <a:cs typeface="Calibri"/>
                <a:sym typeface="Calibri"/>
              </a:rPr>
              <a:t>Sea cuantitativ</a:t>
            </a:r>
            <a:r>
              <a:rPr lang="es-PE" sz="1600">
                <a:solidFill>
                  <a:srgbClr val="262626"/>
                </a:solidFill>
                <a:latin typeface="Calibri"/>
                <a:ea typeface="Calibri"/>
                <a:cs typeface="Calibri"/>
                <a:sym typeface="Calibri"/>
              </a:rPr>
              <a:t>o</a:t>
            </a:r>
            <a:r>
              <a:rPr b="0" i="0" lang="es-PE" sz="1600" u="none" cap="none" strike="noStrike">
                <a:solidFill>
                  <a:srgbClr val="262626"/>
                </a:solidFill>
                <a:latin typeface="Calibri"/>
                <a:ea typeface="Calibri"/>
                <a:cs typeface="Calibri"/>
                <a:sym typeface="Calibri"/>
              </a:rPr>
              <a:t> o cualitativo el análisis, siempre se va a poder llegar a encontrar “clústeres” o categorías que permitan entender con mayor detalle un aspecto a evaluar.</a:t>
            </a:r>
            <a:endParaRPr b="0" i="0" sz="1400" u="none" cap="none" strike="noStrike">
              <a:solidFill>
                <a:srgbClr val="000000"/>
              </a:solidFill>
              <a:latin typeface="Arial"/>
              <a:ea typeface="Arial"/>
              <a:cs typeface="Arial"/>
              <a:sym typeface="Arial"/>
            </a:endParaRPr>
          </a:p>
          <a:p>
            <a:pPr indent="-82550" lvl="0" marL="18415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62626"/>
              </a:solidFill>
              <a:latin typeface="Calibri"/>
              <a:ea typeface="Calibri"/>
              <a:cs typeface="Calibri"/>
              <a:sym typeface="Calibri"/>
            </a:endParaRPr>
          </a:p>
          <a:p>
            <a:pPr indent="-184150" lvl="0" marL="184150" marR="0" rtl="0" algn="l">
              <a:lnSpc>
                <a:spcPct val="100000"/>
              </a:lnSpc>
              <a:spcBef>
                <a:spcPts val="0"/>
              </a:spcBef>
              <a:spcAft>
                <a:spcPts val="0"/>
              </a:spcAft>
              <a:buClr>
                <a:srgbClr val="000000"/>
              </a:buClr>
              <a:buSzPts val="1600"/>
              <a:buFont typeface="Arial"/>
              <a:buChar char="•"/>
            </a:pPr>
            <a:r>
              <a:rPr b="0" i="0" lang="es-PE" sz="1600" u="none" cap="none" strike="noStrike">
                <a:solidFill>
                  <a:srgbClr val="262626"/>
                </a:solidFill>
                <a:latin typeface="Calibri"/>
                <a:ea typeface="Calibri"/>
                <a:cs typeface="Calibri"/>
                <a:sym typeface="Calibri"/>
              </a:rPr>
              <a:t>Para lo cuantitativo, siempre será más “científico” u objetivo el método, mientras que para el cualitativo requerirá de mucho expertis para realizarse.</a:t>
            </a:r>
            <a:endParaRPr b="0" i="0" sz="1400" u="none" cap="none" strike="noStrike">
              <a:solidFill>
                <a:srgbClr val="000000"/>
              </a:solidFill>
              <a:latin typeface="Arial"/>
              <a:ea typeface="Arial"/>
              <a:cs typeface="Arial"/>
              <a:sym typeface="Arial"/>
            </a:endParaRPr>
          </a:p>
          <a:p>
            <a:pPr indent="0" lvl="0" marL="11725"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62626"/>
              </a:solidFill>
              <a:latin typeface="Calibri"/>
              <a:ea typeface="Calibri"/>
              <a:cs typeface="Calibri"/>
              <a:sym typeface="Calibri"/>
            </a:endParaRPr>
          </a:p>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rgbClr val="262626"/>
                </a:solidFill>
                <a:latin typeface="Calibri"/>
                <a:ea typeface="Calibri"/>
                <a:cs typeface="Calibri"/>
                <a:sym typeface="Calibri"/>
              </a:rPr>
              <a:t>Recomendación</a:t>
            </a:r>
            <a:r>
              <a:rPr b="0" i="0" lang="es-PE" sz="1600" u="none" cap="none" strike="noStrike">
                <a:solidFill>
                  <a:srgbClr val="262626"/>
                </a:solidFill>
                <a:latin typeface="Calibri"/>
                <a:ea typeface="Calibri"/>
                <a:cs typeface="Calibri"/>
                <a:sym typeface="Calibri"/>
              </a:rPr>
              <a:t>: Enviar la imagen a procesamiento a través de Chat GPT o utilizar los plugins de análisis de información de herramientas como Fig Jam / Miro.</a:t>
            </a:r>
            <a:endParaRPr b="0" i="0" sz="1400" u="none" cap="none" strike="noStrike">
              <a:solidFill>
                <a:srgbClr val="000000"/>
              </a:solidFill>
              <a:latin typeface="Arial"/>
              <a:ea typeface="Arial"/>
              <a:cs typeface="Arial"/>
              <a:sym typeface="Arial"/>
            </a:endParaRPr>
          </a:p>
        </p:txBody>
      </p:sp>
      <p:pic>
        <p:nvPicPr>
          <p:cNvPr id="398" name="Google Shape;398;p23"/>
          <p:cNvPicPr preferRelativeResize="0"/>
          <p:nvPr/>
        </p:nvPicPr>
        <p:blipFill rotWithShape="1">
          <a:blip r:embed="rId3">
            <a:alphaModFix/>
          </a:blip>
          <a:srcRect b="0" l="0" r="0" t="0"/>
          <a:stretch/>
        </p:blipFill>
        <p:spPr>
          <a:xfrm>
            <a:off x="700089" y="3297122"/>
            <a:ext cx="3689346" cy="1812789"/>
          </a:xfrm>
          <a:prstGeom prst="rect">
            <a:avLst/>
          </a:prstGeom>
          <a:noFill/>
          <a:ln>
            <a:noFill/>
          </a:ln>
        </p:spPr>
      </p:pic>
      <p:pic>
        <p:nvPicPr>
          <p:cNvPr descr="Clustering in Machine Learning - GeeksforGeeks" id="399" name="Google Shape;399;p23"/>
          <p:cNvPicPr preferRelativeResize="0"/>
          <p:nvPr/>
        </p:nvPicPr>
        <p:blipFill rotWithShape="1">
          <a:blip r:embed="rId4">
            <a:alphaModFix/>
          </a:blip>
          <a:srcRect b="0" l="0" r="0" t="0"/>
          <a:stretch/>
        </p:blipFill>
        <p:spPr>
          <a:xfrm>
            <a:off x="449569" y="1019354"/>
            <a:ext cx="3900180" cy="1497582"/>
          </a:xfrm>
          <a:prstGeom prst="rect">
            <a:avLst/>
          </a:prstGeom>
          <a:noFill/>
          <a:ln>
            <a:noFill/>
          </a:ln>
        </p:spPr>
      </p:pic>
      <p:sp>
        <p:nvSpPr>
          <p:cNvPr id="400" name="Google Shape;400;p23"/>
          <p:cNvSpPr/>
          <p:nvPr/>
        </p:nvSpPr>
        <p:spPr>
          <a:xfrm>
            <a:off x="503237" y="377668"/>
            <a:ext cx="5144029"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ANÁLISIS DE DATOS PARA IDENTIFICAR PATRONES Y TENDENCIAS</a:t>
            </a:r>
            <a:endParaRPr b="0" i="0" sz="1400" u="none" cap="none" strike="noStrike">
              <a:solidFill>
                <a:srgbClr val="000000"/>
              </a:solidFill>
              <a:latin typeface="Arial"/>
              <a:ea typeface="Arial"/>
              <a:cs typeface="Arial"/>
              <a:sym typeface="Arial"/>
            </a:endParaRPr>
          </a:p>
        </p:txBody>
      </p:sp>
      <p:pic>
        <p:nvPicPr>
          <p:cNvPr id="401" name="Google Shape;401;p23"/>
          <p:cNvPicPr preferRelativeResize="0"/>
          <p:nvPr/>
        </p:nvPicPr>
        <p:blipFill rotWithShape="1">
          <a:blip r:embed="rId5">
            <a:alphaModFix/>
          </a:blip>
          <a:srcRect b="0" l="0" r="0" t="0"/>
          <a:stretch/>
        </p:blipFill>
        <p:spPr>
          <a:xfrm>
            <a:off x="503237" y="2516936"/>
            <a:ext cx="1558199" cy="173160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24"/>
          <p:cNvSpPr txBox="1"/>
          <p:nvPr/>
        </p:nvSpPr>
        <p:spPr>
          <a:xfrm>
            <a:off x="506252" y="949325"/>
            <a:ext cx="3924296" cy="4278094"/>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rgbClr val="262626"/>
                </a:solidFill>
                <a:latin typeface="Calibri"/>
                <a:ea typeface="Calibri"/>
                <a:cs typeface="Calibri"/>
                <a:sym typeface="Calibri"/>
              </a:rPr>
              <a:t>Puntos a considerar para esto</a:t>
            </a:r>
            <a:endParaRPr b="0" i="0" sz="1600" u="none" cap="none" strike="noStrike">
              <a:solidFill>
                <a:srgbClr val="262626"/>
              </a:solidFill>
              <a:latin typeface="Calibri"/>
              <a:ea typeface="Calibri"/>
              <a:cs typeface="Calibri"/>
              <a:sym typeface="Calibri"/>
            </a:endParaRPr>
          </a:p>
          <a:p>
            <a:pPr indent="0" lvl="0" marL="668338" marR="0" rtl="0" algn="l">
              <a:lnSpc>
                <a:spcPct val="100000"/>
              </a:lnSpc>
              <a:spcBef>
                <a:spcPts val="600"/>
              </a:spcBef>
              <a:spcAft>
                <a:spcPts val="0"/>
              </a:spcAft>
              <a:buNone/>
            </a:pPr>
            <a:r>
              <a:rPr b="0" i="0" lang="es-PE" sz="1400" u="none" cap="none" strike="noStrike">
                <a:solidFill>
                  <a:schemeClr val="dk1"/>
                </a:solidFill>
                <a:latin typeface="Calibri"/>
                <a:ea typeface="Calibri"/>
                <a:cs typeface="Calibri"/>
                <a:sym typeface="Calibri"/>
              </a:rPr>
              <a:t>Debemos tener una significancia estadística suficiente para poder realmente afirmar algo como una conclusión. No porque solo lo diga un usuario, será algo que guíe toda mi idea.</a:t>
            </a:r>
            <a:endParaRPr/>
          </a:p>
          <a:p>
            <a:pPr indent="0" lvl="0" marL="668338" marR="0" rtl="0" algn="l">
              <a:lnSpc>
                <a:spcPct val="100000"/>
              </a:lnSpc>
              <a:spcBef>
                <a:spcPts val="600"/>
              </a:spcBef>
              <a:spcAft>
                <a:spcPts val="0"/>
              </a:spcAft>
              <a:buNone/>
            </a:pPr>
            <a:r>
              <a:t/>
            </a:r>
            <a:endParaRPr b="0" i="0" sz="1400" u="none" cap="none" strike="noStrike">
              <a:solidFill>
                <a:schemeClr val="dk1"/>
              </a:solidFill>
              <a:latin typeface="Calibri"/>
              <a:ea typeface="Calibri"/>
              <a:cs typeface="Calibri"/>
              <a:sym typeface="Calibri"/>
            </a:endParaRPr>
          </a:p>
          <a:p>
            <a:pPr indent="0" lvl="0" marL="668338" marR="0" rtl="0" algn="l">
              <a:lnSpc>
                <a:spcPct val="100000"/>
              </a:lnSpc>
              <a:spcBef>
                <a:spcPts val="0"/>
              </a:spcBef>
              <a:spcAft>
                <a:spcPts val="0"/>
              </a:spcAft>
              <a:buNone/>
            </a:pPr>
            <a:r>
              <a:rPr b="1" i="0" lang="es-PE" sz="1400" u="none" cap="none" strike="noStrike">
                <a:solidFill>
                  <a:schemeClr val="dk1"/>
                </a:solidFill>
                <a:latin typeface="Calibri"/>
                <a:ea typeface="Calibri"/>
                <a:cs typeface="Calibri"/>
                <a:sym typeface="Calibri"/>
              </a:rPr>
              <a:t>Garbage in = garbage out. </a:t>
            </a:r>
            <a:r>
              <a:rPr b="0" i="0" lang="es-PE" sz="1400" u="none" cap="none" strike="noStrike">
                <a:solidFill>
                  <a:schemeClr val="dk1"/>
                </a:solidFill>
                <a:latin typeface="Calibri"/>
                <a:ea typeface="Calibri"/>
                <a:cs typeface="Calibri"/>
                <a:sym typeface="Calibri"/>
              </a:rPr>
              <a:t>La información necesita ser fiable y “limpia”. Es mejor trabajar en que todo esté estandarizado antes de enviarlo a ser procesado.</a:t>
            </a:r>
            <a:endParaRPr/>
          </a:p>
          <a:p>
            <a:pPr indent="0" lvl="0" marL="668338" marR="0" rtl="0" algn="l">
              <a:lnSpc>
                <a:spcPct val="10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0" lvl="0" marL="668338" marR="0" rtl="0" algn="l">
              <a:lnSpc>
                <a:spcPct val="100000"/>
              </a:lnSpc>
              <a:spcBef>
                <a:spcPts val="0"/>
              </a:spcBef>
              <a:spcAft>
                <a:spcPts val="0"/>
              </a:spcAft>
              <a:buNone/>
            </a:pPr>
            <a:r>
              <a:rPr b="0" i="0" lang="es-PE" sz="1400" u="none" cap="none" strike="noStrike">
                <a:solidFill>
                  <a:schemeClr val="dk1"/>
                </a:solidFill>
                <a:latin typeface="Calibri"/>
                <a:ea typeface="Calibri"/>
                <a:cs typeface="Calibri"/>
                <a:sym typeface="Calibri"/>
              </a:rPr>
              <a:t>Limpiar también va a involucrar deshacerse de algunos datos que puedan ser atípicos, llamados “outliers” para poder facilitar la llegada a conclusiones.</a:t>
            </a:r>
            <a:endParaRPr/>
          </a:p>
          <a:p>
            <a:pPr indent="0" lvl="0" marL="668338" marR="0" rtl="0" algn="l">
              <a:lnSpc>
                <a:spcPct val="10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0" lvl="0" marL="668338" marR="0" rtl="0" algn="l">
              <a:lnSpc>
                <a:spcPct val="100000"/>
              </a:lnSpc>
              <a:spcBef>
                <a:spcPts val="0"/>
              </a:spcBef>
              <a:spcAft>
                <a:spcPts val="0"/>
              </a:spcAft>
              <a:buNone/>
            </a:pPr>
            <a:r>
              <a:rPr b="0" i="0" lang="es-PE" sz="1400" u="none" cap="none" strike="noStrike">
                <a:solidFill>
                  <a:schemeClr val="dk1"/>
                </a:solidFill>
                <a:latin typeface="Calibri"/>
                <a:ea typeface="Calibri"/>
                <a:cs typeface="Calibri"/>
                <a:sym typeface="Calibri"/>
              </a:rPr>
              <a:t>Apóyate de herramientas gráficas para sustentar y documentar los outputs de tus análisis.</a:t>
            </a:r>
            <a:endParaRPr b="0" i="0" sz="1400" u="none" cap="none" strike="noStrike">
              <a:solidFill>
                <a:schemeClr val="dk1"/>
              </a:solidFill>
              <a:latin typeface="Calibri"/>
              <a:ea typeface="Calibri"/>
              <a:cs typeface="Calibri"/>
              <a:sym typeface="Calibri"/>
            </a:endParaRPr>
          </a:p>
        </p:txBody>
      </p:sp>
      <p:sp>
        <p:nvSpPr>
          <p:cNvPr descr="7 Reasons Why ChatGPT Is Garbage In, Garbage Out? - Dignited" id="408" name="Google Shape;408;p24"/>
          <p:cNvSpPr/>
          <p:nvPr/>
        </p:nvSpPr>
        <p:spPr>
          <a:xfrm>
            <a:off x="4419600" y="2705100"/>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9" name="Google Shape;409;p24"/>
          <p:cNvSpPr/>
          <p:nvPr/>
        </p:nvSpPr>
        <p:spPr>
          <a:xfrm>
            <a:off x="503237" y="377668"/>
            <a:ext cx="5144029"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ANÁLISIS DE DATOS PARA IDENTIFICAR PATRONES Y TENDENCIAS</a:t>
            </a:r>
            <a:endParaRPr b="0" i="0" sz="1400" u="none" cap="none" strike="noStrike">
              <a:solidFill>
                <a:srgbClr val="000000"/>
              </a:solidFill>
              <a:latin typeface="Arial"/>
              <a:ea typeface="Arial"/>
              <a:cs typeface="Arial"/>
              <a:sym typeface="Arial"/>
            </a:endParaRPr>
          </a:p>
        </p:txBody>
      </p:sp>
      <p:sp>
        <p:nvSpPr>
          <p:cNvPr id="410" name="Google Shape;410;p24"/>
          <p:cNvSpPr/>
          <p:nvPr/>
        </p:nvSpPr>
        <p:spPr>
          <a:xfrm>
            <a:off x="449732" y="1209955"/>
            <a:ext cx="400819" cy="43088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PE" sz="2800" u="none" cap="none" strike="noStrike">
                <a:solidFill>
                  <a:srgbClr val="00B1C3"/>
                </a:solidFill>
                <a:latin typeface="Calibri"/>
                <a:ea typeface="Calibri"/>
                <a:cs typeface="Calibri"/>
                <a:sym typeface="Calibri"/>
              </a:rPr>
              <a:t>1</a:t>
            </a:r>
            <a:endParaRPr b="1" i="0" sz="2800" u="none" cap="none" strike="noStrike">
              <a:solidFill>
                <a:srgbClr val="00B1C3"/>
              </a:solidFill>
              <a:latin typeface="Calibri"/>
              <a:ea typeface="Calibri"/>
              <a:cs typeface="Calibri"/>
              <a:sym typeface="Calibri"/>
            </a:endParaRPr>
          </a:p>
        </p:txBody>
      </p:sp>
      <p:cxnSp>
        <p:nvCxnSpPr>
          <p:cNvPr id="411" name="Google Shape;411;p24"/>
          <p:cNvCxnSpPr/>
          <p:nvPr/>
        </p:nvCxnSpPr>
        <p:spPr>
          <a:xfrm>
            <a:off x="963566" y="1464595"/>
            <a:ext cx="0" cy="3666205"/>
          </a:xfrm>
          <a:prstGeom prst="straightConnector1">
            <a:avLst/>
          </a:prstGeom>
          <a:noFill/>
          <a:ln cap="flat" cmpd="sng" w="12700">
            <a:solidFill>
              <a:srgbClr val="00B1C3"/>
            </a:solidFill>
            <a:prstDash val="solid"/>
            <a:round/>
            <a:headEnd len="sm" w="sm" type="none"/>
            <a:tailEnd len="sm" w="sm" type="none"/>
          </a:ln>
        </p:spPr>
      </p:cxnSp>
      <p:sp>
        <p:nvSpPr>
          <p:cNvPr id="412" name="Google Shape;412;p24"/>
          <p:cNvSpPr/>
          <p:nvPr/>
        </p:nvSpPr>
        <p:spPr>
          <a:xfrm>
            <a:off x="449732" y="2313728"/>
            <a:ext cx="400819" cy="43088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800"/>
              <a:buFont typeface="Arial"/>
              <a:buNone/>
            </a:pPr>
            <a:r>
              <a:rPr b="1" i="0" lang="es-PE" sz="2800" u="none" cap="none" strike="noStrike">
                <a:solidFill>
                  <a:srgbClr val="00B1C3"/>
                </a:solidFill>
                <a:latin typeface="Calibri"/>
                <a:ea typeface="Calibri"/>
                <a:cs typeface="Calibri"/>
                <a:sym typeface="Calibri"/>
              </a:rPr>
              <a:t>2</a:t>
            </a:r>
            <a:endParaRPr b="1" i="0" sz="2800" u="none" cap="none" strike="noStrike">
              <a:solidFill>
                <a:srgbClr val="00B1C3"/>
              </a:solidFill>
              <a:latin typeface="Calibri"/>
              <a:ea typeface="Calibri"/>
              <a:cs typeface="Calibri"/>
              <a:sym typeface="Calibri"/>
            </a:endParaRPr>
          </a:p>
        </p:txBody>
      </p:sp>
      <p:sp>
        <p:nvSpPr>
          <p:cNvPr id="413" name="Google Shape;413;p24"/>
          <p:cNvSpPr/>
          <p:nvPr/>
        </p:nvSpPr>
        <p:spPr>
          <a:xfrm>
            <a:off x="449732" y="3364795"/>
            <a:ext cx="400819" cy="43088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PE" sz="2800" u="none" cap="none" strike="noStrike">
                <a:solidFill>
                  <a:srgbClr val="00B1C3"/>
                </a:solidFill>
                <a:latin typeface="Calibri"/>
                <a:ea typeface="Calibri"/>
                <a:cs typeface="Calibri"/>
                <a:sym typeface="Calibri"/>
              </a:rPr>
              <a:t>3</a:t>
            </a:r>
            <a:endParaRPr b="1" i="0" sz="2800" u="none" cap="none" strike="noStrike">
              <a:solidFill>
                <a:srgbClr val="00B1C3"/>
              </a:solidFill>
              <a:latin typeface="Calibri"/>
              <a:ea typeface="Calibri"/>
              <a:cs typeface="Calibri"/>
              <a:sym typeface="Calibri"/>
            </a:endParaRPr>
          </a:p>
        </p:txBody>
      </p:sp>
      <p:sp>
        <p:nvSpPr>
          <p:cNvPr id="414" name="Google Shape;414;p24"/>
          <p:cNvSpPr/>
          <p:nvPr/>
        </p:nvSpPr>
        <p:spPr>
          <a:xfrm>
            <a:off x="4769972" y="942756"/>
            <a:ext cx="3924296" cy="4284663"/>
          </a:xfrm>
          <a:prstGeom prst="rect">
            <a:avLst/>
          </a:prstGeom>
          <a:solidFill>
            <a:srgbClr val="D9DB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15" name="Google Shape;415;p24"/>
          <p:cNvSpPr/>
          <p:nvPr/>
        </p:nvSpPr>
        <p:spPr>
          <a:xfrm>
            <a:off x="449732" y="4449870"/>
            <a:ext cx="400819" cy="43088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800"/>
              <a:buFont typeface="Arial"/>
              <a:buNone/>
            </a:pPr>
            <a:r>
              <a:rPr b="1" i="0" lang="es-PE" sz="2800" u="none" cap="none" strike="noStrike">
                <a:solidFill>
                  <a:srgbClr val="00B1C3"/>
                </a:solidFill>
                <a:latin typeface="Calibri"/>
                <a:ea typeface="Calibri"/>
                <a:cs typeface="Calibri"/>
                <a:sym typeface="Calibri"/>
              </a:rPr>
              <a:t>4</a:t>
            </a:r>
            <a:endParaRPr b="1" i="0" sz="2800" u="none" cap="none" strike="noStrike">
              <a:solidFill>
                <a:srgbClr val="00B1C3"/>
              </a:solidFill>
              <a:latin typeface="Calibri"/>
              <a:ea typeface="Calibri"/>
              <a:cs typeface="Calibri"/>
              <a:sym typeface="Calibri"/>
            </a:endParaRPr>
          </a:p>
        </p:txBody>
      </p:sp>
      <p:pic>
        <p:nvPicPr>
          <p:cNvPr id="416" name="Google Shape;416;p24"/>
          <p:cNvPicPr preferRelativeResize="0"/>
          <p:nvPr/>
        </p:nvPicPr>
        <p:blipFill rotWithShape="1">
          <a:blip r:embed="rId3">
            <a:alphaModFix/>
          </a:blip>
          <a:srcRect b="0" l="0" r="0" t="0"/>
          <a:stretch/>
        </p:blipFill>
        <p:spPr>
          <a:xfrm>
            <a:off x="5243043" y="3386249"/>
            <a:ext cx="2972554" cy="1649224"/>
          </a:xfrm>
          <a:prstGeom prst="rect">
            <a:avLst/>
          </a:prstGeom>
          <a:noFill/>
          <a:ln>
            <a:noFill/>
          </a:ln>
        </p:spPr>
      </p:pic>
      <p:pic>
        <p:nvPicPr>
          <p:cNvPr descr="Cómo detectar y tratar los outliers? – SIEPSI" id="417" name="Google Shape;417;p24"/>
          <p:cNvPicPr preferRelativeResize="0"/>
          <p:nvPr/>
        </p:nvPicPr>
        <p:blipFill rotWithShape="1">
          <a:blip r:embed="rId4">
            <a:alphaModFix/>
          </a:blip>
          <a:srcRect b="0" l="0" r="0" t="0"/>
          <a:stretch/>
        </p:blipFill>
        <p:spPr>
          <a:xfrm>
            <a:off x="5243043" y="1198874"/>
            <a:ext cx="2972554" cy="1995429"/>
          </a:xfrm>
          <a:prstGeom prst="rect">
            <a:avLst/>
          </a:prstGeom>
          <a:noFill/>
          <a:ln>
            <a:noFill/>
          </a:ln>
        </p:spPr>
      </p:pic>
      <p:grpSp>
        <p:nvGrpSpPr>
          <p:cNvPr id="418" name="Google Shape;418;p24"/>
          <p:cNvGrpSpPr/>
          <p:nvPr/>
        </p:nvGrpSpPr>
        <p:grpSpPr>
          <a:xfrm>
            <a:off x="892895" y="1332350"/>
            <a:ext cx="140792" cy="140258"/>
            <a:chOff x="3427964" y="2244682"/>
            <a:chExt cx="225891" cy="225034"/>
          </a:xfrm>
        </p:grpSpPr>
        <p:sp>
          <p:nvSpPr>
            <p:cNvPr id="419" name="Google Shape;419;p24"/>
            <p:cNvSpPr/>
            <p:nvPr/>
          </p:nvSpPr>
          <p:spPr>
            <a:xfrm>
              <a:off x="3427964" y="2244682"/>
              <a:ext cx="225891" cy="225034"/>
            </a:xfrm>
            <a:prstGeom prst="ellipse">
              <a:avLst/>
            </a:prstGeom>
            <a:solidFill>
              <a:schemeClr val="lt1"/>
            </a:solidFill>
            <a:ln cap="flat" cmpd="sng" w="19050">
              <a:solidFill>
                <a:srgbClr val="01B1C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0" name="Google Shape;420;p24"/>
            <p:cNvSpPr/>
            <p:nvPr/>
          </p:nvSpPr>
          <p:spPr>
            <a:xfrm>
              <a:off x="3482167" y="2298680"/>
              <a:ext cx="117483" cy="117037"/>
            </a:xfrm>
            <a:prstGeom prst="ellipse">
              <a:avLst/>
            </a:prstGeom>
            <a:solidFill>
              <a:srgbClr val="01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421" name="Google Shape;421;p24"/>
          <p:cNvGrpSpPr/>
          <p:nvPr/>
        </p:nvGrpSpPr>
        <p:grpSpPr>
          <a:xfrm>
            <a:off x="892895" y="2434475"/>
            <a:ext cx="140792" cy="140258"/>
            <a:chOff x="3427964" y="2244682"/>
            <a:chExt cx="225891" cy="225034"/>
          </a:xfrm>
        </p:grpSpPr>
        <p:sp>
          <p:nvSpPr>
            <p:cNvPr id="422" name="Google Shape;422;p24"/>
            <p:cNvSpPr/>
            <p:nvPr/>
          </p:nvSpPr>
          <p:spPr>
            <a:xfrm>
              <a:off x="3427964" y="2244682"/>
              <a:ext cx="225891" cy="225034"/>
            </a:xfrm>
            <a:prstGeom prst="ellipse">
              <a:avLst/>
            </a:prstGeom>
            <a:solidFill>
              <a:schemeClr val="lt1"/>
            </a:solidFill>
            <a:ln cap="flat" cmpd="sng" w="19050">
              <a:solidFill>
                <a:srgbClr val="01B1C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3" name="Google Shape;423;p24"/>
            <p:cNvSpPr/>
            <p:nvPr/>
          </p:nvSpPr>
          <p:spPr>
            <a:xfrm>
              <a:off x="3482167" y="2298680"/>
              <a:ext cx="117483" cy="117037"/>
            </a:xfrm>
            <a:prstGeom prst="ellipse">
              <a:avLst/>
            </a:prstGeom>
            <a:solidFill>
              <a:srgbClr val="01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424" name="Google Shape;424;p24"/>
          <p:cNvGrpSpPr/>
          <p:nvPr/>
        </p:nvGrpSpPr>
        <p:grpSpPr>
          <a:xfrm>
            <a:off x="892895" y="3476043"/>
            <a:ext cx="140792" cy="140258"/>
            <a:chOff x="3427964" y="2244682"/>
            <a:chExt cx="225891" cy="225034"/>
          </a:xfrm>
        </p:grpSpPr>
        <p:sp>
          <p:nvSpPr>
            <p:cNvPr id="425" name="Google Shape;425;p24"/>
            <p:cNvSpPr/>
            <p:nvPr/>
          </p:nvSpPr>
          <p:spPr>
            <a:xfrm>
              <a:off x="3427964" y="2244682"/>
              <a:ext cx="225891" cy="225034"/>
            </a:xfrm>
            <a:prstGeom prst="ellipse">
              <a:avLst/>
            </a:prstGeom>
            <a:solidFill>
              <a:schemeClr val="lt1"/>
            </a:solidFill>
            <a:ln cap="flat" cmpd="sng" w="19050">
              <a:solidFill>
                <a:srgbClr val="01B1C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6" name="Google Shape;426;p24"/>
            <p:cNvSpPr/>
            <p:nvPr/>
          </p:nvSpPr>
          <p:spPr>
            <a:xfrm>
              <a:off x="3482167" y="2298680"/>
              <a:ext cx="117483" cy="117037"/>
            </a:xfrm>
            <a:prstGeom prst="ellipse">
              <a:avLst/>
            </a:prstGeom>
            <a:solidFill>
              <a:srgbClr val="01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427" name="Google Shape;427;p24"/>
          <p:cNvGrpSpPr/>
          <p:nvPr/>
        </p:nvGrpSpPr>
        <p:grpSpPr>
          <a:xfrm>
            <a:off x="892895" y="4578168"/>
            <a:ext cx="140792" cy="140258"/>
            <a:chOff x="3427964" y="2244682"/>
            <a:chExt cx="225891" cy="225034"/>
          </a:xfrm>
        </p:grpSpPr>
        <p:sp>
          <p:nvSpPr>
            <p:cNvPr id="428" name="Google Shape;428;p24"/>
            <p:cNvSpPr/>
            <p:nvPr/>
          </p:nvSpPr>
          <p:spPr>
            <a:xfrm>
              <a:off x="3427964" y="2244682"/>
              <a:ext cx="225891" cy="225034"/>
            </a:xfrm>
            <a:prstGeom prst="ellipse">
              <a:avLst/>
            </a:prstGeom>
            <a:solidFill>
              <a:schemeClr val="lt1"/>
            </a:solidFill>
            <a:ln cap="flat" cmpd="sng" w="19050">
              <a:solidFill>
                <a:srgbClr val="01B1C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9" name="Google Shape;429;p24"/>
            <p:cNvSpPr/>
            <p:nvPr/>
          </p:nvSpPr>
          <p:spPr>
            <a:xfrm>
              <a:off x="3482167" y="2298680"/>
              <a:ext cx="117483" cy="117037"/>
            </a:xfrm>
            <a:prstGeom prst="ellipse">
              <a:avLst/>
            </a:prstGeom>
            <a:solidFill>
              <a:srgbClr val="01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25"/>
          <p:cNvSpPr txBox="1"/>
          <p:nvPr/>
        </p:nvSpPr>
        <p:spPr>
          <a:xfrm>
            <a:off x="502222" y="944336"/>
            <a:ext cx="4062491" cy="4001095"/>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500"/>
              <a:buFont typeface="Arial"/>
              <a:buNone/>
            </a:pPr>
            <a:r>
              <a:rPr b="1" i="0" lang="es-PE" sz="1500" u="none" cap="none" strike="noStrike">
                <a:solidFill>
                  <a:srgbClr val="262626"/>
                </a:solidFill>
                <a:latin typeface="Calibri"/>
                <a:ea typeface="Calibri"/>
                <a:cs typeface="Calibri"/>
                <a:sym typeface="Calibri"/>
              </a:rPr>
              <a:t>¿QUÉ NO ES UN OUTPUT DEL ANÁLISIS?</a:t>
            </a:r>
            <a:endParaRPr b="0" i="0" sz="1500" u="none" cap="none" strike="noStrike">
              <a:solidFill>
                <a:srgbClr val="000000"/>
              </a:solidFill>
              <a:latin typeface="Calibri"/>
              <a:ea typeface="Calibri"/>
              <a:cs typeface="Calibri"/>
              <a:sym typeface="Calibri"/>
            </a:endParaRPr>
          </a:p>
          <a:p>
            <a:pPr indent="-171450" lvl="0" marL="182563" marR="0" rtl="0" algn="l">
              <a:lnSpc>
                <a:spcPct val="100000"/>
              </a:lnSpc>
              <a:spcBef>
                <a:spcPts val="600"/>
              </a:spcBef>
              <a:spcAft>
                <a:spcPts val="0"/>
              </a:spcAft>
              <a:buClr>
                <a:srgbClr val="000000"/>
              </a:buClr>
              <a:buSzPts val="1500"/>
              <a:buFont typeface="Arial"/>
              <a:buChar char="•"/>
            </a:pPr>
            <a:r>
              <a:rPr b="0" i="0" lang="es-PE" sz="1500" u="none" cap="none" strike="noStrike">
                <a:solidFill>
                  <a:srgbClr val="262626"/>
                </a:solidFill>
                <a:latin typeface="Calibri"/>
                <a:ea typeface="Calibri"/>
                <a:cs typeface="Calibri"/>
                <a:sym typeface="Calibri"/>
              </a:rPr>
              <a:t>Si no nos sirve para tomar una decisión, entonces no podemos considerarlo como un insight. Estos siempre van a necesitar mayor procesamiento en el detalle de todo el cuestionario.</a:t>
            </a:r>
            <a:endParaRPr b="0" i="0" sz="1500" u="none" cap="none" strike="noStrike">
              <a:solidFill>
                <a:srgbClr val="262626"/>
              </a:solidFill>
              <a:latin typeface="Calibri"/>
              <a:ea typeface="Calibri"/>
              <a:cs typeface="Calibri"/>
              <a:sym typeface="Calibri"/>
            </a:endParaRPr>
          </a:p>
          <a:p>
            <a:pPr indent="-171450" lvl="0" marL="182563" marR="0" rtl="0" algn="l">
              <a:lnSpc>
                <a:spcPct val="100000"/>
              </a:lnSpc>
              <a:spcBef>
                <a:spcPts val="0"/>
              </a:spcBef>
              <a:spcAft>
                <a:spcPts val="0"/>
              </a:spcAft>
              <a:buClr>
                <a:srgbClr val="000000"/>
              </a:buClr>
              <a:buSzPts val="1500"/>
              <a:buFont typeface="Arial"/>
              <a:buChar char="•"/>
            </a:pPr>
            <a:r>
              <a:rPr b="0" i="0" lang="es-PE" sz="1500" u="none" cap="none" strike="noStrike">
                <a:solidFill>
                  <a:srgbClr val="262626"/>
                </a:solidFill>
                <a:latin typeface="Calibri"/>
                <a:ea typeface="Calibri"/>
                <a:cs typeface="Calibri"/>
                <a:sym typeface="Calibri"/>
              </a:rPr>
              <a:t>Ejemplo: </a:t>
            </a:r>
            <a:r>
              <a:rPr b="0" i="1" lang="es-PE" sz="1500" u="none" cap="none" strike="noStrike">
                <a:solidFill>
                  <a:srgbClr val="262626"/>
                </a:solidFill>
                <a:latin typeface="Calibri"/>
                <a:ea typeface="Calibri"/>
                <a:cs typeface="Calibri"/>
                <a:sym typeface="Calibri"/>
              </a:rPr>
              <a:t>“El 54% de los entrevistados se identifican con el género femenino</a:t>
            </a:r>
            <a:r>
              <a:rPr b="0" i="1" lang="es-PE" sz="1500" u="none" cap="none" strike="noStrike">
                <a:solidFill>
                  <a:schemeClr val="dk1"/>
                </a:solidFill>
                <a:latin typeface="Calibri"/>
                <a:ea typeface="Calibri"/>
                <a:cs typeface="Calibri"/>
                <a:sym typeface="Calibri"/>
              </a:rPr>
              <a:t>” </a:t>
            </a:r>
            <a:endParaRPr b="0" i="1" sz="1500" u="none" cap="none" strike="noStrike">
              <a:solidFill>
                <a:schemeClr val="dk1"/>
              </a:solidFill>
              <a:latin typeface="Calibri"/>
              <a:ea typeface="Calibri"/>
              <a:cs typeface="Calibri"/>
              <a:sym typeface="Calibri"/>
            </a:endParaRPr>
          </a:p>
          <a:p>
            <a:pPr indent="-76200" lvl="0" marL="182563" marR="0" rtl="0" algn="l">
              <a:lnSpc>
                <a:spcPct val="100000"/>
              </a:lnSpc>
              <a:spcBef>
                <a:spcPts val="0"/>
              </a:spcBef>
              <a:spcAft>
                <a:spcPts val="0"/>
              </a:spcAft>
              <a:buClr>
                <a:srgbClr val="000000"/>
              </a:buClr>
              <a:buSzPts val="1500"/>
              <a:buFont typeface="Arial"/>
              <a:buNone/>
            </a:pPr>
            <a:r>
              <a:t/>
            </a:r>
            <a:endParaRPr b="0" i="1" sz="1500" u="none" cap="none" strike="noStrike">
              <a:solidFill>
                <a:srgbClr val="262626"/>
              </a:solidFill>
              <a:latin typeface="Calibri"/>
              <a:ea typeface="Calibri"/>
              <a:cs typeface="Calibri"/>
              <a:sym typeface="Calibri"/>
            </a:endParaRPr>
          </a:p>
          <a:p>
            <a:pPr indent="-182562" lvl="0" marL="365125" marR="0" rtl="0" algn="l">
              <a:lnSpc>
                <a:spcPct val="100000"/>
              </a:lnSpc>
              <a:spcBef>
                <a:spcPts val="0"/>
              </a:spcBef>
              <a:spcAft>
                <a:spcPts val="0"/>
              </a:spcAft>
              <a:buClr>
                <a:srgbClr val="000000"/>
              </a:buClr>
              <a:buSzPts val="1500"/>
              <a:buFont typeface="Arial"/>
              <a:buChar char="•"/>
            </a:pPr>
            <a:r>
              <a:rPr b="0" i="0" lang="es-PE" sz="1500" u="none" cap="none" strike="noStrike">
                <a:solidFill>
                  <a:srgbClr val="262626"/>
                </a:solidFill>
                <a:latin typeface="Calibri"/>
                <a:ea typeface="Calibri"/>
                <a:cs typeface="Calibri"/>
                <a:sym typeface="Calibri"/>
              </a:rPr>
              <a:t>Esto involucra que realicemos:</a:t>
            </a:r>
            <a:endParaRPr b="0" i="0" sz="1500" u="none" cap="none" strike="noStrike">
              <a:solidFill>
                <a:srgbClr val="262626"/>
              </a:solidFill>
              <a:latin typeface="Calibri"/>
              <a:ea typeface="Calibri"/>
              <a:cs typeface="Calibri"/>
              <a:sym typeface="Calibri"/>
            </a:endParaRPr>
          </a:p>
          <a:p>
            <a:pPr indent="-182562" lvl="0" marL="365125" marR="0" rtl="0" algn="l">
              <a:lnSpc>
                <a:spcPct val="100000"/>
              </a:lnSpc>
              <a:spcBef>
                <a:spcPts val="0"/>
              </a:spcBef>
              <a:spcAft>
                <a:spcPts val="0"/>
              </a:spcAft>
              <a:buClr>
                <a:srgbClr val="262626"/>
              </a:buClr>
              <a:buSzPts val="1600"/>
              <a:buFont typeface="Arial"/>
              <a:buChar char="•"/>
            </a:pPr>
            <a:r>
              <a:rPr b="0" i="0" lang="es-PE" sz="1500" u="none" cap="none" strike="noStrike">
                <a:solidFill>
                  <a:srgbClr val="262626"/>
                </a:solidFill>
                <a:latin typeface="Calibri"/>
                <a:ea typeface="Calibri"/>
                <a:cs typeface="Calibri"/>
                <a:sym typeface="Calibri"/>
              </a:rPr>
              <a:t>Tablas dinámicas</a:t>
            </a:r>
            <a:endParaRPr b="0" i="0" sz="1500" u="none" cap="none" strike="noStrike">
              <a:solidFill>
                <a:srgbClr val="000000"/>
              </a:solidFill>
              <a:latin typeface="Calibri"/>
              <a:ea typeface="Calibri"/>
              <a:cs typeface="Calibri"/>
              <a:sym typeface="Calibri"/>
            </a:endParaRPr>
          </a:p>
          <a:p>
            <a:pPr indent="-182562" lvl="0" marL="365125" marR="0" rtl="0" algn="l">
              <a:lnSpc>
                <a:spcPct val="100000"/>
              </a:lnSpc>
              <a:spcBef>
                <a:spcPts val="0"/>
              </a:spcBef>
              <a:spcAft>
                <a:spcPts val="0"/>
              </a:spcAft>
              <a:buClr>
                <a:srgbClr val="262626"/>
              </a:buClr>
              <a:buSzPts val="1600"/>
              <a:buFont typeface="Arial"/>
              <a:buChar char="•"/>
            </a:pPr>
            <a:r>
              <a:rPr b="0" i="0" lang="es-PE" sz="1500" u="none" cap="none" strike="noStrike">
                <a:solidFill>
                  <a:srgbClr val="262626"/>
                </a:solidFill>
                <a:latin typeface="Calibri"/>
                <a:ea typeface="Calibri"/>
                <a:cs typeface="Calibri"/>
                <a:sym typeface="Calibri"/>
              </a:rPr>
              <a:t>Categorizaciones</a:t>
            </a:r>
            <a:endParaRPr b="0" i="0" sz="1500" u="none" cap="none" strike="noStrike">
              <a:solidFill>
                <a:srgbClr val="000000"/>
              </a:solidFill>
              <a:latin typeface="Calibri"/>
              <a:ea typeface="Calibri"/>
              <a:cs typeface="Calibri"/>
              <a:sym typeface="Calibri"/>
            </a:endParaRPr>
          </a:p>
          <a:p>
            <a:pPr indent="-182562" lvl="0" marL="365125" marR="0" rtl="0" algn="l">
              <a:lnSpc>
                <a:spcPct val="100000"/>
              </a:lnSpc>
              <a:spcBef>
                <a:spcPts val="0"/>
              </a:spcBef>
              <a:spcAft>
                <a:spcPts val="0"/>
              </a:spcAft>
              <a:buClr>
                <a:srgbClr val="262626"/>
              </a:buClr>
              <a:buSzPts val="1600"/>
              <a:buFont typeface="Arial"/>
              <a:buChar char="•"/>
            </a:pPr>
            <a:r>
              <a:rPr b="0" i="0" lang="es-PE" sz="1500" u="none" cap="none" strike="noStrike">
                <a:solidFill>
                  <a:srgbClr val="262626"/>
                </a:solidFill>
                <a:latin typeface="Calibri"/>
                <a:ea typeface="Calibri"/>
                <a:cs typeface="Calibri"/>
                <a:sym typeface="Calibri"/>
              </a:rPr>
              <a:t>Correlaciones entre variables</a:t>
            </a:r>
            <a:endParaRPr b="0" i="0" sz="1500" u="none" cap="none" strike="noStrike">
              <a:solidFill>
                <a:srgbClr val="000000"/>
              </a:solidFill>
              <a:latin typeface="Calibri"/>
              <a:ea typeface="Calibri"/>
              <a:cs typeface="Calibri"/>
              <a:sym typeface="Calibri"/>
            </a:endParaRPr>
          </a:p>
          <a:p>
            <a:pPr indent="-182562" lvl="0" marL="365125" marR="0" rtl="0" algn="l">
              <a:lnSpc>
                <a:spcPct val="100000"/>
              </a:lnSpc>
              <a:spcBef>
                <a:spcPts val="0"/>
              </a:spcBef>
              <a:spcAft>
                <a:spcPts val="0"/>
              </a:spcAft>
              <a:buClr>
                <a:srgbClr val="262626"/>
              </a:buClr>
              <a:buSzPts val="1600"/>
              <a:buFont typeface="Arial"/>
              <a:buChar char="•"/>
            </a:pPr>
            <a:r>
              <a:rPr b="0" i="0" lang="es-PE" sz="1500" u="none" cap="none" strike="noStrike">
                <a:solidFill>
                  <a:srgbClr val="262626"/>
                </a:solidFill>
                <a:latin typeface="Calibri"/>
                <a:ea typeface="Calibri"/>
                <a:cs typeface="Calibri"/>
                <a:sym typeface="Calibri"/>
              </a:rPr>
              <a:t>Recomendación: </a:t>
            </a:r>
            <a:r>
              <a:rPr b="1" i="0" lang="es-PE" sz="1500" u="none" cap="none" strike="noStrike">
                <a:solidFill>
                  <a:srgbClr val="262626"/>
                </a:solidFill>
                <a:latin typeface="Calibri"/>
                <a:ea typeface="Calibri"/>
                <a:cs typeface="Calibri"/>
                <a:sym typeface="Calibri"/>
              </a:rPr>
              <a:t>Conclusiones </a:t>
            </a:r>
            <a:r>
              <a:rPr b="0" i="0" lang="es-PE" sz="1500" u="none" cap="none" strike="noStrike">
                <a:solidFill>
                  <a:srgbClr val="262626"/>
                </a:solidFill>
                <a:latin typeface="Calibri"/>
                <a:ea typeface="Calibri"/>
                <a:cs typeface="Calibri"/>
                <a:sym typeface="Calibri"/>
              </a:rPr>
              <a:t>con Chat GPT</a:t>
            </a:r>
            <a:endParaRPr b="0" i="0" sz="1500" u="none" cap="none" strike="noStrike">
              <a:solidFill>
                <a:srgbClr val="000000"/>
              </a:solidFill>
              <a:latin typeface="Calibri"/>
              <a:ea typeface="Calibri"/>
              <a:cs typeface="Calibri"/>
              <a:sym typeface="Calibri"/>
            </a:endParaRPr>
          </a:p>
          <a:p>
            <a:pPr indent="-69850" lvl="0" marL="182563" marR="0" rtl="0" algn="l">
              <a:lnSpc>
                <a:spcPct val="100000"/>
              </a:lnSpc>
              <a:spcBef>
                <a:spcPts val="0"/>
              </a:spcBef>
              <a:spcAft>
                <a:spcPts val="0"/>
              </a:spcAft>
              <a:buClr>
                <a:schemeClr val="dk1"/>
              </a:buClr>
              <a:buSzPts val="1600"/>
              <a:buFont typeface="Arial"/>
              <a:buNone/>
            </a:pPr>
            <a:r>
              <a:t/>
            </a:r>
            <a:endParaRPr b="0" i="0" sz="1500" u="none" cap="none" strike="noStrike">
              <a:solidFill>
                <a:srgbClr val="262626"/>
              </a:solidFill>
              <a:latin typeface="Calibri"/>
              <a:ea typeface="Calibri"/>
              <a:cs typeface="Calibri"/>
              <a:sym typeface="Calibri"/>
            </a:endParaRPr>
          </a:p>
          <a:p>
            <a:pPr indent="-171450" lvl="0" marL="182563" marR="0" rtl="0" algn="l">
              <a:lnSpc>
                <a:spcPct val="100000"/>
              </a:lnSpc>
              <a:spcBef>
                <a:spcPts val="0"/>
              </a:spcBef>
              <a:spcAft>
                <a:spcPts val="0"/>
              </a:spcAft>
              <a:buClr>
                <a:srgbClr val="000000"/>
              </a:buClr>
              <a:buSzPts val="1500"/>
              <a:buFont typeface="Arial"/>
              <a:buChar char="•"/>
            </a:pPr>
            <a:r>
              <a:rPr b="0" i="0" lang="es-PE" sz="1500" u="none" cap="none" strike="noStrike">
                <a:solidFill>
                  <a:srgbClr val="262626"/>
                </a:solidFill>
                <a:latin typeface="Calibri"/>
                <a:ea typeface="Calibri"/>
                <a:cs typeface="Calibri"/>
                <a:sym typeface="Calibri"/>
              </a:rPr>
              <a:t>Ejemplo: </a:t>
            </a:r>
            <a:r>
              <a:rPr b="0" i="1" lang="es-PE" sz="1500" u="none" cap="none" strike="noStrike">
                <a:solidFill>
                  <a:srgbClr val="262626"/>
                </a:solidFill>
                <a:latin typeface="Calibri"/>
                <a:ea typeface="Calibri"/>
                <a:cs typeface="Calibri"/>
                <a:sym typeface="Calibri"/>
              </a:rPr>
              <a:t>“</a:t>
            </a:r>
            <a:r>
              <a:rPr b="0" i="1" lang="es-PE" sz="1500" u="none" cap="none" strike="noStrike">
                <a:solidFill>
                  <a:schemeClr val="dk1"/>
                </a:solidFill>
                <a:latin typeface="Calibri"/>
                <a:ea typeface="Calibri"/>
                <a:cs typeface="Calibri"/>
                <a:sym typeface="Calibri"/>
              </a:rPr>
              <a:t>Dentro del Departamento de Producto, vemos una gran correlación entre las variables “Certidumbre” y “Satisfacción con Líderes”. </a:t>
            </a:r>
            <a:endParaRPr b="0" i="1" sz="1500" u="none" cap="none" strike="noStrike">
              <a:solidFill>
                <a:schemeClr val="dk1"/>
              </a:solidFill>
              <a:latin typeface="Calibri"/>
              <a:ea typeface="Calibri"/>
              <a:cs typeface="Calibri"/>
              <a:sym typeface="Calibri"/>
            </a:endParaRPr>
          </a:p>
        </p:txBody>
      </p:sp>
      <p:sp>
        <p:nvSpPr>
          <p:cNvPr id="436" name="Google Shape;436;p25"/>
          <p:cNvSpPr/>
          <p:nvPr/>
        </p:nvSpPr>
        <p:spPr>
          <a:xfrm>
            <a:off x="4993340" y="3121955"/>
            <a:ext cx="3682347" cy="2112031"/>
          </a:xfrm>
          <a:prstGeom prst="rect">
            <a:avLst/>
          </a:prstGeom>
          <a:solidFill>
            <a:srgbClr val="D9DB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37" name="Google Shape;437;p25"/>
          <p:cNvSpPr/>
          <p:nvPr/>
        </p:nvSpPr>
        <p:spPr>
          <a:xfrm>
            <a:off x="503237" y="377668"/>
            <a:ext cx="5144029"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ANÁLISIS DE DATOS PARA IDENTIFICAR PATRONES Y TENDENCIAS</a:t>
            </a:r>
            <a:endParaRPr b="0" i="0" sz="1400" u="none" cap="none" strike="noStrike">
              <a:solidFill>
                <a:srgbClr val="000000"/>
              </a:solidFill>
              <a:latin typeface="Arial"/>
              <a:ea typeface="Arial"/>
              <a:cs typeface="Arial"/>
              <a:sym typeface="Arial"/>
            </a:endParaRPr>
          </a:p>
        </p:txBody>
      </p:sp>
      <p:pic>
        <p:nvPicPr>
          <p:cNvPr id="438" name="Google Shape;438;p25"/>
          <p:cNvPicPr preferRelativeResize="0"/>
          <p:nvPr/>
        </p:nvPicPr>
        <p:blipFill rotWithShape="1">
          <a:blip r:embed="rId3">
            <a:alphaModFix/>
          </a:blip>
          <a:srcRect b="2405" l="0" r="0" t="0"/>
          <a:stretch/>
        </p:blipFill>
        <p:spPr>
          <a:xfrm>
            <a:off x="5747848" y="3595177"/>
            <a:ext cx="2130799" cy="1558064"/>
          </a:xfrm>
          <a:prstGeom prst="rect">
            <a:avLst/>
          </a:prstGeom>
          <a:noFill/>
          <a:ln>
            <a:noFill/>
          </a:ln>
        </p:spPr>
      </p:pic>
      <p:sp>
        <p:nvSpPr>
          <p:cNvPr id="439" name="Google Shape;439;p25"/>
          <p:cNvSpPr/>
          <p:nvPr/>
        </p:nvSpPr>
        <p:spPr>
          <a:xfrm>
            <a:off x="5015986" y="942027"/>
            <a:ext cx="3682347" cy="2112031"/>
          </a:xfrm>
          <a:prstGeom prst="rect">
            <a:avLst/>
          </a:prstGeom>
          <a:solidFill>
            <a:srgbClr val="D9DB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40" name="Google Shape;440;p25"/>
          <p:cNvSpPr txBox="1"/>
          <p:nvPr/>
        </p:nvSpPr>
        <p:spPr>
          <a:xfrm>
            <a:off x="5402083" y="3188726"/>
            <a:ext cx="2822331" cy="32316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1" i="0" lang="es-PE" sz="1050" u="none" cap="none" strike="noStrike">
                <a:solidFill>
                  <a:schemeClr val="dk1"/>
                </a:solidFill>
                <a:latin typeface="Calibri"/>
                <a:ea typeface="Calibri"/>
                <a:cs typeface="Calibri"/>
                <a:sym typeface="Calibri"/>
              </a:rPr>
              <a:t>Correlación entre Certidumbre y Satisfacción </a:t>
            </a:r>
            <a:br>
              <a:rPr b="1" i="0" lang="es-PE" sz="1050" u="none" cap="none" strike="noStrike">
                <a:solidFill>
                  <a:schemeClr val="dk1"/>
                </a:solidFill>
                <a:latin typeface="Calibri"/>
                <a:ea typeface="Calibri"/>
                <a:cs typeface="Calibri"/>
                <a:sym typeface="Calibri"/>
              </a:rPr>
            </a:br>
            <a:r>
              <a:rPr b="1" i="0" lang="es-PE" sz="1050" u="none" cap="none" strike="noStrike">
                <a:solidFill>
                  <a:schemeClr val="dk1"/>
                </a:solidFill>
                <a:latin typeface="Calibri"/>
                <a:ea typeface="Calibri"/>
                <a:cs typeface="Calibri"/>
                <a:sym typeface="Calibri"/>
              </a:rPr>
              <a:t>con Líderes en Departamento de Producto</a:t>
            </a:r>
            <a:endParaRPr b="1" i="0" sz="1050" u="none" cap="none" strike="noStrike">
              <a:solidFill>
                <a:schemeClr val="dk1"/>
              </a:solidFill>
              <a:latin typeface="Calibri"/>
              <a:ea typeface="Calibri"/>
              <a:cs typeface="Calibri"/>
              <a:sym typeface="Calibri"/>
            </a:endParaRPr>
          </a:p>
        </p:txBody>
      </p:sp>
      <p:sp>
        <p:nvSpPr>
          <p:cNvPr id="441" name="Google Shape;441;p25"/>
          <p:cNvSpPr txBox="1"/>
          <p:nvPr/>
        </p:nvSpPr>
        <p:spPr>
          <a:xfrm>
            <a:off x="7532621" y="1602807"/>
            <a:ext cx="640635" cy="1188018"/>
          </a:xfrm>
          <a:prstGeom prst="rect">
            <a:avLst/>
          </a:prstGeom>
          <a:noFill/>
          <a:ln>
            <a:noFill/>
          </a:ln>
        </p:spPr>
        <p:txBody>
          <a:bodyPr anchorCtr="0" anchor="t" bIns="0" lIns="0" spcFirstLastPara="1" rIns="0" wrap="square" tIns="0">
            <a:spAutoFit/>
          </a:bodyPr>
          <a:lstStyle/>
          <a:p>
            <a:pPr indent="0" lvl="0" marL="0" marR="0" rtl="0" algn="l">
              <a:lnSpc>
                <a:spcPct val="177142"/>
              </a:lnSpc>
              <a:spcBef>
                <a:spcPts val="0"/>
              </a:spcBef>
              <a:spcAft>
                <a:spcPts val="0"/>
              </a:spcAft>
              <a:buNone/>
            </a:pPr>
            <a:r>
              <a:rPr b="0" i="0" lang="es-PE" sz="1050" u="none" cap="none" strike="noStrike">
                <a:solidFill>
                  <a:srgbClr val="262626"/>
                </a:solidFill>
                <a:latin typeface="Calibri"/>
                <a:ea typeface="Calibri"/>
                <a:cs typeface="Calibri"/>
                <a:sym typeface="Calibri"/>
              </a:rPr>
              <a:t>Italy</a:t>
            </a:r>
            <a:endParaRPr/>
          </a:p>
          <a:p>
            <a:pPr indent="0" lvl="0" marL="0" marR="0" rtl="0" algn="l">
              <a:lnSpc>
                <a:spcPct val="177142"/>
              </a:lnSpc>
              <a:spcBef>
                <a:spcPts val="0"/>
              </a:spcBef>
              <a:spcAft>
                <a:spcPts val="0"/>
              </a:spcAft>
              <a:buNone/>
            </a:pPr>
            <a:r>
              <a:rPr b="0" i="0" lang="es-PE" sz="1050" u="none" cap="none" strike="noStrike">
                <a:solidFill>
                  <a:srgbClr val="262626"/>
                </a:solidFill>
                <a:latin typeface="Calibri"/>
                <a:ea typeface="Calibri"/>
                <a:cs typeface="Calibri"/>
                <a:sym typeface="Calibri"/>
              </a:rPr>
              <a:t>Portugal</a:t>
            </a:r>
            <a:endParaRPr/>
          </a:p>
          <a:p>
            <a:pPr indent="0" lvl="0" marL="0" marR="0" rtl="0" algn="l">
              <a:lnSpc>
                <a:spcPct val="177142"/>
              </a:lnSpc>
              <a:spcBef>
                <a:spcPts val="0"/>
              </a:spcBef>
              <a:spcAft>
                <a:spcPts val="0"/>
              </a:spcAft>
              <a:buNone/>
            </a:pPr>
            <a:r>
              <a:rPr b="0" i="0" lang="es-PE" sz="1050" u="none" cap="none" strike="noStrike">
                <a:solidFill>
                  <a:srgbClr val="262626"/>
                </a:solidFill>
                <a:latin typeface="Calibri"/>
                <a:ea typeface="Calibri"/>
                <a:cs typeface="Calibri"/>
                <a:sym typeface="Calibri"/>
              </a:rPr>
              <a:t>Spain</a:t>
            </a:r>
            <a:endParaRPr/>
          </a:p>
          <a:p>
            <a:pPr indent="0" lvl="0" marL="0" marR="0" rtl="0" algn="l">
              <a:lnSpc>
                <a:spcPct val="177142"/>
              </a:lnSpc>
              <a:spcBef>
                <a:spcPts val="0"/>
              </a:spcBef>
              <a:spcAft>
                <a:spcPts val="0"/>
              </a:spcAft>
              <a:buNone/>
            </a:pPr>
            <a:r>
              <a:rPr b="0" i="0" lang="es-PE" sz="1050" u="none" cap="none" strike="noStrike">
                <a:solidFill>
                  <a:srgbClr val="262626"/>
                </a:solidFill>
                <a:latin typeface="Calibri"/>
                <a:ea typeface="Calibri"/>
                <a:cs typeface="Calibri"/>
                <a:sym typeface="Calibri"/>
              </a:rPr>
              <a:t>France</a:t>
            </a:r>
            <a:endParaRPr/>
          </a:p>
          <a:p>
            <a:pPr indent="0" lvl="0" marL="0" marR="0" rtl="0" algn="l">
              <a:lnSpc>
                <a:spcPct val="177142"/>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442" name="Google Shape;442;p25"/>
          <p:cNvSpPr/>
          <p:nvPr/>
        </p:nvSpPr>
        <p:spPr>
          <a:xfrm>
            <a:off x="7276709" y="2147483"/>
            <a:ext cx="145289" cy="145289"/>
          </a:xfrm>
          <a:prstGeom prst="ellipse">
            <a:avLst/>
          </a:prstGeom>
          <a:solidFill>
            <a:srgbClr val="8EC5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43" name="Google Shape;443;p25"/>
          <p:cNvSpPr/>
          <p:nvPr/>
        </p:nvSpPr>
        <p:spPr>
          <a:xfrm>
            <a:off x="7276709" y="1913684"/>
            <a:ext cx="145289" cy="145289"/>
          </a:xfrm>
          <a:prstGeom prst="ellipse">
            <a:avLst/>
          </a:prstGeom>
          <a:solidFill>
            <a:srgbClr val="00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44" name="Google Shape;444;p25"/>
          <p:cNvSpPr/>
          <p:nvPr/>
        </p:nvSpPr>
        <p:spPr>
          <a:xfrm>
            <a:off x="7276709" y="2374014"/>
            <a:ext cx="145289" cy="145289"/>
          </a:xfrm>
          <a:prstGeom prst="ellipse">
            <a:avLst/>
          </a:prstGeom>
          <a:solidFill>
            <a:srgbClr val="714F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45" name="Google Shape;445;p25"/>
          <p:cNvSpPr/>
          <p:nvPr/>
        </p:nvSpPr>
        <p:spPr>
          <a:xfrm>
            <a:off x="7276709" y="1658994"/>
            <a:ext cx="145289" cy="145289"/>
          </a:xfrm>
          <a:prstGeom prst="ellipse">
            <a:avLst/>
          </a:prstGeom>
          <a:solidFill>
            <a:srgbClr val="848A9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446" name="Google Shape;446;p25"/>
          <p:cNvPicPr preferRelativeResize="0"/>
          <p:nvPr/>
        </p:nvPicPr>
        <p:blipFill rotWithShape="1">
          <a:blip r:embed="rId4">
            <a:alphaModFix/>
          </a:blip>
          <a:srcRect b="0" l="0" r="0" t="0"/>
          <a:stretch/>
        </p:blipFill>
        <p:spPr>
          <a:xfrm>
            <a:off x="5564464" y="1395824"/>
            <a:ext cx="1447647" cy="1443603"/>
          </a:xfrm>
          <a:prstGeom prst="rect">
            <a:avLst/>
          </a:prstGeom>
          <a:noFill/>
          <a:ln>
            <a:noFill/>
          </a:ln>
        </p:spPr>
      </p:pic>
      <p:sp>
        <p:nvSpPr>
          <p:cNvPr id="447" name="Google Shape;447;p25"/>
          <p:cNvSpPr txBox="1"/>
          <p:nvPr/>
        </p:nvSpPr>
        <p:spPr>
          <a:xfrm>
            <a:off x="4993340" y="1079258"/>
            <a:ext cx="3704993" cy="16158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50"/>
              <a:buFont typeface="Arial"/>
              <a:buNone/>
            </a:pPr>
            <a:r>
              <a:rPr b="1" i="0" lang="es-PE" sz="1050" u="none" cap="none" strike="noStrike">
                <a:solidFill>
                  <a:schemeClr val="dk1"/>
                </a:solidFill>
                <a:latin typeface="Calibri"/>
                <a:ea typeface="Calibri"/>
                <a:cs typeface="Calibri"/>
                <a:sym typeface="Calibri"/>
              </a:rPr>
              <a:t>Encuestados por país</a:t>
            </a:r>
            <a:endParaRPr b="1" i="0" sz="1050" u="none" cap="none" strike="noStrike">
              <a:solidFill>
                <a:schemeClr val="dk1"/>
              </a:solidFill>
              <a:latin typeface="Calibri"/>
              <a:ea typeface="Calibri"/>
              <a:cs typeface="Calibri"/>
              <a:sym typeface="Calibri"/>
            </a:endParaRPr>
          </a:p>
        </p:txBody>
      </p:sp>
      <p:sp>
        <p:nvSpPr>
          <p:cNvPr id="448" name="Google Shape;448;p25"/>
          <p:cNvSpPr/>
          <p:nvPr/>
        </p:nvSpPr>
        <p:spPr>
          <a:xfrm>
            <a:off x="5984638" y="1813976"/>
            <a:ext cx="607298" cy="607298"/>
          </a:xfrm>
          <a:prstGeom prst="ellipse">
            <a:avLst/>
          </a:prstGeom>
          <a:solidFill>
            <a:srgbClr val="D9DB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449" name="Google Shape;449;p25"/>
          <p:cNvGrpSpPr/>
          <p:nvPr/>
        </p:nvGrpSpPr>
        <p:grpSpPr>
          <a:xfrm>
            <a:off x="7508889" y="1053665"/>
            <a:ext cx="212767" cy="212767"/>
            <a:chOff x="5295914" y="212464"/>
            <a:chExt cx="537099" cy="537099"/>
          </a:xfrm>
        </p:grpSpPr>
        <p:sp>
          <p:nvSpPr>
            <p:cNvPr id="450" name="Google Shape;450;p25"/>
            <p:cNvSpPr/>
            <p:nvPr/>
          </p:nvSpPr>
          <p:spPr>
            <a:xfrm>
              <a:off x="5295914" y="212464"/>
              <a:ext cx="537099" cy="537099"/>
            </a:xfrm>
            <a:prstGeom prst="ellipse">
              <a:avLst/>
            </a:prstGeom>
            <a:noFill/>
            <a:ln cap="flat" cmpd="sng" w="19050">
              <a:solidFill>
                <a:srgbClr val="94949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1" name="Google Shape;451;p25"/>
            <p:cNvSpPr/>
            <p:nvPr/>
          </p:nvSpPr>
          <p:spPr>
            <a:xfrm rot="2579344">
              <a:off x="5436811" y="435247"/>
              <a:ext cx="247374" cy="69967"/>
            </a:xfrm>
            <a:prstGeom prst="rect">
              <a:avLst/>
            </a:prstGeom>
            <a:solidFill>
              <a:srgbClr val="EE46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2" name="Google Shape;452;p25"/>
            <p:cNvSpPr/>
            <p:nvPr/>
          </p:nvSpPr>
          <p:spPr>
            <a:xfrm rot="-2654653">
              <a:off x="5448446" y="438732"/>
              <a:ext cx="247374" cy="69967"/>
            </a:xfrm>
            <a:prstGeom prst="rect">
              <a:avLst/>
            </a:prstGeom>
            <a:solidFill>
              <a:srgbClr val="EE46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26"/>
          <p:cNvSpPr/>
          <p:nvPr/>
        </p:nvSpPr>
        <p:spPr>
          <a:xfrm>
            <a:off x="0" y="0"/>
            <a:ext cx="9144000" cy="5715000"/>
          </a:xfrm>
          <a:prstGeom prst="rect">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9" name="Google Shape;459;p26"/>
          <p:cNvSpPr txBox="1"/>
          <p:nvPr/>
        </p:nvSpPr>
        <p:spPr>
          <a:xfrm>
            <a:off x="1008063" y="3169972"/>
            <a:ext cx="5993558" cy="997196"/>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2400"/>
              <a:buFont typeface="Arial"/>
              <a:buNone/>
            </a:pPr>
            <a:r>
              <a:rPr b="0" i="0" lang="es-PE" sz="2400" u="none" cap="none" strike="noStrike">
                <a:solidFill>
                  <a:schemeClr val="lt1"/>
                </a:solidFill>
                <a:latin typeface="Arial"/>
                <a:ea typeface="Arial"/>
                <a:cs typeface="Arial"/>
                <a:sym typeface="Arial"/>
              </a:rPr>
              <a:t>PRÁCTICAS PARA </a:t>
            </a:r>
            <a:endParaRPr/>
          </a:p>
          <a:p>
            <a:pPr indent="0" lvl="0" marL="0" marR="0" rtl="0" algn="l">
              <a:lnSpc>
                <a:spcPct val="90000"/>
              </a:lnSpc>
              <a:spcBef>
                <a:spcPts val="0"/>
              </a:spcBef>
              <a:spcAft>
                <a:spcPts val="0"/>
              </a:spcAft>
              <a:buClr>
                <a:srgbClr val="000000"/>
              </a:buClr>
              <a:buSzPts val="2400"/>
              <a:buFont typeface="Arial"/>
              <a:buNone/>
            </a:pPr>
            <a:r>
              <a:rPr b="1" i="0" lang="es-PE" sz="2400" u="none" cap="none" strike="noStrike">
                <a:solidFill>
                  <a:schemeClr val="lt1"/>
                </a:solidFill>
                <a:latin typeface="Arial"/>
                <a:ea typeface="Arial"/>
                <a:cs typeface="Arial"/>
                <a:sym typeface="Arial"/>
              </a:rPr>
              <a:t>ENTREVISTAS </a:t>
            </a:r>
            <a:endParaRPr/>
          </a:p>
          <a:p>
            <a:pPr indent="0" lvl="0" marL="0" marR="0" rtl="0" algn="l">
              <a:lnSpc>
                <a:spcPct val="90000"/>
              </a:lnSpc>
              <a:spcBef>
                <a:spcPts val="0"/>
              </a:spcBef>
              <a:spcAft>
                <a:spcPts val="0"/>
              </a:spcAft>
              <a:buClr>
                <a:srgbClr val="000000"/>
              </a:buClr>
              <a:buSzPts val="2400"/>
              <a:buFont typeface="Arial"/>
              <a:buNone/>
            </a:pPr>
            <a:r>
              <a:rPr b="1" i="0" lang="es-PE" sz="2400" u="none" cap="none" strike="noStrike">
                <a:solidFill>
                  <a:schemeClr val="lt1"/>
                </a:solidFill>
                <a:latin typeface="Arial"/>
                <a:ea typeface="Arial"/>
                <a:cs typeface="Arial"/>
                <a:sym typeface="Arial"/>
              </a:rPr>
              <a:t>A USUARIOS </a:t>
            </a:r>
            <a:endParaRPr/>
          </a:p>
        </p:txBody>
      </p:sp>
      <p:pic>
        <p:nvPicPr>
          <p:cNvPr id="460" name="Google Shape;460;p26"/>
          <p:cNvPicPr preferRelativeResize="0"/>
          <p:nvPr/>
        </p:nvPicPr>
        <p:blipFill rotWithShape="1">
          <a:blip r:embed="rId3">
            <a:alphaModFix/>
          </a:blip>
          <a:srcRect b="0" l="0" r="0" t="0"/>
          <a:stretch/>
        </p:blipFill>
        <p:spPr>
          <a:xfrm>
            <a:off x="1008063" y="2869612"/>
            <a:ext cx="195423" cy="20125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27"/>
          <p:cNvSpPr txBox="1"/>
          <p:nvPr/>
        </p:nvSpPr>
        <p:spPr>
          <a:xfrm>
            <a:off x="3016987" y="2053817"/>
            <a:ext cx="4946165" cy="2019014"/>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0" i="0" lang="es-PE" sz="3200" u="none" cap="none" strike="noStrike">
                <a:solidFill>
                  <a:schemeClr val="dk1"/>
                </a:solidFill>
                <a:latin typeface="Arial"/>
                <a:ea typeface="Arial"/>
                <a:cs typeface="Arial"/>
                <a:sym typeface="Arial"/>
              </a:rPr>
              <a:t>¿QUÉ TE DIRÍA </a:t>
            </a:r>
            <a:endParaRPr/>
          </a:p>
          <a:p>
            <a:pPr indent="0" lvl="0" marL="0" marR="0" rtl="0" algn="l">
              <a:lnSpc>
                <a:spcPct val="80000"/>
              </a:lnSpc>
              <a:spcBef>
                <a:spcPts val="0"/>
              </a:spcBef>
              <a:spcAft>
                <a:spcPts val="0"/>
              </a:spcAft>
              <a:buNone/>
            </a:pPr>
            <a:r>
              <a:rPr b="0" i="0" lang="es-PE" sz="3200" u="none" cap="none" strike="noStrike">
                <a:solidFill>
                  <a:schemeClr val="dk1"/>
                </a:solidFill>
                <a:latin typeface="Arial"/>
                <a:ea typeface="Arial"/>
                <a:cs typeface="Arial"/>
                <a:sym typeface="Arial"/>
              </a:rPr>
              <a:t>TU MADRE SI LE </a:t>
            </a:r>
            <a:r>
              <a:rPr b="1" i="0" lang="es-PE" sz="3600" u="none" cap="none" strike="noStrike">
                <a:solidFill>
                  <a:srgbClr val="92C14D"/>
                </a:solidFill>
                <a:latin typeface="Arial"/>
                <a:ea typeface="Arial"/>
                <a:cs typeface="Arial"/>
                <a:sym typeface="Arial"/>
              </a:rPr>
              <a:t>“VENDIERAS” </a:t>
            </a:r>
            <a:endParaRPr/>
          </a:p>
          <a:p>
            <a:pPr indent="0" lvl="0" marL="0" marR="0" rtl="0" algn="l">
              <a:lnSpc>
                <a:spcPct val="80000"/>
              </a:lnSpc>
              <a:spcBef>
                <a:spcPts val="0"/>
              </a:spcBef>
              <a:spcAft>
                <a:spcPts val="0"/>
              </a:spcAft>
              <a:buNone/>
            </a:pPr>
            <a:r>
              <a:rPr b="1" i="0" lang="es-PE" sz="3600" u="none" cap="none" strike="noStrike">
                <a:solidFill>
                  <a:srgbClr val="92C14D"/>
                </a:solidFill>
                <a:latin typeface="Arial"/>
                <a:ea typeface="Arial"/>
                <a:cs typeface="Arial"/>
                <a:sym typeface="Arial"/>
              </a:rPr>
              <a:t>TU IDEA?</a:t>
            </a:r>
            <a:endParaRPr b="1" i="0" sz="3600" u="none" cap="none" strike="noStrike">
              <a:solidFill>
                <a:srgbClr val="92C14D"/>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p:txBody>
      </p:sp>
      <p:pic>
        <p:nvPicPr>
          <p:cNvPr id="467" name="Google Shape;467;p27"/>
          <p:cNvPicPr preferRelativeResize="0"/>
          <p:nvPr/>
        </p:nvPicPr>
        <p:blipFill rotWithShape="1">
          <a:blip r:embed="rId3">
            <a:alphaModFix/>
          </a:blip>
          <a:srcRect b="0" l="0" r="0" t="0"/>
          <a:stretch/>
        </p:blipFill>
        <p:spPr>
          <a:xfrm>
            <a:off x="1465763" y="1869981"/>
            <a:ext cx="1222115" cy="1204625"/>
          </a:xfrm>
          <a:prstGeom prst="rect">
            <a:avLst/>
          </a:prstGeom>
          <a:noFill/>
          <a:ln>
            <a:noFill/>
          </a:ln>
        </p:spPr>
      </p:pic>
      <p:sp>
        <p:nvSpPr>
          <p:cNvPr id="468" name="Google Shape;468;p27"/>
          <p:cNvSpPr/>
          <p:nvPr/>
        </p:nvSpPr>
        <p:spPr>
          <a:xfrm>
            <a:off x="503237" y="377668"/>
            <a:ext cx="5144029"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PRÁCTICAS PARA ENTREVISTAS A USUARIOS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28"/>
          <p:cNvSpPr/>
          <p:nvPr/>
        </p:nvSpPr>
        <p:spPr>
          <a:xfrm>
            <a:off x="503237" y="377668"/>
            <a:ext cx="5144029"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PRÁCTICAS PARA ENTREVISTAS A USUARIOS </a:t>
            </a:r>
            <a:endParaRPr b="0" i="0" sz="1400" u="none" cap="none" strike="noStrike">
              <a:solidFill>
                <a:srgbClr val="000000"/>
              </a:solidFill>
              <a:latin typeface="Arial"/>
              <a:ea typeface="Arial"/>
              <a:cs typeface="Arial"/>
              <a:sym typeface="Arial"/>
            </a:endParaRPr>
          </a:p>
        </p:txBody>
      </p:sp>
      <p:sp>
        <p:nvSpPr>
          <p:cNvPr id="475" name="Google Shape;475;p28"/>
          <p:cNvSpPr/>
          <p:nvPr/>
        </p:nvSpPr>
        <p:spPr>
          <a:xfrm>
            <a:off x="1558499" y="2021087"/>
            <a:ext cx="6027001" cy="1851212"/>
          </a:xfrm>
          <a:prstGeom prst="roundRect">
            <a:avLst>
              <a:gd fmla="val 5987" name="adj"/>
            </a:avLst>
          </a:prstGeom>
          <a:solidFill>
            <a:srgbClr val="00B1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476" name="Google Shape;476;p28"/>
          <p:cNvPicPr preferRelativeResize="0"/>
          <p:nvPr/>
        </p:nvPicPr>
        <p:blipFill rotWithShape="1">
          <a:blip r:embed="rId3">
            <a:alphaModFix/>
          </a:blip>
          <a:srcRect b="47889" l="30025" r="24146" t="0"/>
          <a:stretch/>
        </p:blipFill>
        <p:spPr>
          <a:xfrm>
            <a:off x="1836410" y="1548606"/>
            <a:ext cx="546847" cy="920717"/>
          </a:xfrm>
          <a:prstGeom prst="rect">
            <a:avLst/>
          </a:prstGeom>
          <a:noFill/>
          <a:ln>
            <a:noFill/>
          </a:ln>
        </p:spPr>
      </p:pic>
      <p:sp>
        <p:nvSpPr>
          <p:cNvPr id="477" name="Google Shape;477;p28"/>
          <p:cNvSpPr txBox="1"/>
          <p:nvPr/>
        </p:nvSpPr>
        <p:spPr>
          <a:xfrm>
            <a:off x="1950236" y="2541401"/>
            <a:ext cx="5114518" cy="101566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0" i="0" lang="es-PE" sz="2000" u="none" cap="none" strike="noStrike">
                <a:solidFill>
                  <a:schemeClr val="lt1"/>
                </a:solidFill>
                <a:latin typeface="Calibri"/>
                <a:ea typeface="Calibri"/>
                <a:cs typeface="Calibri"/>
                <a:sym typeface="Calibri"/>
              </a:rPr>
              <a:t>People know what their problems are, but they don’t know how to solve those problems.</a:t>
            </a:r>
            <a:endParaRPr b="1" i="0" sz="2000" u="none" cap="none" strike="noStrike">
              <a:solidFill>
                <a:schemeClr val="lt1"/>
              </a:solidFill>
              <a:latin typeface="Calibri"/>
              <a:ea typeface="Calibri"/>
              <a:cs typeface="Calibri"/>
              <a:sym typeface="Calibri"/>
            </a:endParaRPr>
          </a:p>
          <a:p>
            <a:pPr indent="0" lvl="0" marL="0" marR="0" rtl="0" algn="r">
              <a:lnSpc>
                <a:spcPct val="100000"/>
              </a:lnSpc>
              <a:spcBef>
                <a:spcPts val="1200"/>
              </a:spcBef>
              <a:spcAft>
                <a:spcPts val="0"/>
              </a:spcAft>
              <a:buClr>
                <a:srgbClr val="000000"/>
              </a:buClr>
              <a:buSzPts val="1600"/>
              <a:buFont typeface="Arial"/>
              <a:buNone/>
            </a:pPr>
            <a:r>
              <a:rPr b="1" i="0" lang="es-PE" sz="1600" u="none" cap="none" strike="noStrike">
                <a:solidFill>
                  <a:schemeClr val="lt1"/>
                </a:solidFill>
                <a:latin typeface="Calibri"/>
                <a:ea typeface="Calibri"/>
                <a:cs typeface="Calibri"/>
                <a:sym typeface="Calibri"/>
              </a:rPr>
              <a:t>Rob Fitzpatrick (2013)</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29"/>
          <p:cNvSpPr txBox="1"/>
          <p:nvPr/>
        </p:nvSpPr>
        <p:spPr>
          <a:xfrm>
            <a:off x="511341" y="949325"/>
            <a:ext cx="3881272" cy="4185761"/>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500"/>
              <a:buFont typeface="Arial"/>
              <a:buNone/>
            </a:pPr>
            <a:r>
              <a:rPr b="1" i="0" lang="es-PE" sz="1500" u="none" cap="none" strike="noStrike">
                <a:solidFill>
                  <a:srgbClr val="262626"/>
                </a:solidFill>
                <a:latin typeface="Calibri"/>
                <a:ea typeface="Calibri"/>
                <a:cs typeface="Calibri"/>
                <a:sym typeface="Calibri"/>
              </a:rPr>
              <a:t>PREGUNTAS QUE SÍ PUEDES INCLUIR</a:t>
            </a:r>
            <a:endParaRPr b="0" i="0" sz="1500" u="none" cap="none" strike="noStrike">
              <a:solidFill>
                <a:srgbClr val="262626"/>
              </a:solidFill>
              <a:latin typeface="Calibri"/>
              <a:ea typeface="Calibri"/>
              <a:cs typeface="Calibri"/>
              <a:sym typeface="Calibri"/>
            </a:endParaRPr>
          </a:p>
          <a:p>
            <a:pPr indent="-171450" lvl="0" marL="182563" marR="0" rtl="0" algn="l">
              <a:lnSpc>
                <a:spcPct val="100000"/>
              </a:lnSpc>
              <a:spcBef>
                <a:spcPts val="600"/>
              </a:spcBef>
              <a:spcAft>
                <a:spcPts val="0"/>
              </a:spcAft>
              <a:buClr>
                <a:srgbClr val="000000"/>
              </a:buClr>
              <a:buSzPts val="1400"/>
              <a:buFont typeface="Arial"/>
              <a:buChar char="•"/>
            </a:pPr>
            <a:r>
              <a:rPr b="0" i="0" lang="es-PE" sz="1400" u="none" cap="none" strike="noStrike">
                <a:solidFill>
                  <a:srgbClr val="262626"/>
                </a:solidFill>
                <a:latin typeface="Calibri"/>
                <a:ea typeface="Calibri"/>
                <a:cs typeface="Calibri"/>
                <a:sym typeface="Calibri"/>
              </a:rPr>
              <a:t>Describe cómo es el proceso que sigues. No te quedes solo con ello, genera repreguntas sobre esto.</a:t>
            </a:r>
            <a:endParaRPr b="0" i="0" sz="1400" u="none" cap="none" strike="noStrike">
              <a:solidFill>
                <a:srgbClr val="262626"/>
              </a:solidFill>
              <a:latin typeface="Calibri"/>
              <a:ea typeface="Calibri"/>
              <a:cs typeface="Calibri"/>
              <a:sym typeface="Calibri"/>
            </a:endParaRPr>
          </a:p>
          <a:p>
            <a:pPr indent="-171450" lvl="0" marL="182563" marR="0" rtl="0" algn="l">
              <a:lnSpc>
                <a:spcPct val="100000"/>
              </a:lnSpc>
              <a:spcBef>
                <a:spcPts val="0"/>
              </a:spcBef>
              <a:spcAft>
                <a:spcPts val="0"/>
              </a:spcAft>
              <a:buClr>
                <a:srgbClr val="000000"/>
              </a:buClr>
              <a:buSzPts val="1400"/>
              <a:buFont typeface="Arial"/>
              <a:buChar char="•"/>
            </a:pPr>
            <a:r>
              <a:rPr b="0" i="0" lang="es-PE" sz="1400" u="none" cap="none" strike="noStrike">
                <a:solidFill>
                  <a:srgbClr val="262626"/>
                </a:solidFill>
                <a:latin typeface="Calibri"/>
                <a:ea typeface="Calibri"/>
                <a:cs typeface="Calibri"/>
                <a:sym typeface="Calibri"/>
              </a:rPr>
              <a:t>Ejemplo: </a:t>
            </a:r>
            <a:r>
              <a:rPr b="0" i="1" lang="es-PE" sz="1400" u="none" cap="none" strike="noStrike">
                <a:solidFill>
                  <a:srgbClr val="262626"/>
                </a:solidFill>
                <a:latin typeface="Calibri"/>
                <a:ea typeface="Calibri"/>
                <a:cs typeface="Calibri"/>
                <a:sym typeface="Calibri"/>
              </a:rPr>
              <a:t>¿Cuál es el punto que más se te dificulta de esto? ¿Por qué es tan complicado?</a:t>
            </a:r>
            <a:endParaRPr b="0" i="0" sz="1400" u="none" cap="none" strike="noStrike">
              <a:solidFill>
                <a:srgbClr val="000000"/>
              </a:solidFill>
              <a:latin typeface="Calibri"/>
              <a:ea typeface="Calibri"/>
              <a:cs typeface="Calibri"/>
              <a:sym typeface="Calibri"/>
            </a:endParaRPr>
          </a:p>
          <a:p>
            <a:pPr indent="-82549" lvl="0" marL="182563"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Calibri"/>
              <a:ea typeface="Calibri"/>
              <a:cs typeface="Calibri"/>
              <a:sym typeface="Calibri"/>
            </a:endParaRPr>
          </a:p>
          <a:p>
            <a:pPr indent="-171450" lvl="0" marL="182563" marR="0" rtl="0" algn="l">
              <a:lnSpc>
                <a:spcPct val="100000"/>
              </a:lnSpc>
              <a:spcBef>
                <a:spcPts val="0"/>
              </a:spcBef>
              <a:spcAft>
                <a:spcPts val="0"/>
              </a:spcAft>
              <a:buClr>
                <a:srgbClr val="000000"/>
              </a:buClr>
              <a:buSzPts val="1400"/>
              <a:buFont typeface="Arial"/>
              <a:buChar char="•"/>
            </a:pPr>
            <a:r>
              <a:rPr b="0" i="0" lang="es-PE" sz="1400" u="none" cap="none" strike="noStrike">
                <a:solidFill>
                  <a:srgbClr val="262626"/>
                </a:solidFill>
                <a:latin typeface="Calibri"/>
                <a:ea typeface="Calibri"/>
                <a:cs typeface="Calibri"/>
                <a:sym typeface="Calibri"/>
              </a:rPr>
              <a:t>En general:</a:t>
            </a:r>
            <a:endParaRPr b="0" i="0" sz="1400" u="none" cap="none" strike="noStrike">
              <a:solidFill>
                <a:srgbClr val="000000"/>
              </a:solidFill>
              <a:latin typeface="Calibri"/>
              <a:ea typeface="Calibri"/>
              <a:cs typeface="Calibri"/>
              <a:sym typeface="Calibri"/>
            </a:endParaRPr>
          </a:p>
          <a:p>
            <a:pPr indent="-182562" lvl="0" marL="365125" marR="0" rtl="0" algn="l">
              <a:lnSpc>
                <a:spcPct val="100000"/>
              </a:lnSpc>
              <a:spcBef>
                <a:spcPts val="0"/>
              </a:spcBef>
              <a:spcAft>
                <a:spcPts val="0"/>
              </a:spcAft>
              <a:buClr>
                <a:srgbClr val="262626"/>
              </a:buClr>
              <a:buSzPts val="1500"/>
              <a:buFont typeface="Arial"/>
              <a:buChar char="•"/>
            </a:pPr>
            <a:r>
              <a:rPr b="0" i="0" lang="es-PE" sz="1400" u="none" cap="none" strike="noStrike">
                <a:solidFill>
                  <a:srgbClr val="262626"/>
                </a:solidFill>
                <a:latin typeface="Calibri"/>
                <a:ea typeface="Calibri"/>
                <a:cs typeface="Calibri"/>
                <a:sym typeface="Calibri"/>
              </a:rPr>
              <a:t>¿Existe algo adicional que debí haber preguntado?</a:t>
            </a:r>
            <a:endParaRPr b="0" i="0" sz="1400" u="none" cap="none" strike="noStrike">
              <a:solidFill>
                <a:srgbClr val="000000"/>
              </a:solidFill>
              <a:latin typeface="Calibri"/>
              <a:ea typeface="Calibri"/>
              <a:cs typeface="Calibri"/>
              <a:sym typeface="Calibri"/>
            </a:endParaRPr>
          </a:p>
          <a:p>
            <a:pPr indent="-182562" lvl="0" marL="365125" marR="0" rtl="0" algn="l">
              <a:lnSpc>
                <a:spcPct val="100000"/>
              </a:lnSpc>
              <a:spcBef>
                <a:spcPts val="0"/>
              </a:spcBef>
              <a:spcAft>
                <a:spcPts val="0"/>
              </a:spcAft>
              <a:buClr>
                <a:srgbClr val="262626"/>
              </a:buClr>
              <a:buSzPts val="1500"/>
              <a:buFont typeface="Arial"/>
              <a:buChar char="•"/>
            </a:pPr>
            <a:r>
              <a:rPr b="0" i="0" lang="es-PE" sz="1400" u="none" cap="none" strike="noStrike">
                <a:solidFill>
                  <a:srgbClr val="262626"/>
                </a:solidFill>
                <a:latin typeface="Calibri"/>
                <a:ea typeface="Calibri"/>
                <a:cs typeface="Calibri"/>
                <a:sym typeface="Calibri"/>
              </a:rPr>
              <a:t>¿Hay alguien adicional que crees que deba tener una conversación con …?</a:t>
            </a:r>
            <a:endParaRPr b="0" i="0" sz="1400" u="none" cap="none" strike="noStrike">
              <a:solidFill>
                <a:srgbClr val="262626"/>
              </a:solidFill>
              <a:latin typeface="Calibri"/>
              <a:ea typeface="Calibri"/>
              <a:cs typeface="Calibri"/>
              <a:sym typeface="Calibri"/>
            </a:endParaRPr>
          </a:p>
          <a:p>
            <a:pPr indent="-82549" lvl="0" marL="182563"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62626"/>
              </a:solidFill>
              <a:latin typeface="Calibri"/>
              <a:ea typeface="Calibri"/>
              <a:cs typeface="Calibri"/>
              <a:sym typeface="Calibri"/>
            </a:endParaRPr>
          </a:p>
          <a:p>
            <a:pPr indent="-171450" lvl="0" marL="182563" marR="0" rtl="0" algn="l">
              <a:lnSpc>
                <a:spcPct val="100000"/>
              </a:lnSpc>
              <a:spcBef>
                <a:spcPts val="0"/>
              </a:spcBef>
              <a:spcAft>
                <a:spcPts val="0"/>
              </a:spcAft>
              <a:buClr>
                <a:srgbClr val="000000"/>
              </a:buClr>
              <a:buSzPts val="1400"/>
              <a:buFont typeface="Arial"/>
              <a:buChar char="•"/>
            </a:pPr>
            <a:r>
              <a:rPr b="0" i="0" lang="es-PE" sz="1400" u="none" cap="none" strike="noStrike">
                <a:solidFill>
                  <a:srgbClr val="262626"/>
                </a:solidFill>
                <a:latin typeface="Calibri"/>
                <a:ea typeface="Calibri"/>
                <a:cs typeface="Calibri"/>
                <a:sym typeface="Calibri"/>
              </a:rPr>
              <a:t>Para identificar si realmente valdría la pena desarrollar una solución o no:</a:t>
            </a:r>
            <a:endParaRPr b="0" i="0" sz="1400" u="none" cap="none" strike="noStrike">
              <a:solidFill>
                <a:srgbClr val="000000"/>
              </a:solidFill>
              <a:latin typeface="Calibri"/>
              <a:ea typeface="Calibri"/>
              <a:cs typeface="Calibri"/>
              <a:sym typeface="Calibri"/>
            </a:endParaRPr>
          </a:p>
          <a:p>
            <a:pPr indent="-182562" lvl="0" marL="365125" marR="0" rtl="0" algn="l">
              <a:lnSpc>
                <a:spcPct val="100000"/>
              </a:lnSpc>
              <a:spcBef>
                <a:spcPts val="0"/>
              </a:spcBef>
              <a:spcAft>
                <a:spcPts val="0"/>
              </a:spcAft>
              <a:buClr>
                <a:srgbClr val="262626"/>
              </a:buClr>
              <a:buSzPts val="1500"/>
              <a:buFont typeface="Arial"/>
              <a:buChar char="•"/>
            </a:pPr>
            <a:r>
              <a:rPr b="0" i="0" lang="es-PE" sz="1400" u="none" cap="none" strike="noStrike">
                <a:solidFill>
                  <a:srgbClr val="262626"/>
                </a:solidFill>
                <a:latin typeface="Calibri"/>
                <a:ea typeface="Calibri"/>
                <a:cs typeface="Calibri"/>
                <a:sym typeface="Calibri"/>
              </a:rPr>
              <a:t>¿Qué otro método alternativo has utilizado para solucionar esto?</a:t>
            </a:r>
            <a:endParaRPr b="0" i="0" sz="1400" u="none" cap="none" strike="noStrike">
              <a:solidFill>
                <a:srgbClr val="000000"/>
              </a:solidFill>
              <a:latin typeface="Calibri"/>
              <a:ea typeface="Calibri"/>
              <a:cs typeface="Calibri"/>
              <a:sym typeface="Calibri"/>
            </a:endParaRPr>
          </a:p>
          <a:p>
            <a:pPr indent="-182562" lvl="0" marL="365125" marR="0" rtl="0" algn="l">
              <a:lnSpc>
                <a:spcPct val="100000"/>
              </a:lnSpc>
              <a:spcBef>
                <a:spcPts val="0"/>
              </a:spcBef>
              <a:spcAft>
                <a:spcPts val="0"/>
              </a:spcAft>
              <a:buClr>
                <a:srgbClr val="262626"/>
              </a:buClr>
              <a:buSzPts val="1500"/>
              <a:buFont typeface="Arial"/>
              <a:buChar char="•"/>
            </a:pPr>
            <a:r>
              <a:rPr b="0" i="0" lang="es-PE" sz="1400" u="none" cap="none" strike="noStrike">
                <a:solidFill>
                  <a:srgbClr val="262626"/>
                </a:solidFill>
                <a:latin typeface="Calibri"/>
                <a:ea typeface="Calibri"/>
                <a:cs typeface="Calibri"/>
                <a:sym typeface="Calibri"/>
              </a:rPr>
              <a:t>¿Cada cuánto realizas este proceso?</a:t>
            </a:r>
            <a:endParaRPr b="0" i="0" sz="1400" u="none" cap="none" strike="noStrike">
              <a:solidFill>
                <a:srgbClr val="000000"/>
              </a:solidFill>
              <a:latin typeface="Calibri"/>
              <a:ea typeface="Calibri"/>
              <a:cs typeface="Calibri"/>
              <a:sym typeface="Calibri"/>
            </a:endParaRPr>
          </a:p>
          <a:p>
            <a:pPr indent="-182562" lvl="0" marL="365125" marR="0" rtl="0" algn="l">
              <a:lnSpc>
                <a:spcPct val="100000"/>
              </a:lnSpc>
              <a:spcBef>
                <a:spcPts val="0"/>
              </a:spcBef>
              <a:spcAft>
                <a:spcPts val="0"/>
              </a:spcAft>
              <a:buClr>
                <a:srgbClr val="262626"/>
              </a:buClr>
              <a:buSzPts val="1500"/>
              <a:buFont typeface="Arial"/>
              <a:buChar char="•"/>
            </a:pPr>
            <a:r>
              <a:rPr b="0" i="0" lang="es-PE" sz="1400" u="none" cap="none" strike="noStrike">
                <a:solidFill>
                  <a:srgbClr val="262626"/>
                </a:solidFill>
                <a:latin typeface="Calibri"/>
                <a:ea typeface="Calibri"/>
                <a:cs typeface="Calibri"/>
                <a:sym typeface="Calibri"/>
              </a:rPr>
              <a:t>¿Cómo lidias con este problema actualmente?</a:t>
            </a:r>
            <a:endParaRPr b="0" i="0" sz="1400" u="none" cap="none" strike="noStrike">
              <a:solidFill>
                <a:srgbClr val="000000"/>
              </a:solidFill>
              <a:latin typeface="Calibri"/>
              <a:ea typeface="Calibri"/>
              <a:cs typeface="Calibri"/>
              <a:sym typeface="Calibri"/>
            </a:endParaRPr>
          </a:p>
        </p:txBody>
      </p:sp>
      <p:sp>
        <p:nvSpPr>
          <p:cNvPr id="484" name="Google Shape;484;p29"/>
          <p:cNvSpPr/>
          <p:nvPr/>
        </p:nvSpPr>
        <p:spPr>
          <a:xfrm>
            <a:off x="503237" y="377668"/>
            <a:ext cx="5144029"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PRÁCTICAS PARA ENTREVISTAS A USUARIOS </a:t>
            </a:r>
            <a:endParaRPr b="0" i="0" sz="1400" u="none" cap="none" strike="noStrike">
              <a:solidFill>
                <a:srgbClr val="000000"/>
              </a:solidFill>
              <a:latin typeface="Arial"/>
              <a:ea typeface="Arial"/>
              <a:cs typeface="Arial"/>
              <a:sym typeface="Arial"/>
            </a:endParaRPr>
          </a:p>
        </p:txBody>
      </p:sp>
      <p:grpSp>
        <p:nvGrpSpPr>
          <p:cNvPr id="485" name="Google Shape;485;p29"/>
          <p:cNvGrpSpPr/>
          <p:nvPr/>
        </p:nvGrpSpPr>
        <p:grpSpPr>
          <a:xfrm>
            <a:off x="4759855" y="481013"/>
            <a:ext cx="3915833" cy="4752975"/>
            <a:chOff x="5012268" y="699195"/>
            <a:chExt cx="3663420" cy="4534793"/>
          </a:xfrm>
        </p:grpSpPr>
        <p:pic>
          <p:nvPicPr>
            <p:cNvPr descr="Interviewing Myth #2: Take Very Few Notes - Topgrading" id="486" name="Google Shape;486;p29"/>
            <p:cNvPicPr preferRelativeResize="0"/>
            <p:nvPr/>
          </p:nvPicPr>
          <p:blipFill rotWithShape="1">
            <a:blip r:embed="rId3">
              <a:alphaModFix/>
            </a:blip>
            <a:srcRect b="0" l="0" r="0" t="0"/>
            <a:stretch/>
          </p:blipFill>
          <p:spPr>
            <a:xfrm>
              <a:off x="5012268" y="3216245"/>
              <a:ext cx="3663420" cy="2017743"/>
            </a:xfrm>
            <a:prstGeom prst="rect">
              <a:avLst/>
            </a:prstGeom>
            <a:noFill/>
            <a:ln>
              <a:noFill/>
            </a:ln>
          </p:spPr>
        </p:pic>
        <p:pic>
          <p:nvPicPr>
            <p:cNvPr id="487" name="Google Shape;487;p29"/>
            <p:cNvPicPr preferRelativeResize="0"/>
            <p:nvPr/>
          </p:nvPicPr>
          <p:blipFill rotWithShape="1">
            <a:blip r:embed="rId4">
              <a:alphaModFix/>
            </a:blip>
            <a:srcRect b="0" l="0" r="0" t="0"/>
            <a:stretch/>
          </p:blipFill>
          <p:spPr>
            <a:xfrm>
              <a:off x="5012268" y="699195"/>
              <a:ext cx="3663420" cy="2443038"/>
            </a:xfrm>
            <a:prstGeom prst="rect">
              <a:avLst/>
            </a:prstGeom>
            <a:noFill/>
            <a:ln>
              <a:noFill/>
            </a:ln>
          </p:spPr>
        </p:pic>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30"/>
          <p:cNvSpPr txBox="1"/>
          <p:nvPr/>
        </p:nvSpPr>
        <p:spPr>
          <a:xfrm>
            <a:off x="503238" y="949325"/>
            <a:ext cx="3889375" cy="4255011"/>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rgbClr val="262626"/>
                </a:solidFill>
                <a:latin typeface="Calibri"/>
                <a:ea typeface="Calibri"/>
                <a:cs typeface="Calibri"/>
                <a:sym typeface="Calibri"/>
              </a:rPr>
              <a:t>PREGUNTAS QUE NO DEBERÍAS REALIZAR</a:t>
            </a:r>
            <a:endParaRPr b="0" i="0" sz="1400" u="none" cap="none" strike="noStrike">
              <a:solidFill>
                <a:srgbClr val="000000"/>
              </a:solidFill>
              <a:latin typeface="Arial"/>
              <a:ea typeface="Arial"/>
              <a:cs typeface="Arial"/>
              <a:sym typeface="Arial"/>
            </a:endParaRPr>
          </a:p>
          <a:p>
            <a:pPr indent="0" lvl="1" marL="11725" marR="0" rtl="0" algn="l">
              <a:lnSpc>
                <a:spcPct val="100000"/>
              </a:lnSpc>
              <a:spcBef>
                <a:spcPts val="600"/>
              </a:spcBef>
              <a:spcAft>
                <a:spcPts val="0"/>
              </a:spcAft>
              <a:buNone/>
            </a:pPr>
            <a:r>
              <a:rPr b="0" i="0" lang="es-PE" sz="1600" u="none" cap="none" strike="noStrike">
                <a:solidFill>
                  <a:srgbClr val="262626"/>
                </a:solidFill>
                <a:latin typeface="Calibri"/>
                <a:ea typeface="Calibri"/>
                <a:cs typeface="Calibri"/>
                <a:sym typeface="Calibri"/>
              </a:rPr>
              <a:t>En general, siempre buscaremos evitar las preguntas que sean de carácter Sí / No. Todo esto a menos que nos sirva para clasificar al entrevistado.</a:t>
            </a:r>
            <a:endParaRPr b="0" i="0" sz="1400" u="none" cap="none" strike="noStrike">
              <a:solidFill>
                <a:srgbClr val="000000"/>
              </a:solidFill>
              <a:latin typeface="Arial"/>
              <a:ea typeface="Arial"/>
              <a:cs typeface="Arial"/>
              <a:sym typeface="Arial"/>
            </a:endParaRPr>
          </a:p>
          <a:p>
            <a:pPr indent="0" lvl="0" marL="11725" marR="0" rtl="0" algn="l">
              <a:lnSpc>
                <a:spcPct val="100000"/>
              </a:lnSpc>
              <a:spcBef>
                <a:spcPts val="0"/>
              </a:spcBef>
              <a:spcAft>
                <a:spcPts val="0"/>
              </a:spcAft>
              <a:buClr>
                <a:srgbClr val="000000"/>
              </a:buClr>
              <a:buSzPts val="1600"/>
              <a:buFont typeface="Arial"/>
              <a:buNone/>
            </a:pPr>
            <a:r>
              <a:t/>
            </a:r>
            <a:endParaRPr b="0" i="0" sz="1600" u="none" cap="none" strike="noStrike">
              <a:solidFill>
                <a:srgbClr val="262626"/>
              </a:solidFill>
              <a:latin typeface="Calibri"/>
              <a:ea typeface="Calibri"/>
              <a:cs typeface="Calibri"/>
              <a:sym typeface="Calibri"/>
            </a:endParaRPr>
          </a:p>
          <a:p>
            <a:pPr indent="-173038" lvl="0" marL="184150" marR="0" rtl="0" algn="l">
              <a:lnSpc>
                <a:spcPct val="100000"/>
              </a:lnSpc>
              <a:spcBef>
                <a:spcPts val="0"/>
              </a:spcBef>
              <a:spcAft>
                <a:spcPts val="0"/>
              </a:spcAft>
              <a:buClr>
                <a:srgbClr val="262626"/>
              </a:buClr>
              <a:buSzPts val="1600"/>
              <a:buFont typeface="Arial"/>
              <a:buChar char="•"/>
            </a:pPr>
            <a:r>
              <a:rPr b="0" i="0" lang="es-PE" sz="1450" u="none" cap="none" strike="noStrike">
                <a:solidFill>
                  <a:srgbClr val="262626"/>
                </a:solidFill>
                <a:latin typeface="Calibri"/>
                <a:ea typeface="Calibri"/>
                <a:cs typeface="Calibri"/>
                <a:sym typeface="Calibri"/>
              </a:rPr>
              <a:t>Cualquier pregunta que involucre el contexto demográfico de la persona: Nombre, edad, sexo, ocupación, etc. Si tenemos alguna fuente para extraerlo es mejor apoyarnos de esto y </a:t>
            </a:r>
            <a:r>
              <a:rPr b="1" i="0" lang="es-PE" sz="1450" u="none" cap="none" strike="noStrike">
                <a:solidFill>
                  <a:srgbClr val="262626"/>
                </a:solidFill>
                <a:latin typeface="Calibri"/>
                <a:ea typeface="Calibri"/>
                <a:cs typeface="Calibri"/>
                <a:sym typeface="Calibri"/>
              </a:rPr>
              <a:t>enfocarnos en lo importante</a:t>
            </a:r>
            <a:r>
              <a:rPr b="0" i="0" lang="es-PE" sz="1450" u="none" cap="none" strike="noStrike">
                <a:solidFill>
                  <a:srgbClr val="262626"/>
                </a:solidFill>
                <a:latin typeface="Calibri"/>
                <a:ea typeface="Calibri"/>
                <a:cs typeface="Calibri"/>
                <a:sym typeface="Calibri"/>
              </a:rPr>
              <a:t>. Nuestro tiempo </a:t>
            </a:r>
            <a:br>
              <a:rPr b="0" i="0" lang="es-PE" sz="1450" u="none" cap="none" strike="noStrike">
                <a:solidFill>
                  <a:srgbClr val="262626"/>
                </a:solidFill>
                <a:latin typeface="Calibri"/>
                <a:ea typeface="Calibri"/>
                <a:cs typeface="Calibri"/>
                <a:sym typeface="Calibri"/>
              </a:rPr>
            </a:br>
            <a:r>
              <a:rPr b="1" i="0" lang="es-PE" sz="1450" u="none" cap="none" strike="noStrike">
                <a:solidFill>
                  <a:srgbClr val="262626"/>
                </a:solidFill>
                <a:latin typeface="Calibri"/>
                <a:ea typeface="Calibri"/>
                <a:cs typeface="Calibri"/>
                <a:sym typeface="Calibri"/>
              </a:rPr>
              <a:t>es valioso.</a:t>
            </a:r>
            <a:endParaRPr b="0" i="0" sz="1450" u="none" cap="none" strike="noStrike">
              <a:solidFill>
                <a:srgbClr val="000000"/>
              </a:solidFill>
              <a:latin typeface="Calibri"/>
              <a:ea typeface="Calibri"/>
              <a:cs typeface="Calibri"/>
              <a:sym typeface="Calibri"/>
            </a:endParaRPr>
          </a:p>
          <a:p>
            <a:pPr indent="-173038" lvl="0" marL="184150" marR="0" rtl="0" algn="l">
              <a:lnSpc>
                <a:spcPct val="100000"/>
              </a:lnSpc>
              <a:spcBef>
                <a:spcPts val="0"/>
              </a:spcBef>
              <a:spcAft>
                <a:spcPts val="0"/>
              </a:spcAft>
              <a:buClr>
                <a:srgbClr val="262626"/>
              </a:buClr>
              <a:buSzPts val="1600"/>
              <a:buFont typeface="Arial"/>
              <a:buChar char="•"/>
            </a:pPr>
            <a:r>
              <a:rPr b="0" i="0" lang="es-PE" sz="1450" u="none" cap="none" strike="noStrike">
                <a:solidFill>
                  <a:srgbClr val="262626"/>
                </a:solidFill>
                <a:latin typeface="Calibri"/>
                <a:ea typeface="Calibri"/>
                <a:cs typeface="Calibri"/>
                <a:sym typeface="Calibri"/>
              </a:rPr>
              <a:t>¿Te gustaría tener una solución que haga x, y, z? </a:t>
            </a:r>
            <a:endParaRPr b="0" i="0" sz="1450" u="none" cap="none" strike="noStrike">
              <a:solidFill>
                <a:srgbClr val="000000"/>
              </a:solidFill>
              <a:latin typeface="Calibri"/>
              <a:ea typeface="Calibri"/>
              <a:cs typeface="Calibri"/>
              <a:sym typeface="Calibri"/>
            </a:endParaRPr>
          </a:p>
          <a:p>
            <a:pPr indent="-173038" lvl="0" marL="184150" marR="0" rtl="0" algn="l">
              <a:lnSpc>
                <a:spcPct val="100000"/>
              </a:lnSpc>
              <a:spcBef>
                <a:spcPts val="0"/>
              </a:spcBef>
              <a:spcAft>
                <a:spcPts val="0"/>
              </a:spcAft>
              <a:buClr>
                <a:srgbClr val="262626"/>
              </a:buClr>
              <a:buSzPts val="1600"/>
              <a:buFont typeface="Arial"/>
              <a:buChar char="•"/>
            </a:pPr>
            <a:r>
              <a:rPr b="0" i="0" lang="es-PE" sz="1450" u="none" cap="none" strike="noStrike">
                <a:solidFill>
                  <a:srgbClr val="262626"/>
                </a:solidFill>
                <a:latin typeface="Calibri"/>
                <a:ea typeface="Calibri"/>
                <a:cs typeface="Calibri"/>
                <a:sym typeface="Calibri"/>
              </a:rPr>
              <a:t>¿Crees que X sería una buena idea?</a:t>
            </a:r>
            <a:endParaRPr b="0" i="0" sz="1450" u="none" cap="none" strike="noStrike">
              <a:solidFill>
                <a:srgbClr val="000000"/>
              </a:solidFill>
              <a:latin typeface="Calibri"/>
              <a:ea typeface="Calibri"/>
              <a:cs typeface="Calibri"/>
              <a:sym typeface="Calibri"/>
            </a:endParaRPr>
          </a:p>
          <a:p>
            <a:pPr indent="-173038" lvl="0" marL="184150" marR="0" rtl="0" algn="l">
              <a:lnSpc>
                <a:spcPct val="100000"/>
              </a:lnSpc>
              <a:spcBef>
                <a:spcPts val="0"/>
              </a:spcBef>
              <a:spcAft>
                <a:spcPts val="0"/>
              </a:spcAft>
              <a:buClr>
                <a:srgbClr val="262626"/>
              </a:buClr>
              <a:buSzPts val="1600"/>
              <a:buFont typeface="Arial"/>
              <a:buChar char="•"/>
            </a:pPr>
            <a:r>
              <a:rPr b="0" i="0" lang="es-PE" sz="1450" u="none" cap="none" strike="noStrike">
                <a:solidFill>
                  <a:srgbClr val="262626"/>
                </a:solidFill>
                <a:latin typeface="Calibri"/>
                <a:ea typeface="Calibri"/>
                <a:cs typeface="Calibri"/>
                <a:sym typeface="Calibri"/>
              </a:rPr>
              <a:t>¿Qué precio le pondrías a este producto?</a:t>
            </a:r>
            <a:endParaRPr b="0" i="0" sz="1450" u="none" cap="none" strike="noStrike">
              <a:solidFill>
                <a:srgbClr val="000000"/>
              </a:solidFill>
              <a:latin typeface="Calibri"/>
              <a:ea typeface="Calibri"/>
              <a:cs typeface="Calibri"/>
              <a:sym typeface="Calibri"/>
            </a:endParaRPr>
          </a:p>
          <a:p>
            <a:pPr indent="-173038" lvl="0" marL="184150" marR="0" rtl="0" algn="l">
              <a:lnSpc>
                <a:spcPct val="100000"/>
              </a:lnSpc>
              <a:spcBef>
                <a:spcPts val="0"/>
              </a:spcBef>
              <a:spcAft>
                <a:spcPts val="0"/>
              </a:spcAft>
              <a:buClr>
                <a:srgbClr val="262626"/>
              </a:buClr>
              <a:buSzPts val="1600"/>
              <a:buFont typeface="Arial"/>
              <a:buChar char="•"/>
            </a:pPr>
            <a:r>
              <a:rPr b="0" i="0" lang="es-PE" sz="1450" u="none" cap="none" strike="noStrike">
                <a:solidFill>
                  <a:srgbClr val="262626"/>
                </a:solidFill>
                <a:latin typeface="Calibri"/>
                <a:ea typeface="Calibri"/>
                <a:cs typeface="Calibri"/>
                <a:sym typeface="Calibri"/>
              </a:rPr>
              <a:t>¿Pagarías por un producto que hiciera XYZ?</a:t>
            </a:r>
            <a:endParaRPr b="0" i="0" sz="1450" u="none" cap="none" strike="noStrike">
              <a:solidFill>
                <a:srgbClr val="000000"/>
              </a:solidFill>
              <a:latin typeface="Calibri"/>
              <a:ea typeface="Calibri"/>
              <a:cs typeface="Calibri"/>
              <a:sym typeface="Calibri"/>
            </a:endParaRPr>
          </a:p>
          <a:p>
            <a:pPr indent="0" lvl="0" marL="11725" marR="0" rtl="0" algn="l">
              <a:lnSpc>
                <a:spcPct val="100000"/>
              </a:lnSpc>
              <a:spcBef>
                <a:spcPts val="0"/>
              </a:spcBef>
              <a:spcAft>
                <a:spcPts val="0"/>
              </a:spcAft>
              <a:buClr>
                <a:srgbClr val="000000"/>
              </a:buClr>
              <a:buSzPts val="1450"/>
              <a:buFont typeface="Arial"/>
              <a:buNone/>
            </a:pPr>
            <a:r>
              <a:t/>
            </a:r>
            <a:endParaRPr b="1" i="0" sz="1450" u="none" cap="none" strike="noStrike">
              <a:solidFill>
                <a:srgbClr val="262626"/>
              </a:solidFill>
              <a:latin typeface="Calibri"/>
              <a:ea typeface="Calibri"/>
              <a:cs typeface="Calibri"/>
              <a:sym typeface="Calibri"/>
            </a:endParaRPr>
          </a:p>
          <a:p>
            <a:pPr indent="0" lvl="0" marL="11725" marR="0" rtl="0" algn="l">
              <a:lnSpc>
                <a:spcPct val="100000"/>
              </a:lnSpc>
              <a:spcBef>
                <a:spcPts val="0"/>
              </a:spcBef>
              <a:spcAft>
                <a:spcPts val="0"/>
              </a:spcAft>
              <a:buClr>
                <a:srgbClr val="000000"/>
              </a:buClr>
              <a:buSzPts val="1600"/>
              <a:buFont typeface="Arial"/>
              <a:buNone/>
            </a:pPr>
            <a:r>
              <a:t/>
            </a:r>
            <a:endParaRPr b="1" i="0" sz="1600" u="none" cap="none" strike="noStrike">
              <a:solidFill>
                <a:srgbClr val="262626"/>
              </a:solidFill>
              <a:latin typeface="Calibri"/>
              <a:ea typeface="Calibri"/>
              <a:cs typeface="Calibri"/>
              <a:sym typeface="Calibri"/>
            </a:endParaRPr>
          </a:p>
        </p:txBody>
      </p:sp>
      <p:sp>
        <p:nvSpPr>
          <p:cNvPr id="494" name="Google Shape;494;p30"/>
          <p:cNvSpPr/>
          <p:nvPr/>
        </p:nvSpPr>
        <p:spPr>
          <a:xfrm>
            <a:off x="503237" y="377668"/>
            <a:ext cx="5144029"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PRÁCTICAS PARA ENTREVISTAS A USUARIOS </a:t>
            </a:r>
            <a:endParaRPr b="0" i="0" sz="1400" u="none" cap="none" strike="noStrike">
              <a:solidFill>
                <a:srgbClr val="000000"/>
              </a:solidFill>
              <a:latin typeface="Arial"/>
              <a:ea typeface="Arial"/>
              <a:cs typeface="Arial"/>
              <a:sym typeface="Arial"/>
            </a:endParaRPr>
          </a:p>
        </p:txBody>
      </p:sp>
      <p:pic>
        <p:nvPicPr>
          <p:cNvPr descr="Stop It Chris Hemsworth GIF by NETFLIX" id="495" name="Google Shape;495;p30"/>
          <p:cNvPicPr preferRelativeResize="0"/>
          <p:nvPr/>
        </p:nvPicPr>
        <p:blipFill rotWithShape="1">
          <a:blip r:embed="rId3">
            <a:alphaModFix/>
          </a:blip>
          <a:srcRect b="0" l="0" r="0" t="0"/>
          <a:stretch/>
        </p:blipFill>
        <p:spPr>
          <a:xfrm>
            <a:off x="4751389" y="1906347"/>
            <a:ext cx="3924299" cy="203428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31"/>
          <p:cNvSpPr txBox="1"/>
          <p:nvPr/>
        </p:nvSpPr>
        <p:spPr>
          <a:xfrm>
            <a:off x="4392613" y="949325"/>
            <a:ext cx="4356991" cy="4339650"/>
          </a:xfrm>
          <a:prstGeom prst="rect">
            <a:avLst/>
          </a:prstGeom>
          <a:noFill/>
          <a:ln>
            <a:noFill/>
          </a:ln>
        </p:spPr>
        <p:txBody>
          <a:bodyPr anchorCtr="0" anchor="t" bIns="0" lIns="0" spcFirstLastPara="1" rIns="0" wrap="square" tIns="0">
            <a:spAutoFit/>
          </a:bodyPr>
          <a:lstStyle/>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rgbClr val="262626"/>
                </a:solidFill>
                <a:latin typeface="Calibri"/>
                <a:ea typeface="Calibri"/>
                <a:cs typeface="Calibri"/>
                <a:sym typeface="Calibri"/>
              </a:rPr>
              <a:t>RECOMENDACIONES GENERALES</a:t>
            </a:r>
            <a:endParaRPr b="0" i="0" sz="1600" u="none" cap="none" strike="noStrike">
              <a:solidFill>
                <a:srgbClr val="262626"/>
              </a:solidFill>
              <a:latin typeface="Calibri"/>
              <a:ea typeface="Calibri"/>
              <a:cs typeface="Calibri"/>
              <a:sym typeface="Calibri"/>
            </a:endParaRPr>
          </a:p>
          <a:p>
            <a:pPr indent="-217487" lvl="0" marL="228600" marR="0" rtl="0" algn="l">
              <a:lnSpc>
                <a:spcPct val="100000"/>
              </a:lnSpc>
              <a:spcBef>
                <a:spcPts val="600"/>
              </a:spcBef>
              <a:spcAft>
                <a:spcPts val="0"/>
              </a:spcAft>
              <a:buClr>
                <a:srgbClr val="262626"/>
              </a:buClr>
              <a:buSzPts val="1600"/>
              <a:buFont typeface="Calibri"/>
              <a:buAutoNum type="arabicPeriod"/>
            </a:pPr>
            <a:r>
              <a:rPr b="0" i="0" lang="es-PE" sz="1600" u="none" cap="none" strike="noStrike">
                <a:solidFill>
                  <a:srgbClr val="262626"/>
                </a:solidFill>
                <a:latin typeface="Calibri"/>
                <a:ea typeface="Calibri"/>
                <a:cs typeface="Calibri"/>
                <a:sym typeface="Calibri"/>
              </a:rPr>
              <a:t>Habla acerca de su vida en lugar de tu idea</a:t>
            </a:r>
            <a:endParaRPr b="0" i="0" sz="1400" u="none" cap="none" strike="noStrike">
              <a:solidFill>
                <a:srgbClr val="000000"/>
              </a:solidFill>
              <a:latin typeface="Arial"/>
              <a:ea typeface="Arial"/>
              <a:cs typeface="Arial"/>
              <a:sym typeface="Arial"/>
            </a:endParaRPr>
          </a:p>
          <a:p>
            <a:pPr indent="-217487" lvl="0" marL="228600" marR="0" rtl="0" algn="l">
              <a:lnSpc>
                <a:spcPct val="100000"/>
              </a:lnSpc>
              <a:spcBef>
                <a:spcPts val="0"/>
              </a:spcBef>
              <a:spcAft>
                <a:spcPts val="0"/>
              </a:spcAft>
              <a:buClr>
                <a:srgbClr val="262626"/>
              </a:buClr>
              <a:buSzPts val="1600"/>
              <a:buFont typeface="Calibri"/>
              <a:buAutoNum type="arabicPeriod"/>
            </a:pPr>
            <a:r>
              <a:rPr b="0" i="0" lang="es-PE" sz="1600" u="none" cap="none" strike="noStrike">
                <a:solidFill>
                  <a:srgbClr val="262626"/>
                </a:solidFill>
                <a:latin typeface="Calibri"/>
                <a:ea typeface="Calibri"/>
                <a:cs typeface="Calibri"/>
                <a:sym typeface="Calibri"/>
              </a:rPr>
              <a:t>Pregunta por detalles del pasado en lugar de generalidades o suposiciones del futuro</a:t>
            </a:r>
            <a:endParaRPr b="0" i="0" sz="1400" u="none" cap="none" strike="noStrike">
              <a:solidFill>
                <a:srgbClr val="000000"/>
              </a:solidFill>
              <a:latin typeface="Arial"/>
              <a:ea typeface="Arial"/>
              <a:cs typeface="Arial"/>
              <a:sym typeface="Arial"/>
            </a:endParaRPr>
          </a:p>
          <a:p>
            <a:pPr indent="-217487" lvl="0" marL="228600" marR="0" rtl="0" algn="l">
              <a:lnSpc>
                <a:spcPct val="100000"/>
              </a:lnSpc>
              <a:spcBef>
                <a:spcPts val="0"/>
              </a:spcBef>
              <a:spcAft>
                <a:spcPts val="0"/>
              </a:spcAft>
              <a:buClr>
                <a:srgbClr val="262626"/>
              </a:buClr>
              <a:buSzPts val="1600"/>
              <a:buFont typeface="Calibri"/>
              <a:buAutoNum type="arabicPeriod"/>
            </a:pPr>
            <a:r>
              <a:rPr b="0" i="0" lang="es-PE" sz="1600" u="none" cap="none" strike="noStrike">
                <a:solidFill>
                  <a:srgbClr val="262626"/>
                </a:solidFill>
                <a:latin typeface="Calibri"/>
                <a:ea typeface="Calibri"/>
                <a:cs typeface="Calibri"/>
                <a:sym typeface="Calibri"/>
              </a:rPr>
              <a:t>Habla menos, escucha más.</a:t>
            </a:r>
            <a:endParaRPr b="0" i="0" sz="1400" u="none" cap="none" strike="noStrike">
              <a:solidFill>
                <a:srgbClr val="000000"/>
              </a:solidFill>
              <a:latin typeface="Arial"/>
              <a:ea typeface="Arial"/>
              <a:cs typeface="Arial"/>
              <a:sym typeface="Arial"/>
            </a:endParaRPr>
          </a:p>
          <a:p>
            <a:pPr indent="-241300" lvl="0" marL="354625"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262626"/>
              </a:solidFill>
              <a:latin typeface="Calibri"/>
              <a:ea typeface="Calibri"/>
              <a:cs typeface="Calibri"/>
              <a:sym typeface="Calibri"/>
            </a:endParaRPr>
          </a:p>
          <a:p>
            <a:pPr indent="0" lvl="0" marL="11725" marR="0" rtl="0" algn="l">
              <a:lnSpc>
                <a:spcPct val="100000"/>
              </a:lnSpc>
              <a:spcBef>
                <a:spcPts val="0"/>
              </a:spcBef>
              <a:spcAft>
                <a:spcPts val="0"/>
              </a:spcAft>
              <a:buClr>
                <a:srgbClr val="000000"/>
              </a:buClr>
              <a:buSzPts val="1600"/>
              <a:buFont typeface="Arial"/>
              <a:buNone/>
            </a:pPr>
            <a:r>
              <a:rPr b="1" i="0" lang="es-PE" sz="1600" u="none" cap="none" strike="noStrike">
                <a:solidFill>
                  <a:srgbClr val="262626"/>
                </a:solidFill>
                <a:latin typeface="Calibri"/>
                <a:ea typeface="Calibri"/>
                <a:cs typeface="Calibri"/>
                <a:sym typeface="Calibri"/>
              </a:rPr>
              <a:t>HECHOS GENERALES</a:t>
            </a:r>
            <a:endParaRPr b="0" i="0" sz="1400" u="none" cap="none" strike="noStrike">
              <a:solidFill>
                <a:srgbClr val="000000"/>
              </a:solidFill>
              <a:latin typeface="Arial"/>
              <a:ea typeface="Arial"/>
              <a:cs typeface="Arial"/>
              <a:sym typeface="Arial"/>
            </a:endParaRPr>
          </a:p>
          <a:p>
            <a:pPr indent="-174625" lvl="0" marL="185738" marR="0" rtl="0" algn="l">
              <a:lnSpc>
                <a:spcPct val="100000"/>
              </a:lnSpc>
              <a:spcBef>
                <a:spcPts val="600"/>
              </a:spcBef>
              <a:spcAft>
                <a:spcPts val="0"/>
              </a:spcAft>
              <a:buClr>
                <a:srgbClr val="262626"/>
              </a:buClr>
              <a:buSzPts val="1600"/>
              <a:buFont typeface="Arial"/>
              <a:buChar char="•"/>
            </a:pPr>
            <a:r>
              <a:rPr b="0" i="0" lang="es-PE" sz="1600" u="none" cap="none" strike="noStrike">
                <a:solidFill>
                  <a:srgbClr val="262626"/>
                </a:solidFill>
                <a:latin typeface="Calibri"/>
                <a:ea typeface="Calibri"/>
                <a:cs typeface="Calibri"/>
                <a:sym typeface="Calibri"/>
              </a:rPr>
              <a:t>Algunos problemas de los usuarios realmente no son importantes de resolver</a:t>
            </a:r>
            <a:endParaRPr b="0" i="0" sz="1400" u="none" cap="none" strike="noStrike">
              <a:solidFill>
                <a:srgbClr val="000000"/>
              </a:solidFill>
              <a:latin typeface="Arial"/>
              <a:ea typeface="Arial"/>
              <a:cs typeface="Arial"/>
              <a:sym typeface="Arial"/>
            </a:endParaRPr>
          </a:p>
          <a:p>
            <a:pPr indent="-174625" lvl="0" marL="185738" marR="0" rtl="0" algn="l">
              <a:lnSpc>
                <a:spcPct val="100000"/>
              </a:lnSpc>
              <a:spcBef>
                <a:spcPts val="0"/>
              </a:spcBef>
              <a:spcAft>
                <a:spcPts val="0"/>
              </a:spcAft>
              <a:buClr>
                <a:srgbClr val="262626"/>
              </a:buClr>
              <a:buSzPts val="1600"/>
              <a:buFont typeface="Arial"/>
              <a:buChar char="•"/>
            </a:pPr>
            <a:r>
              <a:rPr b="0" i="0" lang="es-PE" sz="1600" u="none" cap="none" strike="noStrike">
                <a:solidFill>
                  <a:srgbClr val="262626"/>
                </a:solidFill>
                <a:latin typeface="Calibri"/>
                <a:ea typeface="Calibri"/>
                <a:cs typeface="Calibri"/>
                <a:sym typeface="Calibri"/>
              </a:rPr>
              <a:t>Si no entiendes las metas u objetivos de tus usuarios, entonces no estás realmente empatizando con ellos.</a:t>
            </a:r>
            <a:endParaRPr b="0" i="0" sz="1400" u="none" cap="none" strike="noStrike">
              <a:solidFill>
                <a:srgbClr val="000000"/>
              </a:solidFill>
              <a:latin typeface="Arial"/>
              <a:ea typeface="Arial"/>
              <a:cs typeface="Arial"/>
              <a:sym typeface="Arial"/>
            </a:endParaRPr>
          </a:p>
          <a:p>
            <a:pPr indent="-174625" lvl="0" marL="185738" marR="0" rtl="0" algn="l">
              <a:lnSpc>
                <a:spcPct val="100000"/>
              </a:lnSpc>
              <a:spcBef>
                <a:spcPts val="0"/>
              </a:spcBef>
              <a:spcAft>
                <a:spcPts val="0"/>
              </a:spcAft>
              <a:buClr>
                <a:srgbClr val="262626"/>
              </a:buClr>
              <a:buSzPts val="1600"/>
              <a:buFont typeface="Arial"/>
              <a:buChar char="•"/>
            </a:pPr>
            <a:r>
              <a:rPr b="0" i="0" lang="es-PE" sz="1600" u="none" cap="none" strike="noStrike">
                <a:solidFill>
                  <a:srgbClr val="262626"/>
                </a:solidFill>
                <a:latin typeface="Calibri"/>
                <a:ea typeface="Calibri"/>
                <a:cs typeface="Calibri"/>
                <a:sym typeface="Calibri"/>
              </a:rPr>
              <a:t>Observar a un usuario (usando tu producto) te mostrará dónde están tus ineficiencias, pero no donde tu usuario piensa que están.</a:t>
            </a:r>
            <a:endParaRPr b="0" i="0" sz="1400" u="none" cap="none" strike="noStrike">
              <a:solidFill>
                <a:srgbClr val="000000"/>
              </a:solidFill>
              <a:latin typeface="Arial"/>
              <a:ea typeface="Arial"/>
              <a:cs typeface="Arial"/>
              <a:sym typeface="Arial"/>
            </a:endParaRPr>
          </a:p>
          <a:p>
            <a:pPr indent="-174625" lvl="0" marL="185738" marR="0" rtl="0" algn="l">
              <a:lnSpc>
                <a:spcPct val="100000"/>
              </a:lnSpc>
              <a:spcBef>
                <a:spcPts val="0"/>
              </a:spcBef>
              <a:spcAft>
                <a:spcPts val="0"/>
              </a:spcAft>
              <a:buClr>
                <a:srgbClr val="262626"/>
              </a:buClr>
              <a:buSzPts val="1600"/>
              <a:buFont typeface="Arial"/>
              <a:buChar char="•"/>
            </a:pPr>
            <a:r>
              <a:rPr b="0" i="0" lang="es-PE" sz="1600" u="none" cap="none" strike="noStrike">
                <a:solidFill>
                  <a:srgbClr val="262626"/>
                </a:solidFill>
                <a:latin typeface="Calibri"/>
                <a:ea typeface="Calibri"/>
                <a:cs typeface="Calibri"/>
                <a:sym typeface="Calibri"/>
              </a:rPr>
              <a:t>La gente quiere ayudarte, dales una excusa para hacerlo.</a:t>
            </a:r>
            <a:endParaRPr b="0" i="0" sz="1600" u="none" cap="none" strike="noStrike">
              <a:solidFill>
                <a:srgbClr val="262626"/>
              </a:solidFill>
              <a:latin typeface="Calibri"/>
              <a:ea typeface="Calibri"/>
              <a:cs typeface="Calibri"/>
              <a:sym typeface="Calibri"/>
            </a:endParaRPr>
          </a:p>
        </p:txBody>
      </p:sp>
      <p:pic>
        <p:nvPicPr>
          <p:cNvPr id="502" name="Google Shape;502;p31"/>
          <p:cNvPicPr preferRelativeResize="0"/>
          <p:nvPr/>
        </p:nvPicPr>
        <p:blipFill rotWithShape="1">
          <a:blip r:embed="rId3">
            <a:alphaModFix/>
          </a:blip>
          <a:srcRect b="0" l="0" r="0" t="0"/>
          <a:stretch/>
        </p:blipFill>
        <p:spPr>
          <a:xfrm>
            <a:off x="1011238" y="949325"/>
            <a:ext cx="2783905" cy="4284663"/>
          </a:xfrm>
          <a:prstGeom prst="rect">
            <a:avLst/>
          </a:prstGeom>
          <a:noFill/>
          <a:ln>
            <a:noFill/>
          </a:ln>
        </p:spPr>
      </p:pic>
      <p:sp>
        <p:nvSpPr>
          <p:cNvPr id="503" name="Google Shape;503;p31"/>
          <p:cNvSpPr/>
          <p:nvPr/>
        </p:nvSpPr>
        <p:spPr>
          <a:xfrm>
            <a:off x="503237" y="377668"/>
            <a:ext cx="5144029"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PRÁCTICAS PARA ENTREVISTAS A USUARIOS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32"/>
          <p:cNvSpPr/>
          <p:nvPr/>
        </p:nvSpPr>
        <p:spPr>
          <a:xfrm>
            <a:off x="2087563" y="1689141"/>
            <a:ext cx="5440362" cy="153888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s-PE" sz="2000" u="none" cap="none" strike="noStrike">
                <a:solidFill>
                  <a:schemeClr val="dk1"/>
                </a:solidFill>
                <a:latin typeface="Calibri"/>
                <a:ea typeface="Calibri"/>
                <a:cs typeface="Calibri"/>
                <a:sym typeface="Calibri"/>
              </a:rPr>
              <a:t>You aren’t allowed to tell them what their problem is, and in return, they aren’t allowed to tell you what to build. They own the problem, you own the solution</a:t>
            </a:r>
            <a:endParaRPr/>
          </a:p>
          <a:p>
            <a:pPr indent="0" lvl="0" marL="0" marR="0" rtl="0" algn="r">
              <a:lnSpc>
                <a:spcPct val="100000"/>
              </a:lnSpc>
              <a:spcBef>
                <a:spcPts val="0"/>
              </a:spcBef>
              <a:spcAft>
                <a:spcPts val="0"/>
              </a:spcAft>
              <a:buClr>
                <a:srgbClr val="000000"/>
              </a:buClr>
              <a:buSzPts val="2000"/>
              <a:buFont typeface="Arial"/>
              <a:buNone/>
            </a:pPr>
            <a:r>
              <a:rPr b="1" i="0" lang="es-PE" sz="2000" u="none" cap="none" strike="noStrike">
                <a:solidFill>
                  <a:schemeClr val="dk1"/>
                </a:solidFill>
                <a:latin typeface="Calibri"/>
                <a:ea typeface="Calibri"/>
                <a:cs typeface="Calibri"/>
                <a:sym typeface="Calibri"/>
              </a:rPr>
              <a:t>Rob Fitzpatrick (2013)</a:t>
            </a:r>
            <a:endParaRPr/>
          </a:p>
        </p:txBody>
      </p:sp>
      <p:pic>
        <p:nvPicPr>
          <p:cNvPr id="510" name="Google Shape;510;p32"/>
          <p:cNvPicPr preferRelativeResize="0"/>
          <p:nvPr/>
        </p:nvPicPr>
        <p:blipFill rotWithShape="1">
          <a:blip r:embed="rId3">
            <a:alphaModFix/>
          </a:blip>
          <a:srcRect b="0" l="0" r="0" t="0"/>
          <a:stretch/>
        </p:blipFill>
        <p:spPr>
          <a:xfrm>
            <a:off x="1474787" y="1597584"/>
            <a:ext cx="411788" cy="338400"/>
          </a:xfrm>
          <a:prstGeom prst="rect">
            <a:avLst/>
          </a:prstGeom>
          <a:noFill/>
          <a:ln>
            <a:noFill/>
          </a:ln>
        </p:spPr>
      </p:pic>
      <p:pic>
        <p:nvPicPr>
          <p:cNvPr id="511" name="Google Shape;511;p32"/>
          <p:cNvPicPr preferRelativeResize="0"/>
          <p:nvPr/>
        </p:nvPicPr>
        <p:blipFill rotWithShape="1">
          <a:blip r:embed="rId3">
            <a:alphaModFix/>
          </a:blip>
          <a:srcRect b="0" l="0" r="0" t="0"/>
          <a:stretch/>
        </p:blipFill>
        <p:spPr>
          <a:xfrm rot="10800000">
            <a:off x="3170848" y="2681737"/>
            <a:ext cx="411788" cy="338400"/>
          </a:xfrm>
          <a:prstGeom prst="rect">
            <a:avLst/>
          </a:prstGeom>
          <a:noFill/>
          <a:ln>
            <a:noFill/>
          </a:ln>
        </p:spPr>
      </p:pic>
      <p:pic>
        <p:nvPicPr>
          <p:cNvPr id="512" name="Google Shape;512;p32"/>
          <p:cNvPicPr preferRelativeResize="0"/>
          <p:nvPr/>
        </p:nvPicPr>
        <p:blipFill rotWithShape="1">
          <a:blip r:embed="rId4">
            <a:alphaModFix/>
          </a:blip>
          <a:srcRect b="0" l="0" r="0" t="0"/>
          <a:stretch/>
        </p:blipFill>
        <p:spPr>
          <a:xfrm>
            <a:off x="2087563" y="2681737"/>
            <a:ext cx="5265719" cy="336307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49"/>
          <p:cNvSpPr/>
          <p:nvPr/>
        </p:nvSpPr>
        <p:spPr>
          <a:xfrm>
            <a:off x="0" y="0"/>
            <a:ext cx="9144000" cy="5715000"/>
          </a:xfrm>
          <a:prstGeom prst="rect">
            <a:avLst/>
          </a:prstGeom>
          <a:solidFill>
            <a:srgbClr val="654E9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518" name="Google Shape;518;p49"/>
          <p:cNvGrpSpPr/>
          <p:nvPr/>
        </p:nvGrpSpPr>
        <p:grpSpPr>
          <a:xfrm>
            <a:off x="2506315" y="2194222"/>
            <a:ext cx="4581728" cy="1326557"/>
            <a:chOff x="2403187" y="2211377"/>
            <a:chExt cx="4581728" cy="1326557"/>
          </a:xfrm>
        </p:grpSpPr>
        <p:sp>
          <p:nvSpPr>
            <p:cNvPr id="519" name="Google Shape;519;p49"/>
            <p:cNvSpPr txBox="1"/>
            <p:nvPr/>
          </p:nvSpPr>
          <p:spPr>
            <a:xfrm>
              <a:off x="2403187" y="2540738"/>
              <a:ext cx="4581728" cy="997196"/>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3600"/>
                <a:buFont typeface="Arial"/>
                <a:buNone/>
              </a:pPr>
              <a:r>
                <a:rPr b="0" i="0" lang="es-PE" sz="3600" u="none" cap="none" strike="noStrike">
                  <a:solidFill>
                    <a:schemeClr val="lt1"/>
                  </a:solidFill>
                  <a:latin typeface="Arial"/>
                  <a:ea typeface="Arial"/>
                  <a:cs typeface="Arial"/>
                  <a:sym typeface="Arial"/>
                </a:rPr>
                <a:t>CONCLUSIONES</a:t>
              </a:r>
              <a:br>
                <a:rPr b="0" i="0" lang="es-PE" sz="3600" u="none" cap="none" strike="noStrike">
                  <a:solidFill>
                    <a:schemeClr val="lt1"/>
                  </a:solidFill>
                  <a:latin typeface="Arial"/>
                  <a:ea typeface="Arial"/>
                  <a:cs typeface="Arial"/>
                  <a:sym typeface="Arial"/>
                </a:rPr>
              </a:br>
              <a:r>
                <a:rPr b="1" i="0" lang="es-PE" sz="3600" u="none" cap="none" strike="noStrike">
                  <a:solidFill>
                    <a:schemeClr val="lt1"/>
                  </a:solidFill>
                  <a:latin typeface="Arial"/>
                  <a:ea typeface="Arial"/>
                  <a:cs typeface="Arial"/>
                  <a:sym typeface="Arial"/>
                </a:rPr>
                <a:t>MÁS REFERENCIAS</a:t>
              </a:r>
              <a:endParaRPr b="1" i="0" sz="1400" u="none" cap="none" strike="noStrike">
                <a:solidFill>
                  <a:srgbClr val="000000"/>
                </a:solidFill>
                <a:latin typeface="Arial"/>
                <a:ea typeface="Arial"/>
                <a:cs typeface="Arial"/>
                <a:sym typeface="Arial"/>
              </a:endParaRPr>
            </a:p>
          </p:txBody>
        </p:sp>
        <p:pic>
          <p:nvPicPr>
            <p:cNvPr id="520" name="Google Shape;520;p49"/>
            <p:cNvPicPr preferRelativeResize="0"/>
            <p:nvPr/>
          </p:nvPicPr>
          <p:blipFill rotWithShape="1">
            <a:blip r:embed="rId3">
              <a:alphaModFix/>
            </a:blip>
            <a:srcRect b="0" l="0" r="0" t="0"/>
            <a:stretch/>
          </p:blipFill>
          <p:spPr>
            <a:xfrm>
              <a:off x="2425491" y="2211377"/>
              <a:ext cx="202176" cy="208211"/>
            </a:xfrm>
            <a:prstGeom prst="rect">
              <a:avLst/>
            </a:prstGeom>
            <a:noFill/>
            <a:ln>
              <a:noFill/>
            </a:ln>
          </p:spPr>
        </p:pic>
      </p:grpSp>
      <p:pic>
        <p:nvPicPr>
          <p:cNvPr id="521" name="Google Shape;521;p49"/>
          <p:cNvPicPr preferRelativeResize="0"/>
          <p:nvPr/>
        </p:nvPicPr>
        <p:blipFill rotWithShape="1">
          <a:blip r:embed="rId4">
            <a:alphaModFix/>
          </a:blip>
          <a:srcRect b="0" l="0" r="0" t="0"/>
          <a:stretch/>
        </p:blipFill>
        <p:spPr>
          <a:xfrm>
            <a:off x="-1253" y="946969"/>
            <a:ext cx="2072214" cy="389806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33"/>
          <p:cNvSpPr/>
          <p:nvPr/>
        </p:nvSpPr>
        <p:spPr>
          <a:xfrm>
            <a:off x="301556" y="5321030"/>
            <a:ext cx="8453337" cy="29183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8" name="Google Shape;528;p33"/>
          <p:cNvSpPr txBox="1"/>
          <p:nvPr/>
        </p:nvSpPr>
        <p:spPr>
          <a:xfrm>
            <a:off x="1279545" y="912813"/>
            <a:ext cx="5705454" cy="310854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PE" sz="1400" u="none" cap="none" strike="noStrike">
                <a:solidFill>
                  <a:schemeClr val="dk1"/>
                </a:solidFill>
                <a:latin typeface="Calibri"/>
                <a:ea typeface="Calibri"/>
                <a:cs typeface="Calibri"/>
                <a:sym typeface="Calibri"/>
              </a:rPr>
              <a:t>Debemos tener muy en cuenta el objetivo y “fenómeno” que queremos lograr para poder abordarlo desde la investigación combinando las herramientas cuantitativas y cualitativas.</a:t>
            </a:r>
            <a:endParaRPr b="0" i="0" sz="1400" u="none" cap="none" strike="noStrike">
              <a:solidFill>
                <a:schemeClr val="dk1"/>
              </a:solidFill>
              <a:latin typeface="Calibri"/>
              <a:ea typeface="Calibri"/>
              <a:cs typeface="Calibri"/>
              <a:sym typeface="Calibri"/>
            </a:endParaRPr>
          </a:p>
          <a:p>
            <a:pPr indent="0" lvl="0" marL="107950" marR="0" rtl="0" algn="l">
              <a:lnSpc>
                <a:spcPct val="10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i="0" lang="es-PE" sz="1400" u="none" cap="none" strike="noStrike">
                <a:solidFill>
                  <a:schemeClr val="dk1"/>
                </a:solidFill>
                <a:latin typeface="Calibri"/>
                <a:ea typeface="Calibri"/>
                <a:cs typeface="Calibri"/>
                <a:sym typeface="Calibri"/>
              </a:rPr>
              <a:t>El análisis de datos es fundamental para nuestro día a día, pero debe estar acompañado de técnicas y consideraciones que no permitan llegar a conclusiones erróneas.</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i="0" lang="es-PE" sz="1400" u="none" cap="none" strike="noStrike">
                <a:solidFill>
                  <a:schemeClr val="dk1"/>
                </a:solidFill>
                <a:latin typeface="Calibri"/>
                <a:ea typeface="Calibri"/>
                <a:cs typeface="Calibri"/>
                <a:sym typeface="Calibri"/>
              </a:rPr>
              <a:t>Al momento de entrevistar no debemos tratar de vender nuestras ideas, sino realmente escuchar a nuestros clientes, pues quizás esta “idea” no sea tan relevante para lo que ellos necesiten.</a:t>
            </a:r>
            <a:endParaRPr b="0" i="0" sz="1400" u="none" cap="none" strike="noStrike">
              <a:solidFill>
                <a:schemeClr val="dk1"/>
              </a:solidFill>
              <a:latin typeface="Calibri"/>
              <a:ea typeface="Calibri"/>
              <a:cs typeface="Calibri"/>
              <a:sym typeface="Calibri"/>
            </a:endParaRPr>
          </a:p>
          <a:p>
            <a:pPr indent="0" lvl="0" marL="107950" marR="0" rtl="0" algn="l">
              <a:lnSpc>
                <a:spcPct val="100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73025" lvl="0" marL="180975" marR="0" rtl="0" algn="l">
              <a:lnSpc>
                <a:spcPct val="100000"/>
              </a:lnSpc>
              <a:spcBef>
                <a:spcPts val="0"/>
              </a:spcBef>
              <a:spcAft>
                <a:spcPts val="0"/>
              </a:spcAft>
              <a:buClr>
                <a:schemeClr val="dk1"/>
              </a:buClr>
              <a:buSzPts val="1700"/>
              <a:buFont typeface="Arial"/>
              <a:buNone/>
            </a:pPr>
            <a:r>
              <a:t/>
            </a:r>
            <a:endParaRPr b="0" i="0" sz="1700" u="none" cap="none" strike="noStrike">
              <a:solidFill>
                <a:srgbClr val="FFFFFF"/>
              </a:solidFill>
              <a:latin typeface="Calibri"/>
              <a:ea typeface="Calibri"/>
              <a:cs typeface="Calibri"/>
              <a:sym typeface="Calibri"/>
            </a:endParaRPr>
          </a:p>
          <a:p>
            <a:pPr indent="0" lvl="1"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FFFFFF"/>
              </a:solidFill>
              <a:latin typeface="Calibri"/>
              <a:ea typeface="Calibri"/>
              <a:cs typeface="Calibri"/>
              <a:sym typeface="Calibri"/>
            </a:endParaRPr>
          </a:p>
        </p:txBody>
      </p:sp>
      <p:pic>
        <p:nvPicPr>
          <p:cNvPr id="529" name="Google Shape;529;p33"/>
          <p:cNvPicPr preferRelativeResize="0"/>
          <p:nvPr/>
        </p:nvPicPr>
        <p:blipFill rotWithShape="1">
          <a:blip r:embed="rId3">
            <a:alphaModFix/>
          </a:blip>
          <a:srcRect b="0" l="0" r="0" t="0"/>
          <a:stretch/>
        </p:blipFill>
        <p:spPr>
          <a:xfrm>
            <a:off x="1011260" y="954885"/>
            <a:ext cx="114138" cy="117546"/>
          </a:xfrm>
          <a:prstGeom prst="rect">
            <a:avLst/>
          </a:prstGeom>
          <a:noFill/>
          <a:ln>
            <a:noFill/>
          </a:ln>
        </p:spPr>
      </p:pic>
      <p:pic>
        <p:nvPicPr>
          <p:cNvPr id="530" name="Google Shape;530;p33"/>
          <p:cNvPicPr preferRelativeResize="0"/>
          <p:nvPr/>
        </p:nvPicPr>
        <p:blipFill rotWithShape="1">
          <a:blip r:embed="rId3">
            <a:alphaModFix/>
          </a:blip>
          <a:srcRect b="0" l="0" r="0" t="0"/>
          <a:stretch/>
        </p:blipFill>
        <p:spPr>
          <a:xfrm>
            <a:off x="1011260" y="1826271"/>
            <a:ext cx="114138" cy="117546"/>
          </a:xfrm>
          <a:prstGeom prst="rect">
            <a:avLst/>
          </a:prstGeom>
          <a:noFill/>
          <a:ln>
            <a:noFill/>
          </a:ln>
        </p:spPr>
      </p:pic>
      <p:sp>
        <p:nvSpPr>
          <p:cNvPr id="531" name="Google Shape;531;p33"/>
          <p:cNvSpPr/>
          <p:nvPr/>
        </p:nvSpPr>
        <p:spPr>
          <a:xfrm>
            <a:off x="8133347" y="163629"/>
            <a:ext cx="808522" cy="754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532" name="Google Shape;532;p33"/>
          <p:cNvPicPr preferRelativeResize="0"/>
          <p:nvPr/>
        </p:nvPicPr>
        <p:blipFill rotWithShape="1">
          <a:blip r:embed="rId4">
            <a:alphaModFix amt="42000"/>
          </a:blip>
          <a:srcRect b="0" l="0" r="0" t="0"/>
          <a:stretch/>
        </p:blipFill>
        <p:spPr>
          <a:xfrm>
            <a:off x="6984999" y="3048772"/>
            <a:ext cx="1690689" cy="2185216"/>
          </a:xfrm>
          <a:prstGeom prst="rect">
            <a:avLst/>
          </a:prstGeom>
          <a:noFill/>
          <a:ln>
            <a:noFill/>
          </a:ln>
        </p:spPr>
      </p:pic>
      <p:sp>
        <p:nvSpPr>
          <p:cNvPr id="533" name="Google Shape;533;p33"/>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CONCLUSIONES </a:t>
            </a:r>
            <a:endParaRPr b="0" i="0" sz="1400" u="none" cap="none" strike="noStrike">
              <a:solidFill>
                <a:srgbClr val="000000"/>
              </a:solidFill>
              <a:latin typeface="Arial"/>
              <a:ea typeface="Arial"/>
              <a:cs typeface="Arial"/>
              <a:sym typeface="Arial"/>
            </a:endParaRPr>
          </a:p>
        </p:txBody>
      </p:sp>
      <p:pic>
        <p:nvPicPr>
          <p:cNvPr id="534" name="Google Shape;534;p33"/>
          <p:cNvPicPr preferRelativeResize="0"/>
          <p:nvPr/>
        </p:nvPicPr>
        <p:blipFill rotWithShape="1">
          <a:blip r:embed="rId3">
            <a:alphaModFix/>
          </a:blip>
          <a:srcRect b="0" l="0" r="0" t="0"/>
          <a:stretch/>
        </p:blipFill>
        <p:spPr>
          <a:xfrm>
            <a:off x="1011260" y="2678108"/>
            <a:ext cx="114138" cy="11754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50"/>
          <p:cNvSpPr/>
          <p:nvPr/>
        </p:nvSpPr>
        <p:spPr>
          <a:xfrm>
            <a:off x="0" y="0"/>
            <a:ext cx="9144000" cy="5715000"/>
          </a:xfrm>
          <a:prstGeom prst="rect">
            <a:avLst/>
          </a:prstGeom>
          <a:solidFill>
            <a:srgbClr val="8DCB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0" name="Google Shape;540;p50"/>
          <p:cNvSpPr txBox="1"/>
          <p:nvPr/>
        </p:nvSpPr>
        <p:spPr>
          <a:xfrm>
            <a:off x="2519363" y="2540738"/>
            <a:ext cx="4581728" cy="997196"/>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3600"/>
              <a:buFont typeface="Arial"/>
              <a:buNone/>
            </a:pPr>
            <a:r>
              <a:rPr b="0" i="0" lang="es-PE" sz="3600" u="none" cap="none" strike="noStrike">
                <a:solidFill>
                  <a:schemeClr val="lt1"/>
                </a:solidFill>
                <a:latin typeface="Arial"/>
                <a:ea typeface="Arial"/>
                <a:cs typeface="Arial"/>
                <a:sym typeface="Arial"/>
              </a:rPr>
              <a:t>BIBLIOGRAFÍA</a:t>
            </a:r>
            <a:br>
              <a:rPr b="0" i="0" lang="es-PE" sz="3600" u="none" cap="none" strike="noStrike">
                <a:solidFill>
                  <a:schemeClr val="lt1"/>
                </a:solidFill>
                <a:latin typeface="Arial"/>
                <a:ea typeface="Arial"/>
                <a:cs typeface="Arial"/>
                <a:sym typeface="Arial"/>
              </a:rPr>
            </a:br>
            <a:r>
              <a:rPr b="1" i="0" lang="es-PE" sz="3600" u="none" cap="none" strike="noStrike">
                <a:solidFill>
                  <a:schemeClr val="lt1"/>
                </a:solidFill>
                <a:latin typeface="Arial"/>
                <a:ea typeface="Arial"/>
                <a:cs typeface="Arial"/>
                <a:sym typeface="Arial"/>
              </a:rPr>
              <a:t>MÁS REFERENCIAS</a:t>
            </a:r>
            <a:endParaRPr b="1" i="0" sz="1400" u="none" cap="none" strike="noStrike">
              <a:solidFill>
                <a:srgbClr val="000000"/>
              </a:solidFill>
              <a:latin typeface="Arial"/>
              <a:ea typeface="Arial"/>
              <a:cs typeface="Arial"/>
              <a:sym typeface="Arial"/>
            </a:endParaRPr>
          </a:p>
        </p:txBody>
      </p:sp>
      <p:pic>
        <p:nvPicPr>
          <p:cNvPr id="541" name="Google Shape;541;p50"/>
          <p:cNvPicPr preferRelativeResize="0"/>
          <p:nvPr/>
        </p:nvPicPr>
        <p:blipFill rotWithShape="1">
          <a:blip r:embed="rId3">
            <a:alphaModFix/>
          </a:blip>
          <a:srcRect b="0" l="0" r="0" t="0"/>
          <a:stretch/>
        </p:blipFill>
        <p:spPr>
          <a:xfrm>
            <a:off x="2528619" y="2194222"/>
            <a:ext cx="202176" cy="208211"/>
          </a:xfrm>
          <a:prstGeom prst="rect">
            <a:avLst/>
          </a:prstGeom>
          <a:noFill/>
          <a:ln>
            <a:noFill/>
          </a:ln>
        </p:spPr>
      </p:pic>
      <p:pic>
        <p:nvPicPr>
          <p:cNvPr id="542" name="Google Shape;542;p50"/>
          <p:cNvPicPr preferRelativeResize="0"/>
          <p:nvPr/>
        </p:nvPicPr>
        <p:blipFill rotWithShape="1">
          <a:blip r:embed="rId4">
            <a:alphaModFix/>
          </a:blip>
          <a:srcRect b="0" l="0" r="0" t="0"/>
          <a:stretch/>
        </p:blipFill>
        <p:spPr>
          <a:xfrm>
            <a:off x="0" y="946970"/>
            <a:ext cx="2072061" cy="389806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34"/>
          <p:cNvSpPr/>
          <p:nvPr/>
        </p:nvSpPr>
        <p:spPr>
          <a:xfrm>
            <a:off x="301556" y="5321030"/>
            <a:ext cx="8453337" cy="29183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49" name="Google Shape;549;p34"/>
          <p:cNvSpPr txBox="1"/>
          <p:nvPr/>
        </p:nvSpPr>
        <p:spPr>
          <a:xfrm>
            <a:off x="1279009" y="949325"/>
            <a:ext cx="4774320"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PE" sz="1400" u="none" cap="none" strike="noStrike">
                <a:solidFill>
                  <a:schemeClr val="dk1"/>
                </a:solidFill>
                <a:latin typeface="Calibri"/>
                <a:ea typeface="Calibri"/>
                <a:cs typeface="Calibri"/>
                <a:sym typeface="Calibri"/>
              </a:rPr>
              <a:t>The Mom Test – Fitzpatrick, Rob (2013)</a:t>
            </a:r>
            <a:endParaRPr/>
          </a:p>
        </p:txBody>
      </p:sp>
      <p:pic>
        <p:nvPicPr>
          <p:cNvPr id="550" name="Google Shape;550;p34"/>
          <p:cNvPicPr preferRelativeResize="0"/>
          <p:nvPr/>
        </p:nvPicPr>
        <p:blipFill rotWithShape="1">
          <a:blip r:embed="rId3">
            <a:alphaModFix/>
          </a:blip>
          <a:srcRect b="0" l="0" r="0" t="0"/>
          <a:stretch/>
        </p:blipFill>
        <p:spPr>
          <a:xfrm>
            <a:off x="1008064" y="1017325"/>
            <a:ext cx="103867" cy="106967"/>
          </a:xfrm>
          <a:prstGeom prst="rect">
            <a:avLst/>
          </a:prstGeom>
          <a:noFill/>
          <a:ln>
            <a:noFill/>
          </a:ln>
        </p:spPr>
      </p:pic>
      <p:sp>
        <p:nvSpPr>
          <p:cNvPr id="551" name="Google Shape;551;p34"/>
          <p:cNvSpPr/>
          <p:nvPr/>
        </p:nvSpPr>
        <p:spPr>
          <a:xfrm>
            <a:off x="8133347" y="163629"/>
            <a:ext cx="808522" cy="754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552" name="Google Shape;552;p34"/>
          <p:cNvPicPr preferRelativeResize="0"/>
          <p:nvPr/>
        </p:nvPicPr>
        <p:blipFill rotWithShape="1">
          <a:blip r:embed="rId4">
            <a:alphaModFix amt="42000"/>
          </a:blip>
          <a:srcRect b="0" l="0" r="0" t="0"/>
          <a:stretch/>
        </p:blipFill>
        <p:spPr>
          <a:xfrm>
            <a:off x="6985000" y="3036889"/>
            <a:ext cx="1690688" cy="2197100"/>
          </a:xfrm>
          <a:prstGeom prst="rect">
            <a:avLst/>
          </a:prstGeom>
          <a:noFill/>
          <a:ln>
            <a:noFill/>
          </a:ln>
        </p:spPr>
      </p:pic>
      <p:sp>
        <p:nvSpPr>
          <p:cNvPr id="553" name="Google Shape;553;p34"/>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000000"/>
              </a:buClr>
              <a:buSzPts val="1000"/>
              <a:buFont typeface="Arial"/>
              <a:buNone/>
            </a:pPr>
            <a:r>
              <a:rPr b="1" i="0" lang="es-PE" sz="1000" u="none" cap="none" strike="noStrike">
                <a:solidFill>
                  <a:srgbClr val="7F7F7F"/>
                </a:solidFill>
                <a:latin typeface="Calibri"/>
                <a:ea typeface="Calibri"/>
                <a:cs typeface="Calibri"/>
                <a:sym typeface="Calibri"/>
              </a:rPr>
              <a:t>+ </a:t>
            </a:r>
            <a:r>
              <a:rPr b="0" i="0" lang="es-PE" sz="1000" u="none" cap="none" strike="noStrike">
                <a:solidFill>
                  <a:srgbClr val="A5A5A5"/>
                </a:solidFill>
                <a:latin typeface="Calibri"/>
                <a:ea typeface="Calibri"/>
                <a:cs typeface="Calibri"/>
                <a:sym typeface="Calibri"/>
              </a:rPr>
              <a:t>BIBLIOGRAFÍA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51"/>
          <p:cNvSpPr/>
          <p:nvPr/>
        </p:nvSpPr>
        <p:spPr>
          <a:xfrm>
            <a:off x="0" y="0"/>
            <a:ext cx="9144000" cy="5715000"/>
          </a:xfrm>
          <a:prstGeom prst="rect">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559" name="Google Shape;559;p51"/>
          <p:cNvPicPr preferRelativeResize="0"/>
          <p:nvPr/>
        </p:nvPicPr>
        <p:blipFill rotWithShape="1">
          <a:blip r:embed="rId3">
            <a:alphaModFix/>
          </a:blip>
          <a:srcRect b="0" l="0" r="0" t="0"/>
          <a:stretch/>
        </p:blipFill>
        <p:spPr>
          <a:xfrm>
            <a:off x="3924199" y="2666298"/>
            <a:ext cx="1295601" cy="38680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2016-10-06T14:52:02Z</dcterms:created>
  <dc:creator>ISIL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