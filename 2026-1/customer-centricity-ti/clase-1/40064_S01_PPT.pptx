
<file path=[Content_Types].xml><?xml version="1.0" encoding="utf-8"?>
<Types xmlns="http://schemas.openxmlformats.org/package/2006/content-types">
  <Default ContentType="image/jpeg" Extension="jpg"/>
  <Default ContentType="image/gif" Extension="gif"/>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Lst>
  <p:sldSz cy="5715000" cx="9144000"/>
  <p:notesSz cx="6797675" cy="9926625"/>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39" roundtripDataSignature="AMtx7mgkQijIYEvCpe3gDK6+yVA8FlOnv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slide" Target="slides/slide25.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11" Type="http://schemas.openxmlformats.org/officeDocument/2006/relationships/slide" Target="slides/slide7.xml"/><Relationship Id="rId33" Type="http://schemas.openxmlformats.org/officeDocument/2006/relationships/slide" Target="slides/slide29.xml"/><Relationship Id="rId10" Type="http://schemas.openxmlformats.org/officeDocument/2006/relationships/slide" Target="slides/slide6.xml"/><Relationship Id="rId32" Type="http://schemas.openxmlformats.org/officeDocument/2006/relationships/slide" Target="slides/slide28.xml"/><Relationship Id="rId13" Type="http://schemas.openxmlformats.org/officeDocument/2006/relationships/slide" Target="slides/slide9.xml"/><Relationship Id="rId35" Type="http://schemas.openxmlformats.org/officeDocument/2006/relationships/slide" Target="slides/slide31.xml"/><Relationship Id="rId12" Type="http://schemas.openxmlformats.org/officeDocument/2006/relationships/slide" Target="slides/slide8.xml"/><Relationship Id="rId34" Type="http://schemas.openxmlformats.org/officeDocument/2006/relationships/slide" Target="slides/slide30.xml"/><Relationship Id="rId15" Type="http://schemas.openxmlformats.org/officeDocument/2006/relationships/slide" Target="slides/slide11.xml"/><Relationship Id="rId37" Type="http://schemas.openxmlformats.org/officeDocument/2006/relationships/slide" Target="slides/slide33.xml"/><Relationship Id="rId14" Type="http://schemas.openxmlformats.org/officeDocument/2006/relationships/slide" Target="slides/slide10.xml"/><Relationship Id="rId36" Type="http://schemas.openxmlformats.org/officeDocument/2006/relationships/slide" Target="slides/slide32.xml"/><Relationship Id="rId17" Type="http://schemas.openxmlformats.org/officeDocument/2006/relationships/slide" Target="slides/slide13.xml"/><Relationship Id="rId39" Type="http://customschemas.google.com/relationships/presentationmetadata" Target="metadata"/><Relationship Id="rId16" Type="http://schemas.openxmlformats.org/officeDocument/2006/relationships/slide" Target="slides/slide12.xml"/><Relationship Id="rId38" Type="http://schemas.openxmlformats.org/officeDocument/2006/relationships/slide" Target="slides/slide34.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1"/>
            <a:ext cx="2945659" cy="498056"/>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50443" y="1"/>
            <a:ext cx="2945659" cy="498056"/>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9428584"/>
            <a:ext cx="2945659" cy="498055"/>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s-PE"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 name="Shape 25"/>
        <p:cNvGrpSpPr/>
        <p:nvPr/>
      </p:nvGrpSpPr>
      <p:grpSpPr>
        <a:xfrm>
          <a:off x="0" y="0"/>
          <a:ext cx="0" cy="0"/>
          <a:chOff x="0" y="0"/>
          <a:chExt cx="0" cy="0"/>
        </a:xfrm>
      </p:grpSpPr>
      <p:sp>
        <p:nvSpPr>
          <p:cNvPr id="26" name="Google Shape;26;p1: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 name="Google Shape;27;p1: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95250" lvl="0" marL="171450" rtl="0" algn="l">
              <a:lnSpc>
                <a:spcPct val="100000"/>
              </a:lnSpc>
              <a:spcBef>
                <a:spcPts val="0"/>
              </a:spcBef>
              <a:spcAft>
                <a:spcPts val="0"/>
              </a:spcAft>
              <a:buClr>
                <a:schemeClr val="dk1"/>
              </a:buClr>
              <a:buSzPts val="1200"/>
              <a:buFont typeface="Arial"/>
              <a:buNone/>
            </a:pPr>
            <a:r>
              <a:t/>
            </a:r>
            <a:endParaRPr>
              <a:latin typeface="Arial"/>
              <a:ea typeface="Arial"/>
              <a:cs typeface="Arial"/>
              <a:sym typeface="Arial"/>
            </a:endParaRPr>
          </a:p>
        </p:txBody>
      </p:sp>
      <p:sp>
        <p:nvSpPr>
          <p:cNvPr id="28" name="Google Shape;28;p1: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PE"/>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 name="Shape 37"/>
        <p:cNvGrpSpPr/>
        <p:nvPr/>
      </p:nvGrpSpPr>
      <p:grpSpPr>
        <a:xfrm>
          <a:off x="0" y="0"/>
          <a:ext cx="0" cy="0"/>
          <a:chOff x="0" y="0"/>
          <a:chExt cx="0" cy="0"/>
        </a:xfrm>
      </p:grpSpPr>
      <p:sp>
        <p:nvSpPr>
          <p:cNvPr id="38" name="Google Shape;38;p43:notes"/>
          <p:cNvSpPr txBox="1"/>
          <p:nvPr>
            <p:ph idx="1" type="body"/>
          </p:nvPr>
        </p:nvSpPr>
        <p:spPr>
          <a:xfrm>
            <a:off x="679768" y="4777194"/>
            <a:ext cx="5438140" cy="3908615"/>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 name="Google Shape;39;p43: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 name="Shape 47"/>
        <p:cNvGrpSpPr/>
        <p:nvPr/>
      </p:nvGrpSpPr>
      <p:grpSpPr>
        <a:xfrm>
          <a:off x="0" y="0"/>
          <a:ext cx="0" cy="0"/>
          <a:chOff x="0" y="0"/>
          <a:chExt cx="0" cy="0"/>
        </a:xfrm>
      </p:grpSpPr>
      <p:sp>
        <p:nvSpPr>
          <p:cNvPr id="48" name="Google Shape;48;p2: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 name="Google Shape;49;p2: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latin typeface="Arial"/>
              <a:ea typeface="Arial"/>
              <a:cs typeface="Arial"/>
              <a:sym typeface="Arial"/>
            </a:endParaRPr>
          </a:p>
        </p:txBody>
      </p:sp>
      <p:sp>
        <p:nvSpPr>
          <p:cNvPr id="50" name="Google Shape;50;p2: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PE"/>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p3: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 name="Google Shape;62;p3: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latin typeface="Arial"/>
              <a:ea typeface="Arial"/>
              <a:cs typeface="Arial"/>
              <a:sym typeface="Arial"/>
            </a:endParaRPr>
          </a:p>
          <a:p>
            <a:pPr indent="0" lvl="0" marL="0" rtl="0" algn="l">
              <a:lnSpc>
                <a:spcPct val="100000"/>
              </a:lnSpc>
              <a:spcBef>
                <a:spcPts val="0"/>
              </a:spcBef>
              <a:spcAft>
                <a:spcPts val="0"/>
              </a:spcAft>
              <a:buSzPts val="1400"/>
              <a:buNone/>
            </a:pPr>
            <a:r>
              <a:t/>
            </a:r>
            <a:endParaRPr>
              <a:latin typeface="Arial"/>
              <a:ea typeface="Arial"/>
              <a:cs typeface="Arial"/>
              <a:sym typeface="Arial"/>
            </a:endParaRPr>
          </a:p>
        </p:txBody>
      </p:sp>
      <p:sp>
        <p:nvSpPr>
          <p:cNvPr id="63" name="Google Shape;63;p3: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PE"/>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p4: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0" name="Google Shape;70;p4: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s-PE">
                <a:latin typeface="Arial"/>
                <a:ea typeface="Arial"/>
                <a:cs typeface="Arial"/>
                <a:sym typeface="Arial"/>
              </a:rPr>
              <a:t>Sugiero utilizar un Slido / Kahoot para poder hacer más interactiva la sesión para poder hacer nube de palabras e ir validando los conceptos que se tienen previamente manejados por nuestros alumnos.</a:t>
            </a:r>
            <a:endParaRPr/>
          </a:p>
        </p:txBody>
      </p:sp>
      <p:sp>
        <p:nvSpPr>
          <p:cNvPr id="71" name="Google Shape;71;p4: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PE"/>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p5: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1" name="Google Shape;81;p5: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latin typeface="Arial"/>
              <a:ea typeface="Arial"/>
              <a:cs typeface="Arial"/>
              <a:sym typeface="Arial"/>
            </a:endParaRPr>
          </a:p>
        </p:txBody>
      </p:sp>
      <p:sp>
        <p:nvSpPr>
          <p:cNvPr id="82" name="Google Shape;82;p5: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PE"/>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p6: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9" name="Google Shape;89;p6: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latin typeface="Arial"/>
              <a:ea typeface="Arial"/>
              <a:cs typeface="Arial"/>
              <a:sym typeface="Arial"/>
            </a:endParaRPr>
          </a:p>
        </p:txBody>
      </p:sp>
      <p:sp>
        <p:nvSpPr>
          <p:cNvPr id="90" name="Google Shape;90;p6: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PE"/>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7: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9" name="Google Shape;99;p7: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latin typeface="Arial"/>
              <a:ea typeface="Arial"/>
              <a:cs typeface="Arial"/>
              <a:sym typeface="Arial"/>
            </a:endParaRPr>
          </a:p>
        </p:txBody>
      </p:sp>
      <p:sp>
        <p:nvSpPr>
          <p:cNvPr id="100" name="Google Shape;100;p7: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PE"/>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8: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8" name="Google Shape;108;p8: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s-PE">
                <a:latin typeface="Arial"/>
                <a:ea typeface="Arial"/>
                <a:cs typeface="Arial"/>
                <a:sym typeface="Arial"/>
              </a:rPr>
              <a:t>De cara a debatir, se puede poner de ejemplo y a discusión ChatGPT de Open AI. Una interfaz de usuario simple que funcionalmente cubría todo lo que se estaba esperando. Se puede poner también de ejemplo a Airbnb desde sus inicios, cuando era una empresa que decidió aprender a través de reservas para un congreso específico y construir sobre esa base. Esto se puede ver desarrollado en las diapositivas siguientes</a:t>
            </a:r>
            <a:endParaRPr/>
          </a:p>
        </p:txBody>
      </p:sp>
      <p:sp>
        <p:nvSpPr>
          <p:cNvPr id="109" name="Google Shape;109;p8: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PE"/>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9: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8" name="Google Shape;118;p9: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9" name="Google Shape;119;p9: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PE"/>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10: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2" name="Google Shape;132;p10: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Arial"/>
              <a:ea typeface="Arial"/>
              <a:cs typeface="Arial"/>
              <a:sym typeface="Arial"/>
            </a:endParaRPr>
          </a:p>
        </p:txBody>
      </p:sp>
      <p:sp>
        <p:nvSpPr>
          <p:cNvPr id="133" name="Google Shape;133;p10: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PE"/>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11: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1" name="Google Shape;141;p11: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200"/>
              <a:buFont typeface="Arial"/>
              <a:buNone/>
            </a:pPr>
            <a:r>
              <a:rPr lang="es-PE">
                <a:latin typeface="Arial"/>
                <a:ea typeface="Arial"/>
                <a:cs typeface="Arial"/>
                <a:sym typeface="Arial"/>
              </a:rPr>
              <a:t>Importante acotar que el enfoque de este curso no va a estar mucho en el lado de CX, a pesar de que sabemos que forman parte importante de toda la cadena hacia el enfoque customer centric que podríamos tener.</a:t>
            </a:r>
            <a:endParaRPr/>
          </a:p>
        </p:txBody>
      </p:sp>
      <p:sp>
        <p:nvSpPr>
          <p:cNvPr id="142" name="Google Shape;142;p11: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PE"/>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12: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7" name="Google Shape;157;p12: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latin typeface="Arial"/>
              <a:ea typeface="Arial"/>
              <a:cs typeface="Arial"/>
              <a:sym typeface="Arial"/>
            </a:endParaRPr>
          </a:p>
        </p:txBody>
      </p:sp>
      <p:sp>
        <p:nvSpPr>
          <p:cNvPr id="158" name="Google Shape;158;p12: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PE"/>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p13: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4" name="Google Shape;184;p13: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5" name="Google Shape;185;p13: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PE"/>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p14: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2" name="Google Shape;192;p14: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latin typeface="Arial"/>
              <a:ea typeface="Arial"/>
              <a:cs typeface="Arial"/>
              <a:sym typeface="Arial"/>
            </a:endParaRPr>
          </a:p>
        </p:txBody>
      </p:sp>
      <p:sp>
        <p:nvSpPr>
          <p:cNvPr id="193" name="Google Shape;193;p14: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PE"/>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p15: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2" name="Google Shape;202;p15: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152400" lvl="0" marL="228600" marR="0" rtl="0" algn="l">
              <a:lnSpc>
                <a:spcPct val="100000"/>
              </a:lnSpc>
              <a:spcBef>
                <a:spcPts val="0"/>
              </a:spcBef>
              <a:spcAft>
                <a:spcPts val="0"/>
              </a:spcAft>
              <a:buClr>
                <a:schemeClr val="dk1"/>
              </a:buClr>
              <a:buSzPts val="1200"/>
              <a:buFont typeface="Calibri"/>
              <a:buNone/>
            </a:pPr>
            <a:r>
              <a:t/>
            </a:r>
            <a:endParaRPr>
              <a:latin typeface="Arial"/>
              <a:ea typeface="Arial"/>
              <a:cs typeface="Arial"/>
              <a:sym typeface="Arial"/>
            </a:endParaRPr>
          </a:p>
        </p:txBody>
      </p:sp>
      <p:sp>
        <p:nvSpPr>
          <p:cNvPr id="203" name="Google Shape;203;p15: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PE"/>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16: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6" name="Google Shape;216;p16: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latin typeface="Arial"/>
              <a:ea typeface="Arial"/>
              <a:cs typeface="Arial"/>
              <a:sym typeface="Arial"/>
            </a:endParaRPr>
          </a:p>
        </p:txBody>
      </p:sp>
      <p:sp>
        <p:nvSpPr>
          <p:cNvPr id="217" name="Google Shape;217;p16: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PE"/>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p17: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5" name="Google Shape;225;p17: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152400" lvl="0" marL="228600" marR="0" rtl="0" algn="l">
              <a:lnSpc>
                <a:spcPct val="100000"/>
              </a:lnSpc>
              <a:spcBef>
                <a:spcPts val="0"/>
              </a:spcBef>
              <a:spcAft>
                <a:spcPts val="0"/>
              </a:spcAft>
              <a:buClr>
                <a:schemeClr val="dk1"/>
              </a:buClr>
              <a:buSzPts val="1200"/>
              <a:buFont typeface="Calibri"/>
              <a:buNone/>
            </a:pPr>
            <a:r>
              <a:t/>
            </a:r>
            <a:endParaRPr>
              <a:latin typeface="Arial"/>
              <a:ea typeface="Arial"/>
              <a:cs typeface="Arial"/>
              <a:sym typeface="Arial"/>
            </a:endParaRPr>
          </a:p>
        </p:txBody>
      </p:sp>
      <p:sp>
        <p:nvSpPr>
          <p:cNvPr id="226" name="Google Shape;226;p17: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PE"/>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p18: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6" name="Google Shape;236;p18: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latin typeface="Arial"/>
              <a:ea typeface="Arial"/>
              <a:cs typeface="Arial"/>
              <a:sym typeface="Arial"/>
            </a:endParaRPr>
          </a:p>
        </p:txBody>
      </p:sp>
      <p:sp>
        <p:nvSpPr>
          <p:cNvPr id="237" name="Google Shape;237;p18: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PE"/>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p19: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4" name="Google Shape;244;p19: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5" name="Google Shape;245;p19: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PE"/>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p20: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2" name="Google Shape;252;p20: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s-PE">
                <a:latin typeface="Arial"/>
                <a:ea typeface="Arial"/>
                <a:cs typeface="Arial"/>
                <a:sym typeface="Arial"/>
              </a:rPr>
              <a:t>Uno más…</a:t>
            </a:r>
            <a:endParaRPr/>
          </a:p>
        </p:txBody>
      </p:sp>
      <p:sp>
        <p:nvSpPr>
          <p:cNvPr id="253" name="Google Shape;253;p20: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PE"/>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p21: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4" name="Google Shape;274;p21: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s-PE"/>
              <a:t>Consideren el típico perfil técnico que todo el mundo dibuja, alguien que es bastante introvertido pero un genio en la realidad.</a:t>
            </a:r>
            <a:endParaRPr/>
          </a:p>
        </p:txBody>
      </p:sp>
      <p:sp>
        <p:nvSpPr>
          <p:cNvPr id="275" name="Google Shape;275;p21: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PE"/>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p22: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3" name="Google Shape;283;p22: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latin typeface="Arial"/>
              <a:ea typeface="Arial"/>
              <a:cs typeface="Arial"/>
              <a:sym typeface="Arial"/>
            </a:endParaRPr>
          </a:p>
        </p:txBody>
      </p:sp>
      <p:sp>
        <p:nvSpPr>
          <p:cNvPr id="284" name="Google Shape;284;p22: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PE"/>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p23: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3" name="Google Shape;293;p23: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lang="es-PE" sz="1200">
                <a:latin typeface="Arial"/>
                <a:ea typeface="Arial"/>
                <a:cs typeface="Arial"/>
                <a:sym typeface="Arial"/>
              </a:rPr>
              <a:t>Quien no utilice frameworks o toolings que les permitan aprender rápido, van a fracasar. Ejemplo: AI en tu día a día.</a:t>
            </a:r>
            <a:endParaRPr/>
          </a:p>
        </p:txBody>
      </p:sp>
      <p:sp>
        <p:nvSpPr>
          <p:cNvPr id="294" name="Google Shape;294;p23: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PE"/>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p24: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1" name="Google Shape;311;p24: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400">
              <a:latin typeface="Arial"/>
              <a:ea typeface="Arial"/>
              <a:cs typeface="Arial"/>
              <a:sym typeface="Arial"/>
            </a:endParaRPr>
          </a:p>
        </p:txBody>
      </p:sp>
      <p:sp>
        <p:nvSpPr>
          <p:cNvPr id="312" name="Google Shape;312;p24: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PE"/>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p25: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9" name="Google Shape;319;p25: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s-PE">
                <a:latin typeface="Arial"/>
                <a:ea typeface="Arial"/>
                <a:cs typeface="Arial"/>
                <a:sym typeface="Arial"/>
              </a:rPr>
              <a:t>Importante recalcar lo que regularmente existió con casos como Kodak</a:t>
            </a:r>
            <a:endParaRPr/>
          </a:p>
        </p:txBody>
      </p:sp>
      <p:sp>
        <p:nvSpPr>
          <p:cNvPr id="320" name="Google Shape;320;p25: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PE"/>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p26: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6" name="Google Shape;336;p26: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171450" lvl="0" marL="171450" rtl="0" algn="l">
              <a:lnSpc>
                <a:spcPct val="100000"/>
              </a:lnSpc>
              <a:spcBef>
                <a:spcPts val="0"/>
              </a:spcBef>
              <a:spcAft>
                <a:spcPts val="0"/>
              </a:spcAft>
              <a:buClr>
                <a:schemeClr val="dk1"/>
              </a:buClr>
              <a:buSzPts val="1200"/>
              <a:buFont typeface="Calibri"/>
              <a:buChar char="-"/>
            </a:pPr>
            <a:r>
              <a:rPr lang="es-PE"/>
              <a:t>Modelo de negocio de Favo</a:t>
            </a:r>
            <a:endParaRPr/>
          </a:p>
          <a:p>
            <a:pPr indent="-171450" lvl="0" marL="171450" rtl="0" algn="l">
              <a:lnSpc>
                <a:spcPct val="100000"/>
              </a:lnSpc>
              <a:spcBef>
                <a:spcPts val="0"/>
              </a:spcBef>
              <a:spcAft>
                <a:spcPts val="0"/>
              </a:spcAft>
              <a:buClr>
                <a:schemeClr val="dk1"/>
              </a:buClr>
              <a:buSzPts val="1200"/>
              <a:buFont typeface="Calibri"/>
              <a:buChar char="-"/>
            </a:pPr>
            <a:r>
              <a:rPr lang="es-PE"/>
              <a:t>Expansión hacia Brasil, levantamiento de fondos.</a:t>
            </a:r>
            <a:endParaRPr/>
          </a:p>
          <a:p>
            <a:pPr indent="-171450" lvl="0" marL="171450" rtl="0" algn="l">
              <a:lnSpc>
                <a:spcPct val="100000"/>
              </a:lnSpc>
              <a:spcBef>
                <a:spcPts val="0"/>
              </a:spcBef>
              <a:spcAft>
                <a:spcPts val="0"/>
              </a:spcAft>
              <a:buClr>
                <a:schemeClr val="dk1"/>
              </a:buClr>
              <a:buSzPts val="1200"/>
              <a:buFont typeface="Calibri"/>
              <a:buChar char="-"/>
            </a:pPr>
            <a:r>
              <a:rPr lang="es-PE"/>
              <a:t>Historia: https://www.ecommercenews.pe/comercio-electronico/2024/favo-cierra-operacion-en-peru-historia-y-expansion-de-la-startup.html/</a:t>
            </a:r>
            <a:endParaRPr/>
          </a:p>
        </p:txBody>
      </p:sp>
      <p:sp>
        <p:nvSpPr>
          <p:cNvPr id="337" name="Google Shape;337;p26: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PE"/>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p27: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0" name="Google Shape;350;p27: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s-PE"/>
              <a:t>Importante aquí hacer un momento de reflexión para que se entienda </a:t>
            </a:r>
            <a:endParaRPr/>
          </a:p>
        </p:txBody>
      </p:sp>
      <p:sp>
        <p:nvSpPr>
          <p:cNvPr id="351" name="Google Shape;351;p27: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PE"/>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p28: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6" name="Google Shape;366;p28: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s-PE">
                <a:latin typeface="Arial"/>
                <a:ea typeface="Arial"/>
                <a:cs typeface="Arial"/>
                <a:sym typeface="Arial"/>
              </a:rPr>
              <a:t>La idea es debatir de esto, también se puede incluir una sección donde</a:t>
            </a:r>
            <a:endParaRPr/>
          </a:p>
        </p:txBody>
      </p:sp>
      <p:sp>
        <p:nvSpPr>
          <p:cNvPr id="367" name="Google Shape;367;p28: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PE"/>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p44:notes"/>
          <p:cNvSpPr txBox="1"/>
          <p:nvPr>
            <p:ph idx="1" type="body"/>
          </p:nvPr>
        </p:nvSpPr>
        <p:spPr>
          <a:xfrm>
            <a:off x="679768" y="4777194"/>
            <a:ext cx="5438140" cy="3908615"/>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4" name="Google Shape;374;p44: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1" name="Shape 381"/>
        <p:cNvGrpSpPr/>
        <p:nvPr/>
      </p:nvGrpSpPr>
      <p:grpSpPr>
        <a:xfrm>
          <a:off x="0" y="0"/>
          <a:ext cx="0" cy="0"/>
          <a:chOff x="0" y="0"/>
          <a:chExt cx="0" cy="0"/>
        </a:xfrm>
      </p:grpSpPr>
      <p:sp>
        <p:nvSpPr>
          <p:cNvPr id="382" name="Google Shape;382;p29: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3" name="Google Shape;383;p29: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b="0" sz="1200">
              <a:latin typeface="Arial"/>
              <a:ea typeface="Arial"/>
              <a:cs typeface="Arial"/>
              <a:sym typeface="Arial"/>
            </a:endParaRPr>
          </a:p>
        </p:txBody>
      </p:sp>
      <p:sp>
        <p:nvSpPr>
          <p:cNvPr id="384" name="Google Shape;384;p29: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PE"/>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p45:notes"/>
          <p:cNvSpPr txBox="1"/>
          <p:nvPr>
            <p:ph idx="1" type="body"/>
          </p:nvPr>
        </p:nvSpPr>
        <p:spPr>
          <a:xfrm>
            <a:off x="679768" y="4777194"/>
            <a:ext cx="5438140" cy="3908615"/>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6" name="Google Shape;396;p45: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2" name="Shape 402"/>
        <p:cNvGrpSpPr/>
        <p:nvPr/>
      </p:nvGrpSpPr>
      <p:grpSpPr>
        <a:xfrm>
          <a:off x="0" y="0"/>
          <a:ext cx="0" cy="0"/>
          <a:chOff x="0" y="0"/>
          <a:chExt cx="0" cy="0"/>
        </a:xfrm>
      </p:grpSpPr>
      <p:sp>
        <p:nvSpPr>
          <p:cNvPr id="403" name="Google Shape;403;p30: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4" name="Google Shape;404;p30: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3" marL="0" marR="0" rtl="0" algn="l">
              <a:lnSpc>
                <a:spcPct val="100000"/>
              </a:lnSpc>
              <a:spcBef>
                <a:spcPts val="0"/>
              </a:spcBef>
              <a:spcAft>
                <a:spcPts val="0"/>
              </a:spcAft>
              <a:buClr>
                <a:schemeClr val="dk1"/>
              </a:buClr>
              <a:buSzPts val="1200"/>
              <a:buFont typeface="Arial"/>
              <a:buNone/>
            </a:pPr>
            <a:r>
              <a:rPr lang="es-PE" sz="1200">
                <a:solidFill>
                  <a:schemeClr val="dk1"/>
                </a:solidFill>
                <a:latin typeface="Arial"/>
                <a:ea typeface="Arial"/>
                <a:cs typeface="Arial"/>
                <a:sym typeface="Arial"/>
              </a:rPr>
              <a:t> </a:t>
            </a:r>
            <a:endParaRPr/>
          </a:p>
          <a:p>
            <a:pPr indent="0" lvl="0" marL="0" rtl="0" algn="l">
              <a:lnSpc>
                <a:spcPct val="100000"/>
              </a:lnSpc>
              <a:spcBef>
                <a:spcPts val="0"/>
              </a:spcBef>
              <a:spcAft>
                <a:spcPts val="0"/>
              </a:spcAft>
              <a:buSzPts val="1400"/>
              <a:buNone/>
            </a:pPr>
            <a:r>
              <a:t/>
            </a:r>
            <a:endParaRPr sz="1200">
              <a:latin typeface="Arial"/>
              <a:ea typeface="Arial"/>
              <a:cs typeface="Arial"/>
              <a:sym typeface="Arial"/>
            </a:endParaRPr>
          </a:p>
        </p:txBody>
      </p:sp>
      <p:sp>
        <p:nvSpPr>
          <p:cNvPr id="405" name="Google Shape;405;p30: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PE"/>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5" name="Shape 415"/>
        <p:cNvGrpSpPr/>
        <p:nvPr/>
      </p:nvGrpSpPr>
      <p:grpSpPr>
        <a:xfrm>
          <a:off x="0" y="0"/>
          <a:ext cx="0" cy="0"/>
          <a:chOff x="0" y="0"/>
          <a:chExt cx="0" cy="0"/>
        </a:xfrm>
      </p:grpSpPr>
      <p:sp>
        <p:nvSpPr>
          <p:cNvPr id="416" name="Google Shape;416;p46:notes"/>
          <p:cNvSpPr txBox="1"/>
          <p:nvPr>
            <p:ph idx="1" type="body"/>
          </p:nvPr>
        </p:nvSpPr>
        <p:spPr>
          <a:xfrm>
            <a:off x="679768" y="4777194"/>
            <a:ext cx="5438140" cy="3908615"/>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7" name="Google Shape;417;p46: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de título">
  <p:cSld name="Diapositiva de título">
    <p:spTree>
      <p:nvGrpSpPr>
        <p:cNvPr id="14" name="Shape 14"/>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15" name="Shape 15"/>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16" name="Shape 16"/>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ítulo y objetos">
  <p:cSld name="1_Título y objetos">
    <p:spTree>
      <p:nvGrpSpPr>
        <p:cNvPr id="17" name="Shape 17"/>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tema - 1 Imagen A">
  <p:cSld name="Subtema - 1 Imagen A">
    <p:spTree>
      <p:nvGrpSpPr>
        <p:cNvPr id="18" name="Shape 18"/>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p:cSld name="Título y objetos">
    <p:spTree>
      <p:nvGrpSpPr>
        <p:cNvPr id="19" name="Shape 19"/>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tema - 1 Imagen B">
  <p:cSld name="Subtema - 1 Imagen B">
    <p:spTree>
      <p:nvGrpSpPr>
        <p:cNvPr id="20" name="Shape 20"/>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tema - 1 Imagen Centrada">
  <p:cSld name="Subtema - 1 Imagen Centrada">
    <p:spTree>
      <p:nvGrpSpPr>
        <p:cNvPr id="21" name="Shape 21"/>
        <p:cNvGrpSpPr/>
        <p:nvPr/>
      </p:nvGrpSpPr>
      <p:grpSpPr>
        <a:xfrm>
          <a:off x="0" y="0"/>
          <a:ext cx="0" cy="0"/>
          <a:chOff x="0" y="0"/>
          <a:chExt cx="0" cy="0"/>
        </a:xfrm>
      </p:grpSpPr>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tema - 2 Imágenes">
  <p:cSld name="Subtema - 2 Imágenes">
    <p:spTree>
      <p:nvGrpSpPr>
        <p:cNvPr id="22" name="Shape 22"/>
        <p:cNvGrpSpPr/>
        <p:nvPr/>
      </p:nvGrpSpPr>
      <p:grpSpPr>
        <a:xfrm>
          <a:off x="0" y="0"/>
          <a:ext cx="0" cy="0"/>
          <a:chOff x="0" y="0"/>
          <a:chExt cx="0" cy="0"/>
        </a:xfrm>
      </p:grpSpPr>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tema - Imagen Gigante">
  <p:cSld name="Subtema - Imagen Gigante">
    <p:spTree>
      <p:nvGrpSpPr>
        <p:cNvPr id="23" name="Shape 23"/>
        <p:cNvGrpSpPr/>
        <p:nvPr/>
      </p:nvGrpSpPr>
      <p:grpSpPr>
        <a:xfrm>
          <a:off x="0" y="0"/>
          <a:ext cx="0" cy="0"/>
          <a:chOff x="0" y="0"/>
          <a:chExt cx="0" cy="0"/>
        </a:xfrm>
      </p:grpSpPr>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tema - Video">
  <p:cSld name="Subtema - Video">
    <p:spTree>
      <p:nvGrpSpPr>
        <p:cNvPr id="24" name="Shape 24"/>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2.xml"/><Relationship Id="rId12" Type="http://schemas.openxmlformats.org/officeDocument/2006/relationships/slideLayout" Target="../slideLayouts/slideLayout11.xml"/><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grpSp>
        <p:nvGrpSpPr>
          <p:cNvPr id="10" name="Google Shape;10;p31"/>
          <p:cNvGrpSpPr/>
          <p:nvPr/>
        </p:nvGrpSpPr>
        <p:grpSpPr>
          <a:xfrm>
            <a:off x="944054" y="5369051"/>
            <a:ext cx="7804380" cy="215444"/>
            <a:chOff x="944054" y="5369051"/>
            <a:chExt cx="7804380" cy="215444"/>
          </a:xfrm>
        </p:grpSpPr>
        <p:sp>
          <p:nvSpPr>
            <p:cNvPr id="11" name="Google Shape;11;p31"/>
            <p:cNvSpPr txBox="1"/>
            <p:nvPr/>
          </p:nvSpPr>
          <p:spPr>
            <a:xfrm>
              <a:off x="944054" y="5369051"/>
              <a:ext cx="3353803" cy="21544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00"/>
                <a:buFont typeface="Arial"/>
                <a:buNone/>
              </a:pPr>
              <a:r>
                <a:rPr b="0" i="0" lang="es-PE" sz="800" u="none" cap="none" strike="noStrike">
                  <a:solidFill>
                    <a:srgbClr val="7F7F7F"/>
                  </a:solidFill>
                  <a:latin typeface="Calibri"/>
                  <a:ea typeface="Calibri"/>
                  <a:cs typeface="Calibri"/>
                  <a:sym typeface="Calibri"/>
                </a:rPr>
                <a:t>CUSTOMER CENTRICITY PARA TECNOLOGÍAS DE INFORMACIÓN • TEMA 01</a:t>
              </a:r>
              <a:endParaRPr b="0" i="0" sz="800" u="none" cap="none" strike="noStrike">
                <a:solidFill>
                  <a:srgbClr val="7F7F7F"/>
                </a:solidFill>
                <a:latin typeface="Calibri"/>
                <a:ea typeface="Calibri"/>
                <a:cs typeface="Calibri"/>
                <a:sym typeface="Calibri"/>
              </a:endParaRPr>
            </a:p>
          </p:txBody>
        </p:sp>
        <p:sp>
          <p:nvSpPr>
            <p:cNvPr id="12" name="Google Shape;12;p31"/>
            <p:cNvSpPr/>
            <p:nvPr/>
          </p:nvSpPr>
          <p:spPr>
            <a:xfrm>
              <a:off x="7323044" y="5384440"/>
              <a:ext cx="1425390" cy="184666"/>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600"/>
                <a:buFont typeface="Arial"/>
                <a:buNone/>
              </a:pPr>
              <a:r>
                <a:rPr b="0" i="0" lang="es-PE" sz="600" u="none" cap="none" strike="noStrike">
                  <a:solidFill>
                    <a:srgbClr val="7F7F7F"/>
                  </a:solidFill>
                  <a:latin typeface="Calibri"/>
                  <a:ea typeface="Calibri"/>
                  <a:cs typeface="Calibri"/>
                  <a:sym typeface="Calibri"/>
                </a:rPr>
                <a:t>© ISIL. Todos los derechos reservados</a:t>
              </a:r>
              <a:endParaRPr b="0" i="0" sz="1400" u="none" cap="none" strike="noStrike">
                <a:solidFill>
                  <a:srgbClr val="000000"/>
                </a:solidFill>
                <a:latin typeface="Arial"/>
                <a:ea typeface="Arial"/>
                <a:cs typeface="Arial"/>
                <a:sym typeface="Arial"/>
              </a:endParaRPr>
            </a:p>
          </p:txBody>
        </p:sp>
      </p:grpSp>
      <p:pic>
        <p:nvPicPr>
          <p:cNvPr id="13" name="Google Shape;13;p31"/>
          <p:cNvPicPr preferRelativeResize="0"/>
          <p:nvPr/>
        </p:nvPicPr>
        <p:blipFill rotWithShape="1">
          <a:blip r:embed="rId1">
            <a:alphaModFix amt="20000"/>
          </a:blip>
          <a:srcRect b="0" l="0" r="0" t="0"/>
          <a:stretch/>
        </p:blipFill>
        <p:spPr>
          <a:xfrm>
            <a:off x="495300" y="5328911"/>
            <a:ext cx="448573" cy="250755"/>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1800">
          <p15:clr>
            <a:srgbClr val="F26B43"/>
          </p15:clr>
        </p15:guide>
        <p15:guide id="2" pos="2880">
          <p15:clr>
            <a:srgbClr val="F26B43"/>
          </p15:clr>
        </p15:guide>
        <p15:guide id="3" pos="2993">
          <p15:clr>
            <a:srgbClr val="F26B43"/>
          </p15:clr>
        </p15:guide>
        <p15:guide id="4" pos="5465">
          <p15:clr>
            <a:srgbClr val="F26B43"/>
          </p15:clr>
        </p15:guide>
        <p15:guide id="5" orient="horz" pos="303">
          <p15:clr>
            <a:srgbClr val="F26B43"/>
          </p15:clr>
        </p15:guide>
        <p15:guide id="6" orient="horz" pos="3297">
          <p15:clr>
            <a:srgbClr val="F26B43"/>
          </p15:clr>
        </p15:guide>
        <p15:guide id="7" pos="2767">
          <p15:clr>
            <a:srgbClr val="F26B43"/>
          </p15:clr>
        </p15:guide>
        <p15:guide id="8" pos="317">
          <p15:clr>
            <a:srgbClr val="F26B43"/>
          </p15:clr>
        </p15:guide>
        <p15:guide id="9" orient="horz" pos="575">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6.png"/><Relationship Id="rId4" Type="http://schemas.openxmlformats.org/officeDocument/2006/relationships/image" Target="../media/image1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13.png"/><Relationship Id="rId5" Type="http://schemas.openxmlformats.org/officeDocument/2006/relationships/image" Target="../media/image9.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3.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 Id="rId3" Type="http://schemas.openxmlformats.org/officeDocument/2006/relationships/image" Target="../media/image23.jpg"/><Relationship Id="rId4" Type="http://schemas.openxmlformats.org/officeDocument/2006/relationships/image" Target="../media/image7.png"/><Relationship Id="rId5" Type="http://schemas.openxmlformats.org/officeDocument/2006/relationships/image" Target="../media/image1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 Id="rId3"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 Id="rId3" Type="http://schemas.openxmlformats.org/officeDocument/2006/relationships/image" Target="../media/image1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 Id="rId3" Type="http://schemas.openxmlformats.org/officeDocument/2006/relationships/image" Target="../media/image59.jpg"/><Relationship Id="rId4" Type="http://schemas.openxmlformats.org/officeDocument/2006/relationships/image" Target="../media/image1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 Id="rId3" Type="http://schemas.openxmlformats.org/officeDocument/2006/relationships/image" Target="../media/image18.png"/><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 Id="rId3" Type="http://schemas.openxmlformats.org/officeDocument/2006/relationships/image" Target="../media/image20.png"/><Relationship Id="rId4" Type="http://schemas.openxmlformats.org/officeDocument/2006/relationships/image" Target="../media/image1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 Id="rId3" Type="http://schemas.openxmlformats.org/officeDocument/2006/relationships/image" Target="../media/image12.png"/><Relationship Id="rId4" Type="http://schemas.openxmlformats.org/officeDocument/2006/relationships/image" Target="../media/image17.png"/><Relationship Id="rId5" Type="http://schemas.openxmlformats.org/officeDocument/2006/relationships/image" Target="../media/image49.png"/><Relationship Id="rId6" Type="http://schemas.openxmlformats.org/officeDocument/2006/relationships/image" Target="../media/image2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27.png"/><Relationship Id="rId4" Type="http://schemas.openxmlformats.org/officeDocument/2006/relationships/image" Target="../media/image3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2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 Id="rId3" Type="http://schemas.openxmlformats.org/officeDocument/2006/relationships/image" Target="../media/image28.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9.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2.xml"/><Relationship Id="rId3" Type="http://schemas.openxmlformats.org/officeDocument/2006/relationships/image" Target="../media/image24.gif"/></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9.png"/></Relationships>
</file>

<file path=ppt/slides/_rels/slide26.xml.rels><?xml version="1.0" encoding="UTF-8" standalone="yes"?><Relationships xmlns="http://schemas.openxmlformats.org/package/2006/relationships"><Relationship Id="rId11" Type="http://schemas.openxmlformats.org/officeDocument/2006/relationships/image" Target="../media/image19.png"/><Relationship Id="rId10" Type="http://schemas.openxmlformats.org/officeDocument/2006/relationships/image" Target="../media/image33.png"/><Relationship Id="rId1" Type="http://schemas.openxmlformats.org/officeDocument/2006/relationships/slideLayout" Target="../slideLayouts/slideLayout4.xml"/><Relationship Id="rId2" Type="http://schemas.openxmlformats.org/officeDocument/2006/relationships/notesSlide" Target="../notesSlides/notesSlide26.xml"/><Relationship Id="rId3" Type="http://schemas.openxmlformats.org/officeDocument/2006/relationships/image" Target="../media/image25.png"/><Relationship Id="rId4" Type="http://schemas.openxmlformats.org/officeDocument/2006/relationships/image" Target="../media/image39.png"/><Relationship Id="rId9" Type="http://schemas.openxmlformats.org/officeDocument/2006/relationships/image" Target="../media/image35.png"/><Relationship Id="rId5" Type="http://schemas.openxmlformats.org/officeDocument/2006/relationships/image" Target="../media/image30.png"/><Relationship Id="rId6" Type="http://schemas.openxmlformats.org/officeDocument/2006/relationships/image" Target="../media/image46.png"/><Relationship Id="rId7" Type="http://schemas.openxmlformats.org/officeDocument/2006/relationships/image" Target="../media/image41.png"/><Relationship Id="rId8" Type="http://schemas.openxmlformats.org/officeDocument/2006/relationships/image" Target="../media/image5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 Id="rId3" Type="http://schemas.openxmlformats.org/officeDocument/2006/relationships/image" Target="../media/image38.jpg"/><Relationship Id="rId4" Type="http://schemas.openxmlformats.org/officeDocument/2006/relationships/image" Target="../media/image34.png"/><Relationship Id="rId5" Type="http://schemas.openxmlformats.org/officeDocument/2006/relationships/image" Target="../media/image58.png"/><Relationship Id="rId6" Type="http://schemas.openxmlformats.org/officeDocument/2006/relationships/image" Target="../media/image45.png"/></Relationships>
</file>

<file path=ppt/slides/_rels/slide28.xml.rels><?xml version="1.0" encoding="UTF-8" standalone="yes"?><Relationships xmlns="http://schemas.openxmlformats.org/package/2006/relationships"><Relationship Id="rId10" Type="http://schemas.openxmlformats.org/officeDocument/2006/relationships/image" Target="../media/image33.png"/><Relationship Id="rId1" Type="http://schemas.openxmlformats.org/officeDocument/2006/relationships/slideLayout" Target="../slideLayouts/slideLayout6.xml"/><Relationship Id="rId2" Type="http://schemas.openxmlformats.org/officeDocument/2006/relationships/notesSlide" Target="../notesSlides/notesSlide28.xml"/><Relationship Id="rId3" Type="http://schemas.openxmlformats.org/officeDocument/2006/relationships/image" Target="../media/image25.png"/><Relationship Id="rId4" Type="http://schemas.openxmlformats.org/officeDocument/2006/relationships/image" Target="../media/image39.png"/><Relationship Id="rId9" Type="http://schemas.openxmlformats.org/officeDocument/2006/relationships/image" Target="../media/image35.png"/><Relationship Id="rId5" Type="http://schemas.openxmlformats.org/officeDocument/2006/relationships/image" Target="../media/image30.png"/><Relationship Id="rId6" Type="http://schemas.openxmlformats.org/officeDocument/2006/relationships/image" Target="../media/image46.png"/><Relationship Id="rId7" Type="http://schemas.openxmlformats.org/officeDocument/2006/relationships/image" Target="../media/image41.png"/><Relationship Id="rId8" Type="http://schemas.openxmlformats.org/officeDocument/2006/relationships/image" Target="../media/image5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 Id="rId3" Type="http://schemas.openxmlformats.org/officeDocument/2006/relationships/image" Target="../media/image60.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 Id="rId3" Type="http://schemas.openxmlformats.org/officeDocument/2006/relationships/image" Target="../media/image9.png"/><Relationship Id="rId4" Type="http://schemas.openxmlformats.org/officeDocument/2006/relationships/image" Target="../media/image53.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54.png"/><Relationship Id="rId4" Type="http://schemas.openxmlformats.org/officeDocument/2006/relationships/image" Target="../media/image44.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9.png"/><Relationship Id="rId4" Type="http://schemas.openxmlformats.org/officeDocument/2006/relationships/image" Target="../media/image43.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50.png"/><Relationship Id="rId4" Type="http://schemas.openxmlformats.org/officeDocument/2006/relationships/image" Target="../media/image57.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5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 name="Shape 29"/>
        <p:cNvGrpSpPr/>
        <p:nvPr/>
      </p:nvGrpSpPr>
      <p:grpSpPr>
        <a:xfrm>
          <a:off x="0" y="0"/>
          <a:ext cx="0" cy="0"/>
          <a:chOff x="0" y="0"/>
          <a:chExt cx="0" cy="0"/>
        </a:xfrm>
      </p:grpSpPr>
      <p:sp>
        <p:nvSpPr>
          <p:cNvPr id="30" name="Google Shape;30;p1"/>
          <p:cNvSpPr/>
          <p:nvPr/>
        </p:nvSpPr>
        <p:spPr>
          <a:xfrm>
            <a:off x="182879" y="5120640"/>
            <a:ext cx="4304965" cy="462013"/>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1" name="Google Shape;31;p1"/>
          <p:cNvSpPr txBox="1"/>
          <p:nvPr/>
        </p:nvSpPr>
        <p:spPr>
          <a:xfrm>
            <a:off x="503238" y="808689"/>
            <a:ext cx="3104743" cy="138499"/>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900"/>
              <a:buFont typeface="Arial"/>
              <a:buNone/>
            </a:pPr>
            <a:r>
              <a:rPr b="1" i="0" lang="es-PE" sz="900" u="none" cap="none" strike="noStrike">
                <a:solidFill>
                  <a:srgbClr val="7F7F7F"/>
                </a:solidFill>
                <a:latin typeface="Calibri"/>
                <a:ea typeface="Calibri"/>
                <a:cs typeface="Calibri"/>
                <a:sym typeface="Calibri"/>
              </a:rPr>
              <a:t>COSTUMER CENTRICITY EN TECNOLOGÍAS DE INFORMACIÓN</a:t>
            </a:r>
            <a:endParaRPr b="0" i="0" sz="1400" u="none" cap="none" strike="noStrike">
              <a:solidFill>
                <a:srgbClr val="000000"/>
              </a:solidFill>
              <a:latin typeface="Arial"/>
              <a:ea typeface="Arial"/>
              <a:cs typeface="Arial"/>
              <a:sym typeface="Arial"/>
            </a:endParaRPr>
          </a:p>
        </p:txBody>
      </p:sp>
      <p:sp>
        <p:nvSpPr>
          <p:cNvPr id="32" name="Google Shape;32;p1"/>
          <p:cNvSpPr/>
          <p:nvPr/>
        </p:nvSpPr>
        <p:spPr>
          <a:xfrm>
            <a:off x="503239" y="1992164"/>
            <a:ext cx="2981106" cy="1107996"/>
          </a:xfrm>
          <a:prstGeom prst="rect">
            <a:avLst/>
          </a:prstGeom>
          <a:noFill/>
          <a:ln>
            <a:noFill/>
          </a:ln>
        </p:spPr>
        <p:txBody>
          <a:bodyPr anchorCtr="0" anchor="t" bIns="0" lIns="0" spcFirstLastPara="1" rIns="0" wrap="square" tIns="0">
            <a:spAutoFit/>
          </a:bodyPr>
          <a:lstStyle/>
          <a:p>
            <a:pPr indent="0" lvl="0" marL="0" marR="0" rtl="0" algn="l">
              <a:lnSpc>
                <a:spcPct val="80000"/>
              </a:lnSpc>
              <a:spcBef>
                <a:spcPts val="0"/>
              </a:spcBef>
              <a:spcAft>
                <a:spcPts val="0"/>
              </a:spcAft>
              <a:buClr>
                <a:srgbClr val="000000"/>
              </a:buClr>
              <a:buSzPts val="1800"/>
              <a:buFont typeface="Arial"/>
              <a:buNone/>
            </a:pPr>
            <a:r>
              <a:rPr b="0" i="0" lang="es-PE" sz="1800" u="none" cap="none" strike="noStrike">
                <a:solidFill>
                  <a:schemeClr val="dk1"/>
                </a:solidFill>
                <a:latin typeface="Arial"/>
                <a:ea typeface="Arial"/>
                <a:cs typeface="Arial"/>
                <a:sym typeface="Arial"/>
              </a:rPr>
              <a:t>DEFINICIÓN Y </a:t>
            </a:r>
            <a:r>
              <a:rPr b="1" i="0" lang="es-PE" sz="1800" u="none" cap="none" strike="noStrike">
                <a:solidFill>
                  <a:schemeClr val="dk1"/>
                </a:solidFill>
                <a:latin typeface="Arial"/>
                <a:ea typeface="Arial"/>
                <a:cs typeface="Arial"/>
                <a:sym typeface="Arial"/>
              </a:rPr>
              <a:t>CONCEPTOS CLAVE DE CUSTOMER CENTRICITY EN TECNOLOGÍAS DE INFORMACIÓN</a:t>
            </a:r>
            <a:endParaRPr/>
          </a:p>
        </p:txBody>
      </p:sp>
      <p:sp>
        <p:nvSpPr>
          <p:cNvPr id="33" name="Google Shape;33;p1"/>
          <p:cNvSpPr/>
          <p:nvPr/>
        </p:nvSpPr>
        <p:spPr>
          <a:xfrm>
            <a:off x="503238" y="3459083"/>
            <a:ext cx="2845526" cy="1828193"/>
          </a:xfrm>
          <a:prstGeom prst="rect">
            <a:avLst/>
          </a:prstGeom>
          <a:noFill/>
          <a:ln>
            <a:noFill/>
          </a:ln>
        </p:spPr>
        <p:txBody>
          <a:bodyPr anchorCtr="0" anchor="t" bIns="0" lIns="0" spcFirstLastPara="1" rIns="0" wrap="square" tIns="0">
            <a:spAutoFit/>
          </a:bodyPr>
          <a:lstStyle/>
          <a:p>
            <a:pPr indent="-177800" lvl="0" marL="177800" marR="0" rtl="0" algn="l">
              <a:lnSpc>
                <a:spcPct val="120000"/>
              </a:lnSpc>
              <a:spcBef>
                <a:spcPts val="0"/>
              </a:spcBef>
              <a:spcAft>
                <a:spcPts val="0"/>
              </a:spcAft>
              <a:buClr>
                <a:srgbClr val="D51B47"/>
              </a:buClr>
              <a:buSzPts val="1199"/>
              <a:buFont typeface="Arial"/>
              <a:buChar char="•"/>
            </a:pPr>
            <a:r>
              <a:rPr b="0" i="0" lang="es-PE" sz="1100" u="none" cap="none" strike="noStrike">
                <a:solidFill>
                  <a:schemeClr val="dk1"/>
                </a:solidFill>
                <a:latin typeface="Arial"/>
                <a:ea typeface="Arial"/>
                <a:cs typeface="Arial"/>
                <a:sym typeface="Arial"/>
              </a:rPr>
              <a:t>Fundamentos del Customer Centricity: Conceptos clave a abordar.</a:t>
            </a:r>
            <a:endParaRPr b="0" i="0" sz="1100" u="none" cap="none" strike="noStrike">
              <a:solidFill>
                <a:schemeClr val="dk1"/>
              </a:solidFill>
              <a:latin typeface="Arial"/>
              <a:ea typeface="Arial"/>
              <a:cs typeface="Arial"/>
              <a:sym typeface="Arial"/>
            </a:endParaRPr>
          </a:p>
          <a:p>
            <a:pPr indent="-177800" lvl="0" marL="177800" marR="0" rtl="0" algn="l">
              <a:lnSpc>
                <a:spcPct val="120000"/>
              </a:lnSpc>
              <a:spcBef>
                <a:spcPts val="0"/>
              </a:spcBef>
              <a:spcAft>
                <a:spcPts val="0"/>
              </a:spcAft>
              <a:buClr>
                <a:srgbClr val="D51B47"/>
              </a:buClr>
              <a:buSzPts val="1199"/>
              <a:buFont typeface="Arial"/>
              <a:buChar char="•"/>
            </a:pPr>
            <a:r>
              <a:rPr b="0" i="0" lang="es-PE" sz="1100" u="none" cap="none" strike="noStrike">
                <a:solidFill>
                  <a:schemeClr val="dk1"/>
                </a:solidFill>
                <a:latin typeface="Arial"/>
                <a:ea typeface="Arial"/>
                <a:cs typeface="Arial"/>
                <a:sym typeface="Arial"/>
              </a:rPr>
              <a:t>Importancia de la Customer Centricity en el desarrollo de soluciones tecnológicas.</a:t>
            </a:r>
            <a:endParaRPr b="0" i="0" sz="1100" u="none" cap="none" strike="noStrike">
              <a:solidFill>
                <a:schemeClr val="dk1"/>
              </a:solidFill>
              <a:latin typeface="Arial"/>
              <a:ea typeface="Arial"/>
              <a:cs typeface="Arial"/>
              <a:sym typeface="Arial"/>
            </a:endParaRPr>
          </a:p>
          <a:p>
            <a:pPr indent="-177800" lvl="0" marL="177800" marR="0" rtl="0" algn="l">
              <a:lnSpc>
                <a:spcPct val="120000"/>
              </a:lnSpc>
              <a:spcBef>
                <a:spcPts val="0"/>
              </a:spcBef>
              <a:spcAft>
                <a:spcPts val="0"/>
              </a:spcAft>
              <a:buClr>
                <a:srgbClr val="D51B47"/>
              </a:buClr>
              <a:buSzPts val="1199"/>
              <a:buFont typeface="Arial"/>
              <a:buChar char="•"/>
            </a:pPr>
            <a:r>
              <a:rPr b="0" i="0" lang="es-PE" sz="1100" u="none" cap="none" strike="noStrike">
                <a:solidFill>
                  <a:schemeClr val="dk1"/>
                </a:solidFill>
                <a:latin typeface="Arial"/>
                <a:ea typeface="Arial"/>
                <a:cs typeface="Arial"/>
                <a:sym typeface="Arial"/>
              </a:rPr>
              <a:t>Principales beneficios y desafíos en la industria digital.</a:t>
            </a:r>
            <a:endParaRPr b="0" i="0" sz="1100" u="none" cap="none" strike="noStrike">
              <a:solidFill>
                <a:schemeClr val="dk1"/>
              </a:solidFill>
              <a:latin typeface="Arial"/>
              <a:ea typeface="Arial"/>
              <a:cs typeface="Arial"/>
              <a:sym typeface="Arial"/>
            </a:endParaRPr>
          </a:p>
          <a:p>
            <a:pPr indent="-177800" lvl="0" marL="177800" marR="0" rtl="0" algn="l">
              <a:lnSpc>
                <a:spcPct val="120000"/>
              </a:lnSpc>
              <a:spcBef>
                <a:spcPts val="0"/>
              </a:spcBef>
              <a:spcAft>
                <a:spcPts val="0"/>
              </a:spcAft>
              <a:buClr>
                <a:srgbClr val="D51B47"/>
              </a:buClr>
              <a:buSzPts val="1199"/>
              <a:buFont typeface="Arial"/>
              <a:buChar char="•"/>
            </a:pPr>
            <a:r>
              <a:rPr b="0" i="0" lang="es-PE" sz="1100" u="none" cap="none" strike="noStrike">
                <a:solidFill>
                  <a:schemeClr val="dk1"/>
                </a:solidFill>
                <a:latin typeface="Arial"/>
                <a:ea typeface="Arial"/>
                <a:cs typeface="Arial"/>
                <a:sym typeface="Arial"/>
              </a:rPr>
              <a:t>Análisis de casos de éxito y fracaso en la aplicación de este enfoque</a:t>
            </a:r>
            <a:endParaRPr b="0" i="0" sz="1100" u="none" cap="none" strike="noStrike">
              <a:solidFill>
                <a:schemeClr val="dk1"/>
              </a:solidFill>
              <a:latin typeface="Arial"/>
              <a:ea typeface="Arial"/>
              <a:cs typeface="Arial"/>
              <a:sym typeface="Arial"/>
            </a:endParaRPr>
          </a:p>
        </p:txBody>
      </p:sp>
      <p:sp>
        <p:nvSpPr>
          <p:cNvPr id="34" name="Google Shape;34;p1"/>
          <p:cNvSpPr txBox="1"/>
          <p:nvPr/>
        </p:nvSpPr>
        <p:spPr>
          <a:xfrm>
            <a:off x="743902" y="1633980"/>
            <a:ext cx="1457648" cy="307777"/>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000"/>
              <a:buFont typeface="Arial"/>
              <a:buNone/>
            </a:pPr>
            <a:r>
              <a:rPr b="1" i="0" lang="es-PE" sz="2000" u="none" cap="none" strike="noStrike">
                <a:solidFill>
                  <a:srgbClr val="D51B47"/>
                </a:solidFill>
                <a:latin typeface="Calibri"/>
                <a:ea typeface="Calibri"/>
                <a:cs typeface="Calibri"/>
                <a:sym typeface="Calibri"/>
              </a:rPr>
              <a:t>TEMA 01</a:t>
            </a:r>
            <a:endParaRPr b="0" i="0" sz="1400" u="none" cap="none" strike="noStrike">
              <a:solidFill>
                <a:srgbClr val="D51B47"/>
              </a:solidFill>
              <a:latin typeface="Arial"/>
              <a:ea typeface="Arial"/>
              <a:cs typeface="Arial"/>
              <a:sym typeface="Arial"/>
            </a:endParaRPr>
          </a:p>
        </p:txBody>
      </p:sp>
      <p:pic>
        <p:nvPicPr>
          <p:cNvPr id="35" name="Google Shape;35;p1"/>
          <p:cNvPicPr preferRelativeResize="0"/>
          <p:nvPr/>
        </p:nvPicPr>
        <p:blipFill rotWithShape="1">
          <a:blip r:embed="rId3">
            <a:alphaModFix/>
          </a:blip>
          <a:srcRect b="0" l="0" r="0" t="0"/>
          <a:stretch/>
        </p:blipFill>
        <p:spPr>
          <a:xfrm>
            <a:off x="507464" y="1698005"/>
            <a:ext cx="166865" cy="170453"/>
          </a:xfrm>
          <a:prstGeom prst="rect">
            <a:avLst/>
          </a:prstGeom>
          <a:noFill/>
          <a:ln>
            <a:noFill/>
          </a:ln>
        </p:spPr>
      </p:pic>
      <p:pic>
        <p:nvPicPr>
          <p:cNvPr id="36" name="Google Shape;36;p1"/>
          <p:cNvPicPr preferRelativeResize="0"/>
          <p:nvPr/>
        </p:nvPicPr>
        <p:blipFill rotWithShape="1">
          <a:blip r:embed="rId4">
            <a:alphaModFix/>
          </a:blip>
          <a:srcRect b="0" l="0" r="0" t="0"/>
          <a:stretch/>
        </p:blipFill>
        <p:spPr>
          <a:xfrm>
            <a:off x="3768109" y="0"/>
            <a:ext cx="5395913" cy="57150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 name="Shape 40"/>
        <p:cNvGrpSpPr/>
        <p:nvPr/>
      </p:nvGrpSpPr>
      <p:grpSpPr>
        <a:xfrm>
          <a:off x="0" y="0"/>
          <a:ext cx="0" cy="0"/>
          <a:chOff x="0" y="0"/>
          <a:chExt cx="0" cy="0"/>
        </a:xfrm>
      </p:grpSpPr>
      <p:sp>
        <p:nvSpPr>
          <p:cNvPr id="41" name="Google Shape;41;p43"/>
          <p:cNvSpPr/>
          <p:nvPr/>
        </p:nvSpPr>
        <p:spPr>
          <a:xfrm>
            <a:off x="0" y="1"/>
            <a:ext cx="9144000" cy="5715000"/>
          </a:xfrm>
          <a:prstGeom prst="rect">
            <a:avLst/>
          </a:prstGeom>
          <a:solidFill>
            <a:srgbClr val="ED434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id="42" name="Google Shape;42;p43"/>
          <p:cNvPicPr preferRelativeResize="0"/>
          <p:nvPr/>
        </p:nvPicPr>
        <p:blipFill rotWithShape="1">
          <a:blip r:embed="rId3">
            <a:alphaModFix/>
          </a:blip>
          <a:srcRect b="0" l="0" r="0" t="0"/>
          <a:stretch/>
        </p:blipFill>
        <p:spPr>
          <a:xfrm>
            <a:off x="1" y="946969"/>
            <a:ext cx="2072213" cy="3898064"/>
          </a:xfrm>
          <a:prstGeom prst="rect">
            <a:avLst/>
          </a:prstGeom>
          <a:noFill/>
          <a:ln>
            <a:noFill/>
          </a:ln>
        </p:spPr>
      </p:pic>
      <p:sp>
        <p:nvSpPr>
          <p:cNvPr id="43" name="Google Shape;43;p43"/>
          <p:cNvSpPr/>
          <p:nvPr/>
        </p:nvSpPr>
        <p:spPr>
          <a:xfrm>
            <a:off x="149817" y="3724759"/>
            <a:ext cx="1037633" cy="1069383"/>
          </a:xfrm>
          <a:prstGeom prst="rect">
            <a:avLst/>
          </a:prstGeom>
          <a:solidFill>
            <a:srgbClr val="ED434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4" name="Google Shape;44;p43"/>
          <p:cNvSpPr txBox="1"/>
          <p:nvPr/>
        </p:nvSpPr>
        <p:spPr>
          <a:xfrm>
            <a:off x="2519363" y="2540738"/>
            <a:ext cx="4581728" cy="812530"/>
          </a:xfrm>
          <a:prstGeom prst="rect">
            <a:avLst/>
          </a:prstGeom>
          <a:noFill/>
          <a:ln>
            <a:noFill/>
          </a:ln>
        </p:spPr>
        <p:txBody>
          <a:bodyPr anchorCtr="0" anchor="t" bIns="0" lIns="0" spcFirstLastPara="1" rIns="0" wrap="square" tIns="0">
            <a:spAutoFit/>
          </a:bodyPr>
          <a:lstStyle/>
          <a:p>
            <a:pPr indent="0" lvl="0" marL="0" marR="0" rtl="0" algn="l">
              <a:lnSpc>
                <a:spcPct val="80000"/>
              </a:lnSpc>
              <a:spcBef>
                <a:spcPts val="0"/>
              </a:spcBef>
              <a:spcAft>
                <a:spcPts val="0"/>
              </a:spcAft>
              <a:buClr>
                <a:srgbClr val="000000"/>
              </a:buClr>
              <a:buSzPts val="3300"/>
              <a:buFont typeface="Arial"/>
              <a:buNone/>
            </a:pPr>
            <a:r>
              <a:rPr b="0" i="0" lang="es-PE" sz="3300" u="none" cap="none" strike="noStrike">
                <a:solidFill>
                  <a:schemeClr val="lt1"/>
                </a:solidFill>
                <a:latin typeface="Arial"/>
                <a:ea typeface="Arial"/>
                <a:cs typeface="Arial"/>
                <a:sym typeface="Arial"/>
              </a:rPr>
              <a:t>INTRODUCCIÓN</a:t>
            </a:r>
            <a:endParaRPr b="0" i="0" sz="1400" u="none" cap="none" strike="noStrike">
              <a:solidFill>
                <a:srgbClr val="000000"/>
              </a:solidFill>
              <a:latin typeface="Arial"/>
              <a:ea typeface="Arial"/>
              <a:cs typeface="Arial"/>
              <a:sym typeface="Arial"/>
            </a:endParaRPr>
          </a:p>
          <a:p>
            <a:pPr indent="0" lvl="0" marL="0" marR="0" rtl="0" algn="l">
              <a:lnSpc>
                <a:spcPct val="80000"/>
              </a:lnSpc>
              <a:spcBef>
                <a:spcPts val="0"/>
              </a:spcBef>
              <a:spcAft>
                <a:spcPts val="0"/>
              </a:spcAft>
              <a:buClr>
                <a:srgbClr val="000000"/>
              </a:buClr>
              <a:buSzPts val="3300"/>
              <a:buFont typeface="Arial"/>
              <a:buNone/>
            </a:pPr>
            <a:r>
              <a:rPr b="1" i="0" lang="es-PE" sz="3300" u="none" cap="none" strike="noStrike">
                <a:solidFill>
                  <a:schemeClr val="lt1"/>
                </a:solidFill>
                <a:latin typeface="Arial"/>
                <a:ea typeface="Arial"/>
                <a:cs typeface="Arial"/>
                <a:sym typeface="Arial"/>
              </a:rPr>
              <a:t>DE LA SESIÓN</a:t>
            </a:r>
            <a:endParaRPr b="1" i="0" sz="1400" u="none" cap="none" strike="noStrike">
              <a:solidFill>
                <a:srgbClr val="000000"/>
              </a:solidFill>
              <a:latin typeface="Arial"/>
              <a:ea typeface="Arial"/>
              <a:cs typeface="Arial"/>
              <a:sym typeface="Arial"/>
            </a:endParaRPr>
          </a:p>
        </p:txBody>
      </p:sp>
      <p:pic>
        <p:nvPicPr>
          <p:cNvPr id="45" name="Google Shape;45;p43"/>
          <p:cNvPicPr preferRelativeResize="0"/>
          <p:nvPr/>
        </p:nvPicPr>
        <p:blipFill rotWithShape="1">
          <a:blip r:embed="rId4">
            <a:alphaModFix amt="16000"/>
          </a:blip>
          <a:srcRect b="0" l="0" r="0" t="0"/>
          <a:stretch/>
        </p:blipFill>
        <p:spPr>
          <a:xfrm>
            <a:off x="334433" y="3817749"/>
            <a:ext cx="809264" cy="809264"/>
          </a:xfrm>
          <a:prstGeom prst="rect">
            <a:avLst/>
          </a:prstGeom>
          <a:noFill/>
          <a:ln>
            <a:noFill/>
          </a:ln>
        </p:spPr>
      </p:pic>
      <p:pic>
        <p:nvPicPr>
          <p:cNvPr id="46" name="Google Shape;46;p43"/>
          <p:cNvPicPr preferRelativeResize="0"/>
          <p:nvPr/>
        </p:nvPicPr>
        <p:blipFill rotWithShape="1">
          <a:blip r:embed="rId5">
            <a:alphaModFix/>
          </a:blip>
          <a:srcRect b="0" l="0" r="0" t="0"/>
          <a:stretch/>
        </p:blipFill>
        <p:spPr>
          <a:xfrm>
            <a:off x="2528619" y="2194222"/>
            <a:ext cx="202176" cy="208211"/>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 name="Shape 51"/>
        <p:cNvGrpSpPr/>
        <p:nvPr/>
      </p:nvGrpSpPr>
      <p:grpSpPr>
        <a:xfrm>
          <a:off x="0" y="0"/>
          <a:ext cx="0" cy="0"/>
          <a:chOff x="0" y="0"/>
          <a:chExt cx="0" cy="0"/>
        </a:xfrm>
      </p:grpSpPr>
      <p:sp>
        <p:nvSpPr>
          <p:cNvPr id="52" name="Google Shape;52;p2"/>
          <p:cNvSpPr/>
          <p:nvPr/>
        </p:nvSpPr>
        <p:spPr>
          <a:xfrm>
            <a:off x="6918960" y="5364480"/>
            <a:ext cx="2133600" cy="224453"/>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3" name="Google Shape;53;p2"/>
          <p:cNvSpPr txBox="1"/>
          <p:nvPr/>
        </p:nvSpPr>
        <p:spPr>
          <a:xfrm>
            <a:off x="1282298" y="918372"/>
            <a:ext cx="5521800" cy="3016800"/>
          </a:xfrm>
          <a:prstGeom prst="rect">
            <a:avLst/>
          </a:prstGeom>
          <a:noFill/>
          <a:ln>
            <a:noFill/>
          </a:ln>
        </p:spPr>
        <p:txBody>
          <a:bodyPr anchorCtr="0" anchor="t" bIns="0" lIns="0" spcFirstLastPara="1" rIns="0" wrap="square" tIns="0">
            <a:spAutoFit/>
          </a:bodyPr>
          <a:lstStyle/>
          <a:p>
            <a:pPr indent="0" lvl="0" marL="11725" marR="0" rtl="0" algn="l">
              <a:lnSpc>
                <a:spcPct val="100000"/>
              </a:lnSpc>
              <a:spcBef>
                <a:spcPts val="0"/>
              </a:spcBef>
              <a:spcAft>
                <a:spcPts val="0"/>
              </a:spcAft>
              <a:buNone/>
            </a:pPr>
            <a:r>
              <a:rPr b="0" i="0" lang="es-PE" sz="1400" u="none" cap="none" strike="noStrike">
                <a:solidFill>
                  <a:srgbClr val="262626"/>
                </a:solidFill>
                <a:latin typeface="Calibri"/>
                <a:ea typeface="Calibri"/>
                <a:cs typeface="Calibri"/>
                <a:sym typeface="Calibri"/>
              </a:rPr>
              <a:t>El enfoque en el cliente no es un concepto nuevo en nuestro día a día</a:t>
            </a:r>
            <a:r>
              <a:rPr lang="es-PE">
                <a:solidFill>
                  <a:srgbClr val="262626"/>
                </a:solidFill>
                <a:latin typeface="Calibri"/>
                <a:ea typeface="Calibri"/>
                <a:cs typeface="Calibri"/>
                <a:sym typeface="Calibri"/>
              </a:rPr>
              <a:t>;</a:t>
            </a:r>
            <a:r>
              <a:rPr b="0" i="0" lang="es-PE" sz="1400" u="none" cap="none" strike="noStrike">
                <a:solidFill>
                  <a:srgbClr val="262626"/>
                </a:solidFill>
                <a:latin typeface="Calibri"/>
                <a:ea typeface="Calibri"/>
                <a:cs typeface="Calibri"/>
                <a:sym typeface="Calibri"/>
              </a:rPr>
              <a:t> sin embargo, ha ido evolucionando y adaptándose cada vez más al contexto y “nuevo normal” que empezamos a vivir. Por esto mismo, hemos visto a varias organizaciones crecer y ser más conocidas en el mercado, así como otras que fracasaron y desaparecieron en muy poco tiempo a pesar de haber sido premiadas o catalogadas como las empresas más prometedoras. ¿Qué tuvieron en común? ¿qué hicieron diferente? ¿Cómo puedo aplicar esto desde hoy a mi día a día?</a:t>
            </a:r>
            <a:endParaRPr b="0" i="0" sz="1400" u="none" cap="none" strike="noStrike">
              <a:solidFill>
                <a:srgbClr val="262626"/>
              </a:solidFill>
              <a:latin typeface="Calibri"/>
              <a:ea typeface="Calibri"/>
              <a:cs typeface="Calibri"/>
              <a:sym typeface="Calibri"/>
            </a:endParaRPr>
          </a:p>
          <a:p>
            <a:pPr indent="0" lvl="0" marL="113325" marR="0" rtl="0" algn="l">
              <a:lnSpc>
                <a:spcPct val="100000"/>
              </a:lnSpc>
              <a:spcBef>
                <a:spcPts val="0"/>
              </a:spcBef>
              <a:spcAft>
                <a:spcPts val="0"/>
              </a:spcAft>
              <a:buNone/>
            </a:pPr>
            <a:r>
              <a:t/>
            </a:r>
            <a:endParaRPr b="0" i="0" sz="1400" u="none" cap="none" strike="noStrike">
              <a:solidFill>
                <a:srgbClr val="262626"/>
              </a:solidFill>
              <a:latin typeface="Calibri"/>
              <a:ea typeface="Calibri"/>
              <a:cs typeface="Calibri"/>
              <a:sym typeface="Calibri"/>
            </a:endParaRPr>
          </a:p>
          <a:p>
            <a:pPr indent="0" lvl="0" marL="11725" marR="0" rtl="0" algn="l">
              <a:lnSpc>
                <a:spcPct val="100000"/>
              </a:lnSpc>
              <a:spcBef>
                <a:spcPts val="0"/>
              </a:spcBef>
              <a:spcAft>
                <a:spcPts val="0"/>
              </a:spcAft>
              <a:buNone/>
            </a:pPr>
            <a:r>
              <a:rPr b="0" i="0" lang="es-PE" sz="1400" u="none" cap="none" strike="noStrike">
                <a:solidFill>
                  <a:srgbClr val="262626"/>
                </a:solidFill>
                <a:latin typeface="Calibri"/>
                <a:ea typeface="Calibri"/>
                <a:cs typeface="Calibri"/>
                <a:sym typeface="Calibri"/>
              </a:rPr>
              <a:t>Por ello en esta sesión encontraremos:</a:t>
            </a:r>
            <a:endParaRPr b="0" i="0" sz="1400" u="none" cap="none" strike="noStrike">
              <a:solidFill>
                <a:srgbClr val="262626"/>
              </a:solidFill>
              <a:latin typeface="Calibri"/>
              <a:ea typeface="Calibri"/>
              <a:cs typeface="Calibri"/>
              <a:sym typeface="Calibri"/>
            </a:endParaRPr>
          </a:p>
          <a:p>
            <a:pPr indent="-173038" lvl="1" marL="180975" marR="0" rtl="0" algn="l">
              <a:lnSpc>
                <a:spcPct val="100000"/>
              </a:lnSpc>
              <a:spcBef>
                <a:spcPts val="0"/>
              </a:spcBef>
              <a:spcAft>
                <a:spcPts val="0"/>
              </a:spcAft>
              <a:buClr>
                <a:srgbClr val="EF4639"/>
              </a:buClr>
              <a:buSzPts val="1400"/>
              <a:buFont typeface="Arial"/>
              <a:buChar char="•"/>
            </a:pPr>
            <a:r>
              <a:rPr b="0" i="0" lang="es-PE" sz="1400" u="none" cap="none" strike="noStrike">
                <a:solidFill>
                  <a:srgbClr val="262626"/>
                </a:solidFill>
                <a:latin typeface="Calibri"/>
                <a:ea typeface="Calibri"/>
                <a:cs typeface="Calibri"/>
                <a:sym typeface="Calibri"/>
              </a:rPr>
              <a:t>Conceptos clave en Customer Centricity</a:t>
            </a:r>
            <a:endParaRPr b="0" i="0" sz="1400" u="none" cap="none" strike="noStrike">
              <a:solidFill>
                <a:srgbClr val="262626"/>
              </a:solidFill>
              <a:latin typeface="Calibri"/>
              <a:ea typeface="Calibri"/>
              <a:cs typeface="Calibri"/>
              <a:sym typeface="Calibri"/>
            </a:endParaRPr>
          </a:p>
          <a:p>
            <a:pPr indent="-173038" lvl="1" marL="180975" marR="0" rtl="0" algn="l">
              <a:lnSpc>
                <a:spcPct val="100000"/>
              </a:lnSpc>
              <a:spcBef>
                <a:spcPts val="0"/>
              </a:spcBef>
              <a:spcAft>
                <a:spcPts val="0"/>
              </a:spcAft>
              <a:buClr>
                <a:srgbClr val="EF4639"/>
              </a:buClr>
              <a:buSzPts val="1400"/>
              <a:buFont typeface="Arial"/>
              <a:buChar char="•"/>
            </a:pPr>
            <a:r>
              <a:rPr b="0" i="0" lang="es-PE" sz="1400" u="none" cap="none" strike="noStrike">
                <a:solidFill>
                  <a:srgbClr val="262626"/>
                </a:solidFill>
                <a:latin typeface="Calibri"/>
                <a:ea typeface="Calibri"/>
                <a:cs typeface="Calibri"/>
                <a:sym typeface="Calibri"/>
              </a:rPr>
              <a:t>¿Cuáles son las ventajas de aplicar este enfoque el día de HOY?</a:t>
            </a:r>
            <a:endParaRPr b="0" i="0" sz="1400" u="none" cap="none" strike="noStrike">
              <a:solidFill>
                <a:srgbClr val="262626"/>
              </a:solidFill>
              <a:latin typeface="Calibri"/>
              <a:ea typeface="Calibri"/>
              <a:cs typeface="Calibri"/>
              <a:sym typeface="Calibri"/>
            </a:endParaRPr>
          </a:p>
          <a:p>
            <a:pPr indent="-173038" lvl="1" marL="180975" marR="0" rtl="0" algn="l">
              <a:lnSpc>
                <a:spcPct val="100000"/>
              </a:lnSpc>
              <a:spcBef>
                <a:spcPts val="0"/>
              </a:spcBef>
              <a:spcAft>
                <a:spcPts val="0"/>
              </a:spcAft>
              <a:buClr>
                <a:srgbClr val="EF4639"/>
              </a:buClr>
              <a:buSzPts val="1400"/>
              <a:buFont typeface="Arial"/>
              <a:buChar char="•"/>
            </a:pPr>
            <a:r>
              <a:rPr b="0" i="0" lang="es-PE" sz="1400" u="none" cap="none" strike="noStrike">
                <a:solidFill>
                  <a:srgbClr val="262626"/>
                </a:solidFill>
                <a:latin typeface="Calibri"/>
                <a:ea typeface="Calibri"/>
                <a:cs typeface="Calibri"/>
                <a:sym typeface="Calibri"/>
              </a:rPr>
              <a:t>¿Qué tuvieron en común las empresas que fracasaron?</a:t>
            </a:r>
            <a:endParaRPr/>
          </a:p>
          <a:p>
            <a:pPr indent="-161925" lvl="1" marL="271463" marR="0" rtl="0" algn="l">
              <a:lnSpc>
                <a:spcPct val="100000"/>
              </a:lnSpc>
              <a:spcBef>
                <a:spcPts val="0"/>
              </a:spcBef>
              <a:spcAft>
                <a:spcPts val="0"/>
              </a:spcAft>
              <a:buClr>
                <a:srgbClr val="262626"/>
              </a:buClr>
              <a:buSzPts val="1600"/>
              <a:buFont typeface="Arial"/>
              <a:buNone/>
            </a:pPr>
            <a:r>
              <a:t/>
            </a:r>
            <a:endParaRPr b="0" i="0" sz="1400" u="none" cap="none" strike="noStrike">
              <a:solidFill>
                <a:srgbClr val="262626"/>
              </a:solidFill>
              <a:latin typeface="Calibri"/>
              <a:ea typeface="Calibri"/>
              <a:cs typeface="Calibri"/>
              <a:sym typeface="Calibri"/>
            </a:endParaRPr>
          </a:p>
        </p:txBody>
      </p:sp>
      <p:pic>
        <p:nvPicPr>
          <p:cNvPr id="54" name="Google Shape;54;p2"/>
          <p:cNvPicPr preferRelativeResize="0"/>
          <p:nvPr/>
        </p:nvPicPr>
        <p:blipFill rotWithShape="1">
          <a:blip r:embed="rId3">
            <a:alphaModFix/>
          </a:blip>
          <a:srcRect b="0" l="0" r="0" t="0"/>
          <a:stretch/>
        </p:blipFill>
        <p:spPr>
          <a:xfrm>
            <a:off x="1010839" y="954885"/>
            <a:ext cx="117851" cy="121369"/>
          </a:xfrm>
          <a:prstGeom prst="rect">
            <a:avLst/>
          </a:prstGeom>
          <a:noFill/>
          <a:ln>
            <a:noFill/>
          </a:ln>
        </p:spPr>
      </p:pic>
      <p:sp>
        <p:nvSpPr>
          <p:cNvPr id="55" name="Google Shape;55;p2"/>
          <p:cNvSpPr/>
          <p:nvPr/>
        </p:nvSpPr>
        <p:spPr>
          <a:xfrm>
            <a:off x="8133347" y="163629"/>
            <a:ext cx="808522" cy="754744"/>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id="56" name="Google Shape;56;p2"/>
          <p:cNvPicPr preferRelativeResize="0"/>
          <p:nvPr/>
        </p:nvPicPr>
        <p:blipFill rotWithShape="1">
          <a:blip r:embed="rId4">
            <a:alphaModFix amt="42000"/>
          </a:blip>
          <a:srcRect b="0" l="0" r="0" t="0"/>
          <a:stretch/>
        </p:blipFill>
        <p:spPr>
          <a:xfrm>
            <a:off x="6986661" y="3052731"/>
            <a:ext cx="1689027" cy="2181257"/>
          </a:xfrm>
          <a:prstGeom prst="rect">
            <a:avLst/>
          </a:prstGeom>
          <a:noFill/>
          <a:ln>
            <a:noFill/>
          </a:ln>
        </p:spPr>
      </p:pic>
      <p:pic>
        <p:nvPicPr>
          <p:cNvPr id="57" name="Google Shape;57;p2"/>
          <p:cNvPicPr preferRelativeResize="0"/>
          <p:nvPr/>
        </p:nvPicPr>
        <p:blipFill rotWithShape="1">
          <a:blip r:embed="rId3">
            <a:alphaModFix/>
          </a:blip>
          <a:srcRect b="0" l="0" r="0" t="0"/>
          <a:stretch/>
        </p:blipFill>
        <p:spPr>
          <a:xfrm>
            <a:off x="1010839" y="2888816"/>
            <a:ext cx="117851" cy="121369"/>
          </a:xfrm>
          <a:prstGeom prst="rect">
            <a:avLst/>
          </a:prstGeom>
          <a:noFill/>
          <a:ln>
            <a:noFill/>
          </a:ln>
        </p:spPr>
      </p:pic>
      <p:sp>
        <p:nvSpPr>
          <p:cNvPr id="58" name="Google Shape;58;p2"/>
          <p:cNvSpPr/>
          <p:nvPr/>
        </p:nvSpPr>
        <p:spPr>
          <a:xfrm>
            <a:off x="301556" y="5273555"/>
            <a:ext cx="8453337" cy="29183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9" name="Google Shape;59;p2"/>
          <p:cNvSpPr/>
          <p:nvPr/>
        </p:nvSpPr>
        <p:spPr>
          <a:xfrm>
            <a:off x="503238" y="376836"/>
            <a:ext cx="2430462" cy="138499"/>
          </a:xfrm>
          <a:prstGeom prst="rect">
            <a:avLst/>
          </a:prstGeom>
          <a:noFill/>
          <a:ln>
            <a:noFill/>
          </a:ln>
        </p:spPr>
        <p:txBody>
          <a:bodyPr anchorCtr="0" anchor="b" bIns="0" lIns="0" spcFirstLastPara="1" rIns="0" wrap="square" tIns="0">
            <a:spAutoFit/>
          </a:bodyPr>
          <a:lstStyle/>
          <a:p>
            <a:pPr indent="0" lvl="0" marL="0" marR="0" rtl="0" algn="l">
              <a:lnSpc>
                <a:spcPct val="90000"/>
              </a:lnSpc>
              <a:spcBef>
                <a:spcPts val="0"/>
              </a:spcBef>
              <a:spcAft>
                <a:spcPts val="0"/>
              </a:spcAft>
              <a:buClr>
                <a:srgbClr val="000000"/>
              </a:buClr>
              <a:buSzPts val="1000"/>
              <a:buFont typeface="Arial"/>
              <a:buNone/>
            </a:pPr>
            <a:r>
              <a:rPr b="1" i="0" lang="es-PE" sz="1000" u="none" cap="none" strike="noStrike">
                <a:solidFill>
                  <a:srgbClr val="7F7F7F"/>
                </a:solidFill>
                <a:latin typeface="Calibri"/>
                <a:ea typeface="Calibri"/>
                <a:cs typeface="Calibri"/>
                <a:sym typeface="Calibri"/>
              </a:rPr>
              <a:t>+ </a:t>
            </a:r>
            <a:r>
              <a:rPr b="0" i="0" lang="es-PE" sz="1000" u="none" cap="none" strike="noStrike">
                <a:solidFill>
                  <a:srgbClr val="A5A5A5"/>
                </a:solidFill>
                <a:latin typeface="Calibri"/>
                <a:ea typeface="Calibri"/>
                <a:cs typeface="Calibri"/>
                <a:sym typeface="Calibri"/>
              </a:rPr>
              <a:t>INTRODUCCIÓN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sp>
        <p:nvSpPr>
          <p:cNvPr id="65" name="Google Shape;65;p3"/>
          <p:cNvSpPr/>
          <p:nvPr/>
        </p:nvSpPr>
        <p:spPr>
          <a:xfrm>
            <a:off x="0" y="0"/>
            <a:ext cx="9144000" cy="5715000"/>
          </a:xfrm>
          <a:prstGeom prst="rect">
            <a:avLst/>
          </a:prstGeom>
          <a:solidFill>
            <a:srgbClr val="8087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6" name="Google Shape;66;p3"/>
          <p:cNvSpPr txBox="1"/>
          <p:nvPr/>
        </p:nvSpPr>
        <p:spPr>
          <a:xfrm>
            <a:off x="1008063" y="3169972"/>
            <a:ext cx="5993558" cy="997196"/>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Clr>
                <a:srgbClr val="000000"/>
              </a:buClr>
              <a:buSzPts val="2400"/>
              <a:buFont typeface="Arial"/>
              <a:buNone/>
            </a:pPr>
            <a:r>
              <a:rPr b="0" i="0" lang="es-PE" sz="2400" u="none" cap="none" strike="noStrike">
                <a:solidFill>
                  <a:schemeClr val="lt1"/>
                </a:solidFill>
                <a:latin typeface="Arial"/>
                <a:ea typeface="Arial"/>
                <a:cs typeface="Arial"/>
                <a:sym typeface="Arial"/>
              </a:rPr>
              <a:t>FUNDAMENTOS Y CONCEPTOS </a:t>
            </a:r>
            <a:endParaRPr/>
          </a:p>
          <a:p>
            <a:pPr indent="0" lvl="0" marL="0" marR="0" rtl="0" algn="l">
              <a:lnSpc>
                <a:spcPct val="90000"/>
              </a:lnSpc>
              <a:spcBef>
                <a:spcPts val="0"/>
              </a:spcBef>
              <a:spcAft>
                <a:spcPts val="0"/>
              </a:spcAft>
              <a:buClr>
                <a:srgbClr val="000000"/>
              </a:buClr>
              <a:buSzPts val="2400"/>
              <a:buFont typeface="Arial"/>
              <a:buNone/>
            </a:pPr>
            <a:r>
              <a:rPr b="0" i="0" lang="es-PE" sz="2400" u="none" cap="none" strike="noStrike">
                <a:solidFill>
                  <a:schemeClr val="lt1"/>
                </a:solidFill>
                <a:latin typeface="Arial"/>
                <a:ea typeface="Arial"/>
                <a:cs typeface="Arial"/>
                <a:sym typeface="Arial"/>
              </a:rPr>
              <a:t>DEL CUSTOMER CENTRICITY:</a:t>
            </a:r>
            <a:r>
              <a:rPr b="1" i="0" lang="es-PE" sz="2400" u="none" cap="none" strike="noStrike">
                <a:solidFill>
                  <a:schemeClr val="lt1"/>
                </a:solidFill>
                <a:latin typeface="Arial"/>
                <a:ea typeface="Arial"/>
                <a:cs typeface="Arial"/>
                <a:sym typeface="Arial"/>
              </a:rPr>
              <a:t> CONCEPTOS CLAVE A ABORDAR</a:t>
            </a:r>
            <a:endParaRPr/>
          </a:p>
        </p:txBody>
      </p:sp>
      <p:pic>
        <p:nvPicPr>
          <p:cNvPr id="67" name="Google Shape;67;p3"/>
          <p:cNvPicPr preferRelativeResize="0"/>
          <p:nvPr/>
        </p:nvPicPr>
        <p:blipFill rotWithShape="1">
          <a:blip r:embed="rId3">
            <a:alphaModFix/>
          </a:blip>
          <a:srcRect b="0" l="0" r="0" t="0"/>
          <a:stretch/>
        </p:blipFill>
        <p:spPr>
          <a:xfrm>
            <a:off x="1008063" y="2869612"/>
            <a:ext cx="195423" cy="201256"/>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pic>
        <p:nvPicPr>
          <p:cNvPr id="73" name="Google Shape;73;p4"/>
          <p:cNvPicPr preferRelativeResize="0"/>
          <p:nvPr/>
        </p:nvPicPr>
        <p:blipFill rotWithShape="1">
          <a:blip r:embed="rId3">
            <a:alphaModFix/>
          </a:blip>
          <a:srcRect b="0" l="27208" r="27730" t="0"/>
          <a:stretch/>
        </p:blipFill>
        <p:spPr>
          <a:xfrm flipH="1">
            <a:off x="5900909" y="912813"/>
            <a:ext cx="2596200" cy="4321175"/>
          </a:xfrm>
          <a:prstGeom prst="rect">
            <a:avLst/>
          </a:prstGeom>
          <a:noFill/>
          <a:ln>
            <a:noFill/>
          </a:ln>
        </p:spPr>
      </p:pic>
      <p:pic>
        <p:nvPicPr>
          <p:cNvPr id="74" name="Google Shape;74;p4"/>
          <p:cNvPicPr preferRelativeResize="0"/>
          <p:nvPr/>
        </p:nvPicPr>
        <p:blipFill rotWithShape="1">
          <a:blip r:embed="rId4">
            <a:alphaModFix/>
          </a:blip>
          <a:srcRect b="0" l="0" r="0" t="0"/>
          <a:stretch/>
        </p:blipFill>
        <p:spPr>
          <a:xfrm>
            <a:off x="1401076" y="2441396"/>
            <a:ext cx="329184" cy="541782"/>
          </a:xfrm>
          <a:prstGeom prst="rect">
            <a:avLst/>
          </a:prstGeom>
          <a:noFill/>
          <a:ln>
            <a:noFill/>
          </a:ln>
        </p:spPr>
      </p:pic>
      <p:grpSp>
        <p:nvGrpSpPr>
          <p:cNvPr id="75" name="Google Shape;75;p4"/>
          <p:cNvGrpSpPr/>
          <p:nvPr/>
        </p:nvGrpSpPr>
        <p:grpSpPr>
          <a:xfrm>
            <a:off x="646891" y="2149609"/>
            <a:ext cx="5609530" cy="1260508"/>
            <a:chOff x="646891" y="2149609"/>
            <a:chExt cx="5609530" cy="1260508"/>
          </a:xfrm>
        </p:grpSpPr>
        <p:pic>
          <p:nvPicPr>
            <p:cNvPr id="76" name="Google Shape;76;p4"/>
            <p:cNvPicPr preferRelativeResize="0"/>
            <p:nvPr/>
          </p:nvPicPr>
          <p:blipFill rotWithShape="1">
            <a:blip r:embed="rId5">
              <a:alphaModFix/>
            </a:blip>
            <a:srcRect b="0" l="0" r="0" t="0"/>
            <a:stretch/>
          </p:blipFill>
          <p:spPr>
            <a:xfrm>
              <a:off x="646891" y="2149609"/>
              <a:ext cx="1222115" cy="1204625"/>
            </a:xfrm>
            <a:prstGeom prst="rect">
              <a:avLst/>
            </a:prstGeom>
            <a:noFill/>
            <a:ln>
              <a:noFill/>
            </a:ln>
          </p:spPr>
        </p:pic>
        <p:sp>
          <p:nvSpPr>
            <p:cNvPr id="77" name="Google Shape;77;p4"/>
            <p:cNvSpPr txBox="1"/>
            <p:nvPr/>
          </p:nvSpPr>
          <p:spPr>
            <a:xfrm>
              <a:off x="2211768" y="2277499"/>
              <a:ext cx="4044653" cy="1132618"/>
            </a:xfrm>
            <a:prstGeom prst="rect">
              <a:avLst/>
            </a:prstGeom>
            <a:noFill/>
            <a:ln>
              <a:noFill/>
            </a:ln>
          </p:spPr>
          <p:txBody>
            <a:bodyPr anchorCtr="0" anchor="t" bIns="0" lIns="0" spcFirstLastPara="1" rIns="0" wrap="square" tIns="0">
              <a:spAutoFit/>
            </a:bodyPr>
            <a:lstStyle/>
            <a:p>
              <a:pPr indent="0" lvl="0" marL="0" marR="0" rtl="0" algn="l">
                <a:lnSpc>
                  <a:spcPct val="70000"/>
                </a:lnSpc>
                <a:spcBef>
                  <a:spcPts val="0"/>
                </a:spcBef>
                <a:spcAft>
                  <a:spcPts val="0"/>
                </a:spcAft>
                <a:buNone/>
              </a:pPr>
              <a:r>
                <a:rPr b="0" i="0" lang="es-PE" sz="3200" u="none" cap="none" strike="noStrike">
                  <a:solidFill>
                    <a:schemeClr val="dk1"/>
                  </a:solidFill>
                  <a:latin typeface="Arial"/>
                  <a:ea typeface="Arial"/>
                  <a:cs typeface="Arial"/>
                  <a:sym typeface="Arial"/>
                </a:rPr>
                <a:t>¿QUÉ CONCEPTOS</a:t>
              </a:r>
              <a:endParaRPr b="0" i="0" sz="3200" u="none" cap="none" strike="noStrike">
                <a:solidFill>
                  <a:schemeClr val="dk1"/>
                </a:solidFill>
                <a:latin typeface="Arial"/>
                <a:ea typeface="Arial"/>
                <a:cs typeface="Arial"/>
                <a:sym typeface="Arial"/>
              </a:endParaRPr>
            </a:p>
            <a:p>
              <a:pPr indent="0" lvl="0" marL="0" marR="0" rtl="0" algn="l">
                <a:lnSpc>
                  <a:spcPct val="80000"/>
                </a:lnSpc>
                <a:spcBef>
                  <a:spcPts val="0"/>
                </a:spcBef>
                <a:spcAft>
                  <a:spcPts val="0"/>
                </a:spcAft>
                <a:buNone/>
              </a:pPr>
              <a:r>
                <a:rPr b="1" i="0" lang="es-PE" sz="3200" u="none" cap="none" strike="noStrike">
                  <a:solidFill>
                    <a:srgbClr val="92C14D"/>
                  </a:solidFill>
                  <a:latin typeface="Arial"/>
                  <a:ea typeface="Arial"/>
                  <a:cs typeface="Arial"/>
                  <a:sym typeface="Arial"/>
                </a:rPr>
                <a:t>SE LES VIENEN </a:t>
              </a:r>
              <a:br>
                <a:rPr b="1" i="0" lang="es-PE" sz="3200" u="none" cap="none" strike="noStrike">
                  <a:solidFill>
                    <a:srgbClr val="92C14D"/>
                  </a:solidFill>
                  <a:latin typeface="Arial"/>
                  <a:ea typeface="Arial"/>
                  <a:cs typeface="Arial"/>
                  <a:sym typeface="Arial"/>
                </a:rPr>
              </a:br>
              <a:r>
                <a:rPr b="1" i="0" lang="es-PE" sz="3200" u="none" cap="none" strike="noStrike">
                  <a:solidFill>
                    <a:srgbClr val="92C14D"/>
                  </a:solidFill>
                  <a:latin typeface="Arial"/>
                  <a:ea typeface="Arial"/>
                  <a:cs typeface="Arial"/>
                  <a:sym typeface="Arial"/>
                </a:rPr>
                <a:t>A LA MENTE?</a:t>
              </a:r>
              <a:endParaRPr b="1" i="0" sz="3200" u="none" cap="none" strike="noStrike">
                <a:solidFill>
                  <a:srgbClr val="92C14D"/>
                </a:solidFill>
                <a:latin typeface="Arial"/>
                <a:ea typeface="Arial"/>
                <a:cs typeface="Arial"/>
                <a:sym typeface="Arial"/>
              </a:endParaRPr>
            </a:p>
          </p:txBody>
        </p:sp>
      </p:grpSp>
      <p:sp>
        <p:nvSpPr>
          <p:cNvPr id="78" name="Google Shape;78;p4"/>
          <p:cNvSpPr/>
          <p:nvPr/>
        </p:nvSpPr>
        <p:spPr>
          <a:xfrm>
            <a:off x="503237" y="376836"/>
            <a:ext cx="5552610" cy="138499"/>
          </a:xfrm>
          <a:prstGeom prst="rect">
            <a:avLst/>
          </a:prstGeom>
          <a:noFill/>
          <a:ln>
            <a:noFill/>
          </a:ln>
        </p:spPr>
        <p:txBody>
          <a:bodyPr anchorCtr="0" anchor="b" bIns="0" lIns="0" spcFirstLastPara="1" rIns="0" wrap="square" tIns="0">
            <a:spAutoFit/>
          </a:bodyPr>
          <a:lstStyle/>
          <a:p>
            <a:pPr indent="0" lvl="0" marL="0" marR="0" rtl="0" algn="l">
              <a:lnSpc>
                <a:spcPct val="90000"/>
              </a:lnSpc>
              <a:spcBef>
                <a:spcPts val="0"/>
              </a:spcBef>
              <a:spcAft>
                <a:spcPts val="0"/>
              </a:spcAft>
              <a:buClr>
                <a:srgbClr val="000000"/>
              </a:buClr>
              <a:buSzPts val="1000"/>
              <a:buFont typeface="Arial"/>
              <a:buNone/>
            </a:pPr>
            <a:r>
              <a:rPr b="1" i="0" lang="es-PE" sz="1000" u="none" cap="none" strike="noStrike">
                <a:solidFill>
                  <a:srgbClr val="7F7F7F"/>
                </a:solidFill>
                <a:latin typeface="Calibri"/>
                <a:ea typeface="Calibri"/>
                <a:cs typeface="Calibri"/>
                <a:sym typeface="Calibri"/>
              </a:rPr>
              <a:t>+ </a:t>
            </a:r>
            <a:r>
              <a:rPr b="0" i="0" lang="es-PE" sz="1000" u="none" cap="none" strike="noStrike">
                <a:solidFill>
                  <a:srgbClr val="A5A5A5"/>
                </a:solidFill>
                <a:latin typeface="Calibri"/>
                <a:ea typeface="Calibri"/>
                <a:cs typeface="Calibri"/>
                <a:sym typeface="Calibri"/>
              </a:rPr>
              <a:t>FUNDAMENTOS Y CONCEPTOS DEL CUSTOMER CENTRICITY: CONCEPTOS CLAVE A ABORDAR</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5"/>
          <p:cNvSpPr txBox="1"/>
          <p:nvPr/>
        </p:nvSpPr>
        <p:spPr>
          <a:xfrm>
            <a:off x="511342" y="912813"/>
            <a:ext cx="8164346" cy="1877437"/>
          </a:xfrm>
          <a:prstGeom prst="rect">
            <a:avLst/>
          </a:prstGeom>
          <a:noFill/>
          <a:ln>
            <a:noFill/>
          </a:ln>
        </p:spPr>
        <p:txBody>
          <a:bodyPr anchorCtr="0" anchor="t" bIns="0" lIns="0" spcFirstLastPara="1" rIns="0" wrap="square" tIns="0">
            <a:spAutoFit/>
          </a:bodyPr>
          <a:lstStyle/>
          <a:p>
            <a:pPr indent="0" lvl="0" marL="11725" marR="0" rtl="0" algn="l">
              <a:lnSpc>
                <a:spcPct val="100000"/>
              </a:lnSpc>
              <a:spcBef>
                <a:spcPts val="0"/>
              </a:spcBef>
              <a:spcAft>
                <a:spcPts val="0"/>
              </a:spcAft>
              <a:buClr>
                <a:srgbClr val="000000"/>
              </a:buClr>
              <a:buSzPts val="1600"/>
              <a:buFont typeface="Arial"/>
              <a:buNone/>
            </a:pPr>
            <a:r>
              <a:rPr b="1" i="0" lang="es-PE" sz="1600" u="none" cap="none" strike="noStrike">
                <a:solidFill>
                  <a:srgbClr val="262626"/>
                </a:solidFill>
                <a:latin typeface="Calibri"/>
                <a:ea typeface="Calibri"/>
                <a:cs typeface="Calibri"/>
                <a:sym typeface="Calibri"/>
              </a:rPr>
              <a:t>Producto Mínimo Viable – MVP</a:t>
            </a:r>
            <a:endParaRPr b="0" i="0" sz="1400" u="none" cap="none" strike="noStrike">
              <a:solidFill>
                <a:srgbClr val="000000"/>
              </a:solidFill>
              <a:latin typeface="Arial"/>
              <a:ea typeface="Arial"/>
              <a:cs typeface="Arial"/>
              <a:sym typeface="Arial"/>
            </a:endParaRPr>
          </a:p>
          <a:p>
            <a:pPr indent="-173038" lvl="0" marL="184150" marR="0" rtl="0" algn="l">
              <a:lnSpc>
                <a:spcPct val="100000"/>
              </a:lnSpc>
              <a:spcBef>
                <a:spcPts val="600"/>
              </a:spcBef>
              <a:spcAft>
                <a:spcPts val="0"/>
              </a:spcAft>
              <a:buClr>
                <a:srgbClr val="000000"/>
              </a:buClr>
              <a:buSzPts val="1600"/>
              <a:buFont typeface="Arial"/>
              <a:buChar char="•"/>
            </a:pPr>
            <a:r>
              <a:rPr b="0" i="0" lang="es-PE" sz="1600" u="none" cap="none" strike="noStrike">
                <a:solidFill>
                  <a:srgbClr val="262626"/>
                </a:solidFill>
                <a:latin typeface="Calibri"/>
                <a:ea typeface="Calibri"/>
                <a:cs typeface="Calibri"/>
                <a:sym typeface="Calibri"/>
              </a:rPr>
              <a:t>Versión básica de un producto que </a:t>
            </a:r>
            <a:r>
              <a:rPr b="1" i="0" lang="es-PE" sz="1600" u="none" cap="none" strike="noStrike">
                <a:solidFill>
                  <a:srgbClr val="00B1C2"/>
                </a:solidFill>
                <a:latin typeface="Calibri"/>
                <a:ea typeface="Calibri"/>
                <a:cs typeface="Calibri"/>
                <a:sym typeface="Calibri"/>
              </a:rPr>
              <a:t>solo incluye </a:t>
            </a:r>
            <a:r>
              <a:rPr b="0" i="0" lang="es-PE" sz="1600" u="none" cap="none" strike="noStrike">
                <a:solidFill>
                  <a:srgbClr val="262626"/>
                </a:solidFill>
                <a:latin typeface="Calibri"/>
                <a:ea typeface="Calibri"/>
                <a:cs typeface="Calibri"/>
                <a:sym typeface="Calibri"/>
              </a:rPr>
              <a:t>las características más esenciales para satisfacer las necesidades del cliente y validar la viabilidad de la idea del producto con el menor esfuerzo y recursos posibles.</a:t>
            </a:r>
            <a:endParaRPr b="0" i="0" sz="1600" u="none" cap="none" strike="noStrike">
              <a:solidFill>
                <a:srgbClr val="262626"/>
              </a:solidFill>
              <a:latin typeface="Calibri"/>
              <a:ea typeface="Calibri"/>
              <a:cs typeface="Calibri"/>
              <a:sym typeface="Calibri"/>
            </a:endParaRPr>
          </a:p>
          <a:p>
            <a:pPr indent="-173038" lvl="0" marL="184150" marR="0" rtl="0" algn="l">
              <a:lnSpc>
                <a:spcPct val="100000"/>
              </a:lnSpc>
              <a:spcBef>
                <a:spcPts val="600"/>
              </a:spcBef>
              <a:spcAft>
                <a:spcPts val="0"/>
              </a:spcAft>
              <a:buClr>
                <a:srgbClr val="000000"/>
              </a:buClr>
              <a:buSzPts val="1600"/>
              <a:buFont typeface="Arial"/>
              <a:buChar char="•"/>
            </a:pPr>
            <a:r>
              <a:rPr b="0" i="0" lang="es-PE" sz="1600" u="none" cap="none" strike="noStrike">
                <a:solidFill>
                  <a:srgbClr val="262626"/>
                </a:solidFill>
                <a:latin typeface="Calibri"/>
                <a:ea typeface="Calibri"/>
                <a:cs typeface="Calibri"/>
                <a:sym typeface="Calibri"/>
              </a:rPr>
              <a:t>El objetivo principal del MVP es </a:t>
            </a:r>
            <a:r>
              <a:rPr b="1" i="0" lang="es-PE" sz="1600" u="none" cap="none" strike="noStrike">
                <a:solidFill>
                  <a:srgbClr val="00B1C2"/>
                </a:solidFill>
                <a:latin typeface="Calibri"/>
                <a:ea typeface="Calibri"/>
                <a:cs typeface="Calibri"/>
                <a:sym typeface="Calibri"/>
              </a:rPr>
              <a:t>obtener retroalimentación rápida </a:t>
            </a:r>
            <a:r>
              <a:rPr b="0" i="0" lang="es-PE" sz="1600" u="none" cap="none" strike="noStrike">
                <a:solidFill>
                  <a:srgbClr val="262626"/>
                </a:solidFill>
                <a:latin typeface="Calibri"/>
                <a:ea typeface="Calibri"/>
                <a:cs typeface="Calibri"/>
                <a:sym typeface="Calibri"/>
              </a:rPr>
              <a:t>de usuarios, lo que permite a los equipos de desarrollo aprender, iterar y mejorar el producto antes de invertir grandes cantidades de tiempo y recursos en su desarrollo completo.</a:t>
            </a:r>
            <a:endParaRPr b="0" i="0" sz="1600" u="none" cap="none" strike="noStrike">
              <a:solidFill>
                <a:srgbClr val="262626"/>
              </a:solidFill>
              <a:latin typeface="Calibri"/>
              <a:ea typeface="Calibri"/>
              <a:cs typeface="Calibri"/>
              <a:sym typeface="Calibri"/>
            </a:endParaRPr>
          </a:p>
        </p:txBody>
      </p:sp>
      <p:sp>
        <p:nvSpPr>
          <p:cNvPr id="85" name="Google Shape;85;p5"/>
          <p:cNvSpPr/>
          <p:nvPr/>
        </p:nvSpPr>
        <p:spPr>
          <a:xfrm>
            <a:off x="503237" y="376836"/>
            <a:ext cx="5552610" cy="138499"/>
          </a:xfrm>
          <a:prstGeom prst="rect">
            <a:avLst/>
          </a:prstGeom>
          <a:noFill/>
          <a:ln>
            <a:noFill/>
          </a:ln>
        </p:spPr>
        <p:txBody>
          <a:bodyPr anchorCtr="0" anchor="b" bIns="0" lIns="0" spcFirstLastPara="1" rIns="0" wrap="square" tIns="0">
            <a:spAutoFit/>
          </a:bodyPr>
          <a:lstStyle/>
          <a:p>
            <a:pPr indent="0" lvl="0" marL="0" marR="0" rtl="0" algn="l">
              <a:lnSpc>
                <a:spcPct val="90000"/>
              </a:lnSpc>
              <a:spcBef>
                <a:spcPts val="0"/>
              </a:spcBef>
              <a:spcAft>
                <a:spcPts val="0"/>
              </a:spcAft>
              <a:buClr>
                <a:srgbClr val="000000"/>
              </a:buClr>
              <a:buSzPts val="1000"/>
              <a:buFont typeface="Arial"/>
              <a:buNone/>
            </a:pPr>
            <a:r>
              <a:rPr b="1" i="0" lang="es-PE" sz="1000" u="none" cap="none" strike="noStrike">
                <a:solidFill>
                  <a:srgbClr val="7F7F7F"/>
                </a:solidFill>
                <a:latin typeface="Calibri"/>
                <a:ea typeface="Calibri"/>
                <a:cs typeface="Calibri"/>
                <a:sym typeface="Calibri"/>
              </a:rPr>
              <a:t>+ </a:t>
            </a:r>
            <a:r>
              <a:rPr b="0" i="0" lang="es-PE" sz="1000" u="none" cap="none" strike="noStrike">
                <a:solidFill>
                  <a:srgbClr val="A5A5A5"/>
                </a:solidFill>
                <a:latin typeface="Calibri"/>
                <a:ea typeface="Calibri"/>
                <a:cs typeface="Calibri"/>
                <a:sym typeface="Calibri"/>
              </a:rPr>
              <a:t>FUNDAMENTOS Y CONCEPTOS DEL CUSTOMER CENTRICITY: CONCEPTOS CLAVE A ABORDAR</a:t>
            </a:r>
            <a:endParaRPr b="0" i="0" sz="1400" u="none" cap="none" strike="noStrike">
              <a:solidFill>
                <a:srgbClr val="000000"/>
              </a:solidFill>
              <a:latin typeface="Arial"/>
              <a:ea typeface="Arial"/>
              <a:cs typeface="Arial"/>
              <a:sym typeface="Arial"/>
            </a:endParaRPr>
          </a:p>
        </p:txBody>
      </p:sp>
      <p:pic>
        <p:nvPicPr>
          <p:cNvPr id="86" name="Google Shape;86;p5"/>
          <p:cNvPicPr preferRelativeResize="0"/>
          <p:nvPr/>
        </p:nvPicPr>
        <p:blipFill rotWithShape="1">
          <a:blip r:embed="rId3">
            <a:alphaModFix/>
          </a:blip>
          <a:srcRect b="0" l="0" r="0" t="0"/>
          <a:stretch/>
        </p:blipFill>
        <p:spPr>
          <a:xfrm>
            <a:off x="1204454" y="3187728"/>
            <a:ext cx="6931307" cy="1775908"/>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6"/>
          <p:cNvSpPr/>
          <p:nvPr/>
        </p:nvSpPr>
        <p:spPr>
          <a:xfrm>
            <a:off x="503237" y="376836"/>
            <a:ext cx="5552610" cy="138499"/>
          </a:xfrm>
          <a:prstGeom prst="rect">
            <a:avLst/>
          </a:prstGeom>
          <a:noFill/>
          <a:ln>
            <a:noFill/>
          </a:ln>
        </p:spPr>
        <p:txBody>
          <a:bodyPr anchorCtr="0" anchor="b" bIns="0" lIns="0" spcFirstLastPara="1" rIns="0" wrap="square" tIns="0">
            <a:spAutoFit/>
          </a:bodyPr>
          <a:lstStyle/>
          <a:p>
            <a:pPr indent="0" lvl="0" marL="0" marR="0" rtl="0" algn="l">
              <a:lnSpc>
                <a:spcPct val="90000"/>
              </a:lnSpc>
              <a:spcBef>
                <a:spcPts val="0"/>
              </a:spcBef>
              <a:spcAft>
                <a:spcPts val="0"/>
              </a:spcAft>
              <a:buClr>
                <a:srgbClr val="000000"/>
              </a:buClr>
              <a:buSzPts val="1000"/>
              <a:buFont typeface="Arial"/>
              <a:buNone/>
            </a:pPr>
            <a:r>
              <a:rPr b="1" i="0" lang="es-PE" sz="1000" u="none" cap="none" strike="noStrike">
                <a:solidFill>
                  <a:srgbClr val="7F7F7F"/>
                </a:solidFill>
                <a:latin typeface="Calibri"/>
                <a:ea typeface="Calibri"/>
                <a:cs typeface="Calibri"/>
                <a:sym typeface="Calibri"/>
              </a:rPr>
              <a:t>+ </a:t>
            </a:r>
            <a:r>
              <a:rPr b="0" i="0" lang="es-PE" sz="1000" u="none" cap="none" strike="noStrike">
                <a:solidFill>
                  <a:srgbClr val="A5A5A5"/>
                </a:solidFill>
                <a:latin typeface="Calibri"/>
                <a:ea typeface="Calibri"/>
                <a:cs typeface="Calibri"/>
                <a:sym typeface="Calibri"/>
              </a:rPr>
              <a:t>FUNDAMENTOS Y CONCEPTOS DEL CUSTOMER CENTRICITY: CONCEPTOS CLAVE A ABORDAR</a:t>
            </a:r>
            <a:endParaRPr b="0" i="0" sz="1400" u="none" cap="none" strike="noStrike">
              <a:solidFill>
                <a:srgbClr val="000000"/>
              </a:solidFill>
              <a:latin typeface="Arial"/>
              <a:ea typeface="Arial"/>
              <a:cs typeface="Arial"/>
              <a:sym typeface="Arial"/>
            </a:endParaRPr>
          </a:p>
        </p:txBody>
      </p:sp>
      <p:sp>
        <p:nvSpPr>
          <p:cNvPr id="93" name="Google Shape;93;p6"/>
          <p:cNvSpPr/>
          <p:nvPr/>
        </p:nvSpPr>
        <p:spPr>
          <a:xfrm>
            <a:off x="503237" y="928394"/>
            <a:ext cx="3889375" cy="435426"/>
          </a:xfrm>
          <a:prstGeom prst="roundRect">
            <a:avLst>
              <a:gd fmla="val 16667" name="adj"/>
            </a:avLst>
          </a:prstGeom>
          <a:solidFill>
            <a:srgbClr val="8FC53F"/>
          </a:solid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chemeClr val="lt1"/>
              </a:buClr>
              <a:buSzPts val="1800"/>
              <a:buFont typeface="Arial"/>
              <a:buNone/>
            </a:pPr>
            <a:r>
              <a:rPr b="1" i="0" lang="es-PE" sz="1600" u="none" cap="none" strike="noStrike">
                <a:solidFill>
                  <a:schemeClr val="lt1"/>
                </a:solidFill>
                <a:latin typeface="Calibri"/>
                <a:ea typeface="Calibri"/>
                <a:cs typeface="Calibri"/>
                <a:sym typeface="Calibri"/>
              </a:rPr>
              <a:t>Desarrollo tradicional</a:t>
            </a:r>
            <a:endParaRPr/>
          </a:p>
        </p:txBody>
      </p:sp>
      <p:sp>
        <p:nvSpPr>
          <p:cNvPr id="94" name="Google Shape;94;p6"/>
          <p:cNvSpPr/>
          <p:nvPr/>
        </p:nvSpPr>
        <p:spPr>
          <a:xfrm>
            <a:off x="4751388" y="912813"/>
            <a:ext cx="3924300" cy="435426"/>
          </a:xfrm>
          <a:prstGeom prst="roundRect">
            <a:avLst>
              <a:gd fmla="val 16667" name="adj"/>
            </a:avLst>
          </a:prstGeom>
          <a:solidFill>
            <a:srgbClr val="7150A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1" i="0" lang="es-PE" sz="1600" u="none" cap="none" strike="noStrike">
                <a:solidFill>
                  <a:schemeClr val="lt1"/>
                </a:solidFill>
                <a:latin typeface="Calibri"/>
                <a:ea typeface="Calibri"/>
                <a:cs typeface="Calibri"/>
                <a:sym typeface="Calibri"/>
              </a:rPr>
              <a:t>Desarrollo de MVPs</a:t>
            </a:r>
            <a:endParaRPr/>
          </a:p>
        </p:txBody>
      </p:sp>
      <p:sp>
        <p:nvSpPr>
          <p:cNvPr id="95" name="Google Shape;95;p6"/>
          <p:cNvSpPr/>
          <p:nvPr/>
        </p:nvSpPr>
        <p:spPr>
          <a:xfrm>
            <a:off x="4751388" y="1442061"/>
            <a:ext cx="3924300" cy="3603466"/>
          </a:xfrm>
          <a:prstGeom prst="roundRect">
            <a:avLst>
              <a:gd fmla="val 3823" name="adj"/>
            </a:avLst>
          </a:prstGeom>
          <a:solidFill>
            <a:srgbClr val="E3DCED"/>
          </a:solidFill>
          <a:ln>
            <a:noFill/>
          </a:ln>
        </p:spPr>
        <p:txBody>
          <a:bodyPr anchorCtr="0" anchor="t" bIns="45700" lIns="144000" spcFirstLastPara="1" rIns="108000" wrap="square" tIns="144000">
            <a:noAutofit/>
          </a:bodyPr>
          <a:lstStyle/>
          <a:p>
            <a:pPr indent="-173038" lvl="0" marL="184150" marR="0" rtl="0" algn="l">
              <a:lnSpc>
                <a:spcPct val="85000"/>
              </a:lnSpc>
              <a:spcBef>
                <a:spcPts val="0"/>
              </a:spcBef>
              <a:spcAft>
                <a:spcPts val="0"/>
              </a:spcAft>
              <a:buClr>
                <a:srgbClr val="7030A0"/>
              </a:buClr>
              <a:buSzPts val="1500"/>
              <a:buFont typeface="Arial"/>
              <a:buChar char="•"/>
            </a:pPr>
            <a:r>
              <a:rPr b="0" i="0" lang="es-PE" sz="1500" u="none" cap="none" strike="noStrike">
                <a:solidFill>
                  <a:schemeClr val="dk1"/>
                </a:solidFill>
                <a:latin typeface="Calibri"/>
                <a:ea typeface="Calibri"/>
                <a:cs typeface="Calibri"/>
                <a:sym typeface="Calibri"/>
              </a:rPr>
              <a:t>Enfoque en soluciones tecnológicas, pues este mercado y sus condiciones están en constante evolución y adaptación.</a:t>
            </a:r>
            <a:endParaRPr b="0" i="0" sz="1500" u="none" cap="none" strike="noStrike">
              <a:solidFill>
                <a:schemeClr val="dk1"/>
              </a:solidFill>
              <a:latin typeface="Calibri"/>
              <a:ea typeface="Calibri"/>
              <a:cs typeface="Calibri"/>
              <a:sym typeface="Calibri"/>
            </a:endParaRPr>
          </a:p>
          <a:p>
            <a:pPr indent="-173038" lvl="0" marL="184150" marR="0" rtl="0" algn="l">
              <a:lnSpc>
                <a:spcPct val="85000"/>
              </a:lnSpc>
              <a:spcBef>
                <a:spcPts val="780"/>
              </a:spcBef>
              <a:spcAft>
                <a:spcPts val="0"/>
              </a:spcAft>
              <a:buClr>
                <a:srgbClr val="7030A0"/>
              </a:buClr>
              <a:buSzPts val="1500"/>
              <a:buFont typeface="Arial"/>
              <a:buChar char="•"/>
            </a:pPr>
            <a:r>
              <a:rPr b="0" i="0" lang="es-PE" sz="1500" u="none" cap="none" strike="noStrike">
                <a:solidFill>
                  <a:schemeClr val="dk1"/>
                </a:solidFill>
                <a:latin typeface="Calibri"/>
                <a:ea typeface="Calibri"/>
                <a:cs typeface="Calibri"/>
                <a:sym typeface="Calibri"/>
              </a:rPr>
              <a:t>Menor inversión inicial.</a:t>
            </a:r>
            <a:endParaRPr b="0" i="0" sz="1500" u="none" cap="none" strike="noStrike">
              <a:solidFill>
                <a:schemeClr val="dk1"/>
              </a:solidFill>
              <a:latin typeface="Calibri"/>
              <a:ea typeface="Calibri"/>
              <a:cs typeface="Calibri"/>
              <a:sym typeface="Calibri"/>
            </a:endParaRPr>
          </a:p>
          <a:p>
            <a:pPr indent="-173038" lvl="0" marL="184150" marR="0" rtl="0" algn="l">
              <a:lnSpc>
                <a:spcPct val="85000"/>
              </a:lnSpc>
              <a:spcBef>
                <a:spcPts val="780"/>
              </a:spcBef>
              <a:spcAft>
                <a:spcPts val="0"/>
              </a:spcAft>
              <a:buClr>
                <a:srgbClr val="7030A0"/>
              </a:buClr>
              <a:buSzPts val="1500"/>
              <a:buFont typeface="Arial"/>
              <a:buChar char="•"/>
            </a:pPr>
            <a:r>
              <a:rPr b="0" i="0" lang="es-PE" sz="1500" u="none" cap="none" strike="noStrike">
                <a:solidFill>
                  <a:schemeClr val="dk1"/>
                </a:solidFill>
                <a:latin typeface="Calibri"/>
                <a:ea typeface="Calibri"/>
                <a:cs typeface="Calibri"/>
                <a:sym typeface="Calibri"/>
              </a:rPr>
              <a:t>Plan visibilizado a través de iteraciones rápidas con objetivos claros.</a:t>
            </a:r>
            <a:endParaRPr b="0" i="0" sz="1500" u="none" cap="none" strike="noStrike">
              <a:solidFill>
                <a:schemeClr val="dk1"/>
              </a:solidFill>
              <a:latin typeface="Calibri"/>
              <a:ea typeface="Calibri"/>
              <a:cs typeface="Calibri"/>
              <a:sym typeface="Calibri"/>
            </a:endParaRPr>
          </a:p>
          <a:p>
            <a:pPr indent="-173038" lvl="0" marL="184150" marR="0" rtl="0" algn="l">
              <a:lnSpc>
                <a:spcPct val="85000"/>
              </a:lnSpc>
              <a:spcBef>
                <a:spcPts val="780"/>
              </a:spcBef>
              <a:spcAft>
                <a:spcPts val="0"/>
              </a:spcAft>
              <a:buClr>
                <a:srgbClr val="7030A0"/>
              </a:buClr>
              <a:buSzPts val="1500"/>
              <a:buFont typeface="Arial"/>
              <a:buChar char="•"/>
            </a:pPr>
            <a:r>
              <a:rPr b="0" i="0" lang="es-PE" sz="1500" u="none" cap="none" strike="noStrike">
                <a:solidFill>
                  <a:schemeClr val="dk1"/>
                </a:solidFill>
                <a:latin typeface="Calibri"/>
                <a:ea typeface="Calibri"/>
                <a:cs typeface="Calibri"/>
                <a:sym typeface="Calibri"/>
              </a:rPr>
              <a:t>Necesidad de validación de concepto rápido. Se necesita aprender.</a:t>
            </a:r>
            <a:endParaRPr b="0" i="0" sz="1500" u="none" cap="none" strike="noStrike">
              <a:solidFill>
                <a:schemeClr val="dk1"/>
              </a:solidFill>
              <a:latin typeface="Calibri"/>
              <a:ea typeface="Calibri"/>
              <a:cs typeface="Calibri"/>
              <a:sym typeface="Calibri"/>
            </a:endParaRPr>
          </a:p>
          <a:p>
            <a:pPr indent="-173038" lvl="0" marL="184150" marR="0" rtl="0" algn="l">
              <a:lnSpc>
                <a:spcPct val="85000"/>
              </a:lnSpc>
              <a:spcBef>
                <a:spcPts val="780"/>
              </a:spcBef>
              <a:spcAft>
                <a:spcPts val="0"/>
              </a:spcAft>
              <a:buClr>
                <a:srgbClr val="7030A0"/>
              </a:buClr>
              <a:buSzPts val="1500"/>
              <a:buFont typeface="Arial"/>
              <a:buChar char="•"/>
            </a:pPr>
            <a:r>
              <a:rPr b="0" i="0" lang="es-PE" sz="1500" u="none" cap="none" strike="noStrike">
                <a:solidFill>
                  <a:schemeClr val="dk1"/>
                </a:solidFill>
                <a:latin typeface="Calibri"/>
                <a:ea typeface="Calibri"/>
                <a:cs typeface="Calibri"/>
                <a:sym typeface="Calibri"/>
              </a:rPr>
              <a:t>Productos que requieren iteración continua y mejora incremental a través de la retroalimentación constante de usuarios.</a:t>
            </a:r>
            <a:endParaRPr b="0" i="0" sz="1500" u="none" cap="none" strike="noStrike">
              <a:solidFill>
                <a:schemeClr val="dk1"/>
              </a:solidFill>
              <a:latin typeface="Calibri"/>
              <a:ea typeface="Calibri"/>
              <a:cs typeface="Calibri"/>
              <a:sym typeface="Calibri"/>
            </a:endParaRPr>
          </a:p>
        </p:txBody>
      </p:sp>
      <p:sp>
        <p:nvSpPr>
          <p:cNvPr id="96" name="Google Shape;96;p6"/>
          <p:cNvSpPr/>
          <p:nvPr/>
        </p:nvSpPr>
        <p:spPr>
          <a:xfrm>
            <a:off x="503238" y="1442061"/>
            <a:ext cx="3892550" cy="3603467"/>
          </a:xfrm>
          <a:prstGeom prst="roundRect">
            <a:avLst>
              <a:gd fmla="val 3823" name="adj"/>
            </a:avLst>
          </a:prstGeom>
          <a:solidFill>
            <a:srgbClr val="DDEEC7"/>
          </a:solidFill>
          <a:ln>
            <a:noFill/>
          </a:ln>
        </p:spPr>
        <p:txBody>
          <a:bodyPr anchorCtr="0" anchor="t" bIns="45700" lIns="144000" spcFirstLastPara="1" rIns="108000" wrap="square" tIns="144000">
            <a:noAutofit/>
          </a:bodyPr>
          <a:lstStyle/>
          <a:p>
            <a:pPr indent="-180975" lvl="0" marL="180975" marR="0" rtl="0" algn="l">
              <a:lnSpc>
                <a:spcPct val="100000"/>
              </a:lnSpc>
              <a:spcBef>
                <a:spcPts val="0"/>
              </a:spcBef>
              <a:spcAft>
                <a:spcPts val="0"/>
              </a:spcAft>
              <a:buClr>
                <a:srgbClr val="8FC53F"/>
              </a:buClr>
              <a:buSzPts val="1500"/>
              <a:buFont typeface="Arial"/>
              <a:buChar char="•"/>
            </a:pPr>
            <a:r>
              <a:rPr b="0" i="0" lang="es-PE" sz="1500" u="none" cap="none" strike="noStrike">
                <a:solidFill>
                  <a:schemeClr val="dk1"/>
                </a:solidFill>
                <a:latin typeface="Calibri"/>
                <a:ea typeface="Calibri"/>
                <a:cs typeface="Calibri"/>
                <a:sym typeface="Calibri"/>
              </a:rPr>
              <a:t>Enfocado hacia proyectos de larga duración y alta complejidad. Por ejemplo, en industrias altamente reguladas (médica, aeroespacial)</a:t>
            </a:r>
            <a:endParaRPr b="0" i="0" sz="1500" u="none" cap="none" strike="noStrike">
              <a:solidFill>
                <a:schemeClr val="dk1"/>
              </a:solidFill>
              <a:latin typeface="Calibri"/>
              <a:ea typeface="Calibri"/>
              <a:cs typeface="Calibri"/>
              <a:sym typeface="Calibri"/>
            </a:endParaRPr>
          </a:p>
          <a:p>
            <a:pPr indent="-180975" lvl="0" marL="180975" marR="0" rtl="0" algn="l">
              <a:lnSpc>
                <a:spcPct val="100000"/>
              </a:lnSpc>
              <a:spcBef>
                <a:spcPts val="600"/>
              </a:spcBef>
              <a:spcAft>
                <a:spcPts val="0"/>
              </a:spcAft>
              <a:buClr>
                <a:srgbClr val="8FC53F"/>
              </a:buClr>
              <a:buSzPts val="1500"/>
              <a:buFont typeface="Arial"/>
              <a:buChar char="•"/>
            </a:pPr>
            <a:r>
              <a:rPr b="0" i="0" lang="es-PE" sz="1500" u="none" cap="none" strike="noStrike">
                <a:solidFill>
                  <a:schemeClr val="dk1"/>
                </a:solidFill>
                <a:latin typeface="Calibri"/>
                <a:ea typeface="Calibri"/>
                <a:cs typeface="Calibri"/>
                <a:sym typeface="Calibri"/>
              </a:rPr>
              <a:t>Los requisitos están muy bien definidos desde el inicio, por ende hay una naturaleza altamente predictiva: No sujeta a cambios de condiciones del mercado.</a:t>
            </a:r>
            <a:endParaRPr b="0" i="0" sz="1500" u="none" cap="none" strike="noStrike">
              <a:solidFill>
                <a:schemeClr val="dk1"/>
              </a:solidFill>
              <a:latin typeface="Calibri"/>
              <a:ea typeface="Calibri"/>
              <a:cs typeface="Calibri"/>
              <a:sym typeface="Calibri"/>
            </a:endParaRPr>
          </a:p>
          <a:p>
            <a:pPr indent="-180975" lvl="0" marL="180975" marR="0" rtl="0" algn="l">
              <a:lnSpc>
                <a:spcPct val="100000"/>
              </a:lnSpc>
              <a:spcBef>
                <a:spcPts val="600"/>
              </a:spcBef>
              <a:spcAft>
                <a:spcPts val="0"/>
              </a:spcAft>
              <a:buClr>
                <a:srgbClr val="8FC53F"/>
              </a:buClr>
              <a:buSzPts val="1500"/>
              <a:buFont typeface="Arial"/>
              <a:buChar char="•"/>
            </a:pPr>
            <a:r>
              <a:rPr b="0" i="0" lang="es-PE" sz="1500" u="none" cap="none" strike="noStrike">
                <a:solidFill>
                  <a:schemeClr val="dk1"/>
                </a:solidFill>
                <a:latin typeface="Calibri"/>
                <a:ea typeface="Calibri"/>
                <a:cs typeface="Calibri"/>
                <a:sym typeface="Calibri"/>
              </a:rPr>
              <a:t>Presupuesto y plazos estrictos generalmente trazados en un plan de desarrollo en cascada.</a:t>
            </a:r>
            <a:endParaRPr b="0" i="0" sz="1500" u="none" cap="none" strike="noStrike">
              <a:solidFill>
                <a:schemeClr val="dk1"/>
              </a:solidFill>
              <a:latin typeface="Calibri"/>
              <a:ea typeface="Calibri"/>
              <a:cs typeface="Calibri"/>
              <a:sym typeface="Calibri"/>
            </a:endParaRPr>
          </a:p>
          <a:p>
            <a:pPr indent="-180975" lvl="0" marL="180975" marR="0" rtl="0" algn="l">
              <a:lnSpc>
                <a:spcPct val="100000"/>
              </a:lnSpc>
              <a:spcBef>
                <a:spcPts val="600"/>
              </a:spcBef>
              <a:spcAft>
                <a:spcPts val="0"/>
              </a:spcAft>
              <a:buClr>
                <a:srgbClr val="8FC53F"/>
              </a:buClr>
              <a:buSzPts val="1500"/>
              <a:buFont typeface="Arial"/>
              <a:buChar char="•"/>
            </a:pPr>
            <a:r>
              <a:rPr b="0" i="0" lang="es-PE" sz="1500" u="none" cap="none" strike="noStrike">
                <a:solidFill>
                  <a:schemeClr val="dk1"/>
                </a:solidFill>
                <a:latin typeface="Calibri"/>
                <a:ea typeface="Calibri"/>
                <a:cs typeface="Calibri"/>
                <a:sym typeface="Calibri"/>
              </a:rPr>
              <a:t>Alto esfuerzo, solo verán el producto en el plazo final o en la etapa de pruebas.</a:t>
            </a:r>
            <a:endParaRPr b="0" i="0" sz="15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7"/>
          <p:cNvSpPr txBox="1"/>
          <p:nvPr/>
        </p:nvSpPr>
        <p:spPr>
          <a:xfrm>
            <a:off x="511343" y="912813"/>
            <a:ext cx="3881270" cy="4016484"/>
          </a:xfrm>
          <a:prstGeom prst="rect">
            <a:avLst/>
          </a:prstGeom>
          <a:noFill/>
          <a:ln>
            <a:noFill/>
          </a:ln>
        </p:spPr>
        <p:txBody>
          <a:bodyPr anchorCtr="0" anchor="t" bIns="0" lIns="0" spcFirstLastPara="1" rIns="0" wrap="square" tIns="0">
            <a:spAutoFit/>
          </a:bodyPr>
          <a:lstStyle/>
          <a:p>
            <a:pPr indent="0" lvl="0" marL="11725" marR="0" rtl="0" algn="l">
              <a:lnSpc>
                <a:spcPct val="100000"/>
              </a:lnSpc>
              <a:spcBef>
                <a:spcPts val="0"/>
              </a:spcBef>
              <a:spcAft>
                <a:spcPts val="0"/>
              </a:spcAft>
              <a:buClr>
                <a:srgbClr val="000000"/>
              </a:buClr>
              <a:buSzPts val="1600"/>
              <a:buFont typeface="Arial"/>
              <a:buNone/>
            </a:pPr>
            <a:r>
              <a:rPr b="1" i="0" lang="es-PE" sz="1600" u="none" cap="none" strike="noStrike">
                <a:solidFill>
                  <a:srgbClr val="262626"/>
                </a:solidFill>
                <a:latin typeface="Calibri"/>
                <a:ea typeface="Calibri"/>
                <a:cs typeface="Calibri"/>
                <a:sym typeface="Calibri"/>
              </a:rPr>
              <a:t>Minimum Lovable Product – MLP</a:t>
            </a:r>
            <a:endParaRPr b="0" i="0" sz="1400" u="none" cap="none" strike="noStrike">
              <a:solidFill>
                <a:srgbClr val="000000"/>
              </a:solidFill>
              <a:latin typeface="Arial"/>
              <a:ea typeface="Arial"/>
              <a:cs typeface="Arial"/>
              <a:sym typeface="Arial"/>
            </a:endParaRPr>
          </a:p>
          <a:p>
            <a:pPr indent="-173038" lvl="0" marL="184150" marR="0" rtl="0" algn="l">
              <a:lnSpc>
                <a:spcPct val="100000"/>
              </a:lnSpc>
              <a:spcBef>
                <a:spcPts val="600"/>
              </a:spcBef>
              <a:spcAft>
                <a:spcPts val="0"/>
              </a:spcAft>
              <a:buClr>
                <a:srgbClr val="000000"/>
              </a:buClr>
              <a:buSzPts val="1500"/>
              <a:buFont typeface="Arial"/>
              <a:buChar char="•"/>
            </a:pPr>
            <a:r>
              <a:rPr b="0" i="0" lang="es-PE" sz="1500" u="none" cap="none" strike="noStrike">
                <a:solidFill>
                  <a:srgbClr val="262626"/>
                </a:solidFill>
                <a:latin typeface="Calibri"/>
                <a:ea typeface="Calibri"/>
                <a:cs typeface="Calibri"/>
                <a:sym typeface="Calibri"/>
              </a:rPr>
              <a:t>Evolución del MVP que  se enfoca en crear una experiencia de usuario que genere un nivel de satisfacción y conexión emocional suficiente como para que los usuarios amen el producto desde las primeras interacciones. </a:t>
            </a:r>
            <a:endParaRPr b="0" i="0" sz="1500" u="none" cap="none" strike="noStrike">
              <a:solidFill>
                <a:srgbClr val="262626"/>
              </a:solidFill>
              <a:latin typeface="Calibri"/>
              <a:ea typeface="Calibri"/>
              <a:cs typeface="Calibri"/>
              <a:sym typeface="Calibri"/>
            </a:endParaRPr>
          </a:p>
          <a:p>
            <a:pPr indent="-77788" lvl="0" marL="184150" marR="0" rtl="0" algn="l">
              <a:lnSpc>
                <a:spcPct val="100000"/>
              </a:lnSpc>
              <a:spcBef>
                <a:spcPts val="0"/>
              </a:spcBef>
              <a:spcAft>
                <a:spcPts val="0"/>
              </a:spcAft>
              <a:buClr>
                <a:srgbClr val="000000"/>
              </a:buClr>
              <a:buSzPts val="1500"/>
              <a:buFont typeface="Arial"/>
              <a:buNone/>
            </a:pPr>
            <a:r>
              <a:t/>
            </a:r>
            <a:endParaRPr b="0" i="0" sz="1500" u="none" cap="none" strike="noStrike">
              <a:solidFill>
                <a:srgbClr val="262626"/>
              </a:solidFill>
              <a:latin typeface="Calibri"/>
              <a:ea typeface="Calibri"/>
              <a:cs typeface="Calibri"/>
              <a:sym typeface="Calibri"/>
            </a:endParaRPr>
          </a:p>
          <a:p>
            <a:pPr indent="-173038" lvl="0" marL="184150" marR="0" rtl="0" algn="l">
              <a:lnSpc>
                <a:spcPct val="100000"/>
              </a:lnSpc>
              <a:spcBef>
                <a:spcPts val="0"/>
              </a:spcBef>
              <a:spcAft>
                <a:spcPts val="0"/>
              </a:spcAft>
              <a:buClr>
                <a:srgbClr val="000000"/>
              </a:buClr>
              <a:buSzPts val="1500"/>
              <a:buFont typeface="Arial"/>
              <a:buChar char="•"/>
            </a:pPr>
            <a:r>
              <a:rPr b="0" i="0" lang="es-PE" sz="1500" u="none" cap="none" strike="noStrike">
                <a:solidFill>
                  <a:srgbClr val="262626"/>
                </a:solidFill>
                <a:latin typeface="Calibri"/>
                <a:ea typeface="Calibri"/>
                <a:cs typeface="Calibri"/>
                <a:sym typeface="Calibri"/>
              </a:rPr>
              <a:t>Un MLP va más allá de simplemente satisfacer las necesidades básicas del usuario; </a:t>
            </a:r>
            <a:r>
              <a:rPr b="1" i="0" lang="es-PE" sz="1500" u="none" cap="none" strike="noStrike">
                <a:solidFill>
                  <a:srgbClr val="00B1C2"/>
                </a:solidFill>
                <a:latin typeface="Calibri"/>
                <a:ea typeface="Calibri"/>
                <a:cs typeface="Calibri"/>
                <a:sym typeface="Calibri"/>
              </a:rPr>
              <a:t>busca crear una experiencia que realmente deleite a los usuarios</a:t>
            </a:r>
            <a:r>
              <a:rPr b="0" i="0" lang="es-PE" sz="1500" u="none" cap="none" strike="noStrike">
                <a:solidFill>
                  <a:srgbClr val="00B1C2"/>
                </a:solidFill>
                <a:latin typeface="Calibri"/>
                <a:ea typeface="Calibri"/>
                <a:cs typeface="Calibri"/>
                <a:sym typeface="Calibri"/>
              </a:rPr>
              <a:t> </a:t>
            </a:r>
            <a:r>
              <a:rPr b="0" i="0" lang="es-PE" sz="1500" u="none" cap="none" strike="noStrike">
                <a:solidFill>
                  <a:srgbClr val="262626"/>
                </a:solidFill>
                <a:latin typeface="Calibri"/>
                <a:ea typeface="Calibri"/>
                <a:cs typeface="Calibri"/>
                <a:sym typeface="Calibri"/>
              </a:rPr>
              <a:t>y los motive a continuar utilizando y recomendando el producto. Esto puede implicar agregar características que no son estrictamente necesarias desde el punto de vista funcional, pero que añaden valor emocional y hacen que el producto sea más atractivo y memorable para los usuarios.</a:t>
            </a:r>
            <a:endParaRPr b="0" i="0" sz="1500" u="none" cap="none" strike="noStrike">
              <a:solidFill>
                <a:srgbClr val="262626"/>
              </a:solidFill>
              <a:latin typeface="Calibri"/>
              <a:ea typeface="Calibri"/>
              <a:cs typeface="Calibri"/>
              <a:sym typeface="Calibri"/>
            </a:endParaRPr>
          </a:p>
        </p:txBody>
      </p:sp>
      <p:sp>
        <p:nvSpPr>
          <p:cNvPr id="103" name="Google Shape;103;p7"/>
          <p:cNvSpPr/>
          <p:nvPr/>
        </p:nvSpPr>
        <p:spPr>
          <a:xfrm>
            <a:off x="503237" y="376836"/>
            <a:ext cx="5552610" cy="138499"/>
          </a:xfrm>
          <a:prstGeom prst="rect">
            <a:avLst/>
          </a:prstGeom>
          <a:noFill/>
          <a:ln>
            <a:noFill/>
          </a:ln>
        </p:spPr>
        <p:txBody>
          <a:bodyPr anchorCtr="0" anchor="b" bIns="0" lIns="0" spcFirstLastPara="1" rIns="0" wrap="square" tIns="0">
            <a:spAutoFit/>
          </a:bodyPr>
          <a:lstStyle/>
          <a:p>
            <a:pPr indent="0" lvl="0" marL="0" marR="0" rtl="0" algn="l">
              <a:lnSpc>
                <a:spcPct val="90000"/>
              </a:lnSpc>
              <a:spcBef>
                <a:spcPts val="0"/>
              </a:spcBef>
              <a:spcAft>
                <a:spcPts val="0"/>
              </a:spcAft>
              <a:buClr>
                <a:srgbClr val="000000"/>
              </a:buClr>
              <a:buSzPts val="1000"/>
              <a:buFont typeface="Arial"/>
              <a:buNone/>
            </a:pPr>
            <a:r>
              <a:rPr b="1" i="0" lang="es-PE" sz="1000" u="none" cap="none" strike="noStrike">
                <a:solidFill>
                  <a:srgbClr val="7F7F7F"/>
                </a:solidFill>
                <a:latin typeface="Calibri"/>
                <a:ea typeface="Calibri"/>
                <a:cs typeface="Calibri"/>
                <a:sym typeface="Calibri"/>
              </a:rPr>
              <a:t>+ </a:t>
            </a:r>
            <a:r>
              <a:rPr b="0" i="0" lang="es-PE" sz="1000" u="none" cap="none" strike="noStrike">
                <a:solidFill>
                  <a:srgbClr val="A5A5A5"/>
                </a:solidFill>
                <a:latin typeface="Calibri"/>
                <a:ea typeface="Calibri"/>
                <a:cs typeface="Calibri"/>
                <a:sym typeface="Calibri"/>
              </a:rPr>
              <a:t>FUNDAMENTOS Y CONCEPTOS DEL CUSTOMER CENTRICITY: CONCEPTOS CLAVE A ABORDAR</a:t>
            </a:r>
            <a:endParaRPr b="0" i="0" sz="1400" u="none" cap="none" strike="noStrike">
              <a:solidFill>
                <a:srgbClr val="000000"/>
              </a:solidFill>
              <a:latin typeface="Arial"/>
              <a:ea typeface="Arial"/>
              <a:cs typeface="Arial"/>
              <a:sym typeface="Arial"/>
            </a:endParaRPr>
          </a:p>
        </p:txBody>
      </p:sp>
      <p:sp>
        <p:nvSpPr>
          <p:cNvPr id="104" name="Google Shape;104;p7"/>
          <p:cNvSpPr/>
          <p:nvPr/>
        </p:nvSpPr>
        <p:spPr>
          <a:xfrm>
            <a:off x="4751389" y="912813"/>
            <a:ext cx="3924300" cy="4321176"/>
          </a:xfrm>
          <a:prstGeom prst="rect">
            <a:avLst/>
          </a:prstGeom>
          <a:solidFill>
            <a:srgbClr val="D1EFF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pic>
        <p:nvPicPr>
          <p:cNvPr descr="Biberei | Was ist ein Minimum Lovable Product (MLP)?" id="105" name="Google Shape;105;p7"/>
          <p:cNvPicPr preferRelativeResize="0"/>
          <p:nvPr/>
        </p:nvPicPr>
        <p:blipFill rotWithShape="1">
          <a:blip r:embed="rId3">
            <a:alphaModFix/>
          </a:blip>
          <a:srcRect b="0" l="0" r="0" t="0"/>
          <a:stretch/>
        </p:blipFill>
        <p:spPr>
          <a:xfrm>
            <a:off x="4912568" y="2337576"/>
            <a:ext cx="3613365" cy="1445346"/>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pic>
        <p:nvPicPr>
          <p:cNvPr id="111" name="Google Shape;111;p8"/>
          <p:cNvPicPr preferRelativeResize="0"/>
          <p:nvPr/>
        </p:nvPicPr>
        <p:blipFill rotWithShape="1">
          <a:blip r:embed="rId3">
            <a:alphaModFix/>
          </a:blip>
          <a:srcRect b="0" l="0" r="0" t="0"/>
          <a:stretch/>
        </p:blipFill>
        <p:spPr>
          <a:xfrm>
            <a:off x="5070279" y="664882"/>
            <a:ext cx="3426830" cy="4569106"/>
          </a:xfrm>
          <a:prstGeom prst="rect">
            <a:avLst/>
          </a:prstGeom>
          <a:noFill/>
          <a:ln>
            <a:noFill/>
          </a:ln>
        </p:spPr>
      </p:pic>
      <p:grpSp>
        <p:nvGrpSpPr>
          <p:cNvPr id="112" name="Google Shape;112;p8"/>
          <p:cNvGrpSpPr/>
          <p:nvPr/>
        </p:nvGrpSpPr>
        <p:grpSpPr>
          <a:xfrm>
            <a:off x="646891" y="2149609"/>
            <a:ext cx="4741855" cy="1562675"/>
            <a:chOff x="759708" y="2147773"/>
            <a:chExt cx="4741855" cy="1562675"/>
          </a:xfrm>
        </p:grpSpPr>
        <p:sp>
          <p:nvSpPr>
            <p:cNvPr id="113" name="Google Shape;113;p8"/>
            <p:cNvSpPr txBox="1"/>
            <p:nvPr/>
          </p:nvSpPr>
          <p:spPr>
            <a:xfrm>
              <a:off x="2310932" y="2331609"/>
              <a:ext cx="3190631" cy="1378839"/>
            </a:xfrm>
            <a:prstGeom prst="rect">
              <a:avLst/>
            </a:prstGeom>
            <a:noFill/>
            <a:ln>
              <a:noFill/>
            </a:ln>
          </p:spPr>
          <p:txBody>
            <a:bodyPr anchorCtr="0" anchor="t" bIns="0" lIns="0" spcFirstLastPara="1" rIns="0" wrap="square" tIns="0">
              <a:spAutoFit/>
            </a:bodyPr>
            <a:lstStyle/>
            <a:p>
              <a:pPr indent="0" lvl="0" marL="0" marR="0" rtl="0" algn="l">
                <a:lnSpc>
                  <a:spcPct val="70000"/>
                </a:lnSpc>
                <a:spcBef>
                  <a:spcPts val="0"/>
                </a:spcBef>
                <a:spcAft>
                  <a:spcPts val="0"/>
                </a:spcAft>
                <a:buNone/>
              </a:pPr>
              <a:r>
                <a:rPr b="0" i="0" lang="es-PE" sz="3200" u="none" cap="none" strike="noStrike">
                  <a:solidFill>
                    <a:schemeClr val="dk1"/>
                  </a:solidFill>
                  <a:latin typeface="Arial"/>
                  <a:ea typeface="Arial"/>
                  <a:cs typeface="Arial"/>
                  <a:sym typeface="Arial"/>
                </a:rPr>
                <a:t>¿SE TE OCURRE ALGÚN </a:t>
              </a:r>
              <a:endParaRPr/>
            </a:p>
            <a:p>
              <a:pPr indent="0" lvl="0" marL="0" marR="0" rtl="0" algn="l">
                <a:lnSpc>
                  <a:spcPct val="70000"/>
                </a:lnSpc>
                <a:spcBef>
                  <a:spcPts val="0"/>
                </a:spcBef>
                <a:spcAft>
                  <a:spcPts val="0"/>
                </a:spcAft>
                <a:buNone/>
              </a:pPr>
              <a:r>
                <a:rPr b="1" i="0" lang="es-PE" sz="3200" u="none" cap="none" strike="noStrike">
                  <a:solidFill>
                    <a:srgbClr val="92C14D"/>
                  </a:solidFill>
                  <a:latin typeface="Arial"/>
                  <a:ea typeface="Arial"/>
                  <a:cs typeface="Arial"/>
                  <a:sym typeface="Arial"/>
                </a:rPr>
                <a:t>MLP o MVP?</a:t>
              </a:r>
              <a:endParaRPr b="1" i="0" sz="3200" u="none" cap="none" strike="noStrike">
                <a:solidFill>
                  <a:srgbClr val="92C14D"/>
                </a:solidFill>
                <a:latin typeface="Arial"/>
                <a:ea typeface="Arial"/>
                <a:cs typeface="Arial"/>
                <a:sym typeface="Arial"/>
              </a:endParaRPr>
            </a:p>
            <a:p>
              <a:pPr indent="0" lvl="0" marL="0" marR="0" rtl="0" algn="l">
                <a:lnSpc>
                  <a:spcPct val="70000"/>
                </a:lnSpc>
                <a:spcBef>
                  <a:spcPts val="0"/>
                </a:spcBef>
                <a:spcAft>
                  <a:spcPts val="0"/>
                </a:spcAft>
                <a:buClr>
                  <a:srgbClr val="000000"/>
                </a:buClr>
                <a:buSzPts val="3200"/>
                <a:buFont typeface="Arial"/>
                <a:buNone/>
              </a:pPr>
              <a:r>
                <a:t/>
              </a:r>
              <a:endParaRPr b="0" i="0" sz="3200" u="none" cap="none" strike="noStrike">
                <a:solidFill>
                  <a:schemeClr val="dk1"/>
                </a:solidFill>
                <a:latin typeface="Arial"/>
                <a:ea typeface="Arial"/>
                <a:cs typeface="Arial"/>
                <a:sym typeface="Arial"/>
              </a:endParaRPr>
            </a:p>
          </p:txBody>
        </p:sp>
        <p:pic>
          <p:nvPicPr>
            <p:cNvPr id="114" name="Google Shape;114;p8"/>
            <p:cNvPicPr preferRelativeResize="0"/>
            <p:nvPr/>
          </p:nvPicPr>
          <p:blipFill rotWithShape="1">
            <a:blip r:embed="rId4">
              <a:alphaModFix/>
            </a:blip>
            <a:srcRect b="0" l="0" r="0" t="0"/>
            <a:stretch/>
          </p:blipFill>
          <p:spPr>
            <a:xfrm>
              <a:off x="759708" y="2147773"/>
              <a:ext cx="1222115" cy="1204625"/>
            </a:xfrm>
            <a:prstGeom prst="rect">
              <a:avLst/>
            </a:prstGeom>
            <a:noFill/>
            <a:ln>
              <a:noFill/>
            </a:ln>
          </p:spPr>
        </p:pic>
      </p:grpSp>
      <p:sp>
        <p:nvSpPr>
          <p:cNvPr id="115" name="Google Shape;115;p8"/>
          <p:cNvSpPr/>
          <p:nvPr/>
        </p:nvSpPr>
        <p:spPr>
          <a:xfrm>
            <a:off x="503237" y="376836"/>
            <a:ext cx="5552610" cy="138499"/>
          </a:xfrm>
          <a:prstGeom prst="rect">
            <a:avLst/>
          </a:prstGeom>
          <a:noFill/>
          <a:ln>
            <a:noFill/>
          </a:ln>
        </p:spPr>
        <p:txBody>
          <a:bodyPr anchorCtr="0" anchor="b" bIns="0" lIns="0" spcFirstLastPara="1" rIns="0" wrap="square" tIns="0">
            <a:spAutoFit/>
          </a:bodyPr>
          <a:lstStyle/>
          <a:p>
            <a:pPr indent="0" lvl="0" marL="0" marR="0" rtl="0" algn="l">
              <a:lnSpc>
                <a:spcPct val="90000"/>
              </a:lnSpc>
              <a:spcBef>
                <a:spcPts val="0"/>
              </a:spcBef>
              <a:spcAft>
                <a:spcPts val="0"/>
              </a:spcAft>
              <a:buClr>
                <a:srgbClr val="000000"/>
              </a:buClr>
              <a:buSzPts val="1000"/>
              <a:buFont typeface="Arial"/>
              <a:buNone/>
            </a:pPr>
            <a:r>
              <a:rPr b="1" i="0" lang="es-PE" sz="1000" u="none" cap="none" strike="noStrike">
                <a:solidFill>
                  <a:srgbClr val="7F7F7F"/>
                </a:solidFill>
                <a:latin typeface="Calibri"/>
                <a:ea typeface="Calibri"/>
                <a:cs typeface="Calibri"/>
                <a:sym typeface="Calibri"/>
              </a:rPr>
              <a:t>+ </a:t>
            </a:r>
            <a:r>
              <a:rPr b="0" i="0" lang="es-PE" sz="1000" u="none" cap="none" strike="noStrike">
                <a:solidFill>
                  <a:srgbClr val="A5A5A5"/>
                </a:solidFill>
                <a:latin typeface="Calibri"/>
                <a:ea typeface="Calibri"/>
                <a:cs typeface="Calibri"/>
                <a:sym typeface="Calibri"/>
              </a:rPr>
              <a:t>FUNDAMENTOS Y CONCEPTOS DEL CUSTOMER CENTRICITY: CONCEPTOS CLAVE A ABORDAR</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9"/>
          <p:cNvSpPr/>
          <p:nvPr/>
        </p:nvSpPr>
        <p:spPr>
          <a:xfrm>
            <a:off x="503238" y="739804"/>
            <a:ext cx="8172450" cy="4494185"/>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22" name="Google Shape;122;p9"/>
          <p:cNvSpPr txBox="1"/>
          <p:nvPr/>
        </p:nvSpPr>
        <p:spPr>
          <a:xfrm>
            <a:off x="799303" y="4359643"/>
            <a:ext cx="3488384" cy="615553"/>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00"/>
              <a:buFont typeface="Arial"/>
              <a:buNone/>
            </a:pPr>
            <a:r>
              <a:rPr b="1" i="0" lang="es-PE" sz="1000" u="none" cap="none" strike="noStrike">
                <a:solidFill>
                  <a:schemeClr val="dk1"/>
                </a:solidFill>
                <a:latin typeface="Calibri"/>
                <a:ea typeface="Calibri"/>
                <a:cs typeface="Calibri"/>
                <a:sym typeface="Calibri"/>
              </a:rPr>
              <a:t>Airbnb, 2008</a:t>
            </a:r>
            <a:br>
              <a:rPr b="0" i="0" lang="es-PE" sz="1000" u="none" cap="none" strike="noStrike">
                <a:solidFill>
                  <a:schemeClr val="dk1"/>
                </a:solidFill>
                <a:latin typeface="Calibri"/>
                <a:ea typeface="Calibri"/>
                <a:cs typeface="Calibri"/>
                <a:sym typeface="Calibri"/>
              </a:rPr>
            </a:br>
            <a:r>
              <a:rPr b="0" i="0" lang="es-PE" sz="1000" u="none" cap="none" strike="noStrike">
                <a:solidFill>
                  <a:schemeClr val="dk1"/>
                </a:solidFill>
                <a:latin typeface="Calibri"/>
                <a:ea typeface="Calibri"/>
                <a:cs typeface="Calibri"/>
                <a:sym typeface="Calibri"/>
              </a:rPr>
              <a:t>Lista para un </a:t>
            </a:r>
            <a:r>
              <a:rPr b="1" i="0" lang="es-PE" sz="1000" u="none" cap="none" strike="noStrike">
                <a:solidFill>
                  <a:schemeClr val="dk1"/>
                </a:solidFill>
                <a:latin typeface="Calibri"/>
                <a:ea typeface="Calibri"/>
                <a:cs typeface="Calibri"/>
                <a:sym typeface="Calibri"/>
              </a:rPr>
              <a:t>congreso</a:t>
            </a:r>
            <a:r>
              <a:rPr b="0" i="0" lang="es-PE" sz="1000" u="none" cap="none" strike="noStrike">
                <a:solidFill>
                  <a:schemeClr val="dk1"/>
                </a:solidFill>
                <a:latin typeface="Calibri"/>
                <a:ea typeface="Calibri"/>
                <a:cs typeface="Calibri"/>
                <a:sym typeface="Calibri"/>
              </a:rPr>
              <a:t> para el cual lograron que 80 personas reserven habitaciones a través de su página.</a:t>
            </a:r>
            <a:endParaRPr b="0" i="0" sz="1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rPr b="0" i="0" lang="es-PE" sz="1000" u="none" cap="none" strike="noStrike">
                <a:solidFill>
                  <a:schemeClr val="dk1"/>
                </a:solidFill>
                <a:latin typeface="Calibri"/>
                <a:ea typeface="Calibri"/>
                <a:cs typeface="Calibri"/>
                <a:sym typeface="Calibri"/>
              </a:rPr>
              <a:t>La búsqueda era: Evento &gt; Ciudad &gt; Fecha</a:t>
            </a:r>
            <a:endParaRPr b="0" i="0" sz="1000" u="none" cap="none" strike="noStrike">
              <a:solidFill>
                <a:srgbClr val="000000"/>
              </a:solidFill>
              <a:latin typeface="Arial"/>
              <a:ea typeface="Arial"/>
              <a:cs typeface="Arial"/>
              <a:sym typeface="Arial"/>
            </a:endParaRPr>
          </a:p>
        </p:txBody>
      </p:sp>
      <p:pic>
        <p:nvPicPr>
          <p:cNvPr id="123" name="Google Shape;123;p9"/>
          <p:cNvPicPr preferRelativeResize="0"/>
          <p:nvPr/>
        </p:nvPicPr>
        <p:blipFill rotWithShape="1">
          <a:blip r:embed="rId3">
            <a:alphaModFix/>
          </a:blip>
          <a:srcRect b="0" l="0" r="0" t="0"/>
          <a:stretch/>
        </p:blipFill>
        <p:spPr>
          <a:xfrm>
            <a:off x="799303" y="923328"/>
            <a:ext cx="3443551" cy="3269193"/>
          </a:xfrm>
          <a:prstGeom prst="rect">
            <a:avLst/>
          </a:prstGeom>
          <a:noFill/>
          <a:ln>
            <a:noFill/>
          </a:ln>
        </p:spPr>
      </p:pic>
      <p:sp>
        <p:nvSpPr>
          <p:cNvPr id="124" name="Google Shape;124;p9"/>
          <p:cNvSpPr txBox="1"/>
          <p:nvPr/>
        </p:nvSpPr>
        <p:spPr>
          <a:xfrm>
            <a:off x="4920634" y="4354145"/>
            <a:ext cx="3462000" cy="738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00"/>
              <a:buFont typeface="Arial"/>
              <a:buNone/>
            </a:pPr>
            <a:r>
              <a:rPr b="1" i="0" lang="es-PE" sz="1000" u="none" cap="none" strike="noStrike">
                <a:solidFill>
                  <a:schemeClr val="dk1"/>
                </a:solidFill>
                <a:latin typeface="Calibri"/>
                <a:ea typeface="Calibri"/>
                <a:cs typeface="Calibri"/>
                <a:sym typeface="Calibri"/>
              </a:rPr>
              <a:t>Airbnb, 2009</a:t>
            </a:r>
            <a:br>
              <a:rPr b="0" i="0" lang="es-PE" sz="1000" u="none" cap="none" strike="noStrike">
                <a:solidFill>
                  <a:schemeClr val="dk1"/>
                </a:solidFill>
                <a:latin typeface="Calibri"/>
                <a:ea typeface="Calibri"/>
                <a:cs typeface="Calibri"/>
                <a:sym typeface="Calibri"/>
              </a:rPr>
            </a:br>
            <a:r>
              <a:rPr b="0" i="0" lang="es-PE" sz="1000" u="none" cap="none" strike="noStrike">
                <a:solidFill>
                  <a:schemeClr val="dk1"/>
                </a:solidFill>
                <a:latin typeface="Calibri"/>
                <a:ea typeface="Calibri"/>
                <a:cs typeface="Calibri"/>
                <a:sym typeface="Calibri"/>
              </a:rPr>
              <a:t>Reformularon la experiencia y dirigieron su producto hacia renta de habitaciones.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rPr b="0" i="0" lang="es-PE" sz="1000" u="none" cap="none" strike="noStrike">
                <a:solidFill>
                  <a:schemeClr val="dk1"/>
                </a:solidFill>
                <a:latin typeface="Calibri"/>
                <a:ea typeface="Calibri"/>
                <a:cs typeface="Calibri"/>
                <a:sym typeface="Calibri"/>
              </a:rPr>
              <a:t>La búsqueda era: Ciudad &gt; </a:t>
            </a:r>
            <a:r>
              <a:rPr b="1" i="0" lang="es-PE" sz="1000" u="none" cap="none" strike="noStrike">
                <a:solidFill>
                  <a:schemeClr val="dk1"/>
                </a:solidFill>
                <a:latin typeface="Calibri"/>
                <a:ea typeface="Calibri"/>
                <a:cs typeface="Calibri"/>
                <a:sym typeface="Calibri"/>
              </a:rPr>
              <a:t>Fechas</a:t>
            </a:r>
            <a:br>
              <a:rPr b="0" i="0" lang="es-PE" sz="1000" u="none" cap="none" strike="noStrike">
                <a:solidFill>
                  <a:schemeClr val="dk1"/>
                </a:solidFill>
                <a:latin typeface="Calibri"/>
                <a:ea typeface="Calibri"/>
                <a:cs typeface="Calibri"/>
                <a:sym typeface="Calibri"/>
              </a:rPr>
            </a:br>
            <a:r>
              <a:rPr b="0" i="0" lang="es-PE" sz="800" u="none" cap="none" strike="noStrike">
                <a:solidFill>
                  <a:schemeClr val="dk1"/>
                </a:solidFill>
                <a:latin typeface="Calibri"/>
                <a:ea typeface="Calibri"/>
                <a:cs typeface="Calibri"/>
                <a:sym typeface="Calibri"/>
              </a:rPr>
              <a:t>Imagen extraída de </a:t>
            </a:r>
            <a:r>
              <a:rPr lang="es-PE" sz="800">
                <a:solidFill>
                  <a:schemeClr val="dk1"/>
                </a:solidFill>
                <a:latin typeface="Calibri"/>
                <a:ea typeface="Calibri"/>
                <a:cs typeface="Calibri"/>
                <a:sym typeface="Calibri"/>
              </a:rPr>
              <a:t>página</a:t>
            </a:r>
            <a:r>
              <a:rPr b="0" i="0" lang="es-PE" sz="800" u="none" cap="none" strike="noStrike">
                <a:solidFill>
                  <a:schemeClr val="dk1"/>
                </a:solidFill>
                <a:latin typeface="Calibri"/>
                <a:ea typeface="Calibri"/>
                <a:cs typeface="Calibri"/>
                <a:sym typeface="Calibri"/>
              </a:rPr>
              <a:t> Airbnb</a:t>
            </a:r>
            <a:endParaRPr/>
          </a:p>
        </p:txBody>
      </p:sp>
      <p:sp>
        <p:nvSpPr>
          <p:cNvPr id="125" name="Google Shape;125;p9"/>
          <p:cNvSpPr/>
          <p:nvPr/>
        </p:nvSpPr>
        <p:spPr>
          <a:xfrm>
            <a:off x="3212160" y="1466617"/>
            <a:ext cx="953146" cy="922149"/>
          </a:xfrm>
          <a:prstGeom prst="rect">
            <a:avLst/>
          </a:prstGeom>
          <a:noFill/>
          <a:ln cap="flat" cmpd="sng" w="28575">
            <a:solidFill>
              <a:srgbClr val="EF4639"/>
            </a:solidFill>
            <a:prstDash val="solid"/>
            <a:round/>
            <a:headEnd len="sm" w="sm" type="none"/>
            <a:tailEnd len="sm" w="sm" type="none"/>
          </a:ln>
          <a:effectLst>
            <a:outerShdw sx="1000" rotWithShape="0" dist="23000" sy="1000">
              <a:srgbClr val="000000"/>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cxnSp>
        <p:nvCxnSpPr>
          <p:cNvPr id="126" name="Google Shape;126;p9"/>
          <p:cNvCxnSpPr/>
          <p:nvPr/>
        </p:nvCxnSpPr>
        <p:spPr>
          <a:xfrm flipH="1" rot="-5400000">
            <a:off x="2785756" y="3315568"/>
            <a:ext cx="2855100" cy="96000"/>
          </a:xfrm>
          <a:prstGeom prst="bentConnector3">
            <a:avLst>
              <a:gd fmla="val 0" name="adj1"/>
            </a:avLst>
          </a:prstGeom>
          <a:noFill/>
          <a:ln cap="flat" cmpd="sng" w="25400">
            <a:solidFill>
              <a:srgbClr val="EF4639"/>
            </a:solidFill>
            <a:prstDash val="solid"/>
            <a:round/>
            <a:headEnd len="sm" w="sm" type="none"/>
            <a:tailEnd len="med" w="med" type="triangle"/>
          </a:ln>
          <a:effectLst>
            <a:outerShdw sx="1000" rotWithShape="0" dist="20000" sy="1000">
              <a:srgbClr val="000000"/>
            </a:outerShdw>
          </a:effectLst>
        </p:spPr>
      </p:cxnSp>
      <p:sp>
        <p:nvSpPr>
          <p:cNvPr id="127" name="Google Shape;127;p9"/>
          <p:cNvSpPr/>
          <p:nvPr/>
        </p:nvSpPr>
        <p:spPr>
          <a:xfrm>
            <a:off x="503237" y="376836"/>
            <a:ext cx="5552610" cy="138499"/>
          </a:xfrm>
          <a:prstGeom prst="rect">
            <a:avLst/>
          </a:prstGeom>
          <a:noFill/>
          <a:ln>
            <a:noFill/>
          </a:ln>
        </p:spPr>
        <p:txBody>
          <a:bodyPr anchorCtr="0" anchor="b" bIns="0" lIns="0" spcFirstLastPara="1" rIns="0" wrap="square" tIns="0">
            <a:spAutoFit/>
          </a:bodyPr>
          <a:lstStyle/>
          <a:p>
            <a:pPr indent="0" lvl="0" marL="0" marR="0" rtl="0" algn="l">
              <a:lnSpc>
                <a:spcPct val="90000"/>
              </a:lnSpc>
              <a:spcBef>
                <a:spcPts val="0"/>
              </a:spcBef>
              <a:spcAft>
                <a:spcPts val="0"/>
              </a:spcAft>
              <a:buClr>
                <a:srgbClr val="000000"/>
              </a:buClr>
              <a:buSzPts val="1000"/>
              <a:buFont typeface="Arial"/>
              <a:buNone/>
            </a:pPr>
            <a:r>
              <a:rPr b="1" i="0" lang="es-PE" sz="1000" u="none" cap="none" strike="noStrike">
                <a:solidFill>
                  <a:srgbClr val="7F7F7F"/>
                </a:solidFill>
                <a:latin typeface="Calibri"/>
                <a:ea typeface="Calibri"/>
                <a:cs typeface="Calibri"/>
                <a:sym typeface="Calibri"/>
              </a:rPr>
              <a:t>+ </a:t>
            </a:r>
            <a:r>
              <a:rPr b="0" i="0" lang="es-PE" sz="1000" u="none" cap="none" strike="noStrike">
                <a:solidFill>
                  <a:srgbClr val="A5A5A5"/>
                </a:solidFill>
                <a:latin typeface="Calibri"/>
                <a:ea typeface="Calibri"/>
                <a:cs typeface="Calibri"/>
                <a:sym typeface="Calibri"/>
              </a:rPr>
              <a:t>FUNDAMENTOS Y CONCEPTOS DEL CUSTOMER CENTRICITY: CONCEPTOS CLAVE A ABORDAR</a:t>
            </a:r>
            <a:endParaRPr b="0" i="0" sz="1400" u="none" cap="none" strike="noStrike">
              <a:solidFill>
                <a:srgbClr val="000000"/>
              </a:solidFill>
              <a:latin typeface="Arial"/>
              <a:ea typeface="Arial"/>
              <a:cs typeface="Arial"/>
              <a:sym typeface="Arial"/>
            </a:endParaRPr>
          </a:p>
        </p:txBody>
      </p:sp>
      <p:sp>
        <p:nvSpPr>
          <p:cNvPr id="128" name="Google Shape;128;p9"/>
          <p:cNvSpPr/>
          <p:nvPr/>
        </p:nvSpPr>
        <p:spPr>
          <a:xfrm>
            <a:off x="4903667" y="923328"/>
            <a:ext cx="3461919" cy="3264301"/>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pic>
        <p:nvPicPr>
          <p:cNvPr descr="Airbnb Growth Study" id="129" name="Google Shape;129;p9"/>
          <p:cNvPicPr preferRelativeResize="0"/>
          <p:nvPr/>
        </p:nvPicPr>
        <p:blipFill rotWithShape="1">
          <a:blip r:embed="rId4">
            <a:alphaModFix/>
          </a:blip>
          <a:srcRect b="0" l="0" r="0" t="0"/>
          <a:stretch/>
        </p:blipFill>
        <p:spPr>
          <a:xfrm>
            <a:off x="4991102" y="1290367"/>
            <a:ext cx="3233550" cy="2677888"/>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10"/>
          <p:cNvSpPr txBox="1"/>
          <p:nvPr/>
        </p:nvSpPr>
        <p:spPr>
          <a:xfrm>
            <a:off x="503236" y="912812"/>
            <a:ext cx="8172451" cy="1241451"/>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600"/>
              <a:buFont typeface="Arial"/>
              <a:buNone/>
            </a:pPr>
            <a:r>
              <a:rPr b="0" i="0" lang="es-PE" sz="1600" u="none" cap="none" strike="noStrike">
                <a:solidFill>
                  <a:srgbClr val="262626"/>
                </a:solidFill>
                <a:latin typeface="Calibri"/>
                <a:ea typeface="Calibri"/>
                <a:cs typeface="Calibri"/>
                <a:sym typeface="Calibri"/>
              </a:rPr>
              <a:t>Ya casi 16 años más tarde, Airbnb ha evolucionado su modelo de negocio incluyendo en su portafolio:</a:t>
            </a:r>
            <a:endParaRPr b="0" i="0" sz="1600" u="none" cap="none" strike="noStrike">
              <a:solidFill>
                <a:srgbClr val="262626"/>
              </a:solidFill>
              <a:latin typeface="Calibri"/>
              <a:ea typeface="Calibri"/>
              <a:cs typeface="Calibri"/>
              <a:sym typeface="Calibri"/>
            </a:endParaRPr>
          </a:p>
          <a:p>
            <a:pPr indent="-176213" lvl="1" marL="185738" marR="0" rtl="0" algn="l">
              <a:lnSpc>
                <a:spcPct val="100000"/>
              </a:lnSpc>
              <a:spcBef>
                <a:spcPts val="0"/>
              </a:spcBef>
              <a:spcAft>
                <a:spcPts val="0"/>
              </a:spcAft>
              <a:buClr>
                <a:srgbClr val="92C14E"/>
              </a:buClr>
              <a:buSzPts val="1600"/>
              <a:buFont typeface="Arial"/>
              <a:buChar char="•"/>
            </a:pPr>
            <a:r>
              <a:rPr b="0" i="0" lang="es-PE" sz="1600" u="none" cap="none" strike="noStrike">
                <a:solidFill>
                  <a:srgbClr val="262626"/>
                </a:solidFill>
                <a:latin typeface="Calibri"/>
                <a:ea typeface="Calibri"/>
                <a:cs typeface="Calibri"/>
                <a:sym typeface="Calibri"/>
              </a:rPr>
              <a:t>Alquiler de espacios (dptos., casas) con filtros avanzados</a:t>
            </a:r>
            <a:endParaRPr b="0" i="0" sz="1600" u="none" cap="none" strike="noStrike">
              <a:solidFill>
                <a:srgbClr val="262626"/>
              </a:solidFill>
              <a:latin typeface="Calibri"/>
              <a:ea typeface="Calibri"/>
              <a:cs typeface="Calibri"/>
              <a:sym typeface="Calibri"/>
            </a:endParaRPr>
          </a:p>
          <a:p>
            <a:pPr indent="-176213" lvl="1" marL="185738" marR="0" rtl="0" algn="l">
              <a:lnSpc>
                <a:spcPct val="100000"/>
              </a:lnSpc>
              <a:spcBef>
                <a:spcPts val="0"/>
              </a:spcBef>
              <a:spcAft>
                <a:spcPts val="0"/>
              </a:spcAft>
              <a:buClr>
                <a:srgbClr val="92C14E"/>
              </a:buClr>
              <a:buSzPts val="1600"/>
              <a:buFont typeface="Arial"/>
              <a:buChar char="•"/>
            </a:pPr>
            <a:r>
              <a:rPr b="0" i="0" lang="es-PE" sz="1600" u="none" cap="none" strike="noStrike">
                <a:solidFill>
                  <a:srgbClr val="262626"/>
                </a:solidFill>
                <a:latin typeface="Calibri"/>
                <a:ea typeface="Calibri"/>
                <a:cs typeface="Calibri"/>
                <a:sym typeface="Calibri"/>
              </a:rPr>
              <a:t>Experiencias en ciudades</a:t>
            </a:r>
            <a:endParaRPr b="0" i="0" sz="1600" u="none" cap="none" strike="noStrike">
              <a:solidFill>
                <a:srgbClr val="262626"/>
              </a:solidFill>
              <a:latin typeface="Calibri"/>
              <a:ea typeface="Calibri"/>
              <a:cs typeface="Calibri"/>
              <a:sym typeface="Calibri"/>
            </a:endParaRPr>
          </a:p>
          <a:p>
            <a:pPr indent="-176213" lvl="1" marL="185738" marR="0" rtl="0" algn="l">
              <a:lnSpc>
                <a:spcPct val="100000"/>
              </a:lnSpc>
              <a:spcBef>
                <a:spcPts val="0"/>
              </a:spcBef>
              <a:spcAft>
                <a:spcPts val="0"/>
              </a:spcAft>
              <a:buClr>
                <a:srgbClr val="92C14E"/>
              </a:buClr>
              <a:buSzPts val="1600"/>
              <a:buFont typeface="Arial"/>
              <a:buChar char="•"/>
            </a:pPr>
            <a:r>
              <a:rPr b="0" i="0" lang="es-PE" sz="1600" u="none" cap="none" strike="noStrike">
                <a:solidFill>
                  <a:srgbClr val="262626"/>
                </a:solidFill>
                <a:latin typeface="Calibri"/>
                <a:ea typeface="Calibri"/>
                <a:cs typeface="Calibri"/>
                <a:sym typeface="Calibri"/>
              </a:rPr>
              <a:t>Experiencias online</a:t>
            </a:r>
            <a:endParaRPr b="0" i="0" sz="1600" u="none" cap="none" strike="noStrike">
              <a:solidFill>
                <a:srgbClr val="262626"/>
              </a:solidFill>
              <a:latin typeface="Calibri"/>
              <a:ea typeface="Calibri"/>
              <a:cs typeface="Calibri"/>
              <a:sym typeface="Calibri"/>
            </a:endParaRPr>
          </a:p>
        </p:txBody>
      </p:sp>
      <p:pic>
        <p:nvPicPr>
          <p:cNvPr id="136" name="Google Shape;136;p10"/>
          <p:cNvPicPr preferRelativeResize="0"/>
          <p:nvPr/>
        </p:nvPicPr>
        <p:blipFill rotWithShape="1">
          <a:blip r:embed="rId3">
            <a:alphaModFix/>
          </a:blip>
          <a:srcRect b="0" l="1" r="26923" t="0"/>
          <a:stretch/>
        </p:blipFill>
        <p:spPr>
          <a:xfrm>
            <a:off x="503238" y="2286356"/>
            <a:ext cx="4784569" cy="2947632"/>
          </a:xfrm>
          <a:prstGeom prst="rect">
            <a:avLst/>
          </a:prstGeom>
          <a:noFill/>
          <a:ln>
            <a:noFill/>
          </a:ln>
        </p:spPr>
      </p:pic>
      <p:pic>
        <p:nvPicPr>
          <p:cNvPr id="137" name="Google Shape;137;p10"/>
          <p:cNvPicPr preferRelativeResize="0"/>
          <p:nvPr/>
        </p:nvPicPr>
        <p:blipFill rotWithShape="1">
          <a:blip r:embed="rId4">
            <a:alphaModFix/>
          </a:blip>
          <a:srcRect b="5602" l="5352" r="0" t="1869"/>
          <a:stretch/>
        </p:blipFill>
        <p:spPr>
          <a:xfrm>
            <a:off x="5459457" y="2343220"/>
            <a:ext cx="3107743" cy="2833903"/>
          </a:xfrm>
          <a:prstGeom prst="rect">
            <a:avLst/>
          </a:prstGeom>
          <a:noFill/>
          <a:ln>
            <a:noFill/>
          </a:ln>
        </p:spPr>
      </p:pic>
      <p:sp>
        <p:nvSpPr>
          <p:cNvPr id="138" name="Google Shape;138;p10"/>
          <p:cNvSpPr/>
          <p:nvPr/>
        </p:nvSpPr>
        <p:spPr>
          <a:xfrm>
            <a:off x="503237" y="376836"/>
            <a:ext cx="5552610" cy="138499"/>
          </a:xfrm>
          <a:prstGeom prst="rect">
            <a:avLst/>
          </a:prstGeom>
          <a:noFill/>
          <a:ln>
            <a:noFill/>
          </a:ln>
        </p:spPr>
        <p:txBody>
          <a:bodyPr anchorCtr="0" anchor="b" bIns="0" lIns="0" spcFirstLastPara="1" rIns="0" wrap="square" tIns="0">
            <a:spAutoFit/>
          </a:bodyPr>
          <a:lstStyle/>
          <a:p>
            <a:pPr indent="0" lvl="0" marL="0" marR="0" rtl="0" algn="l">
              <a:lnSpc>
                <a:spcPct val="90000"/>
              </a:lnSpc>
              <a:spcBef>
                <a:spcPts val="0"/>
              </a:spcBef>
              <a:spcAft>
                <a:spcPts val="0"/>
              </a:spcAft>
              <a:buClr>
                <a:srgbClr val="000000"/>
              </a:buClr>
              <a:buSzPts val="1000"/>
              <a:buFont typeface="Arial"/>
              <a:buNone/>
            </a:pPr>
            <a:r>
              <a:rPr b="1" i="0" lang="es-PE" sz="1000" u="none" cap="none" strike="noStrike">
                <a:solidFill>
                  <a:srgbClr val="7F7F7F"/>
                </a:solidFill>
                <a:latin typeface="Calibri"/>
                <a:ea typeface="Calibri"/>
                <a:cs typeface="Calibri"/>
                <a:sym typeface="Calibri"/>
              </a:rPr>
              <a:t>+ </a:t>
            </a:r>
            <a:r>
              <a:rPr b="0" i="0" lang="es-PE" sz="1000" u="none" cap="none" strike="noStrike">
                <a:solidFill>
                  <a:srgbClr val="A5A5A5"/>
                </a:solidFill>
                <a:latin typeface="Calibri"/>
                <a:ea typeface="Calibri"/>
                <a:cs typeface="Calibri"/>
                <a:sym typeface="Calibri"/>
              </a:rPr>
              <a:t>FUNDAMENTOS Y CONCEPTOS DEL CUSTOMER CENTRICITY: CONCEPTOS CLAVE A ABORDAR</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11"/>
          <p:cNvSpPr/>
          <p:nvPr/>
        </p:nvSpPr>
        <p:spPr>
          <a:xfrm>
            <a:off x="1312207" y="2127877"/>
            <a:ext cx="4180423" cy="2186686"/>
          </a:xfrm>
          <a:prstGeom prst="roundRect">
            <a:avLst>
              <a:gd fmla="val 7187" name="adj"/>
            </a:avLst>
          </a:prstGeom>
          <a:solidFill>
            <a:srgbClr val="D1EFF4"/>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145" name="Google Shape;145;p11"/>
          <p:cNvSpPr txBox="1"/>
          <p:nvPr/>
        </p:nvSpPr>
        <p:spPr>
          <a:xfrm>
            <a:off x="503238" y="871931"/>
            <a:ext cx="2576293" cy="246221"/>
          </a:xfrm>
          <a:prstGeom prst="rect">
            <a:avLst/>
          </a:prstGeom>
          <a:noFill/>
          <a:ln>
            <a:noFill/>
          </a:ln>
        </p:spPr>
        <p:txBody>
          <a:bodyPr anchorCtr="0" anchor="t" bIns="0" lIns="0" spcFirstLastPara="1" rIns="0" wrap="square" tIns="0">
            <a:spAutoFit/>
          </a:bodyPr>
          <a:lstStyle/>
          <a:p>
            <a:pPr indent="0" lvl="0" marL="11725" marR="0" rtl="0" algn="l">
              <a:lnSpc>
                <a:spcPct val="100000"/>
              </a:lnSpc>
              <a:spcBef>
                <a:spcPts val="0"/>
              </a:spcBef>
              <a:spcAft>
                <a:spcPts val="0"/>
              </a:spcAft>
              <a:buClr>
                <a:srgbClr val="000000"/>
              </a:buClr>
              <a:buSzPts val="1600"/>
              <a:buFont typeface="Arial"/>
              <a:buNone/>
            </a:pPr>
            <a:r>
              <a:rPr b="1" i="0" lang="es-PE" sz="1600" u="none" cap="none" strike="noStrike">
                <a:solidFill>
                  <a:srgbClr val="262626"/>
                </a:solidFill>
                <a:latin typeface="Calibri"/>
                <a:ea typeface="Calibri"/>
                <a:cs typeface="Calibri"/>
                <a:sym typeface="Calibri"/>
              </a:rPr>
              <a:t>RELACIÓN ENTRE CX, UX Y UI</a:t>
            </a:r>
            <a:endParaRPr b="0" i="0" sz="1200" u="none" cap="none" strike="noStrike">
              <a:solidFill>
                <a:srgbClr val="000000"/>
              </a:solidFill>
              <a:latin typeface="Arial"/>
              <a:ea typeface="Arial"/>
              <a:cs typeface="Arial"/>
              <a:sym typeface="Arial"/>
            </a:endParaRPr>
          </a:p>
        </p:txBody>
      </p:sp>
      <p:sp>
        <p:nvSpPr>
          <p:cNvPr id="146" name="Google Shape;146;p11"/>
          <p:cNvSpPr/>
          <p:nvPr/>
        </p:nvSpPr>
        <p:spPr>
          <a:xfrm>
            <a:off x="503237" y="376836"/>
            <a:ext cx="5552610" cy="138499"/>
          </a:xfrm>
          <a:prstGeom prst="rect">
            <a:avLst/>
          </a:prstGeom>
          <a:noFill/>
          <a:ln>
            <a:noFill/>
          </a:ln>
        </p:spPr>
        <p:txBody>
          <a:bodyPr anchorCtr="0" anchor="b" bIns="0" lIns="0" spcFirstLastPara="1" rIns="0" wrap="square" tIns="0">
            <a:spAutoFit/>
          </a:bodyPr>
          <a:lstStyle/>
          <a:p>
            <a:pPr indent="0" lvl="0" marL="0" marR="0" rtl="0" algn="l">
              <a:lnSpc>
                <a:spcPct val="90000"/>
              </a:lnSpc>
              <a:spcBef>
                <a:spcPts val="0"/>
              </a:spcBef>
              <a:spcAft>
                <a:spcPts val="0"/>
              </a:spcAft>
              <a:buClr>
                <a:srgbClr val="000000"/>
              </a:buClr>
              <a:buSzPts val="1000"/>
              <a:buFont typeface="Arial"/>
              <a:buNone/>
            </a:pPr>
            <a:r>
              <a:rPr b="1" i="0" lang="es-PE" sz="1000" u="none" cap="none" strike="noStrike">
                <a:solidFill>
                  <a:srgbClr val="7F7F7F"/>
                </a:solidFill>
                <a:latin typeface="Calibri"/>
                <a:ea typeface="Calibri"/>
                <a:cs typeface="Calibri"/>
                <a:sym typeface="Calibri"/>
              </a:rPr>
              <a:t>+ </a:t>
            </a:r>
            <a:r>
              <a:rPr b="0" i="0" lang="es-PE" sz="1000" u="none" cap="none" strike="noStrike">
                <a:solidFill>
                  <a:srgbClr val="A5A5A5"/>
                </a:solidFill>
                <a:latin typeface="Calibri"/>
                <a:ea typeface="Calibri"/>
                <a:cs typeface="Calibri"/>
                <a:sym typeface="Calibri"/>
              </a:rPr>
              <a:t>FUNDAMENTOS Y CONCEPTOS DEL CUSTOMER CENTRICITY: CONCEPTOS CLAVE A ABORDAR</a:t>
            </a:r>
            <a:endParaRPr b="0" i="0" sz="1400" u="none" cap="none" strike="noStrike">
              <a:solidFill>
                <a:srgbClr val="000000"/>
              </a:solidFill>
              <a:latin typeface="Arial"/>
              <a:ea typeface="Arial"/>
              <a:cs typeface="Arial"/>
              <a:sym typeface="Arial"/>
            </a:endParaRPr>
          </a:p>
        </p:txBody>
      </p:sp>
      <p:sp>
        <p:nvSpPr>
          <p:cNvPr id="147" name="Google Shape;147;p11"/>
          <p:cNvSpPr txBox="1"/>
          <p:nvPr/>
        </p:nvSpPr>
        <p:spPr>
          <a:xfrm>
            <a:off x="7274218" y="993373"/>
            <a:ext cx="1288146" cy="215444"/>
          </a:xfrm>
          <a:prstGeom prst="rect">
            <a:avLst/>
          </a:prstGeom>
          <a:solidFill>
            <a:schemeClr val="lt1"/>
          </a:solid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t/>
            </a:r>
            <a:endParaRPr b="1" i="0" sz="1400" u="none" cap="none" strike="noStrike">
              <a:solidFill>
                <a:schemeClr val="lt1"/>
              </a:solidFill>
              <a:latin typeface="Calibri"/>
              <a:ea typeface="Calibri"/>
              <a:cs typeface="Calibri"/>
              <a:sym typeface="Calibri"/>
            </a:endParaRPr>
          </a:p>
        </p:txBody>
      </p:sp>
      <p:sp>
        <p:nvSpPr>
          <p:cNvPr id="148" name="Google Shape;148;p11"/>
          <p:cNvSpPr txBox="1"/>
          <p:nvPr/>
        </p:nvSpPr>
        <p:spPr>
          <a:xfrm>
            <a:off x="503237" y="4304509"/>
            <a:ext cx="1345440" cy="215444"/>
          </a:xfrm>
          <a:prstGeom prst="rect">
            <a:avLst/>
          </a:prstGeom>
          <a:solidFill>
            <a:schemeClr val="lt1"/>
          </a:solid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400"/>
              <a:buFont typeface="Arial"/>
              <a:buNone/>
            </a:pPr>
            <a:r>
              <a:t/>
            </a:r>
            <a:endParaRPr b="1" i="0" sz="1400" u="none" cap="none" strike="noStrike">
              <a:solidFill>
                <a:schemeClr val="lt1"/>
              </a:solidFill>
              <a:latin typeface="Calibri"/>
              <a:ea typeface="Calibri"/>
              <a:cs typeface="Calibri"/>
              <a:sym typeface="Calibri"/>
            </a:endParaRPr>
          </a:p>
        </p:txBody>
      </p:sp>
      <p:sp>
        <p:nvSpPr>
          <p:cNvPr id="149" name="Google Shape;149;p11"/>
          <p:cNvSpPr/>
          <p:nvPr/>
        </p:nvSpPr>
        <p:spPr>
          <a:xfrm>
            <a:off x="4277414" y="1255843"/>
            <a:ext cx="3813388" cy="437810"/>
          </a:xfrm>
          <a:prstGeom prst="roundRect">
            <a:avLst>
              <a:gd fmla="val 13224" name="adj"/>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rPr b="1" i="0" lang="es-PE" sz="1200" u="none" cap="none" strike="noStrike">
                <a:solidFill>
                  <a:srgbClr val="5C6170"/>
                </a:solidFill>
                <a:latin typeface="Calibri"/>
                <a:ea typeface="Calibri"/>
                <a:cs typeface="Calibri"/>
                <a:sym typeface="Calibri"/>
              </a:rPr>
              <a:t>CX: TODAS LAS INTERACCIONES CON TU MARCA</a:t>
            </a:r>
            <a:endParaRPr/>
          </a:p>
        </p:txBody>
      </p:sp>
      <p:sp>
        <p:nvSpPr>
          <p:cNvPr id="150" name="Google Shape;150;p11"/>
          <p:cNvSpPr/>
          <p:nvPr/>
        </p:nvSpPr>
        <p:spPr>
          <a:xfrm>
            <a:off x="1312207" y="1783936"/>
            <a:ext cx="3235080" cy="265270"/>
          </a:xfrm>
          <a:prstGeom prst="roundRect">
            <a:avLst>
              <a:gd fmla="val 13224" name="adj"/>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Arial"/>
              <a:buNone/>
            </a:pPr>
            <a:r>
              <a:rPr b="1" i="0" lang="es-PE" sz="1200" u="none" cap="none" strike="noStrike">
                <a:solidFill>
                  <a:srgbClr val="5C6170"/>
                </a:solidFill>
                <a:latin typeface="Calibri"/>
                <a:ea typeface="Calibri"/>
                <a:cs typeface="Calibri"/>
                <a:sym typeface="Calibri"/>
              </a:rPr>
              <a:t>UX: INTERACCIÓN CON TU APP, WEB </a:t>
            </a:r>
            <a:endParaRPr/>
          </a:p>
        </p:txBody>
      </p:sp>
      <p:sp>
        <p:nvSpPr>
          <p:cNvPr id="151" name="Google Shape;151;p11"/>
          <p:cNvSpPr/>
          <p:nvPr/>
        </p:nvSpPr>
        <p:spPr>
          <a:xfrm>
            <a:off x="1509089" y="2525469"/>
            <a:ext cx="1666067" cy="1350385"/>
          </a:xfrm>
          <a:prstGeom prst="roundRect">
            <a:avLst>
              <a:gd fmla="val 7187" name="adj"/>
            </a:avLst>
          </a:prstGeom>
          <a:solidFill>
            <a:srgbClr val="00B1C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1" i="0" lang="es-PE" sz="1400" u="none" cap="none" strike="noStrike">
                <a:solidFill>
                  <a:schemeClr val="lt1"/>
                </a:solidFill>
                <a:latin typeface="Calibri"/>
                <a:ea typeface="Calibri"/>
                <a:cs typeface="Calibri"/>
                <a:sym typeface="Calibri"/>
              </a:rPr>
              <a:t>User Interface (UI)</a:t>
            </a:r>
            <a:endParaRPr b="0" i="0" sz="1400" u="none" cap="none" strike="noStrike">
              <a:solidFill>
                <a:schemeClr val="lt1"/>
              </a:solidFill>
              <a:latin typeface="Arial"/>
              <a:ea typeface="Arial"/>
              <a:cs typeface="Arial"/>
              <a:sym typeface="Arial"/>
            </a:endParaRPr>
          </a:p>
          <a:p>
            <a:pPr indent="-171450" lvl="0" marL="171450" marR="0" rtl="0" algn="l">
              <a:lnSpc>
                <a:spcPct val="100000"/>
              </a:lnSpc>
              <a:spcBef>
                <a:spcPts val="0"/>
              </a:spcBef>
              <a:spcAft>
                <a:spcPts val="0"/>
              </a:spcAft>
              <a:buClr>
                <a:schemeClr val="lt1"/>
              </a:buClr>
              <a:buSzPts val="1200"/>
              <a:buFont typeface="Arial"/>
              <a:buChar char="•"/>
            </a:pPr>
            <a:r>
              <a:rPr b="0" i="0" lang="es-PE" sz="1400" u="none" cap="none" strike="noStrike">
                <a:solidFill>
                  <a:schemeClr val="lt1"/>
                </a:solidFill>
                <a:latin typeface="Calibri"/>
                <a:ea typeface="Calibri"/>
                <a:cs typeface="Calibri"/>
                <a:sym typeface="Calibri"/>
              </a:rPr>
              <a:t>Efectividad</a:t>
            </a:r>
            <a:endParaRPr b="0" i="0" sz="1400" u="none" cap="none" strike="noStrike">
              <a:solidFill>
                <a:schemeClr val="lt1"/>
              </a:solidFill>
              <a:latin typeface="Arial"/>
              <a:ea typeface="Arial"/>
              <a:cs typeface="Arial"/>
              <a:sym typeface="Arial"/>
            </a:endParaRPr>
          </a:p>
          <a:p>
            <a:pPr indent="-171450" lvl="0" marL="171450" marR="0" rtl="0" algn="l">
              <a:lnSpc>
                <a:spcPct val="100000"/>
              </a:lnSpc>
              <a:spcBef>
                <a:spcPts val="0"/>
              </a:spcBef>
              <a:spcAft>
                <a:spcPts val="0"/>
              </a:spcAft>
              <a:buClr>
                <a:schemeClr val="lt1"/>
              </a:buClr>
              <a:buSzPts val="1200"/>
              <a:buFont typeface="Arial"/>
              <a:buChar char="•"/>
            </a:pPr>
            <a:r>
              <a:rPr b="0" i="0" lang="es-PE" sz="1400" u="none" cap="none" strike="noStrike">
                <a:solidFill>
                  <a:schemeClr val="lt1"/>
                </a:solidFill>
                <a:latin typeface="Calibri"/>
                <a:ea typeface="Calibri"/>
                <a:cs typeface="Calibri"/>
                <a:sym typeface="Calibri"/>
              </a:rPr>
              <a:t>Eficiencia</a:t>
            </a:r>
            <a:endParaRPr/>
          </a:p>
        </p:txBody>
      </p:sp>
      <p:sp>
        <p:nvSpPr>
          <p:cNvPr id="152" name="Google Shape;152;p11"/>
          <p:cNvSpPr txBox="1"/>
          <p:nvPr/>
        </p:nvSpPr>
        <p:spPr>
          <a:xfrm>
            <a:off x="3327077" y="2593966"/>
            <a:ext cx="2273642" cy="120028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1" i="0" lang="es-PE" sz="1200" u="none" cap="none" strike="noStrike">
                <a:solidFill>
                  <a:schemeClr val="dk1"/>
                </a:solidFill>
                <a:latin typeface="Calibri"/>
                <a:ea typeface="Calibri"/>
                <a:cs typeface="Calibri"/>
                <a:sym typeface="Calibri"/>
              </a:rPr>
              <a:t>User Experience (UX)</a:t>
            </a:r>
            <a:endParaRPr b="0" i="0" sz="1400" u="none" cap="none" strike="noStrike">
              <a:solidFill>
                <a:srgbClr val="000000"/>
              </a:solidFill>
              <a:latin typeface="Arial"/>
              <a:ea typeface="Arial"/>
              <a:cs typeface="Arial"/>
              <a:sym typeface="Arial"/>
            </a:endParaRPr>
          </a:p>
          <a:p>
            <a:pPr indent="-138113" lvl="0" marL="138113" marR="0" rtl="0" algn="l">
              <a:lnSpc>
                <a:spcPct val="100000"/>
              </a:lnSpc>
              <a:spcBef>
                <a:spcPts val="0"/>
              </a:spcBef>
              <a:spcAft>
                <a:spcPts val="0"/>
              </a:spcAft>
              <a:buClr>
                <a:schemeClr val="dk1"/>
              </a:buClr>
              <a:buSzPts val="1200"/>
              <a:buFont typeface="Arial"/>
              <a:buChar char="•"/>
            </a:pPr>
            <a:r>
              <a:rPr b="0" i="0" lang="es-PE" sz="1200" u="none" cap="none" strike="noStrike">
                <a:solidFill>
                  <a:schemeClr val="dk1"/>
                </a:solidFill>
                <a:latin typeface="Calibri"/>
                <a:ea typeface="Calibri"/>
                <a:cs typeface="Calibri"/>
                <a:sym typeface="Calibri"/>
              </a:rPr>
              <a:t>Accesibilidad</a:t>
            </a:r>
            <a:endParaRPr b="0" i="0" sz="1400" u="none" cap="none" strike="noStrike">
              <a:solidFill>
                <a:srgbClr val="000000"/>
              </a:solidFill>
              <a:latin typeface="Arial"/>
              <a:ea typeface="Arial"/>
              <a:cs typeface="Arial"/>
              <a:sym typeface="Arial"/>
            </a:endParaRPr>
          </a:p>
          <a:p>
            <a:pPr indent="-138113" lvl="0" marL="138113" marR="0" rtl="0" algn="l">
              <a:lnSpc>
                <a:spcPct val="100000"/>
              </a:lnSpc>
              <a:spcBef>
                <a:spcPts val="0"/>
              </a:spcBef>
              <a:spcAft>
                <a:spcPts val="0"/>
              </a:spcAft>
              <a:buClr>
                <a:schemeClr val="dk1"/>
              </a:buClr>
              <a:buSzPts val="1200"/>
              <a:buFont typeface="Arial"/>
              <a:buChar char="•"/>
            </a:pPr>
            <a:r>
              <a:rPr b="0" i="0" lang="es-PE" sz="1200" u="none" cap="none" strike="noStrike">
                <a:solidFill>
                  <a:schemeClr val="dk1"/>
                </a:solidFill>
                <a:latin typeface="Calibri"/>
                <a:ea typeface="Calibri"/>
                <a:cs typeface="Calibri"/>
                <a:sym typeface="Calibri"/>
              </a:rPr>
              <a:t>Credibilidad</a:t>
            </a:r>
            <a:endParaRPr b="0" i="0" sz="1400" u="none" cap="none" strike="noStrike">
              <a:solidFill>
                <a:srgbClr val="000000"/>
              </a:solidFill>
              <a:latin typeface="Arial"/>
              <a:ea typeface="Arial"/>
              <a:cs typeface="Arial"/>
              <a:sym typeface="Arial"/>
            </a:endParaRPr>
          </a:p>
          <a:p>
            <a:pPr indent="-138113" lvl="0" marL="138113" marR="0" rtl="0" algn="l">
              <a:lnSpc>
                <a:spcPct val="100000"/>
              </a:lnSpc>
              <a:spcBef>
                <a:spcPts val="0"/>
              </a:spcBef>
              <a:spcAft>
                <a:spcPts val="0"/>
              </a:spcAft>
              <a:buClr>
                <a:schemeClr val="dk1"/>
              </a:buClr>
              <a:buSzPts val="1200"/>
              <a:buFont typeface="Arial"/>
              <a:buChar char="•"/>
            </a:pPr>
            <a:r>
              <a:rPr b="0" i="0" lang="es-PE" sz="1200" u="none" cap="none" strike="noStrike">
                <a:solidFill>
                  <a:schemeClr val="dk1"/>
                </a:solidFill>
                <a:latin typeface="Calibri"/>
                <a:ea typeface="Calibri"/>
                <a:cs typeface="Calibri"/>
                <a:sym typeface="Calibri"/>
              </a:rPr>
              <a:t>Valor</a:t>
            </a:r>
            <a:endParaRPr b="0" i="0" sz="1400" u="none" cap="none" strike="noStrike">
              <a:solidFill>
                <a:srgbClr val="000000"/>
              </a:solidFill>
              <a:latin typeface="Arial"/>
              <a:ea typeface="Arial"/>
              <a:cs typeface="Arial"/>
              <a:sym typeface="Arial"/>
            </a:endParaRPr>
          </a:p>
          <a:p>
            <a:pPr indent="-138113" lvl="0" marL="138113" marR="0" rtl="0" algn="l">
              <a:lnSpc>
                <a:spcPct val="100000"/>
              </a:lnSpc>
              <a:spcBef>
                <a:spcPts val="0"/>
              </a:spcBef>
              <a:spcAft>
                <a:spcPts val="0"/>
              </a:spcAft>
              <a:buClr>
                <a:schemeClr val="dk1"/>
              </a:buClr>
              <a:buSzPts val="1200"/>
              <a:buFont typeface="Arial"/>
              <a:buChar char="•"/>
            </a:pPr>
            <a:r>
              <a:rPr b="0" i="0" lang="es-PE" sz="1200" u="none" cap="none" strike="noStrike">
                <a:solidFill>
                  <a:schemeClr val="dk1"/>
                </a:solidFill>
                <a:latin typeface="Calibri"/>
                <a:ea typeface="Calibri"/>
                <a:cs typeface="Calibri"/>
                <a:sym typeface="Calibri"/>
              </a:rPr>
              <a:t>Investigación con usuarios</a:t>
            </a:r>
            <a:endParaRPr b="0" i="0" sz="1400" u="none" cap="none" strike="noStrike">
              <a:solidFill>
                <a:srgbClr val="000000"/>
              </a:solidFill>
              <a:latin typeface="Arial"/>
              <a:ea typeface="Arial"/>
              <a:cs typeface="Arial"/>
              <a:sym typeface="Arial"/>
            </a:endParaRPr>
          </a:p>
          <a:p>
            <a:pPr indent="-138113" lvl="0" marL="138113" marR="0" rtl="0" algn="l">
              <a:lnSpc>
                <a:spcPct val="100000"/>
              </a:lnSpc>
              <a:spcBef>
                <a:spcPts val="0"/>
              </a:spcBef>
              <a:spcAft>
                <a:spcPts val="0"/>
              </a:spcAft>
              <a:buClr>
                <a:schemeClr val="dk1"/>
              </a:buClr>
              <a:buSzPts val="1200"/>
              <a:buFont typeface="Arial"/>
              <a:buChar char="•"/>
            </a:pPr>
            <a:r>
              <a:rPr b="0" i="0" lang="es-PE" sz="1200" u="none" cap="none" strike="noStrike">
                <a:solidFill>
                  <a:schemeClr val="dk1"/>
                </a:solidFill>
                <a:latin typeface="Calibri"/>
                <a:ea typeface="Calibri"/>
                <a:cs typeface="Calibri"/>
                <a:sym typeface="Calibri"/>
              </a:rPr>
              <a:t>Arquitectura de información</a:t>
            </a:r>
            <a:endParaRPr b="0" i="0" sz="1400" u="none" cap="none" strike="noStrike">
              <a:solidFill>
                <a:srgbClr val="000000"/>
              </a:solidFill>
              <a:latin typeface="Arial"/>
              <a:ea typeface="Arial"/>
              <a:cs typeface="Arial"/>
              <a:sym typeface="Arial"/>
            </a:endParaRPr>
          </a:p>
        </p:txBody>
      </p:sp>
      <p:sp>
        <p:nvSpPr>
          <p:cNvPr id="153" name="Google Shape;153;p11"/>
          <p:cNvSpPr txBox="1"/>
          <p:nvPr/>
        </p:nvSpPr>
        <p:spPr>
          <a:xfrm>
            <a:off x="5644551" y="2612887"/>
            <a:ext cx="2273643" cy="120028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1" i="0" lang="es-PE" sz="1200" u="none" cap="none" strike="noStrike">
                <a:solidFill>
                  <a:schemeClr val="dk1"/>
                </a:solidFill>
                <a:latin typeface="Calibri"/>
                <a:ea typeface="Calibri"/>
                <a:cs typeface="Calibri"/>
                <a:sym typeface="Calibri"/>
              </a:rPr>
              <a:t>Customer Experience (CX)</a:t>
            </a:r>
            <a:endParaRPr b="0" i="0" sz="1400" u="none" cap="none" strike="noStrike">
              <a:solidFill>
                <a:srgbClr val="000000"/>
              </a:solidFill>
              <a:latin typeface="Arial"/>
              <a:ea typeface="Arial"/>
              <a:cs typeface="Arial"/>
              <a:sym typeface="Arial"/>
            </a:endParaRPr>
          </a:p>
          <a:p>
            <a:pPr indent="-138113" lvl="0" marL="138113" marR="0" rtl="0" algn="l">
              <a:lnSpc>
                <a:spcPct val="100000"/>
              </a:lnSpc>
              <a:spcBef>
                <a:spcPts val="0"/>
              </a:spcBef>
              <a:spcAft>
                <a:spcPts val="0"/>
              </a:spcAft>
              <a:buClr>
                <a:schemeClr val="dk1"/>
              </a:buClr>
              <a:buSzPts val="1200"/>
              <a:buFont typeface="Arial"/>
              <a:buChar char="•"/>
            </a:pPr>
            <a:r>
              <a:rPr b="0" i="0" lang="es-PE" sz="1200" u="none" cap="none" strike="noStrike">
                <a:solidFill>
                  <a:schemeClr val="dk1"/>
                </a:solidFill>
                <a:latin typeface="Calibri"/>
                <a:ea typeface="Calibri"/>
                <a:cs typeface="Calibri"/>
                <a:sym typeface="Calibri"/>
              </a:rPr>
              <a:t>Servicio al cliente</a:t>
            </a:r>
            <a:endParaRPr b="0" i="0" sz="1400" u="none" cap="none" strike="noStrike">
              <a:solidFill>
                <a:srgbClr val="000000"/>
              </a:solidFill>
              <a:latin typeface="Arial"/>
              <a:ea typeface="Arial"/>
              <a:cs typeface="Arial"/>
              <a:sym typeface="Arial"/>
            </a:endParaRPr>
          </a:p>
          <a:p>
            <a:pPr indent="-138113" lvl="0" marL="138113" marR="0" rtl="0" algn="l">
              <a:lnSpc>
                <a:spcPct val="100000"/>
              </a:lnSpc>
              <a:spcBef>
                <a:spcPts val="0"/>
              </a:spcBef>
              <a:spcAft>
                <a:spcPts val="0"/>
              </a:spcAft>
              <a:buClr>
                <a:schemeClr val="dk1"/>
              </a:buClr>
              <a:buSzPts val="1200"/>
              <a:buFont typeface="Arial"/>
              <a:buChar char="•"/>
            </a:pPr>
            <a:r>
              <a:rPr b="0" i="0" lang="es-PE" sz="1200" u="none" cap="none" strike="noStrike">
                <a:solidFill>
                  <a:schemeClr val="dk1"/>
                </a:solidFill>
                <a:latin typeface="Calibri"/>
                <a:ea typeface="Calibri"/>
                <a:cs typeface="Calibri"/>
                <a:sym typeface="Calibri"/>
              </a:rPr>
              <a:t>Valores de la empresa</a:t>
            </a:r>
            <a:endParaRPr b="0" i="0" sz="1400" u="none" cap="none" strike="noStrike">
              <a:solidFill>
                <a:srgbClr val="000000"/>
              </a:solidFill>
              <a:latin typeface="Arial"/>
              <a:ea typeface="Arial"/>
              <a:cs typeface="Arial"/>
              <a:sym typeface="Arial"/>
            </a:endParaRPr>
          </a:p>
          <a:p>
            <a:pPr indent="-138113" lvl="0" marL="138113" marR="0" rtl="0" algn="l">
              <a:lnSpc>
                <a:spcPct val="100000"/>
              </a:lnSpc>
              <a:spcBef>
                <a:spcPts val="0"/>
              </a:spcBef>
              <a:spcAft>
                <a:spcPts val="0"/>
              </a:spcAft>
              <a:buClr>
                <a:schemeClr val="dk1"/>
              </a:buClr>
              <a:buSzPts val="1200"/>
              <a:buFont typeface="Arial"/>
              <a:buChar char="•"/>
            </a:pPr>
            <a:r>
              <a:rPr b="0" i="0" lang="es-PE" sz="1200" u="none" cap="none" strike="noStrike">
                <a:solidFill>
                  <a:schemeClr val="dk1"/>
                </a:solidFill>
                <a:latin typeface="Calibri"/>
                <a:ea typeface="Calibri"/>
                <a:cs typeface="Calibri"/>
                <a:sym typeface="Calibri"/>
              </a:rPr>
              <a:t>Entrega del producto</a:t>
            </a:r>
            <a:endParaRPr b="0" i="0" sz="1400" u="none" cap="none" strike="noStrike">
              <a:solidFill>
                <a:srgbClr val="000000"/>
              </a:solidFill>
              <a:latin typeface="Arial"/>
              <a:ea typeface="Arial"/>
              <a:cs typeface="Arial"/>
              <a:sym typeface="Arial"/>
            </a:endParaRPr>
          </a:p>
          <a:p>
            <a:pPr indent="-138113" lvl="0" marL="138113" marR="0" rtl="0" algn="l">
              <a:lnSpc>
                <a:spcPct val="100000"/>
              </a:lnSpc>
              <a:spcBef>
                <a:spcPts val="0"/>
              </a:spcBef>
              <a:spcAft>
                <a:spcPts val="0"/>
              </a:spcAft>
              <a:buClr>
                <a:schemeClr val="dk1"/>
              </a:buClr>
              <a:buSzPts val="1200"/>
              <a:buFont typeface="Arial"/>
              <a:buChar char="•"/>
            </a:pPr>
            <a:r>
              <a:rPr b="0" i="0" lang="es-PE" sz="1200" u="none" cap="none" strike="noStrike">
                <a:solidFill>
                  <a:schemeClr val="dk1"/>
                </a:solidFill>
                <a:latin typeface="Calibri"/>
                <a:ea typeface="Calibri"/>
                <a:cs typeface="Calibri"/>
                <a:sym typeface="Calibri"/>
              </a:rPr>
              <a:t>Reputación y tono de la marca</a:t>
            </a:r>
            <a:endParaRPr b="0" i="0" sz="1400" u="none" cap="none" strike="noStrike">
              <a:solidFill>
                <a:srgbClr val="000000"/>
              </a:solidFill>
              <a:latin typeface="Arial"/>
              <a:ea typeface="Arial"/>
              <a:cs typeface="Arial"/>
              <a:sym typeface="Arial"/>
            </a:endParaRPr>
          </a:p>
          <a:p>
            <a:pPr indent="-138113" lvl="0" marL="138113" marR="0" rtl="0" algn="l">
              <a:lnSpc>
                <a:spcPct val="100000"/>
              </a:lnSpc>
              <a:spcBef>
                <a:spcPts val="0"/>
              </a:spcBef>
              <a:spcAft>
                <a:spcPts val="0"/>
              </a:spcAft>
              <a:buClr>
                <a:schemeClr val="dk1"/>
              </a:buClr>
              <a:buSzPts val="1200"/>
              <a:buFont typeface="Arial"/>
              <a:buChar char="•"/>
            </a:pPr>
            <a:r>
              <a:rPr b="0" i="0" lang="es-PE" sz="1200" u="none" cap="none" strike="noStrike">
                <a:solidFill>
                  <a:schemeClr val="dk1"/>
                </a:solidFill>
                <a:latin typeface="Calibri"/>
                <a:ea typeface="Calibri"/>
                <a:cs typeface="Calibri"/>
                <a:sym typeface="Calibri"/>
              </a:rPr>
              <a:t>Publicidad, marketing y ventas.</a:t>
            </a:r>
            <a:endParaRPr b="0" i="0" sz="1400" u="none" cap="none" strike="noStrike">
              <a:solidFill>
                <a:srgbClr val="000000"/>
              </a:solidFill>
              <a:latin typeface="Arial"/>
              <a:ea typeface="Arial"/>
              <a:cs typeface="Arial"/>
              <a:sym typeface="Arial"/>
            </a:endParaRPr>
          </a:p>
        </p:txBody>
      </p:sp>
      <p:sp>
        <p:nvSpPr>
          <p:cNvPr id="154" name="Google Shape;154;p11"/>
          <p:cNvSpPr/>
          <p:nvPr/>
        </p:nvSpPr>
        <p:spPr>
          <a:xfrm>
            <a:off x="1054444" y="1661562"/>
            <a:ext cx="7036358" cy="2924176"/>
          </a:xfrm>
          <a:prstGeom prst="roundRect">
            <a:avLst>
              <a:gd fmla="val 7187" name="adj"/>
            </a:avLst>
          </a:prstGeom>
          <a:noFill/>
          <a:ln cap="flat" cmpd="sng" w="25400">
            <a:solidFill>
              <a:srgbClr val="00B1C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12"/>
          <p:cNvSpPr txBox="1"/>
          <p:nvPr/>
        </p:nvSpPr>
        <p:spPr>
          <a:xfrm>
            <a:off x="511342" y="930224"/>
            <a:ext cx="2825207" cy="4016484"/>
          </a:xfrm>
          <a:prstGeom prst="rect">
            <a:avLst/>
          </a:prstGeom>
          <a:noFill/>
          <a:ln>
            <a:noFill/>
          </a:ln>
        </p:spPr>
        <p:txBody>
          <a:bodyPr anchorCtr="0" anchor="t" bIns="0" lIns="0" spcFirstLastPara="1" rIns="0" wrap="square" tIns="0">
            <a:spAutoFit/>
          </a:bodyPr>
          <a:lstStyle/>
          <a:p>
            <a:pPr indent="0" lvl="0" marL="11725" marR="0" rtl="0" algn="l">
              <a:lnSpc>
                <a:spcPct val="100000"/>
              </a:lnSpc>
              <a:spcBef>
                <a:spcPts val="0"/>
              </a:spcBef>
              <a:spcAft>
                <a:spcPts val="0"/>
              </a:spcAft>
              <a:buClr>
                <a:srgbClr val="000000"/>
              </a:buClr>
              <a:buSzPts val="1600"/>
              <a:buFont typeface="Arial"/>
              <a:buNone/>
            </a:pPr>
            <a:r>
              <a:rPr b="1" i="0" lang="es-PE" sz="1600" u="none" cap="none" strike="noStrike">
                <a:solidFill>
                  <a:srgbClr val="262626"/>
                </a:solidFill>
                <a:latin typeface="Calibri"/>
                <a:ea typeface="Calibri"/>
                <a:cs typeface="Calibri"/>
                <a:sym typeface="Calibri"/>
              </a:rPr>
              <a:t>Pivot o “Pivotear”</a:t>
            </a:r>
            <a:endParaRPr b="0" i="0" sz="1400" u="none" cap="none" strike="noStrike">
              <a:solidFill>
                <a:srgbClr val="000000"/>
              </a:solidFill>
              <a:latin typeface="Arial"/>
              <a:ea typeface="Arial"/>
              <a:cs typeface="Arial"/>
              <a:sym typeface="Arial"/>
            </a:endParaRPr>
          </a:p>
          <a:p>
            <a:pPr indent="-168275" lvl="0" marL="179388" marR="0" rtl="0" algn="l">
              <a:lnSpc>
                <a:spcPct val="100000"/>
              </a:lnSpc>
              <a:spcBef>
                <a:spcPts val="600"/>
              </a:spcBef>
              <a:spcAft>
                <a:spcPts val="0"/>
              </a:spcAft>
              <a:buClr>
                <a:srgbClr val="000000"/>
              </a:buClr>
              <a:buSzPts val="1500"/>
              <a:buFont typeface="Arial"/>
              <a:buChar char="•"/>
            </a:pPr>
            <a:r>
              <a:rPr b="0" i="0" lang="es-PE" sz="1500" u="none" cap="none" strike="noStrike">
                <a:solidFill>
                  <a:srgbClr val="262626"/>
                </a:solidFill>
                <a:latin typeface="Calibri"/>
                <a:ea typeface="Calibri"/>
                <a:cs typeface="Calibri"/>
                <a:sym typeface="Calibri"/>
              </a:rPr>
              <a:t>Cambiar fundamentalmente la estrategia o el enfoque de un negocio en respuesta a la retroalimentación del mercado, los cambios en las condiciones del mercado, o para explorar nuevas oportunidades. Esto puede implicar modificar el producto </a:t>
            </a:r>
            <a:br>
              <a:rPr b="0" i="0" lang="es-PE" sz="1500" u="none" cap="none" strike="noStrike">
                <a:solidFill>
                  <a:srgbClr val="262626"/>
                </a:solidFill>
                <a:latin typeface="Calibri"/>
                <a:ea typeface="Calibri"/>
                <a:cs typeface="Calibri"/>
                <a:sym typeface="Calibri"/>
              </a:rPr>
            </a:br>
            <a:r>
              <a:rPr b="0" i="0" lang="es-PE" sz="1500" u="none" cap="none" strike="noStrike">
                <a:solidFill>
                  <a:srgbClr val="262626"/>
                </a:solidFill>
                <a:latin typeface="Calibri"/>
                <a:ea typeface="Calibri"/>
                <a:cs typeface="Calibri"/>
                <a:sym typeface="Calibri"/>
              </a:rPr>
              <a:t>o servicio ofrecido, el público objetivo, el modelo de negocio, </a:t>
            </a:r>
            <a:br>
              <a:rPr b="0" i="0" lang="es-PE" sz="1500" u="none" cap="none" strike="noStrike">
                <a:solidFill>
                  <a:srgbClr val="262626"/>
                </a:solidFill>
                <a:latin typeface="Calibri"/>
                <a:ea typeface="Calibri"/>
                <a:cs typeface="Calibri"/>
                <a:sym typeface="Calibri"/>
              </a:rPr>
            </a:br>
            <a:r>
              <a:rPr b="0" i="0" lang="es-PE" sz="1500" u="none" cap="none" strike="noStrike">
                <a:solidFill>
                  <a:srgbClr val="262626"/>
                </a:solidFill>
                <a:latin typeface="Calibri"/>
                <a:ea typeface="Calibri"/>
                <a:cs typeface="Calibri"/>
                <a:sym typeface="Calibri"/>
              </a:rPr>
              <a:t>o cualquier otro aspecto clave de la empresa.</a:t>
            </a:r>
            <a:endParaRPr b="0" i="0" sz="1500" u="none" cap="none" strike="noStrike">
              <a:solidFill>
                <a:srgbClr val="262626"/>
              </a:solidFill>
              <a:latin typeface="Calibri"/>
              <a:ea typeface="Calibri"/>
              <a:cs typeface="Calibri"/>
              <a:sym typeface="Calibri"/>
            </a:endParaRPr>
          </a:p>
          <a:p>
            <a:pPr indent="-73025" lvl="0" marL="179388" marR="0" rtl="0" algn="l">
              <a:lnSpc>
                <a:spcPct val="100000"/>
              </a:lnSpc>
              <a:spcBef>
                <a:spcPts val="0"/>
              </a:spcBef>
              <a:spcAft>
                <a:spcPts val="0"/>
              </a:spcAft>
              <a:buClr>
                <a:srgbClr val="000000"/>
              </a:buClr>
              <a:buSzPts val="1500"/>
              <a:buFont typeface="Arial"/>
              <a:buNone/>
            </a:pPr>
            <a:r>
              <a:t/>
            </a:r>
            <a:endParaRPr b="0" i="0" sz="1500" u="none" cap="none" strike="noStrike">
              <a:solidFill>
                <a:srgbClr val="262626"/>
              </a:solidFill>
              <a:latin typeface="Calibri"/>
              <a:ea typeface="Calibri"/>
              <a:cs typeface="Calibri"/>
              <a:sym typeface="Calibri"/>
            </a:endParaRPr>
          </a:p>
          <a:p>
            <a:pPr indent="-168275" lvl="0" marL="179388" marR="0" rtl="0" algn="l">
              <a:lnSpc>
                <a:spcPct val="100000"/>
              </a:lnSpc>
              <a:spcBef>
                <a:spcPts val="0"/>
              </a:spcBef>
              <a:spcAft>
                <a:spcPts val="0"/>
              </a:spcAft>
              <a:buClr>
                <a:srgbClr val="000000"/>
              </a:buClr>
              <a:buSzPts val="1500"/>
              <a:buFont typeface="Arial"/>
              <a:buChar char="•"/>
            </a:pPr>
            <a:r>
              <a:rPr b="0" i="0" lang="es-PE" sz="1500" u="none" cap="none" strike="noStrike">
                <a:solidFill>
                  <a:srgbClr val="262626"/>
                </a:solidFill>
                <a:latin typeface="Calibri"/>
                <a:ea typeface="Calibri"/>
                <a:cs typeface="Calibri"/>
                <a:sym typeface="Calibri"/>
              </a:rPr>
              <a:t>Es comúnmente </a:t>
            </a:r>
            <a:r>
              <a:rPr b="0" i="0" lang="es-PE" sz="1500" u="none" cap="none" strike="noStrike">
                <a:solidFill>
                  <a:srgbClr val="00B1C3"/>
                </a:solidFill>
                <a:latin typeface="Calibri"/>
                <a:ea typeface="Calibri"/>
                <a:cs typeface="Calibri"/>
                <a:sym typeface="Calibri"/>
              </a:rPr>
              <a:t>utilizada por </a:t>
            </a:r>
            <a:r>
              <a:rPr b="1" i="0" lang="es-PE" sz="1500" u="none" cap="none" strike="noStrike">
                <a:solidFill>
                  <a:srgbClr val="00B1C3"/>
                </a:solidFill>
                <a:latin typeface="Calibri"/>
                <a:ea typeface="Calibri"/>
                <a:cs typeface="Calibri"/>
                <a:sym typeface="Calibri"/>
              </a:rPr>
              <a:t>startups y empresas emergentes </a:t>
            </a:r>
            <a:r>
              <a:rPr b="0" i="0" lang="es-PE" sz="1500" u="none" cap="none" strike="noStrike">
                <a:solidFill>
                  <a:srgbClr val="262626"/>
                </a:solidFill>
                <a:latin typeface="Calibri"/>
                <a:ea typeface="Calibri"/>
                <a:cs typeface="Calibri"/>
                <a:sym typeface="Calibri"/>
              </a:rPr>
              <a:t>en fases tempranas de desarrollo.</a:t>
            </a:r>
            <a:endParaRPr b="0" i="0" sz="1500" u="none" cap="none" strike="noStrike">
              <a:solidFill>
                <a:srgbClr val="262626"/>
              </a:solidFill>
              <a:latin typeface="Calibri"/>
              <a:ea typeface="Calibri"/>
              <a:cs typeface="Calibri"/>
              <a:sym typeface="Calibri"/>
            </a:endParaRPr>
          </a:p>
        </p:txBody>
      </p:sp>
      <p:sp>
        <p:nvSpPr>
          <p:cNvPr id="161" name="Google Shape;161;p12"/>
          <p:cNvSpPr/>
          <p:nvPr/>
        </p:nvSpPr>
        <p:spPr>
          <a:xfrm>
            <a:off x="503237" y="376836"/>
            <a:ext cx="5552610" cy="138499"/>
          </a:xfrm>
          <a:prstGeom prst="rect">
            <a:avLst/>
          </a:prstGeom>
          <a:noFill/>
          <a:ln>
            <a:noFill/>
          </a:ln>
        </p:spPr>
        <p:txBody>
          <a:bodyPr anchorCtr="0" anchor="b" bIns="0" lIns="0" spcFirstLastPara="1" rIns="0" wrap="square" tIns="0">
            <a:spAutoFit/>
          </a:bodyPr>
          <a:lstStyle/>
          <a:p>
            <a:pPr indent="0" lvl="0" marL="0" marR="0" rtl="0" algn="l">
              <a:lnSpc>
                <a:spcPct val="90000"/>
              </a:lnSpc>
              <a:spcBef>
                <a:spcPts val="0"/>
              </a:spcBef>
              <a:spcAft>
                <a:spcPts val="0"/>
              </a:spcAft>
              <a:buClr>
                <a:srgbClr val="000000"/>
              </a:buClr>
              <a:buSzPts val="1000"/>
              <a:buFont typeface="Arial"/>
              <a:buNone/>
            </a:pPr>
            <a:r>
              <a:rPr b="1" i="0" lang="es-PE" sz="1000" u="none" cap="none" strike="noStrike">
                <a:solidFill>
                  <a:srgbClr val="7F7F7F"/>
                </a:solidFill>
                <a:latin typeface="Calibri"/>
                <a:ea typeface="Calibri"/>
                <a:cs typeface="Calibri"/>
                <a:sym typeface="Calibri"/>
              </a:rPr>
              <a:t>+ </a:t>
            </a:r>
            <a:r>
              <a:rPr b="0" i="0" lang="es-PE" sz="1000" u="none" cap="none" strike="noStrike">
                <a:solidFill>
                  <a:srgbClr val="A5A5A5"/>
                </a:solidFill>
                <a:latin typeface="Calibri"/>
                <a:ea typeface="Calibri"/>
                <a:cs typeface="Calibri"/>
                <a:sym typeface="Calibri"/>
              </a:rPr>
              <a:t>FUNDAMENTOS Y CONCEPTOS DEL CUSTOMER CENTRICITY: CONCEPTOS CLAVE A ABORDAR</a:t>
            </a:r>
            <a:endParaRPr b="0" i="0" sz="1400" u="none" cap="none" strike="noStrike">
              <a:solidFill>
                <a:srgbClr val="000000"/>
              </a:solidFill>
              <a:latin typeface="Arial"/>
              <a:ea typeface="Arial"/>
              <a:cs typeface="Arial"/>
              <a:sym typeface="Arial"/>
            </a:endParaRPr>
          </a:p>
        </p:txBody>
      </p:sp>
      <p:sp>
        <p:nvSpPr>
          <p:cNvPr id="162" name="Google Shape;162;p12"/>
          <p:cNvSpPr/>
          <p:nvPr/>
        </p:nvSpPr>
        <p:spPr>
          <a:xfrm>
            <a:off x="3793917" y="862197"/>
            <a:ext cx="4881771" cy="4303765"/>
          </a:xfrm>
          <a:prstGeom prst="rect">
            <a:avLst/>
          </a:prstGeom>
          <a:solidFill>
            <a:srgbClr val="D9DBE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63" name="Google Shape;163;p12"/>
          <p:cNvSpPr/>
          <p:nvPr/>
        </p:nvSpPr>
        <p:spPr>
          <a:xfrm>
            <a:off x="5045818" y="1873627"/>
            <a:ext cx="2371332" cy="2415655"/>
          </a:xfrm>
          <a:prstGeom prst="ellipse">
            <a:avLst/>
          </a:prstGeom>
          <a:noFill/>
          <a:ln cap="flat" cmpd="sng" w="28575">
            <a:solidFill>
              <a:srgbClr val="808799">
                <a:alpha val="80000"/>
              </a:srgbClr>
            </a:solidFill>
            <a:prstDash val="dot"/>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64" name="Google Shape;164;p12"/>
          <p:cNvSpPr/>
          <p:nvPr/>
        </p:nvSpPr>
        <p:spPr>
          <a:xfrm>
            <a:off x="3909986" y="3108934"/>
            <a:ext cx="1915411" cy="722579"/>
          </a:xfrm>
          <a:prstGeom prst="roundRect">
            <a:avLst>
              <a:gd fmla="val 47824" name="adj"/>
            </a:avLst>
          </a:prstGeom>
          <a:solidFill>
            <a:schemeClr val="lt1"/>
          </a:solidFill>
          <a:ln cap="flat" cmpd="sng" w="19050">
            <a:solidFill>
              <a:srgbClr val="8EC540"/>
            </a:solidFill>
            <a:prstDash val="solid"/>
            <a:round/>
            <a:headEnd len="sm" w="sm" type="none"/>
            <a:tailEnd len="sm" w="sm" type="none"/>
          </a:ln>
        </p:spPr>
        <p:txBody>
          <a:bodyPr anchorCtr="0" anchor="ctr" bIns="0" lIns="540000" spcFirstLastPara="1" rIns="0" wrap="square" tIns="0">
            <a:noAutofit/>
          </a:bodyPr>
          <a:lstStyle/>
          <a:p>
            <a:pPr indent="0" lvl="0" marL="0" marR="0" rtl="0" algn="ctr">
              <a:lnSpc>
                <a:spcPct val="106666"/>
              </a:lnSpc>
              <a:spcBef>
                <a:spcPts val="0"/>
              </a:spcBef>
              <a:spcAft>
                <a:spcPts val="0"/>
              </a:spcAft>
              <a:buClr>
                <a:srgbClr val="000000"/>
              </a:buClr>
              <a:buSzPts val="1500"/>
              <a:buFont typeface="Arial"/>
              <a:buNone/>
            </a:pPr>
            <a:r>
              <a:rPr b="1" i="0" lang="es-PE" sz="1500" u="none" cap="none" strike="noStrike">
                <a:solidFill>
                  <a:srgbClr val="8EC540"/>
                </a:solidFill>
                <a:latin typeface="Calibri"/>
                <a:ea typeface="Calibri"/>
                <a:cs typeface="Calibri"/>
                <a:sym typeface="Calibri"/>
              </a:rPr>
              <a:t>Aprender</a:t>
            </a:r>
            <a:br>
              <a:rPr b="1" i="0" lang="es-PE" sz="1400" u="none" cap="none" strike="noStrike">
                <a:solidFill>
                  <a:srgbClr val="8EC540"/>
                </a:solidFill>
                <a:latin typeface="Calibri"/>
                <a:ea typeface="Calibri"/>
                <a:cs typeface="Calibri"/>
                <a:sym typeface="Calibri"/>
              </a:rPr>
            </a:br>
            <a:r>
              <a:rPr b="0" i="0" lang="es-PE" sz="1400" u="none" cap="none" strike="noStrike">
                <a:solidFill>
                  <a:srgbClr val="8EC540"/>
                </a:solidFill>
                <a:latin typeface="Calibri"/>
                <a:ea typeface="Calibri"/>
                <a:cs typeface="Calibri"/>
                <a:sym typeface="Calibri"/>
              </a:rPr>
              <a:t>¿Pivoteo o continúo?</a:t>
            </a:r>
            <a:endParaRPr b="0" i="0" sz="1400" u="none" cap="none" strike="noStrike">
              <a:solidFill>
                <a:srgbClr val="8EC540"/>
              </a:solidFill>
              <a:latin typeface="Calibri"/>
              <a:ea typeface="Calibri"/>
              <a:cs typeface="Calibri"/>
              <a:sym typeface="Calibri"/>
            </a:endParaRPr>
          </a:p>
        </p:txBody>
      </p:sp>
      <p:sp>
        <p:nvSpPr>
          <p:cNvPr id="165" name="Google Shape;165;p12"/>
          <p:cNvSpPr/>
          <p:nvPr/>
        </p:nvSpPr>
        <p:spPr>
          <a:xfrm>
            <a:off x="3909986" y="3094735"/>
            <a:ext cx="746433" cy="743601"/>
          </a:xfrm>
          <a:prstGeom prst="ellipse">
            <a:avLst/>
          </a:prstGeom>
          <a:solidFill>
            <a:srgbClr val="8EC54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66" name="Google Shape;166;p12"/>
          <p:cNvSpPr/>
          <p:nvPr/>
        </p:nvSpPr>
        <p:spPr>
          <a:xfrm>
            <a:off x="6627489" y="3077783"/>
            <a:ext cx="1918402" cy="722579"/>
          </a:xfrm>
          <a:prstGeom prst="roundRect">
            <a:avLst>
              <a:gd fmla="val 47824" name="adj"/>
            </a:avLst>
          </a:prstGeom>
          <a:solidFill>
            <a:schemeClr val="lt1"/>
          </a:solidFill>
          <a:ln cap="flat" cmpd="sng" w="19050">
            <a:solidFill>
              <a:srgbClr val="00B1C3"/>
            </a:solidFill>
            <a:prstDash val="solid"/>
            <a:round/>
            <a:headEnd len="sm" w="sm" type="none"/>
            <a:tailEnd len="sm" w="sm" type="none"/>
          </a:ln>
        </p:spPr>
        <p:txBody>
          <a:bodyPr anchorCtr="0" anchor="ctr" bIns="45700" lIns="91425" spcFirstLastPara="1" rIns="91425" wrap="square" tIns="45700">
            <a:noAutofit/>
          </a:bodyPr>
          <a:lstStyle/>
          <a:p>
            <a:pPr indent="0" lvl="0" marL="673100" marR="0" rtl="0" algn="ctr">
              <a:lnSpc>
                <a:spcPct val="106666"/>
              </a:lnSpc>
              <a:spcBef>
                <a:spcPts val="0"/>
              </a:spcBef>
              <a:spcAft>
                <a:spcPts val="0"/>
              </a:spcAft>
              <a:buClr>
                <a:srgbClr val="000000"/>
              </a:buClr>
              <a:buSzPts val="1500"/>
              <a:buFont typeface="Arial"/>
              <a:buNone/>
            </a:pPr>
            <a:r>
              <a:rPr b="1" i="0" lang="es-PE" sz="1500" u="none" cap="none" strike="noStrike">
                <a:solidFill>
                  <a:srgbClr val="00B1C3"/>
                </a:solidFill>
                <a:latin typeface="Calibri"/>
                <a:ea typeface="Calibri"/>
                <a:cs typeface="Calibri"/>
                <a:sym typeface="Calibri"/>
              </a:rPr>
              <a:t>Medir</a:t>
            </a:r>
            <a:r>
              <a:rPr b="1" i="0" lang="es-PE" sz="1400" u="none" cap="none" strike="noStrike">
                <a:solidFill>
                  <a:srgbClr val="00B1C3"/>
                </a:solidFill>
                <a:latin typeface="Calibri"/>
                <a:ea typeface="Calibri"/>
                <a:cs typeface="Calibri"/>
                <a:sym typeface="Calibri"/>
              </a:rPr>
              <a:t> </a:t>
            </a:r>
            <a:r>
              <a:rPr b="0" i="0" lang="es-PE" sz="1400" u="none" cap="none" strike="noStrike">
                <a:solidFill>
                  <a:srgbClr val="00B1C3"/>
                </a:solidFill>
                <a:latin typeface="Calibri"/>
                <a:ea typeface="Calibri"/>
                <a:cs typeface="Calibri"/>
                <a:sym typeface="Calibri"/>
              </a:rPr>
              <a:t>las métricas</a:t>
            </a:r>
            <a:endParaRPr b="0" i="0" sz="1400" u="none" cap="none" strike="noStrike">
              <a:solidFill>
                <a:srgbClr val="00B1C3"/>
              </a:solidFill>
              <a:latin typeface="Arial"/>
              <a:ea typeface="Arial"/>
              <a:cs typeface="Arial"/>
              <a:sym typeface="Arial"/>
            </a:endParaRPr>
          </a:p>
        </p:txBody>
      </p:sp>
      <p:sp>
        <p:nvSpPr>
          <p:cNvPr id="167" name="Google Shape;167;p12"/>
          <p:cNvSpPr/>
          <p:nvPr/>
        </p:nvSpPr>
        <p:spPr>
          <a:xfrm>
            <a:off x="6627489" y="3063585"/>
            <a:ext cx="746433" cy="743601"/>
          </a:xfrm>
          <a:prstGeom prst="ellipse">
            <a:avLst/>
          </a:prstGeom>
          <a:solidFill>
            <a:srgbClr val="00B1C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68" name="Google Shape;168;p12"/>
          <p:cNvSpPr/>
          <p:nvPr/>
        </p:nvSpPr>
        <p:spPr>
          <a:xfrm>
            <a:off x="5394087" y="1474249"/>
            <a:ext cx="1915042" cy="722579"/>
          </a:xfrm>
          <a:prstGeom prst="roundRect">
            <a:avLst>
              <a:gd fmla="val 47824" name="adj"/>
            </a:avLst>
          </a:prstGeom>
          <a:solidFill>
            <a:schemeClr val="lt1"/>
          </a:solidFill>
          <a:ln cap="flat" cmpd="sng" w="19050">
            <a:solidFill>
              <a:srgbClr val="808799"/>
            </a:solidFill>
            <a:prstDash val="solid"/>
            <a:round/>
            <a:headEnd len="sm" w="sm" type="none"/>
            <a:tailEnd len="sm" w="sm" type="none"/>
          </a:ln>
        </p:spPr>
        <p:txBody>
          <a:bodyPr anchorCtr="0" anchor="ctr" bIns="0" lIns="612000" spcFirstLastPara="1" rIns="0" wrap="square" tIns="0">
            <a:noAutofit/>
          </a:bodyPr>
          <a:lstStyle/>
          <a:p>
            <a:pPr indent="0" lvl="0" marL="9525" marR="0" rtl="0" algn="ctr">
              <a:lnSpc>
                <a:spcPct val="100000"/>
              </a:lnSpc>
              <a:spcBef>
                <a:spcPts val="0"/>
              </a:spcBef>
              <a:spcAft>
                <a:spcPts val="0"/>
              </a:spcAft>
              <a:buClr>
                <a:srgbClr val="000000"/>
              </a:buClr>
              <a:buSzPts val="1500"/>
              <a:buFont typeface="Arial"/>
              <a:buNone/>
            </a:pPr>
            <a:r>
              <a:rPr b="1" i="0" lang="es-PE" sz="1500" u="none" cap="none" strike="noStrike">
                <a:solidFill>
                  <a:srgbClr val="808799"/>
                </a:solidFill>
                <a:latin typeface="Calibri"/>
                <a:ea typeface="Calibri"/>
                <a:cs typeface="Calibri"/>
                <a:sym typeface="Calibri"/>
              </a:rPr>
              <a:t>Construir</a:t>
            </a:r>
            <a:r>
              <a:rPr b="1" i="0" lang="es-PE" sz="1400" u="none" cap="none" strike="noStrike">
                <a:solidFill>
                  <a:srgbClr val="808799"/>
                </a:solidFill>
                <a:latin typeface="Calibri"/>
                <a:ea typeface="Calibri"/>
                <a:cs typeface="Calibri"/>
                <a:sym typeface="Calibri"/>
              </a:rPr>
              <a:t> </a:t>
            </a:r>
            <a:endParaRPr/>
          </a:p>
          <a:p>
            <a:pPr indent="0" lvl="0" marL="9525" marR="0" rtl="0" algn="ctr">
              <a:lnSpc>
                <a:spcPct val="107142"/>
              </a:lnSpc>
              <a:spcBef>
                <a:spcPts val="0"/>
              </a:spcBef>
              <a:spcAft>
                <a:spcPts val="0"/>
              </a:spcAft>
              <a:buClr>
                <a:srgbClr val="000000"/>
              </a:buClr>
              <a:buSzPts val="1400"/>
              <a:buFont typeface="Arial"/>
              <a:buNone/>
            </a:pPr>
            <a:r>
              <a:rPr b="0" i="0" lang="es-PE" sz="1400" u="none" cap="none" strike="noStrike">
                <a:solidFill>
                  <a:srgbClr val="808799"/>
                </a:solidFill>
                <a:latin typeface="Calibri"/>
                <a:ea typeface="Calibri"/>
                <a:cs typeface="Calibri"/>
                <a:sym typeface="Calibri"/>
              </a:rPr>
              <a:t>experimentos </a:t>
            </a:r>
            <a:endParaRPr/>
          </a:p>
          <a:p>
            <a:pPr indent="0" lvl="0" marL="9525" marR="0" rtl="0" algn="ctr">
              <a:lnSpc>
                <a:spcPct val="107142"/>
              </a:lnSpc>
              <a:spcBef>
                <a:spcPts val="0"/>
              </a:spcBef>
              <a:spcAft>
                <a:spcPts val="0"/>
              </a:spcAft>
              <a:buClr>
                <a:srgbClr val="000000"/>
              </a:buClr>
              <a:buSzPts val="1400"/>
              <a:buFont typeface="Arial"/>
              <a:buNone/>
            </a:pPr>
            <a:r>
              <a:rPr b="0" i="0" lang="es-PE" sz="1400" u="none" cap="none" strike="noStrike">
                <a:solidFill>
                  <a:srgbClr val="808799"/>
                </a:solidFill>
                <a:latin typeface="Calibri"/>
                <a:ea typeface="Calibri"/>
                <a:cs typeface="Calibri"/>
                <a:sym typeface="Calibri"/>
              </a:rPr>
              <a:t>o ideas</a:t>
            </a:r>
            <a:endParaRPr b="0" i="0" sz="1400" u="none" cap="none" strike="noStrike">
              <a:solidFill>
                <a:srgbClr val="808799"/>
              </a:solidFill>
              <a:latin typeface="Arial"/>
              <a:ea typeface="Arial"/>
              <a:cs typeface="Arial"/>
              <a:sym typeface="Arial"/>
            </a:endParaRPr>
          </a:p>
        </p:txBody>
      </p:sp>
      <p:sp>
        <p:nvSpPr>
          <p:cNvPr id="169" name="Google Shape;169;p12"/>
          <p:cNvSpPr/>
          <p:nvPr/>
        </p:nvSpPr>
        <p:spPr>
          <a:xfrm>
            <a:off x="5370485" y="1469322"/>
            <a:ext cx="746433" cy="743601"/>
          </a:xfrm>
          <a:prstGeom prst="ellipse">
            <a:avLst/>
          </a:prstGeom>
          <a:solidFill>
            <a:srgbClr val="8087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70" name="Google Shape;170;p12"/>
          <p:cNvSpPr txBox="1"/>
          <p:nvPr/>
        </p:nvSpPr>
        <p:spPr>
          <a:xfrm>
            <a:off x="5112462" y="2491810"/>
            <a:ext cx="763351" cy="646331"/>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i="0" lang="es-PE" sz="1200" u="none" cap="none" strike="noStrike">
                <a:solidFill>
                  <a:schemeClr val="dk1"/>
                </a:solidFill>
                <a:latin typeface="Calibri"/>
                <a:ea typeface="Calibri"/>
                <a:cs typeface="Calibri"/>
                <a:sym typeface="Calibri"/>
              </a:rPr>
              <a:t>Crear </a:t>
            </a:r>
            <a:endParaRPr/>
          </a:p>
          <a:p>
            <a:pPr indent="0" lvl="0" marL="0" marR="0" rtl="0" algn="ctr">
              <a:lnSpc>
                <a:spcPct val="100000"/>
              </a:lnSpc>
              <a:spcBef>
                <a:spcPts val="0"/>
              </a:spcBef>
              <a:spcAft>
                <a:spcPts val="0"/>
              </a:spcAft>
              <a:buNone/>
            </a:pPr>
            <a:r>
              <a:rPr b="1" i="0" lang="es-PE" sz="1200" u="none" cap="none" strike="noStrike">
                <a:solidFill>
                  <a:schemeClr val="dk1"/>
                </a:solidFill>
                <a:latin typeface="Calibri"/>
                <a:ea typeface="Calibri"/>
                <a:cs typeface="Calibri"/>
                <a:sym typeface="Calibri"/>
              </a:rPr>
              <a:t>hipótesis</a:t>
            </a:r>
            <a:endParaRPr/>
          </a:p>
          <a:p>
            <a:pPr indent="0" lvl="0" marL="0" marR="0" rtl="0" algn="ctr">
              <a:lnSpc>
                <a:spcPct val="100000"/>
              </a:lnSpc>
              <a:spcBef>
                <a:spcPts val="0"/>
              </a:spcBef>
              <a:spcAft>
                <a:spcPts val="0"/>
              </a:spcAft>
              <a:buNone/>
            </a:pPr>
            <a:r>
              <a:t/>
            </a:r>
            <a:endParaRPr b="0" i="0" sz="1200" u="none" cap="none" strike="noStrike">
              <a:solidFill>
                <a:srgbClr val="000000"/>
              </a:solidFill>
              <a:latin typeface="Arial"/>
              <a:ea typeface="Arial"/>
              <a:cs typeface="Arial"/>
              <a:sym typeface="Arial"/>
            </a:endParaRPr>
          </a:p>
        </p:txBody>
      </p:sp>
      <p:sp>
        <p:nvSpPr>
          <p:cNvPr id="171" name="Google Shape;171;p12"/>
          <p:cNvSpPr txBox="1"/>
          <p:nvPr/>
        </p:nvSpPr>
        <p:spPr>
          <a:xfrm>
            <a:off x="5401300" y="4403187"/>
            <a:ext cx="1667004" cy="46166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200"/>
              <a:buFont typeface="Arial"/>
              <a:buNone/>
            </a:pPr>
            <a:r>
              <a:rPr b="1" i="0" lang="es-PE" sz="1200" u="none" cap="none" strike="noStrike">
                <a:solidFill>
                  <a:schemeClr val="dk1"/>
                </a:solidFill>
                <a:latin typeface="Calibri"/>
                <a:ea typeface="Calibri"/>
                <a:cs typeface="Calibri"/>
                <a:sym typeface="Calibri"/>
              </a:rPr>
              <a:t>Analizar los resultados vs. Objetivos trazados</a:t>
            </a:r>
            <a:endParaRPr/>
          </a:p>
        </p:txBody>
      </p:sp>
      <p:sp>
        <p:nvSpPr>
          <p:cNvPr id="172" name="Google Shape;172;p12"/>
          <p:cNvSpPr txBox="1"/>
          <p:nvPr/>
        </p:nvSpPr>
        <p:spPr>
          <a:xfrm>
            <a:off x="7424238" y="1910319"/>
            <a:ext cx="878767" cy="46166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200"/>
              <a:buFont typeface="Arial"/>
              <a:buNone/>
            </a:pPr>
            <a:r>
              <a:rPr b="1" i="0" lang="es-PE" sz="1200" u="none" cap="none" strike="noStrike">
                <a:solidFill>
                  <a:schemeClr val="dk1"/>
                </a:solidFill>
                <a:latin typeface="Calibri"/>
                <a:ea typeface="Calibri"/>
                <a:cs typeface="Calibri"/>
                <a:sym typeface="Calibri"/>
              </a:rPr>
              <a:t>Establecer </a:t>
            </a:r>
            <a:endParaRPr/>
          </a:p>
          <a:p>
            <a:pPr indent="0" lvl="0" marL="0" marR="0" rtl="0" algn="ctr">
              <a:lnSpc>
                <a:spcPct val="100000"/>
              </a:lnSpc>
              <a:spcBef>
                <a:spcPts val="0"/>
              </a:spcBef>
              <a:spcAft>
                <a:spcPts val="0"/>
              </a:spcAft>
              <a:buClr>
                <a:srgbClr val="000000"/>
              </a:buClr>
              <a:buSzPts val="1200"/>
              <a:buFont typeface="Arial"/>
              <a:buNone/>
            </a:pPr>
            <a:r>
              <a:rPr b="1" i="0" lang="es-PE" sz="1200" u="none" cap="none" strike="noStrike">
                <a:solidFill>
                  <a:schemeClr val="dk1"/>
                </a:solidFill>
                <a:latin typeface="Calibri"/>
                <a:ea typeface="Calibri"/>
                <a:cs typeface="Calibri"/>
                <a:sym typeface="Calibri"/>
              </a:rPr>
              <a:t>objetivos</a:t>
            </a:r>
            <a:endParaRPr/>
          </a:p>
        </p:txBody>
      </p:sp>
      <p:pic>
        <p:nvPicPr>
          <p:cNvPr id="173" name="Google Shape;173;p12"/>
          <p:cNvPicPr preferRelativeResize="0"/>
          <p:nvPr/>
        </p:nvPicPr>
        <p:blipFill rotWithShape="1">
          <a:blip r:embed="rId3">
            <a:alphaModFix/>
          </a:blip>
          <a:srcRect b="0" l="0" r="0" t="0"/>
          <a:stretch/>
        </p:blipFill>
        <p:spPr>
          <a:xfrm>
            <a:off x="6811257" y="3216349"/>
            <a:ext cx="416464" cy="464064"/>
          </a:xfrm>
          <a:prstGeom prst="rect">
            <a:avLst/>
          </a:prstGeom>
          <a:noFill/>
          <a:ln>
            <a:noFill/>
          </a:ln>
        </p:spPr>
      </p:pic>
      <p:pic>
        <p:nvPicPr>
          <p:cNvPr id="174" name="Google Shape;174;p12"/>
          <p:cNvPicPr preferRelativeResize="0"/>
          <p:nvPr/>
        </p:nvPicPr>
        <p:blipFill rotWithShape="1">
          <a:blip r:embed="rId4">
            <a:alphaModFix/>
          </a:blip>
          <a:srcRect b="0" l="0" r="0" t="0"/>
          <a:stretch/>
        </p:blipFill>
        <p:spPr>
          <a:xfrm>
            <a:off x="4026052" y="3253712"/>
            <a:ext cx="545947" cy="420331"/>
          </a:xfrm>
          <a:prstGeom prst="rect">
            <a:avLst/>
          </a:prstGeom>
          <a:noFill/>
          <a:ln>
            <a:noFill/>
          </a:ln>
        </p:spPr>
      </p:pic>
      <p:pic>
        <p:nvPicPr>
          <p:cNvPr id="175" name="Google Shape;175;p12"/>
          <p:cNvPicPr preferRelativeResize="0"/>
          <p:nvPr/>
        </p:nvPicPr>
        <p:blipFill rotWithShape="1">
          <a:blip r:embed="rId5">
            <a:alphaModFix/>
          </a:blip>
          <a:srcRect b="0" l="0" r="0" t="0"/>
          <a:stretch/>
        </p:blipFill>
        <p:spPr>
          <a:xfrm>
            <a:off x="5477233" y="1592718"/>
            <a:ext cx="502301" cy="464746"/>
          </a:xfrm>
          <a:prstGeom prst="rect">
            <a:avLst/>
          </a:prstGeom>
          <a:noFill/>
          <a:ln>
            <a:noFill/>
          </a:ln>
        </p:spPr>
      </p:pic>
      <p:pic>
        <p:nvPicPr>
          <p:cNvPr id="176" name="Google Shape;176;p12"/>
          <p:cNvPicPr preferRelativeResize="0"/>
          <p:nvPr/>
        </p:nvPicPr>
        <p:blipFill rotWithShape="1">
          <a:blip r:embed="rId6">
            <a:alphaModFix/>
          </a:blip>
          <a:srcRect b="0" l="0" r="0" t="0"/>
          <a:stretch/>
        </p:blipFill>
        <p:spPr>
          <a:xfrm>
            <a:off x="4704680" y="2079957"/>
            <a:ext cx="311997" cy="490281"/>
          </a:xfrm>
          <a:prstGeom prst="rect">
            <a:avLst/>
          </a:prstGeom>
          <a:noFill/>
          <a:ln>
            <a:noFill/>
          </a:ln>
        </p:spPr>
      </p:pic>
      <p:grpSp>
        <p:nvGrpSpPr>
          <p:cNvPr id="177" name="Google Shape;177;p12"/>
          <p:cNvGrpSpPr/>
          <p:nvPr/>
        </p:nvGrpSpPr>
        <p:grpSpPr>
          <a:xfrm>
            <a:off x="7518765" y="2452986"/>
            <a:ext cx="439087" cy="439087"/>
            <a:chOff x="7509996" y="2310063"/>
            <a:chExt cx="451238" cy="451238"/>
          </a:xfrm>
        </p:grpSpPr>
        <p:sp>
          <p:nvSpPr>
            <p:cNvPr id="178" name="Google Shape;178;p12"/>
            <p:cNvSpPr/>
            <p:nvPr/>
          </p:nvSpPr>
          <p:spPr>
            <a:xfrm>
              <a:off x="7509996" y="2310063"/>
              <a:ext cx="451238" cy="451238"/>
            </a:xfrm>
            <a:prstGeom prst="ellipse">
              <a:avLst/>
            </a:prstGeom>
            <a:noFill/>
            <a:ln cap="flat"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79" name="Google Shape;179;p12"/>
            <p:cNvSpPr/>
            <p:nvPr/>
          </p:nvSpPr>
          <p:spPr>
            <a:xfrm>
              <a:off x="7567445" y="2367511"/>
              <a:ext cx="336341" cy="336341"/>
            </a:xfrm>
            <a:prstGeom prst="ellipse">
              <a:avLst/>
            </a:prstGeom>
            <a:noFill/>
            <a:ln cap="flat" cmpd="sng" w="1905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80" name="Google Shape;180;p12"/>
            <p:cNvSpPr/>
            <p:nvPr/>
          </p:nvSpPr>
          <p:spPr>
            <a:xfrm>
              <a:off x="7630495" y="2430560"/>
              <a:ext cx="210241" cy="210241"/>
            </a:xfrm>
            <a:prstGeom prst="ellipse">
              <a:avLst/>
            </a:prstGeom>
            <a:solidFill>
              <a:schemeClr val="lt1"/>
            </a:solidFill>
            <a:ln cap="flat" cmpd="sng" w="1905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grpSp>
      <p:cxnSp>
        <p:nvCxnSpPr>
          <p:cNvPr id="181" name="Google Shape;181;p12"/>
          <p:cNvCxnSpPr/>
          <p:nvPr/>
        </p:nvCxnSpPr>
        <p:spPr>
          <a:xfrm rot="10800000">
            <a:off x="7698530" y="2630072"/>
            <a:ext cx="196681" cy="262000"/>
          </a:xfrm>
          <a:prstGeom prst="straightConnector1">
            <a:avLst/>
          </a:prstGeom>
          <a:noFill/>
          <a:ln cap="flat" cmpd="sng" w="28575">
            <a:solidFill>
              <a:srgbClr val="D9DBE2"/>
            </a:solidFill>
            <a:prstDash val="solid"/>
            <a:round/>
            <a:headEnd len="sm" w="sm" type="none"/>
            <a:tailEnd len="med" w="med" type="triangle"/>
          </a:ln>
        </p:spPr>
      </p:cxn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13"/>
          <p:cNvSpPr/>
          <p:nvPr/>
        </p:nvSpPr>
        <p:spPr>
          <a:xfrm>
            <a:off x="0" y="0"/>
            <a:ext cx="9144000" cy="5715000"/>
          </a:xfrm>
          <a:prstGeom prst="rect">
            <a:avLst/>
          </a:prstGeom>
          <a:solidFill>
            <a:srgbClr val="8087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88" name="Google Shape;188;p13"/>
          <p:cNvSpPr txBox="1"/>
          <p:nvPr/>
        </p:nvSpPr>
        <p:spPr>
          <a:xfrm>
            <a:off x="1008063" y="3169972"/>
            <a:ext cx="5993558" cy="997196"/>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Clr>
                <a:srgbClr val="000000"/>
              </a:buClr>
              <a:buSzPts val="2400"/>
              <a:buFont typeface="Arial"/>
              <a:buNone/>
            </a:pPr>
            <a:r>
              <a:rPr b="0" i="0" lang="es-PE" sz="2400" u="none" cap="none" strike="noStrike">
                <a:solidFill>
                  <a:schemeClr val="lt1"/>
                </a:solidFill>
                <a:latin typeface="Arial"/>
                <a:ea typeface="Arial"/>
                <a:cs typeface="Arial"/>
                <a:sym typeface="Arial"/>
              </a:rPr>
              <a:t>IMPORTANCIA DE LA CUSTOMER </a:t>
            </a:r>
            <a:r>
              <a:rPr b="1" i="0" lang="es-PE" sz="2400" u="none" cap="none" strike="noStrike">
                <a:solidFill>
                  <a:schemeClr val="lt1"/>
                </a:solidFill>
                <a:latin typeface="Arial"/>
                <a:ea typeface="Arial"/>
                <a:cs typeface="Arial"/>
                <a:sym typeface="Arial"/>
              </a:rPr>
              <a:t>CENTRICITY EN EL DESARROLLO </a:t>
            </a:r>
            <a:br>
              <a:rPr b="1" i="0" lang="es-PE" sz="2400" u="none" cap="none" strike="noStrike">
                <a:solidFill>
                  <a:schemeClr val="lt1"/>
                </a:solidFill>
                <a:latin typeface="Arial"/>
                <a:ea typeface="Arial"/>
                <a:cs typeface="Arial"/>
                <a:sym typeface="Arial"/>
              </a:rPr>
            </a:br>
            <a:r>
              <a:rPr b="1" i="0" lang="es-PE" sz="2400" u="none" cap="none" strike="noStrike">
                <a:solidFill>
                  <a:schemeClr val="lt1"/>
                </a:solidFill>
                <a:latin typeface="Arial"/>
                <a:ea typeface="Arial"/>
                <a:cs typeface="Arial"/>
                <a:sym typeface="Arial"/>
              </a:rPr>
              <a:t>DE SOLUCIONES TECNOLÓGICAS</a:t>
            </a:r>
            <a:endParaRPr/>
          </a:p>
        </p:txBody>
      </p:sp>
      <p:pic>
        <p:nvPicPr>
          <p:cNvPr id="189" name="Google Shape;189;p13"/>
          <p:cNvPicPr preferRelativeResize="0"/>
          <p:nvPr/>
        </p:nvPicPr>
        <p:blipFill rotWithShape="1">
          <a:blip r:embed="rId3">
            <a:alphaModFix/>
          </a:blip>
          <a:srcRect b="0" l="0" r="0" t="0"/>
          <a:stretch/>
        </p:blipFill>
        <p:spPr>
          <a:xfrm>
            <a:off x="1008063" y="2869612"/>
            <a:ext cx="195423" cy="201256"/>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14"/>
          <p:cNvSpPr/>
          <p:nvPr/>
        </p:nvSpPr>
        <p:spPr>
          <a:xfrm>
            <a:off x="2392751" y="2023938"/>
            <a:ext cx="4717274" cy="1169551"/>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000"/>
              <a:buFont typeface="Arial"/>
              <a:buNone/>
            </a:pPr>
            <a:r>
              <a:rPr b="1" i="0" lang="es-PE" sz="2000" u="none" cap="none" strike="noStrike">
                <a:solidFill>
                  <a:srgbClr val="714FA0"/>
                </a:solidFill>
                <a:latin typeface="Calibri"/>
                <a:ea typeface="Calibri"/>
                <a:cs typeface="Calibri"/>
                <a:sym typeface="Calibri"/>
              </a:rPr>
              <a:t>No es trabajo </a:t>
            </a:r>
            <a:r>
              <a:rPr b="1" i="0" lang="es-PE" sz="2000" u="none" cap="none" strike="noStrike">
                <a:solidFill>
                  <a:schemeClr val="dk1"/>
                </a:solidFill>
                <a:latin typeface="Calibri"/>
                <a:ea typeface="Calibri"/>
                <a:cs typeface="Calibri"/>
                <a:sym typeface="Calibri"/>
              </a:rPr>
              <a:t>de tu consumidor saber lo que quiere. Ellos no saben lo que quieren hasta que se lo muestras         .</a:t>
            </a:r>
            <a:endParaRPr b="1" i="0" sz="1600" u="none" cap="none" strike="noStrike">
              <a:solidFill>
                <a:schemeClr val="dk1"/>
              </a:solidFill>
              <a:latin typeface="Calibri"/>
              <a:ea typeface="Calibri"/>
              <a:cs typeface="Calibri"/>
              <a:sym typeface="Calibri"/>
            </a:endParaRPr>
          </a:p>
          <a:p>
            <a:pPr indent="0" lvl="0" marL="0" marR="0" rtl="0" algn="r">
              <a:lnSpc>
                <a:spcPct val="100000"/>
              </a:lnSpc>
              <a:spcBef>
                <a:spcPts val="0"/>
              </a:spcBef>
              <a:spcAft>
                <a:spcPts val="0"/>
              </a:spcAft>
              <a:buClr>
                <a:srgbClr val="000000"/>
              </a:buClr>
              <a:buSzPts val="1600"/>
              <a:buFont typeface="Arial"/>
              <a:buNone/>
            </a:pPr>
            <a:r>
              <a:rPr b="1" i="0" lang="es-PE" sz="1600" u="none" cap="none" strike="noStrike">
                <a:solidFill>
                  <a:schemeClr val="dk1"/>
                </a:solidFill>
                <a:latin typeface="Calibri"/>
                <a:ea typeface="Calibri"/>
                <a:cs typeface="Calibri"/>
                <a:sym typeface="Calibri"/>
              </a:rPr>
              <a:t>Steve Jobs</a:t>
            </a:r>
            <a:endParaRPr/>
          </a:p>
        </p:txBody>
      </p:sp>
      <p:pic>
        <p:nvPicPr>
          <p:cNvPr id="196" name="Google Shape;196;p14"/>
          <p:cNvPicPr preferRelativeResize="0"/>
          <p:nvPr/>
        </p:nvPicPr>
        <p:blipFill rotWithShape="1">
          <a:blip r:embed="rId3">
            <a:alphaModFix/>
          </a:blip>
          <a:srcRect b="0" l="0" r="0" t="0"/>
          <a:stretch/>
        </p:blipFill>
        <p:spPr>
          <a:xfrm>
            <a:off x="1779975" y="1932381"/>
            <a:ext cx="411788" cy="338400"/>
          </a:xfrm>
          <a:prstGeom prst="rect">
            <a:avLst/>
          </a:prstGeom>
          <a:noFill/>
          <a:ln>
            <a:noFill/>
          </a:ln>
        </p:spPr>
      </p:pic>
      <p:pic>
        <p:nvPicPr>
          <p:cNvPr id="197" name="Google Shape;197;p14"/>
          <p:cNvPicPr preferRelativeResize="0"/>
          <p:nvPr/>
        </p:nvPicPr>
        <p:blipFill rotWithShape="1">
          <a:blip r:embed="rId3">
            <a:alphaModFix/>
          </a:blip>
          <a:srcRect b="0" l="0" r="0" t="0"/>
          <a:stretch/>
        </p:blipFill>
        <p:spPr>
          <a:xfrm rot="10800000">
            <a:off x="4434811" y="2722249"/>
            <a:ext cx="411788" cy="338400"/>
          </a:xfrm>
          <a:prstGeom prst="rect">
            <a:avLst/>
          </a:prstGeom>
          <a:noFill/>
          <a:ln>
            <a:noFill/>
          </a:ln>
        </p:spPr>
      </p:pic>
      <p:sp>
        <p:nvSpPr>
          <p:cNvPr id="198" name="Google Shape;198;p14"/>
          <p:cNvSpPr/>
          <p:nvPr/>
        </p:nvSpPr>
        <p:spPr>
          <a:xfrm>
            <a:off x="503237" y="376836"/>
            <a:ext cx="5552610" cy="138499"/>
          </a:xfrm>
          <a:prstGeom prst="rect">
            <a:avLst/>
          </a:prstGeom>
          <a:noFill/>
          <a:ln>
            <a:noFill/>
          </a:ln>
        </p:spPr>
        <p:txBody>
          <a:bodyPr anchorCtr="0" anchor="b" bIns="0" lIns="0" spcFirstLastPara="1" rIns="0" wrap="square" tIns="0">
            <a:spAutoFit/>
          </a:bodyPr>
          <a:lstStyle/>
          <a:p>
            <a:pPr indent="0" lvl="0" marL="0" marR="0" rtl="0" algn="l">
              <a:lnSpc>
                <a:spcPct val="90000"/>
              </a:lnSpc>
              <a:spcBef>
                <a:spcPts val="0"/>
              </a:spcBef>
              <a:spcAft>
                <a:spcPts val="0"/>
              </a:spcAft>
              <a:buClr>
                <a:srgbClr val="000000"/>
              </a:buClr>
              <a:buSzPts val="1000"/>
              <a:buFont typeface="Arial"/>
              <a:buNone/>
            </a:pPr>
            <a:r>
              <a:rPr b="1" i="0" lang="es-PE" sz="1000" u="none" cap="none" strike="noStrike">
                <a:solidFill>
                  <a:srgbClr val="7F7F7F"/>
                </a:solidFill>
                <a:latin typeface="Calibri"/>
                <a:ea typeface="Calibri"/>
                <a:cs typeface="Calibri"/>
                <a:sym typeface="Calibri"/>
              </a:rPr>
              <a:t>+ </a:t>
            </a:r>
            <a:r>
              <a:rPr b="0" i="0" lang="es-PE" sz="1000" u="none" cap="none" strike="noStrike">
                <a:solidFill>
                  <a:srgbClr val="A5A5A5"/>
                </a:solidFill>
                <a:latin typeface="Calibri"/>
                <a:ea typeface="Calibri"/>
                <a:cs typeface="Calibri"/>
                <a:sym typeface="Calibri"/>
              </a:rPr>
              <a:t>IMPORTANCIA DE LA CUSTOMER CENTRICITY EN EL DESARROLLO DE SOLUCIONES TECNOLÓGICAS</a:t>
            </a:r>
            <a:endParaRPr b="0" i="0" sz="1400" u="none" cap="none" strike="noStrike">
              <a:solidFill>
                <a:srgbClr val="000000"/>
              </a:solidFill>
              <a:latin typeface="Arial"/>
              <a:ea typeface="Arial"/>
              <a:cs typeface="Arial"/>
              <a:sym typeface="Arial"/>
            </a:endParaRPr>
          </a:p>
        </p:txBody>
      </p:sp>
      <p:pic>
        <p:nvPicPr>
          <p:cNvPr id="199" name="Google Shape;199;p14"/>
          <p:cNvPicPr preferRelativeResize="0"/>
          <p:nvPr/>
        </p:nvPicPr>
        <p:blipFill rotWithShape="1">
          <a:blip r:embed="rId4">
            <a:alphaModFix/>
          </a:blip>
          <a:srcRect b="23388" l="0" r="0" t="-3242"/>
          <a:stretch/>
        </p:blipFill>
        <p:spPr>
          <a:xfrm>
            <a:off x="1985869" y="2891449"/>
            <a:ext cx="6110565" cy="2854731"/>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15"/>
          <p:cNvSpPr txBox="1"/>
          <p:nvPr/>
        </p:nvSpPr>
        <p:spPr>
          <a:xfrm>
            <a:off x="511341" y="826950"/>
            <a:ext cx="5483059" cy="1477328"/>
          </a:xfrm>
          <a:prstGeom prst="rect">
            <a:avLst/>
          </a:prstGeom>
          <a:noFill/>
          <a:ln>
            <a:noFill/>
          </a:ln>
        </p:spPr>
        <p:txBody>
          <a:bodyPr anchorCtr="0" anchor="t" bIns="0" lIns="0" spcFirstLastPara="1" rIns="0" wrap="square" tIns="0">
            <a:spAutoFit/>
          </a:bodyPr>
          <a:lstStyle/>
          <a:p>
            <a:pPr indent="-66675" lvl="0" marL="180000" marR="0" rtl="0" algn="l">
              <a:lnSpc>
                <a:spcPct val="100000"/>
              </a:lnSpc>
              <a:spcBef>
                <a:spcPts val="0"/>
              </a:spcBef>
              <a:spcAft>
                <a:spcPts val="0"/>
              </a:spcAft>
              <a:buClr>
                <a:schemeClr val="dk1"/>
              </a:buClr>
              <a:buSzPts val="1600"/>
              <a:buFont typeface="Arial"/>
              <a:buNone/>
            </a:pPr>
            <a:r>
              <a:t/>
            </a:r>
            <a:endParaRPr b="1" i="0" sz="1600" u="none" cap="none" strike="noStrike">
              <a:solidFill>
                <a:srgbClr val="262626"/>
              </a:solidFill>
              <a:latin typeface="Calibri"/>
              <a:ea typeface="Calibri"/>
              <a:cs typeface="Calibri"/>
              <a:sym typeface="Calibri"/>
            </a:endParaRPr>
          </a:p>
          <a:p>
            <a:pPr indent="-66675" lvl="0" marL="180000" marR="0" rtl="0" algn="l">
              <a:lnSpc>
                <a:spcPct val="100000"/>
              </a:lnSpc>
              <a:spcBef>
                <a:spcPts val="0"/>
              </a:spcBef>
              <a:spcAft>
                <a:spcPts val="0"/>
              </a:spcAft>
              <a:buClr>
                <a:schemeClr val="dk1"/>
              </a:buClr>
              <a:buSzPts val="1600"/>
              <a:buFont typeface="Arial"/>
              <a:buNone/>
            </a:pPr>
            <a:r>
              <a:t/>
            </a:r>
            <a:endParaRPr b="1" i="0" sz="1600" u="none" cap="none" strike="noStrike">
              <a:solidFill>
                <a:srgbClr val="262626"/>
              </a:solidFill>
              <a:latin typeface="Calibri"/>
              <a:ea typeface="Calibri"/>
              <a:cs typeface="Calibri"/>
              <a:sym typeface="Calibri"/>
            </a:endParaRPr>
          </a:p>
          <a:p>
            <a:pPr indent="-66675" lvl="0" marL="180000" marR="0" rtl="0" algn="l">
              <a:lnSpc>
                <a:spcPct val="100000"/>
              </a:lnSpc>
              <a:spcBef>
                <a:spcPts val="0"/>
              </a:spcBef>
              <a:spcAft>
                <a:spcPts val="0"/>
              </a:spcAft>
              <a:buClr>
                <a:schemeClr val="dk1"/>
              </a:buClr>
              <a:buSzPts val="1600"/>
              <a:buFont typeface="Arial"/>
              <a:buNone/>
            </a:pPr>
            <a:r>
              <a:t/>
            </a:r>
            <a:endParaRPr b="1" i="0" sz="1600" u="none" cap="none" strike="noStrike">
              <a:solidFill>
                <a:srgbClr val="262626"/>
              </a:solidFill>
              <a:latin typeface="Calibri"/>
              <a:ea typeface="Calibri"/>
              <a:cs typeface="Calibri"/>
              <a:sym typeface="Calibri"/>
            </a:endParaRPr>
          </a:p>
          <a:p>
            <a:pPr indent="-66675" lvl="0" marL="180000" marR="0" rtl="0" algn="l">
              <a:lnSpc>
                <a:spcPct val="100000"/>
              </a:lnSpc>
              <a:spcBef>
                <a:spcPts val="0"/>
              </a:spcBef>
              <a:spcAft>
                <a:spcPts val="0"/>
              </a:spcAft>
              <a:buClr>
                <a:schemeClr val="dk1"/>
              </a:buClr>
              <a:buSzPts val="1600"/>
              <a:buFont typeface="Arial"/>
              <a:buNone/>
            </a:pPr>
            <a:r>
              <a:t/>
            </a:r>
            <a:endParaRPr b="0" i="0" sz="1600" u="none" cap="none" strike="noStrike">
              <a:solidFill>
                <a:srgbClr val="262626"/>
              </a:solidFill>
              <a:latin typeface="Calibri"/>
              <a:ea typeface="Calibri"/>
              <a:cs typeface="Calibri"/>
              <a:sym typeface="Calibri"/>
            </a:endParaRPr>
          </a:p>
          <a:p>
            <a:pPr indent="0" lvl="0" marL="11725" marR="0" rtl="0" algn="l">
              <a:lnSpc>
                <a:spcPct val="100000"/>
              </a:lnSpc>
              <a:spcBef>
                <a:spcPts val="0"/>
              </a:spcBef>
              <a:spcAft>
                <a:spcPts val="0"/>
              </a:spcAft>
              <a:buClr>
                <a:srgbClr val="000000"/>
              </a:buClr>
              <a:buSzPts val="1600"/>
              <a:buFont typeface="Arial"/>
              <a:buNone/>
            </a:pPr>
            <a:br>
              <a:rPr b="1" i="0" lang="es-PE" sz="1600" u="none" cap="none" strike="noStrike">
                <a:solidFill>
                  <a:srgbClr val="262626"/>
                </a:solidFill>
                <a:latin typeface="Calibri"/>
                <a:ea typeface="Calibri"/>
                <a:cs typeface="Calibri"/>
                <a:sym typeface="Calibri"/>
              </a:rPr>
            </a:br>
            <a:endParaRPr b="1" i="0" sz="1600" u="none" cap="none" strike="noStrike">
              <a:solidFill>
                <a:srgbClr val="262626"/>
              </a:solidFill>
              <a:latin typeface="Calibri"/>
              <a:ea typeface="Calibri"/>
              <a:cs typeface="Calibri"/>
              <a:sym typeface="Calibri"/>
            </a:endParaRPr>
          </a:p>
        </p:txBody>
      </p:sp>
      <p:sp>
        <p:nvSpPr>
          <p:cNvPr id="206" name="Google Shape;206;p15"/>
          <p:cNvSpPr txBox="1"/>
          <p:nvPr/>
        </p:nvSpPr>
        <p:spPr>
          <a:xfrm>
            <a:off x="518988" y="826950"/>
            <a:ext cx="4862764" cy="4785926"/>
          </a:xfrm>
          <a:prstGeom prst="rect">
            <a:avLst/>
          </a:prstGeom>
          <a:noFill/>
          <a:ln>
            <a:noFill/>
          </a:ln>
        </p:spPr>
        <p:txBody>
          <a:bodyPr anchorCtr="0" anchor="t" bIns="0" lIns="0" spcFirstLastPara="1" rIns="0" wrap="square" tIns="0">
            <a:spAutoFit/>
          </a:bodyPr>
          <a:lstStyle/>
          <a:p>
            <a:pPr indent="0" lvl="0" marL="11725" marR="0" rtl="0" algn="l">
              <a:lnSpc>
                <a:spcPct val="150000"/>
              </a:lnSpc>
              <a:spcBef>
                <a:spcPts val="0"/>
              </a:spcBef>
              <a:spcAft>
                <a:spcPts val="0"/>
              </a:spcAft>
              <a:buClr>
                <a:srgbClr val="000000"/>
              </a:buClr>
              <a:buSzPts val="1600"/>
              <a:buFont typeface="Arial"/>
              <a:buNone/>
            </a:pPr>
            <a:r>
              <a:rPr b="1" i="0" lang="es-PE" sz="1600" u="none" cap="none" strike="noStrike">
                <a:solidFill>
                  <a:srgbClr val="262626"/>
                </a:solidFill>
                <a:latin typeface="Calibri"/>
                <a:ea typeface="Calibri"/>
                <a:cs typeface="Calibri"/>
                <a:sym typeface="Calibri"/>
              </a:rPr>
              <a:t>Retos para construcción de producto</a:t>
            </a:r>
            <a:endParaRPr b="1" i="0" sz="1600" u="none" cap="none" strike="noStrike">
              <a:solidFill>
                <a:srgbClr val="262626"/>
              </a:solidFill>
              <a:latin typeface="Calibri"/>
              <a:ea typeface="Calibri"/>
              <a:cs typeface="Calibri"/>
              <a:sym typeface="Calibri"/>
            </a:endParaRPr>
          </a:p>
          <a:p>
            <a:pPr indent="-161925" lvl="0" marL="171450" marR="0" rtl="0" algn="l">
              <a:lnSpc>
                <a:spcPct val="100000"/>
              </a:lnSpc>
              <a:spcBef>
                <a:spcPts val="600"/>
              </a:spcBef>
              <a:spcAft>
                <a:spcPts val="0"/>
              </a:spcAft>
              <a:buClr>
                <a:schemeClr val="dk1"/>
              </a:buClr>
              <a:buSzPts val="1600"/>
              <a:buFont typeface="Arial"/>
              <a:buChar char="•"/>
            </a:pPr>
            <a:r>
              <a:rPr b="0" i="0" lang="es-PE" sz="1600" u="none" cap="none" strike="noStrike">
                <a:solidFill>
                  <a:schemeClr val="dk1"/>
                </a:solidFill>
                <a:latin typeface="Calibri"/>
                <a:ea typeface="Calibri"/>
                <a:cs typeface="Calibri"/>
                <a:sym typeface="Calibri"/>
              </a:rPr>
              <a:t>Comprensión profunda del cliente</a:t>
            </a:r>
            <a:endParaRPr b="0" i="0" sz="1600" u="none" cap="none" strike="noStrike">
              <a:solidFill>
                <a:schemeClr val="dk1"/>
              </a:solidFill>
              <a:latin typeface="Calibri"/>
              <a:ea typeface="Calibri"/>
              <a:cs typeface="Calibri"/>
              <a:sym typeface="Calibri"/>
            </a:endParaRPr>
          </a:p>
          <a:p>
            <a:pPr indent="-173037" lvl="1" marL="538163" marR="0" rtl="0" algn="l">
              <a:lnSpc>
                <a:spcPct val="100000"/>
              </a:lnSpc>
              <a:spcBef>
                <a:spcPts val="0"/>
              </a:spcBef>
              <a:spcAft>
                <a:spcPts val="0"/>
              </a:spcAft>
              <a:buClr>
                <a:schemeClr val="dk1"/>
              </a:buClr>
              <a:buSzPts val="1600"/>
              <a:buFont typeface="Arial"/>
              <a:buChar char="•"/>
            </a:pPr>
            <a:r>
              <a:rPr b="0" i="0" lang="es-PE" sz="1600" u="none" cap="none" strike="noStrike">
                <a:solidFill>
                  <a:schemeClr val="dk1"/>
                </a:solidFill>
                <a:latin typeface="Calibri"/>
                <a:ea typeface="Calibri"/>
                <a:cs typeface="Calibri"/>
                <a:sym typeface="Calibri"/>
              </a:rPr>
              <a:t>¿Cómo recopilamos datos sobre las necesidades, deseos y comportamientos de nuestros clientes? ¿Dónde los plasmamos? ¿Qué marcos se pueden utilizar para esto?</a:t>
            </a:r>
            <a:endParaRPr b="0" i="0" sz="1600" u="none" cap="none" strike="noStrike">
              <a:solidFill>
                <a:schemeClr val="dk1"/>
              </a:solidFill>
              <a:latin typeface="Calibri"/>
              <a:ea typeface="Calibri"/>
              <a:cs typeface="Calibri"/>
              <a:sym typeface="Calibri"/>
            </a:endParaRPr>
          </a:p>
          <a:p>
            <a:pPr indent="-161925" lvl="0" marL="171450" marR="0" rtl="0" algn="l">
              <a:lnSpc>
                <a:spcPct val="100000"/>
              </a:lnSpc>
              <a:spcBef>
                <a:spcPts val="600"/>
              </a:spcBef>
              <a:spcAft>
                <a:spcPts val="0"/>
              </a:spcAft>
              <a:buClr>
                <a:schemeClr val="dk1"/>
              </a:buClr>
              <a:buSzPts val="1600"/>
              <a:buFont typeface="Arial"/>
              <a:buChar char="•"/>
            </a:pPr>
            <a:r>
              <a:rPr b="0" i="0" lang="es-PE" sz="1600" u="none" cap="none" strike="noStrike">
                <a:solidFill>
                  <a:schemeClr val="dk1"/>
                </a:solidFill>
                <a:latin typeface="Calibri"/>
                <a:ea typeface="Calibri"/>
                <a:cs typeface="Calibri"/>
                <a:sym typeface="Calibri"/>
              </a:rPr>
              <a:t>Enfoque en la experiencia del cliente</a:t>
            </a:r>
            <a:endParaRPr b="0" i="0" sz="1600" u="none" cap="none" strike="noStrike">
              <a:solidFill>
                <a:schemeClr val="dk1"/>
              </a:solidFill>
              <a:latin typeface="Calibri"/>
              <a:ea typeface="Calibri"/>
              <a:cs typeface="Calibri"/>
              <a:sym typeface="Calibri"/>
            </a:endParaRPr>
          </a:p>
          <a:p>
            <a:pPr indent="-173037" lvl="0" marL="538163" marR="0" rtl="0" algn="l">
              <a:lnSpc>
                <a:spcPct val="100000"/>
              </a:lnSpc>
              <a:spcBef>
                <a:spcPts val="0"/>
              </a:spcBef>
              <a:spcAft>
                <a:spcPts val="0"/>
              </a:spcAft>
              <a:buClr>
                <a:schemeClr val="dk1"/>
              </a:buClr>
              <a:buSzPts val="1600"/>
              <a:buFont typeface="Arial"/>
              <a:buChar char="•"/>
            </a:pPr>
            <a:r>
              <a:rPr b="0" i="0" lang="es-PE" sz="1600" u="none" cap="none" strike="noStrike">
                <a:solidFill>
                  <a:schemeClr val="dk1"/>
                </a:solidFill>
                <a:latin typeface="Calibri"/>
                <a:ea typeface="Calibri"/>
                <a:cs typeface="Calibri"/>
                <a:sym typeface="Calibri"/>
              </a:rPr>
              <a:t>¿Cómo desarrollamos soluciones que tengan en cuenta el input de clientes? ¿Qué herramientas o métodos utilizamos para esto?</a:t>
            </a:r>
            <a:endParaRPr b="0" i="0" sz="1600" u="none" cap="none" strike="noStrike">
              <a:solidFill>
                <a:schemeClr val="dk1"/>
              </a:solidFill>
              <a:latin typeface="Calibri"/>
              <a:ea typeface="Calibri"/>
              <a:cs typeface="Calibri"/>
              <a:sym typeface="Calibri"/>
            </a:endParaRPr>
          </a:p>
          <a:p>
            <a:pPr indent="-161925" lvl="0" marL="171450" marR="0" rtl="0" algn="l">
              <a:lnSpc>
                <a:spcPct val="100000"/>
              </a:lnSpc>
              <a:spcBef>
                <a:spcPts val="600"/>
              </a:spcBef>
              <a:spcAft>
                <a:spcPts val="0"/>
              </a:spcAft>
              <a:buClr>
                <a:schemeClr val="dk1"/>
              </a:buClr>
              <a:buSzPts val="1600"/>
              <a:buFont typeface="Arial"/>
              <a:buChar char="•"/>
            </a:pPr>
            <a:r>
              <a:rPr b="0" i="0" lang="es-PE" sz="1600" u="none" cap="none" strike="noStrike">
                <a:solidFill>
                  <a:schemeClr val="dk1"/>
                </a:solidFill>
                <a:latin typeface="Calibri"/>
                <a:ea typeface="Calibri"/>
                <a:cs typeface="Calibri"/>
                <a:sym typeface="Calibri"/>
              </a:rPr>
              <a:t>Personalización y segmentación</a:t>
            </a:r>
            <a:endParaRPr b="0" i="0" sz="1600" u="none" cap="none" strike="noStrike">
              <a:solidFill>
                <a:schemeClr val="dk1"/>
              </a:solidFill>
              <a:latin typeface="Calibri"/>
              <a:ea typeface="Calibri"/>
              <a:cs typeface="Calibri"/>
              <a:sym typeface="Calibri"/>
            </a:endParaRPr>
          </a:p>
          <a:p>
            <a:pPr indent="-173037" lvl="1" marL="538163" marR="0" rtl="0" algn="l">
              <a:lnSpc>
                <a:spcPct val="100000"/>
              </a:lnSpc>
              <a:spcBef>
                <a:spcPts val="0"/>
              </a:spcBef>
              <a:spcAft>
                <a:spcPts val="0"/>
              </a:spcAft>
              <a:buClr>
                <a:schemeClr val="dk1"/>
              </a:buClr>
              <a:buSzPts val="1600"/>
              <a:buFont typeface="Arial"/>
              <a:buChar char="•"/>
            </a:pPr>
            <a:r>
              <a:rPr b="0" i="0" lang="es-PE" sz="1600" u="none" cap="none" strike="noStrike">
                <a:solidFill>
                  <a:schemeClr val="dk1"/>
                </a:solidFill>
                <a:latin typeface="Calibri"/>
                <a:ea typeface="Calibri"/>
                <a:cs typeface="Calibri"/>
                <a:sym typeface="Calibri"/>
              </a:rPr>
              <a:t>¿Cómo apalancar las nuevas tendencias tecnológicas hacia nuestros productos o servicios?</a:t>
            </a:r>
            <a:endParaRPr b="0" i="0" sz="1600" u="none" cap="none" strike="noStrike">
              <a:solidFill>
                <a:schemeClr val="dk1"/>
              </a:solidFill>
              <a:latin typeface="Calibri"/>
              <a:ea typeface="Calibri"/>
              <a:cs typeface="Calibri"/>
              <a:sym typeface="Calibri"/>
            </a:endParaRPr>
          </a:p>
          <a:p>
            <a:pPr indent="-173037" lvl="1" marL="538163" marR="0" rtl="0" algn="l">
              <a:lnSpc>
                <a:spcPct val="100000"/>
              </a:lnSpc>
              <a:spcBef>
                <a:spcPts val="0"/>
              </a:spcBef>
              <a:spcAft>
                <a:spcPts val="0"/>
              </a:spcAft>
              <a:buClr>
                <a:schemeClr val="dk1"/>
              </a:buClr>
              <a:buSzPts val="1600"/>
              <a:buFont typeface="Arial"/>
              <a:buChar char="•"/>
            </a:pPr>
            <a:r>
              <a:rPr b="0" i="0" lang="es-PE" sz="1600" u="none" cap="none" strike="noStrike">
                <a:solidFill>
                  <a:schemeClr val="dk1"/>
                </a:solidFill>
                <a:latin typeface="Calibri"/>
                <a:ea typeface="Calibri"/>
                <a:cs typeface="Calibri"/>
                <a:sym typeface="Calibri"/>
              </a:rPr>
              <a:t>¿Cómo podríamos involucrar a los clientes en la </a:t>
            </a:r>
            <a:br>
              <a:rPr b="0" i="0" lang="es-PE" sz="1600" u="none" cap="none" strike="noStrike">
                <a:solidFill>
                  <a:schemeClr val="dk1"/>
                </a:solidFill>
                <a:latin typeface="Calibri"/>
                <a:ea typeface="Calibri"/>
                <a:cs typeface="Calibri"/>
                <a:sym typeface="Calibri"/>
              </a:rPr>
            </a:br>
            <a:r>
              <a:rPr b="0" i="0" lang="es-PE" sz="1600" u="none" cap="none" strike="noStrike">
                <a:solidFill>
                  <a:schemeClr val="dk1"/>
                </a:solidFill>
                <a:latin typeface="Calibri"/>
                <a:ea typeface="Calibri"/>
                <a:cs typeface="Calibri"/>
                <a:sym typeface="Calibri"/>
              </a:rPr>
              <a:t>co-creación de productos y servicios personalizados que se ajusten a sus necesidades únicas?</a:t>
            </a:r>
            <a:endParaRPr b="0" i="0" sz="1600" u="none" cap="none" strike="noStrike">
              <a:solidFill>
                <a:schemeClr val="dk1"/>
              </a:solidFill>
              <a:latin typeface="Calibri"/>
              <a:ea typeface="Calibri"/>
              <a:cs typeface="Calibri"/>
              <a:sym typeface="Calibri"/>
            </a:endParaRPr>
          </a:p>
          <a:p>
            <a:pPr indent="-182562" lvl="1" marL="628650" marR="0" rtl="0" algn="l">
              <a:lnSpc>
                <a:spcPct val="100000"/>
              </a:lnSpc>
              <a:spcBef>
                <a:spcPts val="0"/>
              </a:spcBef>
              <a:spcAft>
                <a:spcPts val="0"/>
              </a:spcAft>
              <a:buClr>
                <a:schemeClr val="dk1"/>
              </a:buClr>
              <a:buSzPts val="1100"/>
              <a:buFont typeface="Arial"/>
              <a:buChar char="•"/>
            </a:pPr>
            <a:br>
              <a:rPr b="0" i="0" lang="es-PE" sz="1600" u="none" cap="none" strike="noStrike">
                <a:solidFill>
                  <a:schemeClr val="dk1"/>
                </a:solidFill>
                <a:latin typeface="Calibri"/>
                <a:ea typeface="Calibri"/>
                <a:cs typeface="Calibri"/>
                <a:sym typeface="Calibri"/>
              </a:rPr>
            </a:br>
            <a:endParaRPr b="0" i="0" sz="1600" u="none" cap="none" strike="noStrike">
              <a:solidFill>
                <a:schemeClr val="dk1"/>
              </a:solidFill>
              <a:latin typeface="Calibri"/>
              <a:ea typeface="Calibri"/>
              <a:cs typeface="Calibri"/>
              <a:sym typeface="Calibri"/>
            </a:endParaRPr>
          </a:p>
        </p:txBody>
      </p:sp>
      <p:sp>
        <p:nvSpPr>
          <p:cNvPr id="207" name="Google Shape;207;p15"/>
          <p:cNvSpPr/>
          <p:nvPr/>
        </p:nvSpPr>
        <p:spPr>
          <a:xfrm>
            <a:off x="503237" y="376836"/>
            <a:ext cx="5552610" cy="138499"/>
          </a:xfrm>
          <a:prstGeom prst="rect">
            <a:avLst/>
          </a:prstGeom>
          <a:noFill/>
          <a:ln>
            <a:noFill/>
          </a:ln>
        </p:spPr>
        <p:txBody>
          <a:bodyPr anchorCtr="0" anchor="b" bIns="0" lIns="0" spcFirstLastPara="1" rIns="0" wrap="square" tIns="0">
            <a:spAutoFit/>
          </a:bodyPr>
          <a:lstStyle/>
          <a:p>
            <a:pPr indent="0" lvl="0" marL="0" marR="0" rtl="0" algn="l">
              <a:lnSpc>
                <a:spcPct val="90000"/>
              </a:lnSpc>
              <a:spcBef>
                <a:spcPts val="0"/>
              </a:spcBef>
              <a:spcAft>
                <a:spcPts val="0"/>
              </a:spcAft>
              <a:buClr>
                <a:srgbClr val="000000"/>
              </a:buClr>
              <a:buSzPts val="1000"/>
              <a:buFont typeface="Arial"/>
              <a:buNone/>
            </a:pPr>
            <a:r>
              <a:rPr b="1" i="0" lang="es-PE" sz="1000" u="none" cap="none" strike="noStrike">
                <a:solidFill>
                  <a:srgbClr val="7F7F7F"/>
                </a:solidFill>
                <a:latin typeface="Calibri"/>
                <a:ea typeface="Calibri"/>
                <a:cs typeface="Calibri"/>
                <a:sym typeface="Calibri"/>
              </a:rPr>
              <a:t>+ </a:t>
            </a:r>
            <a:r>
              <a:rPr b="0" i="0" lang="es-PE" sz="1000" u="none" cap="none" strike="noStrike">
                <a:solidFill>
                  <a:srgbClr val="A5A5A5"/>
                </a:solidFill>
                <a:latin typeface="Calibri"/>
                <a:ea typeface="Calibri"/>
                <a:cs typeface="Calibri"/>
                <a:sym typeface="Calibri"/>
              </a:rPr>
              <a:t>IMPORTANCIA DE LA CUSTOMER CENTRICITY EN EL DESARROLLO DE SOLUCIONES TECNOLÓGICAS</a:t>
            </a:r>
            <a:endParaRPr b="0" i="0" sz="1400" u="none" cap="none" strike="noStrike">
              <a:solidFill>
                <a:srgbClr val="000000"/>
              </a:solidFill>
              <a:latin typeface="Arial"/>
              <a:ea typeface="Arial"/>
              <a:cs typeface="Arial"/>
              <a:sym typeface="Arial"/>
            </a:endParaRPr>
          </a:p>
        </p:txBody>
      </p:sp>
      <p:sp>
        <p:nvSpPr>
          <p:cNvPr id="208" name="Google Shape;208;p15"/>
          <p:cNvSpPr/>
          <p:nvPr/>
        </p:nvSpPr>
        <p:spPr>
          <a:xfrm>
            <a:off x="6532117" y="1390598"/>
            <a:ext cx="2158587" cy="710757"/>
          </a:xfrm>
          <a:prstGeom prst="roundRect">
            <a:avLst>
              <a:gd fmla="val 16051" name="adj"/>
            </a:avLst>
          </a:prstGeom>
          <a:solidFill>
            <a:srgbClr val="00B1C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0" i="0" lang="es-PE" sz="1600" u="none" cap="none" strike="noStrike">
                <a:solidFill>
                  <a:schemeClr val="lt1"/>
                </a:solidFill>
                <a:latin typeface="Calibri"/>
                <a:ea typeface="Calibri"/>
                <a:cs typeface="Calibri"/>
                <a:sym typeface="Calibri"/>
              </a:rPr>
              <a:t>Customer Journeys &amp; Empathy Maps</a:t>
            </a:r>
            <a:endParaRPr/>
          </a:p>
        </p:txBody>
      </p:sp>
      <p:sp>
        <p:nvSpPr>
          <p:cNvPr id="209" name="Google Shape;209;p15"/>
          <p:cNvSpPr/>
          <p:nvPr/>
        </p:nvSpPr>
        <p:spPr>
          <a:xfrm>
            <a:off x="5725244" y="1581384"/>
            <a:ext cx="612648" cy="329184"/>
          </a:xfrm>
          <a:prstGeom prst="rightArrow">
            <a:avLst>
              <a:gd fmla="val 50000" name="adj1"/>
              <a:gd fmla="val 50000" name="adj2"/>
            </a:avLst>
          </a:prstGeom>
          <a:solidFill>
            <a:srgbClr val="D9DBE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10" name="Google Shape;210;p15"/>
          <p:cNvSpPr/>
          <p:nvPr/>
        </p:nvSpPr>
        <p:spPr>
          <a:xfrm>
            <a:off x="6532117" y="2669020"/>
            <a:ext cx="2158587" cy="710757"/>
          </a:xfrm>
          <a:prstGeom prst="roundRect">
            <a:avLst>
              <a:gd fmla="val 16051" name="adj"/>
            </a:avLst>
          </a:prstGeom>
          <a:solidFill>
            <a:srgbClr val="92C14E"/>
          </a:solidFill>
          <a:ln cap="flat" cmpd="sng" w="9525">
            <a:solidFill>
              <a:srgbClr val="92C14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s-PE" sz="1600" u="none" cap="none" strike="noStrike">
                <a:solidFill>
                  <a:schemeClr val="lt1"/>
                </a:solidFill>
                <a:latin typeface="Calibri"/>
                <a:ea typeface="Calibri"/>
                <a:cs typeface="Calibri"/>
                <a:sym typeface="Calibri"/>
              </a:rPr>
              <a:t>Design Thinking </a:t>
            </a:r>
            <a:br>
              <a:rPr b="0" i="0" lang="es-PE" sz="1600" u="none" cap="none" strike="noStrike">
                <a:solidFill>
                  <a:schemeClr val="lt1"/>
                </a:solidFill>
                <a:latin typeface="Calibri"/>
                <a:ea typeface="Calibri"/>
                <a:cs typeface="Calibri"/>
                <a:sym typeface="Calibri"/>
              </a:rPr>
            </a:br>
            <a:r>
              <a:rPr b="0" i="0" lang="es-PE" sz="1600" u="none" cap="none" strike="noStrike">
                <a:solidFill>
                  <a:schemeClr val="lt1"/>
                </a:solidFill>
                <a:latin typeface="Calibri"/>
                <a:ea typeface="Calibri"/>
                <a:cs typeface="Calibri"/>
                <a:sym typeface="Calibri"/>
              </a:rPr>
              <a:t>&amp; JBTD</a:t>
            </a:r>
            <a:endParaRPr/>
          </a:p>
        </p:txBody>
      </p:sp>
      <p:sp>
        <p:nvSpPr>
          <p:cNvPr id="211" name="Google Shape;211;p15"/>
          <p:cNvSpPr/>
          <p:nvPr/>
        </p:nvSpPr>
        <p:spPr>
          <a:xfrm>
            <a:off x="6532117" y="3907067"/>
            <a:ext cx="2158587" cy="710757"/>
          </a:xfrm>
          <a:prstGeom prst="roundRect">
            <a:avLst>
              <a:gd fmla="val 16051" name="adj"/>
            </a:avLst>
          </a:prstGeom>
          <a:solidFill>
            <a:srgbClr val="808799"/>
          </a:solidFill>
          <a:ln>
            <a:noFill/>
          </a:ln>
        </p:spPr>
        <p:txBody>
          <a:bodyPr anchorCtr="0" anchor="ctr" bIns="45700" lIns="0" spcFirstLastPara="1" rIns="0" wrap="square" tIns="72000">
            <a:noAutofit/>
          </a:bodyPr>
          <a:lstStyle/>
          <a:p>
            <a:pPr indent="0" lvl="0" marL="0" marR="0" rtl="0" algn="ctr">
              <a:lnSpc>
                <a:spcPct val="100000"/>
              </a:lnSpc>
              <a:spcBef>
                <a:spcPts val="0"/>
              </a:spcBef>
              <a:spcAft>
                <a:spcPts val="0"/>
              </a:spcAft>
              <a:buNone/>
            </a:pPr>
            <a:r>
              <a:rPr b="0" i="0" lang="es-PE" sz="1600" u="none" cap="none" strike="noStrike">
                <a:solidFill>
                  <a:schemeClr val="lt1"/>
                </a:solidFill>
                <a:latin typeface="Calibri"/>
                <a:ea typeface="Calibri"/>
                <a:cs typeface="Calibri"/>
                <a:sym typeface="Calibri"/>
              </a:rPr>
              <a:t>AI, ML, IoT en </a:t>
            </a:r>
            <a:br>
              <a:rPr b="0" i="0" lang="es-PE" sz="1600" u="none" cap="none" strike="noStrike">
                <a:solidFill>
                  <a:schemeClr val="lt1"/>
                </a:solidFill>
                <a:latin typeface="Calibri"/>
                <a:ea typeface="Calibri"/>
                <a:cs typeface="Calibri"/>
                <a:sym typeface="Calibri"/>
              </a:rPr>
            </a:br>
            <a:r>
              <a:rPr b="0" i="0" lang="es-PE" sz="1600" u="none" cap="none" strike="noStrike">
                <a:solidFill>
                  <a:schemeClr val="lt1"/>
                </a:solidFill>
                <a:latin typeface="Calibri"/>
                <a:ea typeface="Calibri"/>
                <a:cs typeface="Calibri"/>
                <a:sym typeface="Calibri"/>
              </a:rPr>
              <a:t>Soluciones Tecnológicas</a:t>
            </a:r>
            <a:endParaRPr/>
          </a:p>
        </p:txBody>
      </p:sp>
      <p:sp>
        <p:nvSpPr>
          <p:cNvPr id="212" name="Google Shape;212;p15"/>
          <p:cNvSpPr/>
          <p:nvPr/>
        </p:nvSpPr>
        <p:spPr>
          <a:xfrm>
            <a:off x="5725244" y="2859806"/>
            <a:ext cx="612648" cy="329184"/>
          </a:xfrm>
          <a:prstGeom prst="rightArrow">
            <a:avLst>
              <a:gd fmla="val 50000" name="adj1"/>
              <a:gd fmla="val 50000" name="adj2"/>
            </a:avLst>
          </a:prstGeom>
          <a:solidFill>
            <a:srgbClr val="D9DBE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13" name="Google Shape;213;p15"/>
          <p:cNvSpPr/>
          <p:nvPr/>
        </p:nvSpPr>
        <p:spPr>
          <a:xfrm>
            <a:off x="5725244" y="4097853"/>
            <a:ext cx="612648" cy="329184"/>
          </a:xfrm>
          <a:prstGeom prst="rightArrow">
            <a:avLst>
              <a:gd fmla="val 50000" name="adj1"/>
              <a:gd fmla="val 50000" name="adj2"/>
            </a:avLst>
          </a:prstGeom>
          <a:solidFill>
            <a:srgbClr val="D9DBE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16"/>
          <p:cNvSpPr/>
          <p:nvPr/>
        </p:nvSpPr>
        <p:spPr>
          <a:xfrm>
            <a:off x="2392751" y="2023938"/>
            <a:ext cx="4353489" cy="1169551"/>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1" lang="es-PE" sz="2000" u="none" cap="none" strike="noStrike">
                <a:solidFill>
                  <a:srgbClr val="714FA0"/>
                </a:solidFill>
                <a:latin typeface="Calibri"/>
                <a:ea typeface="Calibri"/>
                <a:cs typeface="Calibri"/>
                <a:sym typeface="Calibri"/>
              </a:rPr>
              <a:t>If you </a:t>
            </a:r>
            <a:r>
              <a:rPr b="1" i="1" lang="es-PE" sz="2000" u="none" cap="none" strike="noStrike">
                <a:solidFill>
                  <a:schemeClr val="dk1"/>
                </a:solidFill>
                <a:latin typeface="Calibri"/>
                <a:ea typeface="Calibri"/>
                <a:cs typeface="Calibri"/>
                <a:sym typeface="Calibri"/>
              </a:rPr>
              <a:t>are not embarrassed by the first version of your product, you've launched too late</a:t>
            </a:r>
            <a:endParaRPr/>
          </a:p>
          <a:p>
            <a:pPr indent="0" lvl="0" marL="0" marR="0" rtl="0" algn="r">
              <a:lnSpc>
                <a:spcPct val="100000"/>
              </a:lnSpc>
              <a:spcBef>
                <a:spcPts val="0"/>
              </a:spcBef>
              <a:spcAft>
                <a:spcPts val="0"/>
              </a:spcAft>
              <a:buClr>
                <a:srgbClr val="000000"/>
              </a:buClr>
              <a:buSzPts val="1600"/>
              <a:buFont typeface="Arial"/>
              <a:buNone/>
            </a:pPr>
            <a:r>
              <a:rPr b="1" i="0" lang="es-PE" sz="1600" u="none" cap="none" strike="noStrike">
                <a:solidFill>
                  <a:schemeClr val="dk1"/>
                </a:solidFill>
                <a:latin typeface="Calibri"/>
                <a:ea typeface="Calibri"/>
                <a:cs typeface="Calibri"/>
                <a:sym typeface="Calibri"/>
              </a:rPr>
              <a:t>Reid Hoffman</a:t>
            </a:r>
            <a:endParaRPr/>
          </a:p>
        </p:txBody>
      </p:sp>
      <p:pic>
        <p:nvPicPr>
          <p:cNvPr id="220" name="Google Shape;220;p16"/>
          <p:cNvPicPr preferRelativeResize="0"/>
          <p:nvPr/>
        </p:nvPicPr>
        <p:blipFill rotWithShape="1">
          <a:blip r:embed="rId3">
            <a:alphaModFix/>
          </a:blip>
          <a:srcRect b="0" l="0" r="0" t="0"/>
          <a:stretch/>
        </p:blipFill>
        <p:spPr>
          <a:xfrm>
            <a:off x="1779975" y="1932381"/>
            <a:ext cx="411788" cy="338400"/>
          </a:xfrm>
          <a:prstGeom prst="rect">
            <a:avLst/>
          </a:prstGeom>
          <a:noFill/>
          <a:ln>
            <a:noFill/>
          </a:ln>
        </p:spPr>
      </p:pic>
      <p:pic>
        <p:nvPicPr>
          <p:cNvPr id="221" name="Google Shape;221;p16"/>
          <p:cNvPicPr preferRelativeResize="0"/>
          <p:nvPr/>
        </p:nvPicPr>
        <p:blipFill rotWithShape="1">
          <a:blip r:embed="rId3">
            <a:alphaModFix/>
          </a:blip>
          <a:srcRect b="0" l="0" r="0" t="0"/>
          <a:stretch/>
        </p:blipFill>
        <p:spPr>
          <a:xfrm rot="10800000">
            <a:off x="3418811" y="2691769"/>
            <a:ext cx="411788" cy="338400"/>
          </a:xfrm>
          <a:prstGeom prst="rect">
            <a:avLst/>
          </a:prstGeom>
          <a:noFill/>
          <a:ln>
            <a:noFill/>
          </a:ln>
        </p:spPr>
      </p:pic>
      <p:sp>
        <p:nvSpPr>
          <p:cNvPr id="222" name="Google Shape;222;p16"/>
          <p:cNvSpPr/>
          <p:nvPr/>
        </p:nvSpPr>
        <p:spPr>
          <a:xfrm>
            <a:off x="503237" y="376836"/>
            <a:ext cx="5552610" cy="138499"/>
          </a:xfrm>
          <a:prstGeom prst="rect">
            <a:avLst/>
          </a:prstGeom>
          <a:noFill/>
          <a:ln>
            <a:noFill/>
          </a:ln>
        </p:spPr>
        <p:txBody>
          <a:bodyPr anchorCtr="0" anchor="b" bIns="0" lIns="0" spcFirstLastPara="1" rIns="0" wrap="square" tIns="0">
            <a:spAutoFit/>
          </a:bodyPr>
          <a:lstStyle/>
          <a:p>
            <a:pPr indent="0" lvl="0" marL="0" marR="0" rtl="0" algn="l">
              <a:lnSpc>
                <a:spcPct val="90000"/>
              </a:lnSpc>
              <a:spcBef>
                <a:spcPts val="0"/>
              </a:spcBef>
              <a:spcAft>
                <a:spcPts val="0"/>
              </a:spcAft>
              <a:buClr>
                <a:srgbClr val="000000"/>
              </a:buClr>
              <a:buSzPts val="1000"/>
              <a:buFont typeface="Arial"/>
              <a:buNone/>
            </a:pPr>
            <a:r>
              <a:rPr b="1" i="0" lang="es-PE" sz="1000" u="none" cap="none" strike="noStrike">
                <a:solidFill>
                  <a:srgbClr val="7F7F7F"/>
                </a:solidFill>
                <a:latin typeface="Calibri"/>
                <a:ea typeface="Calibri"/>
                <a:cs typeface="Calibri"/>
                <a:sym typeface="Calibri"/>
              </a:rPr>
              <a:t>+ </a:t>
            </a:r>
            <a:r>
              <a:rPr b="0" i="0" lang="es-PE" sz="1000" u="none" cap="none" strike="noStrike">
                <a:solidFill>
                  <a:srgbClr val="A5A5A5"/>
                </a:solidFill>
                <a:latin typeface="Calibri"/>
                <a:ea typeface="Calibri"/>
                <a:cs typeface="Calibri"/>
                <a:sym typeface="Calibri"/>
              </a:rPr>
              <a:t>IMPORTANCIA DE LA CUSTOMER CENTRICITY EN EL DESARROLLO DE SOLUCIONES TECNOLÓGICAS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17"/>
          <p:cNvSpPr/>
          <p:nvPr/>
        </p:nvSpPr>
        <p:spPr>
          <a:xfrm>
            <a:off x="503237" y="376836"/>
            <a:ext cx="5552610" cy="138499"/>
          </a:xfrm>
          <a:prstGeom prst="rect">
            <a:avLst/>
          </a:prstGeom>
          <a:noFill/>
          <a:ln>
            <a:noFill/>
          </a:ln>
        </p:spPr>
        <p:txBody>
          <a:bodyPr anchorCtr="0" anchor="b" bIns="0" lIns="0" spcFirstLastPara="1" rIns="0" wrap="square" tIns="0">
            <a:spAutoFit/>
          </a:bodyPr>
          <a:lstStyle/>
          <a:p>
            <a:pPr indent="0" lvl="0" marL="0" marR="0" rtl="0" algn="l">
              <a:lnSpc>
                <a:spcPct val="90000"/>
              </a:lnSpc>
              <a:spcBef>
                <a:spcPts val="0"/>
              </a:spcBef>
              <a:spcAft>
                <a:spcPts val="0"/>
              </a:spcAft>
              <a:buClr>
                <a:srgbClr val="000000"/>
              </a:buClr>
              <a:buSzPts val="1000"/>
              <a:buFont typeface="Arial"/>
              <a:buNone/>
            </a:pPr>
            <a:r>
              <a:rPr b="1" i="0" lang="es-PE" sz="1000" u="none" cap="none" strike="noStrike">
                <a:solidFill>
                  <a:srgbClr val="7F7F7F"/>
                </a:solidFill>
                <a:latin typeface="Calibri"/>
                <a:ea typeface="Calibri"/>
                <a:cs typeface="Calibri"/>
                <a:sym typeface="Calibri"/>
              </a:rPr>
              <a:t>+ </a:t>
            </a:r>
            <a:r>
              <a:rPr b="0" i="0" lang="es-PE" sz="1000" u="none" cap="none" strike="noStrike">
                <a:solidFill>
                  <a:srgbClr val="A5A5A5"/>
                </a:solidFill>
                <a:latin typeface="Calibri"/>
                <a:ea typeface="Calibri"/>
                <a:cs typeface="Calibri"/>
                <a:sym typeface="Calibri"/>
              </a:rPr>
              <a:t>IMPORTANCIA DE LA CUSTOMER CENTRICITY EN EL DESARROLLO DE SOLUCIONES TECNOLÓGICAS</a:t>
            </a:r>
            <a:endParaRPr b="0" i="0" sz="1400" u="none" cap="none" strike="noStrike">
              <a:solidFill>
                <a:srgbClr val="000000"/>
              </a:solidFill>
              <a:latin typeface="Arial"/>
              <a:ea typeface="Arial"/>
              <a:cs typeface="Arial"/>
              <a:sym typeface="Arial"/>
            </a:endParaRPr>
          </a:p>
        </p:txBody>
      </p:sp>
      <p:sp>
        <p:nvSpPr>
          <p:cNvPr id="229" name="Google Shape;229;p17"/>
          <p:cNvSpPr txBox="1"/>
          <p:nvPr/>
        </p:nvSpPr>
        <p:spPr>
          <a:xfrm>
            <a:off x="502510" y="912813"/>
            <a:ext cx="5222700" cy="3386400"/>
          </a:xfrm>
          <a:prstGeom prst="rect">
            <a:avLst/>
          </a:prstGeom>
          <a:noFill/>
          <a:ln>
            <a:noFill/>
          </a:ln>
        </p:spPr>
        <p:txBody>
          <a:bodyPr anchorCtr="0" anchor="t" bIns="0" lIns="0" spcFirstLastPara="1" rIns="0" wrap="square" tIns="0">
            <a:spAutoFit/>
          </a:bodyPr>
          <a:lstStyle/>
          <a:p>
            <a:pPr indent="0" lvl="0" marL="7938" marR="0" rtl="0" algn="l">
              <a:lnSpc>
                <a:spcPct val="100000"/>
              </a:lnSpc>
              <a:spcBef>
                <a:spcPts val="0"/>
              </a:spcBef>
              <a:spcAft>
                <a:spcPts val="0"/>
              </a:spcAft>
              <a:buClr>
                <a:srgbClr val="000000"/>
              </a:buClr>
              <a:buSzPts val="1500"/>
              <a:buFont typeface="Arial"/>
              <a:buNone/>
            </a:pPr>
            <a:r>
              <a:rPr b="1" i="0" lang="es-PE" sz="1500" u="none" cap="none" strike="noStrike">
                <a:solidFill>
                  <a:srgbClr val="262626"/>
                </a:solidFill>
                <a:latin typeface="Calibri"/>
                <a:ea typeface="Calibri"/>
                <a:cs typeface="Calibri"/>
                <a:sym typeface="Calibri"/>
              </a:rPr>
              <a:t>Retos para construcción de producto</a:t>
            </a:r>
            <a:endParaRPr/>
          </a:p>
          <a:p>
            <a:pPr indent="-177800" lvl="0" marL="185738" marR="0" rtl="0" algn="l">
              <a:lnSpc>
                <a:spcPct val="100000"/>
              </a:lnSpc>
              <a:spcBef>
                <a:spcPts val="600"/>
              </a:spcBef>
              <a:spcAft>
                <a:spcPts val="0"/>
              </a:spcAft>
              <a:buClr>
                <a:schemeClr val="dk1"/>
              </a:buClr>
              <a:buSzPts val="1500"/>
              <a:buFont typeface="Arial"/>
              <a:buChar char="•"/>
            </a:pPr>
            <a:r>
              <a:rPr b="0" i="0" lang="es-PE" sz="1500" u="none" cap="none" strike="noStrike">
                <a:solidFill>
                  <a:schemeClr val="dk1"/>
                </a:solidFill>
                <a:latin typeface="Calibri"/>
                <a:ea typeface="Calibri"/>
                <a:cs typeface="Calibri"/>
                <a:sym typeface="Calibri"/>
              </a:rPr>
              <a:t>Cultura organizacional centrada en el cliente</a:t>
            </a:r>
            <a:endParaRPr b="0" i="0" sz="1500" u="none" cap="none" strike="noStrike">
              <a:solidFill>
                <a:schemeClr val="dk1"/>
              </a:solidFill>
              <a:latin typeface="Calibri"/>
              <a:ea typeface="Calibri"/>
              <a:cs typeface="Calibri"/>
              <a:sym typeface="Calibri"/>
            </a:endParaRPr>
          </a:p>
          <a:p>
            <a:pPr indent="-180975" lvl="1" marL="360363" marR="0" rtl="0" algn="l">
              <a:lnSpc>
                <a:spcPct val="100000"/>
              </a:lnSpc>
              <a:spcBef>
                <a:spcPts val="0"/>
              </a:spcBef>
              <a:spcAft>
                <a:spcPts val="0"/>
              </a:spcAft>
              <a:buClr>
                <a:schemeClr val="dk1"/>
              </a:buClr>
              <a:buSzPts val="1500"/>
              <a:buFont typeface="Arial"/>
              <a:buChar char="•"/>
            </a:pPr>
            <a:r>
              <a:rPr b="0" i="0" lang="es-PE" sz="1500" u="none" cap="none" strike="noStrike">
                <a:solidFill>
                  <a:schemeClr val="dk1"/>
                </a:solidFill>
                <a:latin typeface="Calibri"/>
                <a:ea typeface="Calibri"/>
                <a:cs typeface="Calibri"/>
                <a:sym typeface="Calibri"/>
              </a:rPr>
              <a:t>¿Cómo es la mentalidad de las empresas que adoptan este enfoque? ¿Cómo se “tangibiliza” en el día a día?</a:t>
            </a:r>
            <a:endParaRPr b="0" i="0" sz="1500" u="none" cap="none" strike="noStrike">
              <a:solidFill>
                <a:schemeClr val="dk1"/>
              </a:solidFill>
              <a:latin typeface="Calibri"/>
              <a:ea typeface="Calibri"/>
              <a:cs typeface="Calibri"/>
              <a:sym typeface="Calibri"/>
            </a:endParaRPr>
          </a:p>
          <a:p>
            <a:pPr indent="-180975" lvl="1" marL="360363" marR="0" rtl="0" algn="l">
              <a:lnSpc>
                <a:spcPct val="100000"/>
              </a:lnSpc>
              <a:spcBef>
                <a:spcPts val="0"/>
              </a:spcBef>
              <a:spcAft>
                <a:spcPts val="0"/>
              </a:spcAft>
              <a:buClr>
                <a:schemeClr val="dk1"/>
              </a:buClr>
              <a:buSzPts val="1500"/>
              <a:buFont typeface="Arial"/>
              <a:buChar char="•"/>
            </a:pPr>
            <a:r>
              <a:rPr b="0" i="0" lang="es-PE" sz="1500" u="none" cap="none" strike="noStrike">
                <a:solidFill>
                  <a:schemeClr val="dk1"/>
                </a:solidFill>
                <a:latin typeface="Calibri"/>
                <a:ea typeface="Calibri"/>
                <a:cs typeface="Calibri"/>
                <a:sym typeface="Calibri"/>
              </a:rPr>
              <a:t>¿Cómo se organiza una empresa para hacer esto? </a:t>
            </a:r>
            <a:br>
              <a:rPr b="0" i="0" lang="es-PE" sz="1500" u="none" cap="none" strike="noStrike">
                <a:solidFill>
                  <a:schemeClr val="dk1"/>
                </a:solidFill>
                <a:latin typeface="Calibri"/>
                <a:ea typeface="Calibri"/>
                <a:cs typeface="Calibri"/>
                <a:sym typeface="Calibri"/>
              </a:rPr>
            </a:br>
            <a:r>
              <a:rPr b="0" i="0" lang="es-PE" sz="1500" u="none" cap="none" strike="noStrike">
                <a:solidFill>
                  <a:schemeClr val="dk1"/>
                </a:solidFill>
                <a:latin typeface="Calibri"/>
                <a:ea typeface="Calibri"/>
                <a:cs typeface="Calibri"/>
                <a:sym typeface="Calibri"/>
              </a:rPr>
              <a:t>¿qué roles hay?</a:t>
            </a:r>
            <a:endParaRPr/>
          </a:p>
          <a:p>
            <a:pPr indent="-85725" lvl="1" marL="360363" marR="0" rtl="0" algn="l">
              <a:lnSpc>
                <a:spcPct val="100000"/>
              </a:lnSpc>
              <a:spcBef>
                <a:spcPts val="0"/>
              </a:spcBef>
              <a:spcAft>
                <a:spcPts val="0"/>
              </a:spcAft>
              <a:buClr>
                <a:schemeClr val="dk1"/>
              </a:buClr>
              <a:buSzPts val="1500"/>
              <a:buFont typeface="Arial"/>
              <a:buNone/>
            </a:pPr>
            <a:r>
              <a:t/>
            </a:r>
            <a:endParaRPr b="0" i="0" sz="1500" u="none" cap="none" strike="noStrike">
              <a:solidFill>
                <a:schemeClr val="dk1"/>
              </a:solidFill>
              <a:latin typeface="Calibri"/>
              <a:ea typeface="Calibri"/>
              <a:cs typeface="Calibri"/>
              <a:sym typeface="Calibri"/>
            </a:endParaRPr>
          </a:p>
          <a:p>
            <a:pPr indent="-177800" lvl="0" marL="185738" marR="0" rtl="0" algn="l">
              <a:lnSpc>
                <a:spcPct val="100000"/>
              </a:lnSpc>
              <a:spcBef>
                <a:spcPts val="600"/>
              </a:spcBef>
              <a:spcAft>
                <a:spcPts val="0"/>
              </a:spcAft>
              <a:buClr>
                <a:schemeClr val="dk1"/>
              </a:buClr>
              <a:buSzPts val="1500"/>
              <a:buFont typeface="Arial"/>
              <a:buChar char="•"/>
            </a:pPr>
            <a:r>
              <a:rPr b="0" i="0" lang="es-PE" sz="1500" u="none" cap="none" strike="noStrike">
                <a:solidFill>
                  <a:schemeClr val="dk1"/>
                </a:solidFill>
                <a:latin typeface="Calibri"/>
                <a:ea typeface="Calibri"/>
                <a:cs typeface="Calibri"/>
                <a:sym typeface="Calibri"/>
              </a:rPr>
              <a:t>Iteración y mejora continua</a:t>
            </a:r>
            <a:endParaRPr b="0" i="0" sz="1500" u="none" cap="none" strike="noStrike">
              <a:solidFill>
                <a:schemeClr val="dk1"/>
              </a:solidFill>
              <a:latin typeface="Calibri"/>
              <a:ea typeface="Calibri"/>
              <a:cs typeface="Calibri"/>
              <a:sym typeface="Calibri"/>
            </a:endParaRPr>
          </a:p>
          <a:p>
            <a:pPr indent="-180975" lvl="1" marL="360363" marR="0" rtl="0" algn="l">
              <a:lnSpc>
                <a:spcPct val="100000"/>
              </a:lnSpc>
              <a:spcBef>
                <a:spcPts val="0"/>
              </a:spcBef>
              <a:spcAft>
                <a:spcPts val="0"/>
              </a:spcAft>
              <a:buClr>
                <a:schemeClr val="dk1"/>
              </a:buClr>
              <a:buSzPts val="1500"/>
              <a:buFont typeface="Arial"/>
              <a:buChar char="•"/>
            </a:pPr>
            <a:r>
              <a:rPr b="0" i="0" lang="es-PE" sz="1500" u="none" cap="none" strike="noStrike">
                <a:solidFill>
                  <a:schemeClr val="dk1"/>
                </a:solidFill>
                <a:latin typeface="Calibri"/>
                <a:ea typeface="Calibri"/>
                <a:cs typeface="Calibri"/>
                <a:sym typeface="Calibri"/>
              </a:rPr>
              <a:t>¿Cómo medimos </a:t>
            </a:r>
            <a:r>
              <a:rPr lang="es-PE" sz="1500">
                <a:solidFill>
                  <a:schemeClr val="dk1"/>
                </a:solidFill>
                <a:latin typeface="Calibri"/>
                <a:ea typeface="Calibri"/>
                <a:cs typeface="Calibri"/>
                <a:sym typeface="Calibri"/>
              </a:rPr>
              <a:t>que</a:t>
            </a:r>
            <a:r>
              <a:rPr b="0" i="0" lang="es-PE" sz="1500" u="none" cap="none" strike="noStrike">
                <a:solidFill>
                  <a:schemeClr val="dk1"/>
                </a:solidFill>
                <a:latin typeface="Calibri"/>
                <a:ea typeface="Calibri"/>
                <a:cs typeface="Calibri"/>
                <a:sym typeface="Calibri"/>
              </a:rPr>
              <a:t> tan “customer centric” es nuestra solución? </a:t>
            </a:r>
            <a:br>
              <a:rPr b="0" i="0" lang="es-PE" sz="1500" u="none" cap="none" strike="noStrike">
                <a:solidFill>
                  <a:schemeClr val="dk1"/>
                </a:solidFill>
                <a:latin typeface="Calibri"/>
                <a:ea typeface="Calibri"/>
                <a:cs typeface="Calibri"/>
                <a:sym typeface="Calibri"/>
              </a:rPr>
            </a:br>
            <a:r>
              <a:rPr b="0" i="0" lang="es-PE" sz="1500" u="none" cap="none" strike="noStrike">
                <a:solidFill>
                  <a:schemeClr val="dk1"/>
                </a:solidFill>
                <a:latin typeface="Calibri"/>
                <a:ea typeface="Calibri"/>
                <a:cs typeface="Calibri"/>
                <a:sym typeface="Calibri"/>
              </a:rPr>
              <a:t>¿Qué hacer cuando tengamos números? ¿Cómo accionamos?</a:t>
            </a:r>
            <a:endParaRPr b="0" i="0" sz="1500" u="none" cap="none" strike="noStrike">
              <a:solidFill>
                <a:schemeClr val="dk1"/>
              </a:solidFill>
              <a:latin typeface="Calibri"/>
              <a:ea typeface="Calibri"/>
              <a:cs typeface="Calibri"/>
              <a:sym typeface="Calibri"/>
            </a:endParaRPr>
          </a:p>
          <a:p>
            <a:pPr indent="-180975" lvl="1" marL="360363" marR="0" rtl="0" algn="l">
              <a:lnSpc>
                <a:spcPct val="100000"/>
              </a:lnSpc>
              <a:spcBef>
                <a:spcPts val="0"/>
              </a:spcBef>
              <a:spcAft>
                <a:spcPts val="0"/>
              </a:spcAft>
              <a:buClr>
                <a:schemeClr val="dk1"/>
              </a:buClr>
              <a:buSzPts val="1500"/>
              <a:buFont typeface="Arial"/>
              <a:buChar char="•"/>
            </a:pPr>
            <a:r>
              <a:rPr b="0" i="0" lang="es-PE" sz="1500" u="none" cap="none" strike="noStrike">
                <a:solidFill>
                  <a:schemeClr val="dk1"/>
                </a:solidFill>
                <a:latin typeface="Calibri"/>
                <a:ea typeface="Calibri"/>
                <a:cs typeface="Calibri"/>
                <a:sym typeface="Calibri"/>
              </a:rPr>
              <a:t>¿Cómo hacemos estos experimentos? </a:t>
            </a:r>
            <a:br>
              <a:rPr b="0" i="0" lang="es-PE" sz="1500" u="none" cap="none" strike="noStrike">
                <a:solidFill>
                  <a:schemeClr val="dk1"/>
                </a:solidFill>
                <a:latin typeface="Calibri"/>
                <a:ea typeface="Calibri"/>
                <a:cs typeface="Calibri"/>
                <a:sym typeface="Calibri"/>
              </a:rPr>
            </a:br>
            <a:r>
              <a:rPr b="0" i="0" lang="es-PE" sz="1500" u="none" cap="none" strike="noStrike">
                <a:solidFill>
                  <a:schemeClr val="dk1"/>
                </a:solidFill>
                <a:latin typeface="Calibri"/>
                <a:ea typeface="Calibri"/>
                <a:cs typeface="Calibri"/>
                <a:sym typeface="Calibri"/>
              </a:rPr>
              <a:t>¿En qué softwares? </a:t>
            </a:r>
            <a:br>
              <a:rPr b="0" i="0" lang="es-PE" sz="1500" u="none" cap="none" strike="noStrike">
                <a:solidFill>
                  <a:schemeClr val="dk1"/>
                </a:solidFill>
                <a:latin typeface="Calibri"/>
                <a:ea typeface="Calibri"/>
                <a:cs typeface="Calibri"/>
                <a:sym typeface="Calibri"/>
              </a:rPr>
            </a:br>
            <a:endParaRPr b="0" i="0" sz="1500" u="none" cap="none" strike="noStrike">
              <a:solidFill>
                <a:schemeClr val="dk1"/>
              </a:solidFill>
              <a:latin typeface="Calibri"/>
              <a:ea typeface="Calibri"/>
              <a:cs typeface="Calibri"/>
              <a:sym typeface="Calibri"/>
            </a:endParaRPr>
          </a:p>
        </p:txBody>
      </p:sp>
      <p:sp>
        <p:nvSpPr>
          <p:cNvPr id="230" name="Google Shape;230;p17"/>
          <p:cNvSpPr/>
          <p:nvPr/>
        </p:nvSpPr>
        <p:spPr>
          <a:xfrm>
            <a:off x="6532117" y="1357482"/>
            <a:ext cx="2158587" cy="710757"/>
          </a:xfrm>
          <a:prstGeom prst="roundRect">
            <a:avLst>
              <a:gd fmla="val 16051" name="adj"/>
            </a:avLst>
          </a:prstGeom>
          <a:solidFill>
            <a:srgbClr val="00B1C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s-PE" sz="1600" u="none" cap="none" strike="noStrike">
                <a:solidFill>
                  <a:schemeClr val="lt1"/>
                </a:solidFill>
                <a:latin typeface="Calibri"/>
                <a:ea typeface="Calibri"/>
                <a:cs typeface="Calibri"/>
                <a:sym typeface="Calibri"/>
              </a:rPr>
              <a:t>Agilidad &amp; Cultura</a:t>
            </a:r>
            <a:endParaRPr/>
          </a:p>
        </p:txBody>
      </p:sp>
      <p:sp>
        <p:nvSpPr>
          <p:cNvPr id="231" name="Google Shape;231;p17"/>
          <p:cNvSpPr/>
          <p:nvPr/>
        </p:nvSpPr>
        <p:spPr>
          <a:xfrm>
            <a:off x="5725244" y="1548268"/>
            <a:ext cx="612648" cy="329184"/>
          </a:xfrm>
          <a:prstGeom prst="rightArrow">
            <a:avLst>
              <a:gd fmla="val 50000" name="adj1"/>
              <a:gd fmla="val 50000" name="adj2"/>
            </a:avLst>
          </a:prstGeom>
          <a:solidFill>
            <a:srgbClr val="D9DBE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32" name="Google Shape;232;p17"/>
          <p:cNvSpPr/>
          <p:nvPr/>
        </p:nvSpPr>
        <p:spPr>
          <a:xfrm>
            <a:off x="6532117" y="2936005"/>
            <a:ext cx="2158587" cy="710757"/>
          </a:xfrm>
          <a:prstGeom prst="roundRect">
            <a:avLst>
              <a:gd fmla="val 16051" name="adj"/>
            </a:avLst>
          </a:prstGeom>
          <a:solidFill>
            <a:srgbClr val="92C14E"/>
          </a:solidFill>
          <a:ln cap="flat" cmpd="sng" w="9525">
            <a:solidFill>
              <a:srgbClr val="92C14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0" i="0" lang="es-PE" sz="1600" u="none" cap="none" strike="noStrike">
                <a:solidFill>
                  <a:schemeClr val="lt1"/>
                </a:solidFill>
                <a:latin typeface="Calibri"/>
                <a:ea typeface="Calibri"/>
                <a:cs typeface="Calibri"/>
                <a:sym typeface="Calibri"/>
              </a:rPr>
              <a:t>Analítica en </a:t>
            </a:r>
            <a:br>
              <a:rPr b="0" i="0" lang="es-PE" sz="1600" u="none" cap="none" strike="noStrike">
                <a:solidFill>
                  <a:schemeClr val="lt1"/>
                </a:solidFill>
                <a:latin typeface="Calibri"/>
                <a:ea typeface="Calibri"/>
                <a:cs typeface="Calibri"/>
                <a:sym typeface="Calibri"/>
              </a:rPr>
            </a:br>
            <a:r>
              <a:rPr b="0" i="0" lang="es-PE" sz="1600" u="none" cap="none" strike="noStrike">
                <a:solidFill>
                  <a:schemeClr val="lt1"/>
                </a:solidFill>
                <a:latin typeface="Calibri"/>
                <a:ea typeface="Calibri"/>
                <a:cs typeface="Calibri"/>
                <a:sym typeface="Calibri"/>
              </a:rPr>
              <a:t>Productos Digitales</a:t>
            </a:r>
            <a:endParaRPr/>
          </a:p>
        </p:txBody>
      </p:sp>
      <p:sp>
        <p:nvSpPr>
          <p:cNvPr id="233" name="Google Shape;233;p17"/>
          <p:cNvSpPr/>
          <p:nvPr/>
        </p:nvSpPr>
        <p:spPr>
          <a:xfrm>
            <a:off x="5725244" y="3126791"/>
            <a:ext cx="612648" cy="329184"/>
          </a:xfrm>
          <a:prstGeom prst="rightArrow">
            <a:avLst>
              <a:gd fmla="val 50000" name="adj1"/>
              <a:gd fmla="val 50000" name="adj2"/>
            </a:avLst>
          </a:prstGeom>
          <a:solidFill>
            <a:srgbClr val="D9DBE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18"/>
          <p:cNvSpPr/>
          <p:nvPr/>
        </p:nvSpPr>
        <p:spPr>
          <a:xfrm>
            <a:off x="3200400" y="2085815"/>
            <a:ext cx="4871544" cy="1575816"/>
          </a:xfrm>
          <a:prstGeom prst="rect">
            <a:avLst/>
          </a:prstGeom>
          <a:noFill/>
          <a:ln>
            <a:noFill/>
          </a:ln>
        </p:spPr>
        <p:txBody>
          <a:bodyPr anchorCtr="0" anchor="t" bIns="0" lIns="0" spcFirstLastPara="1" rIns="0" wrap="square" tIns="0">
            <a:spAutoFit/>
          </a:bodyPr>
          <a:lstStyle/>
          <a:p>
            <a:pPr indent="0" lvl="0" marL="0" marR="0" rtl="0" algn="l">
              <a:lnSpc>
                <a:spcPct val="80000"/>
              </a:lnSpc>
              <a:spcBef>
                <a:spcPts val="0"/>
              </a:spcBef>
              <a:spcAft>
                <a:spcPts val="0"/>
              </a:spcAft>
              <a:buNone/>
            </a:pPr>
            <a:r>
              <a:rPr b="1" i="0" lang="es-PE" sz="3200" u="none" cap="none" strike="noStrike">
                <a:solidFill>
                  <a:srgbClr val="00B2C3"/>
                </a:solidFill>
                <a:latin typeface="Arial"/>
                <a:ea typeface="Arial"/>
                <a:cs typeface="Arial"/>
                <a:sym typeface="Arial"/>
              </a:rPr>
              <a:t>TODO ESTO</a:t>
            </a:r>
            <a:endParaRPr/>
          </a:p>
          <a:p>
            <a:pPr indent="0" lvl="0" marL="0" marR="0" rtl="0" algn="l">
              <a:lnSpc>
                <a:spcPct val="80000"/>
              </a:lnSpc>
              <a:spcBef>
                <a:spcPts val="0"/>
              </a:spcBef>
              <a:spcAft>
                <a:spcPts val="0"/>
              </a:spcAft>
              <a:buNone/>
            </a:pPr>
            <a:r>
              <a:rPr b="1" i="0" lang="es-PE" sz="3200" u="none" cap="none" strike="noStrike">
                <a:solidFill>
                  <a:schemeClr val="dk1"/>
                </a:solidFill>
                <a:latin typeface="Arial"/>
                <a:ea typeface="Arial"/>
                <a:cs typeface="Arial"/>
                <a:sym typeface="Arial"/>
              </a:rPr>
              <a:t>LO VEREMOS </a:t>
            </a:r>
            <a:endParaRPr/>
          </a:p>
          <a:p>
            <a:pPr indent="0" lvl="0" marL="0" marR="0" rtl="0" algn="l">
              <a:lnSpc>
                <a:spcPct val="80000"/>
              </a:lnSpc>
              <a:spcBef>
                <a:spcPts val="0"/>
              </a:spcBef>
              <a:spcAft>
                <a:spcPts val="0"/>
              </a:spcAft>
              <a:buNone/>
            </a:pPr>
            <a:r>
              <a:rPr b="1" i="0" lang="es-PE" sz="3200" u="none" cap="none" strike="noStrike">
                <a:solidFill>
                  <a:schemeClr val="dk1"/>
                </a:solidFill>
                <a:latin typeface="Arial"/>
                <a:ea typeface="Arial"/>
                <a:cs typeface="Arial"/>
                <a:sym typeface="Arial"/>
              </a:rPr>
              <a:t>DURANTE EL CURSO</a:t>
            </a:r>
            <a:endParaRPr b="1" i="0" sz="3200" u="none" cap="none" strike="noStrike">
              <a:solidFill>
                <a:schemeClr val="dk1"/>
              </a:solidFill>
              <a:latin typeface="Arial"/>
              <a:ea typeface="Arial"/>
              <a:cs typeface="Arial"/>
              <a:sym typeface="Arial"/>
            </a:endParaRPr>
          </a:p>
          <a:p>
            <a:pPr indent="0" lvl="0" marL="0" marR="0" rtl="0" algn="l">
              <a:lnSpc>
                <a:spcPct val="80000"/>
              </a:lnSpc>
              <a:spcBef>
                <a:spcPts val="0"/>
              </a:spcBef>
              <a:spcAft>
                <a:spcPts val="0"/>
              </a:spcAft>
              <a:buNone/>
            </a:pPr>
            <a:r>
              <a:t/>
            </a:r>
            <a:endParaRPr b="1" i="0" sz="3200" u="none" cap="none" strike="noStrike">
              <a:solidFill>
                <a:srgbClr val="00B2C3"/>
              </a:solidFill>
              <a:latin typeface="Arial"/>
              <a:ea typeface="Arial"/>
              <a:cs typeface="Arial"/>
              <a:sym typeface="Arial"/>
            </a:endParaRPr>
          </a:p>
        </p:txBody>
      </p:sp>
      <p:pic>
        <p:nvPicPr>
          <p:cNvPr id="240" name="Google Shape;240;p18"/>
          <p:cNvPicPr preferRelativeResize="0"/>
          <p:nvPr/>
        </p:nvPicPr>
        <p:blipFill rotWithShape="1">
          <a:blip r:embed="rId3">
            <a:alphaModFix/>
          </a:blip>
          <a:srcRect b="0" l="0" r="0" t="0"/>
          <a:stretch/>
        </p:blipFill>
        <p:spPr>
          <a:xfrm>
            <a:off x="1511674" y="2085815"/>
            <a:ext cx="1444487" cy="1238132"/>
          </a:xfrm>
          <a:prstGeom prst="rect">
            <a:avLst/>
          </a:prstGeom>
          <a:noFill/>
          <a:ln>
            <a:noFill/>
          </a:ln>
        </p:spPr>
      </p:pic>
      <p:sp>
        <p:nvSpPr>
          <p:cNvPr id="241" name="Google Shape;241;p18"/>
          <p:cNvSpPr/>
          <p:nvPr/>
        </p:nvSpPr>
        <p:spPr>
          <a:xfrm>
            <a:off x="503237" y="376836"/>
            <a:ext cx="5552610" cy="138499"/>
          </a:xfrm>
          <a:prstGeom prst="rect">
            <a:avLst/>
          </a:prstGeom>
          <a:noFill/>
          <a:ln>
            <a:noFill/>
          </a:ln>
        </p:spPr>
        <p:txBody>
          <a:bodyPr anchorCtr="0" anchor="b" bIns="0" lIns="0" spcFirstLastPara="1" rIns="0" wrap="square" tIns="0">
            <a:spAutoFit/>
          </a:bodyPr>
          <a:lstStyle/>
          <a:p>
            <a:pPr indent="0" lvl="0" marL="0" marR="0" rtl="0" algn="l">
              <a:lnSpc>
                <a:spcPct val="90000"/>
              </a:lnSpc>
              <a:spcBef>
                <a:spcPts val="0"/>
              </a:spcBef>
              <a:spcAft>
                <a:spcPts val="0"/>
              </a:spcAft>
              <a:buClr>
                <a:srgbClr val="000000"/>
              </a:buClr>
              <a:buSzPts val="1000"/>
              <a:buFont typeface="Arial"/>
              <a:buNone/>
            </a:pPr>
            <a:r>
              <a:rPr b="1" i="0" lang="es-PE" sz="1000" u="none" cap="none" strike="noStrike">
                <a:solidFill>
                  <a:srgbClr val="7F7F7F"/>
                </a:solidFill>
                <a:latin typeface="Calibri"/>
                <a:ea typeface="Calibri"/>
                <a:cs typeface="Calibri"/>
                <a:sym typeface="Calibri"/>
              </a:rPr>
              <a:t>+ </a:t>
            </a:r>
            <a:r>
              <a:rPr b="0" i="0" lang="es-PE" sz="1000" u="none" cap="none" strike="noStrike">
                <a:solidFill>
                  <a:srgbClr val="A5A5A5"/>
                </a:solidFill>
                <a:latin typeface="Calibri"/>
                <a:ea typeface="Calibri"/>
                <a:cs typeface="Calibri"/>
                <a:sym typeface="Calibri"/>
              </a:rPr>
              <a:t>IMPORTANCIA DE LA CUSTOMER CENTRICITY EN EL DESARROLLO DE SOLUCIONES TECNOLÓGICAS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19"/>
          <p:cNvSpPr/>
          <p:nvPr/>
        </p:nvSpPr>
        <p:spPr>
          <a:xfrm>
            <a:off x="0" y="0"/>
            <a:ext cx="9144000" cy="5715000"/>
          </a:xfrm>
          <a:prstGeom prst="rect">
            <a:avLst/>
          </a:prstGeom>
          <a:solidFill>
            <a:srgbClr val="8087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48" name="Google Shape;248;p19"/>
          <p:cNvSpPr txBox="1"/>
          <p:nvPr/>
        </p:nvSpPr>
        <p:spPr>
          <a:xfrm>
            <a:off x="1008063" y="3169972"/>
            <a:ext cx="5993558" cy="997196"/>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Clr>
                <a:srgbClr val="000000"/>
              </a:buClr>
              <a:buSzPts val="2400"/>
              <a:buFont typeface="Arial"/>
              <a:buNone/>
            </a:pPr>
            <a:r>
              <a:rPr b="0" i="0" lang="es-PE" sz="2400" u="none" cap="none" strike="noStrike">
                <a:solidFill>
                  <a:schemeClr val="lt1"/>
                </a:solidFill>
                <a:latin typeface="Arial"/>
                <a:ea typeface="Arial"/>
                <a:cs typeface="Arial"/>
                <a:sym typeface="Arial"/>
              </a:rPr>
              <a:t>PRINCIPALES BENEFICIOS </a:t>
            </a:r>
            <a:br>
              <a:rPr b="0" i="0" lang="es-PE" sz="2400" u="none" cap="none" strike="noStrike">
                <a:solidFill>
                  <a:schemeClr val="lt1"/>
                </a:solidFill>
                <a:latin typeface="Arial"/>
                <a:ea typeface="Arial"/>
                <a:cs typeface="Arial"/>
                <a:sym typeface="Arial"/>
              </a:rPr>
            </a:br>
            <a:r>
              <a:rPr b="1" i="0" lang="es-PE" sz="2400" u="none" cap="none" strike="noStrike">
                <a:solidFill>
                  <a:schemeClr val="lt1"/>
                </a:solidFill>
                <a:latin typeface="Arial"/>
                <a:ea typeface="Arial"/>
                <a:cs typeface="Arial"/>
                <a:sym typeface="Arial"/>
              </a:rPr>
              <a:t>Y DESAFÍOS EN LA </a:t>
            </a:r>
            <a:br>
              <a:rPr b="1" i="0" lang="es-PE" sz="2400" u="none" cap="none" strike="noStrike">
                <a:solidFill>
                  <a:schemeClr val="lt1"/>
                </a:solidFill>
                <a:latin typeface="Arial"/>
                <a:ea typeface="Arial"/>
                <a:cs typeface="Arial"/>
                <a:sym typeface="Arial"/>
              </a:rPr>
            </a:br>
            <a:r>
              <a:rPr b="1" i="0" lang="es-PE" sz="2400" u="none" cap="none" strike="noStrike">
                <a:solidFill>
                  <a:schemeClr val="lt1"/>
                </a:solidFill>
                <a:latin typeface="Arial"/>
                <a:ea typeface="Arial"/>
                <a:cs typeface="Arial"/>
                <a:sym typeface="Arial"/>
              </a:rPr>
              <a:t>INDUSTRIA DIGITAL</a:t>
            </a:r>
            <a:endParaRPr/>
          </a:p>
        </p:txBody>
      </p:sp>
      <p:pic>
        <p:nvPicPr>
          <p:cNvPr id="249" name="Google Shape;249;p19"/>
          <p:cNvPicPr preferRelativeResize="0"/>
          <p:nvPr/>
        </p:nvPicPr>
        <p:blipFill rotWithShape="1">
          <a:blip r:embed="rId3">
            <a:alphaModFix/>
          </a:blip>
          <a:srcRect b="0" l="0" r="0" t="0"/>
          <a:stretch/>
        </p:blipFill>
        <p:spPr>
          <a:xfrm>
            <a:off x="1008063" y="2869612"/>
            <a:ext cx="195423" cy="201256"/>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20"/>
          <p:cNvSpPr txBox="1"/>
          <p:nvPr/>
        </p:nvSpPr>
        <p:spPr>
          <a:xfrm>
            <a:off x="503238" y="832947"/>
            <a:ext cx="4572000" cy="369332"/>
          </a:xfrm>
          <a:prstGeom prst="rect">
            <a:avLst/>
          </a:prstGeom>
          <a:noFill/>
          <a:ln>
            <a:noFill/>
          </a:ln>
        </p:spPr>
        <p:txBody>
          <a:bodyPr anchorCtr="0" anchor="t" bIns="0" lIns="0" spcFirstLastPara="1" rIns="0" wrap="square" tIns="0">
            <a:spAutoFit/>
          </a:bodyPr>
          <a:lstStyle/>
          <a:p>
            <a:pPr indent="0" lvl="0" marL="11725" marR="0" rtl="0" algn="l">
              <a:lnSpc>
                <a:spcPct val="150000"/>
              </a:lnSpc>
              <a:spcBef>
                <a:spcPts val="0"/>
              </a:spcBef>
              <a:spcAft>
                <a:spcPts val="0"/>
              </a:spcAft>
              <a:buClr>
                <a:srgbClr val="000000"/>
              </a:buClr>
              <a:buSzPts val="1600"/>
              <a:buFont typeface="Arial"/>
              <a:buNone/>
            </a:pPr>
            <a:r>
              <a:rPr b="1" i="0" lang="es-PE" sz="1600" u="none" cap="none" strike="noStrike">
                <a:solidFill>
                  <a:srgbClr val="262626"/>
                </a:solidFill>
                <a:latin typeface="Calibri"/>
                <a:ea typeface="Calibri"/>
                <a:cs typeface="Calibri"/>
                <a:sym typeface="Calibri"/>
              </a:rPr>
              <a:t>¿Cómo se desarrollaba software previamente?</a:t>
            </a:r>
            <a:endParaRPr b="0" i="0" sz="1200" u="none" cap="none" strike="noStrike">
              <a:solidFill>
                <a:srgbClr val="000000"/>
              </a:solidFill>
              <a:latin typeface="Arial"/>
              <a:ea typeface="Arial"/>
              <a:cs typeface="Arial"/>
              <a:sym typeface="Arial"/>
            </a:endParaRPr>
          </a:p>
        </p:txBody>
      </p:sp>
      <p:sp>
        <p:nvSpPr>
          <p:cNvPr id="256" name="Google Shape;256;p20"/>
          <p:cNvSpPr txBox="1"/>
          <p:nvPr/>
        </p:nvSpPr>
        <p:spPr>
          <a:xfrm>
            <a:off x="992173" y="3791730"/>
            <a:ext cx="1549859" cy="553998"/>
          </a:xfrm>
          <a:prstGeom prst="rect">
            <a:avLst/>
          </a:prstGeom>
          <a:noFill/>
          <a:ln>
            <a:noFill/>
          </a:ln>
        </p:spPr>
        <p:txBody>
          <a:bodyPr anchorCtr="0" anchor="t" bIns="0" lIns="0" spcFirstLastPara="1" rIns="0" wrap="square" tIns="0">
            <a:spAutoFit/>
          </a:bodyPr>
          <a:lstStyle/>
          <a:p>
            <a:pPr indent="-88900" lvl="0" marL="88900" marR="0" rtl="0" algn="l">
              <a:lnSpc>
                <a:spcPct val="100000"/>
              </a:lnSpc>
              <a:spcBef>
                <a:spcPts val="0"/>
              </a:spcBef>
              <a:spcAft>
                <a:spcPts val="0"/>
              </a:spcAft>
              <a:buClr>
                <a:srgbClr val="00B1C3"/>
              </a:buClr>
              <a:buSzPts val="1200"/>
              <a:buFont typeface="Arial"/>
              <a:buChar char="•"/>
            </a:pPr>
            <a:r>
              <a:rPr b="1" i="0" lang="es-PE" sz="1200" u="none" cap="none" strike="noStrike">
                <a:solidFill>
                  <a:srgbClr val="00B1C3"/>
                </a:solidFill>
                <a:latin typeface="Calibri"/>
                <a:ea typeface="Calibri"/>
                <a:cs typeface="Calibri"/>
                <a:sym typeface="Calibri"/>
              </a:rPr>
              <a:t>CEO con muchas otras prioridades al mismo tiempo.</a:t>
            </a:r>
            <a:endParaRPr b="1" i="0" sz="1200" u="none" cap="none" strike="noStrike">
              <a:solidFill>
                <a:srgbClr val="00B1C3"/>
              </a:solidFill>
              <a:latin typeface="Calibri"/>
              <a:ea typeface="Calibri"/>
              <a:cs typeface="Calibri"/>
              <a:sym typeface="Calibri"/>
            </a:endParaRPr>
          </a:p>
        </p:txBody>
      </p:sp>
      <p:sp>
        <p:nvSpPr>
          <p:cNvPr id="257" name="Google Shape;257;p20"/>
          <p:cNvSpPr txBox="1"/>
          <p:nvPr/>
        </p:nvSpPr>
        <p:spPr>
          <a:xfrm>
            <a:off x="6624349" y="3791730"/>
            <a:ext cx="1960535" cy="601255"/>
          </a:xfrm>
          <a:prstGeom prst="rect">
            <a:avLst/>
          </a:prstGeom>
          <a:noFill/>
          <a:ln>
            <a:noFill/>
          </a:ln>
        </p:spPr>
        <p:txBody>
          <a:bodyPr anchorCtr="0" anchor="t" bIns="46800" lIns="0" spcFirstLastPara="1" rIns="0" wrap="square" tIns="0">
            <a:spAutoFit/>
          </a:bodyPr>
          <a:lstStyle/>
          <a:p>
            <a:pPr indent="-88900" lvl="0" marL="88900" marR="0" rtl="0" algn="l">
              <a:lnSpc>
                <a:spcPct val="100000"/>
              </a:lnSpc>
              <a:spcBef>
                <a:spcPts val="0"/>
              </a:spcBef>
              <a:spcAft>
                <a:spcPts val="0"/>
              </a:spcAft>
              <a:buClr>
                <a:srgbClr val="EF4639"/>
              </a:buClr>
              <a:buSzPts val="1200"/>
              <a:buFont typeface="Arial"/>
              <a:buChar char="•"/>
            </a:pPr>
            <a:r>
              <a:rPr b="1" i="0" lang="es-PE" sz="1200" u="none" cap="none" strike="noStrike">
                <a:solidFill>
                  <a:srgbClr val="EF4639"/>
                </a:solidFill>
                <a:latin typeface="Calibri"/>
                <a:ea typeface="Calibri"/>
                <a:cs typeface="Calibri"/>
                <a:sym typeface="Calibri"/>
              </a:rPr>
              <a:t>No existe el enfoque colaborativo con otros departamentos.</a:t>
            </a:r>
            <a:endParaRPr b="1" i="0" sz="1200" u="none" cap="none" strike="noStrike">
              <a:solidFill>
                <a:srgbClr val="EF4639"/>
              </a:solidFill>
              <a:latin typeface="Calibri"/>
              <a:ea typeface="Calibri"/>
              <a:cs typeface="Calibri"/>
              <a:sym typeface="Calibri"/>
            </a:endParaRPr>
          </a:p>
        </p:txBody>
      </p:sp>
      <p:sp>
        <p:nvSpPr>
          <p:cNvPr id="258" name="Google Shape;258;p20"/>
          <p:cNvSpPr txBox="1"/>
          <p:nvPr/>
        </p:nvSpPr>
        <p:spPr>
          <a:xfrm>
            <a:off x="3902185" y="3791730"/>
            <a:ext cx="1811060" cy="1107996"/>
          </a:xfrm>
          <a:prstGeom prst="rect">
            <a:avLst/>
          </a:prstGeom>
          <a:noFill/>
          <a:ln>
            <a:noFill/>
          </a:ln>
        </p:spPr>
        <p:txBody>
          <a:bodyPr anchorCtr="0" anchor="t" bIns="0" lIns="0" spcFirstLastPara="1" rIns="0" wrap="square" tIns="0">
            <a:spAutoFit/>
          </a:bodyPr>
          <a:lstStyle/>
          <a:p>
            <a:pPr indent="-88900" lvl="0" marL="88900" marR="0" rtl="0" algn="l">
              <a:lnSpc>
                <a:spcPct val="100000"/>
              </a:lnSpc>
              <a:spcBef>
                <a:spcPts val="0"/>
              </a:spcBef>
              <a:spcAft>
                <a:spcPts val="0"/>
              </a:spcAft>
              <a:buClr>
                <a:srgbClr val="92C14E"/>
              </a:buClr>
              <a:buSzPts val="1200"/>
              <a:buFont typeface="Arial"/>
              <a:buChar char="•"/>
            </a:pPr>
            <a:r>
              <a:rPr b="1" i="0" lang="es-PE" sz="1200" u="none" cap="none" strike="noStrike">
                <a:solidFill>
                  <a:srgbClr val="92C14E"/>
                </a:solidFill>
                <a:latin typeface="Calibri"/>
                <a:ea typeface="Calibri"/>
                <a:cs typeface="Calibri"/>
                <a:sym typeface="Calibri"/>
              </a:rPr>
              <a:t>Enfoque se daba en cumplir los requisitos y especificaciones.</a:t>
            </a:r>
            <a:endParaRPr/>
          </a:p>
          <a:p>
            <a:pPr indent="-88900" lvl="0" marL="88900" marR="0" rtl="0" algn="l">
              <a:lnSpc>
                <a:spcPct val="100000"/>
              </a:lnSpc>
              <a:spcBef>
                <a:spcPts val="0"/>
              </a:spcBef>
              <a:spcAft>
                <a:spcPts val="0"/>
              </a:spcAft>
              <a:buClr>
                <a:srgbClr val="92C14E"/>
              </a:buClr>
              <a:buSzPts val="1200"/>
              <a:buFont typeface="Arial"/>
              <a:buChar char="•"/>
            </a:pPr>
            <a:r>
              <a:rPr b="1" i="0" lang="es-PE" sz="1200" u="none" cap="none" strike="noStrike">
                <a:solidFill>
                  <a:srgbClr val="92C14E"/>
                </a:solidFill>
                <a:latin typeface="Calibri"/>
                <a:ea typeface="Calibri"/>
                <a:cs typeface="Calibri"/>
                <a:sym typeface="Calibri"/>
              </a:rPr>
              <a:t>No existían validaciones en el intermedio.</a:t>
            </a:r>
            <a:endParaRPr/>
          </a:p>
          <a:p>
            <a:pPr indent="-12700" lvl="0" marL="88900" marR="0" rtl="0" algn="l">
              <a:lnSpc>
                <a:spcPct val="100000"/>
              </a:lnSpc>
              <a:spcBef>
                <a:spcPts val="0"/>
              </a:spcBef>
              <a:spcAft>
                <a:spcPts val="0"/>
              </a:spcAft>
              <a:buClr>
                <a:srgbClr val="92C14E"/>
              </a:buClr>
              <a:buSzPts val="1200"/>
              <a:buFont typeface="Arial"/>
              <a:buNone/>
            </a:pPr>
            <a:r>
              <a:t/>
            </a:r>
            <a:endParaRPr b="0" i="0" sz="1200" u="none" cap="none" strike="noStrike">
              <a:solidFill>
                <a:srgbClr val="92C14E"/>
              </a:solidFill>
              <a:latin typeface="Calibri"/>
              <a:ea typeface="Calibri"/>
              <a:cs typeface="Calibri"/>
              <a:sym typeface="Calibri"/>
            </a:endParaRPr>
          </a:p>
        </p:txBody>
      </p:sp>
      <p:sp>
        <p:nvSpPr>
          <p:cNvPr id="259" name="Google Shape;259;p20"/>
          <p:cNvSpPr/>
          <p:nvPr/>
        </p:nvSpPr>
        <p:spPr>
          <a:xfrm>
            <a:off x="503237" y="385980"/>
            <a:ext cx="5552610" cy="138499"/>
          </a:xfrm>
          <a:prstGeom prst="rect">
            <a:avLst/>
          </a:prstGeom>
          <a:noFill/>
          <a:ln>
            <a:noFill/>
          </a:ln>
        </p:spPr>
        <p:txBody>
          <a:bodyPr anchorCtr="0" anchor="b" bIns="0" lIns="0" spcFirstLastPara="1" rIns="0" wrap="square" tIns="0">
            <a:spAutoFit/>
          </a:bodyPr>
          <a:lstStyle/>
          <a:p>
            <a:pPr indent="0" lvl="0" marL="0" marR="0" rtl="0" algn="l">
              <a:lnSpc>
                <a:spcPct val="90000"/>
              </a:lnSpc>
              <a:spcBef>
                <a:spcPts val="0"/>
              </a:spcBef>
              <a:spcAft>
                <a:spcPts val="0"/>
              </a:spcAft>
              <a:buClr>
                <a:srgbClr val="000000"/>
              </a:buClr>
              <a:buSzPts val="1000"/>
              <a:buFont typeface="Arial"/>
              <a:buNone/>
            </a:pPr>
            <a:r>
              <a:rPr b="1" i="0" lang="es-PE" sz="1000" u="none" cap="none" strike="noStrike">
                <a:solidFill>
                  <a:srgbClr val="7F7F7F"/>
                </a:solidFill>
                <a:latin typeface="Calibri"/>
                <a:ea typeface="Calibri"/>
                <a:cs typeface="Calibri"/>
                <a:sym typeface="Calibri"/>
              </a:rPr>
              <a:t>+ </a:t>
            </a:r>
            <a:r>
              <a:rPr b="0" i="0" lang="es-PE" sz="1000" u="none" cap="none" strike="noStrike">
                <a:solidFill>
                  <a:srgbClr val="A5A5A5"/>
                </a:solidFill>
                <a:latin typeface="Calibri"/>
                <a:ea typeface="Calibri"/>
                <a:cs typeface="Calibri"/>
                <a:sym typeface="Calibri"/>
              </a:rPr>
              <a:t>PRINCIPALES BENEFICIOS Y DESAFÍOS EN LA INDUSTRIA DIGITAL</a:t>
            </a:r>
            <a:endParaRPr b="0" i="0" sz="1400" u="none" cap="none" strike="noStrike">
              <a:solidFill>
                <a:srgbClr val="000000"/>
              </a:solidFill>
              <a:latin typeface="Arial"/>
              <a:ea typeface="Arial"/>
              <a:cs typeface="Arial"/>
              <a:sym typeface="Arial"/>
            </a:endParaRPr>
          </a:p>
        </p:txBody>
      </p:sp>
      <p:grpSp>
        <p:nvGrpSpPr>
          <p:cNvPr id="260" name="Google Shape;260;p20"/>
          <p:cNvGrpSpPr/>
          <p:nvPr/>
        </p:nvGrpSpPr>
        <p:grpSpPr>
          <a:xfrm>
            <a:off x="127550" y="1945530"/>
            <a:ext cx="3008281" cy="1722587"/>
            <a:chOff x="132994" y="1465697"/>
            <a:chExt cx="2898451" cy="1722587"/>
          </a:xfrm>
        </p:grpSpPr>
        <p:sp>
          <p:nvSpPr>
            <p:cNvPr id="261" name="Google Shape;261;p20"/>
            <p:cNvSpPr/>
            <p:nvPr/>
          </p:nvSpPr>
          <p:spPr>
            <a:xfrm>
              <a:off x="496225" y="1465697"/>
              <a:ext cx="2535220" cy="1722587"/>
            </a:xfrm>
            <a:prstGeom prst="roundRect">
              <a:avLst>
                <a:gd fmla="val 6762" name="adj"/>
              </a:avLst>
            </a:prstGeom>
            <a:solidFill>
              <a:srgbClr val="CCEFF2"/>
            </a:solidFill>
            <a:ln cap="flat" cmpd="sng" w="38100">
              <a:solidFill>
                <a:srgbClr val="00B1C2"/>
              </a:solidFill>
              <a:prstDash val="solid"/>
              <a:round/>
              <a:headEnd len="sm" w="sm" type="none"/>
              <a:tailEnd len="sm" w="sm" type="none"/>
            </a:ln>
          </p:spPr>
          <p:txBody>
            <a:bodyPr anchorCtr="0" anchor="t" bIns="45700" lIns="468000" spcFirstLastPara="1" rIns="36000" wrap="square" tIns="180000">
              <a:noAutofit/>
            </a:bodyPr>
            <a:lstStyle/>
            <a:p>
              <a:pPr indent="0" lvl="0" marL="0" marR="0" rtl="0" algn="l">
                <a:lnSpc>
                  <a:spcPct val="112857"/>
                </a:lnSpc>
                <a:spcBef>
                  <a:spcPts val="0"/>
                </a:spcBef>
                <a:spcAft>
                  <a:spcPts val="0"/>
                </a:spcAft>
                <a:buClr>
                  <a:srgbClr val="000000"/>
                </a:buClr>
                <a:buSzPts val="1300"/>
                <a:buFont typeface="Arial"/>
                <a:buNone/>
              </a:pPr>
              <a:r>
                <a:rPr b="0" i="0" lang="es-PE" sz="1300" u="none" cap="none" strike="noStrike">
                  <a:solidFill>
                    <a:schemeClr val="dk1"/>
                  </a:solidFill>
                  <a:latin typeface="Calibri"/>
                  <a:ea typeface="Calibri"/>
                  <a:cs typeface="Calibri"/>
                  <a:sym typeface="Calibri"/>
                </a:rPr>
                <a:t>CEO + CTO conversaban de </a:t>
              </a:r>
              <a:br>
                <a:rPr b="0" i="0" lang="es-PE" sz="1300" u="none" cap="none" strike="noStrike">
                  <a:solidFill>
                    <a:schemeClr val="dk1"/>
                  </a:solidFill>
                  <a:latin typeface="Calibri"/>
                  <a:ea typeface="Calibri"/>
                  <a:cs typeface="Calibri"/>
                  <a:sym typeface="Calibri"/>
                </a:rPr>
              </a:br>
              <a:r>
                <a:rPr b="0" i="0" lang="es-PE" sz="1300" u="none" cap="none" strike="noStrike">
                  <a:solidFill>
                    <a:schemeClr val="dk1"/>
                  </a:solidFill>
                  <a:latin typeface="Calibri"/>
                  <a:ea typeface="Calibri"/>
                  <a:cs typeface="Calibri"/>
                  <a:sym typeface="Calibri"/>
                </a:rPr>
                <a:t>lo que la empresa necesitaba. CTO debía llegar con una idea, requisitos técnicos y un plan para implementarla de inicio </a:t>
              </a:r>
              <a:br>
                <a:rPr b="0" i="0" lang="es-PE" sz="1300" u="none" cap="none" strike="noStrike">
                  <a:solidFill>
                    <a:schemeClr val="dk1"/>
                  </a:solidFill>
                  <a:latin typeface="Calibri"/>
                  <a:ea typeface="Calibri"/>
                  <a:cs typeface="Calibri"/>
                  <a:sym typeface="Calibri"/>
                </a:rPr>
              </a:br>
              <a:r>
                <a:rPr b="0" i="0" lang="es-PE" sz="1300" u="none" cap="none" strike="noStrike">
                  <a:solidFill>
                    <a:schemeClr val="dk1"/>
                  </a:solidFill>
                  <a:latin typeface="Calibri"/>
                  <a:ea typeface="Calibri"/>
                  <a:cs typeface="Calibri"/>
                  <a:sym typeface="Calibri"/>
                </a:rPr>
                <a:t>a fin.</a:t>
              </a:r>
              <a:endParaRPr b="0" i="0" sz="1300" u="none" cap="none" strike="noStrike">
                <a:solidFill>
                  <a:schemeClr val="dk1"/>
                </a:solidFill>
                <a:latin typeface="Calibri"/>
                <a:ea typeface="Calibri"/>
                <a:cs typeface="Calibri"/>
                <a:sym typeface="Calibri"/>
              </a:endParaRPr>
            </a:p>
          </p:txBody>
        </p:sp>
        <p:sp>
          <p:nvSpPr>
            <p:cNvPr id="262" name="Google Shape;262;p20"/>
            <p:cNvSpPr/>
            <p:nvPr/>
          </p:nvSpPr>
          <p:spPr>
            <a:xfrm rot="-9000000">
              <a:off x="251551" y="2017867"/>
              <a:ext cx="673990" cy="654822"/>
            </a:xfrm>
            <a:prstGeom prst="chord">
              <a:avLst>
                <a:gd fmla="val 2700000" name="adj1"/>
                <a:gd fmla="val 15233344" name="adj2"/>
              </a:avLst>
            </a:prstGeom>
            <a:solidFill>
              <a:srgbClr val="00B1C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63" name="Google Shape;263;p20"/>
            <p:cNvSpPr txBox="1"/>
            <p:nvPr/>
          </p:nvSpPr>
          <p:spPr>
            <a:xfrm>
              <a:off x="454353" y="2003825"/>
              <a:ext cx="370681"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600"/>
                <a:buFont typeface="Arial"/>
                <a:buNone/>
              </a:pPr>
              <a:r>
                <a:rPr b="1" i="0" lang="es-PE" sz="3600" u="none" cap="none" strike="noStrike">
                  <a:solidFill>
                    <a:schemeClr val="lt1"/>
                  </a:solidFill>
                  <a:latin typeface="Calibri"/>
                  <a:ea typeface="Calibri"/>
                  <a:cs typeface="Calibri"/>
                  <a:sym typeface="Calibri"/>
                </a:rPr>
                <a:t>1</a:t>
              </a:r>
              <a:endParaRPr b="0" i="0" sz="1400" u="none" cap="none" strike="noStrike">
                <a:solidFill>
                  <a:srgbClr val="000000"/>
                </a:solidFill>
                <a:latin typeface="Arial"/>
                <a:ea typeface="Arial"/>
                <a:cs typeface="Arial"/>
                <a:sym typeface="Arial"/>
              </a:endParaRPr>
            </a:p>
          </p:txBody>
        </p:sp>
      </p:grpSp>
      <p:grpSp>
        <p:nvGrpSpPr>
          <p:cNvPr id="264" name="Google Shape;264;p20"/>
          <p:cNvGrpSpPr/>
          <p:nvPr/>
        </p:nvGrpSpPr>
        <p:grpSpPr>
          <a:xfrm>
            <a:off x="2991081" y="1945530"/>
            <a:ext cx="2922359" cy="1722587"/>
            <a:chOff x="2991081" y="1481981"/>
            <a:chExt cx="2922359" cy="1722587"/>
          </a:xfrm>
        </p:grpSpPr>
        <p:sp>
          <p:nvSpPr>
            <p:cNvPr id="265" name="Google Shape;265;p20"/>
            <p:cNvSpPr/>
            <p:nvPr/>
          </p:nvSpPr>
          <p:spPr>
            <a:xfrm>
              <a:off x="3378220" y="1481981"/>
              <a:ext cx="2535220" cy="1722587"/>
            </a:xfrm>
            <a:prstGeom prst="roundRect">
              <a:avLst>
                <a:gd fmla="val 7758" name="adj"/>
              </a:avLst>
            </a:prstGeom>
            <a:solidFill>
              <a:srgbClr val="E6F3D6"/>
            </a:solidFill>
            <a:ln cap="flat" cmpd="sng" w="38100">
              <a:solidFill>
                <a:srgbClr val="8EC540"/>
              </a:solidFill>
              <a:prstDash val="solid"/>
              <a:round/>
              <a:headEnd len="sm" w="sm" type="none"/>
              <a:tailEnd len="sm" w="sm" type="none"/>
            </a:ln>
          </p:spPr>
          <p:txBody>
            <a:bodyPr anchorCtr="0" anchor="t" bIns="45700" lIns="468000" spcFirstLastPara="1" rIns="36000" wrap="square" tIns="180000">
              <a:noAutofit/>
            </a:bodyPr>
            <a:lstStyle/>
            <a:p>
              <a:pPr indent="0" lvl="0" marL="0" marR="0" rtl="0" algn="l">
                <a:lnSpc>
                  <a:spcPct val="112857"/>
                </a:lnSpc>
                <a:spcBef>
                  <a:spcPts val="0"/>
                </a:spcBef>
                <a:spcAft>
                  <a:spcPts val="0"/>
                </a:spcAft>
                <a:buClr>
                  <a:srgbClr val="000000"/>
                </a:buClr>
                <a:buSzPts val="1300"/>
                <a:buFont typeface="Arial"/>
                <a:buNone/>
              </a:pPr>
              <a:r>
                <a:rPr b="1" i="0" lang="es-PE" sz="1300" u="none" cap="none" strike="noStrike">
                  <a:solidFill>
                    <a:srgbClr val="8EC540"/>
                  </a:solidFill>
                  <a:latin typeface="Calibri"/>
                  <a:ea typeface="Calibri"/>
                  <a:cs typeface="Calibri"/>
                  <a:sym typeface="Calibri"/>
                </a:rPr>
                <a:t>DESARROLLO EN CASCADA: </a:t>
              </a:r>
              <a:r>
                <a:rPr b="0" i="0" lang="es-PE" sz="1300" u="none" cap="none" strike="noStrike">
                  <a:solidFill>
                    <a:schemeClr val="dk1"/>
                  </a:solidFill>
                  <a:latin typeface="Calibri"/>
                  <a:ea typeface="Calibri"/>
                  <a:cs typeface="Calibri"/>
                  <a:sym typeface="Calibri"/>
                </a:rPr>
                <a:t>El equipo técnico se “encerraba” hasta entregar todos los requerimientos con un mínimo de deuda técnica establecido.</a:t>
              </a:r>
              <a:endParaRPr b="0" i="0" sz="1300" u="none" cap="none" strike="noStrike">
                <a:solidFill>
                  <a:schemeClr val="dk1"/>
                </a:solidFill>
                <a:latin typeface="Calibri"/>
                <a:ea typeface="Calibri"/>
                <a:cs typeface="Calibri"/>
                <a:sym typeface="Calibri"/>
              </a:endParaRPr>
            </a:p>
          </p:txBody>
        </p:sp>
        <p:sp>
          <p:nvSpPr>
            <p:cNvPr id="266" name="Google Shape;266;p20"/>
            <p:cNvSpPr/>
            <p:nvPr/>
          </p:nvSpPr>
          <p:spPr>
            <a:xfrm rot="-9000000">
              <a:off x="3109638" y="2015863"/>
              <a:ext cx="673990" cy="654822"/>
            </a:xfrm>
            <a:prstGeom prst="chord">
              <a:avLst>
                <a:gd fmla="val 2700000" name="adj1"/>
                <a:gd fmla="val 15233344" name="adj2"/>
              </a:avLst>
            </a:prstGeom>
            <a:solidFill>
              <a:srgbClr val="8EC54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67" name="Google Shape;267;p20"/>
            <p:cNvSpPr txBox="1"/>
            <p:nvPr/>
          </p:nvSpPr>
          <p:spPr>
            <a:xfrm>
              <a:off x="3350763" y="2020109"/>
              <a:ext cx="370681"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600"/>
                <a:buFont typeface="Arial"/>
                <a:buNone/>
              </a:pPr>
              <a:r>
                <a:rPr b="1" i="0" lang="es-PE" sz="3600" u="none" cap="none" strike="noStrike">
                  <a:solidFill>
                    <a:schemeClr val="lt1"/>
                  </a:solidFill>
                  <a:latin typeface="Calibri"/>
                  <a:ea typeface="Calibri"/>
                  <a:cs typeface="Calibri"/>
                  <a:sym typeface="Calibri"/>
                </a:rPr>
                <a:t>2</a:t>
              </a:r>
              <a:endParaRPr b="0" i="0" sz="1400" u="none" cap="none" strike="noStrike">
                <a:solidFill>
                  <a:srgbClr val="000000"/>
                </a:solidFill>
                <a:latin typeface="Arial"/>
                <a:ea typeface="Arial"/>
                <a:cs typeface="Arial"/>
                <a:sym typeface="Arial"/>
              </a:endParaRPr>
            </a:p>
          </p:txBody>
        </p:sp>
      </p:grpSp>
      <p:grpSp>
        <p:nvGrpSpPr>
          <p:cNvPr id="268" name="Google Shape;268;p20"/>
          <p:cNvGrpSpPr/>
          <p:nvPr/>
        </p:nvGrpSpPr>
        <p:grpSpPr>
          <a:xfrm>
            <a:off x="5713245" y="1963817"/>
            <a:ext cx="2924570" cy="1722587"/>
            <a:chOff x="5713245" y="1491617"/>
            <a:chExt cx="2924570" cy="1722587"/>
          </a:xfrm>
        </p:grpSpPr>
        <p:sp>
          <p:nvSpPr>
            <p:cNvPr id="269" name="Google Shape;269;p20"/>
            <p:cNvSpPr/>
            <p:nvPr/>
          </p:nvSpPr>
          <p:spPr>
            <a:xfrm>
              <a:off x="6102595" y="1491617"/>
              <a:ext cx="2535220" cy="1722587"/>
            </a:xfrm>
            <a:prstGeom prst="roundRect">
              <a:avLst>
                <a:gd fmla="val 6512" name="adj"/>
              </a:avLst>
            </a:prstGeom>
            <a:solidFill>
              <a:srgbClr val="FCD7D5"/>
            </a:solidFill>
            <a:ln cap="flat" cmpd="sng" w="38100">
              <a:solidFill>
                <a:srgbClr val="EE4639"/>
              </a:solidFill>
              <a:prstDash val="solid"/>
              <a:round/>
              <a:headEnd len="sm" w="sm" type="none"/>
              <a:tailEnd len="sm" w="sm" type="none"/>
            </a:ln>
          </p:spPr>
          <p:txBody>
            <a:bodyPr anchorCtr="0" anchor="t" bIns="45700" lIns="468000" spcFirstLastPara="1" rIns="36000" wrap="square" tIns="180000">
              <a:noAutofit/>
            </a:bodyPr>
            <a:lstStyle/>
            <a:p>
              <a:pPr indent="0" lvl="0" marL="0" marR="0" rtl="0" algn="l">
                <a:lnSpc>
                  <a:spcPct val="112857"/>
                </a:lnSpc>
                <a:spcBef>
                  <a:spcPts val="0"/>
                </a:spcBef>
                <a:spcAft>
                  <a:spcPts val="0"/>
                </a:spcAft>
                <a:buClr>
                  <a:srgbClr val="000000"/>
                </a:buClr>
                <a:buSzPts val="1300"/>
                <a:buFont typeface="Arial"/>
                <a:buNone/>
              </a:pPr>
              <a:r>
                <a:rPr b="1" i="0" lang="es-PE" sz="1300" u="none" cap="none" strike="noStrike">
                  <a:solidFill>
                    <a:srgbClr val="EE4639"/>
                  </a:solidFill>
                  <a:latin typeface="Calibri"/>
                  <a:ea typeface="Calibri"/>
                  <a:cs typeface="Calibri"/>
                  <a:sym typeface="Calibri"/>
                </a:rPr>
                <a:t>LANZAMIENTO: </a:t>
              </a:r>
              <a:r>
                <a:rPr b="0" i="0" lang="es-PE" sz="1300" u="none" cap="none" strike="noStrike">
                  <a:solidFill>
                    <a:schemeClr val="dk1"/>
                  </a:solidFill>
                  <a:latin typeface="Calibri"/>
                  <a:ea typeface="Calibri"/>
                  <a:cs typeface="Calibri"/>
                  <a:sym typeface="Calibri"/>
                </a:rPr>
                <a:t>CTO presentaba el producto a toda la empresa: Comercial, Marketing y otros podían ver el producto en vivo. </a:t>
              </a:r>
              <a:endParaRPr b="0" i="0" sz="1300" u="none" cap="none" strike="noStrike">
                <a:solidFill>
                  <a:schemeClr val="dk1"/>
                </a:solidFill>
                <a:latin typeface="Calibri"/>
                <a:ea typeface="Calibri"/>
                <a:cs typeface="Calibri"/>
                <a:sym typeface="Calibri"/>
              </a:endParaRPr>
            </a:p>
          </p:txBody>
        </p:sp>
        <p:sp>
          <p:nvSpPr>
            <p:cNvPr id="270" name="Google Shape;270;p20"/>
            <p:cNvSpPr/>
            <p:nvPr/>
          </p:nvSpPr>
          <p:spPr>
            <a:xfrm rot="-9000000">
              <a:off x="5831802" y="2025499"/>
              <a:ext cx="673990" cy="654822"/>
            </a:xfrm>
            <a:prstGeom prst="chord">
              <a:avLst>
                <a:gd fmla="val 2700000" name="adj1"/>
                <a:gd fmla="val 15233344" name="adj2"/>
              </a:avLst>
            </a:prstGeom>
            <a:solidFill>
              <a:srgbClr val="EE463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71" name="Google Shape;271;p20"/>
            <p:cNvSpPr txBox="1"/>
            <p:nvPr/>
          </p:nvSpPr>
          <p:spPr>
            <a:xfrm>
              <a:off x="6034603" y="2029745"/>
              <a:ext cx="370681"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600"/>
                <a:buFont typeface="Arial"/>
                <a:buNone/>
              </a:pPr>
              <a:r>
                <a:rPr b="1" i="0" lang="es-PE" sz="3600" u="none" cap="none" strike="noStrike">
                  <a:solidFill>
                    <a:schemeClr val="lt1"/>
                  </a:solidFill>
                  <a:latin typeface="Calibri"/>
                  <a:ea typeface="Calibri"/>
                  <a:cs typeface="Calibri"/>
                  <a:sym typeface="Calibri"/>
                </a:rPr>
                <a:t>3</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pic>
        <p:nvPicPr>
          <p:cNvPr descr="What Am I Supposed To Do With This Confused GIF - What Am I Supposed To Do  With This Confused Vaporub - Discover &amp; Share GIFs" id="277" name="Google Shape;277;p21"/>
          <p:cNvPicPr preferRelativeResize="0"/>
          <p:nvPr/>
        </p:nvPicPr>
        <p:blipFill rotWithShape="1">
          <a:blip r:embed="rId3">
            <a:alphaModFix/>
          </a:blip>
          <a:srcRect b="0" l="0" r="0" t="0"/>
          <a:stretch/>
        </p:blipFill>
        <p:spPr>
          <a:xfrm>
            <a:off x="4751389" y="943982"/>
            <a:ext cx="3941927" cy="3436868"/>
          </a:xfrm>
          <a:prstGeom prst="rect">
            <a:avLst/>
          </a:prstGeom>
          <a:noFill/>
          <a:ln>
            <a:noFill/>
          </a:ln>
        </p:spPr>
      </p:pic>
      <p:sp>
        <p:nvSpPr>
          <p:cNvPr id="278" name="Google Shape;278;p21"/>
          <p:cNvSpPr txBox="1"/>
          <p:nvPr/>
        </p:nvSpPr>
        <p:spPr>
          <a:xfrm>
            <a:off x="503238" y="919268"/>
            <a:ext cx="3889375" cy="3770263"/>
          </a:xfrm>
          <a:prstGeom prst="rect">
            <a:avLst/>
          </a:prstGeom>
          <a:noFill/>
          <a:ln>
            <a:noFill/>
          </a:ln>
        </p:spPr>
        <p:txBody>
          <a:bodyPr anchorCtr="0" anchor="t" bIns="0" lIns="0" spcFirstLastPara="1" rIns="0" wrap="square" tIns="0">
            <a:spAutoFit/>
          </a:bodyPr>
          <a:lstStyle/>
          <a:p>
            <a:pPr indent="0" lvl="0" marL="11113" marR="0" rtl="0" algn="l">
              <a:lnSpc>
                <a:spcPct val="100000"/>
              </a:lnSpc>
              <a:spcBef>
                <a:spcPts val="0"/>
              </a:spcBef>
              <a:spcAft>
                <a:spcPts val="0"/>
              </a:spcAft>
              <a:buNone/>
            </a:pPr>
            <a:r>
              <a:rPr b="1" i="1" lang="es-PE" sz="1600" u="none" cap="none" strike="noStrike">
                <a:solidFill>
                  <a:srgbClr val="00B1C3"/>
                </a:solidFill>
                <a:latin typeface="Calibri"/>
                <a:ea typeface="Calibri"/>
                <a:cs typeface="Calibri"/>
                <a:sym typeface="Calibri"/>
              </a:rPr>
              <a:t>Proceso ineficiente para la volatilidad por la que estaba pasando el mercado</a:t>
            </a:r>
            <a:endParaRPr b="0" i="0" sz="1600" u="none" cap="none" strike="noStrike">
              <a:solidFill>
                <a:srgbClr val="262626"/>
              </a:solidFill>
              <a:latin typeface="Calibri"/>
              <a:ea typeface="Calibri"/>
              <a:cs typeface="Calibri"/>
              <a:sym typeface="Calibri"/>
            </a:endParaRPr>
          </a:p>
          <a:p>
            <a:pPr indent="-168275" lvl="0" marL="179388" marR="0" rtl="0" algn="l">
              <a:lnSpc>
                <a:spcPct val="100000"/>
              </a:lnSpc>
              <a:spcBef>
                <a:spcPts val="600"/>
              </a:spcBef>
              <a:spcAft>
                <a:spcPts val="0"/>
              </a:spcAft>
              <a:buClr>
                <a:schemeClr val="dk1"/>
              </a:buClr>
              <a:buSzPts val="1600"/>
              <a:buFont typeface="Arial"/>
              <a:buChar char="•"/>
            </a:pPr>
            <a:r>
              <a:rPr b="0" i="0" lang="es-PE" sz="1600" u="none" cap="none" strike="noStrike">
                <a:solidFill>
                  <a:schemeClr val="dk1"/>
                </a:solidFill>
                <a:latin typeface="Calibri"/>
                <a:ea typeface="Calibri"/>
                <a:cs typeface="Calibri"/>
                <a:sym typeface="Calibri"/>
              </a:rPr>
              <a:t>Muchos softwares y productos </a:t>
            </a:r>
            <a:r>
              <a:rPr b="1" i="1" lang="es-PE" sz="1600" u="none" cap="none" strike="noStrike">
                <a:solidFill>
                  <a:srgbClr val="00B1C3"/>
                </a:solidFill>
                <a:latin typeface="Calibri"/>
                <a:ea typeface="Calibri"/>
                <a:cs typeface="Calibri"/>
                <a:sym typeface="Calibri"/>
              </a:rPr>
              <a:t>no podían salir a venderse al mercado</a:t>
            </a:r>
            <a:r>
              <a:rPr b="0" i="0" lang="es-PE" sz="1600" u="none" cap="none" strike="noStrike">
                <a:solidFill>
                  <a:schemeClr val="dk1"/>
                </a:solidFill>
                <a:latin typeface="Calibri"/>
                <a:ea typeface="Calibri"/>
                <a:cs typeface="Calibri"/>
                <a:sym typeface="Calibri"/>
              </a:rPr>
              <a:t> a pesar de la gran calidad técnica que tenían. A pesar de lo completo o bien diseñada que haya sido esa arquitectura.</a:t>
            </a:r>
            <a:endParaRPr b="0" i="0" sz="1600" u="none" cap="none" strike="noStrike">
              <a:solidFill>
                <a:schemeClr val="dk1"/>
              </a:solidFill>
              <a:latin typeface="Calibri"/>
              <a:ea typeface="Calibri"/>
              <a:cs typeface="Calibri"/>
              <a:sym typeface="Calibri"/>
            </a:endParaRPr>
          </a:p>
          <a:p>
            <a:pPr indent="-66675" lvl="0" marL="179388" marR="0" rtl="0" algn="l">
              <a:lnSpc>
                <a:spcPct val="100000"/>
              </a:lnSpc>
              <a:spcBef>
                <a:spcPts val="0"/>
              </a:spcBef>
              <a:spcAft>
                <a:spcPts val="0"/>
              </a:spcAft>
              <a:buClr>
                <a:schemeClr val="dk1"/>
              </a:buClr>
              <a:buSzPts val="1600"/>
              <a:buFont typeface="Arial"/>
              <a:buNone/>
            </a:pPr>
            <a:r>
              <a:t/>
            </a:r>
            <a:endParaRPr b="0" i="0" sz="1600" u="none" cap="none" strike="noStrike">
              <a:solidFill>
                <a:schemeClr val="dk1"/>
              </a:solidFill>
              <a:latin typeface="Calibri"/>
              <a:ea typeface="Calibri"/>
              <a:cs typeface="Calibri"/>
              <a:sym typeface="Calibri"/>
            </a:endParaRPr>
          </a:p>
          <a:p>
            <a:pPr indent="-168275" lvl="0" marL="179388" marR="0" rtl="0" algn="l">
              <a:lnSpc>
                <a:spcPct val="100000"/>
              </a:lnSpc>
              <a:spcBef>
                <a:spcPts val="0"/>
              </a:spcBef>
              <a:spcAft>
                <a:spcPts val="0"/>
              </a:spcAft>
              <a:buClr>
                <a:schemeClr val="dk1"/>
              </a:buClr>
              <a:buSzPts val="1600"/>
              <a:buFont typeface="Arial"/>
              <a:buChar char="•"/>
            </a:pPr>
            <a:r>
              <a:rPr b="0" i="0" lang="es-PE" sz="1600" u="none" cap="none" strike="noStrike">
                <a:solidFill>
                  <a:schemeClr val="dk1"/>
                </a:solidFill>
                <a:latin typeface="Calibri"/>
                <a:ea typeface="Calibri"/>
                <a:cs typeface="Calibri"/>
                <a:sym typeface="Calibri"/>
              </a:rPr>
              <a:t>Marketing no entendía cómo se encajaba a las necesidades de los clientes y ventas no lograba plasmar todo lo “bueno” del producto.</a:t>
            </a:r>
            <a:endParaRPr b="0" i="0" sz="1600" u="none" cap="none" strike="noStrike">
              <a:solidFill>
                <a:schemeClr val="dk1"/>
              </a:solidFill>
              <a:latin typeface="Calibri"/>
              <a:ea typeface="Calibri"/>
              <a:cs typeface="Calibri"/>
              <a:sym typeface="Calibri"/>
            </a:endParaRPr>
          </a:p>
          <a:p>
            <a:pPr indent="-66675" lvl="0" marL="179388" marR="0" rtl="0" algn="l">
              <a:lnSpc>
                <a:spcPct val="100000"/>
              </a:lnSpc>
              <a:spcBef>
                <a:spcPts val="0"/>
              </a:spcBef>
              <a:spcAft>
                <a:spcPts val="0"/>
              </a:spcAft>
              <a:buClr>
                <a:schemeClr val="dk1"/>
              </a:buClr>
              <a:buSzPts val="1600"/>
              <a:buFont typeface="Arial"/>
              <a:buNone/>
            </a:pPr>
            <a:r>
              <a:t/>
            </a:r>
            <a:endParaRPr b="0" i="0" sz="1600" u="none" cap="none" strike="noStrike">
              <a:solidFill>
                <a:schemeClr val="dk1"/>
              </a:solidFill>
              <a:latin typeface="Calibri"/>
              <a:ea typeface="Calibri"/>
              <a:cs typeface="Calibri"/>
              <a:sym typeface="Calibri"/>
            </a:endParaRPr>
          </a:p>
          <a:p>
            <a:pPr indent="-168275" lvl="0" marL="179388" marR="0" rtl="0" algn="l">
              <a:lnSpc>
                <a:spcPct val="100000"/>
              </a:lnSpc>
              <a:spcBef>
                <a:spcPts val="0"/>
              </a:spcBef>
              <a:spcAft>
                <a:spcPts val="0"/>
              </a:spcAft>
              <a:buClr>
                <a:schemeClr val="dk1"/>
              </a:buClr>
              <a:buSzPts val="1600"/>
              <a:buFont typeface="Arial"/>
              <a:buChar char="•"/>
            </a:pPr>
            <a:r>
              <a:rPr b="0" i="0" lang="es-PE" sz="1600" u="none" cap="none" strike="noStrike">
                <a:solidFill>
                  <a:schemeClr val="dk1"/>
                </a:solidFill>
                <a:latin typeface="Calibri"/>
                <a:ea typeface="Calibri"/>
                <a:cs typeface="Calibri"/>
                <a:sym typeface="Calibri"/>
              </a:rPr>
              <a:t>Para solucionar todo esto, salieron a la luz tanto el </a:t>
            </a:r>
            <a:r>
              <a:rPr b="1" i="0" lang="es-PE" sz="1600" u="none" cap="none" strike="noStrike">
                <a:solidFill>
                  <a:schemeClr val="dk1"/>
                </a:solidFill>
                <a:latin typeface="Calibri"/>
                <a:ea typeface="Calibri"/>
                <a:cs typeface="Calibri"/>
                <a:sym typeface="Calibri"/>
              </a:rPr>
              <a:t>Agile Manifesto como Scrum</a:t>
            </a:r>
            <a:r>
              <a:rPr b="0" i="0" lang="es-PE" sz="1600" u="none" cap="none" strike="noStrike">
                <a:solidFill>
                  <a:schemeClr val="dk1"/>
                </a:solidFill>
                <a:latin typeface="Calibri"/>
                <a:ea typeface="Calibri"/>
                <a:cs typeface="Calibri"/>
                <a:sym typeface="Calibri"/>
              </a:rPr>
              <a:t>.</a:t>
            </a:r>
            <a:endParaRPr b="0" i="0" sz="1600" u="none" cap="none" strike="noStrike">
              <a:solidFill>
                <a:schemeClr val="dk1"/>
              </a:solidFill>
              <a:latin typeface="Calibri"/>
              <a:ea typeface="Calibri"/>
              <a:cs typeface="Calibri"/>
              <a:sym typeface="Calibri"/>
            </a:endParaRPr>
          </a:p>
        </p:txBody>
      </p:sp>
      <p:sp>
        <p:nvSpPr>
          <p:cNvPr id="279" name="Google Shape;279;p21"/>
          <p:cNvSpPr txBox="1"/>
          <p:nvPr/>
        </p:nvSpPr>
        <p:spPr>
          <a:xfrm>
            <a:off x="4751389" y="4934013"/>
            <a:ext cx="2027578" cy="307777"/>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00"/>
              <a:buFont typeface="Arial"/>
              <a:buNone/>
            </a:pPr>
            <a:r>
              <a:rPr b="0" i="0" lang="es-PE" sz="1000" u="none" cap="none" strike="noStrike">
                <a:solidFill>
                  <a:srgbClr val="7F7F7F"/>
                </a:solidFill>
                <a:latin typeface="Calibri"/>
                <a:ea typeface="Calibri"/>
                <a:cs typeface="Calibri"/>
                <a:sym typeface="Calibri"/>
              </a:rPr>
              <a:t>La realidad de los otros equipos</a:t>
            </a:r>
            <a:endParaRPr b="0" i="0" sz="1000" u="none" cap="none" strike="noStrike">
              <a:solidFill>
                <a:srgbClr val="7F7F7F"/>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000"/>
              <a:buFont typeface="Arial"/>
              <a:buNone/>
            </a:pPr>
            <a:r>
              <a:rPr b="1" i="0" lang="es-PE" sz="1000" u="none" cap="none" strike="noStrike">
                <a:solidFill>
                  <a:srgbClr val="7F7F7F"/>
                </a:solidFill>
                <a:latin typeface="Calibri"/>
                <a:ea typeface="Calibri"/>
                <a:cs typeface="Calibri"/>
                <a:sym typeface="Calibri"/>
              </a:rPr>
              <a:t>Fuente: </a:t>
            </a:r>
            <a:r>
              <a:rPr b="0" i="0" lang="es-PE" sz="1000" u="none" cap="none" strike="noStrike">
                <a:solidFill>
                  <a:srgbClr val="7F7F7F"/>
                </a:solidFill>
                <a:latin typeface="Calibri"/>
                <a:ea typeface="Calibri"/>
                <a:cs typeface="Calibri"/>
                <a:sym typeface="Calibri"/>
              </a:rPr>
              <a:t>MemeGenerator</a:t>
            </a:r>
            <a:endParaRPr b="0" i="0" sz="1000" u="none" cap="none" strike="noStrike">
              <a:solidFill>
                <a:srgbClr val="7F7F7F"/>
              </a:solidFill>
              <a:latin typeface="Calibri"/>
              <a:ea typeface="Calibri"/>
              <a:cs typeface="Calibri"/>
              <a:sym typeface="Calibri"/>
            </a:endParaRPr>
          </a:p>
        </p:txBody>
      </p:sp>
      <p:sp>
        <p:nvSpPr>
          <p:cNvPr id="280" name="Google Shape;280;p21"/>
          <p:cNvSpPr/>
          <p:nvPr/>
        </p:nvSpPr>
        <p:spPr>
          <a:xfrm>
            <a:off x="503237" y="385980"/>
            <a:ext cx="5552610" cy="138499"/>
          </a:xfrm>
          <a:prstGeom prst="rect">
            <a:avLst/>
          </a:prstGeom>
          <a:noFill/>
          <a:ln>
            <a:noFill/>
          </a:ln>
        </p:spPr>
        <p:txBody>
          <a:bodyPr anchorCtr="0" anchor="b" bIns="0" lIns="0" spcFirstLastPara="1" rIns="0" wrap="square" tIns="0">
            <a:spAutoFit/>
          </a:bodyPr>
          <a:lstStyle/>
          <a:p>
            <a:pPr indent="0" lvl="0" marL="0" marR="0" rtl="0" algn="l">
              <a:lnSpc>
                <a:spcPct val="90000"/>
              </a:lnSpc>
              <a:spcBef>
                <a:spcPts val="0"/>
              </a:spcBef>
              <a:spcAft>
                <a:spcPts val="0"/>
              </a:spcAft>
              <a:buClr>
                <a:srgbClr val="000000"/>
              </a:buClr>
              <a:buSzPts val="1000"/>
              <a:buFont typeface="Arial"/>
              <a:buNone/>
            </a:pPr>
            <a:r>
              <a:rPr b="1" i="0" lang="es-PE" sz="1000" u="none" cap="none" strike="noStrike">
                <a:solidFill>
                  <a:srgbClr val="7F7F7F"/>
                </a:solidFill>
                <a:latin typeface="Calibri"/>
                <a:ea typeface="Calibri"/>
                <a:cs typeface="Calibri"/>
                <a:sym typeface="Calibri"/>
              </a:rPr>
              <a:t>+ </a:t>
            </a:r>
            <a:r>
              <a:rPr b="0" i="0" lang="es-PE" sz="1000" u="none" cap="none" strike="noStrike">
                <a:solidFill>
                  <a:srgbClr val="A5A5A5"/>
                </a:solidFill>
                <a:latin typeface="Calibri"/>
                <a:ea typeface="Calibri"/>
                <a:cs typeface="Calibri"/>
                <a:sym typeface="Calibri"/>
              </a:rPr>
              <a:t>PRINCIPALES BENEFICIOS Y DESAFÍOS EN LA INDUSTRIA DIGITAL</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p22"/>
          <p:cNvSpPr/>
          <p:nvPr/>
        </p:nvSpPr>
        <p:spPr>
          <a:xfrm>
            <a:off x="503237" y="385980"/>
            <a:ext cx="5552610" cy="138499"/>
          </a:xfrm>
          <a:prstGeom prst="rect">
            <a:avLst/>
          </a:prstGeom>
          <a:noFill/>
          <a:ln>
            <a:noFill/>
          </a:ln>
        </p:spPr>
        <p:txBody>
          <a:bodyPr anchorCtr="0" anchor="b" bIns="0" lIns="0" spcFirstLastPara="1" rIns="0" wrap="square" tIns="0">
            <a:spAutoFit/>
          </a:bodyPr>
          <a:lstStyle/>
          <a:p>
            <a:pPr indent="0" lvl="0" marL="0" marR="0" rtl="0" algn="l">
              <a:lnSpc>
                <a:spcPct val="90000"/>
              </a:lnSpc>
              <a:spcBef>
                <a:spcPts val="0"/>
              </a:spcBef>
              <a:spcAft>
                <a:spcPts val="0"/>
              </a:spcAft>
              <a:buClr>
                <a:srgbClr val="000000"/>
              </a:buClr>
              <a:buSzPts val="1000"/>
              <a:buFont typeface="Arial"/>
              <a:buNone/>
            </a:pPr>
            <a:r>
              <a:rPr b="1" i="0" lang="es-PE" sz="1000" u="none" cap="none" strike="noStrike">
                <a:solidFill>
                  <a:srgbClr val="7F7F7F"/>
                </a:solidFill>
                <a:latin typeface="Calibri"/>
                <a:ea typeface="Calibri"/>
                <a:cs typeface="Calibri"/>
                <a:sym typeface="Calibri"/>
              </a:rPr>
              <a:t>+ </a:t>
            </a:r>
            <a:r>
              <a:rPr b="0" i="0" lang="es-PE" sz="1000" u="none" cap="none" strike="noStrike">
                <a:solidFill>
                  <a:srgbClr val="A5A5A5"/>
                </a:solidFill>
                <a:latin typeface="Calibri"/>
                <a:ea typeface="Calibri"/>
                <a:cs typeface="Calibri"/>
                <a:sym typeface="Calibri"/>
              </a:rPr>
              <a:t>PRINCIPALES BENEFICIOS Y DESAFÍOS EN LA INDUSTRIA DIGITAL</a:t>
            </a:r>
            <a:endParaRPr b="0" i="0" sz="1400" u="none" cap="none" strike="noStrike">
              <a:solidFill>
                <a:srgbClr val="000000"/>
              </a:solidFill>
              <a:latin typeface="Arial"/>
              <a:ea typeface="Arial"/>
              <a:cs typeface="Arial"/>
              <a:sym typeface="Arial"/>
            </a:endParaRPr>
          </a:p>
        </p:txBody>
      </p:sp>
      <p:sp>
        <p:nvSpPr>
          <p:cNvPr id="287" name="Google Shape;287;p22"/>
          <p:cNvSpPr/>
          <p:nvPr/>
        </p:nvSpPr>
        <p:spPr>
          <a:xfrm>
            <a:off x="503237" y="928394"/>
            <a:ext cx="3889375" cy="435426"/>
          </a:xfrm>
          <a:prstGeom prst="roundRect">
            <a:avLst>
              <a:gd fmla="val 16667" name="adj"/>
            </a:avLst>
          </a:prstGeom>
          <a:solidFill>
            <a:srgbClr val="8FC53F"/>
          </a:solid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chemeClr val="lt1"/>
              </a:buClr>
              <a:buSzPts val="1600"/>
              <a:buFont typeface="Arial"/>
              <a:buNone/>
            </a:pPr>
            <a:r>
              <a:rPr b="1" i="0" lang="es-PE" sz="1600" u="none" cap="none" strike="noStrike">
                <a:solidFill>
                  <a:schemeClr val="lt1"/>
                </a:solidFill>
                <a:latin typeface="Calibri"/>
                <a:ea typeface="Calibri"/>
                <a:cs typeface="Calibri"/>
                <a:sym typeface="Calibri"/>
              </a:rPr>
              <a:t>Productos en Empresas con Bienes Físicos</a:t>
            </a:r>
            <a:endParaRPr/>
          </a:p>
        </p:txBody>
      </p:sp>
      <p:sp>
        <p:nvSpPr>
          <p:cNvPr id="288" name="Google Shape;288;p22"/>
          <p:cNvSpPr/>
          <p:nvPr/>
        </p:nvSpPr>
        <p:spPr>
          <a:xfrm>
            <a:off x="4751388" y="912813"/>
            <a:ext cx="3924300" cy="435426"/>
          </a:xfrm>
          <a:prstGeom prst="roundRect">
            <a:avLst>
              <a:gd fmla="val 16667" name="adj"/>
            </a:avLst>
          </a:prstGeom>
          <a:solidFill>
            <a:srgbClr val="7150A0"/>
          </a:solid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chemeClr val="lt1"/>
              </a:buClr>
              <a:buSzPts val="1600"/>
              <a:buFont typeface="Arial"/>
              <a:buNone/>
            </a:pPr>
            <a:r>
              <a:rPr b="1" i="0" lang="es-PE" sz="1600" u="none" cap="none" strike="noStrike">
                <a:solidFill>
                  <a:schemeClr val="lt1"/>
                </a:solidFill>
                <a:latin typeface="Calibri"/>
                <a:ea typeface="Calibri"/>
                <a:cs typeface="Calibri"/>
                <a:sym typeface="Calibri"/>
              </a:rPr>
              <a:t>Productos en Empresas tecnológicas</a:t>
            </a:r>
            <a:endParaRPr/>
          </a:p>
        </p:txBody>
      </p:sp>
      <p:sp>
        <p:nvSpPr>
          <p:cNvPr id="289" name="Google Shape;289;p22"/>
          <p:cNvSpPr/>
          <p:nvPr/>
        </p:nvSpPr>
        <p:spPr>
          <a:xfrm>
            <a:off x="4751388" y="1442061"/>
            <a:ext cx="3924300" cy="3178707"/>
          </a:xfrm>
          <a:prstGeom prst="roundRect">
            <a:avLst>
              <a:gd fmla="val 3823" name="adj"/>
            </a:avLst>
          </a:prstGeom>
          <a:solidFill>
            <a:srgbClr val="E3DCED"/>
          </a:solidFill>
          <a:ln>
            <a:noFill/>
          </a:ln>
        </p:spPr>
        <p:txBody>
          <a:bodyPr anchorCtr="0" anchor="t" bIns="45700" lIns="144000" spcFirstLastPara="1" rIns="108000" wrap="square" tIns="144000">
            <a:noAutofit/>
          </a:bodyPr>
          <a:lstStyle/>
          <a:p>
            <a:pPr indent="-169863" lvl="0" marL="180975" marR="0" rtl="0" algn="l">
              <a:lnSpc>
                <a:spcPct val="85000"/>
              </a:lnSpc>
              <a:spcBef>
                <a:spcPts val="0"/>
              </a:spcBef>
              <a:spcAft>
                <a:spcPts val="0"/>
              </a:spcAft>
              <a:buClr>
                <a:srgbClr val="714FA0"/>
              </a:buClr>
              <a:buSzPts val="1500"/>
              <a:buFont typeface="Arial"/>
              <a:buChar char="•"/>
            </a:pPr>
            <a:r>
              <a:rPr b="0" i="0" lang="es-PE" sz="1500" u="none" cap="none" strike="noStrike">
                <a:solidFill>
                  <a:schemeClr val="dk1"/>
                </a:solidFill>
                <a:latin typeface="Calibri"/>
                <a:ea typeface="Calibri"/>
                <a:cs typeface="Calibri"/>
                <a:sym typeface="Calibri"/>
              </a:rPr>
              <a:t>Producto más “intangible” y de acceso para generaciones más recientes.</a:t>
            </a:r>
            <a:endParaRPr b="0" i="0" sz="1500" u="none" cap="none" strike="noStrike">
              <a:solidFill>
                <a:schemeClr val="dk1"/>
              </a:solidFill>
              <a:latin typeface="Calibri"/>
              <a:ea typeface="Calibri"/>
              <a:cs typeface="Calibri"/>
              <a:sym typeface="Calibri"/>
            </a:endParaRPr>
          </a:p>
          <a:p>
            <a:pPr indent="-169863" lvl="0" marL="180975" marR="0" rtl="0" algn="l">
              <a:lnSpc>
                <a:spcPct val="85000"/>
              </a:lnSpc>
              <a:spcBef>
                <a:spcPts val="780"/>
              </a:spcBef>
              <a:spcAft>
                <a:spcPts val="0"/>
              </a:spcAft>
              <a:buClr>
                <a:srgbClr val="714FA0"/>
              </a:buClr>
              <a:buSzPts val="1500"/>
              <a:buFont typeface="Arial"/>
              <a:buChar char="•"/>
            </a:pPr>
            <a:r>
              <a:rPr b="0" i="0" lang="es-PE" sz="1500" u="none" cap="none" strike="noStrike">
                <a:solidFill>
                  <a:schemeClr val="dk1"/>
                </a:solidFill>
                <a:latin typeface="Calibri"/>
                <a:ea typeface="Calibri"/>
                <a:cs typeface="Calibri"/>
                <a:sym typeface="Calibri"/>
              </a:rPr>
              <a:t>Inversión inicial baja para construir experiencias y aprender a través de MVPs.</a:t>
            </a:r>
            <a:endParaRPr b="0" i="0" sz="1500" u="none" cap="none" strike="noStrike">
              <a:solidFill>
                <a:schemeClr val="dk1"/>
              </a:solidFill>
              <a:latin typeface="Calibri"/>
              <a:ea typeface="Calibri"/>
              <a:cs typeface="Calibri"/>
              <a:sym typeface="Calibri"/>
            </a:endParaRPr>
          </a:p>
          <a:p>
            <a:pPr indent="-169863" lvl="0" marL="180975" marR="0" rtl="0" algn="l">
              <a:lnSpc>
                <a:spcPct val="85000"/>
              </a:lnSpc>
              <a:spcBef>
                <a:spcPts val="780"/>
              </a:spcBef>
              <a:spcAft>
                <a:spcPts val="0"/>
              </a:spcAft>
              <a:buClr>
                <a:srgbClr val="714FA0"/>
              </a:buClr>
              <a:buSzPts val="1500"/>
              <a:buFont typeface="Arial"/>
              <a:buChar char="•"/>
            </a:pPr>
            <a:r>
              <a:rPr b="0" i="0" lang="es-PE" sz="1500" u="none" cap="none" strike="noStrike">
                <a:solidFill>
                  <a:schemeClr val="dk1"/>
                </a:solidFill>
                <a:latin typeface="Calibri"/>
                <a:ea typeface="Calibri"/>
                <a:cs typeface="Calibri"/>
                <a:sym typeface="Calibri"/>
              </a:rPr>
              <a:t>Facilidad para la personalización e iteración constante.</a:t>
            </a:r>
            <a:endParaRPr b="0" i="0" sz="1500" u="none" cap="none" strike="noStrike">
              <a:solidFill>
                <a:schemeClr val="dk1"/>
              </a:solidFill>
              <a:latin typeface="Calibri"/>
              <a:ea typeface="Calibri"/>
              <a:cs typeface="Calibri"/>
              <a:sym typeface="Calibri"/>
            </a:endParaRPr>
          </a:p>
          <a:p>
            <a:pPr indent="-169863" lvl="0" marL="180975" marR="0" rtl="0" algn="l">
              <a:lnSpc>
                <a:spcPct val="85000"/>
              </a:lnSpc>
              <a:spcBef>
                <a:spcPts val="780"/>
              </a:spcBef>
              <a:spcAft>
                <a:spcPts val="0"/>
              </a:spcAft>
              <a:buClr>
                <a:srgbClr val="714FA0"/>
              </a:buClr>
              <a:buSzPts val="1500"/>
              <a:buFont typeface="Arial"/>
              <a:buChar char="•"/>
            </a:pPr>
            <a:r>
              <a:rPr b="0" i="0" lang="es-PE" sz="1500" u="none" cap="none" strike="noStrike">
                <a:solidFill>
                  <a:schemeClr val="dk1"/>
                </a:solidFill>
                <a:latin typeface="Calibri"/>
                <a:ea typeface="Calibri"/>
                <a:cs typeface="Calibri"/>
                <a:sym typeface="Calibri"/>
              </a:rPr>
              <a:t>Sencillo de monitorear en tiempo real gracias a herramientas digitales de analítica.</a:t>
            </a:r>
            <a:endParaRPr b="0" i="0" sz="1500" u="none" cap="none" strike="noStrike">
              <a:solidFill>
                <a:schemeClr val="dk1"/>
              </a:solidFill>
              <a:latin typeface="Calibri"/>
              <a:ea typeface="Calibri"/>
              <a:cs typeface="Calibri"/>
              <a:sym typeface="Calibri"/>
            </a:endParaRPr>
          </a:p>
          <a:p>
            <a:pPr indent="-169863" lvl="0" marL="180975" marR="0" rtl="0" algn="l">
              <a:lnSpc>
                <a:spcPct val="85000"/>
              </a:lnSpc>
              <a:spcBef>
                <a:spcPts val="780"/>
              </a:spcBef>
              <a:spcAft>
                <a:spcPts val="0"/>
              </a:spcAft>
              <a:buClr>
                <a:srgbClr val="714FA0"/>
              </a:buClr>
              <a:buSzPts val="1500"/>
              <a:buFont typeface="Arial"/>
              <a:buChar char="•"/>
            </a:pPr>
            <a:r>
              <a:rPr b="0" i="0" lang="es-PE" sz="1500" u="none" cap="none" strike="noStrike">
                <a:solidFill>
                  <a:schemeClr val="dk1"/>
                </a:solidFill>
                <a:latin typeface="Calibri"/>
                <a:ea typeface="Calibri"/>
                <a:cs typeface="Calibri"/>
                <a:sym typeface="Calibri"/>
              </a:rPr>
              <a:t>Menor margen de error, es muy sencillo solucionar problemas.</a:t>
            </a:r>
            <a:endParaRPr b="0" i="0" sz="1500" u="none" cap="none" strike="noStrike">
              <a:solidFill>
                <a:schemeClr val="dk1"/>
              </a:solidFill>
              <a:latin typeface="Calibri"/>
              <a:ea typeface="Calibri"/>
              <a:cs typeface="Calibri"/>
              <a:sym typeface="Calibri"/>
            </a:endParaRPr>
          </a:p>
        </p:txBody>
      </p:sp>
      <p:sp>
        <p:nvSpPr>
          <p:cNvPr id="290" name="Google Shape;290;p22"/>
          <p:cNvSpPr/>
          <p:nvPr/>
        </p:nvSpPr>
        <p:spPr>
          <a:xfrm>
            <a:off x="503238" y="1442061"/>
            <a:ext cx="3892550" cy="3178707"/>
          </a:xfrm>
          <a:prstGeom prst="roundRect">
            <a:avLst>
              <a:gd fmla="val 3823" name="adj"/>
            </a:avLst>
          </a:prstGeom>
          <a:solidFill>
            <a:srgbClr val="DDEEC7"/>
          </a:solidFill>
          <a:ln>
            <a:noFill/>
          </a:ln>
        </p:spPr>
        <p:txBody>
          <a:bodyPr anchorCtr="0" anchor="t" bIns="45700" lIns="144000" spcFirstLastPara="1" rIns="108000" wrap="square" tIns="144000">
            <a:noAutofit/>
          </a:bodyPr>
          <a:lstStyle/>
          <a:p>
            <a:pPr indent="-169863" lvl="0" marL="180975" marR="0" rtl="0" algn="l">
              <a:lnSpc>
                <a:spcPct val="100000"/>
              </a:lnSpc>
              <a:spcBef>
                <a:spcPts val="0"/>
              </a:spcBef>
              <a:spcAft>
                <a:spcPts val="0"/>
              </a:spcAft>
              <a:buClr>
                <a:srgbClr val="8FC53F"/>
              </a:buClr>
              <a:buSzPts val="1500"/>
              <a:buFont typeface="Arial"/>
              <a:buChar char="•"/>
            </a:pPr>
            <a:r>
              <a:rPr b="0" i="0" lang="es-PE" sz="1500" u="none" cap="none" strike="noStrike">
                <a:solidFill>
                  <a:schemeClr val="dk1"/>
                </a:solidFill>
                <a:latin typeface="Calibri"/>
                <a:ea typeface="Calibri"/>
                <a:cs typeface="Calibri"/>
                <a:sym typeface="Calibri"/>
              </a:rPr>
              <a:t>Mayor tangibilidad, durabilidad y accesibilidad al producto.</a:t>
            </a:r>
            <a:endParaRPr b="0" i="0" sz="1500" u="none" cap="none" strike="noStrike">
              <a:solidFill>
                <a:schemeClr val="dk1"/>
              </a:solidFill>
              <a:latin typeface="Calibri"/>
              <a:ea typeface="Calibri"/>
              <a:cs typeface="Calibri"/>
              <a:sym typeface="Calibri"/>
            </a:endParaRPr>
          </a:p>
          <a:p>
            <a:pPr indent="-169863" lvl="0" marL="180975" marR="0" rtl="0" algn="l">
              <a:lnSpc>
                <a:spcPct val="100000"/>
              </a:lnSpc>
              <a:spcBef>
                <a:spcPts val="600"/>
              </a:spcBef>
              <a:spcAft>
                <a:spcPts val="0"/>
              </a:spcAft>
              <a:buClr>
                <a:srgbClr val="8FC53F"/>
              </a:buClr>
              <a:buSzPts val="1500"/>
              <a:buFont typeface="Arial"/>
              <a:buChar char="•"/>
            </a:pPr>
            <a:r>
              <a:rPr b="0" i="0" lang="es-PE" sz="1500" u="none" cap="none" strike="noStrike">
                <a:solidFill>
                  <a:schemeClr val="dk1"/>
                </a:solidFill>
                <a:latin typeface="Calibri"/>
                <a:ea typeface="Calibri"/>
                <a:cs typeface="Calibri"/>
                <a:sym typeface="Calibri"/>
              </a:rPr>
              <a:t>Inversión inicial alta, grandes regulaciones y normativas por cumplir.</a:t>
            </a:r>
            <a:endParaRPr b="0" i="0" sz="1500" u="none" cap="none" strike="noStrike">
              <a:solidFill>
                <a:schemeClr val="dk1"/>
              </a:solidFill>
              <a:latin typeface="Calibri"/>
              <a:ea typeface="Calibri"/>
              <a:cs typeface="Calibri"/>
              <a:sym typeface="Calibri"/>
            </a:endParaRPr>
          </a:p>
          <a:p>
            <a:pPr indent="-169863" lvl="0" marL="180975" marR="0" rtl="0" algn="l">
              <a:lnSpc>
                <a:spcPct val="100000"/>
              </a:lnSpc>
              <a:spcBef>
                <a:spcPts val="600"/>
              </a:spcBef>
              <a:spcAft>
                <a:spcPts val="0"/>
              </a:spcAft>
              <a:buClr>
                <a:srgbClr val="8FC53F"/>
              </a:buClr>
              <a:buSzPts val="1500"/>
              <a:buFont typeface="Arial"/>
              <a:buChar char="•"/>
            </a:pPr>
            <a:r>
              <a:rPr b="0" i="0" lang="es-PE" sz="1500" u="none" cap="none" strike="noStrike">
                <a:solidFill>
                  <a:schemeClr val="dk1"/>
                </a:solidFill>
                <a:latin typeface="Calibri"/>
                <a:ea typeface="Calibri"/>
                <a:cs typeface="Calibri"/>
                <a:sym typeface="Calibri"/>
              </a:rPr>
              <a:t>Limitaciones en la personalización.</a:t>
            </a:r>
            <a:endParaRPr b="0" i="0" sz="1500" u="none" cap="none" strike="noStrike">
              <a:solidFill>
                <a:schemeClr val="dk1"/>
              </a:solidFill>
              <a:latin typeface="Calibri"/>
              <a:ea typeface="Calibri"/>
              <a:cs typeface="Calibri"/>
              <a:sym typeface="Calibri"/>
            </a:endParaRPr>
          </a:p>
          <a:p>
            <a:pPr indent="-169863" lvl="0" marL="180975" marR="0" rtl="0" algn="l">
              <a:lnSpc>
                <a:spcPct val="100000"/>
              </a:lnSpc>
              <a:spcBef>
                <a:spcPts val="600"/>
              </a:spcBef>
              <a:spcAft>
                <a:spcPts val="0"/>
              </a:spcAft>
              <a:buClr>
                <a:srgbClr val="8FC53F"/>
              </a:buClr>
              <a:buSzPts val="1500"/>
              <a:buFont typeface="Arial"/>
              <a:buChar char="•"/>
            </a:pPr>
            <a:r>
              <a:rPr b="0" i="0" lang="es-PE" sz="1500" u="none" cap="none" strike="noStrike">
                <a:solidFill>
                  <a:schemeClr val="dk1"/>
                </a:solidFill>
                <a:latin typeface="Calibri"/>
                <a:ea typeface="Calibri"/>
                <a:cs typeface="Calibri"/>
                <a:sym typeface="Calibri"/>
              </a:rPr>
              <a:t>Ciclos de desarrollo bastante largos</a:t>
            </a:r>
            <a:endParaRPr b="0" i="0" sz="1500" u="none" cap="none" strike="noStrike">
              <a:solidFill>
                <a:schemeClr val="dk1"/>
              </a:solidFill>
              <a:latin typeface="Calibri"/>
              <a:ea typeface="Calibri"/>
              <a:cs typeface="Calibri"/>
              <a:sym typeface="Calibri"/>
            </a:endParaRPr>
          </a:p>
          <a:p>
            <a:pPr indent="-169863" lvl="0" marL="180975" marR="0" rtl="0" algn="l">
              <a:lnSpc>
                <a:spcPct val="100000"/>
              </a:lnSpc>
              <a:spcBef>
                <a:spcPts val="600"/>
              </a:spcBef>
              <a:spcAft>
                <a:spcPts val="0"/>
              </a:spcAft>
              <a:buClr>
                <a:srgbClr val="8FC53F"/>
              </a:buClr>
              <a:buSzPts val="1500"/>
              <a:buFont typeface="Arial"/>
              <a:buChar char="•"/>
            </a:pPr>
            <a:r>
              <a:rPr b="0" i="0" lang="es-PE" sz="1500" u="none" cap="none" strike="noStrike">
                <a:solidFill>
                  <a:schemeClr val="dk1"/>
                </a:solidFill>
                <a:latin typeface="Calibri"/>
                <a:ea typeface="Calibri"/>
                <a:cs typeface="Calibri"/>
                <a:sym typeface="Calibri"/>
              </a:rPr>
              <a:t>Es difícil recibir Feedback del mercado en tiempo real y analizar causas raíces.</a:t>
            </a:r>
            <a:endParaRPr b="0" i="0" sz="1500" u="none" cap="none" strike="noStrike">
              <a:solidFill>
                <a:schemeClr val="dk1"/>
              </a:solidFill>
              <a:latin typeface="Calibri"/>
              <a:ea typeface="Calibri"/>
              <a:cs typeface="Calibri"/>
              <a:sym typeface="Calibri"/>
            </a:endParaRPr>
          </a:p>
          <a:p>
            <a:pPr indent="-169863" lvl="0" marL="180975" marR="0" rtl="0" algn="l">
              <a:lnSpc>
                <a:spcPct val="100000"/>
              </a:lnSpc>
              <a:spcBef>
                <a:spcPts val="600"/>
              </a:spcBef>
              <a:spcAft>
                <a:spcPts val="0"/>
              </a:spcAft>
              <a:buClr>
                <a:srgbClr val="8FC53F"/>
              </a:buClr>
              <a:buSzPts val="1500"/>
              <a:buFont typeface="Arial"/>
              <a:buChar char="•"/>
            </a:pPr>
            <a:r>
              <a:rPr b="0" i="0" lang="es-PE" sz="1500" u="none" cap="none" strike="noStrike">
                <a:solidFill>
                  <a:schemeClr val="dk1"/>
                </a:solidFill>
                <a:latin typeface="Calibri"/>
                <a:ea typeface="Calibri"/>
                <a:cs typeface="Calibri"/>
                <a:sym typeface="Calibri"/>
              </a:rPr>
              <a:t>Mayor margen de error, si algo sale mal tu reputación se puede ir al tacho.</a:t>
            </a:r>
            <a:endParaRPr b="0" i="0" sz="1500" u="none" cap="none" strike="noStrike">
              <a:solidFill>
                <a:schemeClr val="dk1"/>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p23"/>
          <p:cNvSpPr txBox="1"/>
          <p:nvPr/>
        </p:nvSpPr>
        <p:spPr>
          <a:xfrm>
            <a:off x="503238" y="937934"/>
            <a:ext cx="7645680" cy="246221"/>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600"/>
              <a:buFont typeface="Arial"/>
              <a:buNone/>
            </a:pPr>
            <a:r>
              <a:rPr b="0" i="0" lang="es-PE" sz="1600" u="none" cap="none" strike="noStrike">
                <a:solidFill>
                  <a:schemeClr val="dk1"/>
                </a:solidFill>
                <a:latin typeface="Calibri"/>
                <a:ea typeface="Calibri"/>
                <a:cs typeface="Calibri"/>
                <a:sym typeface="Calibri"/>
              </a:rPr>
              <a:t>Para construir productos digitales al día de hoy, necesitamos tener en cuenta lo siguiente:</a:t>
            </a:r>
            <a:endParaRPr b="0" i="0" sz="1600" u="none" cap="none" strike="noStrike">
              <a:solidFill>
                <a:schemeClr val="dk1"/>
              </a:solidFill>
              <a:latin typeface="Calibri"/>
              <a:ea typeface="Calibri"/>
              <a:cs typeface="Calibri"/>
              <a:sym typeface="Calibri"/>
            </a:endParaRPr>
          </a:p>
        </p:txBody>
      </p:sp>
      <p:sp>
        <p:nvSpPr>
          <p:cNvPr id="297" name="Google Shape;297;p23"/>
          <p:cNvSpPr/>
          <p:nvPr/>
        </p:nvSpPr>
        <p:spPr>
          <a:xfrm>
            <a:off x="503237" y="385980"/>
            <a:ext cx="5552610" cy="138499"/>
          </a:xfrm>
          <a:prstGeom prst="rect">
            <a:avLst/>
          </a:prstGeom>
          <a:noFill/>
          <a:ln>
            <a:noFill/>
          </a:ln>
        </p:spPr>
        <p:txBody>
          <a:bodyPr anchorCtr="0" anchor="b" bIns="0" lIns="0" spcFirstLastPara="1" rIns="0" wrap="square" tIns="0">
            <a:spAutoFit/>
          </a:bodyPr>
          <a:lstStyle/>
          <a:p>
            <a:pPr indent="0" lvl="0" marL="0" marR="0" rtl="0" algn="l">
              <a:lnSpc>
                <a:spcPct val="90000"/>
              </a:lnSpc>
              <a:spcBef>
                <a:spcPts val="0"/>
              </a:spcBef>
              <a:spcAft>
                <a:spcPts val="0"/>
              </a:spcAft>
              <a:buClr>
                <a:srgbClr val="000000"/>
              </a:buClr>
              <a:buSzPts val="1000"/>
              <a:buFont typeface="Arial"/>
              <a:buNone/>
            </a:pPr>
            <a:r>
              <a:rPr b="1" i="0" lang="es-PE" sz="1000" u="none" cap="none" strike="noStrike">
                <a:solidFill>
                  <a:srgbClr val="7F7F7F"/>
                </a:solidFill>
                <a:latin typeface="Calibri"/>
                <a:ea typeface="Calibri"/>
                <a:cs typeface="Calibri"/>
                <a:sym typeface="Calibri"/>
              </a:rPr>
              <a:t>+ </a:t>
            </a:r>
            <a:r>
              <a:rPr b="0" i="0" lang="es-PE" sz="1000" u="none" cap="none" strike="noStrike">
                <a:solidFill>
                  <a:srgbClr val="A5A5A5"/>
                </a:solidFill>
                <a:latin typeface="Calibri"/>
                <a:ea typeface="Calibri"/>
                <a:cs typeface="Calibri"/>
                <a:sym typeface="Calibri"/>
              </a:rPr>
              <a:t>PRINCIPALES BENEFICIOS Y DESAFÍOS EN LA INDUSTRIA DIGITAL</a:t>
            </a:r>
            <a:endParaRPr b="0" i="0" sz="1400" u="none" cap="none" strike="noStrike">
              <a:solidFill>
                <a:srgbClr val="000000"/>
              </a:solidFill>
              <a:latin typeface="Arial"/>
              <a:ea typeface="Arial"/>
              <a:cs typeface="Arial"/>
              <a:sym typeface="Arial"/>
            </a:endParaRPr>
          </a:p>
        </p:txBody>
      </p:sp>
      <p:sp>
        <p:nvSpPr>
          <p:cNvPr id="298" name="Google Shape;298;p23"/>
          <p:cNvSpPr/>
          <p:nvPr/>
        </p:nvSpPr>
        <p:spPr>
          <a:xfrm>
            <a:off x="4676455" y="1979641"/>
            <a:ext cx="3175640" cy="501005"/>
          </a:xfrm>
          <a:prstGeom prst="roundRect">
            <a:avLst>
              <a:gd fmla="val 18326" name="adj"/>
            </a:avLst>
          </a:prstGeom>
          <a:solidFill>
            <a:srgbClr val="00B1C2"/>
          </a:solidFill>
          <a:ln>
            <a:noFill/>
          </a:ln>
        </p:spPr>
        <p:txBody>
          <a:bodyPr anchorCtr="0" anchor="ctr" bIns="45700" lIns="91425" spcFirstLastPara="1" rIns="91425" wrap="square" tIns="45700">
            <a:noAutofit/>
          </a:bodyPr>
          <a:lstStyle/>
          <a:p>
            <a:pPr indent="0" lvl="0" marL="11725" marR="0" rtl="0" algn="ctr">
              <a:lnSpc>
                <a:spcPct val="100000"/>
              </a:lnSpc>
              <a:spcBef>
                <a:spcPts val="0"/>
              </a:spcBef>
              <a:spcAft>
                <a:spcPts val="0"/>
              </a:spcAft>
              <a:buNone/>
            </a:pPr>
            <a:r>
              <a:rPr b="1" i="0" lang="es-PE" sz="1400" u="none" cap="none" strike="noStrike">
                <a:solidFill>
                  <a:schemeClr val="lt1"/>
                </a:solidFill>
                <a:latin typeface="Calibri"/>
                <a:ea typeface="Calibri"/>
                <a:cs typeface="Calibri"/>
                <a:sym typeface="Calibri"/>
              </a:rPr>
              <a:t>Retos</a:t>
            </a:r>
            <a:endParaRPr b="1" i="0" sz="1400" u="none" cap="none" strike="noStrike">
              <a:solidFill>
                <a:schemeClr val="lt1"/>
              </a:solidFill>
              <a:latin typeface="Calibri"/>
              <a:ea typeface="Calibri"/>
              <a:cs typeface="Calibri"/>
              <a:sym typeface="Calibri"/>
            </a:endParaRPr>
          </a:p>
        </p:txBody>
      </p:sp>
      <p:sp>
        <p:nvSpPr>
          <p:cNvPr id="299" name="Google Shape;299;p23"/>
          <p:cNvSpPr/>
          <p:nvPr/>
        </p:nvSpPr>
        <p:spPr>
          <a:xfrm>
            <a:off x="4676455" y="2554192"/>
            <a:ext cx="3175640" cy="1852708"/>
          </a:xfrm>
          <a:prstGeom prst="roundRect">
            <a:avLst>
              <a:gd fmla="val 2748" name="adj"/>
            </a:avLst>
          </a:prstGeom>
          <a:solidFill>
            <a:srgbClr val="D1EFF4"/>
          </a:solidFill>
          <a:ln>
            <a:noFill/>
          </a:ln>
        </p:spPr>
        <p:txBody>
          <a:bodyPr anchorCtr="0" anchor="t" bIns="45700" lIns="108000" spcFirstLastPara="1" rIns="108000" wrap="square" tIns="108000">
            <a:noAutofit/>
          </a:bodyPr>
          <a:lstStyle/>
          <a:p>
            <a:pPr indent="-134938" lvl="0" marL="222250" marR="0" rtl="0" algn="l">
              <a:lnSpc>
                <a:spcPct val="100000"/>
              </a:lnSpc>
              <a:spcBef>
                <a:spcPts val="0"/>
              </a:spcBef>
              <a:spcAft>
                <a:spcPts val="0"/>
              </a:spcAft>
              <a:buClr>
                <a:srgbClr val="00B1C2"/>
              </a:buClr>
              <a:buSzPts val="1400"/>
              <a:buFont typeface="Arial"/>
              <a:buChar char="•"/>
            </a:pPr>
            <a:r>
              <a:rPr b="0" i="0" lang="es-PE" sz="1400" u="none" cap="none" strike="noStrike">
                <a:solidFill>
                  <a:srgbClr val="000000"/>
                </a:solidFill>
                <a:latin typeface="Calibri"/>
                <a:ea typeface="Calibri"/>
                <a:cs typeface="Calibri"/>
                <a:sym typeface="Calibri"/>
              </a:rPr>
              <a:t>Tu competencia conoce de esto, necesitas asegurar velocidad. </a:t>
            </a:r>
            <a:endParaRPr b="0" i="0" sz="1400" u="none" cap="none" strike="noStrike">
              <a:solidFill>
                <a:srgbClr val="000000"/>
              </a:solidFill>
              <a:latin typeface="Calibri"/>
              <a:ea typeface="Calibri"/>
              <a:cs typeface="Calibri"/>
              <a:sym typeface="Calibri"/>
            </a:endParaRPr>
          </a:p>
          <a:p>
            <a:pPr indent="-134938" lvl="0" marL="222250" marR="0" rtl="0" algn="l">
              <a:lnSpc>
                <a:spcPct val="100000"/>
              </a:lnSpc>
              <a:spcBef>
                <a:spcPts val="600"/>
              </a:spcBef>
              <a:spcAft>
                <a:spcPts val="0"/>
              </a:spcAft>
              <a:buClr>
                <a:srgbClr val="00B1C2"/>
              </a:buClr>
              <a:buSzPts val="1400"/>
              <a:buFont typeface="Arial"/>
              <a:buChar char="•"/>
            </a:pPr>
            <a:r>
              <a:rPr b="0" i="0" lang="es-PE" sz="1400" u="none" cap="none" strike="noStrike">
                <a:solidFill>
                  <a:srgbClr val="000000"/>
                </a:solidFill>
                <a:latin typeface="Calibri"/>
                <a:ea typeface="Calibri"/>
                <a:cs typeface="Calibri"/>
                <a:sym typeface="Calibri"/>
              </a:rPr>
              <a:t>Mercado y contexto cambiante</a:t>
            </a:r>
            <a:endParaRPr b="0" i="0" sz="1400" u="none" cap="none" strike="noStrike">
              <a:solidFill>
                <a:srgbClr val="000000"/>
              </a:solidFill>
              <a:latin typeface="Calibri"/>
              <a:ea typeface="Calibri"/>
              <a:cs typeface="Calibri"/>
              <a:sym typeface="Calibri"/>
            </a:endParaRPr>
          </a:p>
          <a:p>
            <a:pPr indent="-134938" lvl="0" marL="222250" marR="0" rtl="0" algn="l">
              <a:lnSpc>
                <a:spcPct val="100000"/>
              </a:lnSpc>
              <a:spcBef>
                <a:spcPts val="600"/>
              </a:spcBef>
              <a:spcAft>
                <a:spcPts val="600"/>
              </a:spcAft>
              <a:buClr>
                <a:srgbClr val="00B1C2"/>
              </a:buClr>
              <a:buSzPts val="1400"/>
              <a:buFont typeface="Arial"/>
              <a:buChar char="•"/>
            </a:pPr>
            <a:r>
              <a:rPr b="0" i="0" lang="es-PE" sz="1400" u="none" cap="none" strike="noStrike">
                <a:solidFill>
                  <a:srgbClr val="000000"/>
                </a:solidFill>
                <a:latin typeface="Calibri"/>
                <a:ea typeface="Calibri"/>
                <a:cs typeface="Calibri"/>
                <a:sym typeface="Calibri"/>
              </a:rPr>
              <a:t>Tendencias emergentes para adaptar en el día a día.</a:t>
            </a:r>
            <a:endParaRPr b="0" i="0" sz="1400" u="none" cap="none" strike="noStrike">
              <a:solidFill>
                <a:srgbClr val="000000"/>
              </a:solidFill>
              <a:latin typeface="Calibri"/>
              <a:ea typeface="Calibri"/>
              <a:cs typeface="Calibri"/>
              <a:sym typeface="Calibri"/>
            </a:endParaRPr>
          </a:p>
        </p:txBody>
      </p:sp>
      <p:grpSp>
        <p:nvGrpSpPr>
          <p:cNvPr id="300" name="Google Shape;300;p23"/>
          <p:cNvGrpSpPr/>
          <p:nvPr/>
        </p:nvGrpSpPr>
        <p:grpSpPr>
          <a:xfrm>
            <a:off x="4460689" y="2028270"/>
            <a:ext cx="459474" cy="403823"/>
            <a:chOff x="5892512" y="2805541"/>
            <a:chExt cx="459474" cy="403823"/>
          </a:xfrm>
        </p:grpSpPr>
        <p:sp>
          <p:nvSpPr>
            <p:cNvPr id="301" name="Google Shape;301;p23"/>
            <p:cNvSpPr/>
            <p:nvPr/>
          </p:nvSpPr>
          <p:spPr>
            <a:xfrm>
              <a:off x="5956277" y="2824919"/>
              <a:ext cx="395709" cy="376075"/>
            </a:xfrm>
            <a:prstGeom prst="ellipse">
              <a:avLst/>
            </a:prstGeom>
            <a:solidFill>
              <a:srgbClr val="0B828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300" u="none" cap="none" strike="noStrike">
                <a:solidFill>
                  <a:schemeClr val="lt1"/>
                </a:solidFill>
                <a:latin typeface="Arial"/>
                <a:ea typeface="Arial"/>
                <a:cs typeface="Arial"/>
                <a:sym typeface="Arial"/>
              </a:endParaRPr>
            </a:p>
          </p:txBody>
        </p:sp>
        <p:sp>
          <p:nvSpPr>
            <p:cNvPr id="302" name="Google Shape;302;p23"/>
            <p:cNvSpPr/>
            <p:nvPr/>
          </p:nvSpPr>
          <p:spPr>
            <a:xfrm>
              <a:off x="5892512" y="2805541"/>
              <a:ext cx="424906" cy="403823"/>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300" u="none" cap="none" strike="noStrike">
                <a:solidFill>
                  <a:schemeClr val="lt1"/>
                </a:solidFill>
                <a:latin typeface="Arial"/>
                <a:ea typeface="Arial"/>
                <a:cs typeface="Arial"/>
                <a:sym typeface="Arial"/>
              </a:endParaRPr>
            </a:p>
          </p:txBody>
        </p:sp>
        <p:sp>
          <p:nvSpPr>
            <p:cNvPr id="303" name="Google Shape;303;p23"/>
            <p:cNvSpPr/>
            <p:nvPr/>
          </p:nvSpPr>
          <p:spPr>
            <a:xfrm rot="5400000">
              <a:off x="6076285" y="2946262"/>
              <a:ext cx="186870" cy="122381"/>
            </a:xfrm>
            <a:prstGeom prst="triangle">
              <a:avLst>
                <a:gd fmla="val 50000" name="adj"/>
              </a:avLst>
            </a:prstGeom>
            <a:solidFill>
              <a:schemeClr val="accent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300" u="none" cap="none" strike="noStrike">
                <a:solidFill>
                  <a:schemeClr val="lt1"/>
                </a:solidFill>
                <a:latin typeface="Arial"/>
                <a:ea typeface="Arial"/>
                <a:cs typeface="Arial"/>
                <a:sym typeface="Arial"/>
              </a:endParaRPr>
            </a:p>
          </p:txBody>
        </p:sp>
      </p:grpSp>
      <p:sp>
        <p:nvSpPr>
          <p:cNvPr id="304" name="Google Shape;304;p23"/>
          <p:cNvSpPr/>
          <p:nvPr/>
        </p:nvSpPr>
        <p:spPr>
          <a:xfrm>
            <a:off x="1290849" y="1979641"/>
            <a:ext cx="3175640" cy="501005"/>
          </a:xfrm>
          <a:prstGeom prst="roundRect">
            <a:avLst>
              <a:gd fmla="val 18326" name="adj"/>
            </a:avLst>
          </a:prstGeom>
          <a:solidFill>
            <a:srgbClr val="808799"/>
          </a:solidFill>
          <a:ln>
            <a:noFill/>
          </a:ln>
        </p:spPr>
        <p:txBody>
          <a:bodyPr anchorCtr="0" anchor="ctr" bIns="45700" lIns="91425" spcFirstLastPara="1" rIns="91425" wrap="square" tIns="45700">
            <a:noAutofit/>
          </a:bodyPr>
          <a:lstStyle/>
          <a:p>
            <a:pPr indent="0" lvl="0" marL="11725" marR="0" rtl="0" algn="ctr">
              <a:lnSpc>
                <a:spcPct val="100000"/>
              </a:lnSpc>
              <a:spcBef>
                <a:spcPts val="0"/>
              </a:spcBef>
              <a:spcAft>
                <a:spcPts val="0"/>
              </a:spcAft>
              <a:buNone/>
            </a:pPr>
            <a:r>
              <a:rPr b="1" i="0" lang="es-PE" sz="1500" u="none" cap="none" strike="noStrike">
                <a:solidFill>
                  <a:schemeClr val="lt1"/>
                </a:solidFill>
                <a:latin typeface="Calibri"/>
                <a:ea typeface="Calibri"/>
                <a:cs typeface="Calibri"/>
                <a:sym typeface="Calibri"/>
              </a:rPr>
              <a:t>Beneficios</a:t>
            </a:r>
            <a:endParaRPr b="1" i="0" sz="1500" u="none" cap="none" strike="noStrike">
              <a:solidFill>
                <a:schemeClr val="lt1"/>
              </a:solidFill>
              <a:latin typeface="Calibri"/>
              <a:ea typeface="Calibri"/>
              <a:cs typeface="Calibri"/>
              <a:sym typeface="Calibri"/>
            </a:endParaRPr>
          </a:p>
        </p:txBody>
      </p:sp>
      <p:sp>
        <p:nvSpPr>
          <p:cNvPr id="305" name="Google Shape;305;p23"/>
          <p:cNvSpPr/>
          <p:nvPr/>
        </p:nvSpPr>
        <p:spPr>
          <a:xfrm>
            <a:off x="1290849" y="2554192"/>
            <a:ext cx="3175640" cy="1852708"/>
          </a:xfrm>
          <a:prstGeom prst="roundRect">
            <a:avLst>
              <a:gd fmla="val 2748" name="adj"/>
            </a:avLst>
          </a:prstGeom>
          <a:solidFill>
            <a:srgbClr val="D9DBE2"/>
          </a:solidFill>
          <a:ln>
            <a:noFill/>
          </a:ln>
        </p:spPr>
        <p:txBody>
          <a:bodyPr anchorCtr="0" anchor="t" bIns="45700" lIns="108000" spcFirstLastPara="1" rIns="108000" wrap="square" tIns="108000">
            <a:noAutofit/>
          </a:bodyPr>
          <a:lstStyle/>
          <a:p>
            <a:pPr indent="-128588" lvl="0" marL="138113" marR="0" rtl="0" algn="l">
              <a:lnSpc>
                <a:spcPct val="100000"/>
              </a:lnSpc>
              <a:spcBef>
                <a:spcPts val="0"/>
              </a:spcBef>
              <a:spcAft>
                <a:spcPts val="0"/>
              </a:spcAft>
              <a:buClr>
                <a:srgbClr val="808799"/>
              </a:buClr>
              <a:buSzPts val="1400"/>
              <a:buFont typeface="Arial"/>
              <a:buChar char="•"/>
            </a:pPr>
            <a:r>
              <a:rPr b="0" i="0" lang="es-PE" sz="1400" u="none" cap="none" strike="noStrike">
                <a:solidFill>
                  <a:srgbClr val="262626"/>
                </a:solidFill>
                <a:latin typeface="Calibri"/>
                <a:ea typeface="Calibri"/>
                <a:cs typeface="Calibri"/>
                <a:sym typeface="Calibri"/>
              </a:rPr>
              <a:t>Velocidad para aprender de cada iteración en el producto</a:t>
            </a:r>
            <a:endParaRPr b="0" i="0" sz="1400" u="none" cap="none" strike="noStrike">
              <a:solidFill>
                <a:srgbClr val="262626"/>
              </a:solidFill>
              <a:latin typeface="Calibri"/>
              <a:ea typeface="Calibri"/>
              <a:cs typeface="Calibri"/>
              <a:sym typeface="Calibri"/>
            </a:endParaRPr>
          </a:p>
          <a:p>
            <a:pPr indent="-128588" lvl="0" marL="138113" marR="0" rtl="0" algn="l">
              <a:lnSpc>
                <a:spcPct val="100000"/>
              </a:lnSpc>
              <a:spcBef>
                <a:spcPts val="600"/>
              </a:spcBef>
              <a:spcAft>
                <a:spcPts val="0"/>
              </a:spcAft>
              <a:buClr>
                <a:srgbClr val="808799"/>
              </a:buClr>
              <a:buSzPts val="1400"/>
              <a:buFont typeface="Arial"/>
              <a:buChar char="•"/>
            </a:pPr>
            <a:r>
              <a:rPr b="0" i="0" lang="es-PE" sz="1400" u="none" cap="none" strike="noStrike">
                <a:solidFill>
                  <a:srgbClr val="262626"/>
                </a:solidFill>
                <a:latin typeface="Calibri"/>
                <a:ea typeface="Calibri"/>
                <a:cs typeface="Calibri"/>
                <a:sym typeface="Calibri"/>
              </a:rPr>
              <a:t>Existen herramientas y buenas prácticas para apoyar en el proceso.</a:t>
            </a:r>
            <a:endParaRPr b="0" i="0" sz="1400" u="none" cap="none" strike="noStrike">
              <a:solidFill>
                <a:srgbClr val="262626"/>
              </a:solidFill>
              <a:latin typeface="Calibri"/>
              <a:ea typeface="Calibri"/>
              <a:cs typeface="Calibri"/>
              <a:sym typeface="Calibri"/>
            </a:endParaRPr>
          </a:p>
          <a:p>
            <a:pPr indent="-128588" lvl="0" marL="138113" marR="0" rtl="0" algn="l">
              <a:lnSpc>
                <a:spcPct val="100000"/>
              </a:lnSpc>
              <a:spcBef>
                <a:spcPts val="600"/>
              </a:spcBef>
              <a:spcAft>
                <a:spcPts val="600"/>
              </a:spcAft>
              <a:buClr>
                <a:srgbClr val="808799"/>
              </a:buClr>
              <a:buSzPts val="1400"/>
              <a:buFont typeface="Arial"/>
              <a:buChar char="•"/>
            </a:pPr>
            <a:r>
              <a:rPr b="0" i="0" lang="es-PE" sz="1400" u="none" cap="none" strike="noStrike">
                <a:solidFill>
                  <a:srgbClr val="262626"/>
                </a:solidFill>
                <a:latin typeface="Calibri"/>
                <a:ea typeface="Calibri"/>
                <a:cs typeface="Calibri"/>
                <a:sym typeface="Calibri"/>
              </a:rPr>
              <a:t>Hay predisposición para colaborar </a:t>
            </a:r>
            <a:br>
              <a:rPr b="0" i="0" lang="es-PE" sz="1400" u="none" cap="none" strike="noStrike">
                <a:solidFill>
                  <a:srgbClr val="262626"/>
                </a:solidFill>
                <a:latin typeface="Calibri"/>
                <a:ea typeface="Calibri"/>
                <a:cs typeface="Calibri"/>
                <a:sym typeface="Calibri"/>
              </a:rPr>
            </a:br>
            <a:r>
              <a:rPr b="0" i="0" lang="es-PE" sz="1400" u="none" cap="none" strike="noStrike">
                <a:solidFill>
                  <a:srgbClr val="262626"/>
                </a:solidFill>
                <a:latin typeface="Calibri"/>
                <a:ea typeface="Calibri"/>
                <a:cs typeface="Calibri"/>
                <a:sym typeface="Calibri"/>
              </a:rPr>
              <a:t>con otros departamentos</a:t>
            </a:r>
            <a:endParaRPr b="0" i="0" sz="1400" u="none" cap="none" strike="noStrike">
              <a:solidFill>
                <a:srgbClr val="262626"/>
              </a:solidFill>
              <a:latin typeface="Calibri"/>
              <a:ea typeface="Calibri"/>
              <a:cs typeface="Calibri"/>
              <a:sym typeface="Calibri"/>
            </a:endParaRPr>
          </a:p>
        </p:txBody>
      </p:sp>
      <p:sp>
        <p:nvSpPr>
          <p:cNvPr id="306" name="Google Shape;306;p23"/>
          <p:cNvSpPr/>
          <p:nvPr/>
        </p:nvSpPr>
        <p:spPr>
          <a:xfrm>
            <a:off x="1139699" y="2047648"/>
            <a:ext cx="395709" cy="376075"/>
          </a:xfrm>
          <a:prstGeom prst="ellipse">
            <a:avLst/>
          </a:prstGeom>
          <a:solidFill>
            <a:srgbClr val="5C617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300" u="none" cap="none" strike="noStrike">
              <a:solidFill>
                <a:schemeClr val="lt1"/>
              </a:solidFill>
              <a:latin typeface="Arial"/>
              <a:ea typeface="Arial"/>
              <a:cs typeface="Arial"/>
              <a:sym typeface="Arial"/>
            </a:endParaRPr>
          </a:p>
        </p:txBody>
      </p:sp>
      <p:sp>
        <p:nvSpPr>
          <p:cNvPr id="307" name="Google Shape;307;p23"/>
          <p:cNvSpPr/>
          <p:nvPr/>
        </p:nvSpPr>
        <p:spPr>
          <a:xfrm>
            <a:off x="1075934" y="2028270"/>
            <a:ext cx="424906" cy="403823"/>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300" u="none" cap="none" strike="noStrike">
              <a:solidFill>
                <a:schemeClr val="lt1"/>
              </a:solidFill>
              <a:latin typeface="Arial"/>
              <a:ea typeface="Arial"/>
              <a:cs typeface="Arial"/>
              <a:sym typeface="Arial"/>
            </a:endParaRPr>
          </a:p>
        </p:txBody>
      </p:sp>
      <p:sp>
        <p:nvSpPr>
          <p:cNvPr id="308" name="Google Shape;308;p23"/>
          <p:cNvSpPr/>
          <p:nvPr/>
        </p:nvSpPr>
        <p:spPr>
          <a:xfrm rot="5400000">
            <a:off x="1259707" y="2168991"/>
            <a:ext cx="186870" cy="122381"/>
          </a:xfrm>
          <a:prstGeom prst="triangle">
            <a:avLst>
              <a:gd fmla="val 50000" name="adj"/>
            </a:avLst>
          </a:prstGeom>
          <a:solidFill>
            <a:srgbClr val="8087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300" u="none" cap="none" strike="noStrike">
              <a:solidFill>
                <a:schemeClr val="lt1"/>
              </a:solidFill>
              <a:latin typeface="Arial"/>
              <a:ea typeface="Arial"/>
              <a:cs typeface="Arial"/>
              <a:sym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sp>
        <p:nvSpPr>
          <p:cNvPr id="314" name="Google Shape;314;p24"/>
          <p:cNvSpPr/>
          <p:nvPr/>
        </p:nvSpPr>
        <p:spPr>
          <a:xfrm>
            <a:off x="0" y="0"/>
            <a:ext cx="9144000" cy="5715000"/>
          </a:xfrm>
          <a:prstGeom prst="rect">
            <a:avLst/>
          </a:prstGeom>
          <a:solidFill>
            <a:srgbClr val="8087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15" name="Google Shape;315;p24"/>
          <p:cNvSpPr txBox="1"/>
          <p:nvPr/>
        </p:nvSpPr>
        <p:spPr>
          <a:xfrm>
            <a:off x="1008063" y="3169972"/>
            <a:ext cx="5993558" cy="997196"/>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Clr>
                <a:srgbClr val="000000"/>
              </a:buClr>
              <a:buSzPts val="2400"/>
              <a:buFont typeface="Arial"/>
              <a:buNone/>
            </a:pPr>
            <a:r>
              <a:rPr b="0" i="0" lang="es-PE" sz="2400" u="none" cap="none" strike="noStrike">
                <a:solidFill>
                  <a:schemeClr val="lt1"/>
                </a:solidFill>
                <a:latin typeface="Arial"/>
                <a:ea typeface="Arial"/>
                <a:cs typeface="Arial"/>
                <a:sym typeface="Arial"/>
              </a:rPr>
              <a:t>ANÁLISIS DE CASOS DE </a:t>
            </a:r>
            <a:br>
              <a:rPr b="0" i="0" lang="es-PE" sz="2400" u="none" cap="none" strike="noStrike">
                <a:solidFill>
                  <a:schemeClr val="lt1"/>
                </a:solidFill>
                <a:latin typeface="Arial"/>
                <a:ea typeface="Arial"/>
                <a:cs typeface="Arial"/>
                <a:sym typeface="Arial"/>
              </a:rPr>
            </a:br>
            <a:r>
              <a:rPr b="1" i="0" lang="es-PE" sz="2400" u="none" cap="none" strike="noStrike">
                <a:solidFill>
                  <a:schemeClr val="lt1"/>
                </a:solidFill>
                <a:latin typeface="Arial"/>
                <a:ea typeface="Arial"/>
                <a:cs typeface="Arial"/>
                <a:sym typeface="Arial"/>
              </a:rPr>
              <a:t>ÉXITO Y FRACASO EN LA </a:t>
            </a:r>
            <a:br>
              <a:rPr b="1" i="0" lang="es-PE" sz="2400" u="none" cap="none" strike="noStrike">
                <a:solidFill>
                  <a:schemeClr val="lt1"/>
                </a:solidFill>
                <a:latin typeface="Arial"/>
                <a:ea typeface="Arial"/>
                <a:cs typeface="Arial"/>
                <a:sym typeface="Arial"/>
              </a:rPr>
            </a:br>
            <a:r>
              <a:rPr b="1" i="0" lang="es-PE" sz="2400" u="none" cap="none" strike="noStrike">
                <a:solidFill>
                  <a:schemeClr val="lt1"/>
                </a:solidFill>
                <a:latin typeface="Arial"/>
                <a:ea typeface="Arial"/>
                <a:cs typeface="Arial"/>
                <a:sym typeface="Arial"/>
              </a:rPr>
              <a:t>APLICACIÓN DE ESTE ENFOQUE</a:t>
            </a:r>
            <a:endParaRPr b="1" i="0" sz="2400" u="none" cap="none" strike="noStrike">
              <a:solidFill>
                <a:schemeClr val="lt1"/>
              </a:solidFill>
              <a:latin typeface="Arial"/>
              <a:ea typeface="Arial"/>
              <a:cs typeface="Arial"/>
              <a:sym typeface="Arial"/>
            </a:endParaRPr>
          </a:p>
        </p:txBody>
      </p:sp>
      <p:pic>
        <p:nvPicPr>
          <p:cNvPr id="316" name="Google Shape;316;p24"/>
          <p:cNvPicPr preferRelativeResize="0"/>
          <p:nvPr/>
        </p:nvPicPr>
        <p:blipFill rotWithShape="1">
          <a:blip r:embed="rId3">
            <a:alphaModFix/>
          </a:blip>
          <a:srcRect b="0" l="0" r="0" t="0"/>
          <a:stretch/>
        </p:blipFill>
        <p:spPr>
          <a:xfrm>
            <a:off x="1008063" y="2869612"/>
            <a:ext cx="195423" cy="201256"/>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grpSp>
        <p:nvGrpSpPr>
          <p:cNvPr id="322" name="Google Shape;322;p25"/>
          <p:cNvGrpSpPr/>
          <p:nvPr/>
        </p:nvGrpSpPr>
        <p:grpSpPr>
          <a:xfrm>
            <a:off x="5667632" y="1425145"/>
            <a:ext cx="2822831" cy="3170947"/>
            <a:chOff x="6015481" y="1341101"/>
            <a:chExt cx="2715818" cy="2841343"/>
          </a:xfrm>
        </p:grpSpPr>
        <p:pic>
          <p:nvPicPr>
            <p:cNvPr descr="Blockbuster | Logopedia | Fandom" id="323" name="Google Shape;323;p25"/>
            <p:cNvPicPr preferRelativeResize="0"/>
            <p:nvPr/>
          </p:nvPicPr>
          <p:blipFill rotWithShape="1">
            <a:blip r:embed="rId3">
              <a:alphaModFix/>
            </a:blip>
            <a:srcRect b="0" l="0" r="0" t="0"/>
            <a:stretch/>
          </p:blipFill>
          <p:spPr>
            <a:xfrm>
              <a:off x="6015481" y="2360057"/>
              <a:ext cx="1304764" cy="826350"/>
            </a:xfrm>
            <a:prstGeom prst="rect">
              <a:avLst/>
            </a:prstGeom>
            <a:noFill/>
            <a:ln>
              <a:noFill/>
            </a:ln>
          </p:spPr>
        </p:pic>
        <p:pic>
          <p:nvPicPr>
            <p:cNvPr id="324" name="Google Shape;324;p25"/>
            <p:cNvPicPr preferRelativeResize="0"/>
            <p:nvPr/>
          </p:nvPicPr>
          <p:blipFill rotWithShape="1">
            <a:blip r:embed="rId4">
              <a:alphaModFix/>
            </a:blip>
            <a:srcRect b="0" l="0" r="0" t="0"/>
            <a:stretch/>
          </p:blipFill>
          <p:spPr>
            <a:xfrm>
              <a:off x="7320245" y="1486442"/>
              <a:ext cx="1180782" cy="199462"/>
            </a:xfrm>
            <a:prstGeom prst="rect">
              <a:avLst/>
            </a:prstGeom>
            <a:noFill/>
            <a:ln>
              <a:noFill/>
            </a:ln>
          </p:spPr>
        </p:pic>
        <p:pic>
          <p:nvPicPr>
            <p:cNvPr id="325" name="Google Shape;325;p25"/>
            <p:cNvPicPr preferRelativeResize="0"/>
            <p:nvPr/>
          </p:nvPicPr>
          <p:blipFill rotWithShape="1">
            <a:blip r:embed="rId5">
              <a:alphaModFix/>
            </a:blip>
            <a:srcRect b="0" l="0" r="0" t="0"/>
            <a:stretch/>
          </p:blipFill>
          <p:spPr>
            <a:xfrm>
              <a:off x="7089972" y="3082751"/>
              <a:ext cx="1641327" cy="366164"/>
            </a:xfrm>
            <a:prstGeom prst="rect">
              <a:avLst/>
            </a:prstGeom>
            <a:noFill/>
            <a:ln>
              <a:noFill/>
            </a:ln>
          </p:spPr>
        </p:pic>
        <p:pic>
          <p:nvPicPr>
            <p:cNvPr descr="Kodak recupera su mítico logo en su último rediseño — Brandemia" id="326" name="Google Shape;326;p25"/>
            <p:cNvPicPr preferRelativeResize="0"/>
            <p:nvPr/>
          </p:nvPicPr>
          <p:blipFill rotWithShape="1">
            <a:blip r:embed="rId6">
              <a:alphaModFix/>
            </a:blip>
            <a:srcRect b="0" l="0" r="0" t="0"/>
            <a:stretch/>
          </p:blipFill>
          <p:spPr>
            <a:xfrm>
              <a:off x="6296866" y="1341101"/>
              <a:ext cx="835169" cy="763292"/>
            </a:xfrm>
            <a:prstGeom prst="rect">
              <a:avLst/>
            </a:prstGeom>
            <a:noFill/>
            <a:ln>
              <a:noFill/>
            </a:ln>
          </p:spPr>
        </p:pic>
        <p:pic>
          <p:nvPicPr>
            <p:cNvPr id="327" name="Google Shape;327;p25"/>
            <p:cNvPicPr preferRelativeResize="0"/>
            <p:nvPr/>
          </p:nvPicPr>
          <p:blipFill rotWithShape="1">
            <a:blip r:embed="rId7">
              <a:alphaModFix/>
            </a:blip>
            <a:srcRect b="0" l="0" r="0" t="0"/>
            <a:stretch/>
          </p:blipFill>
          <p:spPr>
            <a:xfrm>
              <a:off x="7309218" y="1899191"/>
              <a:ext cx="1180783" cy="205202"/>
            </a:xfrm>
            <a:prstGeom prst="rect">
              <a:avLst/>
            </a:prstGeom>
            <a:noFill/>
            <a:ln>
              <a:noFill/>
            </a:ln>
          </p:spPr>
        </p:pic>
        <p:pic>
          <p:nvPicPr>
            <p:cNvPr descr="Favo | LinkedIn" id="328" name="Google Shape;328;p25"/>
            <p:cNvPicPr preferRelativeResize="0"/>
            <p:nvPr/>
          </p:nvPicPr>
          <p:blipFill rotWithShape="1">
            <a:blip r:embed="rId8">
              <a:alphaModFix/>
            </a:blip>
            <a:srcRect b="0" l="0" r="0" t="0"/>
            <a:stretch/>
          </p:blipFill>
          <p:spPr>
            <a:xfrm>
              <a:off x="6476560" y="3576282"/>
              <a:ext cx="606162" cy="606162"/>
            </a:xfrm>
            <a:prstGeom prst="rect">
              <a:avLst/>
            </a:prstGeom>
            <a:noFill/>
            <a:ln>
              <a:noFill/>
            </a:ln>
          </p:spPr>
        </p:pic>
        <p:pic>
          <p:nvPicPr>
            <p:cNvPr descr="Muni Colombia" id="329" name="Google Shape;329;p25"/>
            <p:cNvPicPr preferRelativeResize="0"/>
            <p:nvPr/>
          </p:nvPicPr>
          <p:blipFill rotWithShape="1">
            <a:blip r:embed="rId9">
              <a:alphaModFix/>
            </a:blip>
            <a:srcRect b="28844" l="11865" r="12590" t="27573"/>
            <a:stretch/>
          </p:blipFill>
          <p:spPr>
            <a:xfrm>
              <a:off x="7415286" y="3623611"/>
              <a:ext cx="968645" cy="558833"/>
            </a:xfrm>
            <a:prstGeom prst="rect">
              <a:avLst/>
            </a:prstGeom>
            <a:noFill/>
            <a:ln>
              <a:noFill/>
            </a:ln>
          </p:spPr>
        </p:pic>
        <p:pic>
          <p:nvPicPr>
            <p:cNvPr descr="Myspace logo and symbol, meaning, history, PNG" id="330" name="Google Shape;330;p25"/>
            <p:cNvPicPr preferRelativeResize="0"/>
            <p:nvPr/>
          </p:nvPicPr>
          <p:blipFill rotWithShape="1">
            <a:blip r:embed="rId10">
              <a:alphaModFix/>
            </a:blip>
            <a:srcRect b="28718" l="0" r="0" t="30658"/>
            <a:stretch/>
          </p:blipFill>
          <p:spPr>
            <a:xfrm>
              <a:off x="7612368" y="2551893"/>
              <a:ext cx="968646" cy="221339"/>
            </a:xfrm>
            <a:prstGeom prst="rect">
              <a:avLst/>
            </a:prstGeom>
            <a:noFill/>
            <a:ln>
              <a:noFill/>
            </a:ln>
          </p:spPr>
        </p:pic>
      </p:grpSp>
      <p:sp>
        <p:nvSpPr>
          <p:cNvPr id="331" name="Google Shape;331;p25"/>
          <p:cNvSpPr txBox="1"/>
          <p:nvPr/>
        </p:nvSpPr>
        <p:spPr>
          <a:xfrm>
            <a:off x="1875966" y="2287493"/>
            <a:ext cx="3459778" cy="603242"/>
          </a:xfrm>
          <a:prstGeom prst="rect">
            <a:avLst/>
          </a:prstGeom>
          <a:noFill/>
          <a:ln>
            <a:noFill/>
          </a:ln>
        </p:spPr>
        <p:txBody>
          <a:bodyPr anchorCtr="0" anchor="t" bIns="0" lIns="0" spcFirstLastPara="1" rIns="0" wrap="square" tIns="0">
            <a:spAutoFit/>
          </a:bodyPr>
          <a:lstStyle/>
          <a:p>
            <a:pPr indent="0" lvl="0" marL="0" marR="0" rtl="0" algn="l">
              <a:lnSpc>
                <a:spcPct val="70000"/>
              </a:lnSpc>
              <a:spcBef>
                <a:spcPts val="0"/>
              </a:spcBef>
              <a:spcAft>
                <a:spcPts val="0"/>
              </a:spcAft>
              <a:buClr>
                <a:srgbClr val="000000"/>
              </a:buClr>
              <a:buSzPts val="2800"/>
              <a:buFont typeface="Arial"/>
              <a:buNone/>
            </a:pPr>
            <a:r>
              <a:rPr b="0" i="0" lang="es-PE" sz="2800" u="none" cap="none" strike="noStrike">
                <a:solidFill>
                  <a:schemeClr val="dk1"/>
                </a:solidFill>
                <a:latin typeface="Arial"/>
                <a:ea typeface="Arial"/>
                <a:cs typeface="Arial"/>
                <a:sym typeface="Arial"/>
              </a:rPr>
              <a:t>¿QUÉ LES PASÓ A</a:t>
            </a:r>
            <a:endParaRPr/>
          </a:p>
          <a:p>
            <a:pPr indent="0" lvl="0" marL="0" marR="0" rtl="0" algn="l">
              <a:lnSpc>
                <a:spcPct val="70000"/>
              </a:lnSpc>
              <a:spcBef>
                <a:spcPts val="0"/>
              </a:spcBef>
              <a:spcAft>
                <a:spcPts val="0"/>
              </a:spcAft>
              <a:buNone/>
            </a:pPr>
            <a:r>
              <a:rPr b="1" i="0" lang="es-PE" sz="2800" u="none" cap="none" strike="noStrike">
                <a:solidFill>
                  <a:srgbClr val="92C14D"/>
                </a:solidFill>
                <a:latin typeface="Arial"/>
                <a:ea typeface="Arial"/>
                <a:cs typeface="Arial"/>
                <a:sym typeface="Arial"/>
              </a:rPr>
              <a:t>ESTAS EMPRESAS?</a:t>
            </a:r>
            <a:endParaRPr b="1" i="0" sz="2800" u="none" cap="none" strike="noStrike">
              <a:solidFill>
                <a:srgbClr val="92C14D"/>
              </a:solidFill>
              <a:latin typeface="Arial"/>
              <a:ea typeface="Arial"/>
              <a:cs typeface="Arial"/>
              <a:sym typeface="Arial"/>
            </a:endParaRPr>
          </a:p>
        </p:txBody>
      </p:sp>
      <p:pic>
        <p:nvPicPr>
          <p:cNvPr id="332" name="Google Shape;332;p25"/>
          <p:cNvPicPr preferRelativeResize="0"/>
          <p:nvPr/>
        </p:nvPicPr>
        <p:blipFill rotWithShape="1">
          <a:blip r:embed="rId11">
            <a:alphaModFix/>
          </a:blip>
          <a:srcRect b="0" l="0" r="0" t="0"/>
          <a:stretch/>
        </p:blipFill>
        <p:spPr>
          <a:xfrm>
            <a:off x="455046" y="1869981"/>
            <a:ext cx="1222115" cy="1204625"/>
          </a:xfrm>
          <a:prstGeom prst="rect">
            <a:avLst/>
          </a:prstGeom>
          <a:noFill/>
          <a:ln>
            <a:noFill/>
          </a:ln>
        </p:spPr>
      </p:pic>
      <p:sp>
        <p:nvSpPr>
          <p:cNvPr id="333" name="Google Shape;333;p25"/>
          <p:cNvSpPr/>
          <p:nvPr/>
        </p:nvSpPr>
        <p:spPr>
          <a:xfrm>
            <a:off x="503237" y="388928"/>
            <a:ext cx="5552610" cy="332399"/>
          </a:xfrm>
          <a:prstGeom prst="rect">
            <a:avLst/>
          </a:prstGeom>
          <a:noFill/>
          <a:ln>
            <a:noFill/>
          </a:ln>
        </p:spPr>
        <p:txBody>
          <a:bodyPr anchorCtr="0" anchor="b" bIns="0" lIns="0" spcFirstLastPara="1" rIns="0" wrap="square" tIns="0">
            <a:spAutoFit/>
          </a:bodyPr>
          <a:lstStyle/>
          <a:p>
            <a:pPr indent="0" lvl="0" marL="0" marR="0" rtl="0" algn="l">
              <a:lnSpc>
                <a:spcPct val="90000"/>
              </a:lnSpc>
              <a:spcBef>
                <a:spcPts val="0"/>
              </a:spcBef>
              <a:spcAft>
                <a:spcPts val="0"/>
              </a:spcAft>
              <a:buNone/>
            </a:pPr>
            <a:r>
              <a:rPr b="1" i="0" lang="es-PE" sz="1000" u="none" cap="none" strike="noStrike">
                <a:solidFill>
                  <a:srgbClr val="7F7F7F"/>
                </a:solidFill>
                <a:latin typeface="Calibri"/>
                <a:ea typeface="Calibri"/>
                <a:cs typeface="Calibri"/>
                <a:sym typeface="Calibri"/>
              </a:rPr>
              <a:t>+ </a:t>
            </a:r>
            <a:r>
              <a:rPr b="0" i="0" lang="es-PE" sz="1000" u="none" cap="none" strike="noStrike">
                <a:solidFill>
                  <a:srgbClr val="A5A5A5"/>
                </a:solidFill>
                <a:latin typeface="Calibri"/>
                <a:ea typeface="Calibri"/>
                <a:cs typeface="Calibri"/>
                <a:sym typeface="Calibri"/>
              </a:rPr>
              <a:t>ANÁLISIS DE CASOS DE ÉXITO Y FRACASO EN LA APLICACIÓN DE ESTE ENFOQUE</a:t>
            </a:r>
            <a:endParaRPr/>
          </a:p>
          <a:p>
            <a:pPr indent="0" lvl="0" marL="0" marR="0" rtl="0" algn="l">
              <a:lnSpc>
                <a:spcPct val="9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8" name="Shape 338"/>
        <p:cNvGrpSpPr/>
        <p:nvPr/>
      </p:nvGrpSpPr>
      <p:grpSpPr>
        <a:xfrm>
          <a:off x="0" y="0"/>
          <a:ext cx="0" cy="0"/>
          <a:chOff x="0" y="0"/>
          <a:chExt cx="0" cy="0"/>
        </a:xfrm>
      </p:grpSpPr>
      <p:pic>
        <p:nvPicPr>
          <p:cNvPr descr="Favo | LinkedIn" id="339" name="Google Shape;339;p26"/>
          <p:cNvPicPr preferRelativeResize="0"/>
          <p:nvPr/>
        </p:nvPicPr>
        <p:blipFill rotWithShape="1">
          <a:blip r:embed="rId3">
            <a:alphaModFix/>
          </a:blip>
          <a:srcRect b="0" l="0" r="0" t="0"/>
          <a:stretch/>
        </p:blipFill>
        <p:spPr>
          <a:xfrm>
            <a:off x="3551150" y="1090999"/>
            <a:ext cx="400917" cy="400917"/>
          </a:xfrm>
          <a:prstGeom prst="rect">
            <a:avLst/>
          </a:prstGeom>
          <a:noFill/>
          <a:ln>
            <a:noFill/>
          </a:ln>
        </p:spPr>
      </p:pic>
      <p:cxnSp>
        <p:nvCxnSpPr>
          <p:cNvPr id="340" name="Google Shape;340;p26"/>
          <p:cNvCxnSpPr>
            <a:stCxn id="339" idx="1"/>
          </p:cNvCxnSpPr>
          <p:nvPr/>
        </p:nvCxnSpPr>
        <p:spPr>
          <a:xfrm flipH="1">
            <a:off x="2724050" y="1291458"/>
            <a:ext cx="827100" cy="1227000"/>
          </a:xfrm>
          <a:prstGeom prst="bentConnector2">
            <a:avLst/>
          </a:prstGeom>
          <a:noFill/>
          <a:ln cap="flat" cmpd="sng" w="25400">
            <a:solidFill>
              <a:schemeClr val="accent2"/>
            </a:solidFill>
            <a:prstDash val="solid"/>
            <a:round/>
            <a:headEnd len="sm" w="sm" type="none"/>
            <a:tailEnd len="med" w="med" type="triangle"/>
          </a:ln>
          <a:effectLst>
            <a:outerShdw blurRad="40000" rotWithShape="0" dir="5400000" dist="20000">
              <a:srgbClr val="000000">
                <a:alpha val="37254"/>
              </a:srgbClr>
            </a:outerShdw>
          </a:effectLst>
        </p:spPr>
      </p:cxnSp>
      <p:sp>
        <p:nvSpPr>
          <p:cNvPr id="341" name="Google Shape;341;p26"/>
          <p:cNvSpPr/>
          <p:nvPr/>
        </p:nvSpPr>
        <p:spPr>
          <a:xfrm>
            <a:off x="503238" y="912813"/>
            <a:ext cx="8172451" cy="4321175"/>
          </a:xfrm>
          <a:prstGeom prst="rect">
            <a:avLst/>
          </a:prstGeom>
          <a:solidFill>
            <a:srgbClr val="D9DBE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pic>
        <p:nvPicPr>
          <p:cNvPr descr="El 90% de startups o negocios en crecimiento, prefiere desarrollar su  propio ecosistema de valor para garantizar su éxito - Vida Bohemia" id="342" name="Google Shape;342;p26"/>
          <p:cNvPicPr preferRelativeResize="0"/>
          <p:nvPr/>
        </p:nvPicPr>
        <p:blipFill rotWithShape="1">
          <a:blip r:embed="rId4">
            <a:alphaModFix/>
          </a:blip>
          <a:srcRect b="0" l="0" r="0" t="0"/>
          <a:stretch/>
        </p:blipFill>
        <p:spPr>
          <a:xfrm>
            <a:off x="3383281" y="1090999"/>
            <a:ext cx="5124060" cy="3416040"/>
          </a:xfrm>
          <a:prstGeom prst="rect">
            <a:avLst/>
          </a:prstGeom>
          <a:noFill/>
          <a:ln>
            <a:noFill/>
          </a:ln>
        </p:spPr>
      </p:pic>
      <p:pic>
        <p:nvPicPr>
          <p:cNvPr id="343" name="Google Shape;343;p26"/>
          <p:cNvPicPr preferRelativeResize="0"/>
          <p:nvPr/>
        </p:nvPicPr>
        <p:blipFill rotWithShape="1">
          <a:blip r:embed="rId5">
            <a:alphaModFix/>
          </a:blip>
          <a:srcRect b="0" l="0" r="0" t="0"/>
          <a:stretch/>
        </p:blipFill>
        <p:spPr>
          <a:xfrm>
            <a:off x="707779" y="2450805"/>
            <a:ext cx="3075603" cy="2550964"/>
          </a:xfrm>
          <a:prstGeom prst="rect">
            <a:avLst/>
          </a:prstGeom>
          <a:noFill/>
          <a:ln>
            <a:noFill/>
          </a:ln>
        </p:spPr>
      </p:pic>
      <p:pic>
        <p:nvPicPr>
          <p:cNvPr id="344" name="Google Shape;344;p26"/>
          <p:cNvPicPr preferRelativeResize="0"/>
          <p:nvPr/>
        </p:nvPicPr>
        <p:blipFill rotWithShape="1">
          <a:blip r:embed="rId6">
            <a:alphaModFix/>
          </a:blip>
          <a:srcRect b="0" l="0" r="0" t="0"/>
          <a:stretch/>
        </p:blipFill>
        <p:spPr>
          <a:xfrm>
            <a:off x="3476720" y="1487325"/>
            <a:ext cx="830831" cy="830831"/>
          </a:xfrm>
          <a:prstGeom prst="rect">
            <a:avLst/>
          </a:prstGeom>
          <a:noFill/>
          <a:ln>
            <a:noFill/>
          </a:ln>
        </p:spPr>
      </p:pic>
      <p:cxnSp>
        <p:nvCxnSpPr>
          <p:cNvPr id="345" name="Google Shape;345;p26"/>
          <p:cNvCxnSpPr/>
          <p:nvPr/>
        </p:nvCxnSpPr>
        <p:spPr>
          <a:xfrm>
            <a:off x="2706718" y="1902525"/>
            <a:ext cx="830449" cy="0"/>
          </a:xfrm>
          <a:prstGeom prst="straightConnector1">
            <a:avLst/>
          </a:prstGeom>
          <a:noFill/>
          <a:ln cap="flat" cmpd="sng" w="19050">
            <a:solidFill>
              <a:srgbClr val="949494"/>
            </a:solidFill>
            <a:prstDash val="solid"/>
            <a:round/>
            <a:headEnd len="sm" w="sm" type="none"/>
            <a:tailEnd len="med" w="med" type="triangle"/>
          </a:ln>
        </p:spPr>
      </p:cxnSp>
      <p:cxnSp>
        <p:nvCxnSpPr>
          <p:cNvPr id="346" name="Google Shape;346;p26"/>
          <p:cNvCxnSpPr/>
          <p:nvPr/>
        </p:nvCxnSpPr>
        <p:spPr>
          <a:xfrm>
            <a:off x="2713418" y="1902525"/>
            <a:ext cx="0" cy="548280"/>
          </a:xfrm>
          <a:prstGeom prst="straightConnector1">
            <a:avLst/>
          </a:prstGeom>
          <a:noFill/>
          <a:ln cap="flat" cmpd="sng" w="19050">
            <a:solidFill>
              <a:srgbClr val="949494"/>
            </a:solidFill>
            <a:prstDash val="solid"/>
            <a:round/>
            <a:headEnd len="sm" w="sm" type="none"/>
            <a:tailEnd len="sm" w="sm" type="none"/>
          </a:ln>
        </p:spPr>
      </p:cxnSp>
      <p:sp>
        <p:nvSpPr>
          <p:cNvPr id="347" name="Google Shape;347;p26"/>
          <p:cNvSpPr/>
          <p:nvPr/>
        </p:nvSpPr>
        <p:spPr>
          <a:xfrm>
            <a:off x="503237" y="388928"/>
            <a:ext cx="5552610" cy="332399"/>
          </a:xfrm>
          <a:prstGeom prst="rect">
            <a:avLst/>
          </a:prstGeom>
          <a:noFill/>
          <a:ln>
            <a:noFill/>
          </a:ln>
        </p:spPr>
        <p:txBody>
          <a:bodyPr anchorCtr="0" anchor="b" bIns="0" lIns="0" spcFirstLastPara="1" rIns="0" wrap="square" tIns="0">
            <a:spAutoFit/>
          </a:bodyPr>
          <a:lstStyle/>
          <a:p>
            <a:pPr indent="0" lvl="0" marL="0" marR="0" rtl="0" algn="l">
              <a:lnSpc>
                <a:spcPct val="90000"/>
              </a:lnSpc>
              <a:spcBef>
                <a:spcPts val="0"/>
              </a:spcBef>
              <a:spcAft>
                <a:spcPts val="0"/>
              </a:spcAft>
              <a:buNone/>
            </a:pPr>
            <a:r>
              <a:rPr b="1" i="0" lang="es-PE" sz="1000" u="none" cap="none" strike="noStrike">
                <a:solidFill>
                  <a:srgbClr val="7F7F7F"/>
                </a:solidFill>
                <a:latin typeface="Calibri"/>
                <a:ea typeface="Calibri"/>
                <a:cs typeface="Calibri"/>
                <a:sym typeface="Calibri"/>
              </a:rPr>
              <a:t>+ </a:t>
            </a:r>
            <a:r>
              <a:rPr b="0" i="0" lang="es-PE" sz="1000" u="none" cap="none" strike="noStrike">
                <a:solidFill>
                  <a:srgbClr val="A5A5A5"/>
                </a:solidFill>
                <a:latin typeface="Calibri"/>
                <a:ea typeface="Calibri"/>
                <a:cs typeface="Calibri"/>
                <a:sym typeface="Calibri"/>
              </a:rPr>
              <a:t>ANÁLISIS DE CASOS DE ÉXITO Y FRACASO EN LA APLICACIÓN DE ESTE ENFOQUE</a:t>
            </a:r>
            <a:endParaRPr/>
          </a:p>
          <a:p>
            <a:pPr indent="0" lvl="0" marL="0" marR="0" rtl="0" algn="l">
              <a:lnSpc>
                <a:spcPct val="9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p27"/>
          <p:cNvSpPr txBox="1"/>
          <p:nvPr/>
        </p:nvSpPr>
        <p:spPr>
          <a:xfrm>
            <a:off x="503238" y="918372"/>
            <a:ext cx="4467040" cy="4170372"/>
          </a:xfrm>
          <a:prstGeom prst="rect">
            <a:avLst/>
          </a:prstGeom>
          <a:noFill/>
          <a:ln>
            <a:noFill/>
          </a:ln>
        </p:spPr>
        <p:txBody>
          <a:bodyPr anchorCtr="0" anchor="t" bIns="0" lIns="0" spcFirstLastPara="1" rIns="0" wrap="square" tIns="0">
            <a:spAutoFit/>
          </a:bodyPr>
          <a:lstStyle/>
          <a:p>
            <a:pPr indent="0" lvl="0" marL="11725" marR="0" rtl="0" algn="l">
              <a:lnSpc>
                <a:spcPct val="100000"/>
              </a:lnSpc>
              <a:spcBef>
                <a:spcPts val="0"/>
              </a:spcBef>
              <a:spcAft>
                <a:spcPts val="0"/>
              </a:spcAft>
              <a:buClr>
                <a:srgbClr val="000000"/>
              </a:buClr>
              <a:buSzPts val="1600"/>
              <a:buFont typeface="Arial"/>
              <a:buNone/>
            </a:pPr>
            <a:r>
              <a:rPr b="1" i="0" lang="es-PE" sz="1600" u="none" cap="none" strike="noStrike">
                <a:solidFill>
                  <a:srgbClr val="262626"/>
                </a:solidFill>
                <a:latin typeface="Calibri"/>
                <a:ea typeface="Calibri"/>
                <a:cs typeface="Calibri"/>
                <a:sym typeface="Calibri"/>
              </a:rPr>
              <a:t>Así como Favo, las otras empresas fueron premiadas y elogiadas en su momento, pero carecieron de:</a:t>
            </a:r>
            <a:endParaRPr b="0" i="0" sz="1600" u="none" cap="none" strike="noStrike">
              <a:solidFill>
                <a:srgbClr val="262626"/>
              </a:solidFill>
              <a:latin typeface="Calibri"/>
              <a:ea typeface="Calibri"/>
              <a:cs typeface="Calibri"/>
              <a:sym typeface="Calibri"/>
            </a:endParaRPr>
          </a:p>
          <a:p>
            <a:pPr indent="-174625" lvl="0" marL="185738" marR="0" rtl="0" algn="l">
              <a:lnSpc>
                <a:spcPct val="100000"/>
              </a:lnSpc>
              <a:spcBef>
                <a:spcPts val="1200"/>
              </a:spcBef>
              <a:spcAft>
                <a:spcPts val="0"/>
              </a:spcAft>
              <a:buClr>
                <a:srgbClr val="714FA0"/>
              </a:buClr>
              <a:buSzPts val="1400"/>
              <a:buFont typeface="Arial"/>
              <a:buChar char="•"/>
            </a:pPr>
            <a:r>
              <a:rPr b="1" i="0" lang="es-PE" sz="1600" u="none" cap="none" strike="noStrike">
                <a:solidFill>
                  <a:srgbClr val="714FA0"/>
                </a:solidFill>
                <a:latin typeface="Calibri"/>
                <a:ea typeface="Calibri"/>
                <a:cs typeface="Calibri"/>
                <a:sym typeface="Calibri"/>
              </a:rPr>
              <a:t>Adaptabilidad: </a:t>
            </a:r>
            <a:r>
              <a:rPr b="0" i="0" lang="es-PE" sz="1600" u="none" cap="none" strike="noStrike">
                <a:solidFill>
                  <a:srgbClr val="262626"/>
                </a:solidFill>
                <a:latin typeface="Calibri"/>
                <a:ea typeface="Calibri"/>
                <a:cs typeface="Calibri"/>
                <a:sym typeface="Calibri"/>
              </a:rPr>
              <a:t>Tuvieron la oportunidad a la mano para “subirse” a la ola y no la aprovecharon a tiempo.</a:t>
            </a:r>
            <a:endParaRPr/>
          </a:p>
          <a:p>
            <a:pPr indent="-85724" lvl="0" marL="185738" marR="0" rtl="0" algn="l">
              <a:lnSpc>
                <a:spcPct val="100000"/>
              </a:lnSpc>
              <a:spcBef>
                <a:spcPts val="600"/>
              </a:spcBef>
              <a:spcAft>
                <a:spcPts val="0"/>
              </a:spcAft>
              <a:buClr>
                <a:srgbClr val="714FA0"/>
              </a:buClr>
              <a:buSzPts val="1400"/>
              <a:buFont typeface="Arial"/>
              <a:buNone/>
            </a:pPr>
            <a:r>
              <a:t/>
            </a:r>
            <a:endParaRPr b="0" i="0" sz="1600" u="none" cap="none" strike="noStrike">
              <a:solidFill>
                <a:srgbClr val="262626"/>
              </a:solidFill>
              <a:latin typeface="Calibri"/>
              <a:ea typeface="Calibri"/>
              <a:cs typeface="Calibri"/>
              <a:sym typeface="Calibri"/>
            </a:endParaRPr>
          </a:p>
          <a:p>
            <a:pPr indent="-174625" lvl="0" marL="185738" marR="0" rtl="0" algn="l">
              <a:lnSpc>
                <a:spcPct val="100000"/>
              </a:lnSpc>
              <a:spcBef>
                <a:spcPts val="0"/>
              </a:spcBef>
              <a:spcAft>
                <a:spcPts val="0"/>
              </a:spcAft>
              <a:buClr>
                <a:srgbClr val="714FA0"/>
              </a:buClr>
              <a:buSzPts val="1400"/>
              <a:buFont typeface="Arial"/>
              <a:buChar char="•"/>
            </a:pPr>
            <a:r>
              <a:rPr b="1" i="0" lang="es-PE" sz="1600" u="none" cap="none" strike="noStrike">
                <a:solidFill>
                  <a:srgbClr val="714FA0"/>
                </a:solidFill>
                <a:latin typeface="Calibri"/>
                <a:ea typeface="Calibri"/>
                <a:cs typeface="Calibri"/>
                <a:sym typeface="Calibri"/>
              </a:rPr>
              <a:t>Capacidad de reacción muy lenta </a:t>
            </a:r>
            <a:r>
              <a:rPr b="0" i="0" lang="es-PE" sz="1600" u="none" cap="none" strike="noStrike">
                <a:solidFill>
                  <a:srgbClr val="262626"/>
                </a:solidFill>
                <a:latin typeface="Calibri"/>
                <a:ea typeface="Calibri"/>
                <a:cs typeface="Calibri"/>
                <a:sym typeface="Calibri"/>
              </a:rPr>
              <a:t>para la velocidad con la que el mercado estaba evolucionando.</a:t>
            </a:r>
            <a:endParaRPr/>
          </a:p>
          <a:p>
            <a:pPr indent="-85724" lvl="0" marL="185738" marR="0" rtl="0" algn="l">
              <a:lnSpc>
                <a:spcPct val="100000"/>
              </a:lnSpc>
              <a:spcBef>
                <a:spcPts val="0"/>
              </a:spcBef>
              <a:spcAft>
                <a:spcPts val="0"/>
              </a:spcAft>
              <a:buClr>
                <a:srgbClr val="714FA0"/>
              </a:buClr>
              <a:buSzPts val="1400"/>
              <a:buFont typeface="Arial"/>
              <a:buNone/>
            </a:pPr>
            <a:r>
              <a:t/>
            </a:r>
            <a:endParaRPr b="0" i="0" sz="1600" u="none" cap="none" strike="noStrike">
              <a:solidFill>
                <a:srgbClr val="262626"/>
              </a:solidFill>
              <a:latin typeface="Calibri"/>
              <a:ea typeface="Calibri"/>
              <a:cs typeface="Calibri"/>
              <a:sym typeface="Calibri"/>
            </a:endParaRPr>
          </a:p>
          <a:p>
            <a:pPr indent="-174625" lvl="0" marL="185738" marR="0" rtl="0" algn="l">
              <a:lnSpc>
                <a:spcPct val="100000"/>
              </a:lnSpc>
              <a:spcBef>
                <a:spcPts val="0"/>
              </a:spcBef>
              <a:spcAft>
                <a:spcPts val="0"/>
              </a:spcAft>
              <a:buClr>
                <a:srgbClr val="714FA0"/>
              </a:buClr>
              <a:buSzPts val="1400"/>
              <a:buFont typeface="Arial"/>
              <a:buChar char="•"/>
            </a:pPr>
            <a:r>
              <a:rPr b="1" i="0" lang="es-PE" sz="1600" u="none" cap="none" strike="noStrike">
                <a:solidFill>
                  <a:srgbClr val="714FA0"/>
                </a:solidFill>
                <a:latin typeface="Calibri"/>
                <a:ea typeface="Calibri"/>
                <a:cs typeface="Calibri"/>
                <a:sym typeface="Calibri"/>
              </a:rPr>
              <a:t>Sin un diferencial claro: </a:t>
            </a:r>
            <a:r>
              <a:rPr b="0" i="0" lang="es-PE" sz="1600" u="none" cap="none" strike="noStrike">
                <a:solidFill>
                  <a:srgbClr val="262626"/>
                </a:solidFill>
                <a:latin typeface="Calibri"/>
                <a:ea typeface="Calibri"/>
                <a:cs typeface="Calibri"/>
                <a:sym typeface="Calibri"/>
              </a:rPr>
              <a:t>Los productos digitales no eran competitivos ni tenían un valor agregado vs. lo que ofrecía el mercado en el día a día.</a:t>
            </a:r>
            <a:endParaRPr/>
          </a:p>
          <a:p>
            <a:pPr indent="-85724" lvl="0" marL="185738" marR="0" rtl="0" algn="l">
              <a:lnSpc>
                <a:spcPct val="100000"/>
              </a:lnSpc>
              <a:spcBef>
                <a:spcPts val="0"/>
              </a:spcBef>
              <a:spcAft>
                <a:spcPts val="0"/>
              </a:spcAft>
              <a:buClr>
                <a:srgbClr val="714FA0"/>
              </a:buClr>
              <a:buSzPts val="1400"/>
              <a:buFont typeface="Arial"/>
              <a:buNone/>
            </a:pPr>
            <a:r>
              <a:t/>
            </a:r>
            <a:endParaRPr b="0" i="0" sz="1600" u="none" cap="none" strike="noStrike">
              <a:solidFill>
                <a:srgbClr val="262626"/>
              </a:solidFill>
              <a:latin typeface="Calibri"/>
              <a:ea typeface="Calibri"/>
              <a:cs typeface="Calibri"/>
              <a:sym typeface="Calibri"/>
            </a:endParaRPr>
          </a:p>
          <a:p>
            <a:pPr indent="-174625" lvl="0" marL="185738" marR="0" rtl="0" algn="l">
              <a:lnSpc>
                <a:spcPct val="100000"/>
              </a:lnSpc>
              <a:spcBef>
                <a:spcPts val="0"/>
              </a:spcBef>
              <a:spcAft>
                <a:spcPts val="0"/>
              </a:spcAft>
              <a:buClr>
                <a:srgbClr val="714FA0"/>
              </a:buClr>
              <a:buSzPts val="1400"/>
              <a:buFont typeface="Arial"/>
              <a:buChar char="•"/>
            </a:pPr>
            <a:r>
              <a:rPr b="0" i="0" lang="es-PE" sz="1600" u="none" cap="none" strike="noStrike">
                <a:solidFill>
                  <a:srgbClr val="262626"/>
                </a:solidFill>
                <a:latin typeface="Calibri"/>
                <a:ea typeface="Calibri"/>
                <a:cs typeface="Calibri"/>
                <a:sym typeface="Calibri"/>
              </a:rPr>
              <a:t>Podrías tener una experiencia de cliente excepcional, pero sin una propuesta diferenciada no podrías destacar ni escalar.</a:t>
            </a:r>
            <a:endParaRPr b="0" i="0" sz="1600" u="none" cap="none" strike="noStrike">
              <a:solidFill>
                <a:srgbClr val="262626"/>
              </a:solidFill>
              <a:latin typeface="Calibri"/>
              <a:ea typeface="Calibri"/>
              <a:cs typeface="Calibri"/>
              <a:sym typeface="Calibri"/>
            </a:endParaRPr>
          </a:p>
        </p:txBody>
      </p:sp>
      <p:sp>
        <p:nvSpPr>
          <p:cNvPr id="354" name="Google Shape;354;p27"/>
          <p:cNvSpPr/>
          <p:nvPr/>
        </p:nvSpPr>
        <p:spPr>
          <a:xfrm>
            <a:off x="503237" y="388928"/>
            <a:ext cx="5552610" cy="332399"/>
          </a:xfrm>
          <a:prstGeom prst="rect">
            <a:avLst/>
          </a:prstGeom>
          <a:noFill/>
          <a:ln>
            <a:noFill/>
          </a:ln>
        </p:spPr>
        <p:txBody>
          <a:bodyPr anchorCtr="0" anchor="b" bIns="0" lIns="0" spcFirstLastPara="1" rIns="0" wrap="square" tIns="0">
            <a:spAutoFit/>
          </a:bodyPr>
          <a:lstStyle/>
          <a:p>
            <a:pPr indent="0" lvl="0" marL="0" marR="0" rtl="0" algn="l">
              <a:lnSpc>
                <a:spcPct val="90000"/>
              </a:lnSpc>
              <a:spcBef>
                <a:spcPts val="0"/>
              </a:spcBef>
              <a:spcAft>
                <a:spcPts val="0"/>
              </a:spcAft>
              <a:buNone/>
            </a:pPr>
            <a:r>
              <a:rPr b="1" i="0" lang="es-PE" sz="1000" u="none" cap="none" strike="noStrike">
                <a:solidFill>
                  <a:srgbClr val="7F7F7F"/>
                </a:solidFill>
                <a:latin typeface="Calibri"/>
                <a:ea typeface="Calibri"/>
                <a:cs typeface="Calibri"/>
                <a:sym typeface="Calibri"/>
              </a:rPr>
              <a:t>+ </a:t>
            </a:r>
            <a:r>
              <a:rPr b="0" i="0" lang="es-PE" sz="1000" u="none" cap="none" strike="noStrike">
                <a:solidFill>
                  <a:srgbClr val="A5A5A5"/>
                </a:solidFill>
                <a:latin typeface="Calibri"/>
                <a:ea typeface="Calibri"/>
                <a:cs typeface="Calibri"/>
                <a:sym typeface="Calibri"/>
              </a:rPr>
              <a:t>ANÁLISIS DE CASOS DE ÉXITO Y FRACASO EN LA APLICACIÓN DE ESTE ENFOQUE</a:t>
            </a:r>
            <a:endParaRPr/>
          </a:p>
          <a:p>
            <a:pPr indent="0" lvl="0" marL="0" marR="0" rtl="0" algn="l">
              <a:lnSpc>
                <a:spcPct val="9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355" name="Google Shape;355;p27"/>
          <p:cNvGrpSpPr/>
          <p:nvPr/>
        </p:nvGrpSpPr>
        <p:grpSpPr>
          <a:xfrm>
            <a:off x="5451002" y="1384705"/>
            <a:ext cx="3047239" cy="3188082"/>
            <a:chOff x="6015481" y="1341101"/>
            <a:chExt cx="2715818" cy="2841343"/>
          </a:xfrm>
        </p:grpSpPr>
        <p:pic>
          <p:nvPicPr>
            <p:cNvPr descr="Blockbuster | Logopedia | Fandom" id="356" name="Google Shape;356;p27"/>
            <p:cNvPicPr preferRelativeResize="0"/>
            <p:nvPr/>
          </p:nvPicPr>
          <p:blipFill rotWithShape="1">
            <a:blip r:embed="rId3">
              <a:alphaModFix/>
            </a:blip>
            <a:srcRect b="0" l="0" r="0" t="0"/>
            <a:stretch/>
          </p:blipFill>
          <p:spPr>
            <a:xfrm>
              <a:off x="6015481" y="2360057"/>
              <a:ext cx="1304764" cy="826350"/>
            </a:xfrm>
            <a:prstGeom prst="rect">
              <a:avLst/>
            </a:prstGeom>
            <a:noFill/>
            <a:ln>
              <a:noFill/>
            </a:ln>
          </p:spPr>
        </p:pic>
        <p:pic>
          <p:nvPicPr>
            <p:cNvPr id="357" name="Google Shape;357;p27"/>
            <p:cNvPicPr preferRelativeResize="0"/>
            <p:nvPr/>
          </p:nvPicPr>
          <p:blipFill rotWithShape="1">
            <a:blip r:embed="rId4">
              <a:alphaModFix/>
            </a:blip>
            <a:srcRect b="0" l="0" r="0" t="0"/>
            <a:stretch/>
          </p:blipFill>
          <p:spPr>
            <a:xfrm>
              <a:off x="7320245" y="1486442"/>
              <a:ext cx="1180782" cy="199462"/>
            </a:xfrm>
            <a:prstGeom prst="rect">
              <a:avLst/>
            </a:prstGeom>
            <a:noFill/>
            <a:ln>
              <a:noFill/>
            </a:ln>
          </p:spPr>
        </p:pic>
        <p:pic>
          <p:nvPicPr>
            <p:cNvPr id="358" name="Google Shape;358;p27"/>
            <p:cNvPicPr preferRelativeResize="0"/>
            <p:nvPr/>
          </p:nvPicPr>
          <p:blipFill rotWithShape="1">
            <a:blip r:embed="rId5">
              <a:alphaModFix/>
            </a:blip>
            <a:srcRect b="0" l="0" r="0" t="0"/>
            <a:stretch/>
          </p:blipFill>
          <p:spPr>
            <a:xfrm>
              <a:off x="7089972" y="3082751"/>
              <a:ext cx="1641327" cy="366164"/>
            </a:xfrm>
            <a:prstGeom prst="rect">
              <a:avLst/>
            </a:prstGeom>
            <a:noFill/>
            <a:ln>
              <a:noFill/>
            </a:ln>
          </p:spPr>
        </p:pic>
        <p:pic>
          <p:nvPicPr>
            <p:cNvPr descr="Kodak recupera su mítico logo en su último rediseño — Brandemia" id="359" name="Google Shape;359;p27"/>
            <p:cNvPicPr preferRelativeResize="0"/>
            <p:nvPr/>
          </p:nvPicPr>
          <p:blipFill rotWithShape="1">
            <a:blip r:embed="rId6">
              <a:alphaModFix/>
            </a:blip>
            <a:srcRect b="0" l="0" r="0" t="0"/>
            <a:stretch/>
          </p:blipFill>
          <p:spPr>
            <a:xfrm>
              <a:off x="6296866" y="1341101"/>
              <a:ext cx="835169" cy="763292"/>
            </a:xfrm>
            <a:prstGeom prst="rect">
              <a:avLst/>
            </a:prstGeom>
            <a:noFill/>
            <a:ln>
              <a:noFill/>
            </a:ln>
          </p:spPr>
        </p:pic>
        <p:pic>
          <p:nvPicPr>
            <p:cNvPr id="360" name="Google Shape;360;p27"/>
            <p:cNvPicPr preferRelativeResize="0"/>
            <p:nvPr/>
          </p:nvPicPr>
          <p:blipFill rotWithShape="1">
            <a:blip r:embed="rId7">
              <a:alphaModFix/>
            </a:blip>
            <a:srcRect b="0" l="0" r="0" t="0"/>
            <a:stretch/>
          </p:blipFill>
          <p:spPr>
            <a:xfrm>
              <a:off x="7309218" y="1899191"/>
              <a:ext cx="1180783" cy="205202"/>
            </a:xfrm>
            <a:prstGeom prst="rect">
              <a:avLst/>
            </a:prstGeom>
            <a:noFill/>
            <a:ln>
              <a:noFill/>
            </a:ln>
          </p:spPr>
        </p:pic>
        <p:pic>
          <p:nvPicPr>
            <p:cNvPr descr="Favo | LinkedIn" id="361" name="Google Shape;361;p27"/>
            <p:cNvPicPr preferRelativeResize="0"/>
            <p:nvPr/>
          </p:nvPicPr>
          <p:blipFill rotWithShape="1">
            <a:blip r:embed="rId8">
              <a:alphaModFix/>
            </a:blip>
            <a:srcRect b="0" l="0" r="0" t="0"/>
            <a:stretch/>
          </p:blipFill>
          <p:spPr>
            <a:xfrm>
              <a:off x="6476560" y="3576282"/>
              <a:ext cx="606162" cy="606162"/>
            </a:xfrm>
            <a:prstGeom prst="rect">
              <a:avLst/>
            </a:prstGeom>
            <a:noFill/>
            <a:ln>
              <a:noFill/>
            </a:ln>
          </p:spPr>
        </p:pic>
        <p:pic>
          <p:nvPicPr>
            <p:cNvPr descr="Muni Colombia" id="362" name="Google Shape;362;p27"/>
            <p:cNvPicPr preferRelativeResize="0"/>
            <p:nvPr/>
          </p:nvPicPr>
          <p:blipFill rotWithShape="1">
            <a:blip r:embed="rId9">
              <a:alphaModFix/>
            </a:blip>
            <a:srcRect b="28844" l="11865" r="12590" t="27573"/>
            <a:stretch/>
          </p:blipFill>
          <p:spPr>
            <a:xfrm>
              <a:off x="7415286" y="3623611"/>
              <a:ext cx="968645" cy="558833"/>
            </a:xfrm>
            <a:prstGeom prst="rect">
              <a:avLst/>
            </a:prstGeom>
            <a:noFill/>
            <a:ln>
              <a:noFill/>
            </a:ln>
          </p:spPr>
        </p:pic>
        <p:pic>
          <p:nvPicPr>
            <p:cNvPr descr="Myspace logo and symbol, meaning, history, PNG" id="363" name="Google Shape;363;p27"/>
            <p:cNvPicPr preferRelativeResize="0"/>
            <p:nvPr/>
          </p:nvPicPr>
          <p:blipFill rotWithShape="1">
            <a:blip r:embed="rId10">
              <a:alphaModFix/>
            </a:blip>
            <a:srcRect b="28718" l="0" r="0" t="30658"/>
            <a:stretch/>
          </p:blipFill>
          <p:spPr>
            <a:xfrm>
              <a:off x="7612368" y="2551893"/>
              <a:ext cx="968646" cy="221339"/>
            </a:xfrm>
            <a:prstGeom prst="rect">
              <a:avLst/>
            </a:prstGeom>
            <a:noFill/>
            <a:ln>
              <a:noFill/>
            </a:ln>
          </p:spPr>
        </p:pic>
      </p:gr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8" name="Shape 368"/>
        <p:cNvGrpSpPr/>
        <p:nvPr/>
      </p:nvGrpSpPr>
      <p:grpSpPr>
        <a:xfrm>
          <a:off x="0" y="0"/>
          <a:ext cx="0" cy="0"/>
          <a:chOff x="0" y="0"/>
          <a:chExt cx="0" cy="0"/>
        </a:xfrm>
      </p:grpSpPr>
      <p:sp>
        <p:nvSpPr>
          <p:cNvPr id="369" name="Google Shape;369;p28"/>
          <p:cNvSpPr txBox="1"/>
          <p:nvPr/>
        </p:nvSpPr>
        <p:spPr>
          <a:xfrm>
            <a:off x="1351005" y="2333445"/>
            <a:ext cx="3929981" cy="1378839"/>
          </a:xfrm>
          <a:prstGeom prst="rect">
            <a:avLst/>
          </a:prstGeom>
          <a:noFill/>
          <a:ln>
            <a:noFill/>
          </a:ln>
        </p:spPr>
        <p:txBody>
          <a:bodyPr anchorCtr="0" anchor="t" bIns="0" lIns="0" spcFirstLastPara="1" rIns="0" wrap="square" tIns="0">
            <a:spAutoFit/>
          </a:bodyPr>
          <a:lstStyle/>
          <a:p>
            <a:pPr indent="0" lvl="0" marL="0" marR="0" rtl="0" algn="l">
              <a:lnSpc>
                <a:spcPct val="70000"/>
              </a:lnSpc>
              <a:spcBef>
                <a:spcPts val="0"/>
              </a:spcBef>
              <a:spcAft>
                <a:spcPts val="0"/>
              </a:spcAft>
              <a:buClr>
                <a:srgbClr val="000000"/>
              </a:buClr>
              <a:buSzPts val="3200"/>
              <a:buFont typeface="Arial"/>
              <a:buNone/>
            </a:pPr>
            <a:r>
              <a:rPr b="0" i="0" lang="es-PE" sz="3200" u="none" cap="none" strike="noStrike">
                <a:solidFill>
                  <a:schemeClr val="dk1"/>
                </a:solidFill>
                <a:latin typeface="Arial"/>
                <a:ea typeface="Arial"/>
                <a:cs typeface="Arial"/>
                <a:sym typeface="Arial"/>
              </a:rPr>
              <a:t>ESTAS EMPRESAS </a:t>
            </a:r>
            <a:br>
              <a:rPr b="0" i="0" lang="es-PE" sz="3200" u="none" cap="none" strike="noStrike">
                <a:solidFill>
                  <a:schemeClr val="dk1"/>
                </a:solidFill>
                <a:latin typeface="Arial"/>
                <a:ea typeface="Arial"/>
                <a:cs typeface="Arial"/>
                <a:sym typeface="Arial"/>
              </a:rPr>
            </a:br>
            <a:r>
              <a:rPr b="0" i="0" lang="es-PE" sz="3200" u="none" cap="none" strike="noStrike">
                <a:solidFill>
                  <a:schemeClr val="dk1"/>
                </a:solidFill>
                <a:latin typeface="Arial"/>
                <a:ea typeface="Arial"/>
                <a:cs typeface="Arial"/>
                <a:sym typeface="Arial"/>
              </a:rPr>
              <a:t>YA QUEBRARON</a:t>
            </a:r>
            <a:endParaRPr/>
          </a:p>
          <a:p>
            <a:pPr indent="0" lvl="0" marL="0" marR="0" rtl="0" algn="l">
              <a:lnSpc>
                <a:spcPct val="70000"/>
              </a:lnSpc>
              <a:spcBef>
                <a:spcPts val="0"/>
              </a:spcBef>
              <a:spcAft>
                <a:spcPts val="0"/>
              </a:spcAft>
              <a:buNone/>
            </a:pPr>
            <a:r>
              <a:rPr b="1" i="0" lang="es-PE" sz="3200" u="none" cap="none" strike="noStrike">
                <a:solidFill>
                  <a:srgbClr val="92C14D"/>
                </a:solidFill>
                <a:latin typeface="Arial"/>
                <a:ea typeface="Arial"/>
                <a:cs typeface="Arial"/>
                <a:sym typeface="Arial"/>
              </a:rPr>
              <a:t>O PIVOTEARON</a:t>
            </a:r>
            <a:endParaRPr b="1" i="0" sz="3200" u="none" cap="none" strike="noStrike">
              <a:solidFill>
                <a:srgbClr val="92C14D"/>
              </a:solidFill>
              <a:latin typeface="Arial"/>
              <a:ea typeface="Arial"/>
              <a:cs typeface="Arial"/>
              <a:sym typeface="Arial"/>
            </a:endParaRPr>
          </a:p>
          <a:p>
            <a:pPr indent="0" lvl="0" marL="0" marR="0" rtl="0" algn="l">
              <a:lnSpc>
                <a:spcPct val="70000"/>
              </a:lnSpc>
              <a:spcBef>
                <a:spcPts val="0"/>
              </a:spcBef>
              <a:spcAft>
                <a:spcPts val="0"/>
              </a:spcAft>
              <a:buClr>
                <a:srgbClr val="000000"/>
              </a:buClr>
              <a:buSzPts val="3200"/>
              <a:buFont typeface="Arial"/>
              <a:buNone/>
            </a:pPr>
            <a:r>
              <a:t/>
            </a:r>
            <a:endParaRPr b="1" i="0" sz="3200" u="none" cap="none" strike="noStrike">
              <a:solidFill>
                <a:srgbClr val="000000"/>
              </a:solidFill>
              <a:latin typeface="Arial"/>
              <a:ea typeface="Arial"/>
              <a:cs typeface="Arial"/>
              <a:sym typeface="Arial"/>
            </a:endParaRPr>
          </a:p>
        </p:txBody>
      </p:sp>
      <p:pic>
        <p:nvPicPr>
          <p:cNvPr id="370" name="Google Shape;370;p28"/>
          <p:cNvPicPr preferRelativeResize="0"/>
          <p:nvPr/>
        </p:nvPicPr>
        <p:blipFill rotWithShape="1">
          <a:blip r:embed="rId3">
            <a:alphaModFix/>
          </a:blip>
          <a:srcRect b="0" l="0" r="0" t="0"/>
          <a:stretch/>
        </p:blipFill>
        <p:spPr>
          <a:xfrm>
            <a:off x="3596310" y="895231"/>
            <a:ext cx="6501442" cy="4338757"/>
          </a:xfrm>
          <a:prstGeom prst="rect">
            <a:avLst/>
          </a:prstGeom>
          <a:noFill/>
          <a:ln>
            <a:noFill/>
          </a:ln>
        </p:spPr>
      </p:pic>
      <p:sp>
        <p:nvSpPr>
          <p:cNvPr id="371" name="Google Shape;371;p28"/>
          <p:cNvSpPr/>
          <p:nvPr/>
        </p:nvSpPr>
        <p:spPr>
          <a:xfrm>
            <a:off x="503237" y="388928"/>
            <a:ext cx="5552610" cy="332399"/>
          </a:xfrm>
          <a:prstGeom prst="rect">
            <a:avLst/>
          </a:prstGeom>
          <a:noFill/>
          <a:ln>
            <a:noFill/>
          </a:ln>
        </p:spPr>
        <p:txBody>
          <a:bodyPr anchorCtr="0" anchor="b" bIns="0" lIns="0" spcFirstLastPara="1" rIns="0" wrap="square" tIns="0">
            <a:spAutoFit/>
          </a:bodyPr>
          <a:lstStyle/>
          <a:p>
            <a:pPr indent="0" lvl="0" marL="0" marR="0" rtl="0" algn="l">
              <a:lnSpc>
                <a:spcPct val="90000"/>
              </a:lnSpc>
              <a:spcBef>
                <a:spcPts val="0"/>
              </a:spcBef>
              <a:spcAft>
                <a:spcPts val="0"/>
              </a:spcAft>
              <a:buNone/>
            </a:pPr>
            <a:r>
              <a:rPr b="1" i="0" lang="es-PE" sz="1000" u="none" cap="none" strike="noStrike">
                <a:solidFill>
                  <a:srgbClr val="7F7F7F"/>
                </a:solidFill>
                <a:latin typeface="Calibri"/>
                <a:ea typeface="Calibri"/>
                <a:cs typeface="Calibri"/>
                <a:sym typeface="Calibri"/>
              </a:rPr>
              <a:t>+ </a:t>
            </a:r>
            <a:r>
              <a:rPr b="0" i="0" lang="es-PE" sz="1000" u="none" cap="none" strike="noStrike">
                <a:solidFill>
                  <a:srgbClr val="A5A5A5"/>
                </a:solidFill>
                <a:latin typeface="Calibri"/>
                <a:ea typeface="Calibri"/>
                <a:cs typeface="Calibri"/>
                <a:sym typeface="Calibri"/>
              </a:rPr>
              <a:t>ANÁLISIS DE CASOS DE ÉXITO Y FRACASO EN LA APLICACIÓN DE ESTE ENFOQUE</a:t>
            </a:r>
            <a:endParaRPr/>
          </a:p>
          <a:p>
            <a:pPr indent="0" lvl="0" marL="0" marR="0" rtl="0" algn="l">
              <a:lnSpc>
                <a:spcPct val="9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5" name="Shape 375"/>
        <p:cNvGrpSpPr/>
        <p:nvPr/>
      </p:nvGrpSpPr>
      <p:grpSpPr>
        <a:xfrm>
          <a:off x="0" y="0"/>
          <a:ext cx="0" cy="0"/>
          <a:chOff x="0" y="0"/>
          <a:chExt cx="0" cy="0"/>
        </a:xfrm>
      </p:grpSpPr>
      <p:sp>
        <p:nvSpPr>
          <p:cNvPr id="376" name="Google Shape;376;p44"/>
          <p:cNvSpPr/>
          <p:nvPr/>
        </p:nvSpPr>
        <p:spPr>
          <a:xfrm>
            <a:off x="0" y="0"/>
            <a:ext cx="9144000" cy="5715000"/>
          </a:xfrm>
          <a:prstGeom prst="rect">
            <a:avLst/>
          </a:prstGeom>
          <a:solidFill>
            <a:srgbClr val="654E9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nvGrpSpPr>
          <p:cNvPr id="377" name="Google Shape;377;p44"/>
          <p:cNvGrpSpPr/>
          <p:nvPr/>
        </p:nvGrpSpPr>
        <p:grpSpPr>
          <a:xfrm>
            <a:off x="2506315" y="2194222"/>
            <a:ext cx="4581728" cy="1326557"/>
            <a:chOff x="2403187" y="2211377"/>
            <a:chExt cx="4581728" cy="1326557"/>
          </a:xfrm>
        </p:grpSpPr>
        <p:sp>
          <p:nvSpPr>
            <p:cNvPr id="378" name="Google Shape;378;p44"/>
            <p:cNvSpPr txBox="1"/>
            <p:nvPr/>
          </p:nvSpPr>
          <p:spPr>
            <a:xfrm>
              <a:off x="2403187" y="2540738"/>
              <a:ext cx="4581728" cy="997196"/>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Clr>
                  <a:srgbClr val="000000"/>
                </a:buClr>
                <a:buSzPts val="3600"/>
                <a:buFont typeface="Arial"/>
                <a:buNone/>
              </a:pPr>
              <a:r>
                <a:rPr b="0" i="0" lang="es-PE" sz="3600" u="none" cap="none" strike="noStrike">
                  <a:solidFill>
                    <a:schemeClr val="lt1"/>
                  </a:solidFill>
                  <a:latin typeface="Arial"/>
                  <a:ea typeface="Arial"/>
                  <a:cs typeface="Arial"/>
                  <a:sym typeface="Arial"/>
                </a:rPr>
                <a:t>CONCLUSIONES</a:t>
              </a:r>
              <a:br>
                <a:rPr b="0" i="0" lang="es-PE" sz="3600" u="none" cap="none" strike="noStrike">
                  <a:solidFill>
                    <a:schemeClr val="lt1"/>
                  </a:solidFill>
                  <a:latin typeface="Arial"/>
                  <a:ea typeface="Arial"/>
                  <a:cs typeface="Arial"/>
                  <a:sym typeface="Arial"/>
                </a:rPr>
              </a:br>
              <a:r>
                <a:rPr b="1" i="0" lang="es-PE" sz="3600" u="none" cap="none" strike="noStrike">
                  <a:solidFill>
                    <a:schemeClr val="lt1"/>
                  </a:solidFill>
                  <a:latin typeface="Arial"/>
                  <a:ea typeface="Arial"/>
                  <a:cs typeface="Arial"/>
                  <a:sym typeface="Arial"/>
                </a:rPr>
                <a:t>MÁS REFERENCIAS</a:t>
              </a:r>
              <a:endParaRPr b="1" i="0" sz="1400" u="none" cap="none" strike="noStrike">
                <a:solidFill>
                  <a:srgbClr val="000000"/>
                </a:solidFill>
                <a:latin typeface="Arial"/>
                <a:ea typeface="Arial"/>
                <a:cs typeface="Arial"/>
                <a:sym typeface="Arial"/>
              </a:endParaRPr>
            </a:p>
          </p:txBody>
        </p:sp>
        <p:pic>
          <p:nvPicPr>
            <p:cNvPr id="379" name="Google Shape;379;p44"/>
            <p:cNvPicPr preferRelativeResize="0"/>
            <p:nvPr/>
          </p:nvPicPr>
          <p:blipFill rotWithShape="1">
            <a:blip r:embed="rId3">
              <a:alphaModFix/>
            </a:blip>
            <a:srcRect b="0" l="0" r="0" t="0"/>
            <a:stretch/>
          </p:blipFill>
          <p:spPr>
            <a:xfrm>
              <a:off x="2425491" y="2211377"/>
              <a:ext cx="202176" cy="208211"/>
            </a:xfrm>
            <a:prstGeom prst="rect">
              <a:avLst/>
            </a:prstGeom>
            <a:noFill/>
            <a:ln>
              <a:noFill/>
            </a:ln>
          </p:spPr>
        </p:pic>
      </p:grpSp>
      <p:pic>
        <p:nvPicPr>
          <p:cNvPr id="380" name="Google Shape;380;p44"/>
          <p:cNvPicPr preferRelativeResize="0"/>
          <p:nvPr/>
        </p:nvPicPr>
        <p:blipFill rotWithShape="1">
          <a:blip r:embed="rId4">
            <a:alphaModFix/>
          </a:blip>
          <a:srcRect b="0" l="0" r="0" t="0"/>
          <a:stretch/>
        </p:blipFill>
        <p:spPr>
          <a:xfrm>
            <a:off x="-1253" y="946969"/>
            <a:ext cx="2072214" cy="3898064"/>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5" name="Shape 385"/>
        <p:cNvGrpSpPr/>
        <p:nvPr/>
      </p:nvGrpSpPr>
      <p:grpSpPr>
        <a:xfrm>
          <a:off x="0" y="0"/>
          <a:ext cx="0" cy="0"/>
          <a:chOff x="0" y="0"/>
          <a:chExt cx="0" cy="0"/>
        </a:xfrm>
      </p:grpSpPr>
      <p:sp>
        <p:nvSpPr>
          <p:cNvPr id="386" name="Google Shape;386;p29"/>
          <p:cNvSpPr/>
          <p:nvPr/>
        </p:nvSpPr>
        <p:spPr>
          <a:xfrm>
            <a:off x="301556" y="5321030"/>
            <a:ext cx="8453337" cy="29183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87" name="Google Shape;387;p29"/>
          <p:cNvSpPr txBox="1"/>
          <p:nvPr/>
        </p:nvSpPr>
        <p:spPr>
          <a:xfrm>
            <a:off x="1279545" y="912813"/>
            <a:ext cx="5705454" cy="2800767"/>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s-PE" sz="1400" u="none" cap="none" strike="noStrike">
                <a:solidFill>
                  <a:schemeClr val="dk1"/>
                </a:solidFill>
                <a:latin typeface="Calibri"/>
                <a:ea typeface="Calibri"/>
                <a:cs typeface="Calibri"/>
                <a:sym typeface="Calibri"/>
              </a:rPr>
              <a:t>Ser “customer centric” no implica solo ponerlo en los valores de la empresa, sino en realmente cambiar el enfoque desde el cual se está construyendo la solución, sea en el proceso así como en la cultura misma de las personas que lo trabajan.</a:t>
            </a:r>
            <a:endParaRPr/>
          </a:p>
          <a:p>
            <a:pPr indent="0" lvl="0" marL="0" marR="0" rtl="0" algn="l">
              <a:lnSpc>
                <a:spcPct val="100000"/>
              </a:lnSpc>
              <a:spcBef>
                <a:spcPts val="0"/>
              </a:spcBef>
              <a:spcAft>
                <a:spcPts val="0"/>
              </a:spcAft>
              <a:buNone/>
            </a:pPr>
            <a:r>
              <a:t/>
            </a:r>
            <a:endParaRPr b="0" i="0" sz="14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None/>
            </a:pPr>
            <a:r>
              <a:rPr b="0" i="0" lang="es-PE" sz="1400" u="none" cap="none" strike="noStrike">
                <a:solidFill>
                  <a:schemeClr val="dk1"/>
                </a:solidFill>
                <a:latin typeface="Calibri"/>
                <a:ea typeface="Calibri"/>
                <a:cs typeface="Calibri"/>
                <a:sym typeface="Calibri"/>
              </a:rPr>
              <a:t>Sin un enfoque customer centric, varias empresas han tenido que descartar sus soluciones pues se dieron cuenta que no estaban resolviendo realmente los problemas de sus clientes.</a:t>
            </a:r>
            <a:endParaRPr/>
          </a:p>
          <a:p>
            <a:pPr indent="0" lvl="0" marL="0" marR="0" rtl="0" algn="l">
              <a:lnSpc>
                <a:spcPct val="100000"/>
              </a:lnSpc>
              <a:spcBef>
                <a:spcPts val="0"/>
              </a:spcBef>
              <a:spcAft>
                <a:spcPts val="0"/>
              </a:spcAft>
              <a:buNone/>
            </a:pPr>
            <a:r>
              <a:t/>
            </a:r>
            <a:endParaRPr b="0" i="0" sz="14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None/>
            </a:pPr>
            <a:r>
              <a:rPr b="0" i="0" lang="es-PE" sz="1400" u="none" cap="none" strike="noStrike">
                <a:solidFill>
                  <a:schemeClr val="dk1"/>
                </a:solidFill>
                <a:latin typeface="Calibri"/>
                <a:ea typeface="Calibri"/>
                <a:cs typeface="Calibri"/>
                <a:sym typeface="Calibri"/>
              </a:rPr>
              <a:t>Los empresas cuyos productos son tecnológicos tienen mucha más facilidad para poder construir y personalizar la experiencia, sin embargo es un mercado que demanda y reta a quien quiera entrar a él con constante incertidumbre y mucha velocidad para innovar.</a:t>
            </a:r>
            <a:endParaRPr/>
          </a:p>
        </p:txBody>
      </p:sp>
      <p:pic>
        <p:nvPicPr>
          <p:cNvPr id="388" name="Google Shape;388;p29"/>
          <p:cNvPicPr preferRelativeResize="0"/>
          <p:nvPr/>
        </p:nvPicPr>
        <p:blipFill rotWithShape="1">
          <a:blip r:embed="rId3">
            <a:alphaModFix/>
          </a:blip>
          <a:srcRect b="0" l="0" r="0" t="0"/>
          <a:stretch/>
        </p:blipFill>
        <p:spPr>
          <a:xfrm>
            <a:off x="1011260" y="954885"/>
            <a:ext cx="114138" cy="117546"/>
          </a:xfrm>
          <a:prstGeom prst="rect">
            <a:avLst/>
          </a:prstGeom>
          <a:noFill/>
          <a:ln>
            <a:noFill/>
          </a:ln>
        </p:spPr>
      </p:pic>
      <p:pic>
        <p:nvPicPr>
          <p:cNvPr id="389" name="Google Shape;389;p29"/>
          <p:cNvPicPr preferRelativeResize="0"/>
          <p:nvPr/>
        </p:nvPicPr>
        <p:blipFill rotWithShape="1">
          <a:blip r:embed="rId3">
            <a:alphaModFix/>
          </a:blip>
          <a:srcRect b="0" l="0" r="0" t="0"/>
          <a:stretch/>
        </p:blipFill>
        <p:spPr>
          <a:xfrm>
            <a:off x="1011260" y="2050158"/>
            <a:ext cx="114138" cy="117546"/>
          </a:xfrm>
          <a:prstGeom prst="rect">
            <a:avLst/>
          </a:prstGeom>
          <a:noFill/>
          <a:ln>
            <a:noFill/>
          </a:ln>
        </p:spPr>
      </p:pic>
      <p:sp>
        <p:nvSpPr>
          <p:cNvPr id="390" name="Google Shape;390;p29"/>
          <p:cNvSpPr/>
          <p:nvPr/>
        </p:nvSpPr>
        <p:spPr>
          <a:xfrm>
            <a:off x="8133347" y="163629"/>
            <a:ext cx="808522" cy="754744"/>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id="391" name="Google Shape;391;p29"/>
          <p:cNvPicPr preferRelativeResize="0"/>
          <p:nvPr/>
        </p:nvPicPr>
        <p:blipFill rotWithShape="1">
          <a:blip r:embed="rId4">
            <a:alphaModFix amt="42000"/>
          </a:blip>
          <a:srcRect b="0" l="0" r="0" t="0"/>
          <a:stretch/>
        </p:blipFill>
        <p:spPr>
          <a:xfrm>
            <a:off x="6984999" y="3048772"/>
            <a:ext cx="1690689" cy="2185216"/>
          </a:xfrm>
          <a:prstGeom prst="rect">
            <a:avLst/>
          </a:prstGeom>
          <a:noFill/>
          <a:ln>
            <a:noFill/>
          </a:ln>
        </p:spPr>
      </p:pic>
      <p:sp>
        <p:nvSpPr>
          <p:cNvPr id="392" name="Google Shape;392;p29"/>
          <p:cNvSpPr/>
          <p:nvPr/>
        </p:nvSpPr>
        <p:spPr>
          <a:xfrm>
            <a:off x="503238" y="376836"/>
            <a:ext cx="2430462" cy="138499"/>
          </a:xfrm>
          <a:prstGeom prst="rect">
            <a:avLst/>
          </a:prstGeom>
          <a:noFill/>
          <a:ln>
            <a:noFill/>
          </a:ln>
        </p:spPr>
        <p:txBody>
          <a:bodyPr anchorCtr="0" anchor="b" bIns="0" lIns="0" spcFirstLastPara="1" rIns="0" wrap="square" tIns="0">
            <a:spAutoFit/>
          </a:bodyPr>
          <a:lstStyle/>
          <a:p>
            <a:pPr indent="0" lvl="0" marL="0" marR="0" rtl="0" algn="l">
              <a:lnSpc>
                <a:spcPct val="90000"/>
              </a:lnSpc>
              <a:spcBef>
                <a:spcPts val="0"/>
              </a:spcBef>
              <a:spcAft>
                <a:spcPts val="0"/>
              </a:spcAft>
              <a:buClr>
                <a:srgbClr val="000000"/>
              </a:buClr>
              <a:buSzPts val="1000"/>
              <a:buFont typeface="Arial"/>
              <a:buNone/>
            </a:pPr>
            <a:r>
              <a:rPr b="1" i="0" lang="es-PE" sz="1000" u="none" cap="none" strike="noStrike">
                <a:solidFill>
                  <a:srgbClr val="7F7F7F"/>
                </a:solidFill>
                <a:latin typeface="Calibri"/>
                <a:ea typeface="Calibri"/>
                <a:cs typeface="Calibri"/>
                <a:sym typeface="Calibri"/>
              </a:rPr>
              <a:t>+ </a:t>
            </a:r>
            <a:r>
              <a:rPr b="0" i="0" lang="es-PE" sz="1000" u="none" cap="none" strike="noStrike">
                <a:solidFill>
                  <a:srgbClr val="A5A5A5"/>
                </a:solidFill>
                <a:latin typeface="Calibri"/>
                <a:ea typeface="Calibri"/>
                <a:cs typeface="Calibri"/>
                <a:sym typeface="Calibri"/>
              </a:rPr>
              <a:t>CONCLUSIONES </a:t>
            </a:r>
            <a:endParaRPr b="0" i="0" sz="1400" u="none" cap="none" strike="noStrike">
              <a:solidFill>
                <a:srgbClr val="000000"/>
              </a:solidFill>
              <a:latin typeface="Arial"/>
              <a:ea typeface="Arial"/>
              <a:cs typeface="Arial"/>
              <a:sym typeface="Arial"/>
            </a:endParaRPr>
          </a:p>
        </p:txBody>
      </p:sp>
      <p:pic>
        <p:nvPicPr>
          <p:cNvPr id="393" name="Google Shape;393;p29"/>
          <p:cNvPicPr preferRelativeResize="0"/>
          <p:nvPr/>
        </p:nvPicPr>
        <p:blipFill rotWithShape="1">
          <a:blip r:embed="rId3">
            <a:alphaModFix/>
          </a:blip>
          <a:srcRect b="0" l="0" r="0" t="0"/>
          <a:stretch/>
        </p:blipFill>
        <p:spPr>
          <a:xfrm>
            <a:off x="1011260" y="2890667"/>
            <a:ext cx="114138" cy="117546"/>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sp>
        <p:nvSpPr>
          <p:cNvPr id="398" name="Google Shape;398;p45"/>
          <p:cNvSpPr/>
          <p:nvPr/>
        </p:nvSpPr>
        <p:spPr>
          <a:xfrm>
            <a:off x="0" y="0"/>
            <a:ext cx="9144000" cy="5715000"/>
          </a:xfrm>
          <a:prstGeom prst="rect">
            <a:avLst/>
          </a:prstGeom>
          <a:solidFill>
            <a:srgbClr val="8DCB6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99" name="Google Shape;399;p45"/>
          <p:cNvSpPr txBox="1"/>
          <p:nvPr/>
        </p:nvSpPr>
        <p:spPr>
          <a:xfrm>
            <a:off x="2519363" y="2540738"/>
            <a:ext cx="4581728" cy="997196"/>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Clr>
                <a:srgbClr val="000000"/>
              </a:buClr>
              <a:buSzPts val="3600"/>
              <a:buFont typeface="Arial"/>
              <a:buNone/>
            </a:pPr>
            <a:r>
              <a:rPr b="0" i="0" lang="es-PE" sz="3600" u="none" cap="none" strike="noStrike">
                <a:solidFill>
                  <a:schemeClr val="lt1"/>
                </a:solidFill>
                <a:latin typeface="Arial"/>
                <a:ea typeface="Arial"/>
                <a:cs typeface="Arial"/>
                <a:sym typeface="Arial"/>
              </a:rPr>
              <a:t>BIBLIOGRAFÍA</a:t>
            </a:r>
            <a:br>
              <a:rPr b="0" i="0" lang="es-PE" sz="3600" u="none" cap="none" strike="noStrike">
                <a:solidFill>
                  <a:schemeClr val="lt1"/>
                </a:solidFill>
                <a:latin typeface="Arial"/>
                <a:ea typeface="Arial"/>
                <a:cs typeface="Arial"/>
                <a:sym typeface="Arial"/>
              </a:rPr>
            </a:br>
            <a:r>
              <a:rPr b="1" i="0" lang="es-PE" sz="3600" u="none" cap="none" strike="noStrike">
                <a:solidFill>
                  <a:schemeClr val="lt1"/>
                </a:solidFill>
                <a:latin typeface="Arial"/>
                <a:ea typeface="Arial"/>
                <a:cs typeface="Arial"/>
                <a:sym typeface="Arial"/>
              </a:rPr>
              <a:t>MÁS REFERENCIAS</a:t>
            </a:r>
            <a:endParaRPr b="1" i="0" sz="1400" u="none" cap="none" strike="noStrike">
              <a:solidFill>
                <a:srgbClr val="000000"/>
              </a:solidFill>
              <a:latin typeface="Arial"/>
              <a:ea typeface="Arial"/>
              <a:cs typeface="Arial"/>
              <a:sym typeface="Arial"/>
            </a:endParaRPr>
          </a:p>
        </p:txBody>
      </p:sp>
      <p:pic>
        <p:nvPicPr>
          <p:cNvPr id="400" name="Google Shape;400;p45"/>
          <p:cNvPicPr preferRelativeResize="0"/>
          <p:nvPr/>
        </p:nvPicPr>
        <p:blipFill rotWithShape="1">
          <a:blip r:embed="rId3">
            <a:alphaModFix/>
          </a:blip>
          <a:srcRect b="0" l="0" r="0" t="0"/>
          <a:stretch/>
        </p:blipFill>
        <p:spPr>
          <a:xfrm>
            <a:off x="2528619" y="2194222"/>
            <a:ext cx="202176" cy="208211"/>
          </a:xfrm>
          <a:prstGeom prst="rect">
            <a:avLst/>
          </a:prstGeom>
          <a:noFill/>
          <a:ln>
            <a:noFill/>
          </a:ln>
        </p:spPr>
      </p:pic>
      <p:pic>
        <p:nvPicPr>
          <p:cNvPr id="401" name="Google Shape;401;p45"/>
          <p:cNvPicPr preferRelativeResize="0"/>
          <p:nvPr/>
        </p:nvPicPr>
        <p:blipFill rotWithShape="1">
          <a:blip r:embed="rId4">
            <a:alphaModFix/>
          </a:blip>
          <a:srcRect b="0" l="0" r="0" t="0"/>
          <a:stretch/>
        </p:blipFill>
        <p:spPr>
          <a:xfrm>
            <a:off x="0" y="946970"/>
            <a:ext cx="2072061" cy="3898064"/>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6" name="Shape 406"/>
        <p:cNvGrpSpPr/>
        <p:nvPr/>
      </p:nvGrpSpPr>
      <p:grpSpPr>
        <a:xfrm>
          <a:off x="0" y="0"/>
          <a:ext cx="0" cy="0"/>
          <a:chOff x="0" y="0"/>
          <a:chExt cx="0" cy="0"/>
        </a:xfrm>
      </p:grpSpPr>
      <p:sp>
        <p:nvSpPr>
          <p:cNvPr id="407" name="Google Shape;407;p30"/>
          <p:cNvSpPr/>
          <p:nvPr/>
        </p:nvSpPr>
        <p:spPr>
          <a:xfrm>
            <a:off x="301556" y="5321030"/>
            <a:ext cx="8453337" cy="29183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08" name="Google Shape;408;p30"/>
          <p:cNvSpPr txBox="1"/>
          <p:nvPr/>
        </p:nvSpPr>
        <p:spPr>
          <a:xfrm>
            <a:off x="1279009" y="917823"/>
            <a:ext cx="4774320" cy="1723549"/>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s-PE" sz="1400" u="none" cap="none" strike="noStrike">
                <a:solidFill>
                  <a:schemeClr val="dk1"/>
                </a:solidFill>
                <a:latin typeface="Calibri"/>
                <a:ea typeface="Calibri"/>
                <a:cs typeface="Calibri"/>
                <a:sym typeface="Calibri"/>
              </a:rPr>
              <a:t>Steve Jobs – Isaacson, Walter – 2011</a:t>
            </a:r>
            <a:endParaRPr/>
          </a:p>
          <a:p>
            <a:pPr indent="0" lvl="0" marL="0" marR="0" rtl="0" algn="l">
              <a:lnSpc>
                <a:spcPct val="100000"/>
              </a:lnSpc>
              <a:spcBef>
                <a:spcPts val="0"/>
              </a:spcBef>
              <a:spcAft>
                <a:spcPts val="0"/>
              </a:spcAft>
              <a:buNone/>
            </a:pPr>
            <a:r>
              <a:t/>
            </a:r>
            <a:endParaRPr b="0" i="0" sz="14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None/>
            </a:pPr>
            <a:r>
              <a:rPr b="0" i="0" lang="es-PE" sz="1400" u="none" cap="none" strike="noStrike">
                <a:solidFill>
                  <a:schemeClr val="dk1"/>
                </a:solidFill>
                <a:latin typeface="Calibri"/>
                <a:ea typeface="Calibri"/>
                <a:cs typeface="Calibri"/>
                <a:sym typeface="Calibri"/>
              </a:rPr>
              <a:t>https://www.businessinsider.com/the-iterate-fast-and-release-often-philosophy-of-entrepreneurship-2009-11</a:t>
            </a:r>
            <a:endParaRPr/>
          </a:p>
          <a:p>
            <a:pPr indent="0" lvl="0" marL="0" marR="0" rtl="0" algn="l">
              <a:lnSpc>
                <a:spcPct val="100000"/>
              </a:lnSpc>
              <a:spcBef>
                <a:spcPts val="0"/>
              </a:spcBef>
              <a:spcAft>
                <a:spcPts val="0"/>
              </a:spcAft>
              <a:buNone/>
            </a:pPr>
            <a:r>
              <a:t/>
            </a:r>
            <a:endParaRPr b="0" i="0" sz="14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None/>
            </a:pPr>
            <a:r>
              <a:rPr b="0" i="0" lang="es-PE" sz="1400" u="none" cap="none" strike="noStrike">
                <a:solidFill>
                  <a:schemeClr val="dk1"/>
                </a:solidFill>
                <a:latin typeface="Calibri"/>
                <a:ea typeface="Calibri"/>
                <a:cs typeface="Calibri"/>
                <a:sym typeface="Calibri"/>
              </a:rPr>
              <a:t>https://www.ecommercenews.pe/comercio-electronico/2024/favo-cierra-operacion-en-peru-historia-y-expansion-de-la-startup.html/</a:t>
            </a:r>
            <a:endParaRPr b="0" i="0" sz="1400" u="none" cap="none" strike="noStrike">
              <a:solidFill>
                <a:schemeClr val="dk1"/>
              </a:solidFill>
              <a:latin typeface="Calibri"/>
              <a:ea typeface="Calibri"/>
              <a:cs typeface="Calibri"/>
              <a:sym typeface="Calibri"/>
            </a:endParaRPr>
          </a:p>
        </p:txBody>
      </p:sp>
      <p:pic>
        <p:nvPicPr>
          <p:cNvPr id="409" name="Google Shape;409;p30"/>
          <p:cNvPicPr preferRelativeResize="0"/>
          <p:nvPr/>
        </p:nvPicPr>
        <p:blipFill rotWithShape="1">
          <a:blip r:embed="rId3">
            <a:alphaModFix/>
          </a:blip>
          <a:srcRect b="0" l="0" r="0" t="0"/>
          <a:stretch/>
        </p:blipFill>
        <p:spPr>
          <a:xfrm>
            <a:off x="1008064" y="959114"/>
            <a:ext cx="103867" cy="106967"/>
          </a:xfrm>
          <a:prstGeom prst="rect">
            <a:avLst/>
          </a:prstGeom>
          <a:noFill/>
          <a:ln>
            <a:noFill/>
          </a:ln>
        </p:spPr>
      </p:pic>
      <p:sp>
        <p:nvSpPr>
          <p:cNvPr id="410" name="Google Shape;410;p30"/>
          <p:cNvSpPr/>
          <p:nvPr/>
        </p:nvSpPr>
        <p:spPr>
          <a:xfrm>
            <a:off x="8133347" y="163629"/>
            <a:ext cx="808522" cy="754744"/>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id="411" name="Google Shape;411;p30"/>
          <p:cNvPicPr preferRelativeResize="0"/>
          <p:nvPr/>
        </p:nvPicPr>
        <p:blipFill rotWithShape="1">
          <a:blip r:embed="rId4">
            <a:alphaModFix amt="42000"/>
          </a:blip>
          <a:srcRect b="0" l="0" r="0" t="0"/>
          <a:stretch/>
        </p:blipFill>
        <p:spPr>
          <a:xfrm>
            <a:off x="6985000" y="3036889"/>
            <a:ext cx="1690688" cy="2197100"/>
          </a:xfrm>
          <a:prstGeom prst="rect">
            <a:avLst/>
          </a:prstGeom>
          <a:noFill/>
          <a:ln>
            <a:noFill/>
          </a:ln>
        </p:spPr>
      </p:pic>
      <p:sp>
        <p:nvSpPr>
          <p:cNvPr id="412" name="Google Shape;412;p30"/>
          <p:cNvSpPr/>
          <p:nvPr/>
        </p:nvSpPr>
        <p:spPr>
          <a:xfrm>
            <a:off x="503238" y="376836"/>
            <a:ext cx="2430462" cy="138499"/>
          </a:xfrm>
          <a:prstGeom prst="rect">
            <a:avLst/>
          </a:prstGeom>
          <a:noFill/>
          <a:ln>
            <a:noFill/>
          </a:ln>
        </p:spPr>
        <p:txBody>
          <a:bodyPr anchorCtr="0" anchor="b" bIns="0" lIns="0" spcFirstLastPara="1" rIns="0" wrap="square" tIns="0">
            <a:spAutoFit/>
          </a:bodyPr>
          <a:lstStyle/>
          <a:p>
            <a:pPr indent="0" lvl="0" marL="0" marR="0" rtl="0" algn="l">
              <a:lnSpc>
                <a:spcPct val="90000"/>
              </a:lnSpc>
              <a:spcBef>
                <a:spcPts val="0"/>
              </a:spcBef>
              <a:spcAft>
                <a:spcPts val="0"/>
              </a:spcAft>
              <a:buClr>
                <a:srgbClr val="000000"/>
              </a:buClr>
              <a:buSzPts val="1000"/>
              <a:buFont typeface="Arial"/>
              <a:buNone/>
            </a:pPr>
            <a:r>
              <a:rPr b="1" i="0" lang="es-PE" sz="1000" u="none" cap="none" strike="noStrike">
                <a:solidFill>
                  <a:srgbClr val="7F7F7F"/>
                </a:solidFill>
                <a:latin typeface="Calibri"/>
                <a:ea typeface="Calibri"/>
                <a:cs typeface="Calibri"/>
                <a:sym typeface="Calibri"/>
              </a:rPr>
              <a:t>+ </a:t>
            </a:r>
            <a:r>
              <a:rPr b="0" i="0" lang="es-PE" sz="1000" u="none" cap="none" strike="noStrike">
                <a:solidFill>
                  <a:srgbClr val="A5A5A5"/>
                </a:solidFill>
                <a:latin typeface="Calibri"/>
                <a:ea typeface="Calibri"/>
                <a:cs typeface="Calibri"/>
                <a:sym typeface="Calibri"/>
              </a:rPr>
              <a:t>BIBLIOGRAFÍA</a:t>
            </a:r>
            <a:endParaRPr b="0" i="0" sz="1400" u="none" cap="none" strike="noStrike">
              <a:solidFill>
                <a:srgbClr val="000000"/>
              </a:solidFill>
              <a:latin typeface="Arial"/>
              <a:ea typeface="Arial"/>
              <a:cs typeface="Arial"/>
              <a:sym typeface="Arial"/>
            </a:endParaRPr>
          </a:p>
        </p:txBody>
      </p:sp>
      <p:pic>
        <p:nvPicPr>
          <p:cNvPr id="413" name="Google Shape;413;p30"/>
          <p:cNvPicPr preferRelativeResize="0"/>
          <p:nvPr/>
        </p:nvPicPr>
        <p:blipFill rotWithShape="1">
          <a:blip r:embed="rId3">
            <a:alphaModFix/>
          </a:blip>
          <a:srcRect b="0" l="0" r="0" t="0"/>
          <a:stretch/>
        </p:blipFill>
        <p:spPr>
          <a:xfrm>
            <a:off x="1008064" y="1395266"/>
            <a:ext cx="103867" cy="106967"/>
          </a:xfrm>
          <a:prstGeom prst="rect">
            <a:avLst/>
          </a:prstGeom>
          <a:noFill/>
          <a:ln>
            <a:noFill/>
          </a:ln>
        </p:spPr>
      </p:pic>
      <p:pic>
        <p:nvPicPr>
          <p:cNvPr id="414" name="Google Shape;414;p30"/>
          <p:cNvPicPr preferRelativeResize="0"/>
          <p:nvPr/>
        </p:nvPicPr>
        <p:blipFill rotWithShape="1">
          <a:blip r:embed="rId3">
            <a:alphaModFix/>
          </a:blip>
          <a:srcRect b="0" l="0" r="0" t="0"/>
          <a:stretch/>
        </p:blipFill>
        <p:spPr>
          <a:xfrm>
            <a:off x="1008064" y="2049837"/>
            <a:ext cx="103867" cy="106967"/>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8" name="Shape 418"/>
        <p:cNvGrpSpPr/>
        <p:nvPr/>
      </p:nvGrpSpPr>
      <p:grpSpPr>
        <a:xfrm>
          <a:off x="0" y="0"/>
          <a:ext cx="0" cy="0"/>
          <a:chOff x="0" y="0"/>
          <a:chExt cx="0" cy="0"/>
        </a:xfrm>
      </p:grpSpPr>
      <p:sp>
        <p:nvSpPr>
          <p:cNvPr id="419" name="Google Shape;419;p46"/>
          <p:cNvSpPr/>
          <p:nvPr/>
        </p:nvSpPr>
        <p:spPr>
          <a:xfrm>
            <a:off x="0" y="0"/>
            <a:ext cx="9144000" cy="5715000"/>
          </a:xfrm>
          <a:prstGeom prst="rect">
            <a:avLst/>
          </a:prstGeom>
          <a:solidFill>
            <a:srgbClr val="8087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id="420" name="Google Shape;420;p46"/>
          <p:cNvPicPr preferRelativeResize="0"/>
          <p:nvPr/>
        </p:nvPicPr>
        <p:blipFill rotWithShape="1">
          <a:blip r:embed="rId3">
            <a:alphaModFix/>
          </a:blip>
          <a:srcRect b="0" l="0" r="0" t="0"/>
          <a:stretch/>
        </p:blipFill>
        <p:spPr>
          <a:xfrm>
            <a:off x="3924199" y="2666298"/>
            <a:ext cx="1295601" cy="386803"/>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2016-10-06T14:52:02Z</dcterms:created>
  <dc:creator>ISIL</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5400A83D-B4FE-497C-9E2F-ACF3BA8DEF15</vt:lpwstr>
  </property>
  <property fmtid="{D5CDD505-2E9C-101B-9397-08002B2CF9AE}" pid="3" name="ArticulatePath">
    <vt:lpwstr>plantilla_cursos_presenciales-v3.1.6</vt:lpwstr>
  </property>
</Properties>
</file>