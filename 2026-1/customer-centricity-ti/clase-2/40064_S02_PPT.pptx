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iWdlS+axQ8epzlNp3rPTJvjmpz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29" name="Google Shape;29;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50: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5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9" name="Google Shape;4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61" name="Google Shape;61;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69" name="Google Shape;69;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La imagen hace referencia al “Agile onion”, la cual representa los diferentes niveles de cultura ágil dentro de una organización. </a:t>
            </a:r>
            <a:r>
              <a:rPr b="0" i="0" lang="es-PE">
                <a:solidFill>
                  <a:srgbClr val="ECECEC"/>
                </a:solidFill>
                <a:latin typeface="Arial"/>
                <a:ea typeface="Arial"/>
                <a:cs typeface="Arial"/>
                <a:sym typeface="Arial"/>
              </a:rPr>
              <a:t>El modelo del Agile Onion destaca que una implementación efectiva de la agilidad va más allá del simple uso de herramientas y prácticas. En cambio, enfatiza la importancia de desarrollar una comprensión profunda de los valores y principios subyacentes que informan esas prácticas.</a:t>
            </a:r>
            <a:endParaRPr/>
          </a:p>
          <a:p>
            <a:pPr indent="0" lvl="0" marL="0" rtl="0" algn="l">
              <a:lnSpc>
                <a:spcPct val="100000"/>
              </a:lnSpc>
              <a:spcBef>
                <a:spcPts val="0"/>
              </a:spcBef>
              <a:spcAft>
                <a:spcPts val="0"/>
              </a:spcAft>
              <a:buClr>
                <a:srgbClr val="ECECEC"/>
              </a:buClr>
              <a:buSzPts val="1200"/>
              <a:buFont typeface="Arial"/>
              <a:buChar char="•"/>
            </a:pPr>
            <a:r>
              <a:rPr b="1" i="0" lang="es-PE">
                <a:solidFill>
                  <a:srgbClr val="ECECEC"/>
                </a:solidFill>
                <a:latin typeface="Arial"/>
                <a:ea typeface="Arial"/>
                <a:cs typeface="Arial"/>
                <a:sym typeface="Arial"/>
              </a:rPr>
              <a:t>Valores y Principios</a:t>
            </a:r>
            <a:r>
              <a:rPr b="0" i="0" lang="es-PE">
                <a:solidFill>
                  <a:srgbClr val="ECECEC"/>
                </a:solidFill>
                <a:latin typeface="Arial"/>
                <a:ea typeface="Arial"/>
                <a:cs typeface="Arial"/>
                <a:sym typeface="Arial"/>
              </a:rPr>
              <a:t>: Esenciales y deben estar bien entendidos y adoptados por todos los miembros del equipo para lograr una transformación ágil auténtica.</a:t>
            </a:r>
            <a:endParaRPr/>
          </a:p>
          <a:p>
            <a:pPr indent="0" lvl="0" marL="0" rtl="0" algn="l">
              <a:lnSpc>
                <a:spcPct val="100000"/>
              </a:lnSpc>
              <a:spcBef>
                <a:spcPts val="0"/>
              </a:spcBef>
              <a:spcAft>
                <a:spcPts val="0"/>
              </a:spcAft>
              <a:buClr>
                <a:srgbClr val="ECECEC"/>
              </a:buClr>
              <a:buSzPts val="1200"/>
              <a:buFont typeface="Arial"/>
              <a:buChar char="•"/>
            </a:pPr>
            <a:r>
              <a:rPr b="1" i="0" lang="es-PE">
                <a:solidFill>
                  <a:srgbClr val="ECECEC"/>
                </a:solidFill>
                <a:latin typeface="Arial"/>
                <a:ea typeface="Arial"/>
                <a:cs typeface="Arial"/>
                <a:sym typeface="Arial"/>
              </a:rPr>
              <a:t>Prácticas y Herramientas</a:t>
            </a:r>
            <a:r>
              <a:rPr b="0" i="0" lang="es-PE">
                <a:solidFill>
                  <a:srgbClr val="ECECEC"/>
                </a:solidFill>
                <a:latin typeface="Arial"/>
                <a:ea typeface="Arial"/>
                <a:cs typeface="Arial"/>
                <a:sym typeface="Arial"/>
              </a:rPr>
              <a:t>: Mientras que son importantes y visibles, deben ser aplicadas de manera que refuercen y no socaven los valores y principios.</a:t>
            </a:r>
            <a:endParaRPr/>
          </a:p>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247" name="Google Shape;247;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04" name="Google Shape;304;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14" name="Google Shape;31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331" name="Google Shape;331;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44" name="Google Shape;344;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359" name="Google Shape;359;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380" name="Google Shape;380;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402" name="Google Shape;402;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1200"/>
              <a:buFont typeface="Calibri"/>
              <a:buNone/>
            </a:pPr>
            <a:r>
              <a:rPr lang="es-PE" sz="1200">
                <a:solidFill>
                  <a:srgbClr val="262626"/>
                </a:solidFill>
              </a:rPr>
              <a:t>Ellos son los únicos especialistas capaces de decidir esto, ni el PO ni el SM tienen el conocimiento tan especializado para esto.</a:t>
            </a:r>
            <a:endParaRPr/>
          </a:p>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424" name="Google Shape;424;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¿Qué opinan de esta frase? ¿Realmente refleja lo que es capaz el equipo?</a:t>
            </a:r>
            <a:endParaRPr/>
          </a:p>
        </p:txBody>
      </p:sp>
      <p:sp>
        <p:nvSpPr>
          <p:cNvPr id="448" name="Google Shape;448;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57" name="Google Shape;457;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66" name="Google Shape;466;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76" name="Google Shape;476;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lang="es-PE">
                <a:latin typeface="Arial"/>
                <a:ea typeface="Arial"/>
                <a:cs typeface="Arial"/>
                <a:sym typeface="Arial"/>
              </a:rPr>
              <a:t>Son personas que ya sabes que vienen con una mentalidad diferente: Únicamente la de hacer dinero rápido. Lo cual, ojo no está mal para ellos….</a:t>
            </a:r>
            <a:endParaRPr>
              <a:latin typeface="Arial"/>
              <a:ea typeface="Arial"/>
              <a:cs typeface="Arial"/>
              <a:sym typeface="Arial"/>
            </a:endParaRPr>
          </a:p>
        </p:txBody>
      </p:sp>
      <p:sp>
        <p:nvSpPr>
          <p:cNvPr id="485" name="Google Shape;485;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Cosas que típicamente suceden: </a:t>
            </a:r>
            <a:endParaRPr/>
          </a:p>
          <a:p>
            <a:pPr indent="0" lvl="0" marL="0" marR="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Una vez que “reciben el diseño” piensan: Esto no me cuadra, por qué lo hicieron así? Era más fácil hacerlo de esta otra manera.</a:t>
            </a:r>
            <a:endParaRPr/>
          </a:p>
        </p:txBody>
      </p:sp>
      <p:sp>
        <p:nvSpPr>
          <p:cNvPr id="498" name="Google Shape;498;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Recordar el “Agile Onion”</a:t>
            </a:r>
            <a:endParaRPr/>
          </a:p>
        </p:txBody>
      </p:sp>
      <p:sp>
        <p:nvSpPr>
          <p:cNvPr id="514" name="Google Shape;514;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525" name="Google Shape;525;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536" name="Google Shape;536;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562" name="Google Shape;562;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1: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5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582" name="Google Shape;582;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2: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5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PE"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t/>
            </a:r>
            <a:endParaRPr sz="1200">
              <a:latin typeface="Arial"/>
              <a:ea typeface="Arial"/>
              <a:cs typeface="Arial"/>
              <a:sym typeface="Arial"/>
            </a:endParaRPr>
          </a:p>
        </p:txBody>
      </p:sp>
      <p:sp>
        <p:nvSpPr>
          <p:cNvPr id="603" name="Google Shape;603;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3: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5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extLst>
    <p:ext uri="{DCECCB84-F9BA-43D5-87BE-67443E8EF086}">
      <p15:sldGuideLst>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y objetos">
  <p:cSld name="1_Título y objetos">
    <p:spTree>
      <p:nvGrpSpPr>
        <p:cNvPr id="17"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A">
  <p:cSld name="Subtema - 1 Imagen A">
    <p:spTree>
      <p:nvGrpSpPr>
        <p:cNvPr id="18" name="Shape 1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ítulo y objetos">
  <p:cSld name="4_Título y objetos">
    <p:spTree>
      <p:nvGrpSpPr>
        <p:cNvPr id="19" name="Shape 1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y objetos">
  <p:cSld name="2_Título y objetos">
    <p:spTree>
      <p:nvGrpSpPr>
        <p:cNvPr id="20" name="Shape 2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Video">
  <p:cSld name="Subtema - Video">
    <p:spTree>
      <p:nvGrpSpPr>
        <p:cNvPr id="21" name="Shape 2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B">
  <p:cSld name="Subtema - 1 Imagen B">
    <p:spTree>
      <p:nvGrpSpPr>
        <p:cNvPr id="22" name="Shape 2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Centrada">
  <p:cSld name="Subtema - 1 Imagen Centrada">
    <p:spTree>
      <p:nvGrpSpPr>
        <p:cNvPr id="23" name="Shape 2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2 Imágenes">
  <p:cSld name="Subtema - 2 Imágenes">
    <p:spTree>
      <p:nvGrpSpPr>
        <p:cNvPr id="24" name="Shape 2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Imagen Gigante">
  <p:cSld name="Subtema - Imagen Gigante">
    <p:spTree>
      <p:nvGrpSpPr>
        <p:cNvPr id="25"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7"/>
          <p:cNvGrpSpPr/>
          <p:nvPr/>
        </p:nvGrpSpPr>
        <p:grpSpPr>
          <a:xfrm>
            <a:off x="944054" y="5369051"/>
            <a:ext cx="7804380" cy="215444"/>
            <a:chOff x="944054" y="5369051"/>
            <a:chExt cx="7804380" cy="215444"/>
          </a:xfrm>
        </p:grpSpPr>
        <p:sp>
          <p:nvSpPr>
            <p:cNvPr id="11" name="Google Shape;11;p37"/>
            <p:cNvSpPr txBox="1"/>
            <p:nvPr/>
          </p:nvSpPr>
          <p:spPr>
            <a:xfrm>
              <a:off x="944054" y="5369051"/>
              <a:ext cx="3376245"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PE" sz="800" u="none" cap="none" strike="noStrike">
                  <a:solidFill>
                    <a:srgbClr val="7F7F7F"/>
                  </a:solidFill>
                  <a:latin typeface="Calibri"/>
                  <a:ea typeface="Calibri"/>
                  <a:cs typeface="Calibri"/>
                  <a:sym typeface="Calibri"/>
                </a:rPr>
                <a:t>CUSTOMER CENTRICITY PARA TECNOLOGÍAS DE INFORMACIÓN  •  TEMA 02</a:t>
              </a:r>
              <a:endParaRPr b="0" i="0" sz="800" u="none" cap="none" strike="noStrike">
                <a:solidFill>
                  <a:srgbClr val="7F7F7F"/>
                </a:solidFill>
                <a:latin typeface="Calibri"/>
                <a:ea typeface="Calibri"/>
                <a:cs typeface="Calibri"/>
                <a:sym typeface="Calibri"/>
              </a:endParaRPr>
            </a:p>
          </p:txBody>
        </p:sp>
        <p:sp>
          <p:nvSpPr>
            <p:cNvPr id="12" name="Google Shape;12;p37"/>
            <p:cNvSpPr/>
            <p:nvPr/>
          </p:nvSpPr>
          <p:spPr>
            <a:xfrm>
              <a:off x="7323044" y="5384440"/>
              <a:ext cx="1425390"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PE" sz="600" u="none" cap="none" strike="noStrike">
                  <a:solidFill>
                    <a:srgbClr val="7F7F7F"/>
                  </a:solidFill>
                  <a:latin typeface="Calibri"/>
                  <a:ea typeface="Calibri"/>
                  <a:cs typeface="Calibri"/>
                  <a:sym typeface="Calibri"/>
                </a:rPr>
                <a:t>©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37"/>
          <p:cNvPicPr preferRelativeResize="0"/>
          <p:nvPr/>
        </p:nvPicPr>
        <p:blipFill rotWithShape="1">
          <a:blip r:embed="rId1">
            <a:alphaModFix amt="20000"/>
          </a:blip>
          <a:srcRect b="0" l="0" r="0" t="0"/>
          <a:stretch/>
        </p:blipFill>
        <p:spPr>
          <a:xfrm>
            <a:off x="495300"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1800">
          <p15:clr>
            <a:srgbClr val="F26B43"/>
          </p15:clr>
        </p15:guide>
        <p15:guide id="3" orient="horz" pos="303">
          <p15:clr>
            <a:srgbClr val="F26B43"/>
          </p15:clr>
        </p15:guide>
        <p15:guide id="4" orient="horz" pos="575">
          <p15:clr>
            <a:srgbClr val="F26B43"/>
          </p15:clr>
        </p15:guide>
        <p15:guide id="5" orient="horz" pos="3297">
          <p15:clr>
            <a:srgbClr val="F26B43"/>
          </p15:clr>
        </p15:guide>
        <p15:guide id="6" pos="2767">
          <p15:clr>
            <a:srgbClr val="F26B43"/>
          </p15:clr>
        </p15:guide>
        <p15:guide id="7" pos="317">
          <p15:clr>
            <a:srgbClr val="F26B43"/>
          </p15:clr>
        </p15:guide>
        <p15:guide id="8" pos="2993">
          <p15:clr>
            <a:srgbClr val="F26B43"/>
          </p15:clr>
        </p15:guide>
        <p15:guide id="9" pos="54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hyperlink" Target="https://www.youtube.com/watch?v=bj9hQpYNqus" TargetMode="External"/><Relationship Id="rId5" Type="http://schemas.openxmlformats.org/officeDocument/2006/relationships/image" Target="../media/image16.png"/><Relationship Id="rId6" Type="http://schemas.openxmlformats.org/officeDocument/2006/relationships/image" Target="../media/image31.png"/><Relationship Id="rId7"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39.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9.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6.jp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5.jpg"/><Relationship Id="rId4" Type="http://schemas.openxmlformats.org/officeDocument/2006/relationships/hyperlink" Target="https://www.youtube.com/watch?v=13AaCIvZKtw" TargetMode="External"/><Relationship Id="rId5" Type="http://schemas.openxmlformats.org/officeDocument/2006/relationships/image" Target="../media/image16.png"/><Relationship Id="rId6" Type="http://schemas.openxmlformats.org/officeDocument/2006/relationships/image" Target="../media/image31.png"/><Relationship Id="rId7"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6.jp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6.jp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6.jp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6.jp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7.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www.collidu.com/presentation-agile-onion" TargetMode="External"/><Relationship Id="rId4" Type="http://schemas.openxmlformats.org/officeDocument/2006/relationships/hyperlink" Target="https://www.northware.mx/blog/desarrollo-en-cascada-waterfall-vs-desarrollo-agile-scrum/" TargetMode="External"/><Relationship Id="rId5" Type="http://schemas.openxmlformats.org/officeDocument/2006/relationships/hyperlink" Target="https://ronjeffries.com/articles/015-10/the-backlog/article.html" TargetMode="External"/><Relationship Id="rId6" Type="http://schemas.openxmlformats.org/officeDocument/2006/relationships/image" Target="../media/image41.png"/><Relationship Id="rId7"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
          <p:cNvSpPr/>
          <p:nvPr/>
        </p:nvSpPr>
        <p:spPr>
          <a:xfrm>
            <a:off x="358589" y="5233988"/>
            <a:ext cx="3777982" cy="41377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2" name="Google Shape;32;p1"/>
          <p:cNvSpPr/>
          <p:nvPr/>
        </p:nvSpPr>
        <p:spPr>
          <a:xfrm>
            <a:off x="503239" y="2079659"/>
            <a:ext cx="3213718" cy="984885"/>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2000"/>
              <a:buFont typeface="Arial"/>
              <a:buNone/>
            </a:pPr>
            <a:r>
              <a:rPr b="0" i="0" lang="es-PE" sz="2000" u="none" cap="none" strike="noStrike">
                <a:solidFill>
                  <a:srgbClr val="000000"/>
                </a:solidFill>
                <a:latin typeface="Arial"/>
                <a:ea typeface="Arial"/>
                <a:cs typeface="Arial"/>
                <a:sym typeface="Arial"/>
              </a:rPr>
              <a:t>INTEGRACIÓN </a:t>
            </a:r>
            <a:br>
              <a:rPr b="0" i="0" lang="es-PE" sz="2000" u="none" cap="none" strike="noStrike">
                <a:solidFill>
                  <a:srgbClr val="000000"/>
                </a:solidFill>
                <a:latin typeface="Arial"/>
                <a:ea typeface="Arial"/>
                <a:cs typeface="Arial"/>
                <a:sym typeface="Arial"/>
              </a:rPr>
            </a:br>
            <a:r>
              <a:rPr b="1" i="0" lang="es-PE" sz="2000" u="none" cap="none" strike="noStrike">
                <a:solidFill>
                  <a:srgbClr val="000000"/>
                </a:solidFill>
                <a:latin typeface="Arial"/>
                <a:ea typeface="Arial"/>
                <a:cs typeface="Arial"/>
                <a:sym typeface="Arial"/>
              </a:rPr>
              <a:t>DE CUSTOMER CENTRICITY EN METODOLOGÍAS ÁGILES</a:t>
            </a:r>
            <a:endParaRPr/>
          </a:p>
        </p:txBody>
      </p:sp>
      <p:sp>
        <p:nvSpPr>
          <p:cNvPr id="33" name="Google Shape;33;p1"/>
          <p:cNvSpPr/>
          <p:nvPr/>
        </p:nvSpPr>
        <p:spPr>
          <a:xfrm>
            <a:off x="503237" y="3303633"/>
            <a:ext cx="3213717" cy="1643527"/>
          </a:xfrm>
          <a:prstGeom prst="rect">
            <a:avLst/>
          </a:prstGeom>
          <a:noFill/>
          <a:ln>
            <a:noFill/>
          </a:ln>
        </p:spPr>
        <p:txBody>
          <a:bodyPr anchorCtr="0" anchor="t" bIns="0" lIns="0" spcFirstLastPara="1" rIns="0" wrap="square" tIns="0">
            <a:spAutoFit/>
          </a:bodyPr>
          <a:lstStyle/>
          <a:p>
            <a:pPr indent="-177800" lvl="0" marL="177800" marR="0" rtl="0" algn="l">
              <a:lnSpc>
                <a:spcPct val="120000"/>
              </a:lnSpc>
              <a:spcBef>
                <a:spcPts val="0"/>
              </a:spcBef>
              <a:spcAft>
                <a:spcPts val="0"/>
              </a:spcAft>
              <a:buClr>
                <a:srgbClr val="D41B46"/>
              </a:buClr>
              <a:buSzPts val="1200"/>
              <a:buFont typeface="Arial"/>
              <a:buChar char="•"/>
            </a:pPr>
            <a:r>
              <a:rPr b="0" i="0" lang="es-PE" sz="1100" u="none" cap="none" strike="noStrike">
                <a:solidFill>
                  <a:schemeClr val="dk1"/>
                </a:solidFill>
                <a:latin typeface="Arial"/>
                <a:ea typeface="Arial"/>
                <a:cs typeface="Arial"/>
                <a:sym typeface="Arial"/>
              </a:rPr>
              <a:t>Principios, valores y proceso del </a:t>
            </a:r>
            <a:br>
              <a:rPr b="0" i="0" lang="es-PE" sz="1100" u="none" cap="none" strike="noStrike">
                <a:solidFill>
                  <a:schemeClr val="dk1"/>
                </a:solidFill>
                <a:latin typeface="Arial"/>
                <a:ea typeface="Arial"/>
                <a:cs typeface="Arial"/>
                <a:sym typeface="Arial"/>
              </a:rPr>
            </a:br>
            <a:r>
              <a:rPr b="0" i="0" lang="es-PE" sz="1100" u="none" cap="none" strike="noStrike">
                <a:solidFill>
                  <a:schemeClr val="dk1"/>
                </a:solidFill>
                <a:latin typeface="Arial"/>
                <a:ea typeface="Arial"/>
                <a:cs typeface="Arial"/>
                <a:sym typeface="Arial"/>
              </a:rPr>
              <a:t>desarrollo ágil</a:t>
            </a:r>
            <a:endParaRPr/>
          </a:p>
          <a:p>
            <a:pPr indent="-177800" lvl="0" marL="177800" marR="0" rtl="0" algn="l">
              <a:lnSpc>
                <a:spcPct val="120000"/>
              </a:lnSpc>
              <a:spcBef>
                <a:spcPts val="0"/>
              </a:spcBef>
              <a:spcAft>
                <a:spcPts val="0"/>
              </a:spcAft>
              <a:buClr>
                <a:srgbClr val="D41B46"/>
              </a:buClr>
              <a:buSzPts val="1200"/>
              <a:buFont typeface="Arial"/>
              <a:buChar char="•"/>
            </a:pPr>
            <a:r>
              <a:rPr b="0" i="0" lang="es-PE" sz="1100" u="none" cap="none" strike="noStrike">
                <a:solidFill>
                  <a:schemeClr val="dk1"/>
                </a:solidFill>
                <a:latin typeface="Arial"/>
                <a:ea typeface="Arial"/>
                <a:cs typeface="Arial"/>
                <a:sym typeface="Arial"/>
              </a:rPr>
              <a:t>Roles y responsabilidades en equipos ágiles</a:t>
            </a:r>
            <a:endParaRPr/>
          </a:p>
          <a:p>
            <a:pPr indent="-177800" lvl="0" marL="177800" marR="0" rtl="0" algn="l">
              <a:lnSpc>
                <a:spcPct val="120000"/>
              </a:lnSpc>
              <a:spcBef>
                <a:spcPts val="0"/>
              </a:spcBef>
              <a:spcAft>
                <a:spcPts val="0"/>
              </a:spcAft>
              <a:buClr>
                <a:srgbClr val="D41B46"/>
              </a:buClr>
              <a:buSzPts val="1200"/>
              <a:buFont typeface="Arial"/>
              <a:buChar char="•"/>
            </a:pPr>
            <a:r>
              <a:rPr b="0" i="0" lang="es-PE" sz="1100" u="none" cap="none" strike="noStrike">
                <a:solidFill>
                  <a:schemeClr val="dk1"/>
                </a:solidFill>
                <a:latin typeface="Arial"/>
                <a:ea typeface="Arial"/>
                <a:cs typeface="Arial"/>
                <a:sym typeface="Arial"/>
              </a:rPr>
              <a:t>Rol del equipo de tecnología en los framework customer - centric</a:t>
            </a:r>
            <a:endParaRPr b="0" i="0" sz="1100" u="none" cap="none" strike="noStrike">
              <a:solidFill>
                <a:schemeClr val="dk1"/>
              </a:solidFill>
              <a:latin typeface="Arial"/>
              <a:ea typeface="Arial"/>
              <a:cs typeface="Arial"/>
              <a:sym typeface="Arial"/>
            </a:endParaRPr>
          </a:p>
          <a:p>
            <a:pPr indent="-177800" lvl="0" marL="177800" marR="0" rtl="0" algn="l">
              <a:lnSpc>
                <a:spcPct val="120000"/>
              </a:lnSpc>
              <a:spcBef>
                <a:spcPts val="0"/>
              </a:spcBef>
              <a:spcAft>
                <a:spcPts val="0"/>
              </a:spcAft>
              <a:buClr>
                <a:srgbClr val="D41B46"/>
              </a:buClr>
              <a:buSzPts val="1200"/>
              <a:buFont typeface="Arial"/>
              <a:buChar char="•"/>
            </a:pPr>
            <a:r>
              <a:rPr b="0" i="0" lang="es-PE" sz="1100" u="none" cap="none" strike="noStrike">
                <a:solidFill>
                  <a:schemeClr val="dk1"/>
                </a:solidFill>
                <a:latin typeface="Arial"/>
                <a:ea typeface="Arial"/>
                <a:cs typeface="Arial"/>
                <a:sym typeface="Arial"/>
              </a:rPr>
              <a:t>Mitos y prácticas de tecnología en framework ágiles</a:t>
            </a:r>
            <a:endParaRPr/>
          </a:p>
          <a:p>
            <a:pPr indent="-57150" lvl="0" marL="133350" marR="0" rtl="0" algn="l">
              <a:lnSpc>
                <a:spcPct val="120000"/>
              </a:lnSpc>
              <a:spcBef>
                <a:spcPts val="0"/>
              </a:spcBef>
              <a:spcAft>
                <a:spcPts val="0"/>
              </a:spcAft>
              <a:buClr>
                <a:srgbClr val="D41B46"/>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4" name="Google Shape;34;p1"/>
          <p:cNvSpPr txBox="1"/>
          <p:nvPr/>
        </p:nvSpPr>
        <p:spPr>
          <a:xfrm>
            <a:off x="743902" y="1721475"/>
            <a:ext cx="1457648"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s-PE" sz="2000" u="none" cap="none" strike="noStrike">
                <a:solidFill>
                  <a:srgbClr val="D41B46"/>
                </a:solidFill>
                <a:latin typeface="Calibri"/>
                <a:ea typeface="Calibri"/>
                <a:cs typeface="Calibri"/>
                <a:sym typeface="Calibri"/>
              </a:rPr>
              <a:t>TEMA 02</a:t>
            </a:r>
            <a:endParaRPr b="0" i="0" sz="1400" u="none" cap="none" strike="noStrike">
              <a:solidFill>
                <a:srgbClr val="D41B46"/>
              </a:solidFill>
              <a:latin typeface="Arial"/>
              <a:ea typeface="Arial"/>
              <a:cs typeface="Arial"/>
              <a:sym typeface="Arial"/>
            </a:endParaRPr>
          </a:p>
        </p:txBody>
      </p:sp>
      <p:pic>
        <p:nvPicPr>
          <p:cNvPr id="35" name="Google Shape;35;p1"/>
          <p:cNvPicPr preferRelativeResize="0"/>
          <p:nvPr/>
        </p:nvPicPr>
        <p:blipFill rotWithShape="1">
          <a:blip r:embed="rId3">
            <a:alphaModFix/>
          </a:blip>
          <a:srcRect b="0" l="0" r="0" t="0"/>
          <a:stretch/>
        </p:blipFill>
        <p:spPr>
          <a:xfrm>
            <a:off x="507464" y="1785500"/>
            <a:ext cx="166865" cy="170453"/>
          </a:xfrm>
          <a:prstGeom prst="rect">
            <a:avLst/>
          </a:prstGeom>
          <a:noFill/>
          <a:ln>
            <a:noFill/>
          </a:ln>
        </p:spPr>
      </p:pic>
      <p:sp>
        <p:nvSpPr>
          <p:cNvPr id="36" name="Google Shape;36;p1"/>
          <p:cNvSpPr txBox="1"/>
          <p:nvPr/>
        </p:nvSpPr>
        <p:spPr>
          <a:xfrm>
            <a:off x="503238" y="808689"/>
            <a:ext cx="3104743" cy="1384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s-PE" sz="900" u="none" cap="none" strike="noStrike">
                <a:solidFill>
                  <a:srgbClr val="7F7F7F"/>
                </a:solidFill>
                <a:latin typeface="Calibri"/>
                <a:ea typeface="Calibri"/>
                <a:cs typeface="Calibri"/>
                <a:sym typeface="Calibri"/>
              </a:rPr>
              <a:t>COSTUMER CENTRICITY EN TECNOLOGÍAS DE INFORMACIÓN </a:t>
            </a:r>
            <a:endParaRPr b="0" i="0" sz="1400" u="none" cap="none" strike="noStrike">
              <a:solidFill>
                <a:srgbClr val="000000"/>
              </a:solidFill>
              <a:latin typeface="Arial"/>
              <a:ea typeface="Arial"/>
              <a:cs typeface="Arial"/>
              <a:sym typeface="Arial"/>
            </a:endParaRPr>
          </a:p>
        </p:txBody>
      </p:sp>
      <p:pic>
        <p:nvPicPr>
          <p:cNvPr id="37" name="Google Shape;37;p1"/>
          <p:cNvPicPr preferRelativeResize="0"/>
          <p:nvPr/>
        </p:nvPicPr>
        <p:blipFill rotWithShape="1">
          <a:blip r:embed="rId4">
            <a:alphaModFix/>
          </a:blip>
          <a:srcRect b="0" l="0" r="0" t="0"/>
          <a:stretch/>
        </p:blipFill>
        <p:spPr>
          <a:xfrm>
            <a:off x="3752037" y="0"/>
            <a:ext cx="5391150" cy="571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50"/>
          <p:cNvSpPr/>
          <p:nvPr/>
        </p:nvSpPr>
        <p:spPr>
          <a:xfrm>
            <a:off x="0" y="0"/>
            <a:ext cx="9144000" cy="5715000"/>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3" name="Google Shape;43;p50"/>
          <p:cNvPicPr preferRelativeResize="0"/>
          <p:nvPr/>
        </p:nvPicPr>
        <p:blipFill rotWithShape="1">
          <a:blip r:embed="rId3">
            <a:alphaModFix/>
          </a:blip>
          <a:srcRect b="0" l="0" r="0" t="0"/>
          <a:stretch/>
        </p:blipFill>
        <p:spPr>
          <a:xfrm>
            <a:off x="1" y="946969"/>
            <a:ext cx="2072213" cy="3898064"/>
          </a:xfrm>
          <a:prstGeom prst="rect">
            <a:avLst/>
          </a:prstGeom>
          <a:noFill/>
          <a:ln>
            <a:noFill/>
          </a:ln>
        </p:spPr>
      </p:pic>
      <p:sp>
        <p:nvSpPr>
          <p:cNvPr id="44" name="Google Shape;44;p50"/>
          <p:cNvSpPr txBox="1"/>
          <p:nvPr/>
        </p:nvSpPr>
        <p:spPr>
          <a:xfrm>
            <a:off x="2519363" y="2540738"/>
            <a:ext cx="4581728" cy="81253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3300"/>
              <a:buFont typeface="Arial"/>
              <a:buNone/>
            </a:pPr>
            <a:r>
              <a:rPr b="0" i="0" lang="es-PE" sz="3300" u="none" cap="none" strike="noStrike">
                <a:solidFill>
                  <a:schemeClr val="lt1"/>
                </a:solidFill>
                <a:latin typeface="Arial"/>
                <a:ea typeface="Arial"/>
                <a:cs typeface="Arial"/>
                <a:sym typeface="Arial"/>
              </a:rPr>
              <a:t>INTRODUCCIÓN</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3300"/>
              <a:buFont typeface="Arial"/>
              <a:buNone/>
            </a:pPr>
            <a:r>
              <a:rPr b="0" i="0" lang="es-PE" sz="3300" u="none" cap="none" strike="noStrike">
                <a:solidFill>
                  <a:schemeClr val="lt1"/>
                </a:solidFill>
                <a:latin typeface="Arial"/>
                <a:ea typeface="Arial"/>
                <a:cs typeface="Arial"/>
                <a:sym typeface="Arial"/>
              </a:rPr>
              <a:t>DE LA SESIÓN</a:t>
            </a:r>
            <a:endParaRPr b="0" i="0" sz="1400" u="none" cap="none" strike="noStrike">
              <a:solidFill>
                <a:srgbClr val="000000"/>
              </a:solidFill>
              <a:latin typeface="Arial"/>
              <a:ea typeface="Arial"/>
              <a:cs typeface="Arial"/>
              <a:sym typeface="Arial"/>
            </a:endParaRPr>
          </a:p>
        </p:txBody>
      </p:sp>
      <p:pic>
        <p:nvPicPr>
          <p:cNvPr id="45" name="Google Shape;45;p50"/>
          <p:cNvPicPr preferRelativeResize="0"/>
          <p:nvPr/>
        </p:nvPicPr>
        <p:blipFill rotWithShape="1">
          <a:blip r:embed="rId4">
            <a:alphaModFix/>
          </a:blip>
          <a:srcRect b="0" l="0" r="0" t="0"/>
          <a:stretch/>
        </p:blipFill>
        <p:spPr>
          <a:xfrm>
            <a:off x="2528619" y="2194222"/>
            <a:ext cx="202176" cy="2082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nvSpPr>
        <p:spPr>
          <a:xfrm>
            <a:off x="1282299" y="918372"/>
            <a:ext cx="5704362" cy="3877985"/>
          </a:xfrm>
          <a:prstGeom prst="rect">
            <a:avLst/>
          </a:prstGeom>
          <a:noFill/>
          <a:ln>
            <a:noFill/>
          </a:ln>
        </p:spPr>
        <p:txBody>
          <a:bodyPr anchorCtr="0" anchor="t" bIns="0" lIns="0" spcFirstLastPara="1" rIns="0" wrap="square" tIns="0">
            <a:spAutoFit/>
          </a:bodyPr>
          <a:lstStyle/>
          <a:p>
            <a:pPr indent="1588" lvl="0" marL="95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En un contexto donde la competencia es intensa y las expectativas de los clientes están en constante evolución, integrar la orientación al cliente dentro de la agilidad se ha vuelto una necesidad imperativa. Las organizaciones buscan no solo adaptarse rápidamente a los cambios, sino también ofrecer productos y servicios que realmente resuenen con sus clientes. Este enfoque centrado en el cliente, combinado con framework ágiles, permite a las empresas ser más flexibles, innovadoras y efectivas en la entrega de valor.</a:t>
            </a:r>
            <a:endParaRPr b="0" i="0" sz="1400" u="none" cap="none" strike="noStrike">
              <a:solidFill>
                <a:srgbClr val="000000"/>
              </a:solidFill>
              <a:latin typeface="Calibri"/>
              <a:ea typeface="Calibri"/>
              <a:cs typeface="Calibri"/>
              <a:sym typeface="Calibri"/>
            </a:endParaRPr>
          </a:p>
          <a:p>
            <a:pPr indent="1588" lvl="0" marL="9525" marR="0" rtl="0" algn="l">
              <a:lnSpc>
                <a:spcPct val="100000"/>
              </a:lnSpc>
              <a:spcBef>
                <a:spcPts val="0"/>
              </a:spcBef>
              <a:spcAft>
                <a:spcPts val="0"/>
              </a:spcAft>
              <a:buNone/>
            </a:pPr>
            <a:r>
              <a:t/>
            </a:r>
            <a:endParaRPr b="0" i="0" sz="1400" u="none" cap="none" strike="noStrike">
              <a:solidFill>
                <a:srgbClr val="262626"/>
              </a:solidFill>
              <a:latin typeface="Calibri"/>
              <a:ea typeface="Calibri"/>
              <a:cs typeface="Calibri"/>
              <a:sym typeface="Calibri"/>
            </a:endParaRPr>
          </a:p>
          <a:p>
            <a:pPr indent="1588" lvl="0" marL="95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Responderemos a:</a:t>
            </a:r>
            <a:endParaRPr b="0" i="0" sz="1400" u="none" cap="none" strike="noStrike">
              <a:solidFill>
                <a:srgbClr val="000000"/>
              </a:solidFill>
              <a:latin typeface="Calibri"/>
              <a:ea typeface="Calibri"/>
              <a:cs typeface="Calibri"/>
              <a:sym typeface="Calibri"/>
            </a:endParaRPr>
          </a:p>
          <a:p>
            <a:pPr indent="-169863" lvl="1" marL="179388" marR="0" rtl="0" algn="l">
              <a:lnSpc>
                <a:spcPct val="100000"/>
              </a:lnSpc>
              <a:spcBef>
                <a:spcPts val="0"/>
              </a:spcBef>
              <a:spcAft>
                <a:spcPts val="0"/>
              </a:spcAft>
              <a:buClr>
                <a:srgbClr val="ED4341"/>
              </a:buClr>
              <a:buSzPts val="1400"/>
              <a:buFont typeface="Arial"/>
              <a:buChar char="•"/>
            </a:pPr>
            <a:r>
              <a:rPr b="0" i="0" lang="es-PE" sz="1400" u="none" cap="none" strike="noStrike">
                <a:solidFill>
                  <a:srgbClr val="262626"/>
                </a:solidFill>
                <a:latin typeface="Calibri"/>
                <a:ea typeface="Calibri"/>
                <a:cs typeface="Calibri"/>
                <a:sym typeface="Calibri"/>
              </a:rPr>
              <a:t>¿Cómo los principios, valores y procesos del desarrollo ágil pueden alinearse con un enfoque centrado en el cliente?</a:t>
            </a:r>
            <a:endParaRPr/>
          </a:p>
          <a:p>
            <a:pPr indent="-169863" lvl="1" marL="179388" marR="0" rtl="0" algn="l">
              <a:lnSpc>
                <a:spcPct val="100000"/>
              </a:lnSpc>
              <a:spcBef>
                <a:spcPts val="0"/>
              </a:spcBef>
              <a:spcAft>
                <a:spcPts val="0"/>
              </a:spcAft>
              <a:buClr>
                <a:srgbClr val="ED4341"/>
              </a:buClr>
              <a:buSzPts val="1400"/>
              <a:buFont typeface="Arial"/>
              <a:buChar char="•"/>
            </a:pPr>
            <a:r>
              <a:rPr b="0" i="0" lang="es-PE" sz="1400" u="none" cap="none" strike="noStrike">
                <a:solidFill>
                  <a:srgbClr val="262626"/>
                </a:solidFill>
                <a:latin typeface="Calibri"/>
                <a:ea typeface="Calibri"/>
                <a:cs typeface="Calibri"/>
                <a:sym typeface="Calibri"/>
              </a:rPr>
              <a:t>¿Cuáles son los roles y responsabilidades dentro de los equipos ágiles?</a:t>
            </a:r>
            <a:endParaRPr/>
          </a:p>
          <a:p>
            <a:pPr indent="-169863" lvl="1" marL="179388" marR="0" rtl="0" algn="l">
              <a:lnSpc>
                <a:spcPct val="100000"/>
              </a:lnSpc>
              <a:spcBef>
                <a:spcPts val="0"/>
              </a:spcBef>
              <a:spcAft>
                <a:spcPts val="0"/>
              </a:spcAft>
              <a:buClr>
                <a:srgbClr val="ED4341"/>
              </a:buClr>
              <a:buSzPts val="1400"/>
              <a:buFont typeface="Arial"/>
              <a:buChar char="•"/>
            </a:pPr>
            <a:r>
              <a:rPr b="0" i="0" lang="es-PE" sz="1400" u="none" cap="none" strike="noStrike">
                <a:solidFill>
                  <a:srgbClr val="262626"/>
                </a:solidFill>
                <a:latin typeface="Calibri"/>
                <a:ea typeface="Calibri"/>
                <a:cs typeface="Calibri"/>
                <a:sym typeface="Calibri"/>
              </a:rPr>
              <a:t>¿Cómo se integran los mundos de Tecnología, Agilidad &amp; Customer Centricity?</a:t>
            </a:r>
            <a:endParaRPr b="0" i="0" sz="1400" u="none" cap="none" strike="noStrike">
              <a:solidFill>
                <a:srgbClr val="000000"/>
              </a:solidFill>
              <a:latin typeface="Calibri"/>
              <a:ea typeface="Calibri"/>
              <a:cs typeface="Calibri"/>
              <a:sym typeface="Calibri"/>
            </a:endParaRPr>
          </a:p>
          <a:p>
            <a:pPr indent="1588" lvl="0" marL="9525" marR="0" rtl="0" algn="l">
              <a:lnSpc>
                <a:spcPct val="100000"/>
              </a:lnSpc>
              <a:spcBef>
                <a:spcPts val="0"/>
              </a:spcBef>
              <a:spcAft>
                <a:spcPts val="0"/>
              </a:spcAft>
              <a:buNone/>
            </a:pPr>
            <a:r>
              <a:t/>
            </a:r>
            <a:endParaRPr b="0" i="0" sz="1400" u="none" cap="none" strike="noStrike">
              <a:solidFill>
                <a:srgbClr val="262626"/>
              </a:solidFill>
              <a:latin typeface="Calibri"/>
              <a:ea typeface="Calibri"/>
              <a:cs typeface="Calibri"/>
              <a:sym typeface="Calibri"/>
            </a:endParaRPr>
          </a:p>
          <a:p>
            <a:pPr indent="1588" lvl="0" marL="95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Al finalizar, los participantes tendrán una comprensión integral de cómo integrar eficazmente la orientación al cliente dentro de la agilidad, creando así equipos más cohesivos y productos más exitosos.</a:t>
            </a:r>
            <a:endParaRPr/>
          </a:p>
        </p:txBody>
      </p:sp>
      <p:pic>
        <p:nvPicPr>
          <p:cNvPr id="52" name="Google Shape;52;p2"/>
          <p:cNvPicPr preferRelativeResize="0"/>
          <p:nvPr/>
        </p:nvPicPr>
        <p:blipFill rotWithShape="1">
          <a:blip r:embed="rId3">
            <a:alphaModFix amt="42000"/>
          </a:blip>
          <a:srcRect b="0" l="0" r="0" t="0"/>
          <a:stretch/>
        </p:blipFill>
        <p:spPr>
          <a:xfrm>
            <a:off x="6986661" y="3052731"/>
            <a:ext cx="1689027" cy="2181257"/>
          </a:xfrm>
          <a:prstGeom prst="rect">
            <a:avLst/>
          </a:prstGeom>
          <a:noFill/>
          <a:ln>
            <a:noFill/>
          </a:ln>
        </p:spPr>
      </p:pic>
      <p:sp>
        <p:nvSpPr>
          <p:cNvPr id="53" name="Google Shape;53;p2"/>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INTRODUCCIÓN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182879" y="5233989"/>
            <a:ext cx="8492809" cy="3529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5" name="Google Shape;55;p2"/>
          <p:cNvPicPr preferRelativeResize="0"/>
          <p:nvPr/>
        </p:nvPicPr>
        <p:blipFill rotWithShape="1">
          <a:blip r:embed="rId4">
            <a:alphaModFix/>
          </a:blip>
          <a:srcRect b="0" l="0" r="0" t="0"/>
          <a:stretch/>
        </p:blipFill>
        <p:spPr>
          <a:xfrm>
            <a:off x="1010839" y="961074"/>
            <a:ext cx="117851" cy="121369"/>
          </a:xfrm>
          <a:prstGeom prst="rect">
            <a:avLst/>
          </a:prstGeom>
          <a:noFill/>
          <a:ln>
            <a:noFill/>
          </a:ln>
        </p:spPr>
      </p:pic>
      <p:pic>
        <p:nvPicPr>
          <p:cNvPr id="56" name="Google Shape;56;p2"/>
          <p:cNvPicPr preferRelativeResize="0"/>
          <p:nvPr/>
        </p:nvPicPr>
        <p:blipFill rotWithShape="1">
          <a:blip r:embed="rId4">
            <a:alphaModFix/>
          </a:blip>
          <a:srcRect b="0" l="0" r="0" t="0"/>
          <a:stretch/>
        </p:blipFill>
        <p:spPr>
          <a:xfrm>
            <a:off x="1010839" y="2666730"/>
            <a:ext cx="117851" cy="121369"/>
          </a:xfrm>
          <a:prstGeom prst="rect">
            <a:avLst/>
          </a:prstGeom>
          <a:noFill/>
          <a:ln>
            <a:noFill/>
          </a:ln>
        </p:spPr>
      </p:pic>
      <p:pic>
        <p:nvPicPr>
          <p:cNvPr id="57" name="Google Shape;57;p2"/>
          <p:cNvPicPr preferRelativeResize="0"/>
          <p:nvPr/>
        </p:nvPicPr>
        <p:blipFill rotWithShape="1">
          <a:blip r:embed="rId4">
            <a:alphaModFix/>
          </a:blip>
          <a:srcRect b="0" l="0" r="0" t="0"/>
          <a:stretch/>
        </p:blipFill>
        <p:spPr>
          <a:xfrm>
            <a:off x="1010839" y="4162837"/>
            <a:ext cx="117851" cy="1213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 name="Google Shape;64;p3"/>
          <p:cNvSpPr txBox="1"/>
          <p:nvPr/>
        </p:nvSpPr>
        <p:spPr>
          <a:xfrm>
            <a:off x="1008063" y="3157860"/>
            <a:ext cx="6775488"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800"/>
              <a:buFont typeface="Arial"/>
              <a:buNone/>
            </a:pPr>
            <a:r>
              <a:rPr b="0" i="0" lang="es-PE" sz="2800" u="none" cap="none" strike="noStrike">
                <a:solidFill>
                  <a:schemeClr val="lt1"/>
                </a:solidFill>
                <a:latin typeface="Arial"/>
                <a:ea typeface="Arial"/>
                <a:cs typeface="Arial"/>
                <a:sym typeface="Arial"/>
              </a:rPr>
              <a:t>PRINCIPIOS, VALORES </a:t>
            </a:r>
            <a:endParaRPr/>
          </a:p>
          <a:p>
            <a:pPr indent="0" lvl="0" marL="0" marR="0" rtl="0" algn="l">
              <a:lnSpc>
                <a:spcPct val="90000"/>
              </a:lnSpc>
              <a:spcBef>
                <a:spcPts val="0"/>
              </a:spcBef>
              <a:spcAft>
                <a:spcPts val="0"/>
              </a:spcAft>
              <a:buClr>
                <a:srgbClr val="000000"/>
              </a:buClr>
              <a:buSzPts val="2800"/>
              <a:buFont typeface="Arial"/>
              <a:buNone/>
            </a:pPr>
            <a:r>
              <a:rPr b="1" i="0" lang="es-PE" sz="2800" u="none" cap="none" strike="noStrike">
                <a:solidFill>
                  <a:schemeClr val="lt1"/>
                </a:solidFill>
                <a:latin typeface="Arial"/>
                <a:ea typeface="Arial"/>
                <a:cs typeface="Arial"/>
                <a:sym typeface="Arial"/>
              </a:rPr>
              <a:t>Y PROCESO DEL DESARROLLO ÁGIL </a:t>
            </a:r>
            <a:endParaRPr b="1" i="0" sz="2800" u="none" cap="none" strike="noStrike">
              <a:solidFill>
                <a:schemeClr val="lt1"/>
              </a:solidFill>
              <a:latin typeface="Arial"/>
              <a:ea typeface="Arial"/>
              <a:cs typeface="Arial"/>
              <a:sym typeface="Arial"/>
            </a:endParaRPr>
          </a:p>
        </p:txBody>
      </p:sp>
      <p:pic>
        <p:nvPicPr>
          <p:cNvPr id="65" name="Google Shape;65;p3"/>
          <p:cNvPicPr preferRelativeResize="0"/>
          <p:nvPr/>
        </p:nvPicPr>
        <p:blipFill rotWithShape="1">
          <a:blip r:embed="rId3">
            <a:alphaModFix/>
          </a:blip>
          <a:srcRect b="0" l="0" r="0" t="0"/>
          <a:stretch/>
        </p:blipFill>
        <p:spPr>
          <a:xfrm>
            <a:off x="1008063" y="2857500"/>
            <a:ext cx="195423" cy="2012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nvSpPr>
        <p:spPr>
          <a:xfrm>
            <a:off x="3608124" y="2058820"/>
            <a:ext cx="3152807" cy="159736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s-PE" sz="2800" u="none" cap="none" strike="noStrike">
                <a:solidFill>
                  <a:schemeClr val="dk1"/>
                </a:solidFill>
                <a:latin typeface="Arial"/>
                <a:ea typeface="Arial"/>
                <a:cs typeface="Arial"/>
                <a:sym typeface="Arial"/>
              </a:rPr>
              <a:t>EN UNA FRASE </a:t>
            </a:r>
            <a:br>
              <a:rPr b="0" i="0" lang="es-PE" sz="2800" u="none" cap="none" strike="noStrike">
                <a:solidFill>
                  <a:schemeClr val="dk1"/>
                </a:solidFill>
                <a:latin typeface="Arial"/>
                <a:ea typeface="Arial"/>
                <a:cs typeface="Arial"/>
                <a:sym typeface="Arial"/>
              </a:rPr>
            </a:br>
            <a:r>
              <a:rPr b="0" i="0" lang="es-PE" sz="2800" u="none" cap="none" strike="noStrike">
                <a:solidFill>
                  <a:schemeClr val="dk1"/>
                </a:solidFill>
                <a:latin typeface="Arial"/>
                <a:ea typeface="Arial"/>
                <a:cs typeface="Arial"/>
                <a:sym typeface="Arial"/>
              </a:rPr>
              <a:t>O PALABRA</a:t>
            </a:r>
            <a:endParaRPr b="0" i="0" sz="2800" u="none" cap="none" strike="noStrike">
              <a:solidFill>
                <a:schemeClr val="dk1"/>
              </a:solidFill>
              <a:latin typeface="Arial"/>
              <a:ea typeface="Arial"/>
              <a:cs typeface="Arial"/>
              <a:sym typeface="Arial"/>
            </a:endParaRPr>
          </a:p>
          <a:p>
            <a:pPr indent="0" lvl="0" marL="0" marR="0" rtl="0" algn="l">
              <a:lnSpc>
                <a:spcPct val="75000"/>
              </a:lnSpc>
              <a:spcBef>
                <a:spcPts val="600"/>
              </a:spcBef>
              <a:spcAft>
                <a:spcPts val="0"/>
              </a:spcAft>
              <a:buClr>
                <a:srgbClr val="000000"/>
              </a:buClr>
              <a:buSzPts val="3600"/>
              <a:buFont typeface="Arial"/>
              <a:buNone/>
            </a:pPr>
            <a:r>
              <a:rPr b="1" i="0" lang="es-PE" sz="3600" u="none" cap="none" strike="noStrike">
                <a:solidFill>
                  <a:srgbClr val="92C14D"/>
                </a:solidFill>
                <a:latin typeface="Arial"/>
                <a:ea typeface="Arial"/>
                <a:cs typeface="Arial"/>
                <a:sym typeface="Arial"/>
              </a:rPr>
              <a:t>¿QUÉ ES LA AGILIDAD?</a:t>
            </a:r>
            <a:endParaRPr b="1" i="0" sz="3600" u="none" cap="none" strike="noStrike">
              <a:solidFill>
                <a:srgbClr val="92C14D"/>
              </a:solidFill>
              <a:latin typeface="Arial"/>
              <a:ea typeface="Arial"/>
              <a:cs typeface="Arial"/>
              <a:sym typeface="Arial"/>
            </a:endParaRPr>
          </a:p>
        </p:txBody>
      </p:sp>
      <p:pic>
        <p:nvPicPr>
          <p:cNvPr id="72" name="Google Shape;72;p4"/>
          <p:cNvPicPr preferRelativeResize="0"/>
          <p:nvPr/>
        </p:nvPicPr>
        <p:blipFill rotWithShape="1">
          <a:blip r:embed="rId3">
            <a:alphaModFix/>
          </a:blip>
          <a:srcRect b="0" l="0" r="0" t="0"/>
          <a:stretch/>
        </p:blipFill>
        <p:spPr>
          <a:xfrm>
            <a:off x="2091405" y="1869981"/>
            <a:ext cx="1222115" cy="1204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nvSpPr>
        <p:spPr>
          <a:xfrm>
            <a:off x="503238" y="912813"/>
            <a:ext cx="3889375" cy="4016484"/>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AGILIDAD</a:t>
            </a:r>
            <a:endParaRPr b="1" i="0" sz="1600" u="none" cap="none" strike="noStrike">
              <a:solidFill>
                <a:srgbClr val="262626"/>
              </a:solidFill>
              <a:latin typeface="Calibri"/>
              <a:ea typeface="Calibri"/>
              <a:cs typeface="Calibri"/>
              <a:sym typeface="Calibri"/>
            </a:endParaRPr>
          </a:p>
          <a:p>
            <a:pPr indent="-168275" lvl="0" marL="179388" marR="0" rtl="0" algn="l">
              <a:lnSpc>
                <a:spcPct val="100000"/>
              </a:lnSpc>
              <a:spcBef>
                <a:spcPts val="60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Es un </a:t>
            </a:r>
            <a:r>
              <a:rPr b="1" i="0" lang="es-PE" sz="1600" u="none" cap="none" strike="noStrike">
                <a:solidFill>
                  <a:srgbClr val="00B2C2"/>
                </a:solidFill>
                <a:latin typeface="Calibri"/>
                <a:ea typeface="Calibri"/>
                <a:cs typeface="Calibri"/>
                <a:sym typeface="Calibri"/>
              </a:rPr>
              <a:t>Mindset</a:t>
            </a:r>
            <a:r>
              <a:rPr b="0" i="0" lang="es-PE" sz="1600" u="none" cap="none" strike="noStrike">
                <a:solidFill>
                  <a:srgbClr val="262626"/>
                </a:solidFill>
                <a:latin typeface="Calibri"/>
                <a:ea typeface="Calibri"/>
                <a:cs typeface="Calibri"/>
                <a:sym typeface="Calibri"/>
              </a:rPr>
              <a:t> diseñado para mejorar la capacidad de un equipo / organización </a:t>
            </a:r>
            <a:r>
              <a:rPr b="1" i="0" lang="es-PE" sz="1600" u="none" cap="none" strike="noStrike">
                <a:solidFill>
                  <a:srgbClr val="00B2C2"/>
                </a:solidFill>
                <a:latin typeface="Calibri"/>
                <a:ea typeface="Calibri"/>
                <a:cs typeface="Calibri"/>
                <a:sym typeface="Calibri"/>
              </a:rPr>
              <a:t>para</a:t>
            </a:r>
            <a:r>
              <a:rPr b="0" i="0" lang="es-PE" sz="1600" u="none" cap="none" strike="noStrike">
                <a:solidFill>
                  <a:srgbClr val="00B2C2"/>
                </a:solidFill>
                <a:latin typeface="Calibri"/>
                <a:ea typeface="Calibri"/>
                <a:cs typeface="Calibri"/>
                <a:sym typeface="Calibri"/>
              </a:rPr>
              <a:t> </a:t>
            </a:r>
            <a:r>
              <a:rPr b="1" i="0" lang="es-PE" sz="1600" u="none" cap="none" strike="noStrike">
                <a:solidFill>
                  <a:srgbClr val="00B2C2"/>
                </a:solidFill>
                <a:latin typeface="Calibri"/>
                <a:ea typeface="Calibri"/>
                <a:cs typeface="Calibri"/>
                <a:sym typeface="Calibri"/>
              </a:rPr>
              <a:t>ser más competitivo</a:t>
            </a:r>
            <a:r>
              <a:rPr b="0" i="0" lang="es-PE" sz="1600" u="none" cap="none" strike="noStrike">
                <a:solidFill>
                  <a:srgbClr val="262626"/>
                </a:solidFill>
                <a:latin typeface="Calibri"/>
                <a:ea typeface="Calibri"/>
                <a:cs typeface="Calibri"/>
                <a:sym typeface="Calibri"/>
              </a:rPr>
              <a:t>, a través de la adaptación a cambios y entregas de resultados de alta calidad. </a:t>
            </a:r>
            <a:endParaRPr b="0" i="0" sz="1600" u="none" cap="none" strike="noStrike">
              <a:solidFill>
                <a:srgbClr val="262626"/>
              </a:solidFill>
              <a:latin typeface="Calibri"/>
              <a:ea typeface="Calibri"/>
              <a:cs typeface="Calibri"/>
              <a:sym typeface="Calibri"/>
            </a:endParaRPr>
          </a:p>
          <a:p>
            <a:pPr indent="-66675" lvl="0" marL="179388" marR="0" rtl="0" algn="l">
              <a:lnSpc>
                <a:spcPct val="100000"/>
              </a:lnSpc>
              <a:spcBef>
                <a:spcPts val="0"/>
              </a:spcBef>
              <a:spcAft>
                <a:spcPts val="0"/>
              </a:spcAft>
              <a:buClr>
                <a:schemeClr val="dk1"/>
              </a:buClr>
              <a:buSzPts val="1600"/>
              <a:buFont typeface="Arial"/>
              <a:buNone/>
            </a:pPr>
            <a:r>
              <a:t/>
            </a:r>
            <a:endParaRPr b="0" i="0" sz="1600" u="none" cap="none" strike="noStrike">
              <a:solidFill>
                <a:srgbClr val="262626"/>
              </a:solidFill>
              <a:latin typeface="Calibri"/>
              <a:ea typeface="Calibri"/>
              <a:cs typeface="Calibri"/>
              <a:sym typeface="Calibri"/>
            </a:endParaRPr>
          </a:p>
          <a:p>
            <a:pPr indent="-168275" lvl="0" marL="179388"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Esta enfatiza 3 aspectos fundamentales que deben ser compartidos:</a:t>
            </a:r>
            <a:endParaRPr b="0" i="0" sz="1600" u="none" cap="none" strike="noStrike">
              <a:solidFill>
                <a:srgbClr val="000000"/>
              </a:solidFill>
              <a:latin typeface="Calibri"/>
              <a:ea typeface="Calibri"/>
              <a:cs typeface="Calibri"/>
              <a:sym typeface="Calibri"/>
            </a:endParaRPr>
          </a:p>
          <a:p>
            <a:pPr indent="-180975" lvl="0" marL="360363"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Flexibilidad</a:t>
            </a:r>
            <a:endParaRPr b="0" i="0" sz="1600" u="none" cap="none" strike="noStrike">
              <a:solidFill>
                <a:srgbClr val="000000"/>
              </a:solidFill>
              <a:latin typeface="Calibri"/>
              <a:ea typeface="Calibri"/>
              <a:cs typeface="Calibri"/>
              <a:sym typeface="Calibri"/>
            </a:endParaRPr>
          </a:p>
          <a:p>
            <a:pPr indent="-180975" lvl="0" marL="360363"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Colaboración</a:t>
            </a:r>
            <a:endParaRPr b="0" i="0" sz="1600" u="none" cap="none" strike="noStrike">
              <a:solidFill>
                <a:srgbClr val="000000"/>
              </a:solidFill>
              <a:latin typeface="Calibri"/>
              <a:ea typeface="Calibri"/>
              <a:cs typeface="Calibri"/>
              <a:sym typeface="Calibri"/>
            </a:endParaRPr>
          </a:p>
          <a:p>
            <a:pPr indent="-180975" lvl="0" marL="360363"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Entrega continua de valor</a:t>
            </a:r>
            <a:endParaRPr b="0" i="0" sz="1600" u="none" cap="none" strike="noStrike">
              <a:solidFill>
                <a:srgbClr val="000000"/>
              </a:solidFill>
              <a:latin typeface="Calibri"/>
              <a:ea typeface="Calibri"/>
              <a:cs typeface="Calibri"/>
              <a:sym typeface="Calibri"/>
            </a:endParaRPr>
          </a:p>
          <a:p>
            <a:pPr indent="-66675" lvl="0" marL="179388" marR="0" rtl="0" algn="l">
              <a:lnSpc>
                <a:spcPct val="100000"/>
              </a:lnSpc>
              <a:spcBef>
                <a:spcPts val="0"/>
              </a:spcBef>
              <a:spcAft>
                <a:spcPts val="0"/>
              </a:spcAft>
              <a:buClr>
                <a:schemeClr val="dk1"/>
              </a:buClr>
              <a:buSzPts val="1600"/>
              <a:buFont typeface="Arial"/>
              <a:buNone/>
            </a:pPr>
            <a:r>
              <a:t/>
            </a:r>
            <a:endParaRPr b="0" i="0" sz="1600" u="none" cap="none" strike="noStrike">
              <a:solidFill>
                <a:srgbClr val="262626"/>
              </a:solidFill>
              <a:latin typeface="Calibri"/>
              <a:ea typeface="Calibri"/>
              <a:cs typeface="Calibri"/>
              <a:sym typeface="Calibri"/>
            </a:endParaRPr>
          </a:p>
          <a:p>
            <a:pPr indent="-168275" lvl="0" marL="179388"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Para llevarlo al día a día se usan marcos de trabajo (framework) como Scrum.</a:t>
            </a:r>
            <a:endParaRPr b="0" i="0" sz="1600" u="none" cap="none" strike="noStrike">
              <a:solidFill>
                <a:srgbClr val="000000"/>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p:txBody>
      </p:sp>
      <p:sp>
        <p:nvSpPr>
          <p:cNvPr descr="Agile is a mindset!! - Teresa Niubó - Innovación y Talento en la era Digital" id="79" name="Google Shape;79;p5"/>
          <p:cNvSpPr/>
          <p:nvPr/>
        </p:nvSpPr>
        <p:spPr>
          <a:xfrm>
            <a:off x="4419600" y="27051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The Agile Onion" id="80" name="Google Shape;80;p5"/>
          <p:cNvSpPr/>
          <p:nvPr/>
        </p:nvSpPr>
        <p:spPr>
          <a:xfrm>
            <a:off x="4572000" y="28575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1" name="Google Shape;81;p5"/>
          <p:cNvPicPr preferRelativeResize="0"/>
          <p:nvPr/>
        </p:nvPicPr>
        <p:blipFill rotWithShape="1">
          <a:blip r:embed="rId3">
            <a:alphaModFix/>
          </a:blip>
          <a:srcRect b="0" l="12971" r="10069" t="9843"/>
          <a:stretch/>
        </p:blipFill>
        <p:spPr>
          <a:xfrm>
            <a:off x="4767429" y="1476003"/>
            <a:ext cx="3908259" cy="2575352"/>
          </a:xfrm>
          <a:prstGeom prst="rect">
            <a:avLst/>
          </a:prstGeom>
          <a:noFill/>
          <a:ln>
            <a:noFill/>
          </a:ln>
        </p:spPr>
      </p:pic>
      <p:sp>
        <p:nvSpPr>
          <p:cNvPr id="82" name="Google Shape;82;p5"/>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sp>
        <p:nvSpPr>
          <p:cNvPr id="83" name="Google Shape;83;p5"/>
          <p:cNvSpPr/>
          <p:nvPr/>
        </p:nvSpPr>
        <p:spPr>
          <a:xfrm>
            <a:off x="4767429" y="4929297"/>
            <a:ext cx="3163721"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s-PE" sz="1000" u="none" cap="none" strike="noStrike">
                <a:solidFill>
                  <a:srgbClr val="7F7F7F"/>
                </a:solidFill>
                <a:latin typeface="Calibri"/>
                <a:ea typeface="Calibri"/>
                <a:cs typeface="Calibri"/>
                <a:sym typeface="Calibri"/>
              </a:rPr>
              <a:t>Diferentes capas de agilidad</a:t>
            </a:r>
            <a:br>
              <a:rPr b="0" i="0" lang="es-PE" sz="1000" u="none" cap="none" strike="noStrike">
                <a:solidFill>
                  <a:schemeClr val="dk1"/>
                </a:solidFill>
                <a:latin typeface="Calibri"/>
                <a:ea typeface="Calibri"/>
                <a:cs typeface="Calibri"/>
                <a:sym typeface="Calibri"/>
              </a:rPr>
            </a:br>
            <a:r>
              <a:rPr b="1" i="0" lang="es-PE" sz="1000" u="none" cap="none" strike="noStrike">
                <a:solidFill>
                  <a:srgbClr val="7F7F7F"/>
                </a:solidFill>
                <a:latin typeface="Calibri"/>
                <a:ea typeface="Calibri"/>
                <a:cs typeface="Calibri"/>
                <a:sym typeface="Calibri"/>
              </a:rPr>
              <a:t>Fuente: </a:t>
            </a:r>
            <a:r>
              <a:rPr b="0" i="0" lang="es-PE" sz="1000" u="none" cap="none" strike="noStrike">
                <a:solidFill>
                  <a:srgbClr val="7F7F7F"/>
                </a:solidFill>
                <a:latin typeface="Calibri"/>
                <a:ea typeface="Calibri"/>
                <a:cs typeface="Calibri"/>
                <a:sym typeface="Calibri"/>
              </a:rPr>
              <a:t>Blog collidu</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cxnSp>
        <p:nvCxnSpPr>
          <p:cNvPr id="88" name="Google Shape;88;p6"/>
          <p:cNvCxnSpPr/>
          <p:nvPr/>
        </p:nvCxnSpPr>
        <p:spPr>
          <a:xfrm rot="10800000">
            <a:off x="4184807" y="2889591"/>
            <a:ext cx="3779" cy="1455916"/>
          </a:xfrm>
          <a:prstGeom prst="straightConnector1">
            <a:avLst/>
          </a:prstGeom>
          <a:noFill/>
          <a:ln cap="flat" cmpd="sng" w="28575">
            <a:solidFill>
              <a:srgbClr val="D8D8D8"/>
            </a:solidFill>
            <a:prstDash val="solid"/>
            <a:round/>
            <a:headEnd len="sm" w="sm" type="none"/>
            <a:tailEnd len="sm" w="sm" type="none"/>
          </a:ln>
        </p:spPr>
      </p:cxnSp>
      <p:pic>
        <p:nvPicPr>
          <p:cNvPr id="89" name="Google Shape;89;p6"/>
          <p:cNvPicPr preferRelativeResize="0"/>
          <p:nvPr/>
        </p:nvPicPr>
        <p:blipFill rotWithShape="1">
          <a:blip r:embed="rId3">
            <a:alphaModFix/>
          </a:blip>
          <a:srcRect b="4840" l="0" r="0" t="8411"/>
          <a:stretch/>
        </p:blipFill>
        <p:spPr>
          <a:xfrm>
            <a:off x="4751389" y="0"/>
            <a:ext cx="4392311" cy="5718132"/>
          </a:xfrm>
          <a:prstGeom prst="rect">
            <a:avLst/>
          </a:prstGeom>
          <a:noFill/>
          <a:ln>
            <a:noFill/>
          </a:ln>
        </p:spPr>
      </p:pic>
      <p:sp>
        <p:nvSpPr>
          <p:cNvPr id="90" name="Google Shape;90;p6"/>
          <p:cNvSpPr txBox="1"/>
          <p:nvPr/>
        </p:nvSpPr>
        <p:spPr>
          <a:xfrm>
            <a:off x="503238" y="914927"/>
            <a:ext cx="3889375" cy="1554272"/>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PRINCIPIOS  Y VALORES DE LA AGILIDAD</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Estos fueron entregados en el </a:t>
            </a:r>
            <a:r>
              <a:rPr b="1" i="0" lang="es-PE" sz="1600" u="none" cap="none" strike="noStrike">
                <a:solidFill>
                  <a:srgbClr val="00B2C2"/>
                </a:solidFill>
                <a:latin typeface="Calibri"/>
                <a:ea typeface="Calibri"/>
                <a:cs typeface="Calibri"/>
                <a:sym typeface="Calibri"/>
              </a:rPr>
              <a:t>manifiesto ágil </a:t>
            </a:r>
            <a:r>
              <a:rPr b="0" i="0" lang="es-PE" sz="1600" u="none" cap="none" strike="noStrike">
                <a:solidFill>
                  <a:srgbClr val="262626"/>
                </a:solidFill>
                <a:latin typeface="Calibri"/>
                <a:ea typeface="Calibri"/>
                <a:cs typeface="Calibri"/>
                <a:sym typeface="Calibri"/>
              </a:rPr>
              <a:t>y sirven como directriz para todos los equipos que apuntan a ser ágiles.</a:t>
            </a:r>
            <a:endParaRPr b="0" i="0" sz="1600" u="none" cap="none" strike="noStrike">
              <a:solidFill>
                <a:srgbClr val="000000"/>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Estos son los </a:t>
            </a:r>
            <a:r>
              <a:rPr b="1" i="0" lang="es-PE" sz="1600" u="none" cap="none" strike="noStrike">
                <a:solidFill>
                  <a:srgbClr val="262626"/>
                </a:solidFill>
                <a:latin typeface="Calibri"/>
                <a:ea typeface="Calibri"/>
                <a:cs typeface="Calibri"/>
                <a:sym typeface="Calibri"/>
              </a:rPr>
              <a:t>4 VALORES</a:t>
            </a:r>
            <a:r>
              <a:rPr b="0" i="0" lang="es-PE" sz="1600" u="none" cap="none" strike="noStrike">
                <a:solidFill>
                  <a:srgbClr val="262626"/>
                </a:solidFill>
                <a:latin typeface="Calibri"/>
                <a:ea typeface="Calibri"/>
                <a:cs typeface="Calibri"/>
                <a:sym typeface="Calibri"/>
              </a:rPr>
              <a:t>:</a:t>
            </a:r>
            <a:endParaRPr b="0" i="0" sz="1600" u="none" cap="none" strike="noStrike">
              <a:solidFill>
                <a:srgbClr val="262626"/>
              </a:solidFill>
              <a:latin typeface="Calibri"/>
              <a:ea typeface="Calibri"/>
              <a:cs typeface="Calibri"/>
              <a:sym typeface="Calibri"/>
            </a:endParaRPr>
          </a:p>
        </p:txBody>
      </p:sp>
      <p:sp>
        <p:nvSpPr>
          <p:cNvPr id="91" name="Google Shape;91;p6"/>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cxnSp>
        <p:nvCxnSpPr>
          <p:cNvPr id="92" name="Google Shape;92;p6"/>
          <p:cNvCxnSpPr/>
          <p:nvPr/>
        </p:nvCxnSpPr>
        <p:spPr>
          <a:xfrm rot="10800000">
            <a:off x="3611223" y="2873905"/>
            <a:ext cx="593148" cy="0"/>
          </a:xfrm>
          <a:prstGeom prst="straightConnector1">
            <a:avLst/>
          </a:prstGeom>
          <a:noFill/>
          <a:ln cap="flat" cmpd="sng" w="28575">
            <a:solidFill>
              <a:srgbClr val="D8D8D8"/>
            </a:solidFill>
            <a:prstDash val="solid"/>
            <a:round/>
            <a:headEnd len="sm" w="sm" type="none"/>
            <a:tailEnd len="sm" w="sm" type="none"/>
          </a:ln>
        </p:spPr>
      </p:cxnSp>
      <p:grpSp>
        <p:nvGrpSpPr>
          <p:cNvPr id="93" name="Google Shape;93;p6"/>
          <p:cNvGrpSpPr/>
          <p:nvPr/>
        </p:nvGrpSpPr>
        <p:grpSpPr>
          <a:xfrm>
            <a:off x="4127292" y="2812611"/>
            <a:ext cx="122588" cy="122588"/>
            <a:chOff x="1295553" y="3553368"/>
            <a:chExt cx="212749" cy="212749"/>
          </a:xfrm>
        </p:grpSpPr>
        <p:sp>
          <p:nvSpPr>
            <p:cNvPr id="94" name="Google Shape;94;p6"/>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5" name="Google Shape;95;p6"/>
            <p:cNvSpPr/>
            <p:nvPr/>
          </p:nvSpPr>
          <p:spPr>
            <a:xfrm>
              <a:off x="1324326" y="3582141"/>
              <a:ext cx="155202" cy="155202"/>
            </a:xfrm>
            <a:prstGeom prst="ellipse">
              <a:avLst/>
            </a:prstGeom>
            <a:solidFill>
              <a:srgbClr val="92C14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96" name="Google Shape;96;p6"/>
          <p:cNvCxnSpPr/>
          <p:nvPr/>
        </p:nvCxnSpPr>
        <p:spPr>
          <a:xfrm rot="10800000">
            <a:off x="3572683" y="3369723"/>
            <a:ext cx="593148" cy="0"/>
          </a:xfrm>
          <a:prstGeom prst="straightConnector1">
            <a:avLst/>
          </a:prstGeom>
          <a:noFill/>
          <a:ln cap="flat" cmpd="sng" w="28575">
            <a:solidFill>
              <a:srgbClr val="D8D8D8"/>
            </a:solidFill>
            <a:prstDash val="solid"/>
            <a:round/>
            <a:headEnd len="sm" w="sm" type="none"/>
            <a:tailEnd len="sm" w="sm" type="none"/>
          </a:ln>
        </p:spPr>
      </p:cxnSp>
      <p:grpSp>
        <p:nvGrpSpPr>
          <p:cNvPr id="97" name="Google Shape;97;p6"/>
          <p:cNvGrpSpPr/>
          <p:nvPr/>
        </p:nvGrpSpPr>
        <p:grpSpPr>
          <a:xfrm>
            <a:off x="4127292" y="3304743"/>
            <a:ext cx="122588" cy="122588"/>
            <a:chOff x="1295553" y="3553368"/>
            <a:chExt cx="212749" cy="212749"/>
          </a:xfrm>
        </p:grpSpPr>
        <p:sp>
          <p:nvSpPr>
            <p:cNvPr id="98" name="Google Shape;98;p6"/>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 name="Google Shape;99;p6"/>
            <p:cNvSpPr/>
            <p:nvPr/>
          </p:nvSpPr>
          <p:spPr>
            <a:xfrm>
              <a:off x="1324326" y="3582141"/>
              <a:ext cx="155202" cy="155202"/>
            </a:xfrm>
            <a:prstGeom prst="ellipse">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00" name="Google Shape;100;p6"/>
          <p:cNvCxnSpPr/>
          <p:nvPr/>
        </p:nvCxnSpPr>
        <p:spPr>
          <a:xfrm rot="10800000">
            <a:off x="3611223" y="3873798"/>
            <a:ext cx="593148" cy="0"/>
          </a:xfrm>
          <a:prstGeom prst="straightConnector1">
            <a:avLst/>
          </a:prstGeom>
          <a:noFill/>
          <a:ln cap="flat" cmpd="sng" w="28575">
            <a:solidFill>
              <a:srgbClr val="D8D8D8"/>
            </a:solidFill>
            <a:prstDash val="solid"/>
            <a:round/>
            <a:headEnd len="sm" w="sm" type="none"/>
            <a:tailEnd len="sm" w="sm" type="none"/>
          </a:ln>
        </p:spPr>
      </p:cxnSp>
      <p:grpSp>
        <p:nvGrpSpPr>
          <p:cNvPr id="101" name="Google Shape;101;p6"/>
          <p:cNvGrpSpPr/>
          <p:nvPr/>
        </p:nvGrpSpPr>
        <p:grpSpPr>
          <a:xfrm>
            <a:off x="4127292" y="3812504"/>
            <a:ext cx="122588" cy="122588"/>
            <a:chOff x="1295553" y="3553368"/>
            <a:chExt cx="212749" cy="212749"/>
          </a:xfrm>
        </p:grpSpPr>
        <p:sp>
          <p:nvSpPr>
            <p:cNvPr id="102" name="Google Shape;102;p6"/>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 name="Google Shape;103;p6"/>
            <p:cNvSpPr/>
            <p:nvPr/>
          </p:nvSpPr>
          <p:spPr>
            <a:xfrm>
              <a:off x="1324326" y="3582141"/>
              <a:ext cx="155202" cy="155202"/>
            </a:xfrm>
            <a:prstGeom prst="ellipse">
              <a:avLst/>
            </a:prstGeom>
            <a:solidFill>
              <a:srgbClr val="70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04" name="Google Shape;104;p6"/>
          <p:cNvCxnSpPr/>
          <p:nvPr/>
        </p:nvCxnSpPr>
        <p:spPr>
          <a:xfrm rot="10800000">
            <a:off x="3611223" y="4377522"/>
            <a:ext cx="593148" cy="0"/>
          </a:xfrm>
          <a:prstGeom prst="straightConnector1">
            <a:avLst/>
          </a:prstGeom>
          <a:noFill/>
          <a:ln cap="flat" cmpd="sng" w="28575">
            <a:solidFill>
              <a:srgbClr val="D8D8D8"/>
            </a:solidFill>
            <a:prstDash val="solid"/>
            <a:round/>
            <a:headEnd len="sm" w="sm" type="none"/>
            <a:tailEnd len="sm" w="sm" type="none"/>
          </a:ln>
        </p:spPr>
      </p:cxnSp>
      <p:grpSp>
        <p:nvGrpSpPr>
          <p:cNvPr id="105" name="Google Shape;105;p6"/>
          <p:cNvGrpSpPr/>
          <p:nvPr/>
        </p:nvGrpSpPr>
        <p:grpSpPr>
          <a:xfrm>
            <a:off x="4127292" y="4316228"/>
            <a:ext cx="122588" cy="122588"/>
            <a:chOff x="1295553" y="3553368"/>
            <a:chExt cx="212749" cy="212749"/>
          </a:xfrm>
        </p:grpSpPr>
        <p:sp>
          <p:nvSpPr>
            <p:cNvPr id="106" name="Google Shape;106;p6"/>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 name="Google Shape;107;p6"/>
            <p:cNvSpPr/>
            <p:nvPr/>
          </p:nvSpPr>
          <p:spPr>
            <a:xfrm>
              <a:off x="1324326" y="3582141"/>
              <a:ext cx="155202" cy="155202"/>
            </a:xfrm>
            <a:prstGeom prst="ellipse">
              <a:avLst/>
            </a:prstGeom>
            <a:solidFill>
              <a:srgbClr val="FF78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08" name="Google Shape;108;p6"/>
          <p:cNvSpPr/>
          <p:nvPr/>
        </p:nvSpPr>
        <p:spPr>
          <a:xfrm>
            <a:off x="503238" y="2661109"/>
            <a:ext cx="3366019" cy="415364"/>
          </a:xfrm>
          <a:prstGeom prst="roundRect">
            <a:avLst>
              <a:gd fmla="val 24513" name="adj"/>
            </a:avLst>
          </a:prstGeom>
          <a:solidFill>
            <a:srgbClr val="92C14D"/>
          </a:solidFill>
          <a:ln>
            <a:noFill/>
          </a:ln>
        </p:spPr>
        <p:txBody>
          <a:bodyPr anchorCtr="0" anchor="ctr" bIns="45700" lIns="91425" spcFirstLastPara="1" rIns="91425" wrap="square" tIns="45700">
            <a:noAutofit/>
          </a:bodyPr>
          <a:lstStyle/>
          <a:p>
            <a:pPr indent="0" lvl="0" marL="31115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INDIVIDUOS E INTERACCIONES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procesos y herramientas. </a:t>
            </a:r>
            <a:endParaRPr b="0" i="0" sz="1300" u="none" cap="none" strike="noStrike">
              <a:solidFill>
                <a:srgbClr val="FFFFFF"/>
              </a:solidFill>
              <a:latin typeface="Calibri"/>
              <a:ea typeface="Calibri"/>
              <a:cs typeface="Calibri"/>
              <a:sym typeface="Calibri"/>
            </a:endParaRPr>
          </a:p>
        </p:txBody>
      </p:sp>
      <p:sp>
        <p:nvSpPr>
          <p:cNvPr id="109" name="Google Shape;109;p6"/>
          <p:cNvSpPr/>
          <p:nvPr/>
        </p:nvSpPr>
        <p:spPr>
          <a:xfrm>
            <a:off x="503238" y="3162041"/>
            <a:ext cx="3366019" cy="415364"/>
          </a:xfrm>
          <a:prstGeom prst="roundRect">
            <a:avLst>
              <a:gd fmla="val 24513" name="adj"/>
            </a:avLst>
          </a:prstGeom>
          <a:solidFill>
            <a:srgbClr val="00B2C2"/>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SOFTWARE FUNCIONANDO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documentación extensiva. </a:t>
            </a:r>
            <a:endParaRPr b="0" i="0" sz="1300" u="none" cap="none" strike="noStrike">
              <a:solidFill>
                <a:srgbClr val="FFFFFF"/>
              </a:solidFill>
              <a:latin typeface="Calibri"/>
              <a:ea typeface="Calibri"/>
              <a:cs typeface="Calibri"/>
              <a:sym typeface="Calibri"/>
            </a:endParaRPr>
          </a:p>
        </p:txBody>
      </p:sp>
      <p:sp>
        <p:nvSpPr>
          <p:cNvPr id="110" name="Google Shape;110;p6"/>
          <p:cNvSpPr/>
          <p:nvPr/>
        </p:nvSpPr>
        <p:spPr>
          <a:xfrm>
            <a:off x="503238" y="3662701"/>
            <a:ext cx="3366019" cy="415364"/>
          </a:xfrm>
          <a:prstGeom prst="roundRect">
            <a:avLst>
              <a:gd fmla="val 24513" name="adj"/>
            </a:avLst>
          </a:prstGeom>
          <a:solidFill>
            <a:srgbClr val="714FA0"/>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COLABORACIÓN CON EL CLIENTE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negociación de contratos. </a:t>
            </a:r>
            <a:endParaRPr b="0" i="0" sz="1300" u="none" cap="none" strike="noStrike">
              <a:solidFill>
                <a:srgbClr val="FFFFFF"/>
              </a:solidFill>
              <a:latin typeface="Calibri"/>
              <a:ea typeface="Calibri"/>
              <a:cs typeface="Calibri"/>
              <a:sym typeface="Calibri"/>
            </a:endParaRPr>
          </a:p>
        </p:txBody>
      </p:sp>
      <p:sp>
        <p:nvSpPr>
          <p:cNvPr id="111" name="Google Shape;111;p6"/>
          <p:cNvSpPr/>
          <p:nvPr/>
        </p:nvSpPr>
        <p:spPr>
          <a:xfrm>
            <a:off x="503238" y="4171584"/>
            <a:ext cx="3366019" cy="415364"/>
          </a:xfrm>
          <a:prstGeom prst="roundRect">
            <a:avLst>
              <a:gd fmla="val 24513" name="adj"/>
            </a:avLst>
          </a:prstGeom>
          <a:solidFill>
            <a:srgbClr val="FF7827"/>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RESPUESTA ANTE EL CAMBIO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seguir un plan.</a:t>
            </a:r>
            <a:r>
              <a:rPr b="1" i="0" lang="es-PE" sz="1300" u="none" cap="none" strike="noStrike">
                <a:solidFill>
                  <a:srgbClr val="FFFFFF"/>
                </a:solidFill>
                <a:latin typeface="Calibri"/>
                <a:ea typeface="Calibri"/>
                <a:cs typeface="Calibri"/>
                <a:sym typeface="Calibri"/>
              </a:rPr>
              <a:t> </a:t>
            </a:r>
            <a:endParaRPr b="1" i="0" sz="1300" u="none" cap="none" strike="noStrike">
              <a:solidFill>
                <a:srgbClr val="FFFFFF"/>
              </a:solidFill>
              <a:latin typeface="Calibri"/>
              <a:ea typeface="Calibri"/>
              <a:cs typeface="Calibri"/>
              <a:sym typeface="Calibri"/>
            </a:endParaRPr>
          </a:p>
        </p:txBody>
      </p:sp>
      <p:sp>
        <p:nvSpPr>
          <p:cNvPr id="112" name="Google Shape;112;p6"/>
          <p:cNvSpPr txBox="1"/>
          <p:nvPr/>
        </p:nvSpPr>
        <p:spPr>
          <a:xfrm>
            <a:off x="565931" y="2643073"/>
            <a:ext cx="479897"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13" name="Google Shape;113;p6"/>
          <p:cNvSpPr txBox="1"/>
          <p:nvPr/>
        </p:nvSpPr>
        <p:spPr>
          <a:xfrm>
            <a:off x="565931" y="3135205"/>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14" name="Google Shape;114;p6"/>
          <p:cNvSpPr txBox="1"/>
          <p:nvPr/>
        </p:nvSpPr>
        <p:spPr>
          <a:xfrm>
            <a:off x="565931" y="3642966"/>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15" name="Google Shape;115;p6"/>
          <p:cNvSpPr txBox="1"/>
          <p:nvPr/>
        </p:nvSpPr>
        <p:spPr>
          <a:xfrm>
            <a:off x="565931" y="4146690"/>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nvSpPr>
        <p:spPr>
          <a:xfrm>
            <a:off x="4392613" y="2643073"/>
            <a:ext cx="4279297"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Habla de la importancia que tienen las personas y sus interacciones; así como también las motivaciones de las personas y equipos de trabajo; siendo la clave buscar las herramientas nos ayudan a colaborar en equipo, comunicarnos efectivamente y a hacer nuestro trabajo más productivo.</a:t>
            </a:r>
            <a:endParaRPr b="0" i="0" sz="1400" u="none" cap="none" strike="noStrike">
              <a:solidFill>
                <a:schemeClr val="dk1"/>
              </a:solidFill>
              <a:latin typeface="Calibri"/>
              <a:ea typeface="Calibri"/>
              <a:cs typeface="Calibri"/>
              <a:sym typeface="Calibri"/>
            </a:endParaRPr>
          </a:p>
        </p:txBody>
      </p:sp>
      <p:cxnSp>
        <p:nvCxnSpPr>
          <p:cNvPr id="121" name="Google Shape;121;p7"/>
          <p:cNvCxnSpPr/>
          <p:nvPr/>
        </p:nvCxnSpPr>
        <p:spPr>
          <a:xfrm rot="10800000">
            <a:off x="4184807" y="2889591"/>
            <a:ext cx="3779" cy="1455916"/>
          </a:xfrm>
          <a:prstGeom prst="straightConnector1">
            <a:avLst/>
          </a:prstGeom>
          <a:noFill/>
          <a:ln cap="flat" cmpd="sng" w="28575">
            <a:solidFill>
              <a:srgbClr val="D8D8D8"/>
            </a:solidFill>
            <a:prstDash val="solid"/>
            <a:round/>
            <a:headEnd len="sm" w="sm" type="none"/>
            <a:tailEnd len="sm" w="sm" type="none"/>
          </a:ln>
        </p:spPr>
      </p:cxnSp>
      <p:sp>
        <p:nvSpPr>
          <p:cNvPr id="122" name="Google Shape;122;p7"/>
          <p:cNvSpPr txBox="1"/>
          <p:nvPr/>
        </p:nvSpPr>
        <p:spPr>
          <a:xfrm>
            <a:off x="503238" y="914927"/>
            <a:ext cx="8084807" cy="130805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PRINCIPIOS  Y VALORES DE LA AGILIDAD</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fueron entregados en el </a:t>
            </a:r>
            <a:r>
              <a:rPr b="1" i="0" lang="es-PE" sz="1600" u="none" cap="none" strike="noStrike">
                <a:solidFill>
                  <a:srgbClr val="00B2C2"/>
                </a:solidFill>
                <a:latin typeface="Calibri"/>
                <a:ea typeface="Calibri"/>
                <a:cs typeface="Calibri"/>
                <a:sym typeface="Calibri"/>
              </a:rPr>
              <a:t>manifiesto ágil </a:t>
            </a:r>
            <a:r>
              <a:rPr b="0" i="0" lang="es-PE" sz="1600" u="none" cap="none" strike="noStrike">
                <a:solidFill>
                  <a:srgbClr val="262626"/>
                </a:solidFill>
                <a:latin typeface="Calibri"/>
                <a:ea typeface="Calibri"/>
                <a:cs typeface="Calibri"/>
                <a:sym typeface="Calibri"/>
              </a:rPr>
              <a:t>y sirven como directriz para todos los equipos que apuntan a ser ágiles.</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son los </a:t>
            </a:r>
            <a:r>
              <a:rPr b="1" i="0" lang="es-PE" sz="1600" u="none" cap="none" strike="noStrike">
                <a:solidFill>
                  <a:srgbClr val="262626"/>
                </a:solidFill>
                <a:latin typeface="Calibri"/>
                <a:ea typeface="Calibri"/>
                <a:cs typeface="Calibri"/>
                <a:sym typeface="Calibri"/>
              </a:rPr>
              <a:t>4 VALORES</a:t>
            </a:r>
            <a:r>
              <a:rPr b="0" i="0" lang="es-PE" sz="1600" u="none" cap="none" strike="noStrike">
                <a:solidFill>
                  <a:srgbClr val="262626"/>
                </a:solidFill>
                <a:latin typeface="Calibri"/>
                <a:ea typeface="Calibri"/>
                <a:cs typeface="Calibri"/>
                <a:sym typeface="Calibri"/>
              </a:rPr>
              <a:t>:</a:t>
            </a:r>
            <a:endParaRPr b="0" i="0" sz="1600" u="none" cap="none" strike="noStrike">
              <a:solidFill>
                <a:srgbClr val="262626"/>
              </a:solidFill>
              <a:latin typeface="Calibri"/>
              <a:ea typeface="Calibri"/>
              <a:cs typeface="Calibri"/>
              <a:sym typeface="Calibri"/>
            </a:endParaRPr>
          </a:p>
        </p:txBody>
      </p:sp>
      <p:sp>
        <p:nvSpPr>
          <p:cNvPr id="123" name="Google Shape;123;p7"/>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cxnSp>
        <p:nvCxnSpPr>
          <p:cNvPr id="124" name="Google Shape;124;p7"/>
          <p:cNvCxnSpPr/>
          <p:nvPr/>
        </p:nvCxnSpPr>
        <p:spPr>
          <a:xfrm rot="10800000">
            <a:off x="3611223" y="2873905"/>
            <a:ext cx="593148" cy="0"/>
          </a:xfrm>
          <a:prstGeom prst="straightConnector1">
            <a:avLst/>
          </a:prstGeom>
          <a:noFill/>
          <a:ln cap="flat" cmpd="sng" w="28575">
            <a:solidFill>
              <a:srgbClr val="D8D8D8"/>
            </a:solidFill>
            <a:prstDash val="solid"/>
            <a:round/>
            <a:headEnd len="sm" w="sm" type="none"/>
            <a:tailEnd len="sm" w="sm" type="none"/>
          </a:ln>
        </p:spPr>
      </p:cxnSp>
      <p:grpSp>
        <p:nvGrpSpPr>
          <p:cNvPr id="125" name="Google Shape;125;p7"/>
          <p:cNvGrpSpPr/>
          <p:nvPr/>
        </p:nvGrpSpPr>
        <p:grpSpPr>
          <a:xfrm>
            <a:off x="4127292" y="2812611"/>
            <a:ext cx="122588" cy="122588"/>
            <a:chOff x="1295553" y="3553368"/>
            <a:chExt cx="212749" cy="212749"/>
          </a:xfrm>
        </p:grpSpPr>
        <p:sp>
          <p:nvSpPr>
            <p:cNvPr id="126" name="Google Shape;126;p7"/>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 name="Google Shape;127;p7"/>
            <p:cNvSpPr/>
            <p:nvPr/>
          </p:nvSpPr>
          <p:spPr>
            <a:xfrm>
              <a:off x="1324326" y="3582141"/>
              <a:ext cx="155202" cy="155202"/>
            </a:xfrm>
            <a:prstGeom prst="ellipse">
              <a:avLst/>
            </a:prstGeom>
            <a:solidFill>
              <a:srgbClr val="92C14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28" name="Google Shape;128;p7"/>
          <p:cNvCxnSpPr/>
          <p:nvPr/>
        </p:nvCxnSpPr>
        <p:spPr>
          <a:xfrm rot="10800000">
            <a:off x="3572683" y="3369723"/>
            <a:ext cx="593148" cy="0"/>
          </a:xfrm>
          <a:prstGeom prst="straightConnector1">
            <a:avLst/>
          </a:prstGeom>
          <a:noFill/>
          <a:ln cap="flat" cmpd="sng" w="28575">
            <a:solidFill>
              <a:srgbClr val="D8D8D8"/>
            </a:solidFill>
            <a:prstDash val="solid"/>
            <a:round/>
            <a:headEnd len="sm" w="sm" type="none"/>
            <a:tailEnd len="sm" w="sm" type="none"/>
          </a:ln>
        </p:spPr>
      </p:cxnSp>
      <p:grpSp>
        <p:nvGrpSpPr>
          <p:cNvPr id="129" name="Google Shape;129;p7"/>
          <p:cNvGrpSpPr/>
          <p:nvPr/>
        </p:nvGrpSpPr>
        <p:grpSpPr>
          <a:xfrm>
            <a:off x="4127292" y="3304743"/>
            <a:ext cx="122588" cy="122588"/>
            <a:chOff x="1295553" y="3553368"/>
            <a:chExt cx="212749" cy="212749"/>
          </a:xfrm>
        </p:grpSpPr>
        <p:sp>
          <p:nvSpPr>
            <p:cNvPr id="130" name="Google Shape;130;p7"/>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 name="Google Shape;131;p7"/>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32" name="Google Shape;132;p7"/>
          <p:cNvCxnSpPr/>
          <p:nvPr/>
        </p:nvCxnSpPr>
        <p:spPr>
          <a:xfrm rot="10800000">
            <a:off x="3611223" y="3873798"/>
            <a:ext cx="593148" cy="0"/>
          </a:xfrm>
          <a:prstGeom prst="straightConnector1">
            <a:avLst/>
          </a:prstGeom>
          <a:noFill/>
          <a:ln cap="flat" cmpd="sng" w="28575">
            <a:solidFill>
              <a:srgbClr val="D8D8D8"/>
            </a:solidFill>
            <a:prstDash val="solid"/>
            <a:round/>
            <a:headEnd len="sm" w="sm" type="none"/>
            <a:tailEnd len="sm" w="sm" type="none"/>
          </a:ln>
        </p:spPr>
      </p:cxnSp>
      <p:grpSp>
        <p:nvGrpSpPr>
          <p:cNvPr id="133" name="Google Shape;133;p7"/>
          <p:cNvGrpSpPr/>
          <p:nvPr/>
        </p:nvGrpSpPr>
        <p:grpSpPr>
          <a:xfrm>
            <a:off x="4127292" y="3812504"/>
            <a:ext cx="122588" cy="122588"/>
            <a:chOff x="1295553" y="3553368"/>
            <a:chExt cx="212749" cy="212749"/>
          </a:xfrm>
        </p:grpSpPr>
        <p:sp>
          <p:nvSpPr>
            <p:cNvPr id="134" name="Google Shape;134;p7"/>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5" name="Google Shape;135;p7"/>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36" name="Google Shape;136;p7"/>
          <p:cNvCxnSpPr/>
          <p:nvPr/>
        </p:nvCxnSpPr>
        <p:spPr>
          <a:xfrm rot="10800000">
            <a:off x="3611223" y="4377522"/>
            <a:ext cx="593148" cy="0"/>
          </a:xfrm>
          <a:prstGeom prst="straightConnector1">
            <a:avLst/>
          </a:prstGeom>
          <a:noFill/>
          <a:ln cap="flat" cmpd="sng" w="28575">
            <a:solidFill>
              <a:srgbClr val="D8D8D8"/>
            </a:solidFill>
            <a:prstDash val="solid"/>
            <a:round/>
            <a:headEnd len="sm" w="sm" type="none"/>
            <a:tailEnd len="sm" w="sm" type="none"/>
          </a:ln>
        </p:spPr>
      </p:cxnSp>
      <p:grpSp>
        <p:nvGrpSpPr>
          <p:cNvPr id="137" name="Google Shape;137;p7"/>
          <p:cNvGrpSpPr/>
          <p:nvPr/>
        </p:nvGrpSpPr>
        <p:grpSpPr>
          <a:xfrm>
            <a:off x="4127292" y="4316228"/>
            <a:ext cx="122588" cy="122588"/>
            <a:chOff x="1295553" y="3553368"/>
            <a:chExt cx="212749" cy="212749"/>
          </a:xfrm>
        </p:grpSpPr>
        <p:sp>
          <p:nvSpPr>
            <p:cNvPr id="138" name="Google Shape;138;p7"/>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 name="Google Shape;139;p7"/>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0" name="Google Shape;140;p7"/>
          <p:cNvSpPr/>
          <p:nvPr/>
        </p:nvSpPr>
        <p:spPr>
          <a:xfrm>
            <a:off x="503238" y="2661109"/>
            <a:ext cx="3366019" cy="415364"/>
          </a:xfrm>
          <a:prstGeom prst="roundRect">
            <a:avLst>
              <a:gd fmla="val 24513" name="adj"/>
            </a:avLst>
          </a:prstGeom>
          <a:solidFill>
            <a:srgbClr val="92C14D"/>
          </a:solidFill>
          <a:ln>
            <a:noFill/>
          </a:ln>
        </p:spPr>
        <p:txBody>
          <a:bodyPr anchorCtr="0" anchor="ctr" bIns="45700" lIns="91425" spcFirstLastPara="1" rIns="91425" wrap="square" tIns="45700">
            <a:noAutofit/>
          </a:bodyPr>
          <a:lstStyle/>
          <a:p>
            <a:pPr indent="0" lvl="0" marL="31115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INDIVIDUOS E INTERACCIONES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procesos y herramientas. </a:t>
            </a:r>
            <a:endParaRPr b="0" i="0" sz="1300" u="none" cap="none" strike="noStrike">
              <a:solidFill>
                <a:srgbClr val="FFFFFF"/>
              </a:solidFill>
              <a:latin typeface="Calibri"/>
              <a:ea typeface="Calibri"/>
              <a:cs typeface="Calibri"/>
              <a:sym typeface="Calibri"/>
            </a:endParaRPr>
          </a:p>
        </p:txBody>
      </p:sp>
      <p:sp>
        <p:nvSpPr>
          <p:cNvPr id="141" name="Google Shape;141;p7"/>
          <p:cNvSpPr/>
          <p:nvPr/>
        </p:nvSpPr>
        <p:spPr>
          <a:xfrm>
            <a:off x="503238" y="3162041"/>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SOFTWARE FUNCIONANDO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documentación extensiva. </a:t>
            </a:r>
            <a:endParaRPr b="0" i="0" sz="1300" u="none" cap="none" strike="noStrike">
              <a:solidFill>
                <a:srgbClr val="FFFFFF"/>
              </a:solidFill>
              <a:latin typeface="Calibri"/>
              <a:ea typeface="Calibri"/>
              <a:cs typeface="Calibri"/>
              <a:sym typeface="Calibri"/>
            </a:endParaRPr>
          </a:p>
        </p:txBody>
      </p:sp>
      <p:sp>
        <p:nvSpPr>
          <p:cNvPr id="142" name="Google Shape;142;p7"/>
          <p:cNvSpPr/>
          <p:nvPr/>
        </p:nvSpPr>
        <p:spPr>
          <a:xfrm>
            <a:off x="503238" y="3662701"/>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COLABORACIÓN CON EL CLIENTE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negociación de contratos. </a:t>
            </a:r>
            <a:endParaRPr b="0" i="0" sz="1300" u="none" cap="none" strike="noStrike">
              <a:solidFill>
                <a:srgbClr val="FFFFFF"/>
              </a:solidFill>
              <a:latin typeface="Calibri"/>
              <a:ea typeface="Calibri"/>
              <a:cs typeface="Calibri"/>
              <a:sym typeface="Calibri"/>
            </a:endParaRPr>
          </a:p>
        </p:txBody>
      </p:sp>
      <p:sp>
        <p:nvSpPr>
          <p:cNvPr id="143" name="Google Shape;143;p7"/>
          <p:cNvSpPr/>
          <p:nvPr/>
        </p:nvSpPr>
        <p:spPr>
          <a:xfrm>
            <a:off x="503238" y="4171584"/>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RESPUESTA ANTE EL CAMBIO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seguir un plan.</a:t>
            </a:r>
            <a:r>
              <a:rPr b="1" i="0" lang="es-PE" sz="1300" u="none" cap="none" strike="noStrike">
                <a:solidFill>
                  <a:srgbClr val="FFFFFF"/>
                </a:solidFill>
                <a:latin typeface="Calibri"/>
                <a:ea typeface="Calibri"/>
                <a:cs typeface="Calibri"/>
                <a:sym typeface="Calibri"/>
              </a:rPr>
              <a:t> </a:t>
            </a:r>
            <a:endParaRPr b="1" i="0" sz="1300" u="none" cap="none" strike="noStrike">
              <a:solidFill>
                <a:srgbClr val="FFFFFF"/>
              </a:solidFill>
              <a:latin typeface="Calibri"/>
              <a:ea typeface="Calibri"/>
              <a:cs typeface="Calibri"/>
              <a:sym typeface="Calibri"/>
            </a:endParaRPr>
          </a:p>
        </p:txBody>
      </p:sp>
      <p:sp>
        <p:nvSpPr>
          <p:cNvPr id="144" name="Google Shape;144;p7"/>
          <p:cNvSpPr txBox="1"/>
          <p:nvPr/>
        </p:nvSpPr>
        <p:spPr>
          <a:xfrm>
            <a:off x="565931" y="2643073"/>
            <a:ext cx="479897"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45" name="Google Shape;145;p7"/>
          <p:cNvSpPr txBox="1"/>
          <p:nvPr/>
        </p:nvSpPr>
        <p:spPr>
          <a:xfrm>
            <a:off x="565931" y="3135205"/>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46" name="Google Shape;146;p7"/>
          <p:cNvSpPr txBox="1"/>
          <p:nvPr/>
        </p:nvSpPr>
        <p:spPr>
          <a:xfrm>
            <a:off x="565931" y="3642966"/>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47" name="Google Shape;147;p7"/>
          <p:cNvSpPr txBox="1"/>
          <p:nvPr/>
        </p:nvSpPr>
        <p:spPr>
          <a:xfrm>
            <a:off x="565931" y="4146690"/>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nvSpPr>
        <p:spPr>
          <a:xfrm>
            <a:off x="4392613" y="2656698"/>
            <a:ext cx="4283075" cy="150810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Aquí la importancia radica en contar con algo tangible que pueda ayudar a los usuarios a tomar decisiones importantes en cuanto al producto, porque este indicador da claridad a los equipos de desarrollo eliminando ambigüedades gracias al feedback temprano de los usuarios; no se renuncia a la documentación del software pero considera más valioso el software </a:t>
            </a:r>
            <a:r>
              <a:rPr b="0" i="1" lang="es-PE" sz="1400" u="none" cap="none" strike="noStrike">
                <a:solidFill>
                  <a:schemeClr val="dk1"/>
                </a:solidFill>
                <a:latin typeface="Calibri"/>
                <a:ea typeface="Calibri"/>
                <a:cs typeface="Calibri"/>
                <a:sym typeface="Calibri"/>
              </a:rPr>
              <a:t>en funcionamiento</a:t>
            </a:r>
            <a:r>
              <a:rPr b="0" i="0" lang="es-PE" sz="1400" u="none" cap="none" strike="noStrike">
                <a:solidFill>
                  <a:schemeClr val="dk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53" name="Google Shape;153;p8"/>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cxnSp>
        <p:nvCxnSpPr>
          <p:cNvPr id="154" name="Google Shape;154;p8"/>
          <p:cNvCxnSpPr/>
          <p:nvPr/>
        </p:nvCxnSpPr>
        <p:spPr>
          <a:xfrm rot="10800000">
            <a:off x="4184807" y="2889591"/>
            <a:ext cx="3779" cy="1455916"/>
          </a:xfrm>
          <a:prstGeom prst="straightConnector1">
            <a:avLst/>
          </a:prstGeom>
          <a:noFill/>
          <a:ln cap="flat" cmpd="sng" w="28575">
            <a:solidFill>
              <a:srgbClr val="D8D8D8"/>
            </a:solidFill>
            <a:prstDash val="solid"/>
            <a:round/>
            <a:headEnd len="sm" w="sm" type="none"/>
            <a:tailEnd len="sm" w="sm" type="none"/>
          </a:ln>
        </p:spPr>
      </p:cxnSp>
      <p:cxnSp>
        <p:nvCxnSpPr>
          <p:cNvPr id="155" name="Google Shape;155;p8"/>
          <p:cNvCxnSpPr/>
          <p:nvPr/>
        </p:nvCxnSpPr>
        <p:spPr>
          <a:xfrm rot="10800000">
            <a:off x="3611223" y="2873905"/>
            <a:ext cx="593148" cy="0"/>
          </a:xfrm>
          <a:prstGeom prst="straightConnector1">
            <a:avLst/>
          </a:prstGeom>
          <a:noFill/>
          <a:ln cap="flat" cmpd="sng" w="28575">
            <a:solidFill>
              <a:srgbClr val="D8D8D8"/>
            </a:solidFill>
            <a:prstDash val="solid"/>
            <a:round/>
            <a:headEnd len="sm" w="sm" type="none"/>
            <a:tailEnd len="sm" w="sm" type="none"/>
          </a:ln>
        </p:spPr>
      </p:cxnSp>
      <p:grpSp>
        <p:nvGrpSpPr>
          <p:cNvPr id="156" name="Google Shape;156;p8"/>
          <p:cNvGrpSpPr/>
          <p:nvPr/>
        </p:nvGrpSpPr>
        <p:grpSpPr>
          <a:xfrm>
            <a:off x="4127292" y="2812611"/>
            <a:ext cx="122588" cy="122588"/>
            <a:chOff x="1295553" y="3553368"/>
            <a:chExt cx="212749" cy="212749"/>
          </a:xfrm>
        </p:grpSpPr>
        <p:sp>
          <p:nvSpPr>
            <p:cNvPr id="157" name="Google Shape;157;p8"/>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 name="Google Shape;158;p8"/>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59" name="Google Shape;159;p8"/>
          <p:cNvCxnSpPr/>
          <p:nvPr/>
        </p:nvCxnSpPr>
        <p:spPr>
          <a:xfrm rot="10800000">
            <a:off x="3572683" y="3369723"/>
            <a:ext cx="593148" cy="0"/>
          </a:xfrm>
          <a:prstGeom prst="straightConnector1">
            <a:avLst/>
          </a:prstGeom>
          <a:noFill/>
          <a:ln cap="flat" cmpd="sng" w="28575">
            <a:solidFill>
              <a:srgbClr val="D8D8D8"/>
            </a:solidFill>
            <a:prstDash val="solid"/>
            <a:round/>
            <a:headEnd len="sm" w="sm" type="none"/>
            <a:tailEnd len="sm" w="sm" type="none"/>
          </a:ln>
        </p:spPr>
      </p:cxnSp>
      <p:grpSp>
        <p:nvGrpSpPr>
          <p:cNvPr id="160" name="Google Shape;160;p8"/>
          <p:cNvGrpSpPr/>
          <p:nvPr/>
        </p:nvGrpSpPr>
        <p:grpSpPr>
          <a:xfrm>
            <a:off x="4127292" y="3304743"/>
            <a:ext cx="122588" cy="122588"/>
            <a:chOff x="1295553" y="3553368"/>
            <a:chExt cx="212749" cy="212749"/>
          </a:xfrm>
        </p:grpSpPr>
        <p:sp>
          <p:nvSpPr>
            <p:cNvPr id="161" name="Google Shape;161;p8"/>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 name="Google Shape;162;p8"/>
            <p:cNvSpPr/>
            <p:nvPr/>
          </p:nvSpPr>
          <p:spPr>
            <a:xfrm>
              <a:off x="1324326" y="3582141"/>
              <a:ext cx="155202" cy="155202"/>
            </a:xfrm>
            <a:prstGeom prst="ellipse">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63" name="Google Shape;163;p8"/>
          <p:cNvCxnSpPr/>
          <p:nvPr/>
        </p:nvCxnSpPr>
        <p:spPr>
          <a:xfrm rot="10800000">
            <a:off x="3611223" y="3873798"/>
            <a:ext cx="593148" cy="0"/>
          </a:xfrm>
          <a:prstGeom prst="straightConnector1">
            <a:avLst/>
          </a:prstGeom>
          <a:noFill/>
          <a:ln cap="flat" cmpd="sng" w="28575">
            <a:solidFill>
              <a:srgbClr val="D8D8D8"/>
            </a:solidFill>
            <a:prstDash val="solid"/>
            <a:round/>
            <a:headEnd len="sm" w="sm" type="none"/>
            <a:tailEnd len="sm" w="sm" type="none"/>
          </a:ln>
        </p:spPr>
      </p:cxnSp>
      <p:grpSp>
        <p:nvGrpSpPr>
          <p:cNvPr id="164" name="Google Shape;164;p8"/>
          <p:cNvGrpSpPr/>
          <p:nvPr/>
        </p:nvGrpSpPr>
        <p:grpSpPr>
          <a:xfrm>
            <a:off x="4127292" y="3812504"/>
            <a:ext cx="122588" cy="122588"/>
            <a:chOff x="1295553" y="3553368"/>
            <a:chExt cx="212749" cy="212749"/>
          </a:xfrm>
        </p:grpSpPr>
        <p:sp>
          <p:nvSpPr>
            <p:cNvPr id="165" name="Google Shape;165;p8"/>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6" name="Google Shape;166;p8"/>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67" name="Google Shape;167;p8"/>
          <p:cNvCxnSpPr/>
          <p:nvPr/>
        </p:nvCxnSpPr>
        <p:spPr>
          <a:xfrm rot="10800000">
            <a:off x="3611223" y="4377522"/>
            <a:ext cx="593148" cy="0"/>
          </a:xfrm>
          <a:prstGeom prst="straightConnector1">
            <a:avLst/>
          </a:prstGeom>
          <a:noFill/>
          <a:ln cap="flat" cmpd="sng" w="28575">
            <a:solidFill>
              <a:srgbClr val="D8D8D8"/>
            </a:solidFill>
            <a:prstDash val="solid"/>
            <a:round/>
            <a:headEnd len="sm" w="sm" type="none"/>
            <a:tailEnd len="sm" w="sm" type="none"/>
          </a:ln>
        </p:spPr>
      </p:cxnSp>
      <p:grpSp>
        <p:nvGrpSpPr>
          <p:cNvPr id="168" name="Google Shape;168;p8"/>
          <p:cNvGrpSpPr/>
          <p:nvPr/>
        </p:nvGrpSpPr>
        <p:grpSpPr>
          <a:xfrm>
            <a:off x="4127292" y="4316228"/>
            <a:ext cx="122588" cy="122588"/>
            <a:chOff x="1295553" y="3553368"/>
            <a:chExt cx="212749" cy="212749"/>
          </a:xfrm>
        </p:grpSpPr>
        <p:sp>
          <p:nvSpPr>
            <p:cNvPr id="169" name="Google Shape;169;p8"/>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 name="Google Shape;170;p8"/>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71" name="Google Shape;171;p8"/>
          <p:cNvSpPr/>
          <p:nvPr/>
        </p:nvSpPr>
        <p:spPr>
          <a:xfrm>
            <a:off x="503238" y="2661109"/>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0" lvl="0" marL="31115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INDIVIDUOS E INTERACCIONES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procesos y herramientas. </a:t>
            </a:r>
            <a:endParaRPr b="0" i="0" sz="1300" u="none" cap="none" strike="noStrike">
              <a:solidFill>
                <a:srgbClr val="FFFFFF"/>
              </a:solidFill>
              <a:latin typeface="Calibri"/>
              <a:ea typeface="Calibri"/>
              <a:cs typeface="Calibri"/>
              <a:sym typeface="Calibri"/>
            </a:endParaRPr>
          </a:p>
        </p:txBody>
      </p:sp>
      <p:sp>
        <p:nvSpPr>
          <p:cNvPr id="172" name="Google Shape;172;p8"/>
          <p:cNvSpPr/>
          <p:nvPr/>
        </p:nvSpPr>
        <p:spPr>
          <a:xfrm>
            <a:off x="503238" y="3162041"/>
            <a:ext cx="3366019" cy="415364"/>
          </a:xfrm>
          <a:prstGeom prst="roundRect">
            <a:avLst>
              <a:gd fmla="val 24513" name="adj"/>
            </a:avLst>
          </a:prstGeom>
          <a:solidFill>
            <a:srgbClr val="00B2C2"/>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SOFTWARE FUNCIONANDO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documentación extensiva. </a:t>
            </a:r>
            <a:endParaRPr b="0" i="0" sz="1300" u="none" cap="none" strike="noStrike">
              <a:solidFill>
                <a:srgbClr val="FFFFFF"/>
              </a:solidFill>
              <a:latin typeface="Calibri"/>
              <a:ea typeface="Calibri"/>
              <a:cs typeface="Calibri"/>
              <a:sym typeface="Calibri"/>
            </a:endParaRPr>
          </a:p>
        </p:txBody>
      </p:sp>
      <p:sp>
        <p:nvSpPr>
          <p:cNvPr id="173" name="Google Shape;173;p8"/>
          <p:cNvSpPr/>
          <p:nvPr/>
        </p:nvSpPr>
        <p:spPr>
          <a:xfrm>
            <a:off x="503238" y="3662701"/>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COLABORACIÓN CON EL CLIENTE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negociación de contratos. </a:t>
            </a:r>
            <a:endParaRPr b="0" i="0" sz="1300" u="none" cap="none" strike="noStrike">
              <a:solidFill>
                <a:srgbClr val="FFFFFF"/>
              </a:solidFill>
              <a:latin typeface="Calibri"/>
              <a:ea typeface="Calibri"/>
              <a:cs typeface="Calibri"/>
              <a:sym typeface="Calibri"/>
            </a:endParaRPr>
          </a:p>
        </p:txBody>
      </p:sp>
      <p:sp>
        <p:nvSpPr>
          <p:cNvPr id="174" name="Google Shape;174;p8"/>
          <p:cNvSpPr/>
          <p:nvPr/>
        </p:nvSpPr>
        <p:spPr>
          <a:xfrm>
            <a:off x="503238" y="4171584"/>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RESPUESTA ANTE EL CAMBIO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seguir un plan.</a:t>
            </a:r>
            <a:r>
              <a:rPr b="1" i="0" lang="es-PE" sz="1300" u="none" cap="none" strike="noStrike">
                <a:solidFill>
                  <a:srgbClr val="FFFFFF"/>
                </a:solidFill>
                <a:latin typeface="Calibri"/>
                <a:ea typeface="Calibri"/>
                <a:cs typeface="Calibri"/>
                <a:sym typeface="Calibri"/>
              </a:rPr>
              <a:t> </a:t>
            </a:r>
            <a:endParaRPr b="1" i="0" sz="1300" u="none" cap="none" strike="noStrike">
              <a:solidFill>
                <a:srgbClr val="FFFFFF"/>
              </a:solidFill>
              <a:latin typeface="Calibri"/>
              <a:ea typeface="Calibri"/>
              <a:cs typeface="Calibri"/>
              <a:sym typeface="Calibri"/>
            </a:endParaRPr>
          </a:p>
        </p:txBody>
      </p:sp>
      <p:sp>
        <p:nvSpPr>
          <p:cNvPr id="175" name="Google Shape;175;p8"/>
          <p:cNvSpPr txBox="1"/>
          <p:nvPr/>
        </p:nvSpPr>
        <p:spPr>
          <a:xfrm>
            <a:off x="565931" y="2643073"/>
            <a:ext cx="479897"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76" name="Google Shape;176;p8"/>
          <p:cNvSpPr txBox="1"/>
          <p:nvPr/>
        </p:nvSpPr>
        <p:spPr>
          <a:xfrm>
            <a:off x="565931" y="3135205"/>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565931" y="3642966"/>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78" name="Google Shape;178;p8"/>
          <p:cNvSpPr txBox="1"/>
          <p:nvPr/>
        </p:nvSpPr>
        <p:spPr>
          <a:xfrm>
            <a:off x="565931" y="4146690"/>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179" name="Google Shape;179;p8"/>
          <p:cNvSpPr txBox="1"/>
          <p:nvPr/>
        </p:nvSpPr>
        <p:spPr>
          <a:xfrm>
            <a:off x="503238" y="914927"/>
            <a:ext cx="8084807" cy="130805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PRINCIPIOS  Y VALORES DE LA AGILIDAD</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fueron entregados en el </a:t>
            </a:r>
            <a:r>
              <a:rPr b="1" i="0" lang="es-PE" sz="1600" u="none" cap="none" strike="noStrike">
                <a:solidFill>
                  <a:srgbClr val="00B2C2"/>
                </a:solidFill>
                <a:latin typeface="Calibri"/>
                <a:ea typeface="Calibri"/>
                <a:cs typeface="Calibri"/>
                <a:sym typeface="Calibri"/>
              </a:rPr>
              <a:t>manifiesto ágil </a:t>
            </a:r>
            <a:r>
              <a:rPr b="0" i="0" lang="es-PE" sz="1600" u="none" cap="none" strike="noStrike">
                <a:solidFill>
                  <a:srgbClr val="262626"/>
                </a:solidFill>
                <a:latin typeface="Calibri"/>
                <a:ea typeface="Calibri"/>
                <a:cs typeface="Calibri"/>
                <a:sym typeface="Calibri"/>
              </a:rPr>
              <a:t>y sirven como directriz para todos los equipos que apuntan a ser ágiles.</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son los </a:t>
            </a:r>
            <a:r>
              <a:rPr b="1" i="0" lang="es-PE" sz="1600" u="none" cap="none" strike="noStrike">
                <a:solidFill>
                  <a:srgbClr val="262626"/>
                </a:solidFill>
                <a:latin typeface="Calibri"/>
                <a:ea typeface="Calibri"/>
                <a:cs typeface="Calibri"/>
                <a:sym typeface="Calibri"/>
              </a:rPr>
              <a:t>4 VALORES</a:t>
            </a:r>
            <a:r>
              <a:rPr b="0" i="0" lang="es-PE" sz="1600" u="none" cap="none" strike="noStrike">
                <a:solidFill>
                  <a:srgbClr val="262626"/>
                </a:solidFill>
                <a:latin typeface="Calibri"/>
                <a:ea typeface="Calibri"/>
                <a:cs typeface="Calibri"/>
                <a:sym typeface="Calibri"/>
              </a:rPr>
              <a:t>:</a:t>
            </a:r>
            <a:endParaRPr b="0" i="0" sz="1600" u="none" cap="none" strike="noStrike">
              <a:solidFill>
                <a:srgbClr val="26262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nvSpPr>
        <p:spPr>
          <a:xfrm>
            <a:off x="4392614" y="2657976"/>
            <a:ext cx="4279296" cy="17235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No sirve de nada entregar un producto a los usuarios que ya no es relevante para ellos; por ello se hace mucho hincapié en la colaboración más que en la negociación, se requiere comenzar a derribar los muros y comenzar a colaborar como un mismo equipo en donde la persona de la idea es parte del equipo de desarrollo –así como el cliente es también considerado como un miembro más– y trabajan juntos para poder lograr generar valor al negocio.</a:t>
            </a:r>
            <a:endParaRPr/>
          </a:p>
        </p:txBody>
      </p:sp>
      <p:sp>
        <p:nvSpPr>
          <p:cNvPr id="185" name="Google Shape;185;p9"/>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cxnSp>
        <p:nvCxnSpPr>
          <p:cNvPr id="186" name="Google Shape;186;p9"/>
          <p:cNvCxnSpPr/>
          <p:nvPr/>
        </p:nvCxnSpPr>
        <p:spPr>
          <a:xfrm rot="10800000">
            <a:off x="4184807" y="2889591"/>
            <a:ext cx="3779" cy="1455916"/>
          </a:xfrm>
          <a:prstGeom prst="straightConnector1">
            <a:avLst/>
          </a:prstGeom>
          <a:noFill/>
          <a:ln cap="flat" cmpd="sng" w="28575">
            <a:solidFill>
              <a:srgbClr val="D8D8D8"/>
            </a:solidFill>
            <a:prstDash val="solid"/>
            <a:round/>
            <a:headEnd len="sm" w="sm" type="none"/>
            <a:tailEnd len="sm" w="sm" type="none"/>
          </a:ln>
        </p:spPr>
      </p:cxnSp>
      <p:cxnSp>
        <p:nvCxnSpPr>
          <p:cNvPr id="187" name="Google Shape;187;p9"/>
          <p:cNvCxnSpPr/>
          <p:nvPr/>
        </p:nvCxnSpPr>
        <p:spPr>
          <a:xfrm rot="10800000">
            <a:off x="3611223" y="2873905"/>
            <a:ext cx="593148" cy="0"/>
          </a:xfrm>
          <a:prstGeom prst="straightConnector1">
            <a:avLst/>
          </a:prstGeom>
          <a:noFill/>
          <a:ln cap="flat" cmpd="sng" w="28575">
            <a:solidFill>
              <a:srgbClr val="D8D8D8"/>
            </a:solidFill>
            <a:prstDash val="solid"/>
            <a:round/>
            <a:headEnd len="sm" w="sm" type="none"/>
            <a:tailEnd len="sm" w="sm" type="none"/>
          </a:ln>
        </p:spPr>
      </p:cxnSp>
      <p:grpSp>
        <p:nvGrpSpPr>
          <p:cNvPr id="188" name="Google Shape;188;p9"/>
          <p:cNvGrpSpPr/>
          <p:nvPr/>
        </p:nvGrpSpPr>
        <p:grpSpPr>
          <a:xfrm>
            <a:off x="4127292" y="2812611"/>
            <a:ext cx="122588" cy="122588"/>
            <a:chOff x="1295553" y="3553368"/>
            <a:chExt cx="212749" cy="212749"/>
          </a:xfrm>
        </p:grpSpPr>
        <p:sp>
          <p:nvSpPr>
            <p:cNvPr id="189" name="Google Shape;189;p9"/>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0" name="Google Shape;190;p9"/>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91" name="Google Shape;191;p9"/>
          <p:cNvCxnSpPr/>
          <p:nvPr/>
        </p:nvCxnSpPr>
        <p:spPr>
          <a:xfrm rot="10800000">
            <a:off x="3572683" y="3369723"/>
            <a:ext cx="593148" cy="0"/>
          </a:xfrm>
          <a:prstGeom prst="straightConnector1">
            <a:avLst/>
          </a:prstGeom>
          <a:noFill/>
          <a:ln cap="flat" cmpd="sng" w="28575">
            <a:solidFill>
              <a:srgbClr val="D8D8D8"/>
            </a:solidFill>
            <a:prstDash val="solid"/>
            <a:round/>
            <a:headEnd len="sm" w="sm" type="none"/>
            <a:tailEnd len="sm" w="sm" type="none"/>
          </a:ln>
        </p:spPr>
      </p:cxnSp>
      <p:grpSp>
        <p:nvGrpSpPr>
          <p:cNvPr id="192" name="Google Shape;192;p9"/>
          <p:cNvGrpSpPr/>
          <p:nvPr/>
        </p:nvGrpSpPr>
        <p:grpSpPr>
          <a:xfrm>
            <a:off x="4127292" y="3304743"/>
            <a:ext cx="122588" cy="122588"/>
            <a:chOff x="1295553" y="3553368"/>
            <a:chExt cx="212749" cy="212749"/>
          </a:xfrm>
        </p:grpSpPr>
        <p:sp>
          <p:nvSpPr>
            <p:cNvPr id="193" name="Google Shape;193;p9"/>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9"/>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95" name="Google Shape;195;p9"/>
          <p:cNvCxnSpPr/>
          <p:nvPr/>
        </p:nvCxnSpPr>
        <p:spPr>
          <a:xfrm rot="10800000">
            <a:off x="3611223" y="3873798"/>
            <a:ext cx="593148" cy="0"/>
          </a:xfrm>
          <a:prstGeom prst="straightConnector1">
            <a:avLst/>
          </a:prstGeom>
          <a:noFill/>
          <a:ln cap="flat" cmpd="sng" w="28575">
            <a:solidFill>
              <a:srgbClr val="D8D8D8"/>
            </a:solidFill>
            <a:prstDash val="solid"/>
            <a:round/>
            <a:headEnd len="sm" w="sm" type="none"/>
            <a:tailEnd len="sm" w="sm" type="none"/>
          </a:ln>
        </p:spPr>
      </p:cxnSp>
      <p:grpSp>
        <p:nvGrpSpPr>
          <p:cNvPr id="196" name="Google Shape;196;p9"/>
          <p:cNvGrpSpPr/>
          <p:nvPr/>
        </p:nvGrpSpPr>
        <p:grpSpPr>
          <a:xfrm>
            <a:off x="4127292" y="3812504"/>
            <a:ext cx="122588" cy="122588"/>
            <a:chOff x="1295553" y="3553368"/>
            <a:chExt cx="212749" cy="212749"/>
          </a:xfrm>
        </p:grpSpPr>
        <p:sp>
          <p:nvSpPr>
            <p:cNvPr id="197" name="Google Shape;197;p9"/>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9"/>
            <p:cNvSpPr/>
            <p:nvPr/>
          </p:nvSpPr>
          <p:spPr>
            <a:xfrm>
              <a:off x="1324326" y="3582141"/>
              <a:ext cx="155202" cy="155202"/>
            </a:xfrm>
            <a:prstGeom prst="ellipse">
              <a:avLst/>
            </a:prstGeom>
            <a:solidFill>
              <a:srgbClr val="70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99" name="Google Shape;199;p9"/>
          <p:cNvCxnSpPr/>
          <p:nvPr/>
        </p:nvCxnSpPr>
        <p:spPr>
          <a:xfrm rot="10800000">
            <a:off x="3611223" y="4377522"/>
            <a:ext cx="593148" cy="0"/>
          </a:xfrm>
          <a:prstGeom prst="straightConnector1">
            <a:avLst/>
          </a:prstGeom>
          <a:noFill/>
          <a:ln cap="flat" cmpd="sng" w="28575">
            <a:solidFill>
              <a:srgbClr val="D8D8D8"/>
            </a:solidFill>
            <a:prstDash val="solid"/>
            <a:round/>
            <a:headEnd len="sm" w="sm" type="none"/>
            <a:tailEnd len="sm" w="sm" type="none"/>
          </a:ln>
        </p:spPr>
      </p:cxnSp>
      <p:grpSp>
        <p:nvGrpSpPr>
          <p:cNvPr id="200" name="Google Shape;200;p9"/>
          <p:cNvGrpSpPr/>
          <p:nvPr/>
        </p:nvGrpSpPr>
        <p:grpSpPr>
          <a:xfrm>
            <a:off x="4127292" y="4316228"/>
            <a:ext cx="122588" cy="122588"/>
            <a:chOff x="1295553" y="3553368"/>
            <a:chExt cx="212749" cy="212749"/>
          </a:xfrm>
        </p:grpSpPr>
        <p:sp>
          <p:nvSpPr>
            <p:cNvPr id="201" name="Google Shape;201;p9"/>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 name="Google Shape;202;p9"/>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03" name="Google Shape;203;p9"/>
          <p:cNvSpPr/>
          <p:nvPr/>
        </p:nvSpPr>
        <p:spPr>
          <a:xfrm>
            <a:off x="503238" y="2661109"/>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0" lvl="0" marL="31115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INDIVIDUOS E INTERACCIONES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procesos y herramientas. </a:t>
            </a:r>
            <a:endParaRPr b="0" i="0" sz="1300" u="none" cap="none" strike="noStrike">
              <a:solidFill>
                <a:srgbClr val="FFFFFF"/>
              </a:solidFill>
              <a:latin typeface="Calibri"/>
              <a:ea typeface="Calibri"/>
              <a:cs typeface="Calibri"/>
              <a:sym typeface="Calibri"/>
            </a:endParaRPr>
          </a:p>
        </p:txBody>
      </p:sp>
      <p:sp>
        <p:nvSpPr>
          <p:cNvPr id="204" name="Google Shape;204;p9"/>
          <p:cNvSpPr/>
          <p:nvPr/>
        </p:nvSpPr>
        <p:spPr>
          <a:xfrm>
            <a:off x="503238" y="3162041"/>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SOFTWARE FUNCIONANDO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documentación extensiva. </a:t>
            </a:r>
            <a:endParaRPr b="0" i="0" sz="1300" u="none" cap="none" strike="noStrike">
              <a:solidFill>
                <a:srgbClr val="FFFFFF"/>
              </a:solidFill>
              <a:latin typeface="Calibri"/>
              <a:ea typeface="Calibri"/>
              <a:cs typeface="Calibri"/>
              <a:sym typeface="Calibri"/>
            </a:endParaRPr>
          </a:p>
        </p:txBody>
      </p:sp>
      <p:sp>
        <p:nvSpPr>
          <p:cNvPr id="205" name="Google Shape;205;p9"/>
          <p:cNvSpPr/>
          <p:nvPr/>
        </p:nvSpPr>
        <p:spPr>
          <a:xfrm>
            <a:off x="503238" y="3662701"/>
            <a:ext cx="3366019" cy="415364"/>
          </a:xfrm>
          <a:prstGeom prst="roundRect">
            <a:avLst>
              <a:gd fmla="val 24513" name="adj"/>
            </a:avLst>
          </a:prstGeom>
          <a:solidFill>
            <a:srgbClr val="714FA0"/>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COLABORACIÓN CON EL CLIENTE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negociación de contratos. </a:t>
            </a:r>
            <a:endParaRPr b="0" i="0" sz="1300" u="none" cap="none" strike="noStrike">
              <a:solidFill>
                <a:srgbClr val="FFFFFF"/>
              </a:solidFill>
              <a:latin typeface="Calibri"/>
              <a:ea typeface="Calibri"/>
              <a:cs typeface="Calibri"/>
              <a:sym typeface="Calibri"/>
            </a:endParaRPr>
          </a:p>
        </p:txBody>
      </p:sp>
      <p:sp>
        <p:nvSpPr>
          <p:cNvPr id="206" name="Google Shape;206;p9"/>
          <p:cNvSpPr/>
          <p:nvPr/>
        </p:nvSpPr>
        <p:spPr>
          <a:xfrm>
            <a:off x="503238" y="4171584"/>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RESPUESTA ANTE EL CAMBIO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seguir un plan.</a:t>
            </a:r>
            <a:r>
              <a:rPr b="1" i="0" lang="es-PE" sz="1300" u="none" cap="none" strike="noStrike">
                <a:solidFill>
                  <a:srgbClr val="FFFFFF"/>
                </a:solidFill>
                <a:latin typeface="Calibri"/>
                <a:ea typeface="Calibri"/>
                <a:cs typeface="Calibri"/>
                <a:sym typeface="Calibri"/>
              </a:rPr>
              <a:t> </a:t>
            </a:r>
            <a:endParaRPr b="1" i="0" sz="1300" u="none" cap="none" strike="noStrike">
              <a:solidFill>
                <a:srgbClr val="FFFFFF"/>
              </a:solidFill>
              <a:latin typeface="Calibri"/>
              <a:ea typeface="Calibri"/>
              <a:cs typeface="Calibri"/>
              <a:sym typeface="Calibri"/>
            </a:endParaRPr>
          </a:p>
        </p:txBody>
      </p:sp>
      <p:sp>
        <p:nvSpPr>
          <p:cNvPr id="207" name="Google Shape;207;p9"/>
          <p:cNvSpPr txBox="1"/>
          <p:nvPr/>
        </p:nvSpPr>
        <p:spPr>
          <a:xfrm>
            <a:off x="565931" y="2643073"/>
            <a:ext cx="479897"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208" name="Google Shape;208;p9"/>
          <p:cNvSpPr txBox="1"/>
          <p:nvPr/>
        </p:nvSpPr>
        <p:spPr>
          <a:xfrm>
            <a:off x="565931" y="3135205"/>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209" name="Google Shape;209;p9"/>
          <p:cNvSpPr txBox="1"/>
          <p:nvPr/>
        </p:nvSpPr>
        <p:spPr>
          <a:xfrm>
            <a:off x="565931" y="3642966"/>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210" name="Google Shape;210;p9"/>
          <p:cNvSpPr txBox="1"/>
          <p:nvPr/>
        </p:nvSpPr>
        <p:spPr>
          <a:xfrm>
            <a:off x="565931" y="4146690"/>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211" name="Google Shape;211;p9"/>
          <p:cNvSpPr txBox="1"/>
          <p:nvPr/>
        </p:nvSpPr>
        <p:spPr>
          <a:xfrm>
            <a:off x="503238" y="914927"/>
            <a:ext cx="8084807" cy="130805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PRINCIPIOS  Y VALORES DE LA AGILIDAD</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fueron entregados en el </a:t>
            </a:r>
            <a:r>
              <a:rPr b="1" i="0" lang="es-PE" sz="1600" u="none" cap="none" strike="noStrike">
                <a:solidFill>
                  <a:srgbClr val="00B2C2"/>
                </a:solidFill>
                <a:latin typeface="Calibri"/>
                <a:ea typeface="Calibri"/>
                <a:cs typeface="Calibri"/>
                <a:sym typeface="Calibri"/>
              </a:rPr>
              <a:t>manifiesto ágil </a:t>
            </a:r>
            <a:r>
              <a:rPr b="0" i="0" lang="es-PE" sz="1600" u="none" cap="none" strike="noStrike">
                <a:solidFill>
                  <a:srgbClr val="262626"/>
                </a:solidFill>
                <a:latin typeface="Calibri"/>
                <a:ea typeface="Calibri"/>
                <a:cs typeface="Calibri"/>
                <a:sym typeface="Calibri"/>
              </a:rPr>
              <a:t>y sirven como directriz para todos los equipos que apuntan a ser ágiles.</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son los </a:t>
            </a:r>
            <a:r>
              <a:rPr b="1" i="0" lang="es-PE" sz="1600" u="none" cap="none" strike="noStrike">
                <a:solidFill>
                  <a:srgbClr val="262626"/>
                </a:solidFill>
                <a:latin typeface="Calibri"/>
                <a:ea typeface="Calibri"/>
                <a:cs typeface="Calibri"/>
                <a:sym typeface="Calibri"/>
              </a:rPr>
              <a:t>4 VALORES</a:t>
            </a:r>
            <a:r>
              <a:rPr b="0" i="0" lang="es-PE" sz="1600" u="none" cap="none" strike="noStrike">
                <a:solidFill>
                  <a:srgbClr val="262626"/>
                </a:solidFill>
                <a:latin typeface="Calibri"/>
                <a:ea typeface="Calibri"/>
                <a:cs typeface="Calibri"/>
                <a:sym typeface="Calibri"/>
              </a:rPr>
              <a:t>:</a:t>
            </a:r>
            <a:endParaRPr b="0" i="0" sz="1600" u="none" cap="none" strike="noStrike">
              <a:solidFill>
                <a:srgbClr val="26262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nvSpPr>
        <p:spPr>
          <a:xfrm>
            <a:off x="4392614" y="2640862"/>
            <a:ext cx="4248148" cy="19389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Para lograr sobrevivir en una mundo VUCA tendremos que trabajar de forma empírica aprendiendo sobre la marcha y adaptando nuestro producto conforme avanzamos y descubrimos cosas nuevas -porque no tiene sentido utilizar planteamientos rígidos en escenarios volátiles-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s-PE" sz="1400" u="none" cap="none" strike="noStrike">
                <a:solidFill>
                  <a:schemeClr val="dk1"/>
                </a:solidFill>
                <a:latin typeface="Calibri"/>
                <a:ea typeface="Calibri"/>
                <a:cs typeface="Calibri"/>
                <a:sym typeface="Calibri"/>
              </a:rPr>
              <a:t>ajustando nuestro accionar incluso a mitad/final del proceso de desarrollo y a “no” buscar seguir un plan ciegamente tratando de mantener las fechas y los alcances originales.</a:t>
            </a:r>
            <a:endParaRPr b="0" i="0" sz="1400" u="none" cap="none" strike="noStrike">
              <a:solidFill>
                <a:schemeClr val="dk1"/>
              </a:solidFill>
              <a:latin typeface="Arial"/>
              <a:ea typeface="Arial"/>
              <a:cs typeface="Arial"/>
              <a:sym typeface="Arial"/>
            </a:endParaRPr>
          </a:p>
        </p:txBody>
      </p:sp>
      <p:sp>
        <p:nvSpPr>
          <p:cNvPr id="217" name="Google Shape;217;p10"/>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cxnSp>
        <p:nvCxnSpPr>
          <p:cNvPr id="218" name="Google Shape;218;p10"/>
          <p:cNvCxnSpPr/>
          <p:nvPr/>
        </p:nvCxnSpPr>
        <p:spPr>
          <a:xfrm rot="10800000">
            <a:off x="4184807" y="2889591"/>
            <a:ext cx="3779" cy="1455916"/>
          </a:xfrm>
          <a:prstGeom prst="straightConnector1">
            <a:avLst/>
          </a:prstGeom>
          <a:noFill/>
          <a:ln cap="flat" cmpd="sng" w="28575">
            <a:solidFill>
              <a:srgbClr val="D8D8D8"/>
            </a:solidFill>
            <a:prstDash val="solid"/>
            <a:round/>
            <a:headEnd len="sm" w="sm" type="none"/>
            <a:tailEnd len="sm" w="sm" type="none"/>
          </a:ln>
        </p:spPr>
      </p:cxnSp>
      <p:cxnSp>
        <p:nvCxnSpPr>
          <p:cNvPr id="219" name="Google Shape;219;p10"/>
          <p:cNvCxnSpPr/>
          <p:nvPr/>
        </p:nvCxnSpPr>
        <p:spPr>
          <a:xfrm rot="10800000">
            <a:off x="3611223" y="2873905"/>
            <a:ext cx="593148" cy="0"/>
          </a:xfrm>
          <a:prstGeom prst="straightConnector1">
            <a:avLst/>
          </a:prstGeom>
          <a:noFill/>
          <a:ln cap="flat" cmpd="sng" w="28575">
            <a:solidFill>
              <a:srgbClr val="D8D8D8"/>
            </a:solidFill>
            <a:prstDash val="solid"/>
            <a:round/>
            <a:headEnd len="sm" w="sm" type="none"/>
            <a:tailEnd len="sm" w="sm" type="none"/>
          </a:ln>
        </p:spPr>
      </p:cxnSp>
      <p:grpSp>
        <p:nvGrpSpPr>
          <p:cNvPr id="220" name="Google Shape;220;p10"/>
          <p:cNvGrpSpPr/>
          <p:nvPr/>
        </p:nvGrpSpPr>
        <p:grpSpPr>
          <a:xfrm>
            <a:off x="4127292" y="2812611"/>
            <a:ext cx="122588" cy="122588"/>
            <a:chOff x="1295553" y="3553368"/>
            <a:chExt cx="212749" cy="212749"/>
          </a:xfrm>
        </p:grpSpPr>
        <p:sp>
          <p:nvSpPr>
            <p:cNvPr id="221" name="Google Shape;221;p10"/>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2" name="Google Shape;222;p10"/>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223" name="Google Shape;223;p10"/>
          <p:cNvCxnSpPr/>
          <p:nvPr/>
        </p:nvCxnSpPr>
        <p:spPr>
          <a:xfrm rot="10800000">
            <a:off x="3572683" y="3369723"/>
            <a:ext cx="593148" cy="0"/>
          </a:xfrm>
          <a:prstGeom prst="straightConnector1">
            <a:avLst/>
          </a:prstGeom>
          <a:noFill/>
          <a:ln cap="flat" cmpd="sng" w="28575">
            <a:solidFill>
              <a:srgbClr val="D8D8D8"/>
            </a:solidFill>
            <a:prstDash val="solid"/>
            <a:round/>
            <a:headEnd len="sm" w="sm" type="none"/>
            <a:tailEnd len="sm" w="sm" type="none"/>
          </a:ln>
        </p:spPr>
      </p:cxnSp>
      <p:grpSp>
        <p:nvGrpSpPr>
          <p:cNvPr id="224" name="Google Shape;224;p10"/>
          <p:cNvGrpSpPr/>
          <p:nvPr/>
        </p:nvGrpSpPr>
        <p:grpSpPr>
          <a:xfrm>
            <a:off x="4127292" y="3304743"/>
            <a:ext cx="122588" cy="122588"/>
            <a:chOff x="1295553" y="3553368"/>
            <a:chExt cx="212749" cy="212749"/>
          </a:xfrm>
        </p:grpSpPr>
        <p:sp>
          <p:nvSpPr>
            <p:cNvPr id="225" name="Google Shape;225;p10"/>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6" name="Google Shape;226;p10"/>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227" name="Google Shape;227;p10"/>
          <p:cNvCxnSpPr/>
          <p:nvPr/>
        </p:nvCxnSpPr>
        <p:spPr>
          <a:xfrm rot="10800000">
            <a:off x="3611223" y="3873798"/>
            <a:ext cx="593148" cy="0"/>
          </a:xfrm>
          <a:prstGeom prst="straightConnector1">
            <a:avLst/>
          </a:prstGeom>
          <a:noFill/>
          <a:ln cap="flat" cmpd="sng" w="28575">
            <a:solidFill>
              <a:srgbClr val="D8D8D8"/>
            </a:solidFill>
            <a:prstDash val="solid"/>
            <a:round/>
            <a:headEnd len="sm" w="sm" type="none"/>
            <a:tailEnd len="sm" w="sm" type="none"/>
          </a:ln>
        </p:spPr>
      </p:cxnSp>
      <p:grpSp>
        <p:nvGrpSpPr>
          <p:cNvPr id="228" name="Google Shape;228;p10"/>
          <p:cNvGrpSpPr/>
          <p:nvPr/>
        </p:nvGrpSpPr>
        <p:grpSpPr>
          <a:xfrm>
            <a:off x="4127292" y="3812504"/>
            <a:ext cx="122588" cy="122588"/>
            <a:chOff x="1295553" y="3553368"/>
            <a:chExt cx="212749" cy="212749"/>
          </a:xfrm>
        </p:grpSpPr>
        <p:sp>
          <p:nvSpPr>
            <p:cNvPr id="229" name="Google Shape;229;p10"/>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0" name="Google Shape;230;p10"/>
            <p:cNvSpPr/>
            <p:nvPr/>
          </p:nvSpPr>
          <p:spPr>
            <a:xfrm>
              <a:off x="1324326" y="3582141"/>
              <a:ext cx="155202" cy="155202"/>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231" name="Google Shape;231;p10"/>
          <p:cNvCxnSpPr/>
          <p:nvPr/>
        </p:nvCxnSpPr>
        <p:spPr>
          <a:xfrm rot="10800000">
            <a:off x="3611223" y="4377522"/>
            <a:ext cx="593148" cy="0"/>
          </a:xfrm>
          <a:prstGeom prst="straightConnector1">
            <a:avLst/>
          </a:prstGeom>
          <a:noFill/>
          <a:ln cap="flat" cmpd="sng" w="28575">
            <a:solidFill>
              <a:srgbClr val="D8D8D8"/>
            </a:solidFill>
            <a:prstDash val="solid"/>
            <a:round/>
            <a:headEnd len="sm" w="sm" type="none"/>
            <a:tailEnd len="sm" w="sm" type="none"/>
          </a:ln>
        </p:spPr>
      </p:cxnSp>
      <p:grpSp>
        <p:nvGrpSpPr>
          <p:cNvPr id="232" name="Google Shape;232;p10"/>
          <p:cNvGrpSpPr/>
          <p:nvPr/>
        </p:nvGrpSpPr>
        <p:grpSpPr>
          <a:xfrm>
            <a:off x="4127292" y="4316228"/>
            <a:ext cx="122588" cy="122588"/>
            <a:chOff x="1295553" y="3553368"/>
            <a:chExt cx="212749" cy="212749"/>
          </a:xfrm>
        </p:grpSpPr>
        <p:sp>
          <p:nvSpPr>
            <p:cNvPr id="233" name="Google Shape;233;p10"/>
            <p:cNvSpPr/>
            <p:nvPr/>
          </p:nvSpPr>
          <p:spPr>
            <a:xfrm>
              <a:off x="1295553" y="3553368"/>
              <a:ext cx="212749" cy="21274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4" name="Google Shape;234;p10"/>
            <p:cNvSpPr/>
            <p:nvPr/>
          </p:nvSpPr>
          <p:spPr>
            <a:xfrm>
              <a:off x="1324326" y="3582141"/>
              <a:ext cx="155202" cy="155202"/>
            </a:xfrm>
            <a:prstGeom prst="ellipse">
              <a:avLst/>
            </a:prstGeom>
            <a:solidFill>
              <a:srgbClr val="FF78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35" name="Google Shape;235;p10"/>
          <p:cNvSpPr/>
          <p:nvPr/>
        </p:nvSpPr>
        <p:spPr>
          <a:xfrm>
            <a:off x="503238" y="2661109"/>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0" lvl="0" marL="31115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INDIVIDUOS E INTERACCIONES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procesos y herramientas. </a:t>
            </a:r>
            <a:endParaRPr b="0" i="0" sz="1300" u="none" cap="none" strike="noStrike">
              <a:solidFill>
                <a:srgbClr val="FFFFFF"/>
              </a:solidFill>
              <a:latin typeface="Calibri"/>
              <a:ea typeface="Calibri"/>
              <a:cs typeface="Calibri"/>
              <a:sym typeface="Calibri"/>
            </a:endParaRPr>
          </a:p>
        </p:txBody>
      </p:sp>
      <p:sp>
        <p:nvSpPr>
          <p:cNvPr id="236" name="Google Shape;236;p10"/>
          <p:cNvSpPr/>
          <p:nvPr/>
        </p:nvSpPr>
        <p:spPr>
          <a:xfrm>
            <a:off x="503238" y="3162041"/>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SOFTWARE FUNCIONANDO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documentación extensiva. </a:t>
            </a:r>
            <a:endParaRPr b="0" i="0" sz="1300" u="none" cap="none" strike="noStrike">
              <a:solidFill>
                <a:srgbClr val="FFFFFF"/>
              </a:solidFill>
              <a:latin typeface="Calibri"/>
              <a:ea typeface="Calibri"/>
              <a:cs typeface="Calibri"/>
              <a:sym typeface="Calibri"/>
            </a:endParaRPr>
          </a:p>
        </p:txBody>
      </p:sp>
      <p:sp>
        <p:nvSpPr>
          <p:cNvPr id="237" name="Google Shape;237;p10"/>
          <p:cNvSpPr/>
          <p:nvPr/>
        </p:nvSpPr>
        <p:spPr>
          <a:xfrm>
            <a:off x="503238" y="3662701"/>
            <a:ext cx="3366019" cy="415364"/>
          </a:xfrm>
          <a:prstGeom prst="roundRect">
            <a:avLst>
              <a:gd fmla="val 24513" name="adj"/>
            </a:avLst>
          </a:prstGeom>
          <a:solidFill>
            <a:srgbClr val="D8D8D8"/>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COLABORACIÓN CON EL CLIENTE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negociación de contratos. </a:t>
            </a:r>
            <a:endParaRPr b="0" i="0" sz="1300" u="none" cap="none" strike="noStrike">
              <a:solidFill>
                <a:srgbClr val="FFFFFF"/>
              </a:solidFill>
              <a:latin typeface="Calibri"/>
              <a:ea typeface="Calibri"/>
              <a:cs typeface="Calibri"/>
              <a:sym typeface="Calibri"/>
            </a:endParaRPr>
          </a:p>
        </p:txBody>
      </p:sp>
      <p:sp>
        <p:nvSpPr>
          <p:cNvPr id="238" name="Google Shape;238;p10"/>
          <p:cNvSpPr/>
          <p:nvPr/>
        </p:nvSpPr>
        <p:spPr>
          <a:xfrm>
            <a:off x="503238" y="4171584"/>
            <a:ext cx="3366019" cy="415364"/>
          </a:xfrm>
          <a:prstGeom prst="roundRect">
            <a:avLst>
              <a:gd fmla="val 24513" name="adj"/>
            </a:avLst>
          </a:prstGeom>
          <a:solidFill>
            <a:srgbClr val="FF7827"/>
          </a:solidFill>
          <a:ln>
            <a:noFill/>
          </a:ln>
        </p:spPr>
        <p:txBody>
          <a:bodyPr anchorCtr="0" anchor="ctr" bIns="45700" lIns="91425" spcFirstLastPara="1" rIns="91425" wrap="square" tIns="45700">
            <a:noAutofit/>
          </a:bodyPr>
          <a:lstStyle/>
          <a:p>
            <a:pPr indent="-6350" lvl="0" marL="317500" marR="0" rtl="0" algn="l">
              <a:lnSpc>
                <a:spcPct val="100000"/>
              </a:lnSpc>
              <a:spcBef>
                <a:spcPts val="0"/>
              </a:spcBef>
              <a:spcAft>
                <a:spcPts val="0"/>
              </a:spcAft>
              <a:buClr>
                <a:srgbClr val="000000"/>
              </a:buClr>
              <a:buSzPts val="1300"/>
              <a:buFont typeface="Arial"/>
              <a:buNone/>
            </a:pPr>
            <a:r>
              <a:rPr b="1" i="0" lang="es-PE" sz="1300" u="none" cap="none" strike="noStrike">
                <a:solidFill>
                  <a:srgbClr val="FFFFFF"/>
                </a:solidFill>
                <a:latin typeface="Calibri"/>
                <a:ea typeface="Calibri"/>
                <a:cs typeface="Calibri"/>
                <a:sym typeface="Calibri"/>
              </a:rPr>
              <a:t>RESPUESTA ANTE EL CAMBIO </a:t>
            </a:r>
            <a:br>
              <a:rPr b="1" i="0" lang="es-PE" sz="1300" u="none" cap="none" strike="noStrike">
                <a:solidFill>
                  <a:srgbClr val="FFFFFF"/>
                </a:solidFill>
                <a:latin typeface="Calibri"/>
                <a:ea typeface="Calibri"/>
                <a:cs typeface="Calibri"/>
                <a:sym typeface="Calibri"/>
              </a:rPr>
            </a:br>
            <a:r>
              <a:rPr b="0" i="0" lang="es-PE" sz="1300" u="none" cap="none" strike="noStrike">
                <a:solidFill>
                  <a:srgbClr val="FFFFFF"/>
                </a:solidFill>
                <a:latin typeface="Calibri"/>
                <a:ea typeface="Calibri"/>
                <a:cs typeface="Calibri"/>
                <a:sym typeface="Calibri"/>
              </a:rPr>
              <a:t>sobre seguir un plan.</a:t>
            </a:r>
            <a:r>
              <a:rPr b="1" i="0" lang="es-PE" sz="1300" u="none" cap="none" strike="noStrike">
                <a:solidFill>
                  <a:srgbClr val="FFFFFF"/>
                </a:solidFill>
                <a:latin typeface="Calibri"/>
                <a:ea typeface="Calibri"/>
                <a:cs typeface="Calibri"/>
                <a:sym typeface="Calibri"/>
              </a:rPr>
              <a:t> </a:t>
            </a:r>
            <a:endParaRPr b="1" i="0" sz="1300" u="none" cap="none" strike="noStrike">
              <a:solidFill>
                <a:srgbClr val="FFFFFF"/>
              </a:solidFill>
              <a:latin typeface="Calibri"/>
              <a:ea typeface="Calibri"/>
              <a:cs typeface="Calibri"/>
              <a:sym typeface="Calibri"/>
            </a:endParaRPr>
          </a:p>
        </p:txBody>
      </p:sp>
      <p:sp>
        <p:nvSpPr>
          <p:cNvPr id="239" name="Google Shape;239;p10"/>
          <p:cNvSpPr txBox="1"/>
          <p:nvPr/>
        </p:nvSpPr>
        <p:spPr>
          <a:xfrm>
            <a:off x="565931" y="2643073"/>
            <a:ext cx="479897"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240" name="Google Shape;240;p10"/>
          <p:cNvSpPr txBox="1"/>
          <p:nvPr/>
        </p:nvSpPr>
        <p:spPr>
          <a:xfrm>
            <a:off x="565931" y="3135205"/>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241" name="Google Shape;241;p10"/>
          <p:cNvSpPr txBox="1"/>
          <p:nvPr/>
        </p:nvSpPr>
        <p:spPr>
          <a:xfrm>
            <a:off x="565931" y="3642966"/>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242" name="Google Shape;242;p10"/>
          <p:cNvSpPr txBox="1"/>
          <p:nvPr/>
        </p:nvSpPr>
        <p:spPr>
          <a:xfrm>
            <a:off x="565931" y="4146690"/>
            <a:ext cx="47989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1" i="0" lang="es-PE" sz="2400" u="none" cap="none" strike="noStrike">
                <a:solidFill>
                  <a:srgbClr val="FFFFFF"/>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243" name="Google Shape;243;p10"/>
          <p:cNvSpPr txBox="1"/>
          <p:nvPr/>
        </p:nvSpPr>
        <p:spPr>
          <a:xfrm>
            <a:off x="503238" y="914927"/>
            <a:ext cx="8084807" cy="130805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PRINCIPIOS  Y VALORES DE LA AGILIDAD</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fueron entregados en el </a:t>
            </a:r>
            <a:r>
              <a:rPr b="1" i="0" lang="es-PE" sz="1600" u="none" cap="none" strike="noStrike">
                <a:solidFill>
                  <a:srgbClr val="00B2C2"/>
                </a:solidFill>
                <a:latin typeface="Calibri"/>
                <a:ea typeface="Calibri"/>
                <a:cs typeface="Calibri"/>
                <a:sym typeface="Calibri"/>
              </a:rPr>
              <a:t>manifiesto ágil </a:t>
            </a:r>
            <a:r>
              <a:rPr b="0" i="0" lang="es-PE" sz="1600" u="none" cap="none" strike="noStrike">
                <a:solidFill>
                  <a:srgbClr val="262626"/>
                </a:solidFill>
                <a:latin typeface="Calibri"/>
                <a:ea typeface="Calibri"/>
                <a:cs typeface="Calibri"/>
                <a:sym typeface="Calibri"/>
              </a:rPr>
              <a:t>y sirven como directriz para todos los equipos que apuntan a ser ágiles.</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Estos son los </a:t>
            </a:r>
            <a:r>
              <a:rPr b="1" i="0" lang="es-PE" sz="1600" u="none" cap="none" strike="noStrike">
                <a:solidFill>
                  <a:srgbClr val="262626"/>
                </a:solidFill>
                <a:latin typeface="Calibri"/>
                <a:ea typeface="Calibri"/>
                <a:cs typeface="Calibri"/>
                <a:sym typeface="Calibri"/>
              </a:rPr>
              <a:t>4 VALORES</a:t>
            </a:r>
            <a:r>
              <a:rPr b="0" i="0" lang="es-PE" sz="1600" u="none" cap="none" strike="noStrike">
                <a:solidFill>
                  <a:srgbClr val="262626"/>
                </a:solidFill>
                <a:latin typeface="Calibri"/>
                <a:ea typeface="Calibri"/>
                <a:cs typeface="Calibri"/>
                <a:sym typeface="Calibri"/>
              </a:rPr>
              <a:t>:</a:t>
            </a:r>
            <a:endParaRPr b="0" i="0" sz="1600" u="none" cap="none" strike="noStrike">
              <a:solidFill>
                <a:srgbClr val="26262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sp>
        <p:nvSpPr>
          <p:cNvPr id="250" name="Google Shape;250;p11"/>
          <p:cNvSpPr/>
          <p:nvPr/>
        </p:nvSpPr>
        <p:spPr>
          <a:xfrm>
            <a:off x="503238" y="1206581"/>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01</a:t>
            </a:r>
            <a:endParaRPr b="1" i="0" sz="2000" u="none" cap="none" strike="noStrike">
              <a:solidFill>
                <a:srgbClr val="01B1C3"/>
              </a:solidFill>
              <a:latin typeface="Calibri"/>
              <a:ea typeface="Calibri"/>
              <a:cs typeface="Calibri"/>
              <a:sym typeface="Calibri"/>
            </a:endParaRPr>
          </a:p>
        </p:txBody>
      </p:sp>
      <p:cxnSp>
        <p:nvCxnSpPr>
          <p:cNvPr id="251" name="Google Shape;251;p11"/>
          <p:cNvCxnSpPr/>
          <p:nvPr/>
        </p:nvCxnSpPr>
        <p:spPr>
          <a:xfrm>
            <a:off x="1059263" y="1332497"/>
            <a:ext cx="0" cy="3751719"/>
          </a:xfrm>
          <a:prstGeom prst="straightConnector1">
            <a:avLst/>
          </a:prstGeom>
          <a:noFill/>
          <a:ln cap="flat" cmpd="sng" w="12700">
            <a:solidFill>
              <a:srgbClr val="01B1C3"/>
            </a:solidFill>
            <a:prstDash val="solid"/>
            <a:round/>
            <a:headEnd len="sm" w="sm" type="none"/>
            <a:tailEnd len="sm" w="sm" type="none"/>
          </a:ln>
        </p:spPr>
      </p:cxnSp>
      <p:grpSp>
        <p:nvGrpSpPr>
          <p:cNvPr id="252" name="Google Shape;252;p11"/>
          <p:cNvGrpSpPr/>
          <p:nvPr/>
        </p:nvGrpSpPr>
        <p:grpSpPr>
          <a:xfrm>
            <a:off x="988867" y="1310620"/>
            <a:ext cx="140792" cy="140258"/>
            <a:chOff x="3427964" y="2244682"/>
            <a:chExt cx="225891" cy="225034"/>
          </a:xfrm>
        </p:grpSpPr>
        <p:sp>
          <p:nvSpPr>
            <p:cNvPr id="253" name="Google Shape;253;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 name="Google Shape;254;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55" name="Google Shape;255;p11"/>
          <p:cNvSpPr/>
          <p:nvPr/>
        </p:nvSpPr>
        <p:spPr>
          <a:xfrm>
            <a:off x="1284865" y="1272416"/>
            <a:ext cx="5686924" cy="412420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Satisfacer al cliente mediante la entrega temprana y continua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Aprovechar el cambio como ventaja competitiva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Entregar valor frecuentemente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Cooperación negocio-desarrolladores durante todo el proyecto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Construir proyectos en torno a individuos motivados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Utilizar la comunicación cara a cara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Software funcionando como medida de progreso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Promover y mantener un desarrollo sostenible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La excelencia técnica mejora la agilidad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La simplicidad es fundamental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None/>
            </a:pPr>
            <a:r>
              <a:rPr b="0" i="0" lang="es-PE" sz="1400" u="none" cap="none" strike="noStrike">
                <a:solidFill>
                  <a:srgbClr val="262626"/>
                </a:solidFill>
                <a:latin typeface="Calibri"/>
                <a:ea typeface="Calibri"/>
                <a:cs typeface="Calibri"/>
                <a:sym typeface="Calibri"/>
              </a:rPr>
              <a:t>Equipos autoorganizados para generar más valor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1000"/>
              </a:spcAft>
              <a:buNone/>
            </a:pPr>
            <a:r>
              <a:rPr b="0" i="0" lang="es-PE" sz="1400" u="none" cap="none" strike="noStrike">
                <a:solidFill>
                  <a:srgbClr val="262626"/>
                </a:solidFill>
                <a:latin typeface="Calibri"/>
                <a:ea typeface="Calibri"/>
                <a:cs typeface="Calibri"/>
                <a:sym typeface="Calibri"/>
              </a:rPr>
              <a:t>Reflexión y ajustes frecuentes del trabajo de los equipos</a:t>
            </a:r>
            <a:endParaRPr b="0" i="0" sz="1400" u="none" cap="none" strike="noStrike">
              <a:solidFill>
                <a:srgbClr val="262626"/>
              </a:solidFill>
              <a:latin typeface="Calibri"/>
              <a:ea typeface="Calibri"/>
              <a:cs typeface="Calibri"/>
              <a:sym typeface="Calibri"/>
            </a:endParaRPr>
          </a:p>
        </p:txBody>
      </p:sp>
      <p:sp>
        <p:nvSpPr>
          <p:cNvPr id="256" name="Google Shape;256;p11"/>
          <p:cNvSpPr/>
          <p:nvPr/>
        </p:nvSpPr>
        <p:spPr>
          <a:xfrm>
            <a:off x="503238" y="1558647"/>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02</a:t>
            </a:r>
            <a:endParaRPr b="1" i="0" sz="2000" u="none" cap="none" strike="noStrike">
              <a:solidFill>
                <a:srgbClr val="01B1C3"/>
              </a:solidFill>
              <a:latin typeface="Calibri"/>
              <a:ea typeface="Calibri"/>
              <a:cs typeface="Calibri"/>
              <a:sym typeface="Calibri"/>
            </a:endParaRPr>
          </a:p>
        </p:txBody>
      </p:sp>
      <p:grpSp>
        <p:nvGrpSpPr>
          <p:cNvPr id="257" name="Google Shape;257;p11"/>
          <p:cNvGrpSpPr/>
          <p:nvPr/>
        </p:nvGrpSpPr>
        <p:grpSpPr>
          <a:xfrm>
            <a:off x="988867" y="1655098"/>
            <a:ext cx="140792" cy="140258"/>
            <a:chOff x="3427964" y="2244682"/>
            <a:chExt cx="225891" cy="225034"/>
          </a:xfrm>
        </p:grpSpPr>
        <p:sp>
          <p:nvSpPr>
            <p:cNvPr id="258" name="Google Shape;258;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9" name="Google Shape;259;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60" name="Google Shape;260;p11"/>
          <p:cNvSpPr/>
          <p:nvPr/>
        </p:nvSpPr>
        <p:spPr>
          <a:xfrm>
            <a:off x="503238" y="1892536"/>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03</a:t>
            </a:r>
            <a:endParaRPr b="1" i="0" sz="2000" u="none" cap="none" strike="noStrike">
              <a:solidFill>
                <a:srgbClr val="01B1C3"/>
              </a:solidFill>
              <a:latin typeface="Calibri"/>
              <a:ea typeface="Calibri"/>
              <a:cs typeface="Calibri"/>
              <a:sym typeface="Calibri"/>
            </a:endParaRPr>
          </a:p>
        </p:txBody>
      </p:sp>
      <p:grpSp>
        <p:nvGrpSpPr>
          <p:cNvPr id="261" name="Google Shape;261;p11"/>
          <p:cNvGrpSpPr/>
          <p:nvPr/>
        </p:nvGrpSpPr>
        <p:grpSpPr>
          <a:xfrm>
            <a:off x="988867" y="1988987"/>
            <a:ext cx="140792" cy="140258"/>
            <a:chOff x="3427964" y="2244682"/>
            <a:chExt cx="225891" cy="225034"/>
          </a:xfrm>
        </p:grpSpPr>
        <p:sp>
          <p:nvSpPr>
            <p:cNvPr id="262" name="Google Shape;262;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64" name="Google Shape;264;p11"/>
          <p:cNvSpPr/>
          <p:nvPr/>
        </p:nvSpPr>
        <p:spPr>
          <a:xfrm>
            <a:off x="503238" y="2222630"/>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04</a:t>
            </a:r>
            <a:endParaRPr b="1" i="0" sz="2000" u="none" cap="none" strike="noStrike">
              <a:solidFill>
                <a:srgbClr val="01B1C3"/>
              </a:solidFill>
              <a:latin typeface="Calibri"/>
              <a:ea typeface="Calibri"/>
              <a:cs typeface="Calibri"/>
              <a:sym typeface="Calibri"/>
            </a:endParaRPr>
          </a:p>
        </p:txBody>
      </p:sp>
      <p:grpSp>
        <p:nvGrpSpPr>
          <p:cNvPr id="265" name="Google Shape;265;p11"/>
          <p:cNvGrpSpPr/>
          <p:nvPr/>
        </p:nvGrpSpPr>
        <p:grpSpPr>
          <a:xfrm>
            <a:off x="988867" y="2319081"/>
            <a:ext cx="140792" cy="140258"/>
            <a:chOff x="3427964" y="2244682"/>
            <a:chExt cx="225891" cy="225034"/>
          </a:xfrm>
        </p:grpSpPr>
        <p:sp>
          <p:nvSpPr>
            <p:cNvPr id="266" name="Google Shape;266;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68" name="Google Shape;268;p11"/>
          <p:cNvSpPr/>
          <p:nvPr/>
        </p:nvSpPr>
        <p:spPr>
          <a:xfrm>
            <a:off x="503238" y="2575490"/>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05</a:t>
            </a:r>
            <a:endParaRPr b="1" i="0" sz="2000" u="none" cap="none" strike="noStrike">
              <a:solidFill>
                <a:srgbClr val="01B1C3"/>
              </a:solidFill>
              <a:latin typeface="Calibri"/>
              <a:ea typeface="Calibri"/>
              <a:cs typeface="Calibri"/>
              <a:sym typeface="Calibri"/>
            </a:endParaRPr>
          </a:p>
        </p:txBody>
      </p:sp>
      <p:grpSp>
        <p:nvGrpSpPr>
          <p:cNvPr id="269" name="Google Shape;269;p11"/>
          <p:cNvGrpSpPr/>
          <p:nvPr/>
        </p:nvGrpSpPr>
        <p:grpSpPr>
          <a:xfrm>
            <a:off x="988867" y="2671941"/>
            <a:ext cx="140792" cy="140258"/>
            <a:chOff x="3427964" y="2244682"/>
            <a:chExt cx="225891" cy="225034"/>
          </a:xfrm>
        </p:grpSpPr>
        <p:sp>
          <p:nvSpPr>
            <p:cNvPr id="270" name="Google Shape;270;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72" name="Google Shape;272;p11"/>
          <p:cNvSpPr/>
          <p:nvPr/>
        </p:nvSpPr>
        <p:spPr>
          <a:xfrm>
            <a:off x="503238" y="2916968"/>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06</a:t>
            </a:r>
            <a:endParaRPr b="1" i="0" sz="2000" u="none" cap="none" strike="noStrike">
              <a:solidFill>
                <a:srgbClr val="01B1C3"/>
              </a:solidFill>
              <a:latin typeface="Calibri"/>
              <a:ea typeface="Calibri"/>
              <a:cs typeface="Calibri"/>
              <a:sym typeface="Calibri"/>
            </a:endParaRPr>
          </a:p>
        </p:txBody>
      </p:sp>
      <p:grpSp>
        <p:nvGrpSpPr>
          <p:cNvPr id="273" name="Google Shape;273;p11"/>
          <p:cNvGrpSpPr/>
          <p:nvPr/>
        </p:nvGrpSpPr>
        <p:grpSpPr>
          <a:xfrm>
            <a:off x="988867" y="3013419"/>
            <a:ext cx="140792" cy="140258"/>
            <a:chOff x="3427964" y="2244682"/>
            <a:chExt cx="225891" cy="225034"/>
          </a:xfrm>
        </p:grpSpPr>
        <p:sp>
          <p:nvSpPr>
            <p:cNvPr id="274" name="Google Shape;274;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5" name="Google Shape;275;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76" name="Google Shape;276;p11"/>
          <p:cNvSpPr/>
          <p:nvPr/>
        </p:nvSpPr>
        <p:spPr>
          <a:xfrm>
            <a:off x="503238" y="3247062"/>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07</a:t>
            </a:r>
            <a:endParaRPr b="1" i="0" sz="2000" u="none" cap="none" strike="noStrike">
              <a:solidFill>
                <a:srgbClr val="01B1C3"/>
              </a:solidFill>
              <a:latin typeface="Calibri"/>
              <a:ea typeface="Calibri"/>
              <a:cs typeface="Calibri"/>
              <a:sym typeface="Calibri"/>
            </a:endParaRPr>
          </a:p>
        </p:txBody>
      </p:sp>
      <p:grpSp>
        <p:nvGrpSpPr>
          <p:cNvPr id="277" name="Google Shape;277;p11"/>
          <p:cNvGrpSpPr/>
          <p:nvPr/>
        </p:nvGrpSpPr>
        <p:grpSpPr>
          <a:xfrm>
            <a:off x="988867" y="3343513"/>
            <a:ext cx="140792" cy="140258"/>
            <a:chOff x="3427964" y="2244682"/>
            <a:chExt cx="225891" cy="225034"/>
          </a:xfrm>
        </p:grpSpPr>
        <p:sp>
          <p:nvSpPr>
            <p:cNvPr id="278" name="Google Shape;278;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80" name="Google Shape;280;p11"/>
          <p:cNvSpPr/>
          <p:nvPr/>
        </p:nvSpPr>
        <p:spPr>
          <a:xfrm>
            <a:off x="503238" y="3596127"/>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08</a:t>
            </a:r>
            <a:endParaRPr b="1" i="0" sz="2000" u="none" cap="none" strike="noStrike">
              <a:solidFill>
                <a:srgbClr val="01B1C3"/>
              </a:solidFill>
              <a:latin typeface="Calibri"/>
              <a:ea typeface="Calibri"/>
              <a:cs typeface="Calibri"/>
              <a:sym typeface="Calibri"/>
            </a:endParaRPr>
          </a:p>
        </p:txBody>
      </p:sp>
      <p:grpSp>
        <p:nvGrpSpPr>
          <p:cNvPr id="281" name="Google Shape;281;p11"/>
          <p:cNvGrpSpPr/>
          <p:nvPr/>
        </p:nvGrpSpPr>
        <p:grpSpPr>
          <a:xfrm>
            <a:off x="988867" y="3692578"/>
            <a:ext cx="140792" cy="140258"/>
            <a:chOff x="3427964" y="2244682"/>
            <a:chExt cx="225891" cy="225034"/>
          </a:xfrm>
        </p:grpSpPr>
        <p:sp>
          <p:nvSpPr>
            <p:cNvPr id="282" name="Google Shape;282;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3" name="Google Shape;283;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84" name="Google Shape;284;p11"/>
          <p:cNvSpPr/>
          <p:nvPr/>
        </p:nvSpPr>
        <p:spPr>
          <a:xfrm>
            <a:off x="503238" y="3937604"/>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09</a:t>
            </a:r>
            <a:endParaRPr b="1" i="0" sz="2000" u="none" cap="none" strike="noStrike">
              <a:solidFill>
                <a:srgbClr val="01B1C3"/>
              </a:solidFill>
              <a:latin typeface="Calibri"/>
              <a:ea typeface="Calibri"/>
              <a:cs typeface="Calibri"/>
              <a:sym typeface="Calibri"/>
            </a:endParaRPr>
          </a:p>
        </p:txBody>
      </p:sp>
      <p:grpSp>
        <p:nvGrpSpPr>
          <p:cNvPr id="285" name="Google Shape;285;p11"/>
          <p:cNvGrpSpPr/>
          <p:nvPr/>
        </p:nvGrpSpPr>
        <p:grpSpPr>
          <a:xfrm>
            <a:off x="988867" y="4034055"/>
            <a:ext cx="140792" cy="140258"/>
            <a:chOff x="3427964" y="2244682"/>
            <a:chExt cx="225891" cy="225034"/>
          </a:xfrm>
        </p:grpSpPr>
        <p:sp>
          <p:nvSpPr>
            <p:cNvPr id="286" name="Google Shape;286;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7" name="Google Shape;287;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88" name="Google Shape;288;p11"/>
          <p:cNvSpPr/>
          <p:nvPr/>
        </p:nvSpPr>
        <p:spPr>
          <a:xfrm>
            <a:off x="503238" y="4279081"/>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10</a:t>
            </a:r>
            <a:endParaRPr b="1" i="0" sz="2000" u="none" cap="none" strike="noStrike">
              <a:solidFill>
                <a:srgbClr val="01B1C3"/>
              </a:solidFill>
              <a:latin typeface="Calibri"/>
              <a:ea typeface="Calibri"/>
              <a:cs typeface="Calibri"/>
              <a:sym typeface="Calibri"/>
            </a:endParaRPr>
          </a:p>
        </p:txBody>
      </p:sp>
      <p:grpSp>
        <p:nvGrpSpPr>
          <p:cNvPr id="289" name="Google Shape;289;p11"/>
          <p:cNvGrpSpPr/>
          <p:nvPr/>
        </p:nvGrpSpPr>
        <p:grpSpPr>
          <a:xfrm>
            <a:off x="988867" y="4375532"/>
            <a:ext cx="140792" cy="140258"/>
            <a:chOff x="3427964" y="2244682"/>
            <a:chExt cx="225891" cy="225034"/>
          </a:xfrm>
        </p:grpSpPr>
        <p:sp>
          <p:nvSpPr>
            <p:cNvPr id="290" name="Google Shape;290;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92" name="Google Shape;292;p11"/>
          <p:cNvSpPr/>
          <p:nvPr/>
        </p:nvSpPr>
        <p:spPr>
          <a:xfrm>
            <a:off x="503238" y="4612970"/>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11</a:t>
            </a:r>
            <a:endParaRPr b="1" i="0" sz="2000" u="none" cap="none" strike="noStrike">
              <a:solidFill>
                <a:srgbClr val="01B1C3"/>
              </a:solidFill>
              <a:latin typeface="Calibri"/>
              <a:ea typeface="Calibri"/>
              <a:cs typeface="Calibri"/>
              <a:sym typeface="Calibri"/>
            </a:endParaRPr>
          </a:p>
        </p:txBody>
      </p:sp>
      <p:grpSp>
        <p:nvGrpSpPr>
          <p:cNvPr id="293" name="Google Shape;293;p11"/>
          <p:cNvGrpSpPr/>
          <p:nvPr/>
        </p:nvGrpSpPr>
        <p:grpSpPr>
          <a:xfrm>
            <a:off x="988867" y="4709421"/>
            <a:ext cx="140792" cy="140258"/>
            <a:chOff x="3427964" y="2244682"/>
            <a:chExt cx="225891" cy="225034"/>
          </a:xfrm>
        </p:grpSpPr>
        <p:sp>
          <p:nvSpPr>
            <p:cNvPr id="294" name="Google Shape;294;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96" name="Google Shape;296;p11"/>
          <p:cNvSpPr/>
          <p:nvPr/>
        </p:nvSpPr>
        <p:spPr>
          <a:xfrm>
            <a:off x="503238" y="4962035"/>
            <a:ext cx="400819" cy="307777"/>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rgbClr val="01B1C3"/>
                </a:solidFill>
                <a:latin typeface="Calibri"/>
                <a:ea typeface="Calibri"/>
                <a:cs typeface="Calibri"/>
                <a:sym typeface="Calibri"/>
              </a:rPr>
              <a:t>12</a:t>
            </a:r>
            <a:endParaRPr b="1" i="0" sz="2000" u="none" cap="none" strike="noStrike">
              <a:solidFill>
                <a:srgbClr val="01B1C3"/>
              </a:solidFill>
              <a:latin typeface="Calibri"/>
              <a:ea typeface="Calibri"/>
              <a:cs typeface="Calibri"/>
              <a:sym typeface="Calibri"/>
            </a:endParaRPr>
          </a:p>
        </p:txBody>
      </p:sp>
      <p:grpSp>
        <p:nvGrpSpPr>
          <p:cNvPr id="297" name="Google Shape;297;p11"/>
          <p:cNvGrpSpPr/>
          <p:nvPr/>
        </p:nvGrpSpPr>
        <p:grpSpPr>
          <a:xfrm>
            <a:off x="988867" y="5058486"/>
            <a:ext cx="140792" cy="140258"/>
            <a:chOff x="3427964" y="2244682"/>
            <a:chExt cx="225891" cy="225034"/>
          </a:xfrm>
        </p:grpSpPr>
        <p:sp>
          <p:nvSpPr>
            <p:cNvPr id="298" name="Google Shape;298;p11"/>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9" name="Google Shape;299;p11"/>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00" name="Google Shape;300;p11"/>
          <p:cNvSpPr/>
          <p:nvPr/>
        </p:nvSpPr>
        <p:spPr>
          <a:xfrm>
            <a:off x="503238" y="918641"/>
            <a:ext cx="2507950"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s-PE" sz="1800" u="none" cap="none" strike="noStrike">
                <a:solidFill>
                  <a:schemeClr val="dk1"/>
                </a:solidFill>
                <a:latin typeface="Calibri"/>
                <a:ea typeface="Calibri"/>
                <a:cs typeface="Calibri"/>
                <a:sym typeface="Calibri"/>
              </a:rPr>
              <a:t>12 PRINCIPIOS</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2"/>
          <p:cNvSpPr txBox="1"/>
          <p:nvPr/>
        </p:nvSpPr>
        <p:spPr>
          <a:xfrm>
            <a:off x="4751387" y="912813"/>
            <a:ext cx="3889375" cy="4262705"/>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PROCESO DE DESARROLLO ÁGIL</a:t>
            </a:r>
            <a:endParaRPr b="0" i="0" sz="1600" u="none" cap="none" strike="noStrike">
              <a:solidFill>
                <a:srgbClr val="262626"/>
              </a:solidFill>
              <a:latin typeface="Calibri"/>
              <a:ea typeface="Calibri"/>
              <a:cs typeface="Calibri"/>
              <a:sym typeface="Calibri"/>
            </a:endParaRPr>
          </a:p>
          <a:p>
            <a:pPr indent="-174625" lvl="0" marL="185738" marR="0" rtl="0" algn="l">
              <a:lnSpc>
                <a:spcPct val="100000"/>
              </a:lnSpc>
              <a:spcBef>
                <a:spcPts val="60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Es un proceso que </a:t>
            </a:r>
            <a:r>
              <a:rPr b="1" i="0" lang="es-PE" sz="1600" u="none" cap="none" strike="noStrike">
                <a:solidFill>
                  <a:srgbClr val="262626"/>
                </a:solidFill>
                <a:latin typeface="Calibri"/>
                <a:ea typeface="Calibri"/>
                <a:cs typeface="Calibri"/>
                <a:sym typeface="Calibri"/>
              </a:rPr>
              <a:t>no termina</a:t>
            </a:r>
            <a:r>
              <a:rPr b="0" i="0" lang="es-PE" sz="1600" u="none" cap="none" strike="noStrike">
                <a:solidFill>
                  <a:srgbClr val="262626"/>
                </a:solidFill>
                <a:latin typeface="Calibri"/>
                <a:ea typeface="Calibri"/>
                <a:cs typeface="Calibri"/>
                <a:sym typeface="Calibri"/>
              </a:rPr>
              <a:t>.</a:t>
            </a:r>
            <a:endParaRPr b="0" i="0" sz="1600" u="none" cap="none" strike="noStrike">
              <a:solidFill>
                <a:srgbClr val="000000"/>
              </a:solidFill>
              <a:latin typeface="Calibri"/>
              <a:ea typeface="Calibri"/>
              <a:cs typeface="Calibri"/>
              <a:sym typeface="Calibri"/>
            </a:endParaRPr>
          </a:p>
          <a:p>
            <a:pPr indent="-174625" lvl="0" marL="185738"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Este ciclo (al igual que el del “pivote”) busca capitalizar cada aprendizaje antes del siguiente inicio a través de la retroalimentación, pruebas y medición de resultados. </a:t>
            </a:r>
            <a:endParaRPr b="0" i="0" sz="1600" u="none" cap="none" strike="noStrike">
              <a:solidFill>
                <a:srgbClr val="000000"/>
              </a:solidFill>
              <a:latin typeface="Calibri"/>
              <a:ea typeface="Calibri"/>
              <a:cs typeface="Calibri"/>
              <a:sym typeface="Calibri"/>
            </a:endParaRPr>
          </a:p>
          <a:p>
            <a:pPr indent="-73025" lvl="0" marL="185738" marR="0" rtl="0" algn="l">
              <a:lnSpc>
                <a:spcPct val="100000"/>
              </a:lnSpc>
              <a:spcBef>
                <a:spcPts val="0"/>
              </a:spcBef>
              <a:spcAft>
                <a:spcPts val="0"/>
              </a:spcAft>
              <a:buClr>
                <a:schemeClr val="dk1"/>
              </a:buClr>
              <a:buSzPts val="1600"/>
              <a:buFont typeface="Arial"/>
              <a:buNone/>
            </a:pPr>
            <a:r>
              <a:t/>
            </a:r>
            <a:endParaRPr b="0" i="0" sz="1600" u="none" cap="none" strike="noStrike">
              <a:solidFill>
                <a:srgbClr val="262626"/>
              </a:solidFill>
              <a:latin typeface="Calibri"/>
              <a:ea typeface="Calibri"/>
              <a:cs typeface="Calibri"/>
              <a:sym typeface="Calibri"/>
            </a:endParaRPr>
          </a:p>
          <a:p>
            <a:pPr indent="-174625" lvl="0" marL="185738" marR="0" rtl="0" algn="l">
              <a:lnSpc>
                <a:spcPct val="100000"/>
              </a:lnSpc>
              <a:spcBef>
                <a:spcPts val="0"/>
              </a:spcBef>
              <a:spcAft>
                <a:spcPts val="0"/>
              </a:spcAft>
              <a:buClr>
                <a:schemeClr val="dk1"/>
              </a:buClr>
              <a:buSzPts val="1600"/>
              <a:buFont typeface="Arial"/>
              <a:buChar char="•"/>
            </a:pPr>
            <a:r>
              <a:rPr b="0" i="0" lang="es-PE" sz="1600" u="none" cap="none" strike="noStrike">
                <a:solidFill>
                  <a:srgbClr val="262626"/>
                </a:solidFill>
                <a:latin typeface="Calibri"/>
                <a:ea typeface="Calibri"/>
                <a:cs typeface="Calibri"/>
                <a:sym typeface="Calibri"/>
              </a:rPr>
              <a:t>De esta manera, se asegura el enfoque continuo en el cliente. Este se puede resumir en:</a:t>
            </a:r>
            <a:endParaRPr b="0" i="0" sz="1600" u="none" cap="none" strike="noStrike">
              <a:solidFill>
                <a:srgbClr val="000000"/>
              </a:solidFill>
              <a:latin typeface="Calibri"/>
              <a:ea typeface="Calibri"/>
              <a:cs typeface="Calibri"/>
              <a:sym typeface="Calibri"/>
            </a:endParaRPr>
          </a:p>
          <a:p>
            <a:pPr indent="-219075" lvl="0" marL="400050" marR="0" rtl="0" algn="l">
              <a:lnSpc>
                <a:spcPct val="100000"/>
              </a:lnSpc>
              <a:spcBef>
                <a:spcPts val="0"/>
              </a:spcBef>
              <a:spcAft>
                <a:spcPts val="0"/>
              </a:spcAft>
              <a:buClr>
                <a:schemeClr val="dk1"/>
              </a:buClr>
              <a:buSzPts val="1600"/>
              <a:buFont typeface="Arial"/>
              <a:buAutoNum type="arabicPeriod"/>
            </a:pPr>
            <a:r>
              <a:rPr b="0" i="0" lang="es-PE" sz="1600" u="none" cap="none" strike="noStrike">
                <a:solidFill>
                  <a:srgbClr val="262626"/>
                </a:solidFill>
                <a:latin typeface="Calibri"/>
                <a:ea typeface="Calibri"/>
                <a:cs typeface="Calibri"/>
                <a:sym typeface="Calibri"/>
              </a:rPr>
              <a:t>Definición</a:t>
            </a:r>
            <a:endParaRPr b="0" i="0" sz="1600" u="none" cap="none" strike="noStrike">
              <a:solidFill>
                <a:srgbClr val="000000"/>
              </a:solidFill>
              <a:latin typeface="Calibri"/>
              <a:ea typeface="Calibri"/>
              <a:cs typeface="Calibri"/>
              <a:sym typeface="Calibri"/>
            </a:endParaRPr>
          </a:p>
          <a:p>
            <a:pPr indent="-219075" lvl="0" marL="400050" marR="0" rtl="0" algn="l">
              <a:lnSpc>
                <a:spcPct val="100000"/>
              </a:lnSpc>
              <a:spcBef>
                <a:spcPts val="0"/>
              </a:spcBef>
              <a:spcAft>
                <a:spcPts val="0"/>
              </a:spcAft>
              <a:buClr>
                <a:schemeClr val="dk1"/>
              </a:buClr>
              <a:buSzPts val="1600"/>
              <a:buFont typeface="Arial"/>
              <a:buAutoNum type="arabicPeriod"/>
            </a:pPr>
            <a:r>
              <a:rPr b="0" i="0" lang="es-PE" sz="1600" u="none" cap="none" strike="noStrike">
                <a:solidFill>
                  <a:srgbClr val="262626"/>
                </a:solidFill>
                <a:latin typeface="Calibri"/>
                <a:ea typeface="Calibri"/>
                <a:cs typeface="Calibri"/>
                <a:sym typeface="Calibri"/>
              </a:rPr>
              <a:t>Desarrollo</a:t>
            </a:r>
            <a:endParaRPr b="0" i="0" sz="1600" u="none" cap="none" strike="noStrike">
              <a:solidFill>
                <a:srgbClr val="000000"/>
              </a:solidFill>
              <a:latin typeface="Calibri"/>
              <a:ea typeface="Calibri"/>
              <a:cs typeface="Calibri"/>
              <a:sym typeface="Calibri"/>
            </a:endParaRPr>
          </a:p>
          <a:p>
            <a:pPr indent="-219075" lvl="0" marL="400050" marR="0" rtl="0" algn="l">
              <a:lnSpc>
                <a:spcPct val="100000"/>
              </a:lnSpc>
              <a:spcBef>
                <a:spcPts val="0"/>
              </a:spcBef>
              <a:spcAft>
                <a:spcPts val="0"/>
              </a:spcAft>
              <a:buClr>
                <a:schemeClr val="dk1"/>
              </a:buClr>
              <a:buSzPts val="1600"/>
              <a:buFont typeface="Arial"/>
              <a:buAutoNum type="arabicPeriod"/>
            </a:pPr>
            <a:r>
              <a:rPr b="0" i="0" lang="es-PE" sz="1600" u="none" cap="none" strike="noStrike">
                <a:solidFill>
                  <a:srgbClr val="262626"/>
                </a:solidFill>
                <a:latin typeface="Calibri"/>
                <a:ea typeface="Calibri"/>
                <a:cs typeface="Calibri"/>
                <a:sym typeface="Calibri"/>
              </a:rPr>
              <a:t>Pruebas &amp; Retroalimentación</a:t>
            </a:r>
            <a:endParaRPr b="0" i="0" sz="1600" u="none" cap="none" strike="noStrike">
              <a:solidFill>
                <a:srgbClr val="000000"/>
              </a:solidFill>
              <a:latin typeface="Calibri"/>
              <a:ea typeface="Calibri"/>
              <a:cs typeface="Calibri"/>
              <a:sym typeface="Calibri"/>
            </a:endParaRPr>
          </a:p>
          <a:p>
            <a:pPr indent="-219075" lvl="0" marL="400050" marR="0" rtl="0" algn="l">
              <a:lnSpc>
                <a:spcPct val="100000"/>
              </a:lnSpc>
              <a:spcBef>
                <a:spcPts val="0"/>
              </a:spcBef>
              <a:spcAft>
                <a:spcPts val="0"/>
              </a:spcAft>
              <a:buClr>
                <a:schemeClr val="dk1"/>
              </a:buClr>
              <a:buSzPts val="1600"/>
              <a:buFont typeface="Arial"/>
              <a:buAutoNum type="arabicPeriod"/>
            </a:pPr>
            <a:r>
              <a:rPr b="0" i="0" lang="es-PE" sz="1600" u="none" cap="none" strike="noStrike">
                <a:solidFill>
                  <a:srgbClr val="262626"/>
                </a:solidFill>
                <a:latin typeface="Calibri"/>
                <a:ea typeface="Calibri"/>
                <a:cs typeface="Calibri"/>
                <a:sym typeface="Calibri"/>
              </a:rPr>
              <a:t>Medición de resultados</a:t>
            </a:r>
            <a:endParaRPr b="0" i="0" sz="1600" u="none" cap="none" strike="noStrike">
              <a:solidFill>
                <a:srgbClr val="000000"/>
              </a:solidFill>
              <a:latin typeface="Calibri"/>
              <a:ea typeface="Calibri"/>
              <a:cs typeface="Calibri"/>
              <a:sym typeface="Calibri"/>
            </a:endParaRPr>
          </a:p>
          <a:p>
            <a:pPr indent="-241300" lvl="0" marL="354625"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E inicio nuevamente.</a:t>
            </a:r>
            <a:endParaRPr b="0" i="0" sz="1400" u="none" cap="none" strike="noStrike">
              <a:solidFill>
                <a:srgbClr val="000000"/>
              </a:solidFill>
              <a:latin typeface="Arial"/>
              <a:ea typeface="Arial"/>
              <a:cs typeface="Arial"/>
              <a:sym typeface="Arial"/>
            </a:endParaRPr>
          </a:p>
        </p:txBody>
      </p:sp>
      <p:sp>
        <p:nvSpPr>
          <p:cNvPr id="307" name="Google Shape;307;p12"/>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sp>
        <p:nvSpPr>
          <p:cNvPr id="308" name="Google Shape;308;p12"/>
          <p:cNvSpPr/>
          <p:nvPr/>
        </p:nvSpPr>
        <p:spPr>
          <a:xfrm>
            <a:off x="503238" y="912813"/>
            <a:ext cx="3889375" cy="4321175"/>
          </a:xfrm>
          <a:prstGeom prst="rect">
            <a:avLst/>
          </a:prstGeom>
          <a:solidFill>
            <a:srgbClr val="F8F8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descr="Desarrollo en Cascada (Waterfall) VS Desarrollo Agile (SCRUM) - Northware" id="309" name="Google Shape;309;p12"/>
          <p:cNvPicPr preferRelativeResize="0"/>
          <p:nvPr/>
        </p:nvPicPr>
        <p:blipFill rotWithShape="1">
          <a:blip r:embed="rId3">
            <a:alphaModFix/>
          </a:blip>
          <a:srcRect b="0" l="0" r="0" t="0"/>
          <a:stretch/>
        </p:blipFill>
        <p:spPr>
          <a:xfrm>
            <a:off x="608650" y="1690199"/>
            <a:ext cx="3730542" cy="2695318"/>
          </a:xfrm>
          <a:prstGeom prst="rect">
            <a:avLst/>
          </a:prstGeom>
          <a:noFill/>
          <a:ln>
            <a:noFill/>
          </a:ln>
        </p:spPr>
      </p:pic>
      <p:sp>
        <p:nvSpPr>
          <p:cNvPr id="310" name="Google Shape;310;p12"/>
          <p:cNvSpPr/>
          <p:nvPr/>
        </p:nvSpPr>
        <p:spPr>
          <a:xfrm>
            <a:off x="544642" y="4929297"/>
            <a:ext cx="3163721"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br>
              <a:rPr b="0" i="0" lang="es-PE" sz="1000" u="none" cap="none" strike="noStrike">
                <a:solidFill>
                  <a:schemeClr val="dk1"/>
                </a:solidFill>
                <a:latin typeface="Calibri"/>
                <a:ea typeface="Calibri"/>
                <a:cs typeface="Calibri"/>
                <a:sym typeface="Calibri"/>
              </a:rPr>
            </a:br>
            <a:r>
              <a:rPr b="1" i="0" lang="es-PE" sz="1000" u="none" cap="none" strike="noStrike">
                <a:solidFill>
                  <a:srgbClr val="7F7F7F"/>
                </a:solidFill>
                <a:latin typeface="Calibri"/>
                <a:ea typeface="Calibri"/>
                <a:cs typeface="Calibri"/>
                <a:sym typeface="Calibri"/>
              </a:rPr>
              <a:t>Fuente: </a:t>
            </a:r>
            <a:r>
              <a:rPr b="0" i="0" lang="es-PE" sz="1000" u="none" cap="none" strike="noStrike">
                <a:solidFill>
                  <a:srgbClr val="7F7F7F"/>
                </a:solidFill>
                <a:latin typeface="Calibri"/>
                <a:ea typeface="Calibri"/>
                <a:cs typeface="Calibri"/>
                <a:sym typeface="Calibri"/>
              </a:rPr>
              <a:t>Blog northware.mx</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3"/>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PRINCIPIOS, VALORES Y PROCESO DEL DESARROLLO ÁGIL </a:t>
            </a:r>
            <a:endParaRPr b="0" i="0" sz="1400" u="none" cap="none" strike="noStrike">
              <a:solidFill>
                <a:srgbClr val="000000"/>
              </a:solidFill>
              <a:latin typeface="Arial"/>
              <a:ea typeface="Arial"/>
              <a:cs typeface="Arial"/>
              <a:sym typeface="Arial"/>
            </a:endParaRPr>
          </a:p>
        </p:txBody>
      </p:sp>
      <p:sp>
        <p:nvSpPr>
          <p:cNvPr id="317" name="Google Shape;317;p13"/>
          <p:cNvSpPr/>
          <p:nvPr/>
        </p:nvSpPr>
        <p:spPr>
          <a:xfrm>
            <a:off x="1694470" y="1904534"/>
            <a:ext cx="5755059" cy="2052990"/>
          </a:xfrm>
          <a:prstGeom prst="roundRect">
            <a:avLst>
              <a:gd fmla="val 5987" name="adj"/>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18" name="Google Shape;318;p13"/>
          <p:cNvPicPr preferRelativeResize="0"/>
          <p:nvPr/>
        </p:nvPicPr>
        <p:blipFill rotWithShape="1">
          <a:blip r:embed="rId3">
            <a:alphaModFix/>
          </a:blip>
          <a:srcRect b="47889" l="30025" r="24146" t="0"/>
          <a:stretch/>
        </p:blipFill>
        <p:spPr>
          <a:xfrm>
            <a:off x="1972381" y="1432053"/>
            <a:ext cx="546847" cy="920717"/>
          </a:xfrm>
          <a:prstGeom prst="rect">
            <a:avLst/>
          </a:prstGeom>
          <a:noFill/>
          <a:ln>
            <a:noFill/>
          </a:ln>
        </p:spPr>
      </p:pic>
      <p:sp>
        <p:nvSpPr>
          <p:cNvPr id="319" name="Google Shape;319;p13"/>
          <p:cNvSpPr txBox="1"/>
          <p:nvPr/>
        </p:nvSpPr>
        <p:spPr>
          <a:xfrm>
            <a:off x="2086207" y="2424848"/>
            <a:ext cx="5070714" cy="12362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1" lang="es-PE" sz="1800" u="none" cap="none" strike="noStrike">
                <a:solidFill>
                  <a:schemeClr val="lt1"/>
                </a:solidFill>
                <a:latin typeface="Calibri"/>
                <a:ea typeface="Calibri"/>
                <a:cs typeface="Calibri"/>
                <a:sym typeface="Calibri"/>
              </a:rPr>
              <a:t>“If we have a fully defined backlog, we no longer have a true Agile Product Development situation. Instead, we have a project. ”</a:t>
            </a:r>
            <a:endParaRPr b="0" i="0" sz="1800" u="none" cap="none" strike="noStrike">
              <a:solidFill>
                <a:schemeClr val="lt1"/>
              </a:solidFill>
              <a:latin typeface="Arial"/>
              <a:ea typeface="Arial"/>
              <a:cs typeface="Arial"/>
              <a:sym typeface="Arial"/>
            </a:endParaRPr>
          </a:p>
          <a:p>
            <a:pPr indent="0" lvl="0" marL="0" marR="0" rtl="0" algn="r">
              <a:lnSpc>
                <a:spcPct val="100000"/>
              </a:lnSpc>
              <a:spcBef>
                <a:spcPts val="1000"/>
              </a:spcBef>
              <a:spcAft>
                <a:spcPts val="0"/>
              </a:spcAft>
              <a:buClr>
                <a:srgbClr val="000000"/>
              </a:buClr>
              <a:buSzPts val="1800"/>
              <a:buFont typeface="Arial"/>
              <a:buNone/>
            </a:pPr>
            <a:r>
              <a:rPr b="1" i="0" lang="es-PE" sz="1800" u="none" cap="none" strike="noStrike">
                <a:solidFill>
                  <a:schemeClr val="lt1"/>
                </a:solidFill>
                <a:latin typeface="Calibri"/>
                <a:ea typeface="Calibri"/>
                <a:cs typeface="Calibri"/>
                <a:sym typeface="Calibri"/>
              </a:rPr>
              <a:t>Ron Jeffries (2015)</a:t>
            </a:r>
            <a:endParaRPr b="1" i="0" sz="2000" u="none" cap="none" strike="noStrik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4"/>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6" name="Google Shape;326;p14"/>
          <p:cNvSpPr txBox="1"/>
          <p:nvPr/>
        </p:nvSpPr>
        <p:spPr>
          <a:xfrm>
            <a:off x="1008063" y="3157860"/>
            <a:ext cx="5993558"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PE" sz="2800" u="none" cap="none" strike="noStrike">
                <a:solidFill>
                  <a:schemeClr val="lt1"/>
                </a:solidFill>
                <a:latin typeface="Arial"/>
                <a:ea typeface="Arial"/>
                <a:cs typeface="Arial"/>
                <a:sym typeface="Arial"/>
              </a:rPr>
              <a:t>ROLES Y RESPONSABILIDADES </a:t>
            </a:r>
            <a:br>
              <a:rPr b="0" i="0" lang="es-PE" sz="2800" u="none" cap="none" strike="noStrike">
                <a:solidFill>
                  <a:schemeClr val="lt1"/>
                </a:solidFill>
                <a:latin typeface="Arial"/>
                <a:ea typeface="Arial"/>
                <a:cs typeface="Arial"/>
                <a:sym typeface="Arial"/>
              </a:rPr>
            </a:br>
            <a:r>
              <a:rPr b="1" i="0" lang="es-PE" sz="2800" u="none" cap="none" strike="noStrike">
                <a:solidFill>
                  <a:schemeClr val="lt1"/>
                </a:solidFill>
                <a:latin typeface="Arial"/>
                <a:ea typeface="Arial"/>
                <a:cs typeface="Arial"/>
                <a:sym typeface="Arial"/>
              </a:rPr>
              <a:t>EN EQUIPOS ÁGILES</a:t>
            </a:r>
            <a:endParaRPr/>
          </a:p>
        </p:txBody>
      </p:sp>
      <p:pic>
        <p:nvPicPr>
          <p:cNvPr id="327" name="Google Shape;327;p14"/>
          <p:cNvPicPr preferRelativeResize="0"/>
          <p:nvPr/>
        </p:nvPicPr>
        <p:blipFill rotWithShape="1">
          <a:blip r:embed="rId3">
            <a:alphaModFix/>
          </a:blip>
          <a:srcRect b="0" l="0" r="0" t="0"/>
          <a:stretch/>
        </p:blipFill>
        <p:spPr>
          <a:xfrm>
            <a:off x="1008063" y="2857500"/>
            <a:ext cx="195423" cy="20125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15"/>
          <p:cNvPicPr preferRelativeResize="0"/>
          <p:nvPr/>
        </p:nvPicPr>
        <p:blipFill rotWithShape="1">
          <a:blip r:embed="rId3">
            <a:alphaModFix/>
          </a:blip>
          <a:srcRect b="0" l="0" r="0" t="0"/>
          <a:stretch/>
        </p:blipFill>
        <p:spPr>
          <a:xfrm>
            <a:off x="766317" y="866714"/>
            <a:ext cx="7611366" cy="3822174"/>
          </a:xfrm>
          <a:prstGeom prst="rect">
            <a:avLst/>
          </a:prstGeom>
          <a:noFill/>
          <a:ln>
            <a:noFill/>
          </a:ln>
        </p:spPr>
      </p:pic>
      <p:sp>
        <p:nvSpPr>
          <p:cNvPr id="334" name="Google Shape;334;p15"/>
          <p:cNvSpPr txBox="1"/>
          <p:nvPr/>
        </p:nvSpPr>
        <p:spPr>
          <a:xfrm>
            <a:off x="1499337" y="4371232"/>
            <a:ext cx="6001491" cy="4616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PE" sz="1400" u="none" cap="none" strike="noStrike">
                <a:solidFill>
                  <a:schemeClr val="dk1"/>
                </a:solidFill>
                <a:latin typeface="Calibri"/>
                <a:ea typeface="Calibri"/>
                <a:cs typeface="Calibri"/>
                <a:sym typeface="Calibri"/>
              </a:rPr>
              <a:t>SCRUM – SERIE </a:t>
            </a:r>
            <a:r>
              <a:rPr b="1" lang="es-PE">
                <a:solidFill>
                  <a:schemeClr val="dk1"/>
                </a:solidFill>
                <a:latin typeface="Calibri"/>
                <a:ea typeface="Calibri"/>
                <a:cs typeface="Calibri"/>
                <a:sym typeface="Calibri"/>
              </a:rPr>
              <a:t>SILICON</a:t>
            </a:r>
            <a:r>
              <a:rPr b="1" i="0" lang="es-PE" sz="1400" u="none" cap="none" strike="noStrike">
                <a:solidFill>
                  <a:schemeClr val="dk1"/>
                </a:solidFill>
                <a:latin typeface="Calibri"/>
                <a:ea typeface="Calibri"/>
                <a:cs typeface="Calibri"/>
                <a:sym typeface="Calibri"/>
              </a:rPr>
              <a:t> VALLEY </a:t>
            </a:r>
            <a:endParaRPr b="0" i="0" sz="1400" u="none" cap="none" strike="noStrike">
              <a:solidFill>
                <a:srgbClr val="000000"/>
              </a:solidFill>
              <a:latin typeface="Arial"/>
              <a:ea typeface="Arial"/>
              <a:cs typeface="Arial"/>
              <a:sym typeface="Arial"/>
            </a:endParaRPr>
          </a:p>
          <a:p>
            <a:pPr indent="0" lvl="0" marL="223838" marR="0" rtl="0" algn="l">
              <a:lnSpc>
                <a:spcPct val="100000"/>
              </a:lnSpc>
              <a:spcBef>
                <a:spcPts val="600"/>
              </a:spcBef>
              <a:spcAft>
                <a:spcPts val="0"/>
              </a:spcAft>
              <a:buClr>
                <a:srgbClr val="000000"/>
              </a:buClr>
              <a:buSzPts val="1100"/>
              <a:buFont typeface="Arial"/>
              <a:buNone/>
            </a:pPr>
            <a:r>
              <a:rPr b="0" i="0" lang="es-PE" sz="1100" u="sng" cap="none" strike="noStrike">
                <a:solidFill>
                  <a:srgbClr val="7F7F7F"/>
                </a:solidFill>
                <a:latin typeface="Calibri"/>
                <a:ea typeface="Calibri"/>
                <a:cs typeface="Calibri"/>
                <a:sym typeface="Calibri"/>
                <a:hlinkClick r:id="rId4">
                  <a:extLst>
                    <a:ext uri="{A12FA001-AC4F-418D-AE19-62706E023703}">
                      <ahyp:hlinkClr val="tx"/>
                    </a:ext>
                  </a:extLst>
                </a:hlinkClick>
              </a:rPr>
              <a:t>https://www.youtube.com/watch?v=bj9hQpYNqus</a:t>
            </a:r>
            <a:r>
              <a:rPr b="0" i="0" lang="es-PE" sz="1100" u="none" cap="none" strike="noStrike">
                <a:solidFill>
                  <a:srgbClr val="7F7F7F"/>
                </a:solidFill>
                <a:latin typeface="Calibri"/>
                <a:ea typeface="Calibri"/>
                <a:cs typeface="Calibri"/>
                <a:sym typeface="Calibri"/>
              </a:rPr>
              <a:t> </a:t>
            </a:r>
            <a:endParaRPr b="0" i="0" sz="1100" u="none" cap="none" strike="noStrike">
              <a:solidFill>
                <a:srgbClr val="7F7F7F"/>
              </a:solidFill>
              <a:latin typeface="Calibri"/>
              <a:ea typeface="Calibri"/>
              <a:cs typeface="Calibri"/>
              <a:sym typeface="Calibri"/>
            </a:endParaRPr>
          </a:p>
        </p:txBody>
      </p:sp>
      <p:sp>
        <p:nvSpPr>
          <p:cNvPr id="335" name="Google Shape;335;p15"/>
          <p:cNvSpPr/>
          <p:nvPr/>
        </p:nvSpPr>
        <p:spPr>
          <a:xfrm>
            <a:off x="683568" y="481236"/>
            <a:ext cx="544831" cy="1938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s-PE" sz="1400" u="none" cap="none" strike="noStrike">
                <a:solidFill>
                  <a:srgbClr val="00B1C3"/>
                </a:solidFill>
                <a:latin typeface="Calibri"/>
                <a:ea typeface="Calibri"/>
                <a:cs typeface="Calibri"/>
                <a:sym typeface="Calibri"/>
              </a:rPr>
              <a:t>VIDEO</a:t>
            </a:r>
            <a:endParaRPr b="1" i="0" sz="1600" u="none" cap="none" strike="noStrike">
              <a:solidFill>
                <a:srgbClr val="00B1C3"/>
              </a:solidFill>
              <a:latin typeface="Calibri"/>
              <a:ea typeface="Calibri"/>
              <a:cs typeface="Calibri"/>
              <a:sym typeface="Calibri"/>
            </a:endParaRPr>
          </a:p>
        </p:txBody>
      </p:sp>
      <p:grpSp>
        <p:nvGrpSpPr>
          <p:cNvPr id="336" name="Google Shape;336;p15"/>
          <p:cNvGrpSpPr/>
          <p:nvPr/>
        </p:nvGrpSpPr>
        <p:grpSpPr>
          <a:xfrm>
            <a:off x="514858" y="499074"/>
            <a:ext cx="131794" cy="132296"/>
            <a:chOff x="511902" y="912279"/>
            <a:chExt cx="281320" cy="282391"/>
          </a:xfrm>
        </p:grpSpPr>
        <p:sp>
          <p:nvSpPr>
            <p:cNvPr id="337" name="Google Shape;337;p15"/>
            <p:cNvSpPr/>
            <p:nvPr/>
          </p:nvSpPr>
          <p:spPr>
            <a:xfrm rot="5400000">
              <a:off x="511366" y="912814"/>
              <a:ext cx="282391" cy="281320"/>
            </a:xfrm>
            <a:prstGeom prst="ellipse">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38" name="Google Shape;338;p15"/>
            <p:cNvPicPr preferRelativeResize="0"/>
            <p:nvPr/>
          </p:nvPicPr>
          <p:blipFill rotWithShape="1">
            <a:blip r:embed="rId5">
              <a:alphaModFix/>
            </a:blip>
            <a:srcRect b="0" l="0" r="0" t="0"/>
            <a:stretch/>
          </p:blipFill>
          <p:spPr>
            <a:xfrm rot="5400000">
              <a:off x="578093" y="979007"/>
              <a:ext cx="148937" cy="148937"/>
            </a:xfrm>
            <a:prstGeom prst="rect">
              <a:avLst/>
            </a:prstGeom>
            <a:noFill/>
            <a:ln>
              <a:noFill/>
            </a:ln>
          </p:spPr>
        </p:pic>
      </p:grpSp>
      <p:pic>
        <p:nvPicPr>
          <p:cNvPr id="339" name="Google Shape;339;p15"/>
          <p:cNvPicPr preferRelativeResize="0"/>
          <p:nvPr/>
        </p:nvPicPr>
        <p:blipFill rotWithShape="1">
          <a:blip r:embed="rId6">
            <a:alphaModFix/>
          </a:blip>
          <a:srcRect b="0" l="0" r="0" t="0"/>
          <a:stretch/>
        </p:blipFill>
        <p:spPr>
          <a:xfrm>
            <a:off x="1504950" y="4658654"/>
            <a:ext cx="185286" cy="177874"/>
          </a:xfrm>
          <a:prstGeom prst="rect">
            <a:avLst/>
          </a:prstGeom>
          <a:noFill/>
          <a:ln>
            <a:noFill/>
          </a:ln>
        </p:spPr>
      </p:pic>
      <p:pic>
        <p:nvPicPr>
          <p:cNvPr id="340" name="Google Shape;340;p15"/>
          <p:cNvPicPr preferRelativeResize="0"/>
          <p:nvPr/>
        </p:nvPicPr>
        <p:blipFill rotWithShape="1">
          <a:blip r:embed="rId7">
            <a:alphaModFix/>
          </a:blip>
          <a:srcRect b="2512" l="0" r="422" t="6150"/>
          <a:stretch/>
        </p:blipFill>
        <p:spPr>
          <a:xfrm>
            <a:off x="1643172" y="1141379"/>
            <a:ext cx="5856625" cy="2783333"/>
          </a:xfrm>
          <a:prstGeom prst="roundRect">
            <a:avLst>
              <a:gd fmla="val 12939" name="adj"/>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6"/>
          <p:cNvSpPr txBox="1"/>
          <p:nvPr/>
        </p:nvSpPr>
        <p:spPr>
          <a:xfrm>
            <a:off x="512529" y="912813"/>
            <a:ext cx="8163159" cy="4093428"/>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CONCEPTOS EN SCRUM</a:t>
            </a:r>
            <a:endParaRPr b="0" i="0" sz="1600" u="none" cap="none" strike="noStrike">
              <a:solidFill>
                <a:schemeClr val="dk1"/>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400"/>
              <a:buFont typeface="Arial"/>
              <a:buNone/>
            </a:pPr>
            <a:r>
              <a:rPr b="1" i="0" lang="es-PE" sz="1400" u="none" cap="none" strike="noStrike">
                <a:solidFill>
                  <a:srgbClr val="00B2C2"/>
                </a:solidFill>
                <a:latin typeface="Calibri"/>
                <a:ea typeface="Calibri"/>
                <a:cs typeface="Calibri"/>
                <a:sym typeface="Calibri"/>
              </a:rPr>
              <a:t>SESIONES:</a:t>
            </a:r>
            <a:endParaRPr b="0" i="0" sz="1400" u="none" cap="none" strike="noStrike">
              <a:solidFill>
                <a:srgbClr val="00B2C2"/>
              </a:solidFill>
              <a:latin typeface="Calibri"/>
              <a:ea typeface="Calibri"/>
              <a:cs typeface="Calibri"/>
              <a:sym typeface="Calibri"/>
            </a:endParaRPr>
          </a:p>
          <a:p>
            <a:pPr indent="-225425" lvl="0" marL="225425" marR="0" rtl="0" algn="l">
              <a:lnSpc>
                <a:spcPct val="100000"/>
              </a:lnSpc>
              <a:spcBef>
                <a:spcPts val="0"/>
              </a:spcBef>
              <a:spcAft>
                <a:spcPts val="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Sprint Planning</a:t>
            </a:r>
            <a:r>
              <a:rPr b="0" i="0" lang="es-PE" sz="1400" u="none" cap="none" strike="noStrike">
                <a:solidFill>
                  <a:schemeClr val="dk1"/>
                </a:solidFill>
                <a:latin typeface="Calibri"/>
                <a:ea typeface="Calibri"/>
                <a:cs typeface="Calibri"/>
                <a:sym typeface="Calibri"/>
              </a:rPr>
              <a:t>: Sesión donde el equipo selecciona qué elementos del Product Backlog que se comprometen a completar durante el sprint. </a:t>
            </a:r>
            <a:endParaRPr b="0" i="0" sz="1400" u="none" cap="none" strike="noStrike">
              <a:solidFill>
                <a:srgbClr val="000000"/>
              </a:solidFill>
              <a:latin typeface="Calibri"/>
              <a:ea typeface="Calibri"/>
              <a:cs typeface="Calibri"/>
              <a:sym typeface="Calibri"/>
            </a:endParaRPr>
          </a:p>
          <a:p>
            <a:pPr indent="-225425" lvl="0" marL="225425" marR="0" rtl="0" algn="l">
              <a:lnSpc>
                <a:spcPct val="100000"/>
              </a:lnSpc>
              <a:spcBef>
                <a:spcPts val="600"/>
              </a:spcBef>
              <a:spcAft>
                <a:spcPts val="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Daily Scrum: </a:t>
            </a:r>
            <a:r>
              <a:rPr b="0" i="0" lang="es-PE" sz="1400" u="none" cap="none" strike="noStrike">
                <a:solidFill>
                  <a:schemeClr val="dk1"/>
                </a:solidFill>
                <a:latin typeface="Calibri"/>
                <a:ea typeface="Calibri"/>
                <a:cs typeface="Calibri"/>
                <a:sym typeface="Calibri"/>
              </a:rPr>
              <a:t>Sesión donde el equipo sincroniza sus actividades, revisa el progreso y ajusta el plan para el siguiente día.</a:t>
            </a:r>
            <a:endParaRPr b="0" i="0" sz="1400" u="none" cap="none" strike="noStrike">
              <a:solidFill>
                <a:srgbClr val="000000"/>
              </a:solidFill>
              <a:latin typeface="Calibri"/>
              <a:ea typeface="Calibri"/>
              <a:cs typeface="Calibri"/>
              <a:sym typeface="Calibri"/>
            </a:endParaRPr>
          </a:p>
          <a:p>
            <a:pPr indent="-225425" lvl="0" marL="225425" marR="0" rtl="0" algn="l">
              <a:lnSpc>
                <a:spcPct val="100000"/>
              </a:lnSpc>
              <a:spcBef>
                <a:spcPts val="600"/>
              </a:spcBef>
              <a:spcAft>
                <a:spcPts val="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Sprint Review</a:t>
            </a:r>
            <a:r>
              <a:rPr b="0" i="0" lang="es-PE" sz="1400" u="none" cap="none" strike="noStrike">
                <a:solidFill>
                  <a:schemeClr val="dk1"/>
                </a:solidFill>
                <a:latin typeface="Calibri"/>
                <a:ea typeface="Calibri"/>
                <a:cs typeface="Calibri"/>
                <a:sym typeface="Calibri"/>
              </a:rPr>
              <a:t>: Sesión donde el equipo y los stakeholders revisan el trabajo completado. Se demuestra el incremento del producto y se discuten los cambios y ajustes necesarios.</a:t>
            </a:r>
            <a:endParaRPr b="0" i="0" sz="1400" u="none" cap="none" strike="noStrike">
              <a:solidFill>
                <a:srgbClr val="000000"/>
              </a:solidFill>
              <a:latin typeface="Calibri"/>
              <a:ea typeface="Calibri"/>
              <a:cs typeface="Calibri"/>
              <a:sym typeface="Calibri"/>
            </a:endParaRPr>
          </a:p>
          <a:p>
            <a:pPr indent="-225425" lvl="0" marL="225425" marR="0" rtl="0" algn="l">
              <a:lnSpc>
                <a:spcPct val="100000"/>
              </a:lnSpc>
              <a:spcBef>
                <a:spcPts val="600"/>
              </a:spcBef>
              <a:spcAft>
                <a:spcPts val="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Retrospectiva del Sprint</a:t>
            </a:r>
            <a:r>
              <a:rPr b="0" i="0" lang="es-PE" sz="1400" u="none" cap="none" strike="noStrike">
                <a:solidFill>
                  <a:schemeClr val="dk1"/>
                </a:solidFill>
                <a:latin typeface="Calibri"/>
                <a:ea typeface="Calibri"/>
                <a:cs typeface="Calibri"/>
                <a:sym typeface="Calibri"/>
              </a:rPr>
              <a:t>: Reflexión del equipo sobre el proceso, identifica lo que funcionó bien y lo que necesita mejorar, y acuerda acciones para implementar mejoras en el próximo sprint.</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600"/>
              </a:spcBef>
              <a:spcAft>
                <a:spcPts val="0"/>
              </a:spcAft>
              <a:buClr>
                <a:schemeClr val="dk1"/>
              </a:buClr>
              <a:buSzPts val="16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s-PE" sz="1400" u="none" cap="none" strike="noStrike">
                <a:solidFill>
                  <a:srgbClr val="00B2C2"/>
                </a:solidFill>
                <a:latin typeface="Calibri"/>
                <a:ea typeface="Calibri"/>
                <a:cs typeface="Calibri"/>
                <a:sym typeface="Calibri"/>
              </a:rPr>
              <a:t>INPUTS / OUTPUTS:</a:t>
            </a:r>
            <a:endParaRPr b="0" i="0" sz="1400" u="none" cap="none" strike="noStrike">
              <a:solidFill>
                <a:srgbClr val="00B2C2"/>
              </a:solidFill>
              <a:latin typeface="Calibri"/>
              <a:ea typeface="Calibri"/>
              <a:cs typeface="Calibri"/>
              <a:sym typeface="Calibri"/>
            </a:endParaRPr>
          </a:p>
          <a:p>
            <a:pPr indent="-225425" lvl="0" marL="225425" marR="0" rtl="0" algn="l">
              <a:lnSpc>
                <a:spcPct val="100000"/>
              </a:lnSpc>
              <a:spcBef>
                <a:spcPts val="0"/>
              </a:spcBef>
              <a:spcAft>
                <a:spcPts val="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Increment / Output</a:t>
            </a:r>
            <a:r>
              <a:rPr b="0" i="0" lang="es-PE" sz="1400" u="none" cap="none" strike="noStrike">
                <a:solidFill>
                  <a:schemeClr val="dk1"/>
                </a:solidFill>
                <a:latin typeface="Calibri"/>
                <a:ea typeface="Calibri"/>
                <a:cs typeface="Calibri"/>
                <a:sym typeface="Calibri"/>
              </a:rPr>
              <a:t>: Es el resultado y entregable de la iteración que ha agregado valor al producto.</a:t>
            </a:r>
            <a:endParaRPr b="0" i="0" sz="1400" u="none" cap="none" strike="noStrike">
              <a:solidFill>
                <a:schemeClr val="dk1"/>
              </a:solidFill>
              <a:latin typeface="Calibri"/>
              <a:ea typeface="Calibri"/>
              <a:cs typeface="Calibri"/>
              <a:sym typeface="Calibri"/>
            </a:endParaRPr>
          </a:p>
          <a:p>
            <a:pPr indent="-225425" lvl="0" marL="225425" marR="0" rtl="0" algn="l">
              <a:lnSpc>
                <a:spcPct val="100000"/>
              </a:lnSpc>
              <a:spcBef>
                <a:spcPts val="600"/>
              </a:spcBef>
              <a:spcAft>
                <a:spcPts val="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Product Backlog</a:t>
            </a:r>
            <a:r>
              <a:rPr b="0" i="0" lang="es-PE" sz="1400" u="none" cap="none" strike="noStrike">
                <a:solidFill>
                  <a:schemeClr val="dk1"/>
                </a:solidFill>
                <a:latin typeface="Calibri"/>
                <a:ea typeface="Calibri"/>
                <a:cs typeface="Calibri"/>
                <a:sym typeface="Calibri"/>
              </a:rPr>
              <a:t>: Es una lista priorizada de todo lo que se necesita para el producto. Es gestionada por el Product Owner y contiene características, mejoras y correcciones.</a:t>
            </a:r>
            <a:endParaRPr b="0" i="0" sz="1400" u="none" cap="none" strike="noStrike">
              <a:solidFill>
                <a:srgbClr val="000000"/>
              </a:solidFill>
              <a:latin typeface="Calibri"/>
              <a:ea typeface="Calibri"/>
              <a:cs typeface="Calibri"/>
              <a:sym typeface="Calibri"/>
            </a:endParaRPr>
          </a:p>
          <a:p>
            <a:pPr indent="-225425" lvl="0" marL="225425" marR="0" rtl="0" algn="l">
              <a:lnSpc>
                <a:spcPct val="100000"/>
              </a:lnSpc>
              <a:spcBef>
                <a:spcPts val="600"/>
              </a:spcBef>
              <a:spcAft>
                <a:spcPts val="600"/>
              </a:spcAft>
              <a:buClr>
                <a:schemeClr val="dk1"/>
              </a:buClr>
              <a:buSzPts val="1400"/>
              <a:buFont typeface="Arial"/>
              <a:buAutoNum type="arabicPeriod"/>
            </a:pPr>
            <a:r>
              <a:rPr b="1" i="0" lang="es-PE" sz="1400" u="none" cap="none" strike="noStrike">
                <a:solidFill>
                  <a:schemeClr val="dk1"/>
                </a:solidFill>
                <a:latin typeface="Calibri"/>
                <a:ea typeface="Calibri"/>
                <a:cs typeface="Calibri"/>
                <a:sym typeface="Calibri"/>
              </a:rPr>
              <a:t>Sprint Backlog</a:t>
            </a:r>
            <a:r>
              <a:rPr b="0" i="0" lang="es-PE" sz="1400" u="none" cap="none" strike="noStrike">
                <a:solidFill>
                  <a:schemeClr val="dk1"/>
                </a:solidFill>
                <a:latin typeface="Calibri"/>
                <a:ea typeface="Calibri"/>
                <a:cs typeface="Calibri"/>
                <a:sym typeface="Calibri"/>
              </a:rPr>
              <a:t>: Es la lista de tareas que el equipo planea completar en el sprint.</a:t>
            </a:r>
            <a:endParaRPr b="0" i="0" sz="1400" u="none" cap="none" strike="noStrike">
              <a:solidFill>
                <a:schemeClr val="dk1"/>
              </a:solidFill>
              <a:latin typeface="Calibri"/>
              <a:ea typeface="Calibri"/>
              <a:cs typeface="Calibri"/>
              <a:sym typeface="Calibri"/>
            </a:endParaRPr>
          </a:p>
        </p:txBody>
      </p:sp>
      <p:sp>
        <p:nvSpPr>
          <p:cNvPr id="347" name="Google Shape;347;p16"/>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ROLES Y RESPONSABILIDADES EN EQUIPOS ÁGILES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17"/>
          <p:cNvPicPr preferRelativeResize="0"/>
          <p:nvPr/>
        </p:nvPicPr>
        <p:blipFill rotWithShape="1">
          <a:blip r:embed="rId3">
            <a:alphaModFix/>
          </a:blip>
          <a:srcRect b="0" l="0" r="0" t="17402"/>
          <a:stretch/>
        </p:blipFill>
        <p:spPr>
          <a:xfrm>
            <a:off x="723216" y="1483360"/>
            <a:ext cx="7687071" cy="3531837"/>
          </a:xfrm>
          <a:prstGeom prst="rect">
            <a:avLst/>
          </a:prstGeom>
          <a:noFill/>
          <a:ln>
            <a:noFill/>
          </a:ln>
        </p:spPr>
      </p:pic>
      <p:sp>
        <p:nvSpPr>
          <p:cNvPr id="354" name="Google Shape;354;p17"/>
          <p:cNvSpPr txBox="1"/>
          <p:nvPr/>
        </p:nvSpPr>
        <p:spPr>
          <a:xfrm>
            <a:off x="626213" y="989519"/>
            <a:ext cx="8250350" cy="246221"/>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PROCESO DE DESARROLLO CON SCRUM</a:t>
            </a:r>
            <a:endParaRPr b="0" i="0" sz="1600" u="none" cap="none" strike="noStrike">
              <a:solidFill>
                <a:schemeClr val="dk1"/>
              </a:solidFill>
              <a:latin typeface="Arial"/>
              <a:ea typeface="Arial"/>
              <a:cs typeface="Arial"/>
              <a:sym typeface="Arial"/>
            </a:endParaRPr>
          </a:p>
        </p:txBody>
      </p:sp>
      <p:sp>
        <p:nvSpPr>
          <p:cNvPr id="355" name="Google Shape;355;p17"/>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ROLES Y RESPONSABILIDADES EN EQUIPOS ÁGILES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8"/>
          <p:cNvSpPr txBox="1"/>
          <p:nvPr/>
        </p:nvSpPr>
        <p:spPr>
          <a:xfrm>
            <a:off x="512998" y="912813"/>
            <a:ext cx="3879600" cy="375570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00B2C2"/>
                </a:solidFill>
                <a:latin typeface="Calibri"/>
                <a:ea typeface="Calibri"/>
                <a:cs typeface="Calibri"/>
                <a:sym typeface="Calibri"/>
              </a:rPr>
              <a:t>ROLES EN EL EQUIPO</a:t>
            </a:r>
            <a:endParaRPr b="0" i="0" sz="1600" u="none" cap="none" strike="noStrike">
              <a:solidFill>
                <a:srgbClr val="00B2C2"/>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En una célula (o squad, equipo ágil), de acuerdo a Scrum se deben tener los siguientes roles:</a:t>
            </a:r>
            <a:endParaRPr b="0" i="0" sz="1600" u="none" cap="none" strike="noStrike">
              <a:solidFill>
                <a:srgbClr val="262626"/>
              </a:solidFill>
              <a:latin typeface="Calibri"/>
              <a:ea typeface="Calibri"/>
              <a:cs typeface="Calibri"/>
              <a:sym typeface="Calibri"/>
            </a:endParaRPr>
          </a:p>
          <a:p>
            <a:pPr indent="-214312" lvl="0" marL="225425" marR="0" rtl="0" algn="l">
              <a:lnSpc>
                <a:spcPct val="100000"/>
              </a:lnSpc>
              <a:spcBef>
                <a:spcPts val="60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Product Owner</a:t>
            </a:r>
            <a:endParaRPr b="0" i="0" sz="1600" u="none" cap="none" strike="noStrike">
              <a:solidFill>
                <a:srgbClr val="000000"/>
              </a:solidFill>
              <a:latin typeface="Calibri"/>
              <a:ea typeface="Calibri"/>
              <a:cs typeface="Calibri"/>
              <a:sym typeface="Calibri"/>
            </a:endParaRPr>
          </a:p>
          <a:p>
            <a:pPr indent="-214312" lvl="0" marL="225425" marR="0" rtl="0" algn="l">
              <a:lnSpc>
                <a:spcPct val="100000"/>
              </a:lnSpc>
              <a:spcBef>
                <a:spcPts val="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Scrum Master</a:t>
            </a:r>
            <a:endParaRPr b="0" i="0" sz="1600" u="none" cap="none" strike="noStrike">
              <a:solidFill>
                <a:srgbClr val="000000"/>
              </a:solidFill>
              <a:latin typeface="Calibri"/>
              <a:ea typeface="Calibri"/>
              <a:cs typeface="Calibri"/>
              <a:sym typeface="Calibri"/>
            </a:endParaRPr>
          </a:p>
          <a:p>
            <a:pPr indent="-214312" lvl="0" marL="225425" marR="0" rtl="0" algn="l">
              <a:lnSpc>
                <a:spcPct val="100000"/>
              </a:lnSpc>
              <a:spcBef>
                <a:spcPts val="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Developers</a:t>
            </a:r>
            <a:endParaRPr b="0" i="0" sz="1600" u="none" cap="none" strike="noStrike">
              <a:solidFill>
                <a:srgbClr val="262626"/>
              </a:solidFill>
              <a:latin typeface="Calibri"/>
              <a:ea typeface="Calibri"/>
              <a:cs typeface="Calibri"/>
              <a:sym typeface="Calibri"/>
            </a:endParaRPr>
          </a:p>
          <a:p>
            <a:pPr indent="-241300" lvl="0" marL="354625"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00B2C2"/>
                </a:solidFill>
                <a:latin typeface="Calibri"/>
                <a:ea typeface="Calibri"/>
                <a:cs typeface="Calibri"/>
                <a:sym typeface="Calibri"/>
              </a:rPr>
              <a:t>ROLES FUERA DEL EQUIPO</a:t>
            </a:r>
            <a:endParaRPr b="0" i="0" sz="1600" u="none" cap="none" strike="noStrike">
              <a:solidFill>
                <a:srgbClr val="00B2C2"/>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Scrum reconoce que fuera del equipo de desarrollo se tienen dos roles principalmente:</a:t>
            </a:r>
            <a:endParaRPr b="0" i="0" sz="1600" u="none" cap="none" strike="noStrike">
              <a:solidFill>
                <a:srgbClr val="000000"/>
              </a:solidFill>
              <a:latin typeface="Calibri"/>
              <a:ea typeface="Calibri"/>
              <a:cs typeface="Calibri"/>
              <a:sym typeface="Calibri"/>
            </a:endParaRPr>
          </a:p>
          <a:p>
            <a:pPr indent="-225425" lvl="0" marL="225425" marR="0" rtl="0" algn="l">
              <a:lnSpc>
                <a:spcPct val="100000"/>
              </a:lnSpc>
              <a:spcBef>
                <a:spcPts val="60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Stakeholders</a:t>
            </a:r>
            <a:endParaRPr b="0" i="0" sz="1600" u="none" cap="none" strike="noStrike">
              <a:solidFill>
                <a:srgbClr val="000000"/>
              </a:solidFill>
              <a:latin typeface="Calibri"/>
              <a:ea typeface="Calibri"/>
              <a:cs typeface="Calibri"/>
              <a:sym typeface="Calibri"/>
            </a:endParaRPr>
          </a:p>
          <a:p>
            <a:pPr indent="-225425" lvl="0" marL="225425" marR="0" rtl="0" algn="l">
              <a:lnSpc>
                <a:spcPct val="100000"/>
              </a:lnSpc>
              <a:spcBef>
                <a:spcPts val="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Usuarios / Clientes</a:t>
            </a:r>
            <a:endParaRPr b="0" i="0" sz="1600" u="none" cap="none" strike="noStrike">
              <a:solidFill>
                <a:srgbClr val="000000"/>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p:txBody>
      </p:sp>
      <p:sp>
        <p:nvSpPr>
          <p:cNvPr id="362" name="Google Shape;362;p18"/>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ROLES Y RESPONSABILIDADES EN EQUIPOS ÁGILES</a:t>
            </a:r>
            <a:endParaRPr b="0" i="0" sz="1400" u="none" cap="none" strike="noStrike">
              <a:solidFill>
                <a:srgbClr val="000000"/>
              </a:solidFill>
              <a:latin typeface="Arial"/>
              <a:ea typeface="Arial"/>
              <a:cs typeface="Arial"/>
              <a:sym typeface="Arial"/>
            </a:endParaRPr>
          </a:p>
        </p:txBody>
      </p:sp>
      <p:sp>
        <p:nvSpPr>
          <p:cNvPr id="363" name="Google Shape;363;p18"/>
          <p:cNvSpPr/>
          <p:nvPr/>
        </p:nvSpPr>
        <p:spPr>
          <a:xfrm>
            <a:off x="4956012" y="1112298"/>
            <a:ext cx="3484060" cy="39222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364" name="Google Shape;364;p18"/>
          <p:cNvGrpSpPr/>
          <p:nvPr/>
        </p:nvGrpSpPr>
        <p:grpSpPr>
          <a:xfrm>
            <a:off x="5229294" y="1752961"/>
            <a:ext cx="2968488" cy="3281539"/>
            <a:chOff x="5240294" y="760478"/>
            <a:chExt cx="3392364" cy="3750116"/>
          </a:xfrm>
        </p:grpSpPr>
        <p:sp>
          <p:nvSpPr>
            <p:cNvPr id="365" name="Google Shape;365;p18"/>
            <p:cNvSpPr/>
            <p:nvPr/>
          </p:nvSpPr>
          <p:spPr>
            <a:xfrm>
              <a:off x="5940382" y="1361967"/>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PRODUCT OWNER</a:t>
              </a:r>
              <a:endParaRPr b="1" i="0" sz="1100" u="none" cap="none" strike="noStrike">
                <a:solidFill>
                  <a:schemeClr val="lt1"/>
                </a:solidFill>
                <a:latin typeface="Calibri"/>
                <a:ea typeface="Calibri"/>
                <a:cs typeface="Calibri"/>
                <a:sym typeface="Calibri"/>
              </a:endParaRPr>
            </a:p>
          </p:txBody>
        </p:sp>
        <p:sp>
          <p:nvSpPr>
            <p:cNvPr id="366" name="Google Shape;366;p18"/>
            <p:cNvSpPr/>
            <p:nvPr/>
          </p:nvSpPr>
          <p:spPr>
            <a:xfrm>
              <a:off x="5240294" y="2658899"/>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SCRUM MASTER</a:t>
              </a:r>
              <a:endParaRPr b="1" i="0" sz="1100" u="none" cap="none" strike="noStrike">
                <a:solidFill>
                  <a:schemeClr val="lt1"/>
                </a:solidFill>
                <a:latin typeface="Calibri"/>
                <a:ea typeface="Calibri"/>
                <a:cs typeface="Calibri"/>
                <a:sym typeface="Calibri"/>
              </a:endParaRPr>
            </a:p>
          </p:txBody>
        </p:sp>
        <p:sp>
          <p:nvSpPr>
            <p:cNvPr id="367" name="Google Shape;367;p18"/>
            <p:cNvSpPr/>
            <p:nvPr/>
          </p:nvSpPr>
          <p:spPr>
            <a:xfrm>
              <a:off x="7191376" y="2658899"/>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DEVELOPMENT TEAM</a:t>
              </a:r>
              <a:endParaRPr b="1" i="0" sz="1100" u="none" cap="none" strike="noStrike">
                <a:solidFill>
                  <a:schemeClr val="lt1"/>
                </a:solidFill>
                <a:latin typeface="Calibri"/>
                <a:ea typeface="Calibri"/>
                <a:cs typeface="Calibri"/>
                <a:sym typeface="Calibri"/>
              </a:endParaRPr>
            </a:p>
          </p:txBody>
        </p:sp>
        <p:cxnSp>
          <p:nvCxnSpPr>
            <p:cNvPr id="368" name="Google Shape;368;p18"/>
            <p:cNvCxnSpPr>
              <a:stCxn id="363" idx="2"/>
              <a:endCxn id="366" idx="0"/>
            </p:cNvCxnSpPr>
            <p:nvPr/>
          </p:nvCxnSpPr>
          <p:spPr>
            <a:xfrm rot="10800000">
              <a:off x="5940467" y="2658994"/>
              <a:ext cx="978300" cy="18516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808799"/>
              </a:outerShdw>
            </a:effectLst>
          </p:spPr>
        </p:cxnSp>
        <p:cxnSp>
          <p:nvCxnSpPr>
            <p:cNvPr id="369" name="Google Shape;369;p18"/>
            <p:cNvCxnSpPr>
              <a:stCxn id="367" idx="1"/>
              <a:endCxn id="366" idx="3"/>
            </p:cNvCxnSpPr>
            <p:nvPr/>
          </p:nvCxnSpPr>
          <p:spPr>
            <a:xfrm rot="10800000">
              <a:off x="6640576" y="2897024"/>
              <a:ext cx="550800" cy="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cxnSp>
          <p:nvCxnSpPr>
            <p:cNvPr id="370" name="Google Shape;370;p18"/>
            <p:cNvCxnSpPr>
              <a:stCxn id="367" idx="0"/>
              <a:endCxn id="363" idx="2"/>
            </p:cNvCxnSpPr>
            <p:nvPr/>
          </p:nvCxnSpPr>
          <p:spPr>
            <a:xfrm flipH="1">
              <a:off x="6918863" y="2658899"/>
              <a:ext cx="972600" cy="18516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sp>
          <p:nvSpPr>
            <p:cNvPr id="371" name="Google Shape;371;p18"/>
            <p:cNvSpPr txBox="1"/>
            <p:nvPr/>
          </p:nvSpPr>
          <p:spPr>
            <a:xfrm>
              <a:off x="7449112" y="1400037"/>
              <a:ext cx="11835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1" lang="es-PE" sz="900" u="none" cap="none" strike="noStrike">
                  <a:solidFill>
                    <a:schemeClr val="dk1"/>
                  </a:solidFill>
                  <a:latin typeface="Calibri"/>
                  <a:ea typeface="Calibri"/>
                  <a:cs typeface="Calibri"/>
                  <a:sym typeface="Calibri"/>
                </a:rPr>
                <a:t>¿QUÉ HAREMOS? ¿POR QUÉ?</a:t>
              </a:r>
              <a:endParaRPr b="1" i="1" sz="900" u="none" cap="none" strike="noStrike">
                <a:solidFill>
                  <a:schemeClr val="dk1"/>
                </a:solidFill>
                <a:latin typeface="Calibri"/>
                <a:ea typeface="Calibri"/>
                <a:cs typeface="Calibri"/>
                <a:sym typeface="Calibri"/>
              </a:endParaRPr>
            </a:p>
          </p:txBody>
        </p:sp>
        <p:sp>
          <p:nvSpPr>
            <p:cNvPr id="372" name="Google Shape;372;p18"/>
            <p:cNvSpPr txBox="1"/>
            <p:nvPr/>
          </p:nvSpPr>
          <p:spPr>
            <a:xfrm>
              <a:off x="7191375" y="3195193"/>
              <a:ext cx="144128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1" lang="es-PE" sz="900" u="none" cap="none" strike="noStrike">
                  <a:solidFill>
                    <a:schemeClr val="dk1"/>
                  </a:solidFill>
                  <a:latin typeface="Calibri"/>
                  <a:ea typeface="Calibri"/>
                  <a:cs typeface="Calibri"/>
                  <a:sym typeface="Calibri"/>
                </a:rPr>
                <a:t>¿CÓMO LO HAREMOS?</a:t>
              </a:r>
              <a:endParaRPr b="1" i="1"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1" i="1" lang="es-PE" sz="900" u="none" cap="none" strike="noStrike">
                  <a:solidFill>
                    <a:schemeClr val="dk1"/>
                  </a:solidFill>
                  <a:latin typeface="Calibri"/>
                  <a:ea typeface="Calibri"/>
                  <a:cs typeface="Calibri"/>
                  <a:sym typeface="Calibri"/>
                </a:rPr>
                <a:t>¿QUÉ TAN RÁPIDO?</a:t>
              </a:r>
              <a:endParaRPr b="1" i="1" sz="1400" u="none" cap="none" strike="noStrike">
                <a:solidFill>
                  <a:srgbClr val="000000"/>
                </a:solidFill>
                <a:latin typeface="Calibri"/>
                <a:ea typeface="Calibri"/>
                <a:cs typeface="Calibri"/>
                <a:sym typeface="Calibri"/>
              </a:endParaRPr>
            </a:p>
          </p:txBody>
        </p:sp>
        <p:sp>
          <p:nvSpPr>
            <p:cNvPr id="373" name="Google Shape;373;p18"/>
            <p:cNvSpPr txBox="1"/>
            <p:nvPr/>
          </p:nvSpPr>
          <p:spPr>
            <a:xfrm>
              <a:off x="5348609" y="3195193"/>
              <a:ext cx="11835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1" lang="es-PE" sz="900" u="none" cap="none" strike="noStrike">
                  <a:solidFill>
                    <a:schemeClr val="dk1"/>
                  </a:solidFill>
                  <a:latin typeface="Calibri"/>
                  <a:ea typeface="Calibri"/>
                  <a:cs typeface="Calibri"/>
                  <a:sym typeface="Calibri"/>
                </a:rPr>
                <a:t>GUARDIÁN &amp; FACILITADOR</a:t>
              </a:r>
              <a:endParaRPr b="1" i="1" sz="1400" u="none" cap="none" strike="noStrike">
                <a:solidFill>
                  <a:srgbClr val="000000"/>
                </a:solidFill>
                <a:latin typeface="Calibri"/>
                <a:ea typeface="Calibri"/>
                <a:cs typeface="Calibri"/>
                <a:sym typeface="Calibri"/>
              </a:endParaRPr>
            </a:p>
          </p:txBody>
        </p:sp>
        <p:pic>
          <p:nvPicPr>
            <p:cNvPr descr="Product owner Icon - Free PNG &amp; SVG 5085186 - Noun Project" id="374" name="Google Shape;374;p18"/>
            <p:cNvPicPr preferRelativeResize="0"/>
            <p:nvPr/>
          </p:nvPicPr>
          <p:blipFill rotWithShape="1">
            <a:blip r:embed="rId3">
              <a:alphaModFix/>
            </a:blip>
            <a:srcRect b="0" l="0" r="0" t="0"/>
            <a:stretch/>
          </p:blipFill>
          <p:spPr>
            <a:xfrm>
              <a:off x="7612368" y="760478"/>
              <a:ext cx="539162" cy="539162"/>
            </a:xfrm>
            <a:prstGeom prst="rect">
              <a:avLst/>
            </a:prstGeom>
            <a:noFill/>
            <a:ln>
              <a:noFill/>
            </a:ln>
          </p:spPr>
        </p:pic>
        <p:pic>
          <p:nvPicPr>
            <p:cNvPr descr="Scrum Master Icons - Free SVG &amp; PNG Scrum Master Images - Noun Project" id="375" name="Google Shape;375;p18"/>
            <p:cNvPicPr preferRelativeResize="0"/>
            <p:nvPr/>
          </p:nvPicPr>
          <p:blipFill rotWithShape="1">
            <a:blip r:embed="rId4">
              <a:alphaModFix/>
            </a:blip>
            <a:srcRect b="0" l="0" r="0" t="0"/>
            <a:stretch/>
          </p:blipFill>
          <p:spPr>
            <a:xfrm>
              <a:off x="5262839" y="2026464"/>
              <a:ext cx="532713" cy="532713"/>
            </a:xfrm>
            <a:prstGeom prst="rect">
              <a:avLst/>
            </a:prstGeom>
            <a:noFill/>
            <a:ln>
              <a:noFill/>
            </a:ln>
          </p:spPr>
        </p:pic>
        <p:pic>
          <p:nvPicPr>
            <p:cNvPr descr="development team Icon - Free PNG &amp; SVG 3635025 - Noun Project" id="376" name="Google Shape;376;p18"/>
            <p:cNvPicPr preferRelativeResize="0"/>
            <p:nvPr/>
          </p:nvPicPr>
          <p:blipFill rotWithShape="1">
            <a:blip r:embed="rId5">
              <a:alphaModFix/>
            </a:blip>
            <a:srcRect b="0" l="0" r="0" t="0"/>
            <a:stretch/>
          </p:blipFill>
          <p:spPr>
            <a:xfrm>
              <a:off x="8099945" y="2055117"/>
              <a:ext cx="532713" cy="532713"/>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9"/>
          <p:cNvSpPr txBox="1"/>
          <p:nvPr/>
        </p:nvSpPr>
        <p:spPr>
          <a:xfrm>
            <a:off x="511655" y="924315"/>
            <a:ext cx="3882263" cy="4262705"/>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00B2C2"/>
                </a:solidFill>
                <a:latin typeface="Calibri"/>
                <a:ea typeface="Calibri"/>
                <a:cs typeface="Calibri"/>
                <a:sym typeface="Calibri"/>
              </a:rPr>
              <a:t>ROL DEL PRODUCT OWNER</a:t>
            </a:r>
            <a:endParaRPr b="0" i="0" sz="1400" u="none" cap="none" strike="noStrike">
              <a:solidFill>
                <a:srgbClr val="00B2C2"/>
              </a:solidFill>
              <a:latin typeface="Arial"/>
              <a:ea typeface="Arial"/>
              <a:cs typeface="Arial"/>
              <a:sym typeface="Arial"/>
            </a:endParaRPr>
          </a:p>
          <a:p>
            <a:pPr indent="-169863"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También es llamado </a:t>
            </a:r>
            <a:r>
              <a:rPr b="1" i="0" lang="es-PE" sz="1600" u="none" cap="none" strike="noStrike">
                <a:solidFill>
                  <a:srgbClr val="262626"/>
                </a:solidFill>
                <a:latin typeface="Calibri"/>
                <a:ea typeface="Calibri"/>
                <a:cs typeface="Calibri"/>
                <a:sym typeface="Calibri"/>
              </a:rPr>
              <a:t>Agile Product Manager. </a:t>
            </a:r>
            <a:r>
              <a:rPr b="0" i="0" lang="es-PE" sz="1600" u="none" cap="none" strike="noStrike">
                <a:solidFill>
                  <a:srgbClr val="262626"/>
                </a:solidFill>
                <a:latin typeface="Calibri"/>
                <a:ea typeface="Calibri"/>
                <a:cs typeface="Calibri"/>
                <a:sym typeface="Calibri"/>
              </a:rPr>
              <a:t>Es el encargado de manejar el producto, por ende su visión y evolución.</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Hacia el equipo, es el encargado de traer todo el input del negocio, a través de los alineamientos y coordinaciones que se hacen con otros departamentos. Es el enlace </a:t>
            </a:r>
            <a:r>
              <a:rPr b="1" i="0" lang="es-PE" sz="1600" u="none" cap="none" strike="noStrike">
                <a:solidFill>
                  <a:srgbClr val="262626"/>
                </a:solidFill>
                <a:latin typeface="Calibri"/>
                <a:ea typeface="Calibri"/>
                <a:cs typeface="Calibri"/>
                <a:sym typeface="Calibri"/>
              </a:rPr>
              <a:t>primordial </a:t>
            </a:r>
            <a:r>
              <a:rPr b="0" i="0" lang="es-PE" sz="1600" u="none" cap="none" strike="noStrike">
                <a:solidFill>
                  <a:srgbClr val="262626"/>
                </a:solidFill>
                <a:latin typeface="Calibri"/>
                <a:ea typeface="Calibri"/>
                <a:cs typeface="Calibri"/>
                <a:sym typeface="Calibri"/>
              </a:rPr>
              <a:t>entre el equipo con los clientes y stakeholders, pues está en constante relacionamiento con ellos.</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Su objetivo es </a:t>
            </a:r>
            <a:r>
              <a:rPr b="1" i="0" lang="es-PE" sz="1600" u="none" cap="none" strike="noStrike">
                <a:solidFill>
                  <a:srgbClr val="262626"/>
                </a:solidFill>
                <a:latin typeface="Calibri"/>
                <a:ea typeface="Calibri"/>
                <a:cs typeface="Calibri"/>
                <a:sym typeface="Calibri"/>
              </a:rPr>
              <a:t>maximizar el valor </a:t>
            </a:r>
            <a:r>
              <a:rPr b="0" i="0" lang="es-PE" sz="1600" u="none" cap="none" strike="noStrike">
                <a:solidFill>
                  <a:srgbClr val="262626"/>
                </a:solidFill>
                <a:latin typeface="Calibri"/>
                <a:ea typeface="Calibri"/>
                <a:cs typeface="Calibri"/>
                <a:sym typeface="Calibri"/>
              </a:rPr>
              <a:t>del producto que resulte del equipo de desarrollo.</a:t>
            </a:r>
            <a:endParaRPr b="0" i="0" sz="1600" u="none" cap="none" strike="noStrike">
              <a:solidFill>
                <a:srgbClr val="000000"/>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p:txBody>
      </p:sp>
      <p:sp>
        <p:nvSpPr>
          <p:cNvPr id="383" name="Google Shape;383;p19"/>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ROLES Y RESPONSABILIDADES EN EQUIPOS ÁGILES</a:t>
            </a:r>
            <a:endParaRPr b="0" i="0" sz="1400" u="none" cap="none" strike="noStrike">
              <a:solidFill>
                <a:srgbClr val="000000"/>
              </a:solidFill>
              <a:latin typeface="Arial"/>
              <a:ea typeface="Arial"/>
              <a:cs typeface="Arial"/>
              <a:sym typeface="Arial"/>
            </a:endParaRPr>
          </a:p>
        </p:txBody>
      </p:sp>
      <p:sp>
        <p:nvSpPr>
          <p:cNvPr id="384" name="Google Shape;384;p19"/>
          <p:cNvSpPr/>
          <p:nvPr/>
        </p:nvSpPr>
        <p:spPr>
          <a:xfrm>
            <a:off x="4956012" y="1112298"/>
            <a:ext cx="3484060" cy="39222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385" name="Google Shape;385;p19"/>
          <p:cNvGrpSpPr/>
          <p:nvPr/>
        </p:nvGrpSpPr>
        <p:grpSpPr>
          <a:xfrm>
            <a:off x="5091484" y="1602037"/>
            <a:ext cx="3244107" cy="3432463"/>
            <a:chOff x="5101444" y="760478"/>
            <a:chExt cx="3803025" cy="4023832"/>
          </a:xfrm>
        </p:grpSpPr>
        <p:sp>
          <p:nvSpPr>
            <p:cNvPr id="386" name="Google Shape;386;p19"/>
            <p:cNvSpPr txBox="1"/>
            <p:nvPr/>
          </p:nvSpPr>
          <p:spPr>
            <a:xfrm>
              <a:off x="7720923" y="1400037"/>
              <a:ext cx="11835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1" lang="es-PE" sz="900" u="none" cap="none" strike="noStrike">
                  <a:solidFill>
                    <a:schemeClr val="dk1"/>
                  </a:solidFill>
                  <a:latin typeface="Calibri"/>
                  <a:ea typeface="Calibri"/>
                  <a:cs typeface="Calibri"/>
                  <a:sym typeface="Calibri"/>
                </a:rPr>
                <a:t>¿QUÉ HAREMOS? ¿POR QUÉ?</a:t>
              </a:r>
              <a:endParaRPr b="0" i="1" sz="900" u="none" cap="none" strike="noStrike">
                <a:solidFill>
                  <a:schemeClr val="dk1"/>
                </a:solidFill>
                <a:latin typeface="Calibri"/>
                <a:ea typeface="Calibri"/>
                <a:cs typeface="Calibri"/>
                <a:sym typeface="Calibri"/>
              </a:endParaRPr>
            </a:p>
          </p:txBody>
        </p:sp>
        <p:grpSp>
          <p:nvGrpSpPr>
            <p:cNvPr id="387" name="Google Shape;387;p19"/>
            <p:cNvGrpSpPr/>
            <p:nvPr/>
          </p:nvGrpSpPr>
          <p:grpSpPr>
            <a:xfrm>
              <a:off x="5101444" y="760478"/>
              <a:ext cx="3682847" cy="4023832"/>
              <a:chOff x="5101444" y="760478"/>
              <a:chExt cx="3682847" cy="4023832"/>
            </a:xfrm>
          </p:grpSpPr>
          <p:sp>
            <p:nvSpPr>
              <p:cNvPr id="388" name="Google Shape;388;p19"/>
              <p:cNvSpPr/>
              <p:nvPr/>
            </p:nvSpPr>
            <p:spPr>
              <a:xfrm>
                <a:off x="6212193" y="1361967"/>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s-PE" sz="1000" u="none" cap="none" strike="noStrike">
                    <a:solidFill>
                      <a:schemeClr val="lt1"/>
                    </a:solidFill>
                    <a:latin typeface="Calibri"/>
                    <a:ea typeface="Calibri"/>
                    <a:cs typeface="Calibri"/>
                    <a:sym typeface="Calibri"/>
                  </a:rPr>
                  <a:t>PRODUCT OWNER</a:t>
                </a:r>
                <a:endParaRPr b="1" i="0" sz="1000" u="none" cap="none" strike="noStrike">
                  <a:solidFill>
                    <a:schemeClr val="lt1"/>
                  </a:solidFill>
                  <a:latin typeface="Calibri"/>
                  <a:ea typeface="Calibri"/>
                  <a:cs typeface="Calibri"/>
                  <a:sym typeface="Calibri"/>
                </a:endParaRPr>
              </a:p>
            </p:txBody>
          </p:sp>
          <p:pic>
            <p:nvPicPr>
              <p:cNvPr descr="Product owner Icon - Free PNG &amp; SVG 5085186 - Noun Project" id="389" name="Google Shape;389;p19"/>
              <p:cNvPicPr preferRelativeResize="0"/>
              <p:nvPr/>
            </p:nvPicPr>
            <p:blipFill rotWithShape="1">
              <a:blip r:embed="rId3">
                <a:alphaModFix/>
              </a:blip>
              <a:srcRect b="0" l="0" r="0" t="0"/>
              <a:stretch/>
            </p:blipFill>
            <p:spPr>
              <a:xfrm>
                <a:off x="7884179" y="760478"/>
                <a:ext cx="539162" cy="539162"/>
              </a:xfrm>
              <a:prstGeom prst="rect">
                <a:avLst/>
              </a:prstGeom>
              <a:noFill/>
              <a:ln>
                <a:noFill/>
              </a:ln>
            </p:spPr>
          </p:pic>
          <p:sp>
            <p:nvSpPr>
              <p:cNvPr id="390" name="Google Shape;390;p19"/>
              <p:cNvSpPr/>
              <p:nvPr/>
            </p:nvSpPr>
            <p:spPr>
              <a:xfrm>
                <a:off x="7384116" y="2381250"/>
                <a:ext cx="1400175"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s-PE" sz="1000" u="none" cap="none" strike="noStrike">
                    <a:solidFill>
                      <a:schemeClr val="lt1"/>
                    </a:solidFill>
                    <a:latin typeface="Calibri"/>
                    <a:ea typeface="Calibri"/>
                    <a:cs typeface="Calibri"/>
                    <a:sym typeface="Calibri"/>
                  </a:rPr>
                  <a:t>USUARIOS &amp; CLIENTES</a:t>
                </a:r>
                <a:endParaRPr b="1" i="0" sz="1000" u="none" cap="none" strike="noStrike">
                  <a:solidFill>
                    <a:schemeClr val="lt1"/>
                  </a:solidFill>
                  <a:latin typeface="Calibri"/>
                  <a:ea typeface="Calibri"/>
                  <a:cs typeface="Calibri"/>
                  <a:sym typeface="Calibri"/>
                </a:endParaRPr>
              </a:p>
            </p:txBody>
          </p:sp>
          <p:sp>
            <p:nvSpPr>
              <p:cNvPr id="391" name="Google Shape;391;p19"/>
              <p:cNvSpPr/>
              <p:nvPr/>
            </p:nvSpPr>
            <p:spPr>
              <a:xfrm>
                <a:off x="5101444" y="2381250"/>
                <a:ext cx="1400175"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s-PE" sz="1000" u="none" cap="none" strike="noStrike">
                    <a:solidFill>
                      <a:schemeClr val="lt1"/>
                    </a:solidFill>
                    <a:latin typeface="Calibri"/>
                    <a:ea typeface="Calibri"/>
                    <a:cs typeface="Calibri"/>
                    <a:sym typeface="Calibri"/>
                  </a:rPr>
                  <a:t>OTROS DEPARTAMENTOS</a:t>
                </a:r>
                <a:endParaRPr b="1" i="0" sz="1000" u="none" cap="none" strike="noStrike">
                  <a:solidFill>
                    <a:schemeClr val="lt1"/>
                  </a:solidFill>
                  <a:latin typeface="Calibri"/>
                  <a:ea typeface="Calibri"/>
                  <a:cs typeface="Calibri"/>
                  <a:sym typeface="Calibri"/>
                </a:endParaRPr>
              </a:p>
            </p:txBody>
          </p:sp>
          <p:sp>
            <p:nvSpPr>
              <p:cNvPr id="392" name="Google Shape;392;p19"/>
              <p:cNvSpPr/>
              <p:nvPr/>
            </p:nvSpPr>
            <p:spPr>
              <a:xfrm>
                <a:off x="6223959" y="3114675"/>
                <a:ext cx="1400175"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s-PE" sz="1000" u="none" cap="none" strike="noStrike">
                    <a:solidFill>
                      <a:schemeClr val="lt1"/>
                    </a:solidFill>
                    <a:latin typeface="Calibri"/>
                    <a:ea typeface="Calibri"/>
                    <a:cs typeface="Calibri"/>
                    <a:sym typeface="Calibri"/>
                  </a:rPr>
                  <a:t>STAKEHOLDERS</a:t>
                </a:r>
                <a:endParaRPr b="1" i="0" sz="1000" u="none" cap="none" strike="noStrike">
                  <a:solidFill>
                    <a:schemeClr val="lt1"/>
                  </a:solidFill>
                  <a:latin typeface="Calibri"/>
                  <a:ea typeface="Calibri"/>
                  <a:cs typeface="Calibri"/>
                  <a:sym typeface="Calibri"/>
                </a:endParaRPr>
              </a:p>
            </p:txBody>
          </p:sp>
          <p:cxnSp>
            <p:nvCxnSpPr>
              <p:cNvPr id="393" name="Google Shape;393;p19"/>
              <p:cNvCxnSpPr>
                <a:stCxn id="384" idx="2"/>
                <a:endCxn id="392" idx="0"/>
              </p:cNvCxnSpPr>
              <p:nvPr/>
            </p:nvCxnSpPr>
            <p:spPr>
              <a:xfrm rot="10800000">
                <a:off x="6924191" y="3114810"/>
                <a:ext cx="60600" cy="16695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cxnSp>
            <p:nvCxnSpPr>
              <p:cNvPr id="394" name="Google Shape;394;p19"/>
              <p:cNvCxnSpPr>
                <a:stCxn id="384" idx="2"/>
                <a:endCxn id="390" idx="0"/>
              </p:cNvCxnSpPr>
              <p:nvPr/>
            </p:nvCxnSpPr>
            <p:spPr>
              <a:xfrm flipH="1" rot="10800000">
                <a:off x="6984791" y="2381310"/>
                <a:ext cx="1099500" cy="24030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cxnSp>
            <p:nvCxnSpPr>
              <p:cNvPr id="395" name="Google Shape;395;p19"/>
              <p:cNvCxnSpPr>
                <a:stCxn id="384" idx="2"/>
                <a:endCxn id="391" idx="0"/>
              </p:cNvCxnSpPr>
              <p:nvPr/>
            </p:nvCxnSpPr>
            <p:spPr>
              <a:xfrm rot="10800000">
                <a:off x="5801591" y="2381310"/>
                <a:ext cx="1183200" cy="24030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pic>
            <p:nvPicPr>
              <p:cNvPr descr="Alignment Icons - Free SVG &amp; PNG Alignment Images - Noun Project" id="396" name="Google Shape;396;p19"/>
              <p:cNvPicPr preferRelativeResize="0"/>
              <p:nvPr/>
            </p:nvPicPr>
            <p:blipFill rotWithShape="1">
              <a:blip r:embed="rId4">
                <a:alphaModFix/>
              </a:blip>
              <a:srcRect b="0" l="0" r="0" t="0"/>
              <a:stretch/>
            </p:blipFill>
            <p:spPr>
              <a:xfrm>
                <a:off x="5271511" y="1790701"/>
                <a:ext cx="409467" cy="409467"/>
              </a:xfrm>
              <a:prstGeom prst="rect">
                <a:avLst/>
              </a:prstGeom>
              <a:noFill/>
              <a:ln>
                <a:noFill/>
              </a:ln>
            </p:spPr>
          </p:pic>
          <p:pic>
            <p:nvPicPr>
              <p:cNvPr descr="Stakeholder Icons - Free SVG &amp; PNG Stakeholder Images - Noun Project" id="397" name="Google Shape;397;p19"/>
              <p:cNvPicPr preferRelativeResize="0"/>
              <p:nvPr/>
            </p:nvPicPr>
            <p:blipFill rotWithShape="1">
              <a:blip r:embed="rId5">
                <a:alphaModFix/>
              </a:blip>
              <a:srcRect b="0" l="0" r="0" t="0"/>
              <a:stretch/>
            </p:blipFill>
            <p:spPr>
              <a:xfrm>
                <a:off x="6655105" y="3763769"/>
                <a:ext cx="514350" cy="514350"/>
              </a:xfrm>
              <a:prstGeom prst="rect">
                <a:avLst/>
              </a:prstGeom>
              <a:noFill/>
              <a:ln>
                <a:noFill/>
              </a:ln>
            </p:spPr>
          </p:pic>
          <p:pic>
            <p:nvPicPr>
              <p:cNvPr descr="customer care Icon - Free PNG &amp; SVG 619194 - Noun Project" id="398" name="Google Shape;398;p19"/>
              <p:cNvPicPr preferRelativeResize="0"/>
              <p:nvPr/>
            </p:nvPicPr>
            <p:blipFill rotWithShape="1">
              <a:blip r:embed="rId6">
                <a:alphaModFix/>
              </a:blip>
              <a:srcRect b="0" l="0" r="0" t="0"/>
              <a:stretch/>
            </p:blipFill>
            <p:spPr>
              <a:xfrm>
                <a:off x="8032795" y="2984893"/>
                <a:ext cx="559801" cy="559801"/>
              </a:xfrm>
              <a:prstGeom prst="rect">
                <a:avLst/>
              </a:prstGeom>
              <a:noFill/>
              <a:ln>
                <a:noFill/>
              </a:ln>
            </p:spPr>
          </p:pic>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0"/>
          <p:cNvSpPr txBox="1"/>
          <p:nvPr/>
        </p:nvSpPr>
        <p:spPr>
          <a:xfrm>
            <a:off x="4764055" y="912813"/>
            <a:ext cx="3831305" cy="4016484"/>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00B2C2"/>
                </a:solidFill>
                <a:latin typeface="Calibri"/>
                <a:ea typeface="Calibri"/>
                <a:cs typeface="Calibri"/>
                <a:sym typeface="Calibri"/>
              </a:rPr>
              <a:t>ROL DEL SCRUM MASTER</a:t>
            </a:r>
            <a:endParaRPr b="0" i="0" sz="1600" u="none" cap="none" strike="noStrike">
              <a:solidFill>
                <a:srgbClr val="00B2C2"/>
              </a:solidFill>
              <a:latin typeface="Calibri"/>
              <a:ea typeface="Calibri"/>
              <a:cs typeface="Calibri"/>
              <a:sym typeface="Calibri"/>
            </a:endParaRPr>
          </a:p>
          <a:p>
            <a:pPr indent="-169863"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Es el facilitador de la práctica de Scrum en el día a día. Para ello, se involucran en la organización y ejecución de las reuniones y ceremonias del equipo, en las cuales actúan de coachs o guías.</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Al ser coaches, </a:t>
            </a:r>
            <a:r>
              <a:rPr b="1" i="0" lang="es-PE" sz="1600" u="none" cap="none" strike="noStrike">
                <a:solidFill>
                  <a:srgbClr val="262626"/>
                </a:solidFill>
                <a:latin typeface="Calibri"/>
                <a:ea typeface="Calibri"/>
                <a:cs typeface="Calibri"/>
                <a:sym typeface="Calibri"/>
              </a:rPr>
              <a:t>no son los encargados</a:t>
            </a:r>
            <a:r>
              <a:rPr b="0" i="0" lang="es-PE" sz="1600" u="none" cap="none" strike="noStrike">
                <a:solidFill>
                  <a:srgbClr val="262626"/>
                </a:solidFill>
                <a:latin typeface="Calibri"/>
                <a:ea typeface="Calibri"/>
                <a:cs typeface="Calibri"/>
                <a:sym typeface="Calibri"/>
              </a:rPr>
              <a:t> de tomar decisiones o meterse a desarrollar el producto, pero ellos buscan remover cualquier bloqueante que no permita que la práctica de Scrum se dé.</a:t>
            </a:r>
            <a:endParaRPr b="0" i="0" sz="1600" u="none" cap="none" strike="noStrike">
              <a:solidFill>
                <a:srgbClr val="000000"/>
              </a:solidFill>
              <a:latin typeface="Calibri"/>
              <a:ea typeface="Calibri"/>
              <a:cs typeface="Calibri"/>
              <a:sym typeface="Calibri"/>
            </a:endParaRPr>
          </a:p>
          <a:p>
            <a:pPr indent="-68263"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69863"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Su objetivo es asegurar la exitosa implementación de Scrum en cada una de las iteraciones.</a:t>
            </a:r>
            <a:endParaRPr b="0" i="0" sz="1600" u="none" cap="none" strike="noStrike">
              <a:solidFill>
                <a:srgbClr val="000000"/>
              </a:solidFill>
              <a:latin typeface="Calibri"/>
              <a:ea typeface="Calibri"/>
              <a:cs typeface="Calibri"/>
              <a:sym typeface="Calibri"/>
            </a:endParaRPr>
          </a:p>
        </p:txBody>
      </p:sp>
      <p:sp>
        <p:nvSpPr>
          <p:cNvPr id="405" name="Google Shape;405;p20"/>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ROLES Y RESPONSABILIDADES EN EQUIPOS ÁGILES</a:t>
            </a:r>
            <a:endParaRPr b="0" i="0" sz="1400" u="none" cap="none" strike="noStrike">
              <a:solidFill>
                <a:srgbClr val="000000"/>
              </a:solidFill>
              <a:latin typeface="Arial"/>
              <a:ea typeface="Arial"/>
              <a:cs typeface="Arial"/>
              <a:sym typeface="Arial"/>
            </a:endParaRPr>
          </a:p>
        </p:txBody>
      </p:sp>
      <p:sp>
        <p:nvSpPr>
          <p:cNvPr id="406" name="Google Shape;406;p20"/>
          <p:cNvSpPr/>
          <p:nvPr/>
        </p:nvSpPr>
        <p:spPr>
          <a:xfrm>
            <a:off x="707862" y="1112299"/>
            <a:ext cx="3484060" cy="39222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407" name="Google Shape;407;p20"/>
          <p:cNvGrpSpPr/>
          <p:nvPr/>
        </p:nvGrpSpPr>
        <p:grpSpPr>
          <a:xfrm>
            <a:off x="849057" y="1112164"/>
            <a:ext cx="3485391" cy="3922337"/>
            <a:chOff x="5244319" y="964776"/>
            <a:chExt cx="3812504" cy="4290458"/>
          </a:xfrm>
        </p:grpSpPr>
        <p:sp>
          <p:nvSpPr>
            <p:cNvPr id="408" name="Google Shape;408;p20"/>
            <p:cNvSpPr txBox="1"/>
            <p:nvPr/>
          </p:nvSpPr>
          <p:spPr>
            <a:xfrm>
              <a:off x="7873323" y="2979808"/>
              <a:ext cx="1183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1" lang="es-PE" sz="900" u="none" cap="none" strike="noStrike">
                  <a:solidFill>
                    <a:schemeClr val="dk1"/>
                  </a:solidFill>
                  <a:latin typeface="Calibri"/>
                  <a:ea typeface="Calibri"/>
                  <a:cs typeface="Calibri"/>
                  <a:sym typeface="Calibri"/>
                </a:rPr>
                <a:t>GUARDIÁN &amp; FACILITADOR</a:t>
              </a:r>
              <a:endParaRPr b="0" i="0" sz="1400" u="none" cap="none" strike="noStrike">
                <a:solidFill>
                  <a:srgbClr val="000000"/>
                </a:solidFill>
                <a:latin typeface="Arial"/>
                <a:ea typeface="Arial"/>
                <a:cs typeface="Arial"/>
                <a:sym typeface="Arial"/>
              </a:endParaRPr>
            </a:p>
          </p:txBody>
        </p:sp>
        <p:grpSp>
          <p:nvGrpSpPr>
            <p:cNvPr id="409" name="Google Shape;409;p20"/>
            <p:cNvGrpSpPr/>
            <p:nvPr/>
          </p:nvGrpSpPr>
          <p:grpSpPr>
            <a:xfrm>
              <a:off x="5244319" y="964776"/>
              <a:ext cx="3509708" cy="4290458"/>
              <a:chOff x="5244319" y="964776"/>
              <a:chExt cx="3509708" cy="4290458"/>
            </a:xfrm>
          </p:grpSpPr>
          <p:sp>
            <p:nvSpPr>
              <p:cNvPr id="410" name="Google Shape;410;p20"/>
              <p:cNvSpPr/>
              <p:nvPr/>
            </p:nvSpPr>
            <p:spPr>
              <a:xfrm>
                <a:off x="6355068" y="2926349"/>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SCRUM MASTER</a:t>
                </a:r>
                <a:endParaRPr b="0" i="0" sz="1100" u="none" cap="none" strike="noStrike">
                  <a:solidFill>
                    <a:schemeClr val="lt1"/>
                  </a:solidFill>
                  <a:latin typeface="Calibri"/>
                  <a:ea typeface="Calibri"/>
                  <a:cs typeface="Calibri"/>
                  <a:sym typeface="Calibri"/>
                </a:endParaRPr>
              </a:p>
            </p:txBody>
          </p:sp>
          <p:sp>
            <p:nvSpPr>
              <p:cNvPr id="411" name="Google Shape;411;p20"/>
              <p:cNvSpPr/>
              <p:nvPr/>
            </p:nvSpPr>
            <p:spPr>
              <a:xfrm>
                <a:off x="5244319" y="3945632"/>
                <a:ext cx="1400175"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RECURSOS HUMANOS</a:t>
                </a:r>
                <a:endParaRPr b="0" i="0" sz="1100" u="none" cap="none" strike="noStrike">
                  <a:solidFill>
                    <a:schemeClr val="lt1"/>
                  </a:solidFill>
                  <a:latin typeface="Calibri"/>
                  <a:ea typeface="Calibri"/>
                  <a:cs typeface="Calibri"/>
                  <a:sym typeface="Calibri"/>
                </a:endParaRPr>
              </a:p>
            </p:txBody>
          </p:sp>
          <p:cxnSp>
            <p:nvCxnSpPr>
              <p:cNvPr id="412" name="Google Shape;412;p20"/>
              <p:cNvCxnSpPr>
                <a:stCxn id="406" idx="2"/>
                <a:endCxn id="411" idx="0"/>
              </p:cNvCxnSpPr>
              <p:nvPr/>
            </p:nvCxnSpPr>
            <p:spPr>
              <a:xfrm rot="10800000">
                <a:off x="5944496" y="3945734"/>
                <a:ext cx="1050900" cy="13095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pic>
            <p:nvPicPr>
              <p:cNvPr descr="Scrum Master Icons - Free SVG &amp; PNG Scrum Master Images - Noun Project" id="413" name="Google Shape;413;p20"/>
              <p:cNvPicPr preferRelativeResize="0"/>
              <p:nvPr/>
            </p:nvPicPr>
            <p:blipFill rotWithShape="1">
              <a:blip r:embed="rId3">
                <a:alphaModFix/>
              </a:blip>
              <a:srcRect b="0" l="0" r="0" t="0"/>
              <a:stretch/>
            </p:blipFill>
            <p:spPr>
              <a:xfrm>
                <a:off x="8034614" y="2362858"/>
                <a:ext cx="532713" cy="532713"/>
              </a:xfrm>
              <a:prstGeom prst="rect">
                <a:avLst/>
              </a:prstGeom>
              <a:noFill/>
              <a:ln>
                <a:noFill/>
              </a:ln>
            </p:spPr>
          </p:pic>
          <p:sp>
            <p:nvSpPr>
              <p:cNvPr id="414" name="Google Shape;414;p20"/>
              <p:cNvSpPr/>
              <p:nvPr/>
            </p:nvSpPr>
            <p:spPr>
              <a:xfrm>
                <a:off x="7334526" y="3945632"/>
                <a:ext cx="1400175"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STAKEHOLDERS</a:t>
                </a:r>
                <a:endParaRPr b="0" i="0" sz="1100" u="none" cap="none" strike="noStrike">
                  <a:solidFill>
                    <a:schemeClr val="lt1"/>
                  </a:solidFill>
                  <a:latin typeface="Calibri"/>
                  <a:ea typeface="Calibri"/>
                  <a:cs typeface="Calibri"/>
                  <a:sym typeface="Calibri"/>
                </a:endParaRPr>
              </a:p>
            </p:txBody>
          </p:sp>
          <p:cxnSp>
            <p:nvCxnSpPr>
              <p:cNvPr id="415" name="Google Shape;415;p20"/>
              <p:cNvCxnSpPr>
                <a:stCxn id="406" idx="2"/>
                <a:endCxn id="414" idx="0"/>
              </p:cNvCxnSpPr>
              <p:nvPr/>
            </p:nvCxnSpPr>
            <p:spPr>
              <a:xfrm flipH="1" rot="10800000">
                <a:off x="6995396" y="3945734"/>
                <a:ext cx="1039200" cy="13095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pic>
            <p:nvPicPr>
              <p:cNvPr descr="human resources Icon - Free PNG &amp; SVG 3767746 - Noun Project" id="416" name="Google Shape;416;p20"/>
              <p:cNvPicPr preferRelativeResize="0"/>
              <p:nvPr/>
            </p:nvPicPr>
            <p:blipFill rotWithShape="1">
              <a:blip r:embed="rId4">
                <a:alphaModFix/>
              </a:blip>
              <a:srcRect b="0" l="0" r="0" t="0"/>
              <a:stretch/>
            </p:blipFill>
            <p:spPr>
              <a:xfrm>
                <a:off x="5328393" y="3266966"/>
                <a:ext cx="543033" cy="543033"/>
              </a:xfrm>
              <a:prstGeom prst="rect">
                <a:avLst/>
              </a:prstGeom>
              <a:noFill/>
              <a:ln>
                <a:noFill/>
              </a:ln>
            </p:spPr>
          </p:pic>
          <p:sp>
            <p:nvSpPr>
              <p:cNvPr id="417" name="Google Shape;417;p20"/>
              <p:cNvSpPr/>
              <p:nvPr/>
            </p:nvSpPr>
            <p:spPr>
              <a:xfrm>
                <a:off x="5490187" y="1798326"/>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PRODUCT OWNER</a:t>
                </a:r>
                <a:endParaRPr b="0" i="0" sz="1100" u="none" cap="none" strike="noStrike">
                  <a:solidFill>
                    <a:schemeClr val="lt1"/>
                  </a:solidFill>
                  <a:latin typeface="Calibri"/>
                  <a:ea typeface="Calibri"/>
                  <a:cs typeface="Calibri"/>
                  <a:sym typeface="Calibri"/>
                </a:endParaRPr>
              </a:p>
            </p:txBody>
          </p:sp>
          <p:sp>
            <p:nvSpPr>
              <p:cNvPr id="418" name="Google Shape;418;p20"/>
              <p:cNvSpPr/>
              <p:nvPr/>
            </p:nvSpPr>
            <p:spPr>
              <a:xfrm>
                <a:off x="7353852" y="1800500"/>
                <a:ext cx="140017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DEVELOPMENT TEAM</a:t>
                </a:r>
                <a:endParaRPr b="0" i="0" sz="1100" u="none" cap="none" strike="noStrike">
                  <a:solidFill>
                    <a:schemeClr val="lt1"/>
                  </a:solidFill>
                  <a:latin typeface="Calibri"/>
                  <a:ea typeface="Calibri"/>
                  <a:cs typeface="Calibri"/>
                  <a:sym typeface="Calibri"/>
                </a:endParaRPr>
              </a:p>
            </p:txBody>
          </p:sp>
          <p:cxnSp>
            <p:nvCxnSpPr>
              <p:cNvPr id="419" name="Google Shape;419;p20"/>
              <p:cNvCxnSpPr>
                <a:stCxn id="417" idx="2"/>
                <a:endCxn id="406" idx="0"/>
              </p:cNvCxnSpPr>
              <p:nvPr/>
            </p:nvCxnSpPr>
            <p:spPr>
              <a:xfrm flipH="1" rot="10800000">
                <a:off x="6190275" y="964776"/>
                <a:ext cx="805200" cy="13098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cxnSp>
            <p:nvCxnSpPr>
              <p:cNvPr id="420" name="Google Shape;420;p20"/>
              <p:cNvCxnSpPr>
                <a:stCxn id="418" idx="2"/>
                <a:endCxn id="406" idx="0"/>
              </p:cNvCxnSpPr>
              <p:nvPr/>
            </p:nvCxnSpPr>
            <p:spPr>
              <a:xfrm rot="10800000">
                <a:off x="6995540" y="964850"/>
                <a:ext cx="1058400" cy="1311900"/>
              </a:xfrm>
              <a:prstGeom prst="straightConnector1">
                <a:avLst/>
              </a:prstGeom>
              <a:noFill/>
              <a:ln cap="flat" cmpd="sng" w="19050">
                <a:solidFill>
                  <a:srgbClr val="808799"/>
                </a:solidFill>
                <a:prstDash val="solid"/>
                <a:round/>
                <a:headEnd len="sm" w="sm" type="none"/>
                <a:tailEnd len="sm" w="sm" type="none"/>
              </a:ln>
              <a:effectLst>
                <a:outerShdw sx="1000" rotWithShape="0" sy="1000">
                  <a:srgbClr val="000000"/>
                </a:outerShdw>
              </a:effectLst>
            </p:spPr>
          </p:cxnSp>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1"/>
          <p:cNvSpPr txBox="1"/>
          <p:nvPr/>
        </p:nvSpPr>
        <p:spPr>
          <a:xfrm>
            <a:off x="4757948" y="920536"/>
            <a:ext cx="3917740" cy="3524042"/>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00B2C2"/>
                </a:solidFill>
                <a:latin typeface="Calibri"/>
                <a:ea typeface="Calibri"/>
                <a:cs typeface="Calibri"/>
                <a:sym typeface="Calibri"/>
              </a:rPr>
              <a:t>ROL DEL DEVELOPMENT TEAM</a:t>
            </a:r>
            <a:endParaRPr b="0" i="0" sz="1400" u="none" cap="none" strike="noStrike">
              <a:solidFill>
                <a:srgbClr val="00B2C2"/>
              </a:solidFill>
              <a:latin typeface="Arial"/>
              <a:ea typeface="Arial"/>
              <a:cs typeface="Arial"/>
              <a:sym typeface="Arial"/>
            </a:endParaRPr>
          </a:p>
          <a:p>
            <a:pPr indent="-174625" lvl="0" marL="180975"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Son el grupo </a:t>
            </a:r>
            <a:r>
              <a:rPr b="1" i="0" lang="es-PE" sz="1600" u="none" cap="none" strike="noStrike">
                <a:solidFill>
                  <a:srgbClr val="262626"/>
                </a:solidFill>
                <a:latin typeface="Calibri"/>
                <a:ea typeface="Calibri"/>
                <a:cs typeface="Calibri"/>
                <a:sym typeface="Calibri"/>
              </a:rPr>
              <a:t>multidisciplinario</a:t>
            </a:r>
            <a:r>
              <a:rPr b="0" i="0" lang="es-PE" sz="1600" u="none" cap="none" strike="noStrike">
                <a:solidFill>
                  <a:srgbClr val="262626"/>
                </a:solidFill>
                <a:latin typeface="Calibri"/>
                <a:ea typeface="Calibri"/>
                <a:cs typeface="Calibri"/>
                <a:sym typeface="Calibri"/>
              </a:rPr>
              <a:t> encargado de ejecutar las tareas que lograrán que el producto evolucione y genere más valor. </a:t>
            </a:r>
            <a:endParaRPr b="0" i="0" sz="1400" u="none" cap="none" strike="noStrike">
              <a:solidFill>
                <a:srgbClr val="000000"/>
              </a:solidFill>
              <a:latin typeface="Arial"/>
              <a:ea typeface="Arial"/>
              <a:cs typeface="Arial"/>
              <a:sym typeface="Arial"/>
            </a:endParaRPr>
          </a:p>
          <a:p>
            <a:pPr indent="-73025"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74625"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Una vez que se acuerdan los ítems que se van a trabajar, son los encargados de decidir cómo se harán realidad además de comunicar cuándo estarán listas. </a:t>
            </a:r>
            <a:endParaRPr b="0" i="0" sz="1400" u="none" cap="none" strike="noStrike">
              <a:solidFill>
                <a:srgbClr val="000000"/>
              </a:solidFill>
              <a:latin typeface="Arial"/>
              <a:ea typeface="Arial"/>
              <a:cs typeface="Arial"/>
              <a:sym typeface="Arial"/>
            </a:endParaRPr>
          </a:p>
          <a:p>
            <a:pPr indent="-73025" lvl="0" marL="18097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74625" lvl="0" marL="180975"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El equipo mayormente está conformado por programadores y diseñadores. De acuerdo a la complejidad del producto, se suelen añadir QAs y otros especialistas.</a:t>
            </a:r>
            <a:endParaRPr b="0" i="0" sz="1400" u="none" cap="none" strike="noStrike">
              <a:solidFill>
                <a:srgbClr val="000000"/>
              </a:solidFill>
              <a:latin typeface="Arial"/>
              <a:ea typeface="Arial"/>
              <a:cs typeface="Arial"/>
              <a:sym typeface="Arial"/>
            </a:endParaRPr>
          </a:p>
        </p:txBody>
      </p:sp>
      <p:sp>
        <p:nvSpPr>
          <p:cNvPr id="427" name="Google Shape;427;p21"/>
          <p:cNvSpPr/>
          <p:nvPr/>
        </p:nvSpPr>
        <p:spPr>
          <a:xfrm>
            <a:off x="503238" y="376836"/>
            <a:ext cx="4401784"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ROLES Y RESPONSABILIDADES EN EQUIPOS ÁGILES</a:t>
            </a:r>
            <a:endParaRPr b="0" i="0" sz="1400" u="none" cap="none" strike="noStrike">
              <a:solidFill>
                <a:srgbClr val="000000"/>
              </a:solidFill>
              <a:latin typeface="Arial"/>
              <a:ea typeface="Arial"/>
              <a:cs typeface="Arial"/>
              <a:sym typeface="Arial"/>
            </a:endParaRPr>
          </a:p>
        </p:txBody>
      </p:sp>
      <p:sp>
        <p:nvSpPr>
          <p:cNvPr id="428" name="Google Shape;428;p21"/>
          <p:cNvSpPr/>
          <p:nvPr/>
        </p:nvSpPr>
        <p:spPr>
          <a:xfrm>
            <a:off x="707862" y="1112299"/>
            <a:ext cx="3484060" cy="392220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429" name="Google Shape;429;p21"/>
          <p:cNvGrpSpPr/>
          <p:nvPr/>
        </p:nvGrpSpPr>
        <p:grpSpPr>
          <a:xfrm>
            <a:off x="999652" y="1805112"/>
            <a:ext cx="2931471" cy="2292761"/>
            <a:chOff x="5921064" y="1191407"/>
            <a:chExt cx="2931471" cy="2292761"/>
          </a:xfrm>
        </p:grpSpPr>
        <p:sp>
          <p:nvSpPr>
            <p:cNvPr id="430" name="Google Shape;430;p21"/>
            <p:cNvSpPr/>
            <p:nvPr/>
          </p:nvSpPr>
          <p:spPr>
            <a:xfrm>
              <a:off x="6117353" y="1800500"/>
              <a:ext cx="2515305" cy="476250"/>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DEVELOPMENT TEAM</a:t>
              </a:r>
              <a:endParaRPr b="1" i="0" sz="1100" u="none" cap="none" strike="noStrike">
                <a:solidFill>
                  <a:schemeClr val="lt1"/>
                </a:solidFill>
                <a:latin typeface="Calibri"/>
                <a:ea typeface="Calibri"/>
                <a:cs typeface="Calibri"/>
                <a:sym typeface="Calibri"/>
              </a:endParaRPr>
            </a:p>
          </p:txBody>
        </p:sp>
        <p:sp>
          <p:nvSpPr>
            <p:cNvPr id="431" name="Google Shape;431;p21"/>
            <p:cNvSpPr txBox="1"/>
            <p:nvPr/>
          </p:nvSpPr>
          <p:spPr>
            <a:xfrm>
              <a:off x="6891726" y="1273097"/>
              <a:ext cx="144128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s-PE" sz="900" u="none" cap="none" strike="noStrike">
                  <a:solidFill>
                    <a:schemeClr val="dk1"/>
                  </a:solidFill>
                  <a:latin typeface="Calibri"/>
                  <a:ea typeface="Calibri"/>
                  <a:cs typeface="Calibri"/>
                  <a:sym typeface="Calibri"/>
                </a:rPr>
                <a:t>¿CÓMO LO HAREMOS?</a:t>
              </a:r>
              <a:endParaRPr b="1"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1" i="0" lang="es-PE" sz="900" u="none" cap="none" strike="noStrike">
                  <a:solidFill>
                    <a:schemeClr val="dk1"/>
                  </a:solidFill>
                  <a:latin typeface="Calibri"/>
                  <a:ea typeface="Calibri"/>
                  <a:cs typeface="Calibri"/>
                  <a:sym typeface="Calibri"/>
                </a:rPr>
                <a:t>¿QUÉ TAN RÁPIDO?</a:t>
              </a:r>
              <a:endParaRPr b="1" i="0" sz="1400" u="none" cap="none" strike="noStrike">
                <a:solidFill>
                  <a:srgbClr val="000000"/>
                </a:solidFill>
                <a:latin typeface="Calibri"/>
                <a:ea typeface="Calibri"/>
                <a:cs typeface="Calibri"/>
                <a:sym typeface="Calibri"/>
              </a:endParaRPr>
            </a:p>
          </p:txBody>
        </p:sp>
        <p:pic>
          <p:nvPicPr>
            <p:cNvPr descr="development team Icon - Free PNG &amp; SVG 3635025 - Noun Project" id="432" name="Google Shape;432;p21"/>
            <p:cNvPicPr preferRelativeResize="0"/>
            <p:nvPr/>
          </p:nvPicPr>
          <p:blipFill rotWithShape="1">
            <a:blip r:embed="rId3">
              <a:alphaModFix/>
            </a:blip>
            <a:srcRect b="0" l="0" r="0" t="0"/>
            <a:stretch/>
          </p:blipFill>
          <p:spPr>
            <a:xfrm>
              <a:off x="6231930" y="1191407"/>
              <a:ext cx="532713" cy="532713"/>
            </a:xfrm>
            <a:prstGeom prst="rect">
              <a:avLst/>
            </a:prstGeom>
            <a:noFill/>
            <a:ln>
              <a:noFill/>
            </a:ln>
          </p:spPr>
        </p:pic>
        <p:sp>
          <p:nvSpPr>
            <p:cNvPr id="433" name="Google Shape;433;p21"/>
            <p:cNvSpPr/>
            <p:nvPr/>
          </p:nvSpPr>
          <p:spPr>
            <a:xfrm>
              <a:off x="5921064" y="2434821"/>
              <a:ext cx="1363993"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Diseñadores </a:t>
              </a:r>
              <a:br>
                <a:rPr b="1" i="0" lang="es-PE" sz="1100" u="none" cap="none" strike="noStrike">
                  <a:solidFill>
                    <a:schemeClr val="lt1"/>
                  </a:solidFill>
                  <a:latin typeface="Calibri"/>
                  <a:ea typeface="Calibri"/>
                  <a:cs typeface="Calibri"/>
                  <a:sym typeface="Calibri"/>
                </a:rPr>
              </a:br>
              <a:r>
                <a:rPr b="1" i="0" lang="es-PE" sz="1100" u="none" cap="none" strike="noStrike">
                  <a:solidFill>
                    <a:schemeClr val="lt1"/>
                  </a:solidFill>
                  <a:latin typeface="Calibri"/>
                  <a:ea typeface="Calibri"/>
                  <a:cs typeface="Calibri"/>
                  <a:sym typeface="Calibri"/>
                </a:rPr>
                <a:t>(UX, UI)</a:t>
              </a:r>
              <a:endParaRPr b="1" i="0" sz="1100" u="none" cap="none" strike="noStrike">
                <a:solidFill>
                  <a:schemeClr val="lt1"/>
                </a:solidFill>
                <a:latin typeface="Calibri"/>
                <a:ea typeface="Calibri"/>
                <a:cs typeface="Calibri"/>
                <a:sym typeface="Calibri"/>
              </a:endParaRPr>
            </a:p>
          </p:txBody>
        </p:sp>
        <p:sp>
          <p:nvSpPr>
            <p:cNvPr id="434" name="Google Shape;434;p21"/>
            <p:cNvSpPr/>
            <p:nvPr/>
          </p:nvSpPr>
          <p:spPr>
            <a:xfrm>
              <a:off x="7488542" y="2427388"/>
              <a:ext cx="1363993"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Programadores</a:t>
              </a:r>
              <a:endParaRPr b="1" i="0" sz="1100" u="none" cap="none" strike="noStrike">
                <a:solidFill>
                  <a:schemeClr val="lt1"/>
                </a:solidFill>
                <a:latin typeface="Calibri"/>
                <a:ea typeface="Calibri"/>
                <a:cs typeface="Calibri"/>
                <a:sym typeface="Calibri"/>
              </a:endParaRPr>
            </a:p>
          </p:txBody>
        </p:sp>
        <p:sp>
          <p:nvSpPr>
            <p:cNvPr id="435" name="Google Shape;435;p21"/>
            <p:cNvSpPr/>
            <p:nvPr/>
          </p:nvSpPr>
          <p:spPr>
            <a:xfrm>
              <a:off x="5933244" y="3007918"/>
              <a:ext cx="1363993"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Quality Assurance (QA)</a:t>
              </a:r>
              <a:endParaRPr b="1" i="0" sz="1100" u="none" cap="none" strike="noStrike">
                <a:solidFill>
                  <a:schemeClr val="lt1"/>
                </a:solidFill>
                <a:latin typeface="Calibri"/>
                <a:ea typeface="Calibri"/>
                <a:cs typeface="Calibri"/>
                <a:sym typeface="Calibri"/>
              </a:endParaRPr>
            </a:p>
          </p:txBody>
        </p:sp>
        <p:sp>
          <p:nvSpPr>
            <p:cNvPr id="436" name="Google Shape;436;p21"/>
            <p:cNvSpPr/>
            <p:nvPr/>
          </p:nvSpPr>
          <p:spPr>
            <a:xfrm>
              <a:off x="7488541" y="3007918"/>
              <a:ext cx="1363993" cy="476250"/>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s-PE" sz="1100" u="none" cap="none" strike="noStrike">
                  <a:solidFill>
                    <a:schemeClr val="lt1"/>
                  </a:solidFill>
                  <a:latin typeface="Calibri"/>
                  <a:ea typeface="Calibri"/>
                  <a:cs typeface="Calibri"/>
                  <a:sym typeface="Calibri"/>
                </a:rPr>
                <a:t>Otros (Arquitecto, Data, ML, etc.)</a:t>
              </a:r>
              <a:endParaRPr b="1" i="0" sz="1100" u="none" cap="none" strike="noStrike">
                <a:solidFill>
                  <a:schemeClr val="lt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2"/>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3" name="Google Shape;443;p22"/>
          <p:cNvSpPr txBox="1"/>
          <p:nvPr/>
        </p:nvSpPr>
        <p:spPr>
          <a:xfrm>
            <a:off x="1008063" y="3157860"/>
            <a:ext cx="7228852" cy="6647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PE" sz="2400" u="none" cap="none" strike="noStrike">
                <a:solidFill>
                  <a:schemeClr val="lt1"/>
                </a:solidFill>
                <a:latin typeface="Arial"/>
                <a:ea typeface="Arial"/>
                <a:cs typeface="Arial"/>
                <a:sym typeface="Arial"/>
              </a:rPr>
              <a:t>ROL DEL EQUIPO DE TECNOLOGÍA </a:t>
            </a:r>
            <a:br>
              <a:rPr b="1"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EN LOS FRAMEWORK CUSTOMER - CENTRIC</a:t>
            </a:r>
            <a:endParaRPr/>
          </a:p>
        </p:txBody>
      </p:sp>
      <p:pic>
        <p:nvPicPr>
          <p:cNvPr id="444" name="Google Shape;444;p22"/>
          <p:cNvPicPr preferRelativeResize="0"/>
          <p:nvPr/>
        </p:nvPicPr>
        <p:blipFill rotWithShape="1">
          <a:blip r:embed="rId3">
            <a:alphaModFix/>
          </a:blip>
          <a:srcRect b="0" l="0" r="0" t="0"/>
          <a:stretch/>
        </p:blipFill>
        <p:spPr>
          <a:xfrm>
            <a:off x="1008063" y="2857500"/>
            <a:ext cx="195423" cy="20125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3"/>
          <p:cNvSpPr/>
          <p:nvPr/>
        </p:nvSpPr>
        <p:spPr>
          <a:xfrm>
            <a:off x="3200400" y="2262489"/>
            <a:ext cx="4871544" cy="86177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714FA0"/>
              </a:buClr>
              <a:buSzPts val="2800"/>
              <a:buFont typeface="Arial"/>
              <a:buNone/>
            </a:pPr>
            <a:r>
              <a:rPr b="1" i="0" lang="es-PE" sz="2800" u="none" cap="none" strike="noStrike">
                <a:solidFill>
                  <a:schemeClr val="dk1"/>
                </a:solidFill>
                <a:latin typeface="Calibri"/>
                <a:ea typeface="Calibri"/>
                <a:cs typeface="Calibri"/>
                <a:sym typeface="Calibri"/>
              </a:rPr>
              <a:t>“</a:t>
            </a:r>
            <a:r>
              <a:rPr b="1" i="0" lang="es-PE" sz="2800" u="none" cap="none" strike="noStrike">
                <a:solidFill>
                  <a:schemeClr val="dk1"/>
                </a:solidFill>
                <a:latin typeface="Arial"/>
                <a:ea typeface="Arial"/>
                <a:cs typeface="Arial"/>
                <a:sym typeface="Arial"/>
              </a:rPr>
              <a:t>PÁSAME EL DISEÑO</a:t>
            </a:r>
            <a:endParaRPr/>
          </a:p>
          <a:p>
            <a:pPr indent="0" lvl="0" marL="0" marR="0" rtl="0" algn="l">
              <a:lnSpc>
                <a:spcPct val="100000"/>
              </a:lnSpc>
              <a:spcBef>
                <a:spcPts val="0"/>
              </a:spcBef>
              <a:spcAft>
                <a:spcPts val="0"/>
              </a:spcAft>
              <a:buClr>
                <a:srgbClr val="714FA0"/>
              </a:buClr>
              <a:buSzPts val="2800"/>
              <a:buFont typeface="Arial"/>
              <a:buNone/>
            </a:pPr>
            <a:r>
              <a:rPr b="1" i="0" lang="es-PE" sz="2800" u="none" cap="none" strike="noStrike">
                <a:solidFill>
                  <a:srgbClr val="7150A0"/>
                </a:solidFill>
                <a:latin typeface="Arial"/>
                <a:ea typeface="Arial"/>
                <a:cs typeface="Arial"/>
                <a:sym typeface="Arial"/>
              </a:rPr>
              <a:t>Y YO LO HAGO REALIDAD</a:t>
            </a:r>
            <a:r>
              <a:rPr b="1" i="0" lang="es-PE" sz="2800" u="none" cap="none" strike="noStrike">
                <a:solidFill>
                  <a:srgbClr val="7150A0"/>
                </a:solidFill>
                <a:latin typeface="Calibri"/>
                <a:ea typeface="Calibri"/>
                <a:cs typeface="Calibri"/>
                <a:sym typeface="Calibri"/>
              </a:rPr>
              <a:t>”</a:t>
            </a:r>
            <a:endParaRPr b="1" i="0" sz="2800" u="none" cap="none" strike="noStrike">
              <a:solidFill>
                <a:srgbClr val="7150A0"/>
              </a:solidFill>
              <a:latin typeface="Arial"/>
              <a:ea typeface="Arial"/>
              <a:cs typeface="Arial"/>
              <a:sym typeface="Arial"/>
            </a:endParaRPr>
          </a:p>
        </p:txBody>
      </p:sp>
      <p:pic>
        <p:nvPicPr>
          <p:cNvPr id="451" name="Google Shape;451;p23"/>
          <p:cNvPicPr preferRelativeResize="0"/>
          <p:nvPr/>
        </p:nvPicPr>
        <p:blipFill rotWithShape="1">
          <a:blip r:embed="rId3">
            <a:alphaModFix/>
          </a:blip>
          <a:srcRect b="0" l="0" r="0" t="0"/>
          <a:stretch/>
        </p:blipFill>
        <p:spPr>
          <a:xfrm>
            <a:off x="1687351" y="2067370"/>
            <a:ext cx="1145495" cy="1384043"/>
          </a:xfrm>
          <a:prstGeom prst="rect">
            <a:avLst/>
          </a:prstGeom>
          <a:noFill/>
          <a:ln>
            <a:noFill/>
          </a:ln>
        </p:spPr>
      </p:pic>
      <p:pic>
        <p:nvPicPr>
          <p:cNvPr id="452" name="Google Shape;452;p23"/>
          <p:cNvPicPr preferRelativeResize="0"/>
          <p:nvPr/>
        </p:nvPicPr>
        <p:blipFill rotWithShape="1">
          <a:blip r:embed="rId4">
            <a:alphaModFix/>
          </a:blip>
          <a:srcRect b="0" l="0" r="0" t="0"/>
          <a:stretch/>
        </p:blipFill>
        <p:spPr>
          <a:xfrm>
            <a:off x="1883395" y="2270662"/>
            <a:ext cx="743358" cy="743358"/>
          </a:xfrm>
          <a:prstGeom prst="ellipse">
            <a:avLst/>
          </a:prstGeom>
          <a:noFill/>
          <a:ln>
            <a:noFill/>
          </a:ln>
        </p:spPr>
      </p:pic>
      <p:sp>
        <p:nvSpPr>
          <p:cNvPr id="453" name="Google Shape;453;p23"/>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24"/>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460" name="Google Shape;460;p24"/>
          <p:cNvSpPr/>
          <p:nvPr/>
        </p:nvSpPr>
        <p:spPr>
          <a:xfrm>
            <a:off x="1362631" y="1882588"/>
            <a:ext cx="6615957" cy="2339788"/>
          </a:xfrm>
          <a:prstGeom prst="roundRect">
            <a:avLst>
              <a:gd fmla="val 5987" name="adj"/>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61" name="Google Shape;461;p24"/>
          <p:cNvPicPr preferRelativeResize="0"/>
          <p:nvPr/>
        </p:nvPicPr>
        <p:blipFill rotWithShape="1">
          <a:blip r:embed="rId3">
            <a:alphaModFix/>
          </a:blip>
          <a:srcRect b="47889" l="30025" r="24146" t="0"/>
          <a:stretch/>
        </p:blipFill>
        <p:spPr>
          <a:xfrm>
            <a:off x="1640542" y="1410107"/>
            <a:ext cx="546847" cy="920717"/>
          </a:xfrm>
          <a:prstGeom prst="rect">
            <a:avLst/>
          </a:prstGeom>
          <a:noFill/>
          <a:ln>
            <a:noFill/>
          </a:ln>
        </p:spPr>
      </p:pic>
      <p:sp>
        <p:nvSpPr>
          <p:cNvPr id="462" name="Google Shape;462;p24"/>
          <p:cNvSpPr txBox="1"/>
          <p:nvPr/>
        </p:nvSpPr>
        <p:spPr>
          <a:xfrm>
            <a:off x="1754368" y="2402902"/>
            <a:ext cx="5811844" cy="145167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1" lang="es-PE" sz="1800" u="none" cap="none" strike="noStrike">
                <a:solidFill>
                  <a:schemeClr val="lt1"/>
                </a:solidFill>
                <a:latin typeface="Calibri"/>
                <a:ea typeface="Calibri"/>
                <a:cs typeface="Calibri"/>
                <a:sym typeface="Calibri"/>
              </a:rPr>
              <a:t>Just remember that a smaller group of missionaries will always outperform a larger group of mercenaries, especially if you consider the need for both discovery and delivery.</a:t>
            </a:r>
            <a:endParaRPr b="0" i="0" sz="1800" u="none" cap="none" strike="noStrike">
              <a:solidFill>
                <a:schemeClr val="lt1"/>
              </a:solidFill>
              <a:latin typeface="Calibri"/>
              <a:ea typeface="Calibri"/>
              <a:cs typeface="Calibri"/>
              <a:sym typeface="Calibri"/>
            </a:endParaRPr>
          </a:p>
          <a:p>
            <a:pPr indent="0" lvl="0" marL="0" marR="0" rtl="0" algn="r">
              <a:lnSpc>
                <a:spcPct val="100000"/>
              </a:lnSpc>
              <a:spcBef>
                <a:spcPts val="100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Inspired - Marty Cagan (2008)</a:t>
            </a:r>
            <a:endParaRPr b="1" i="0" sz="1800" u="none" cap="none" strike="noStrike">
              <a:solidFill>
                <a:schemeClr val="lt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5"/>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469" name="Google Shape;469;p25"/>
          <p:cNvSpPr/>
          <p:nvPr/>
        </p:nvSpPr>
        <p:spPr>
          <a:xfrm>
            <a:off x="500063" y="912813"/>
            <a:ext cx="3892549" cy="435426"/>
          </a:xfrm>
          <a:prstGeom prst="roundRect">
            <a:avLst>
              <a:gd fmla="val 16667" name="adj"/>
            </a:avLst>
          </a:prstGeom>
          <a:solidFill>
            <a:srgbClr val="8FC5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PE" sz="1600" u="none" cap="none" strike="noStrike">
                <a:solidFill>
                  <a:schemeClr val="lt1"/>
                </a:solidFill>
                <a:latin typeface="Calibri"/>
                <a:ea typeface="Calibri"/>
                <a:cs typeface="Calibri"/>
                <a:sym typeface="Calibri"/>
              </a:rPr>
              <a:t>Mercenarios</a:t>
            </a:r>
            <a:endParaRPr/>
          </a:p>
        </p:txBody>
      </p:sp>
      <p:sp>
        <p:nvSpPr>
          <p:cNvPr id="470" name="Google Shape;470;p25"/>
          <p:cNvSpPr/>
          <p:nvPr/>
        </p:nvSpPr>
        <p:spPr>
          <a:xfrm>
            <a:off x="4751388" y="912813"/>
            <a:ext cx="3924300" cy="435426"/>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i="0" lang="es-PE" sz="1600" u="none" cap="none" strike="noStrike">
                <a:solidFill>
                  <a:schemeClr val="lt1"/>
                </a:solidFill>
                <a:latin typeface="Calibri"/>
                <a:ea typeface="Calibri"/>
                <a:cs typeface="Calibri"/>
                <a:sym typeface="Calibri"/>
              </a:rPr>
              <a:t>Misionarios</a:t>
            </a:r>
            <a:endParaRPr/>
          </a:p>
        </p:txBody>
      </p:sp>
      <p:sp>
        <p:nvSpPr>
          <p:cNvPr id="471" name="Google Shape;471;p25"/>
          <p:cNvSpPr/>
          <p:nvPr/>
        </p:nvSpPr>
        <p:spPr>
          <a:xfrm>
            <a:off x="4751388" y="1426480"/>
            <a:ext cx="3924300" cy="3807507"/>
          </a:xfrm>
          <a:prstGeom prst="roundRect">
            <a:avLst>
              <a:gd fmla="val 3823" name="adj"/>
            </a:avLst>
          </a:prstGeom>
          <a:solidFill>
            <a:srgbClr val="E3DCED"/>
          </a:solidFill>
          <a:ln>
            <a:noFill/>
          </a:ln>
        </p:spPr>
        <p:txBody>
          <a:bodyPr anchorCtr="0" anchor="t" bIns="45700" lIns="36000" spcFirstLastPara="1" rIns="108000" wrap="square" tIns="144000">
            <a:noAutofit/>
          </a:bodyPr>
          <a:lstStyle/>
          <a:p>
            <a:pPr indent="-185738" lvl="0" marL="271463" marR="0" rtl="0" algn="l">
              <a:lnSpc>
                <a:spcPct val="100000"/>
              </a:lnSpc>
              <a:spcBef>
                <a:spcPts val="0"/>
              </a:spcBef>
              <a:spcAft>
                <a:spcPts val="0"/>
              </a:spcAft>
              <a:buClr>
                <a:srgbClr val="7150A0"/>
              </a:buClr>
              <a:buSzPts val="1600"/>
              <a:buFont typeface="Arial"/>
              <a:buChar char="•"/>
            </a:pPr>
            <a:r>
              <a:rPr b="0" i="0" lang="es-PE" sz="1600" u="none" cap="none" strike="noStrike">
                <a:solidFill>
                  <a:schemeClr val="dk1"/>
                </a:solidFill>
                <a:latin typeface="Calibri"/>
                <a:ea typeface="Calibri"/>
                <a:cs typeface="Calibri"/>
                <a:sym typeface="Calibri"/>
              </a:rPr>
              <a:t>Motivados por el propósito</a:t>
            </a:r>
            <a:endParaRPr b="0" i="0" sz="1600" u="none" cap="none" strike="noStrike">
              <a:solidFill>
                <a:schemeClr val="lt1"/>
              </a:solidFill>
              <a:latin typeface="Calibri"/>
              <a:ea typeface="Calibri"/>
              <a:cs typeface="Calibri"/>
              <a:sym typeface="Calibri"/>
            </a:endParaRPr>
          </a:p>
          <a:p>
            <a:pPr indent="-182563" lvl="0" marL="269875" marR="0" rtl="0" algn="l">
              <a:lnSpc>
                <a:spcPct val="100000"/>
              </a:lnSpc>
              <a:spcBef>
                <a:spcPts val="780"/>
              </a:spcBef>
              <a:spcAft>
                <a:spcPts val="0"/>
              </a:spcAft>
              <a:buClr>
                <a:srgbClr val="7150A0"/>
              </a:buClr>
              <a:buSzPts val="1600"/>
              <a:buFont typeface="Arial"/>
              <a:buChar char="•"/>
            </a:pPr>
            <a:r>
              <a:rPr b="0" i="0" lang="es-PE" sz="1600" u="none" cap="none" strike="noStrike">
                <a:solidFill>
                  <a:schemeClr val="dk1"/>
                </a:solidFill>
                <a:latin typeface="Calibri"/>
                <a:ea typeface="Calibri"/>
                <a:cs typeface="Calibri"/>
                <a:sym typeface="Calibri"/>
              </a:rPr>
              <a:t>Tienen una visión a largo plazo y por ello construyen soluciones sostenibles y de alta calidad, incluso si toma más tiempo.</a:t>
            </a:r>
            <a:endParaRPr b="0" i="0" sz="1600" u="none" cap="none" strike="noStrike">
              <a:solidFill>
                <a:schemeClr val="lt1"/>
              </a:solidFill>
              <a:latin typeface="Calibri"/>
              <a:ea typeface="Calibri"/>
              <a:cs typeface="Calibri"/>
              <a:sym typeface="Calibri"/>
            </a:endParaRPr>
          </a:p>
          <a:p>
            <a:pPr indent="-182563" lvl="0" marL="269875" marR="0" rtl="0" algn="l">
              <a:lnSpc>
                <a:spcPct val="100000"/>
              </a:lnSpc>
              <a:spcBef>
                <a:spcPts val="780"/>
              </a:spcBef>
              <a:spcAft>
                <a:spcPts val="0"/>
              </a:spcAft>
              <a:buClr>
                <a:srgbClr val="7150A0"/>
              </a:buClr>
              <a:buSzPts val="1600"/>
              <a:buFont typeface="Arial"/>
              <a:buChar char="•"/>
            </a:pPr>
            <a:r>
              <a:rPr b="0" i="0" lang="es-PE" sz="1600" u="none" cap="none" strike="noStrike">
                <a:solidFill>
                  <a:schemeClr val="dk1"/>
                </a:solidFill>
                <a:latin typeface="Calibri"/>
                <a:ea typeface="Calibri"/>
                <a:cs typeface="Calibri"/>
                <a:sym typeface="Calibri"/>
              </a:rPr>
              <a:t>Fomentan una cultura de colaboración en equipo pues saben que pueden aportar enormemente al cumplimiento de objetivos.</a:t>
            </a:r>
            <a:endParaRPr b="0" i="0" sz="1600" u="none" cap="none" strike="noStrike">
              <a:solidFill>
                <a:schemeClr val="lt1"/>
              </a:solidFill>
              <a:latin typeface="Calibri"/>
              <a:ea typeface="Calibri"/>
              <a:cs typeface="Calibri"/>
              <a:sym typeface="Calibri"/>
            </a:endParaRPr>
          </a:p>
          <a:p>
            <a:pPr indent="-182563" lvl="0" marL="269875" marR="0" rtl="0" algn="l">
              <a:lnSpc>
                <a:spcPct val="100000"/>
              </a:lnSpc>
              <a:spcBef>
                <a:spcPts val="780"/>
              </a:spcBef>
              <a:spcAft>
                <a:spcPts val="0"/>
              </a:spcAft>
              <a:buClr>
                <a:srgbClr val="7150A0"/>
              </a:buClr>
              <a:buSzPts val="1600"/>
              <a:buFont typeface="Arial"/>
              <a:buChar char="•"/>
            </a:pPr>
            <a:r>
              <a:rPr b="0" i="0" lang="es-PE" sz="1600" u="none" cap="none" strike="noStrike">
                <a:solidFill>
                  <a:schemeClr val="dk1"/>
                </a:solidFill>
                <a:latin typeface="Calibri"/>
                <a:ea typeface="Calibri"/>
                <a:cs typeface="Calibri"/>
                <a:sym typeface="Calibri"/>
              </a:rPr>
              <a:t>Buscan constantemente formas nuevas de abordar los problemas y por ende están muy dispuestos a adoptar nuevas tecnologías.</a:t>
            </a:r>
            <a:endParaRPr b="0" i="0" sz="1600" u="none" cap="none" strike="noStrike">
              <a:solidFill>
                <a:schemeClr val="lt1"/>
              </a:solidFill>
              <a:latin typeface="Calibri"/>
              <a:ea typeface="Calibri"/>
              <a:cs typeface="Calibri"/>
              <a:sym typeface="Calibri"/>
            </a:endParaRPr>
          </a:p>
          <a:p>
            <a:pPr indent="-80963" lvl="0" marL="269875" marR="0" rtl="0" algn="l">
              <a:lnSpc>
                <a:spcPct val="100000"/>
              </a:lnSpc>
              <a:spcBef>
                <a:spcPts val="780"/>
              </a:spcBef>
              <a:spcAft>
                <a:spcPts val="0"/>
              </a:spcAft>
              <a:buClr>
                <a:srgbClr val="7030A0"/>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472" name="Google Shape;472;p25"/>
          <p:cNvSpPr/>
          <p:nvPr/>
        </p:nvSpPr>
        <p:spPr>
          <a:xfrm>
            <a:off x="503238" y="1426480"/>
            <a:ext cx="3892549" cy="3807506"/>
          </a:xfrm>
          <a:prstGeom prst="roundRect">
            <a:avLst>
              <a:gd fmla="val 3823" name="adj"/>
            </a:avLst>
          </a:prstGeom>
          <a:solidFill>
            <a:srgbClr val="DDEEC7"/>
          </a:solidFill>
          <a:ln>
            <a:noFill/>
          </a:ln>
        </p:spPr>
        <p:txBody>
          <a:bodyPr anchorCtr="0" anchor="t" bIns="45700" lIns="36000" spcFirstLastPara="1" rIns="108000" wrap="square" tIns="144000">
            <a:noAutofit/>
          </a:bodyPr>
          <a:lstStyle/>
          <a:p>
            <a:pPr indent="-185738" lvl="0" marL="271463" marR="0" rtl="0" algn="l">
              <a:lnSpc>
                <a:spcPct val="100000"/>
              </a:lnSpc>
              <a:spcBef>
                <a:spcPts val="0"/>
              </a:spcBef>
              <a:spcAft>
                <a:spcPts val="0"/>
              </a:spcAft>
              <a:buClr>
                <a:srgbClr val="9DCA3B"/>
              </a:buClr>
              <a:buSzPts val="1600"/>
              <a:buFont typeface="Arial"/>
              <a:buChar char="•"/>
            </a:pPr>
            <a:r>
              <a:rPr b="0" i="0" lang="es-PE" sz="1600" u="none" cap="none" strike="noStrike">
                <a:solidFill>
                  <a:schemeClr val="dk1"/>
                </a:solidFill>
                <a:latin typeface="Calibri"/>
                <a:ea typeface="Calibri"/>
                <a:cs typeface="Calibri"/>
                <a:sym typeface="Calibri"/>
              </a:rPr>
              <a:t>Orientados a resultados inmediatos</a:t>
            </a:r>
            <a:endParaRPr b="0" i="0" sz="1600" u="none" cap="none" strike="noStrike">
              <a:solidFill>
                <a:schemeClr val="lt1"/>
              </a:solidFill>
              <a:latin typeface="Calibri"/>
              <a:ea typeface="Calibri"/>
              <a:cs typeface="Calibri"/>
              <a:sym typeface="Calibri"/>
            </a:endParaRPr>
          </a:p>
          <a:p>
            <a:pPr indent="-182563" lvl="0" marL="269875" marR="0" rtl="0" algn="l">
              <a:lnSpc>
                <a:spcPct val="100000"/>
              </a:lnSpc>
              <a:spcBef>
                <a:spcPts val="780"/>
              </a:spcBef>
              <a:spcAft>
                <a:spcPts val="0"/>
              </a:spcAft>
              <a:buClr>
                <a:srgbClr val="9DCA3B"/>
              </a:buClr>
              <a:buSzPts val="1600"/>
              <a:buFont typeface="Arial"/>
              <a:buChar char="•"/>
            </a:pPr>
            <a:r>
              <a:rPr b="0" i="0" lang="es-PE" sz="1600" u="none" cap="none" strike="noStrike">
                <a:solidFill>
                  <a:schemeClr val="dk1"/>
                </a:solidFill>
                <a:latin typeface="Calibri"/>
                <a:ea typeface="Calibri"/>
                <a:cs typeface="Calibri"/>
                <a:sym typeface="Calibri"/>
              </a:rPr>
              <a:t>Se mueven para desarrollar lo que se les ha exigido, sin importarles si aporta o no a la visión a largo plazo.</a:t>
            </a:r>
            <a:endParaRPr b="0" i="0" sz="1600" u="none" cap="none" strike="noStrike">
              <a:solidFill>
                <a:schemeClr val="lt1"/>
              </a:solidFill>
              <a:latin typeface="Calibri"/>
              <a:ea typeface="Calibri"/>
              <a:cs typeface="Calibri"/>
              <a:sym typeface="Calibri"/>
            </a:endParaRPr>
          </a:p>
          <a:p>
            <a:pPr indent="-182563" lvl="0" marL="269875" marR="0" rtl="0" algn="l">
              <a:lnSpc>
                <a:spcPct val="100000"/>
              </a:lnSpc>
              <a:spcBef>
                <a:spcPts val="780"/>
              </a:spcBef>
              <a:spcAft>
                <a:spcPts val="0"/>
              </a:spcAft>
              <a:buClr>
                <a:srgbClr val="9DCA3B"/>
              </a:buClr>
              <a:buSzPts val="1600"/>
              <a:buFont typeface="Arial"/>
              <a:buChar char="•"/>
            </a:pPr>
            <a:r>
              <a:rPr b="0" i="0" lang="es-PE" sz="1600" u="none" cap="none" strike="noStrike">
                <a:solidFill>
                  <a:schemeClr val="dk1"/>
                </a:solidFill>
                <a:latin typeface="Calibri"/>
                <a:ea typeface="Calibri"/>
                <a:cs typeface="Calibri"/>
                <a:sym typeface="Calibri"/>
              </a:rPr>
              <a:t>Individualistas: No les interesa participar de colaboraciones, incluso cuando esto beneficie el producto que están construyendo.</a:t>
            </a:r>
            <a:endParaRPr b="0" i="0" sz="1600" u="none" cap="none" strike="noStrike">
              <a:solidFill>
                <a:schemeClr val="lt1"/>
              </a:solidFill>
              <a:latin typeface="Calibri"/>
              <a:ea typeface="Calibri"/>
              <a:cs typeface="Calibri"/>
              <a:sym typeface="Calibri"/>
            </a:endParaRPr>
          </a:p>
          <a:p>
            <a:pPr indent="-182563" lvl="0" marL="269875" marR="0" rtl="0" algn="l">
              <a:lnSpc>
                <a:spcPct val="100000"/>
              </a:lnSpc>
              <a:spcBef>
                <a:spcPts val="780"/>
              </a:spcBef>
              <a:spcAft>
                <a:spcPts val="0"/>
              </a:spcAft>
              <a:buClr>
                <a:srgbClr val="9DCA3B"/>
              </a:buClr>
              <a:buSzPts val="1600"/>
              <a:buFont typeface="Arial"/>
              <a:buChar char="•"/>
            </a:pPr>
            <a:r>
              <a:rPr b="0" i="0" lang="es-PE" sz="1600" u="none" cap="none" strike="noStrike">
                <a:solidFill>
                  <a:schemeClr val="dk1"/>
                </a:solidFill>
                <a:latin typeface="Calibri"/>
                <a:ea typeface="Calibri"/>
                <a:cs typeface="Calibri"/>
                <a:sym typeface="Calibri"/>
              </a:rPr>
              <a:t>Prefieren lo rápido y práctico que cumpla con los requerimientos que le han demandado.</a:t>
            </a:r>
            <a:endParaRPr b="0" i="0" sz="1600" u="none" cap="none" strike="noStrik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6"/>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479" name="Google Shape;479;p26"/>
          <p:cNvSpPr/>
          <p:nvPr/>
        </p:nvSpPr>
        <p:spPr>
          <a:xfrm>
            <a:off x="1362631" y="1882588"/>
            <a:ext cx="6615957" cy="2339788"/>
          </a:xfrm>
          <a:prstGeom prst="roundRect">
            <a:avLst>
              <a:gd fmla="val 5987" name="adj"/>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80" name="Google Shape;480;p26"/>
          <p:cNvPicPr preferRelativeResize="0"/>
          <p:nvPr/>
        </p:nvPicPr>
        <p:blipFill rotWithShape="1">
          <a:blip r:embed="rId3">
            <a:alphaModFix/>
          </a:blip>
          <a:srcRect b="47889" l="30025" r="24146" t="0"/>
          <a:stretch/>
        </p:blipFill>
        <p:spPr>
          <a:xfrm>
            <a:off x="1640542" y="1410107"/>
            <a:ext cx="546847" cy="920717"/>
          </a:xfrm>
          <a:prstGeom prst="rect">
            <a:avLst/>
          </a:prstGeom>
          <a:noFill/>
          <a:ln>
            <a:noFill/>
          </a:ln>
        </p:spPr>
      </p:pic>
      <p:sp>
        <p:nvSpPr>
          <p:cNvPr id="481" name="Google Shape;481;p26"/>
          <p:cNvSpPr txBox="1"/>
          <p:nvPr/>
        </p:nvSpPr>
        <p:spPr>
          <a:xfrm>
            <a:off x="1754368" y="2402902"/>
            <a:ext cx="5811844" cy="151323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alibri"/>
                <a:ea typeface="Calibri"/>
                <a:cs typeface="Calibri"/>
                <a:sym typeface="Calibri"/>
              </a:rPr>
              <a:t>Si solo estás utilizando a tus programadores para codear, estás desaprovechando enormemente su capacidad para aportar e innovar.</a:t>
            </a:r>
            <a:endParaRPr b="0" i="0" sz="1800" u="none" cap="none" strike="noStrike">
              <a:solidFill>
                <a:schemeClr val="lt1"/>
              </a:solidFill>
              <a:latin typeface="Calibri"/>
              <a:ea typeface="Calibri"/>
              <a:cs typeface="Calibri"/>
              <a:sym typeface="Calibri"/>
            </a:endParaRPr>
          </a:p>
          <a:p>
            <a:pPr indent="0" lvl="0" marL="0" marR="0" rtl="0" algn="r">
              <a:lnSpc>
                <a:spcPct val="100000"/>
              </a:lnSpc>
              <a:spcBef>
                <a:spcPts val="100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Inspired - Marty Cagan (2008)</a:t>
            </a:r>
            <a:endParaRPr/>
          </a:p>
          <a:p>
            <a:pPr indent="0" lvl="0" marL="0" marR="0" rtl="0" algn="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27"/>
          <p:cNvPicPr preferRelativeResize="0"/>
          <p:nvPr/>
        </p:nvPicPr>
        <p:blipFill rotWithShape="1">
          <a:blip r:embed="rId3">
            <a:alphaModFix/>
          </a:blip>
          <a:srcRect b="0" l="0" r="0" t="0"/>
          <a:stretch/>
        </p:blipFill>
        <p:spPr>
          <a:xfrm>
            <a:off x="766317" y="866714"/>
            <a:ext cx="7611366" cy="3822174"/>
          </a:xfrm>
          <a:prstGeom prst="rect">
            <a:avLst/>
          </a:prstGeom>
          <a:noFill/>
          <a:ln>
            <a:noFill/>
          </a:ln>
        </p:spPr>
      </p:pic>
      <p:sp>
        <p:nvSpPr>
          <p:cNvPr id="488" name="Google Shape;488;p27"/>
          <p:cNvSpPr txBox="1"/>
          <p:nvPr/>
        </p:nvSpPr>
        <p:spPr>
          <a:xfrm>
            <a:off x="1499337" y="4371232"/>
            <a:ext cx="6001491" cy="4616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s-PE" sz="1400" u="none" cap="none" strike="noStrike">
                <a:solidFill>
                  <a:schemeClr val="dk1"/>
                </a:solidFill>
                <a:latin typeface="Calibri"/>
                <a:ea typeface="Calibri"/>
                <a:cs typeface="Calibri"/>
                <a:sym typeface="Calibri"/>
              </a:rPr>
              <a:t>AIRBNB – Missionaries vs. Mercenaries</a:t>
            </a:r>
            <a:endParaRPr b="1" i="0" sz="1400" u="none" cap="none" strike="noStrike">
              <a:solidFill>
                <a:schemeClr val="dk1"/>
              </a:solidFill>
              <a:latin typeface="Calibri"/>
              <a:ea typeface="Calibri"/>
              <a:cs typeface="Calibri"/>
              <a:sym typeface="Calibri"/>
            </a:endParaRPr>
          </a:p>
          <a:p>
            <a:pPr indent="44450" lvl="0" marL="222250" marR="0" rtl="0" algn="l">
              <a:lnSpc>
                <a:spcPct val="100000"/>
              </a:lnSpc>
              <a:spcBef>
                <a:spcPts val="600"/>
              </a:spcBef>
              <a:spcAft>
                <a:spcPts val="0"/>
              </a:spcAft>
              <a:buClr>
                <a:srgbClr val="000000"/>
              </a:buClr>
              <a:buSzPts val="1100"/>
              <a:buFont typeface="Arial"/>
              <a:buNone/>
            </a:pPr>
            <a:r>
              <a:rPr b="0" i="0" lang="es-PE" sz="1100" u="sng" cap="none" strike="noStrike">
                <a:solidFill>
                  <a:srgbClr val="7F7F7F"/>
                </a:solidFill>
                <a:latin typeface="Calibri"/>
                <a:ea typeface="Calibri"/>
                <a:cs typeface="Calibri"/>
                <a:sym typeface="Calibri"/>
                <a:hlinkClick r:id="rId4">
                  <a:extLst>
                    <a:ext uri="{A12FA001-AC4F-418D-AE19-62706E023703}">
                      <ahyp:hlinkClr val="tx"/>
                    </a:ext>
                  </a:extLst>
                </a:hlinkClick>
              </a:rPr>
              <a:t>https://www.youtube.com/watch?v=13AaCIvZKtw</a:t>
            </a:r>
            <a:r>
              <a:rPr b="0" i="0" lang="es-PE" sz="1100" u="none" cap="none" strike="noStrike">
                <a:solidFill>
                  <a:srgbClr val="7F7F7F"/>
                </a:solidFill>
                <a:latin typeface="Calibri"/>
                <a:ea typeface="Calibri"/>
                <a:cs typeface="Calibri"/>
                <a:sym typeface="Calibri"/>
              </a:rPr>
              <a:t> </a:t>
            </a:r>
            <a:endParaRPr b="0" i="0" sz="1100" u="none" cap="none" strike="noStrike">
              <a:solidFill>
                <a:srgbClr val="7F7F7F"/>
              </a:solidFill>
              <a:latin typeface="Calibri"/>
              <a:ea typeface="Calibri"/>
              <a:cs typeface="Calibri"/>
              <a:sym typeface="Calibri"/>
            </a:endParaRPr>
          </a:p>
        </p:txBody>
      </p:sp>
      <p:sp>
        <p:nvSpPr>
          <p:cNvPr id="489" name="Google Shape;489;p27"/>
          <p:cNvSpPr/>
          <p:nvPr/>
        </p:nvSpPr>
        <p:spPr>
          <a:xfrm>
            <a:off x="683568" y="481236"/>
            <a:ext cx="544831" cy="1938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s-PE" sz="1400" u="none" cap="none" strike="noStrike">
                <a:solidFill>
                  <a:srgbClr val="00B1C3"/>
                </a:solidFill>
                <a:latin typeface="Calibri"/>
                <a:ea typeface="Calibri"/>
                <a:cs typeface="Calibri"/>
                <a:sym typeface="Calibri"/>
              </a:rPr>
              <a:t>VIDEO</a:t>
            </a:r>
            <a:endParaRPr b="1" i="0" sz="1600" u="none" cap="none" strike="noStrike">
              <a:solidFill>
                <a:srgbClr val="00B1C3"/>
              </a:solidFill>
              <a:latin typeface="Calibri"/>
              <a:ea typeface="Calibri"/>
              <a:cs typeface="Calibri"/>
              <a:sym typeface="Calibri"/>
            </a:endParaRPr>
          </a:p>
        </p:txBody>
      </p:sp>
      <p:grpSp>
        <p:nvGrpSpPr>
          <p:cNvPr id="490" name="Google Shape;490;p27"/>
          <p:cNvGrpSpPr/>
          <p:nvPr/>
        </p:nvGrpSpPr>
        <p:grpSpPr>
          <a:xfrm>
            <a:off x="514858" y="499074"/>
            <a:ext cx="131794" cy="132296"/>
            <a:chOff x="511902" y="912279"/>
            <a:chExt cx="281320" cy="282391"/>
          </a:xfrm>
        </p:grpSpPr>
        <p:sp>
          <p:nvSpPr>
            <p:cNvPr id="491" name="Google Shape;491;p27"/>
            <p:cNvSpPr/>
            <p:nvPr/>
          </p:nvSpPr>
          <p:spPr>
            <a:xfrm rot="5400000">
              <a:off x="511366" y="912814"/>
              <a:ext cx="282391" cy="281320"/>
            </a:xfrm>
            <a:prstGeom prst="ellipse">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92" name="Google Shape;492;p27"/>
            <p:cNvPicPr preferRelativeResize="0"/>
            <p:nvPr/>
          </p:nvPicPr>
          <p:blipFill rotWithShape="1">
            <a:blip r:embed="rId5">
              <a:alphaModFix/>
            </a:blip>
            <a:srcRect b="0" l="0" r="0" t="0"/>
            <a:stretch/>
          </p:blipFill>
          <p:spPr>
            <a:xfrm rot="5400000">
              <a:off x="578093" y="979007"/>
              <a:ext cx="148937" cy="148937"/>
            </a:xfrm>
            <a:prstGeom prst="rect">
              <a:avLst/>
            </a:prstGeom>
            <a:noFill/>
            <a:ln>
              <a:noFill/>
            </a:ln>
          </p:spPr>
        </p:pic>
      </p:grpSp>
      <p:pic>
        <p:nvPicPr>
          <p:cNvPr id="493" name="Google Shape;493;p27"/>
          <p:cNvPicPr preferRelativeResize="0"/>
          <p:nvPr/>
        </p:nvPicPr>
        <p:blipFill rotWithShape="1">
          <a:blip r:embed="rId6">
            <a:alphaModFix/>
          </a:blip>
          <a:srcRect b="0" l="0" r="0" t="0"/>
          <a:stretch/>
        </p:blipFill>
        <p:spPr>
          <a:xfrm>
            <a:off x="1504950" y="4658654"/>
            <a:ext cx="185286" cy="177874"/>
          </a:xfrm>
          <a:prstGeom prst="rect">
            <a:avLst/>
          </a:prstGeom>
          <a:noFill/>
          <a:ln>
            <a:noFill/>
          </a:ln>
        </p:spPr>
      </p:pic>
      <p:pic>
        <p:nvPicPr>
          <p:cNvPr id="494" name="Google Shape;494;p27"/>
          <p:cNvPicPr preferRelativeResize="0"/>
          <p:nvPr/>
        </p:nvPicPr>
        <p:blipFill rotWithShape="1">
          <a:blip r:embed="rId7">
            <a:alphaModFix/>
          </a:blip>
          <a:srcRect b="1955" l="0" r="1450" t="0"/>
          <a:stretch/>
        </p:blipFill>
        <p:spPr>
          <a:xfrm>
            <a:off x="1660976" y="1163324"/>
            <a:ext cx="5849671" cy="2783333"/>
          </a:xfrm>
          <a:prstGeom prst="roundRect">
            <a:avLst>
              <a:gd fmla="val 12939" name="adj"/>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8"/>
          <p:cNvSpPr txBox="1"/>
          <p:nvPr/>
        </p:nvSpPr>
        <p:spPr>
          <a:xfrm>
            <a:off x="503238" y="912813"/>
            <a:ext cx="3889375" cy="4321175"/>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00B2C2"/>
                </a:solidFill>
                <a:latin typeface="Calibri"/>
                <a:ea typeface="Calibri"/>
                <a:cs typeface="Calibri"/>
                <a:sym typeface="Calibri"/>
              </a:rPr>
              <a:t>EN FRAMEWORKS CUSTOMER - CENTRIC</a:t>
            </a:r>
            <a:endParaRPr b="0" i="0" sz="1400" u="none" cap="none" strike="noStrike">
              <a:solidFill>
                <a:srgbClr val="00B2C2"/>
              </a:solidFill>
              <a:latin typeface="Arial"/>
              <a:ea typeface="Arial"/>
              <a:cs typeface="Arial"/>
              <a:sym typeface="Arial"/>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El equipo de desarrollo no debe estar únicamente presente en la etapa de “delivery” o entrega / ejecución. Este equipo es capaz de aportar en el diseño de la solución una vez que entiende claramente el problema que queremos resolver para que de esta manera:</a:t>
            </a:r>
            <a:endParaRPr b="0" i="0" sz="1400" u="none" cap="none" strike="noStrike">
              <a:solidFill>
                <a:srgbClr val="000000"/>
              </a:solidFill>
              <a:latin typeface="Arial"/>
              <a:ea typeface="Arial"/>
              <a:cs typeface="Arial"/>
              <a:sym typeface="Arial"/>
            </a:endParaRPr>
          </a:p>
          <a:p>
            <a:pPr indent="-212725" lvl="0" marL="223838" marR="0" rtl="0" algn="l">
              <a:lnSpc>
                <a:spcPct val="100000"/>
              </a:lnSpc>
              <a:spcBef>
                <a:spcPts val="600"/>
              </a:spcBef>
              <a:spcAft>
                <a:spcPts val="0"/>
              </a:spcAft>
              <a:buClr>
                <a:srgbClr val="262626"/>
              </a:buClr>
              <a:buSzPts val="1400"/>
              <a:buFont typeface="Calibri"/>
              <a:buAutoNum type="arabicPeriod"/>
            </a:pPr>
            <a:r>
              <a:rPr b="1" i="0" lang="es-PE" sz="1400" u="none" cap="none" strike="noStrike">
                <a:solidFill>
                  <a:srgbClr val="262626"/>
                </a:solidFill>
                <a:latin typeface="Calibri"/>
                <a:ea typeface="Calibri"/>
                <a:cs typeface="Calibri"/>
                <a:sym typeface="Calibri"/>
              </a:rPr>
              <a:t>Velocidad:</a:t>
            </a:r>
            <a:r>
              <a:rPr b="0" i="0" lang="es-PE" sz="1400" u="none" cap="none" strike="noStrike">
                <a:solidFill>
                  <a:srgbClr val="262626"/>
                </a:solidFill>
                <a:latin typeface="Calibri"/>
                <a:ea typeface="Calibri"/>
                <a:cs typeface="Calibri"/>
                <a:sym typeface="Calibri"/>
              </a:rPr>
              <a:t> Se </a:t>
            </a:r>
            <a:r>
              <a:rPr b="1" i="0" lang="es-PE" sz="1400" u="none" cap="none" strike="noStrike">
                <a:solidFill>
                  <a:srgbClr val="262626"/>
                </a:solidFill>
                <a:latin typeface="Calibri"/>
                <a:ea typeface="Calibri"/>
                <a:cs typeface="Calibri"/>
                <a:sym typeface="Calibri"/>
              </a:rPr>
              <a:t>elimina el retrabajo </a:t>
            </a:r>
            <a:r>
              <a:rPr b="0" i="0" lang="es-PE" sz="1400" u="none" cap="none" strike="noStrike">
                <a:solidFill>
                  <a:srgbClr val="262626"/>
                </a:solidFill>
                <a:latin typeface="Calibri"/>
                <a:ea typeface="Calibri"/>
                <a:cs typeface="Calibri"/>
                <a:sym typeface="Calibri"/>
              </a:rPr>
              <a:t>en futuras etapas </a:t>
            </a:r>
            <a:endParaRPr b="0" i="0" sz="1400" u="none" cap="none" strike="noStrike">
              <a:solidFill>
                <a:srgbClr val="000000"/>
              </a:solidFill>
              <a:latin typeface="Arial"/>
              <a:ea typeface="Arial"/>
              <a:cs typeface="Arial"/>
              <a:sym typeface="Arial"/>
            </a:endParaRPr>
          </a:p>
          <a:p>
            <a:pPr indent="-212725" lvl="0" marL="223838" marR="0" rtl="0" algn="l">
              <a:lnSpc>
                <a:spcPct val="100000"/>
              </a:lnSpc>
              <a:spcBef>
                <a:spcPts val="600"/>
              </a:spcBef>
              <a:spcAft>
                <a:spcPts val="0"/>
              </a:spcAft>
              <a:buClr>
                <a:srgbClr val="262626"/>
              </a:buClr>
              <a:buSzPts val="1400"/>
              <a:buFont typeface="Calibri"/>
              <a:buAutoNum type="arabicPeriod"/>
            </a:pPr>
            <a:r>
              <a:rPr b="1" i="0" lang="es-PE" sz="1400" u="none" cap="none" strike="noStrike">
                <a:solidFill>
                  <a:srgbClr val="262626"/>
                </a:solidFill>
                <a:latin typeface="Calibri"/>
                <a:ea typeface="Calibri"/>
                <a:cs typeface="Calibri"/>
                <a:sym typeface="Calibri"/>
              </a:rPr>
              <a:t>Alineación:</a:t>
            </a:r>
            <a:r>
              <a:rPr b="0" i="0" lang="es-PE" sz="1400" u="none" cap="none" strike="noStrike">
                <a:solidFill>
                  <a:srgbClr val="262626"/>
                </a:solidFill>
                <a:latin typeface="Calibri"/>
                <a:ea typeface="Calibri"/>
                <a:cs typeface="Calibri"/>
                <a:sym typeface="Calibri"/>
              </a:rPr>
              <a:t> El equipo ya entiende qué es lo que se va a construir y por qué se optó por esa alternativa.</a:t>
            </a:r>
            <a:endParaRPr b="0" i="0" sz="1400" u="none" cap="none" strike="noStrike">
              <a:solidFill>
                <a:srgbClr val="000000"/>
              </a:solidFill>
              <a:latin typeface="Arial"/>
              <a:ea typeface="Arial"/>
              <a:cs typeface="Arial"/>
              <a:sym typeface="Arial"/>
            </a:endParaRPr>
          </a:p>
          <a:p>
            <a:pPr indent="-212725" lvl="0" marL="223838" marR="0" rtl="0" algn="l">
              <a:lnSpc>
                <a:spcPct val="100000"/>
              </a:lnSpc>
              <a:spcBef>
                <a:spcPts val="600"/>
              </a:spcBef>
              <a:spcAft>
                <a:spcPts val="0"/>
              </a:spcAft>
              <a:buClr>
                <a:srgbClr val="262626"/>
              </a:buClr>
              <a:buSzPts val="1400"/>
              <a:buFont typeface="Calibri"/>
              <a:buAutoNum type="arabicPeriod"/>
            </a:pPr>
            <a:r>
              <a:rPr b="1" i="0" lang="es-PE" sz="1400" u="none" cap="none" strike="noStrike">
                <a:solidFill>
                  <a:srgbClr val="262626"/>
                </a:solidFill>
                <a:latin typeface="Calibri"/>
                <a:ea typeface="Calibri"/>
                <a:cs typeface="Calibri"/>
                <a:sym typeface="Calibri"/>
              </a:rPr>
              <a:t>Crecimiento:</a:t>
            </a:r>
            <a:r>
              <a:rPr b="0" i="0" lang="es-PE" sz="1400" u="none" cap="none" strike="noStrike">
                <a:solidFill>
                  <a:srgbClr val="262626"/>
                </a:solidFill>
                <a:latin typeface="Calibri"/>
                <a:ea typeface="Calibri"/>
                <a:cs typeface="Calibri"/>
                <a:sym typeface="Calibri"/>
              </a:rPr>
              <a:t> Se aproveche e incentive la creatividad en </a:t>
            </a:r>
            <a:r>
              <a:rPr b="1" i="0" lang="es-PE" sz="1400" u="none" cap="none" strike="noStrike">
                <a:solidFill>
                  <a:srgbClr val="262626"/>
                </a:solidFill>
                <a:latin typeface="Calibri"/>
                <a:ea typeface="Calibri"/>
                <a:cs typeface="Calibri"/>
                <a:sym typeface="Calibri"/>
              </a:rPr>
              <a:t>todos los miembros</a:t>
            </a:r>
            <a:r>
              <a:rPr b="0" i="0" lang="es-PE" sz="1400" u="none" cap="none" strike="noStrike">
                <a:solidFill>
                  <a:srgbClr val="262626"/>
                </a:solidFill>
                <a:latin typeface="Calibri"/>
                <a:ea typeface="Calibri"/>
                <a:cs typeface="Calibri"/>
                <a:sym typeface="Calibri"/>
              </a:rPr>
              <a:t>.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Pensemos: </a:t>
            </a:r>
            <a:r>
              <a:rPr b="0" i="1" lang="es-PE" sz="1600" u="none" cap="none" strike="noStrike">
                <a:solidFill>
                  <a:srgbClr val="262626"/>
                </a:solidFill>
                <a:latin typeface="Calibri"/>
                <a:ea typeface="Calibri"/>
                <a:cs typeface="Calibri"/>
                <a:sym typeface="Calibri"/>
              </a:rPr>
              <a:t>¿Acaso no es mejor construir algo en lo que tú también tuviste una voz y voto?</a:t>
            </a:r>
            <a:endParaRPr b="0" i="0" sz="1400" u="none" cap="none" strike="noStrike">
              <a:solidFill>
                <a:srgbClr val="000000"/>
              </a:solidFill>
              <a:latin typeface="Arial"/>
              <a:ea typeface="Arial"/>
              <a:cs typeface="Arial"/>
              <a:sym typeface="Arial"/>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p:txBody>
      </p:sp>
      <p:sp>
        <p:nvSpPr>
          <p:cNvPr id="501" name="Google Shape;501;p28"/>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pic>
        <p:nvPicPr>
          <p:cNvPr descr="The Discovery to Delivery Model — Geoff Wilson HCD / Everyday Experiences" id="502" name="Google Shape;502;p28"/>
          <p:cNvPicPr preferRelativeResize="0"/>
          <p:nvPr/>
        </p:nvPicPr>
        <p:blipFill rotWithShape="1">
          <a:blip r:embed="rId3">
            <a:alphaModFix/>
          </a:blip>
          <a:srcRect b="0" l="0" r="0" t="0"/>
          <a:stretch/>
        </p:blipFill>
        <p:spPr>
          <a:xfrm>
            <a:off x="4751388" y="1928051"/>
            <a:ext cx="3924300" cy="185889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9"/>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9" name="Google Shape;509;p29"/>
          <p:cNvSpPr txBox="1"/>
          <p:nvPr/>
        </p:nvSpPr>
        <p:spPr>
          <a:xfrm>
            <a:off x="1008063" y="3157860"/>
            <a:ext cx="3563937"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PE" sz="2800" u="none" cap="none" strike="noStrike">
                <a:solidFill>
                  <a:schemeClr val="lt1"/>
                </a:solidFill>
                <a:latin typeface="Arial"/>
                <a:ea typeface="Arial"/>
                <a:cs typeface="Arial"/>
                <a:sym typeface="Arial"/>
              </a:rPr>
              <a:t>MITOS &amp; VERDADES </a:t>
            </a:r>
            <a:endParaRPr/>
          </a:p>
          <a:p>
            <a:pPr indent="0" lvl="0" marL="0" marR="0" rtl="0" algn="l">
              <a:lnSpc>
                <a:spcPct val="90000"/>
              </a:lnSpc>
              <a:spcBef>
                <a:spcPts val="0"/>
              </a:spcBef>
              <a:spcAft>
                <a:spcPts val="0"/>
              </a:spcAft>
              <a:buNone/>
            </a:pPr>
            <a:r>
              <a:rPr b="1" i="0" lang="es-PE" sz="2800" u="none" cap="none" strike="noStrike">
                <a:solidFill>
                  <a:schemeClr val="lt1"/>
                </a:solidFill>
                <a:latin typeface="Arial"/>
                <a:ea typeface="Arial"/>
                <a:cs typeface="Arial"/>
                <a:sym typeface="Arial"/>
              </a:rPr>
              <a:t>EN LA AGILIDAD</a:t>
            </a:r>
            <a:endParaRPr/>
          </a:p>
        </p:txBody>
      </p:sp>
      <p:pic>
        <p:nvPicPr>
          <p:cNvPr id="510" name="Google Shape;510;p29"/>
          <p:cNvPicPr preferRelativeResize="0"/>
          <p:nvPr/>
        </p:nvPicPr>
        <p:blipFill rotWithShape="1">
          <a:blip r:embed="rId3">
            <a:alphaModFix/>
          </a:blip>
          <a:srcRect b="0" l="0" r="0" t="0"/>
          <a:stretch/>
        </p:blipFill>
        <p:spPr>
          <a:xfrm>
            <a:off x="1008063" y="2857500"/>
            <a:ext cx="195423" cy="20125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0"/>
          <p:cNvSpPr/>
          <p:nvPr/>
        </p:nvSpPr>
        <p:spPr>
          <a:xfrm>
            <a:off x="1682326" y="3674885"/>
            <a:ext cx="1145495" cy="251165"/>
          </a:xfrm>
          <a:prstGeom prst="roundRect">
            <a:avLst>
              <a:gd fmla="val 16667" name="adj"/>
            </a:avLst>
          </a:prstGeom>
          <a:solidFill>
            <a:srgbClr val="7150A0"/>
          </a:solidFill>
          <a:ln>
            <a:noFill/>
          </a:ln>
          <a:effectLst>
            <a:outerShdw sx="1000" rotWithShape="0" sy="10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FALSO</a:t>
            </a:r>
            <a:endParaRPr b="1" i="0" sz="1600" u="none" cap="none" strike="noStrike">
              <a:solidFill>
                <a:schemeClr val="lt1"/>
              </a:solidFill>
              <a:latin typeface="Calibri"/>
              <a:ea typeface="Calibri"/>
              <a:cs typeface="Calibri"/>
              <a:sym typeface="Calibri"/>
            </a:endParaRPr>
          </a:p>
        </p:txBody>
      </p:sp>
      <p:sp>
        <p:nvSpPr>
          <p:cNvPr id="517" name="Google Shape;517;p30"/>
          <p:cNvSpPr txBox="1"/>
          <p:nvPr/>
        </p:nvSpPr>
        <p:spPr>
          <a:xfrm>
            <a:off x="1577108" y="3978988"/>
            <a:ext cx="6337315"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1" lang="es-PE" sz="1600" u="none" cap="none" strike="noStrike">
                <a:solidFill>
                  <a:schemeClr val="dk1"/>
                </a:solidFill>
                <a:latin typeface="Calibri"/>
                <a:ea typeface="Calibri"/>
                <a:cs typeface="Calibri"/>
                <a:sym typeface="Calibri"/>
              </a:rPr>
              <a:t>Scrum va mucho más allá de los tableros, es un marco de trabajo que funciona con principios &amp; roles claros y compartidos.</a:t>
            </a:r>
            <a:endParaRPr b="0" i="1" sz="1600" u="none" cap="none" strike="noStrike">
              <a:solidFill>
                <a:schemeClr val="dk1"/>
              </a:solidFill>
              <a:latin typeface="Calibri"/>
              <a:ea typeface="Calibri"/>
              <a:cs typeface="Calibri"/>
              <a:sym typeface="Calibri"/>
            </a:endParaRPr>
          </a:p>
        </p:txBody>
      </p:sp>
      <p:sp>
        <p:nvSpPr>
          <p:cNvPr id="518" name="Google Shape;518;p30"/>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519" name="Google Shape;519;p30"/>
          <p:cNvSpPr/>
          <p:nvPr/>
        </p:nvSpPr>
        <p:spPr>
          <a:xfrm>
            <a:off x="3192966" y="2275802"/>
            <a:ext cx="4871544" cy="581698"/>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Clr>
                <a:srgbClr val="000000"/>
              </a:buClr>
              <a:buSzPts val="2400"/>
              <a:buFont typeface="Arial"/>
              <a:buNone/>
            </a:pPr>
            <a:r>
              <a:rPr b="1" i="0" lang="es-PE" sz="2400" u="none" cap="none" strike="noStrike">
                <a:solidFill>
                  <a:schemeClr val="dk1"/>
                </a:solidFill>
                <a:latin typeface="Arial"/>
                <a:ea typeface="Arial"/>
                <a:cs typeface="Arial"/>
                <a:sym typeface="Arial"/>
              </a:rPr>
              <a:t>SI TENGO TABLEROS KANBAN</a:t>
            </a:r>
            <a:endParaRPr b="1" i="0" sz="2400" u="none" cap="none" strike="noStrike">
              <a:solidFill>
                <a:schemeClr val="dk1"/>
              </a:solidFill>
              <a:latin typeface="Arial"/>
              <a:ea typeface="Arial"/>
              <a:cs typeface="Arial"/>
              <a:sym typeface="Arial"/>
            </a:endParaRPr>
          </a:p>
          <a:p>
            <a:pPr indent="0" lvl="0" marL="0" marR="0" rtl="0" algn="l">
              <a:lnSpc>
                <a:spcPct val="75000"/>
              </a:lnSpc>
              <a:spcBef>
                <a:spcPts val="0"/>
              </a:spcBef>
              <a:spcAft>
                <a:spcPts val="0"/>
              </a:spcAft>
              <a:buClr>
                <a:srgbClr val="000000"/>
              </a:buClr>
              <a:buSzPts val="2800"/>
              <a:buFont typeface="Arial"/>
              <a:buNone/>
            </a:pPr>
            <a:r>
              <a:rPr b="1" i="0" lang="es-PE" sz="2800" u="none" cap="none" strike="noStrike">
                <a:solidFill>
                  <a:srgbClr val="7150A0"/>
                </a:solidFill>
                <a:latin typeface="Arial"/>
                <a:ea typeface="Arial"/>
                <a:cs typeface="Arial"/>
                <a:sym typeface="Arial"/>
              </a:rPr>
              <a:t>ESTOY USANDO SCRUM</a:t>
            </a:r>
            <a:endParaRPr b="1" i="0" sz="2800" u="none" cap="none" strike="noStrike">
              <a:solidFill>
                <a:srgbClr val="7150A0"/>
              </a:solidFill>
              <a:latin typeface="Arial"/>
              <a:ea typeface="Arial"/>
              <a:cs typeface="Arial"/>
              <a:sym typeface="Arial"/>
            </a:endParaRPr>
          </a:p>
        </p:txBody>
      </p:sp>
      <p:pic>
        <p:nvPicPr>
          <p:cNvPr id="520" name="Google Shape;520;p30"/>
          <p:cNvPicPr preferRelativeResize="0"/>
          <p:nvPr/>
        </p:nvPicPr>
        <p:blipFill rotWithShape="1">
          <a:blip r:embed="rId3">
            <a:alphaModFix/>
          </a:blip>
          <a:srcRect b="0" l="0" r="0" t="0"/>
          <a:stretch/>
        </p:blipFill>
        <p:spPr>
          <a:xfrm>
            <a:off x="1687351" y="1780746"/>
            <a:ext cx="1145495" cy="1384043"/>
          </a:xfrm>
          <a:prstGeom prst="rect">
            <a:avLst/>
          </a:prstGeom>
          <a:noFill/>
          <a:ln>
            <a:noFill/>
          </a:ln>
        </p:spPr>
      </p:pic>
      <p:pic>
        <p:nvPicPr>
          <p:cNvPr id="521" name="Google Shape;521;p30"/>
          <p:cNvPicPr preferRelativeResize="0"/>
          <p:nvPr/>
        </p:nvPicPr>
        <p:blipFill rotWithShape="1">
          <a:blip r:embed="rId4">
            <a:alphaModFix/>
          </a:blip>
          <a:srcRect b="0" l="0" r="0" t="0"/>
          <a:stretch/>
        </p:blipFill>
        <p:spPr>
          <a:xfrm>
            <a:off x="1883395" y="1984038"/>
            <a:ext cx="743358" cy="743358"/>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1"/>
          <p:cNvSpPr/>
          <p:nvPr/>
        </p:nvSpPr>
        <p:spPr>
          <a:xfrm>
            <a:off x="1682326" y="3674885"/>
            <a:ext cx="1145495" cy="251165"/>
          </a:xfrm>
          <a:prstGeom prst="roundRect">
            <a:avLst>
              <a:gd fmla="val 16667" name="adj"/>
            </a:avLst>
          </a:prstGeom>
          <a:solidFill>
            <a:srgbClr val="7150A0"/>
          </a:solidFill>
          <a:ln>
            <a:noFill/>
          </a:ln>
          <a:effectLst>
            <a:outerShdw sx="1000" rotWithShape="0" sy="10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FALSO</a:t>
            </a:r>
            <a:endParaRPr b="1" i="0" sz="1600" u="none" cap="none" strike="noStrike">
              <a:solidFill>
                <a:schemeClr val="lt1"/>
              </a:solidFill>
              <a:latin typeface="Calibri"/>
              <a:ea typeface="Calibri"/>
              <a:cs typeface="Calibri"/>
              <a:sym typeface="Calibri"/>
            </a:endParaRPr>
          </a:p>
        </p:txBody>
      </p:sp>
      <p:sp>
        <p:nvSpPr>
          <p:cNvPr id="528" name="Google Shape;528;p31"/>
          <p:cNvSpPr txBox="1"/>
          <p:nvPr/>
        </p:nvSpPr>
        <p:spPr>
          <a:xfrm>
            <a:off x="1577108" y="3978988"/>
            <a:ext cx="6337315"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s-PE" sz="1600" u="none" cap="none" strike="noStrike">
                <a:solidFill>
                  <a:schemeClr val="dk1"/>
                </a:solidFill>
                <a:latin typeface="Calibri"/>
                <a:ea typeface="Calibri"/>
                <a:cs typeface="Calibri"/>
                <a:sym typeface="Calibri"/>
              </a:rPr>
              <a:t>Es una cultura que </a:t>
            </a:r>
            <a:r>
              <a:rPr b="1" i="1" lang="es-PE" sz="1600" u="none" cap="none" strike="noStrike">
                <a:solidFill>
                  <a:schemeClr val="dk1"/>
                </a:solidFill>
                <a:latin typeface="Calibri"/>
                <a:ea typeface="Calibri"/>
                <a:cs typeface="Calibri"/>
                <a:sym typeface="Calibri"/>
              </a:rPr>
              <a:t>puede y debe</a:t>
            </a:r>
            <a:r>
              <a:rPr b="0" i="1" lang="es-PE" sz="1600" u="none" cap="none" strike="noStrike">
                <a:solidFill>
                  <a:schemeClr val="dk1"/>
                </a:solidFill>
                <a:latin typeface="Calibri"/>
                <a:ea typeface="Calibri"/>
                <a:cs typeface="Calibri"/>
                <a:sym typeface="Calibri"/>
              </a:rPr>
              <a:t> ser compartida por toda la empresa para poder entregar mejores resultados. </a:t>
            </a:r>
            <a:endParaRPr/>
          </a:p>
        </p:txBody>
      </p:sp>
      <p:sp>
        <p:nvSpPr>
          <p:cNvPr id="529" name="Google Shape;529;p31"/>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530" name="Google Shape;530;p31"/>
          <p:cNvSpPr/>
          <p:nvPr/>
        </p:nvSpPr>
        <p:spPr>
          <a:xfrm>
            <a:off x="3200400" y="1975865"/>
            <a:ext cx="4871544" cy="947952"/>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Clr>
                <a:srgbClr val="000000"/>
              </a:buClr>
              <a:buSzPts val="2800"/>
              <a:buFont typeface="Arial"/>
              <a:buNone/>
            </a:pPr>
            <a:r>
              <a:rPr b="1" i="0" lang="es-PE" sz="2800" u="none" cap="none" strike="noStrike">
                <a:solidFill>
                  <a:schemeClr val="dk1"/>
                </a:solidFill>
                <a:latin typeface="Arial"/>
                <a:ea typeface="Arial"/>
                <a:cs typeface="Arial"/>
                <a:sym typeface="Arial"/>
              </a:rPr>
              <a:t>LA AGILIDAD SOLO EXISTE</a:t>
            </a:r>
            <a:endParaRPr b="1" i="0" sz="2800" u="none" cap="none" strike="noStrike">
              <a:solidFill>
                <a:schemeClr val="dk1"/>
              </a:solidFill>
              <a:latin typeface="Arial"/>
              <a:ea typeface="Arial"/>
              <a:cs typeface="Arial"/>
              <a:sym typeface="Arial"/>
            </a:endParaRPr>
          </a:p>
          <a:p>
            <a:pPr indent="0" lvl="0" marL="0" marR="0" rtl="0" algn="l">
              <a:lnSpc>
                <a:spcPct val="75000"/>
              </a:lnSpc>
              <a:spcBef>
                <a:spcPts val="0"/>
              </a:spcBef>
              <a:spcAft>
                <a:spcPts val="0"/>
              </a:spcAft>
              <a:buClr>
                <a:srgbClr val="000000"/>
              </a:buClr>
              <a:buSzPts val="2800"/>
              <a:buFont typeface="Arial"/>
              <a:buNone/>
            </a:pPr>
            <a:r>
              <a:rPr b="1" i="0" lang="es-PE" sz="2800" u="none" cap="none" strike="noStrike">
                <a:solidFill>
                  <a:srgbClr val="7150A0"/>
                </a:solidFill>
                <a:latin typeface="Arial"/>
                <a:ea typeface="Arial"/>
                <a:cs typeface="Arial"/>
                <a:sym typeface="Arial"/>
              </a:rPr>
              <a:t>EN EQUIPOS DE TECNOLOGÍA</a:t>
            </a:r>
            <a:endParaRPr b="1" i="0" sz="2800" u="none" cap="none" strike="noStrike">
              <a:solidFill>
                <a:srgbClr val="7150A0"/>
              </a:solidFill>
              <a:latin typeface="Arial"/>
              <a:ea typeface="Arial"/>
              <a:cs typeface="Arial"/>
              <a:sym typeface="Arial"/>
            </a:endParaRPr>
          </a:p>
        </p:txBody>
      </p:sp>
      <p:pic>
        <p:nvPicPr>
          <p:cNvPr id="531" name="Google Shape;531;p31"/>
          <p:cNvPicPr preferRelativeResize="0"/>
          <p:nvPr/>
        </p:nvPicPr>
        <p:blipFill rotWithShape="1">
          <a:blip r:embed="rId3">
            <a:alphaModFix/>
          </a:blip>
          <a:srcRect b="0" l="0" r="0" t="0"/>
          <a:stretch/>
        </p:blipFill>
        <p:spPr>
          <a:xfrm>
            <a:off x="1687351" y="1780746"/>
            <a:ext cx="1145495" cy="1384043"/>
          </a:xfrm>
          <a:prstGeom prst="rect">
            <a:avLst/>
          </a:prstGeom>
          <a:noFill/>
          <a:ln>
            <a:noFill/>
          </a:ln>
        </p:spPr>
      </p:pic>
      <p:pic>
        <p:nvPicPr>
          <p:cNvPr id="532" name="Google Shape;532;p31"/>
          <p:cNvPicPr preferRelativeResize="0"/>
          <p:nvPr/>
        </p:nvPicPr>
        <p:blipFill rotWithShape="1">
          <a:blip r:embed="rId4">
            <a:alphaModFix/>
          </a:blip>
          <a:srcRect b="0" l="0" r="0" t="0"/>
          <a:stretch/>
        </p:blipFill>
        <p:spPr>
          <a:xfrm>
            <a:off x="1883395" y="1984038"/>
            <a:ext cx="743358" cy="743358"/>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2"/>
          <p:cNvSpPr/>
          <p:nvPr/>
        </p:nvSpPr>
        <p:spPr>
          <a:xfrm>
            <a:off x="1682326" y="3674885"/>
            <a:ext cx="1652889" cy="251165"/>
          </a:xfrm>
          <a:prstGeom prst="roundRect">
            <a:avLst>
              <a:gd fmla="val 16667" name="adj"/>
            </a:avLst>
          </a:prstGeom>
          <a:solidFill>
            <a:srgbClr val="7150A0"/>
          </a:solidFill>
          <a:ln>
            <a:noFill/>
          </a:ln>
          <a:effectLst>
            <a:outerShdw sx="1000" rotWithShape="0" sy="10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VERDADERO</a:t>
            </a:r>
            <a:endParaRPr b="1" i="0" sz="1600" u="none" cap="none" strike="noStrike">
              <a:solidFill>
                <a:schemeClr val="lt1"/>
              </a:solidFill>
              <a:latin typeface="Calibri"/>
              <a:ea typeface="Calibri"/>
              <a:cs typeface="Calibri"/>
              <a:sym typeface="Calibri"/>
            </a:endParaRPr>
          </a:p>
        </p:txBody>
      </p:sp>
      <p:sp>
        <p:nvSpPr>
          <p:cNvPr id="539" name="Google Shape;539;p32"/>
          <p:cNvSpPr txBox="1"/>
          <p:nvPr/>
        </p:nvSpPr>
        <p:spPr>
          <a:xfrm>
            <a:off x="1577108" y="3978988"/>
            <a:ext cx="6337315"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s-PE" sz="1600" u="none" cap="none" strike="noStrike">
                <a:solidFill>
                  <a:schemeClr val="dk1"/>
                </a:solidFill>
                <a:latin typeface="Calibri"/>
                <a:ea typeface="Calibri"/>
                <a:cs typeface="Calibri"/>
                <a:sym typeface="Calibri"/>
              </a:rPr>
              <a:t>Lo importante es que la finalidad del </a:t>
            </a:r>
            <a:r>
              <a:rPr b="1" i="1" lang="es-PE" sz="1600" u="none" cap="none" strike="noStrike">
                <a:solidFill>
                  <a:schemeClr val="dk1"/>
                </a:solidFill>
                <a:latin typeface="Calibri"/>
                <a:ea typeface="Calibri"/>
                <a:cs typeface="Calibri"/>
                <a:sym typeface="Calibri"/>
              </a:rPr>
              <a:t>rol se haga presente.</a:t>
            </a:r>
            <a:r>
              <a:rPr b="0" i="1" lang="es-PE" sz="1600" u="none" cap="none" strike="noStrike">
                <a:solidFill>
                  <a:schemeClr val="dk1"/>
                </a:solidFill>
                <a:latin typeface="Calibri"/>
                <a:ea typeface="Calibri"/>
                <a:cs typeface="Calibri"/>
                <a:sym typeface="Calibri"/>
              </a:rPr>
              <a:t> En empresas con alta madurez y disciplina de equipos no es necesario.</a:t>
            </a:r>
            <a:endParaRPr/>
          </a:p>
        </p:txBody>
      </p:sp>
      <p:sp>
        <p:nvSpPr>
          <p:cNvPr id="540" name="Google Shape;540;p32"/>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541" name="Google Shape;541;p32"/>
          <p:cNvSpPr/>
          <p:nvPr/>
        </p:nvSpPr>
        <p:spPr>
          <a:xfrm>
            <a:off x="3200400" y="1975865"/>
            <a:ext cx="4871544" cy="947952"/>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Clr>
                <a:srgbClr val="000000"/>
              </a:buClr>
              <a:buSzPts val="2800"/>
              <a:buFont typeface="Arial"/>
              <a:buNone/>
            </a:pPr>
            <a:r>
              <a:rPr b="1" i="0" lang="es-PE" sz="2800" u="none" cap="none" strike="noStrike">
                <a:solidFill>
                  <a:schemeClr val="dk1"/>
                </a:solidFill>
                <a:latin typeface="Arial"/>
                <a:ea typeface="Arial"/>
                <a:cs typeface="Arial"/>
                <a:sym typeface="Arial"/>
              </a:rPr>
              <a:t>SE PUEDE SER ÁGIL</a:t>
            </a:r>
            <a:endParaRPr b="1" i="0" sz="2800" u="none" cap="none" strike="noStrike">
              <a:solidFill>
                <a:schemeClr val="dk1"/>
              </a:solidFill>
              <a:latin typeface="Arial"/>
              <a:ea typeface="Arial"/>
              <a:cs typeface="Arial"/>
              <a:sym typeface="Arial"/>
            </a:endParaRPr>
          </a:p>
          <a:p>
            <a:pPr indent="0" lvl="0" marL="0" marR="0" rtl="0" algn="l">
              <a:lnSpc>
                <a:spcPct val="75000"/>
              </a:lnSpc>
              <a:spcBef>
                <a:spcPts val="0"/>
              </a:spcBef>
              <a:spcAft>
                <a:spcPts val="0"/>
              </a:spcAft>
              <a:buClr>
                <a:srgbClr val="000000"/>
              </a:buClr>
              <a:buSzPts val="2800"/>
              <a:buFont typeface="Arial"/>
              <a:buNone/>
            </a:pPr>
            <a:r>
              <a:rPr b="1" i="0" lang="es-PE" sz="2800" u="none" cap="none" strike="noStrike">
                <a:solidFill>
                  <a:srgbClr val="7150A0"/>
                </a:solidFill>
                <a:latin typeface="Arial"/>
                <a:ea typeface="Arial"/>
                <a:cs typeface="Arial"/>
                <a:sym typeface="Arial"/>
              </a:rPr>
              <a:t>SIN TENER A UN </a:t>
            </a:r>
            <a:br>
              <a:rPr b="1" i="0" lang="es-PE" sz="2800" u="none" cap="none" strike="noStrike">
                <a:solidFill>
                  <a:srgbClr val="7150A0"/>
                </a:solidFill>
                <a:latin typeface="Arial"/>
                <a:ea typeface="Arial"/>
                <a:cs typeface="Arial"/>
                <a:sym typeface="Arial"/>
              </a:rPr>
            </a:br>
            <a:r>
              <a:rPr b="1" i="0" lang="es-PE" sz="2800" u="none" cap="none" strike="noStrike">
                <a:solidFill>
                  <a:srgbClr val="7150A0"/>
                </a:solidFill>
                <a:latin typeface="Arial"/>
                <a:ea typeface="Arial"/>
                <a:cs typeface="Arial"/>
                <a:sym typeface="Arial"/>
              </a:rPr>
              <a:t>SCRUM MASTER</a:t>
            </a:r>
            <a:endParaRPr b="1" i="0" sz="2800" u="none" cap="none" strike="noStrike">
              <a:solidFill>
                <a:srgbClr val="7150A0"/>
              </a:solidFill>
              <a:latin typeface="Arial"/>
              <a:ea typeface="Arial"/>
              <a:cs typeface="Arial"/>
              <a:sym typeface="Arial"/>
            </a:endParaRPr>
          </a:p>
        </p:txBody>
      </p:sp>
      <p:pic>
        <p:nvPicPr>
          <p:cNvPr id="542" name="Google Shape;542;p32"/>
          <p:cNvPicPr preferRelativeResize="0"/>
          <p:nvPr/>
        </p:nvPicPr>
        <p:blipFill rotWithShape="1">
          <a:blip r:embed="rId3">
            <a:alphaModFix/>
          </a:blip>
          <a:srcRect b="0" l="0" r="0" t="0"/>
          <a:stretch/>
        </p:blipFill>
        <p:spPr>
          <a:xfrm>
            <a:off x="1687351" y="1780746"/>
            <a:ext cx="1145495" cy="1384043"/>
          </a:xfrm>
          <a:prstGeom prst="rect">
            <a:avLst/>
          </a:prstGeom>
          <a:noFill/>
          <a:ln>
            <a:noFill/>
          </a:ln>
        </p:spPr>
      </p:pic>
      <p:pic>
        <p:nvPicPr>
          <p:cNvPr id="543" name="Google Shape;543;p32"/>
          <p:cNvPicPr preferRelativeResize="0"/>
          <p:nvPr/>
        </p:nvPicPr>
        <p:blipFill rotWithShape="1">
          <a:blip r:embed="rId4">
            <a:alphaModFix/>
          </a:blip>
          <a:srcRect b="0" l="0" r="0" t="0"/>
          <a:stretch/>
        </p:blipFill>
        <p:spPr>
          <a:xfrm>
            <a:off x="1883395" y="1984038"/>
            <a:ext cx="743358" cy="743358"/>
          </a:xfrm>
          <a:prstGeom prst="ellipse">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3"/>
          <p:cNvSpPr txBox="1"/>
          <p:nvPr/>
        </p:nvSpPr>
        <p:spPr>
          <a:xfrm>
            <a:off x="489826" y="909286"/>
            <a:ext cx="8185862" cy="118494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MITOS &amp; VERDADES EN LA AGILIDAD</a:t>
            </a:r>
            <a:endParaRPr/>
          </a:p>
          <a:p>
            <a:pPr indent="0" lvl="0" marL="11725" marR="0" rtl="0" algn="l">
              <a:lnSpc>
                <a:spcPct val="100000"/>
              </a:lnSpc>
              <a:spcBef>
                <a:spcPts val="600"/>
              </a:spcBef>
              <a:spcAft>
                <a:spcPts val="0"/>
              </a:spcAft>
              <a:buClr>
                <a:srgbClr val="000000"/>
              </a:buClr>
              <a:buSzPts val="1400"/>
              <a:buFont typeface="Arial"/>
              <a:buNone/>
            </a:pPr>
            <a:r>
              <a:rPr b="1" i="0" lang="es-PE" sz="1400" u="none" cap="none" strike="noStrike">
                <a:solidFill>
                  <a:srgbClr val="00B2C2"/>
                </a:solidFill>
                <a:latin typeface="Calibri"/>
                <a:ea typeface="Calibri"/>
                <a:cs typeface="Calibri"/>
                <a:sym typeface="Calibri"/>
              </a:rPr>
              <a:t>Estructura de equipos de Desarrollo de Producto</a:t>
            </a:r>
            <a:endParaRPr b="0" i="0" sz="1400" u="none" cap="none" strike="noStrike">
              <a:solidFill>
                <a:srgbClr val="00B2C2"/>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400"/>
              <a:buFont typeface="Arial"/>
              <a:buNone/>
            </a:pPr>
            <a:r>
              <a:rPr b="0" i="0" lang="es-PE" sz="1400" u="none" cap="none" strike="noStrike">
                <a:solidFill>
                  <a:srgbClr val="262626"/>
                </a:solidFill>
                <a:latin typeface="Calibri"/>
                <a:ea typeface="Calibri"/>
                <a:cs typeface="Calibri"/>
                <a:sym typeface="Calibri"/>
              </a:rPr>
              <a:t>En startups y las empresas tecnológicas más reconocidas no se suele tener un Scrum Master como parte de la estructura del equipo, debido a la alta madurez y mindset compartidos por todos los miembros de la organización (además de la restricción de presupuesto).</a:t>
            </a:r>
            <a:endParaRPr b="0" i="0" sz="1400" u="none" cap="none" strike="noStrike">
              <a:solidFill>
                <a:srgbClr val="000000"/>
              </a:solidFill>
              <a:latin typeface="Calibri"/>
              <a:ea typeface="Calibri"/>
              <a:cs typeface="Calibri"/>
              <a:sym typeface="Calibri"/>
            </a:endParaRPr>
          </a:p>
        </p:txBody>
      </p:sp>
      <p:grpSp>
        <p:nvGrpSpPr>
          <p:cNvPr id="549" name="Google Shape;549;p33"/>
          <p:cNvGrpSpPr/>
          <p:nvPr/>
        </p:nvGrpSpPr>
        <p:grpSpPr>
          <a:xfrm>
            <a:off x="2324809" y="2488177"/>
            <a:ext cx="4515895" cy="2467718"/>
            <a:chOff x="8130746" y="1906990"/>
            <a:chExt cx="5765369" cy="3150495"/>
          </a:xfrm>
        </p:grpSpPr>
        <p:sp>
          <p:nvSpPr>
            <p:cNvPr id="550" name="Google Shape;550;p33"/>
            <p:cNvSpPr/>
            <p:nvPr/>
          </p:nvSpPr>
          <p:spPr>
            <a:xfrm>
              <a:off x="8730310" y="4103971"/>
              <a:ext cx="1960536" cy="581187"/>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Developers</a:t>
              </a:r>
              <a:endParaRPr b="1" i="0" sz="1200" u="none" cap="none" strike="noStrike">
                <a:solidFill>
                  <a:schemeClr val="lt1"/>
                </a:solidFill>
                <a:latin typeface="Calibri"/>
                <a:ea typeface="Calibri"/>
                <a:cs typeface="Calibri"/>
                <a:sym typeface="Calibri"/>
              </a:endParaRPr>
            </a:p>
          </p:txBody>
        </p:sp>
        <p:sp>
          <p:nvSpPr>
            <p:cNvPr id="551" name="Google Shape;551;p33"/>
            <p:cNvSpPr/>
            <p:nvPr/>
          </p:nvSpPr>
          <p:spPr>
            <a:xfrm>
              <a:off x="11449858" y="4103971"/>
              <a:ext cx="1960536" cy="581187"/>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QAs</a:t>
              </a:r>
              <a:endParaRPr b="1" i="0" sz="1200" u="none" cap="none" strike="noStrike">
                <a:solidFill>
                  <a:schemeClr val="lt1"/>
                </a:solidFill>
                <a:latin typeface="Calibri"/>
                <a:ea typeface="Calibri"/>
                <a:cs typeface="Calibri"/>
                <a:sym typeface="Calibri"/>
              </a:endParaRPr>
            </a:p>
          </p:txBody>
        </p:sp>
        <p:sp>
          <p:nvSpPr>
            <p:cNvPr id="552" name="Google Shape;552;p33"/>
            <p:cNvSpPr/>
            <p:nvPr/>
          </p:nvSpPr>
          <p:spPr>
            <a:xfrm>
              <a:off x="8730310" y="2878357"/>
              <a:ext cx="1960536" cy="581187"/>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Product / Project Manager</a:t>
              </a:r>
              <a:endParaRPr b="1" i="0" sz="1200" u="none" cap="none" strike="noStrike">
                <a:solidFill>
                  <a:schemeClr val="lt1"/>
                </a:solidFill>
                <a:latin typeface="Calibri"/>
                <a:ea typeface="Calibri"/>
                <a:cs typeface="Calibri"/>
                <a:sym typeface="Calibri"/>
              </a:endParaRPr>
            </a:p>
          </p:txBody>
        </p:sp>
        <p:sp>
          <p:nvSpPr>
            <p:cNvPr id="553" name="Google Shape;553;p33"/>
            <p:cNvSpPr/>
            <p:nvPr/>
          </p:nvSpPr>
          <p:spPr>
            <a:xfrm>
              <a:off x="11449858" y="2878357"/>
              <a:ext cx="1960536" cy="581187"/>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Designers</a:t>
              </a:r>
              <a:endParaRPr b="1" i="0" sz="1200" u="none" cap="none" strike="noStrike">
                <a:solidFill>
                  <a:schemeClr val="lt1"/>
                </a:solidFill>
                <a:latin typeface="Calibri"/>
                <a:ea typeface="Calibri"/>
                <a:cs typeface="Calibri"/>
                <a:sym typeface="Calibri"/>
              </a:endParaRPr>
            </a:p>
          </p:txBody>
        </p:sp>
        <p:sp>
          <p:nvSpPr>
            <p:cNvPr id="554" name="Google Shape;554;p33"/>
            <p:cNvSpPr/>
            <p:nvPr/>
          </p:nvSpPr>
          <p:spPr>
            <a:xfrm>
              <a:off x="10885238" y="3523937"/>
              <a:ext cx="495946" cy="496593"/>
            </a:xfrm>
            <a:prstGeom prst="uturnArrow">
              <a:avLst>
                <a:gd fmla="val 25000" name="adj1"/>
                <a:gd fmla="val 25000" name="adj2"/>
                <a:gd fmla="val 25000" name="adj3"/>
                <a:gd fmla="val 43750" name="adj4"/>
                <a:gd fmla="val 75000" name="adj5"/>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5" name="Google Shape;555;p33"/>
            <p:cNvSpPr/>
            <p:nvPr/>
          </p:nvSpPr>
          <p:spPr>
            <a:xfrm>
              <a:off x="10033163" y="1906990"/>
              <a:ext cx="1960536" cy="581187"/>
            </a:xfrm>
            <a:prstGeom prst="roundRect">
              <a:avLst>
                <a:gd fmla="val 16667"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lt1"/>
                  </a:solidFill>
                  <a:latin typeface="Calibri"/>
                  <a:ea typeface="Calibri"/>
                  <a:cs typeface="Calibri"/>
                  <a:sym typeface="Calibri"/>
                </a:rPr>
                <a:t>Producto / Equipo 1</a:t>
              </a:r>
              <a:endParaRPr b="1" i="0" sz="1200" u="none" cap="none" strike="noStrike">
                <a:solidFill>
                  <a:schemeClr val="lt1"/>
                </a:solidFill>
                <a:latin typeface="Calibri"/>
                <a:ea typeface="Calibri"/>
                <a:cs typeface="Calibri"/>
                <a:sym typeface="Calibri"/>
              </a:endParaRPr>
            </a:p>
          </p:txBody>
        </p:sp>
        <p:sp>
          <p:nvSpPr>
            <p:cNvPr id="556" name="Google Shape;556;p33"/>
            <p:cNvSpPr/>
            <p:nvPr/>
          </p:nvSpPr>
          <p:spPr>
            <a:xfrm>
              <a:off x="8130746" y="2653310"/>
              <a:ext cx="5765369" cy="2404175"/>
            </a:xfrm>
            <a:prstGeom prst="roundRect">
              <a:avLst>
                <a:gd fmla="val 16667" name="adj"/>
              </a:avLst>
            </a:prstGeom>
            <a:noFill/>
            <a:ln cap="flat" cmpd="sng" w="19050">
              <a:solidFill>
                <a:srgbClr val="808799"/>
              </a:solidFill>
              <a:prstDash val="solid"/>
              <a:round/>
              <a:headEnd len="sm" w="sm" type="none"/>
              <a:tailEnd len="sm" w="sm" type="none"/>
            </a:ln>
            <a:effectLst>
              <a:outerShdw sx="1000" rotWithShape="0" algn="ctr" sy="1000">
                <a:srgbClr val="8087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57" name="Google Shape;557;p33"/>
            <p:cNvCxnSpPr>
              <a:stCxn id="555" idx="2"/>
              <a:endCxn id="556" idx="0"/>
            </p:cNvCxnSpPr>
            <p:nvPr/>
          </p:nvCxnSpPr>
          <p:spPr>
            <a:xfrm>
              <a:off x="11013431" y="2488177"/>
              <a:ext cx="0" cy="165000"/>
            </a:xfrm>
            <a:prstGeom prst="straightConnector1">
              <a:avLst/>
            </a:prstGeom>
            <a:noFill/>
            <a:ln cap="flat" cmpd="sng" w="19050">
              <a:solidFill>
                <a:srgbClr val="808799"/>
              </a:solidFill>
              <a:prstDash val="solid"/>
              <a:round/>
              <a:headEnd len="sm" w="sm" type="none"/>
              <a:tailEnd len="sm" w="sm" type="none"/>
            </a:ln>
          </p:spPr>
        </p:cxnSp>
      </p:grpSp>
      <p:sp>
        <p:nvSpPr>
          <p:cNvPr id="558" name="Google Shape;558;p33"/>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4"/>
          <p:cNvSpPr/>
          <p:nvPr/>
        </p:nvSpPr>
        <p:spPr>
          <a:xfrm>
            <a:off x="503238" y="376836"/>
            <a:ext cx="7627508"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ROL DEL EQUIPO DE TECNOLOGÍA EN LOS FRAMEWORK CUSTOMER - CENTRIC</a:t>
            </a:r>
            <a:endParaRPr/>
          </a:p>
        </p:txBody>
      </p:sp>
      <p:sp>
        <p:nvSpPr>
          <p:cNvPr id="565" name="Google Shape;565;p34"/>
          <p:cNvSpPr txBox="1"/>
          <p:nvPr/>
        </p:nvSpPr>
        <p:spPr>
          <a:xfrm>
            <a:off x="1577108" y="3978988"/>
            <a:ext cx="6337315"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s-PE" sz="1600" u="none" cap="none" strike="noStrike">
                <a:solidFill>
                  <a:schemeClr val="dk1"/>
                </a:solidFill>
                <a:latin typeface="Calibri"/>
                <a:ea typeface="Calibri"/>
                <a:cs typeface="Calibri"/>
                <a:sym typeface="Calibri"/>
              </a:rPr>
              <a:t>La agilidad es un Mindset (mentalidad) que va más allá de solo buscar iteraciones rápidas, busca siempre capitalizar aprendizajes y entregar valor de manera continua.</a:t>
            </a:r>
            <a:endParaRPr/>
          </a:p>
        </p:txBody>
      </p:sp>
      <p:sp>
        <p:nvSpPr>
          <p:cNvPr id="566" name="Google Shape;566;p34"/>
          <p:cNvSpPr/>
          <p:nvPr/>
        </p:nvSpPr>
        <p:spPr>
          <a:xfrm>
            <a:off x="3200400" y="1975865"/>
            <a:ext cx="4871544" cy="926407"/>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Clr>
                <a:srgbClr val="000000"/>
              </a:buClr>
              <a:buSzPts val="2800"/>
              <a:buFont typeface="Arial"/>
              <a:buNone/>
            </a:pPr>
            <a:r>
              <a:rPr b="1" i="0" lang="es-PE" sz="2800" u="none" cap="none" strike="noStrike">
                <a:solidFill>
                  <a:schemeClr val="dk1"/>
                </a:solidFill>
                <a:latin typeface="Arial"/>
                <a:ea typeface="Arial"/>
                <a:cs typeface="Arial"/>
                <a:sym typeface="Arial"/>
              </a:rPr>
              <a:t>SER ÁGIL ES RÁPIDAMENTE</a:t>
            </a:r>
            <a:endParaRPr b="1" i="0" sz="2800" u="none" cap="none" strike="noStrike">
              <a:solidFill>
                <a:schemeClr val="dk1"/>
              </a:solidFill>
              <a:latin typeface="Arial"/>
              <a:ea typeface="Arial"/>
              <a:cs typeface="Arial"/>
              <a:sym typeface="Arial"/>
            </a:endParaRPr>
          </a:p>
          <a:p>
            <a:pPr indent="0" lvl="0" marL="0" marR="0" rtl="0" algn="l">
              <a:lnSpc>
                <a:spcPct val="75000"/>
              </a:lnSpc>
              <a:spcBef>
                <a:spcPts val="0"/>
              </a:spcBef>
              <a:spcAft>
                <a:spcPts val="0"/>
              </a:spcAft>
              <a:buClr>
                <a:srgbClr val="000000"/>
              </a:buClr>
              <a:buSzPts val="2800"/>
              <a:buFont typeface="Arial"/>
              <a:buNone/>
            </a:pPr>
            <a:r>
              <a:rPr b="1" i="0" lang="es-PE" sz="2800" u="none" cap="none" strike="noStrike">
                <a:solidFill>
                  <a:srgbClr val="7150A0"/>
                </a:solidFill>
                <a:latin typeface="Arial"/>
                <a:ea typeface="Arial"/>
                <a:cs typeface="Arial"/>
                <a:sym typeface="Arial"/>
              </a:rPr>
              <a:t>ENTREGAR MÁS FEATURES</a:t>
            </a:r>
            <a:endParaRPr b="1" i="0" sz="2800" u="none" cap="none" strike="noStrike">
              <a:solidFill>
                <a:srgbClr val="7150A0"/>
              </a:solidFill>
              <a:latin typeface="Arial"/>
              <a:ea typeface="Arial"/>
              <a:cs typeface="Arial"/>
              <a:sym typeface="Arial"/>
            </a:endParaRPr>
          </a:p>
        </p:txBody>
      </p:sp>
      <p:pic>
        <p:nvPicPr>
          <p:cNvPr id="567" name="Google Shape;567;p34"/>
          <p:cNvPicPr preferRelativeResize="0"/>
          <p:nvPr/>
        </p:nvPicPr>
        <p:blipFill rotWithShape="1">
          <a:blip r:embed="rId3">
            <a:alphaModFix/>
          </a:blip>
          <a:srcRect b="0" l="0" r="0" t="0"/>
          <a:stretch/>
        </p:blipFill>
        <p:spPr>
          <a:xfrm>
            <a:off x="1687351" y="1780746"/>
            <a:ext cx="1145495" cy="1384043"/>
          </a:xfrm>
          <a:prstGeom prst="rect">
            <a:avLst/>
          </a:prstGeom>
          <a:noFill/>
          <a:ln>
            <a:noFill/>
          </a:ln>
        </p:spPr>
      </p:pic>
      <p:pic>
        <p:nvPicPr>
          <p:cNvPr id="568" name="Google Shape;568;p34"/>
          <p:cNvPicPr preferRelativeResize="0"/>
          <p:nvPr/>
        </p:nvPicPr>
        <p:blipFill rotWithShape="1">
          <a:blip r:embed="rId4">
            <a:alphaModFix/>
          </a:blip>
          <a:srcRect b="0" l="0" r="0" t="0"/>
          <a:stretch/>
        </p:blipFill>
        <p:spPr>
          <a:xfrm>
            <a:off x="1883395" y="1984038"/>
            <a:ext cx="743358" cy="743358"/>
          </a:xfrm>
          <a:prstGeom prst="ellipse">
            <a:avLst/>
          </a:prstGeom>
          <a:noFill/>
          <a:ln>
            <a:noFill/>
          </a:ln>
        </p:spPr>
      </p:pic>
      <p:sp>
        <p:nvSpPr>
          <p:cNvPr id="569" name="Google Shape;569;p34"/>
          <p:cNvSpPr/>
          <p:nvPr/>
        </p:nvSpPr>
        <p:spPr>
          <a:xfrm>
            <a:off x="1682326" y="3674885"/>
            <a:ext cx="1145495" cy="251165"/>
          </a:xfrm>
          <a:prstGeom prst="roundRect">
            <a:avLst>
              <a:gd fmla="val 16667" name="adj"/>
            </a:avLst>
          </a:prstGeom>
          <a:solidFill>
            <a:srgbClr val="7150A0"/>
          </a:solidFill>
          <a:ln>
            <a:noFill/>
          </a:ln>
          <a:effectLst>
            <a:outerShdw sx="1000" rotWithShape="0" sy="10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FALSO</a:t>
            </a:r>
            <a:endParaRPr b="1" i="0" sz="16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1"/>
          <p:cNvSpPr/>
          <p:nvPr/>
        </p:nvSpPr>
        <p:spPr>
          <a:xfrm>
            <a:off x="0" y="0"/>
            <a:ext cx="9144000" cy="5715000"/>
          </a:xfrm>
          <a:prstGeom prst="rect">
            <a:avLst/>
          </a:prstGeom>
          <a:solidFill>
            <a:srgbClr val="65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75" name="Google Shape;575;p51"/>
          <p:cNvGrpSpPr/>
          <p:nvPr/>
        </p:nvGrpSpPr>
        <p:grpSpPr>
          <a:xfrm>
            <a:off x="2506315" y="2194222"/>
            <a:ext cx="4581728" cy="1326557"/>
            <a:chOff x="2403187" y="2211377"/>
            <a:chExt cx="4581728" cy="1326557"/>
          </a:xfrm>
        </p:grpSpPr>
        <p:sp>
          <p:nvSpPr>
            <p:cNvPr id="576" name="Google Shape;576;p51"/>
            <p:cNvSpPr txBox="1"/>
            <p:nvPr/>
          </p:nvSpPr>
          <p:spPr>
            <a:xfrm>
              <a:off x="2403187"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0" i="0" lang="es-PE" sz="3600" u="none" cap="none" strike="noStrike">
                  <a:solidFill>
                    <a:schemeClr val="lt1"/>
                  </a:solidFill>
                  <a:latin typeface="Arial"/>
                  <a:ea typeface="Arial"/>
                  <a:cs typeface="Arial"/>
                  <a:sym typeface="Arial"/>
                </a:rPr>
                <a:t>CONCLUSIONES</a:t>
              </a:r>
              <a:br>
                <a:rPr b="0" i="0" lang="es-PE" sz="3600" u="none" cap="none" strike="noStrike">
                  <a:solidFill>
                    <a:schemeClr val="lt1"/>
                  </a:solidFill>
                  <a:latin typeface="Arial"/>
                  <a:ea typeface="Arial"/>
                  <a:cs typeface="Arial"/>
                  <a:sym typeface="Arial"/>
                </a:rPr>
              </a:br>
              <a:r>
                <a:rPr b="1" i="0" lang="es-PE" sz="3600" u="none" cap="none" strike="noStrike">
                  <a:solidFill>
                    <a:schemeClr val="lt1"/>
                  </a:solidFill>
                  <a:latin typeface="Arial"/>
                  <a:ea typeface="Arial"/>
                  <a:cs typeface="Arial"/>
                  <a:sym typeface="Arial"/>
                </a:rPr>
                <a:t>MÁS REFERENCIAS</a:t>
              </a:r>
              <a:endParaRPr b="1" i="0" sz="1400" u="none" cap="none" strike="noStrike">
                <a:solidFill>
                  <a:srgbClr val="000000"/>
                </a:solidFill>
                <a:latin typeface="Arial"/>
                <a:ea typeface="Arial"/>
                <a:cs typeface="Arial"/>
                <a:sym typeface="Arial"/>
              </a:endParaRPr>
            </a:p>
          </p:txBody>
        </p:sp>
        <p:pic>
          <p:nvPicPr>
            <p:cNvPr id="577" name="Google Shape;577;p51"/>
            <p:cNvPicPr preferRelativeResize="0"/>
            <p:nvPr/>
          </p:nvPicPr>
          <p:blipFill rotWithShape="1">
            <a:blip r:embed="rId3">
              <a:alphaModFix/>
            </a:blip>
            <a:srcRect b="0" l="0" r="0" t="0"/>
            <a:stretch/>
          </p:blipFill>
          <p:spPr>
            <a:xfrm>
              <a:off x="2425491" y="2211377"/>
              <a:ext cx="202176" cy="208211"/>
            </a:xfrm>
            <a:prstGeom prst="rect">
              <a:avLst/>
            </a:prstGeom>
            <a:noFill/>
            <a:ln>
              <a:noFill/>
            </a:ln>
          </p:spPr>
        </p:pic>
      </p:grpSp>
      <p:pic>
        <p:nvPicPr>
          <p:cNvPr id="578" name="Google Shape;578;p51"/>
          <p:cNvPicPr preferRelativeResize="0"/>
          <p:nvPr/>
        </p:nvPicPr>
        <p:blipFill rotWithShape="1">
          <a:blip r:embed="rId4">
            <a:alphaModFix/>
          </a:blip>
          <a:srcRect b="0" l="0" r="0" t="0"/>
          <a:stretch/>
        </p:blipFill>
        <p:spPr>
          <a:xfrm>
            <a:off x="-1253" y="946969"/>
            <a:ext cx="2072214" cy="38980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5"/>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5" name="Google Shape;585;p35"/>
          <p:cNvSpPr txBox="1"/>
          <p:nvPr/>
        </p:nvSpPr>
        <p:spPr>
          <a:xfrm>
            <a:off x="1279545" y="912813"/>
            <a:ext cx="5582172" cy="2369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El Mindset ágil nos permite ser más competitivos y una vez compartido por los miembros del equipo, nos permitirá entregar valor constantemente.</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Scrum es un framework que va más allá de un tablero o tener roles designados.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Para ser ágiles, el equipo de tecnología debe tener un rol activo en todo el proceso de creación de la solución, no únicamente en la entrega. No solo para “codear y listo”.</a:t>
            </a:r>
            <a:endParaRPr b="0" i="0" sz="1400" u="none" cap="none" strike="noStrike">
              <a:solidFill>
                <a:schemeClr val="dk1"/>
              </a:solidFill>
              <a:latin typeface="Calibri"/>
              <a:ea typeface="Calibri"/>
              <a:cs typeface="Calibri"/>
              <a:sym typeface="Calibri"/>
            </a:endParaRPr>
          </a:p>
          <a:p>
            <a:pPr indent="0" lvl="0" marL="10795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id="586" name="Google Shape;586;p35"/>
          <p:cNvPicPr preferRelativeResize="0"/>
          <p:nvPr/>
        </p:nvPicPr>
        <p:blipFill rotWithShape="1">
          <a:blip r:embed="rId3">
            <a:alphaModFix/>
          </a:blip>
          <a:srcRect b="0" l="0" r="0" t="0"/>
          <a:stretch/>
        </p:blipFill>
        <p:spPr>
          <a:xfrm>
            <a:off x="1011260" y="954885"/>
            <a:ext cx="114138" cy="117546"/>
          </a:xfrm>
          <a:prstGeom prst="rect">
            <a:avLst/>
          </a:prstGeom>
          <a:noFill/>
          <a:ln>
            <a:noFill/>
          </a:ln>
        </p:spPr>
      </p:pic>
      <p:pic>
        <p:nvPicPr>
          <p:cNvPr id="587" name="Google Shape;587;p35"/>
          <p:cNvPicPr preferRelativeResize="0"/>
          <p:nvPr/>
        </p:nvPicPr>
        <p:blipFill rotWithShape="1">
          <a:blip r:embed="rId3">
            <a:alphaModFix/>
          </a:blip>
          <a:srcRect b="0" l="0" r="0" t="0"/>
          <a:stretch/>
        </p:blipFill>
        <p:spPr>
          <a:xfrm>
            <a:off x="1011260" y="1621020"/>
            <a:ext cx="114138" cy="117546"/>
          </a:xfrm>
          <a:prstGeom prst="rect">
            <a:avLst/>
          </a:prstGeom>
          <a:noFill/>
          <a:ln>
            <a:noFill/>
          </a:ln>
        </p:spPr>
      </p:pic>
      <p:sp>
        <p:nvSpPr>
          <p:cNvPr id="588" name="Google Shape;588;p35"/>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89" name="Google Shape;589;p35"/>
          <p:cNvPicPr preferRelativeResize="0"/>
          <p:nvPr/>
        </p:nvPicPr>
        <p:blipFill rotWithShape="1">
          <a:blip r:embed="rId4">
            <a:alphaModFix amt="42000"/>
          </a:blip>
          <a:srcRect b="0" l="0" r="0" t="0"/>
          <a:stretch/>
        </p:blipFill>
        <p:spPr>
          <a:xfrm>
            <a:off x="6984999" y="3048772"/>
            <a:ext cx="1690689" cy="2185216"/>
          </a:xfrm>
          <a:prstGeom prst="rect">
            <a:avLst/>
          </a:prstGeom>
          <a:noFill/>
          <a:ln>
            <a:noFill/>
          </a:ln>
        </p:spPr>
      </p:pic>
      <p:sp>
        <p:nvSpPr>
          <p:cNvPr id="590" name="Google Shape;590;p35"/>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CONCLUSIONES </a:t>
            </a:r>
            <a:endParaRPr b="0" i="0" sz="1400" u="none" cap="none" strike="noStrike">
              <a:solidFill>
                <a:srgbClr val="000000"/>
              </a:solidFill>
              <a:latin typeface="Arial"/>
              <a:ea typeface="Arial"/>
              <a:cs typeface="Arial"/>
              <a:sym typeface="Arial"/>
            </a:endParaRPr>
          </a:p>
        </p:txBody>
      </p:sp>
      <p:pic>
        <p:nvPicPr>
          <p:cNvPr id="591" name="Google Shape;591;p35"/>
          <p:cNvPicPr preferRelativeResize="0"/>
          <p:nvPr/>
        </p:nvPicPr>
        <p:blipFill rotWithShape="1">
          <a:blip r:embed="rId3">
            <a:alphaModFix/>
          </a:blip>
          <a:srcRect b="0" l="0" r="0" t="0"/>
          <a:stretch/>
        </p:blipFill>
        <p:spPr>
          <a:xfrm>
            <a:off x="1011260" y="2248644"/>
            <a:ext cx="114138" cy="11754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2"/>
          <p:cNvSpPr/>
          <p:nvPr/>
        </p:nvSpPr>
        <p:spPr>
          <a:xfrm>
            <a:off x="0" y="0"/>
            <a:ext cx="9144000" cy="5715000"/>
          </a:xfrm>
          <a:prstGeom prst="rect">
            <a:avLst/>
          </a:prstGeom>
          <a:solidFill>
            <a:srgbClr val="8DCB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52"/>
          <p:cNvSpPr txBox="1"/>
          <p:nvPr/>
        </p:nvSpPr>
        <p:spPr>
          <a:xfrm>
            <a:off x="2519363"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0" i="0" lang="es-PE" sz="3600" u="none" cap="none" strike="noStrike">
                <a:solidFill>
                  <a:schemeClr val="lt1"/>
                </a:solidFill>
                <a:latin typeface="Arial"/>
                <a:ea typeface="Arial"/>
                <a:cs typeface="Arial"/>
                <a:sym typeface="Arial"/>
              </a:rPr>
              <a:t>BIBLIOGRAFÍA</a:t>
            </a:r>
            <a:br>
              <a:rPr b="0" i="0" lang="es-PE" sz="3600" u="none" cap="none" strike="noStrike">
                <a:solidFill>
                  <a:schemeClr val="lt1"/>
                </a:solidFill>
                <a:latin typeface="Arial"/>
                <a:ea typeface="Arial"/>
                <a:cs typeface="Arial"/>
                <a:sym typeface="Arial"/>
              </a:rPr>
            </a:br>
            <a:r>
              <a:rPr b="1" i="0" lang="es-PE" sz="3600" u="none" cap="none" strike="noStrike">
                <a:solidFill>
                  <a:schemeClr val="lt1"/>
                </a:solidFill>
                <a:latin typeface="Arial"/>
                <a:ea typeface="Arial"/>
                <a:cs typeface="Arial"/>
                <a:sym typeface="Arial"/>
              </a:rPr>
              <a:t>MÁS REFERENCIAS</a:t>
            </a:r>
            <a:endParaRPr b="1" i="0" sz="1400" u="none" cap="none" strike="noStrike">
              <a:solidFill>
                <a:srgbClr val="000000"/>
              </a:solidFill>
              <a:latin typeface="Arial"/>
              <a:ea typeface="Arial"/>
              <a:cs typeface="Arial"/>
              <a:sym typeface="Arial"/>
            </a:endParaRPr>
          </a:p>
        </p:txBody>
      </p:sp>
      <p:pic>
        <p:nvPicPr>
          <p:cNvPr id="598" name="Google Shape;598;p52"/>
          <p:cNvPicPr preferRelativeResize="0"/>
          <p:nvPr/>
        </p:nvPicPr>
        <p:blipFill rotWithShape="1">
          <a:blip r:embed="rId3">
            <a:alphaModFix/>
          </a:blip>
          <a:srcRect b="0" l="0" r="0" t="0"/>
          <a:stretch/>
        </p:blipFill>
        <p:spPr>
          <a:xfrm>
            <a:off x="2528619" y="2194222"/>
            <a:ext cx="202176" cy="208211"/>
          </a:xfrm>
          <a:prstGeom prst="rect">
            <a:avLst/>
          </a:prstGeom>
          <a:noFill/>
          <a:ln>
            <a:noFill/>
          </a:ln>
        </p:spPr>
      </p:pic>
      <p:pic>
        <p:nvPicPr>
          <p:cNvPr id="599" name="Google Shape;599;p52"/>
          <p:cNvPicPr preferRelativeResize="0"/>
          <p:nvPr/>
        </p:nvPicPr>
        <p:blipFill rotWithShape="1">
          <a:blip r:embed="rId4">
            <a:alphaModFix/>
          </a:blip>
          <a:srcRect b="0" l="0" r="0" t="0"/>
          <a:stretch/>
        </p:blipFill>
        <p:spPr>
          <a:xfrm>
            <a:off x="0" y="946970"/>
            <a:ext cx="2072061" cy="38980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6"/>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06" name="Google Shape;606;p36"/>
          <p:cNvSpPr txBox="1"/>
          <p:nvPr/>
        </p:nvSpPr>
        <p:spPr>
          <a:xfrm>
            <a:off x="1279009" y="917823"/>
            <a:ext cx="6013889" cy="150810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https://www.collidu.com/presentation-agile-onion</a:t>
            </a:r>
            <a:endParaRPr b="0" i="0" sz="1400" u="sng"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https://www.northware.mx/blog/desarrollo-en-cascada-waterfall-vs-desarrollo-agile-scrum/</a:t>
            </a:r>
            <a:r>
              <a:rPr b="0" i="0" lang="es-PE" sz="1400" u="none" cap="none" strike="noStrike">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https://ronjeffries.com/articles/015-10/the-backlog/article.html</a:t>
            </a:r>
            <a:r>
              <a:rPr b="0" i="0" lang="es-PE" sz="14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Inspired – Cagan, Marty (2008)</a:t>
            </a:r>
            <a:endParaRPr/>
          </a:p>
        </p:txBody>
      </p:sp>
      <p:pic>
        <p:nvPicPr>
          <p:cNvPr id="607" name="Google Shape;607;p36"/>
          <p:cNvPicPr preferRelativeResize="0"/>
          <p:nvPr/>
        </p:nvPicPr>
        <p:blipFill rotWithShape="1">
          <a:blip r:embed="rId6">
            <a:alphaModFix/>
          </a:blip>
          <a:srcRect b="0" l="0" r="0" t="0"/>
          <a:stretch/>
        </p:blipFill>
        <p:spPr>
          <a:xfrm>
            <a:off x="1008064" y="959114"/>
            <a:ext cx="103867" cy="106967"/>
          </a:xfrm>
          <a:prstGeom prst="rect">
            <a:avLst/>
          </a:prstGeom>
          <a:noFill/>
          <a:ln>
            <a:noFill/>
          </a:ln>
        </p:spPr>
      </p:pic>
      <p:pic>
        <p:nvPicPr>
          <p:cNvPr id="608" name="Google Shape;608;p36"/>
          <p:cNvPicPr preferRelativeResize="0"/>
          <p:nvPr/>
        </p:nvPicPr>
        <p:blipFill rotWithShape="1">
          <a:blip r:embed="rId7">
            <a:alphaModFix amt="42000"/>
          </a:blip>
          <a:srcRect b="0" l="0" r="0" t="0"/>
          <a:stretch/>
        </p:blipFill>
        <p:spPr>
          <a:xfrm>
            <a:off x="6985000" y="3036889"/>
            <a:ext cx="1690688" cy="2197100"/>
          </a:xfrm>
          <a:prstGeom prst="rect">
            <a:avLst/>
          </a:prstGeom>
          <a:noFill/>
          <a:ln>
            <a:noFill/>
          </a:ln>
        </p:spPr>
      </p:pic>
      <p:sp>
        <p:nvSpPr>
          <p:cNvPr id="609" name="Google Shape;609;p36"/>
          <p:cNvSpPr/>
          <p:nvPr/>
        </p:nvSpPr>
        <p:spPr>
          <a:xfrm>
            <a:off x="503238" y="321436"/>
            <a:ext cx="2430462" cy="1938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400"/>
              <a:buFont typeface="Arial"/>
              <a:buNone/>
            </a:pPr>
            <a:r>
              <a:rPr b="1" i="0" lang="es-PE" sz="1400" u="none" cap="none" strike="noStrike">
                <a:solidFill>
                  <a:srgbClr val="7F7F7F"/>
                </a:solidFill>
                <a:latin typeface="Calibri"/>
                <a:ea typeface="Calibri"/>
                <a:cs typeface="Calibri"/>
                <a:sym typeface="Calibri"/>
              </a:rPr>
              <a:t>+ </a:t>
            </a:r>
            <a:r>
              <a:rPr b="0" i="0" lang="es-PE" sz="1400" u="none" cap="none" strike="noStrike">
                <a:solidFill>
                  <a:srgbClr val="A5A5A5"/>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610" name="Google Shape;610;p36"/>
          <p:cNvPicPr preferRelativeResize="0"/>
          <p:nvPr/>
        </p:nvPicPr>
        <p:blipFill rotWithShape="1">
          <a:blip r:embed="rId6">
            <a:alphaModFix/>
          </a:blip>
          <a:srcRect b="0" l="0" r="0" t="0"/>
          <a:stretch/>
        </p:blipFill>
        <p:spPr>
          <a:xfrm>
            <a:off x="1008064" y="1402893"/>
            <a:ext cx="103867" cy="106967"/>
          </a:xfrm>
          <a:prstGeom prst="rect">
            <a:avLst/>
          </a:prstGeom>
          <a:noFill/>
          <a:ln>
            <a:noFill/>
          </a:ln>
        </p:spPr>
      </p:pic>
      <p:pic>
        <p:nvPicPr>
          <p:cNvPr id="611" name="Google Shape;611;p36"/>
          <p:cNvPicPr preferRelativeResize="0"/>
          <p:nvPr/>
        </p:nvPicPr>
        <p:blipFill rotWithShape="1">
          <a:blip r:embed="rId6">
            <a:alphaModFix/>
          </a:blip>
          <a:srcRect b="0" l="0" r="0" t="0"/>
          <a:stretch/>
        </p:blipFill>
        <p:spPr>
          <a:xfrm>
            <a:off x="1008064" y="2050172"/>
            <a:ext cx="103867" cy="10696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5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617" name="Google Shape;617;p53"/>
          <p:cNvPicPr preferRelativeResize="0"/>
          <p:nvPr/>
        </p:nvPicPr>
        <p:blipFill rotWithShape="1">
          <a:blip r:embed="rId3">
            <a:alphaModFix/>
          </a:blip>
          <a:srcRect b="0" l="0" r="0" t="0"/>
          <a:stretch/>
        </p:blipFill>
        <p:spPr>
          <a:xfrm>
            <a:off x="3924199" y="2666298"/>
            <a:ext cx="1295601" cy="3868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