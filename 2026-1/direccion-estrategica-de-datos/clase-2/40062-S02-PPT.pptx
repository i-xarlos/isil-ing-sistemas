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371" r:id="rId2"/>
    <p:sldId id="490" r:id="rId3"/>
    <p:sldId id="491" r:id="rId4"/>
    <p:sldId id="375" r:id="rId5"/>
    <p:sldId id="259" r:id="rId6"/>
    <p:sldId id="260" r:id="rId7"/>
    <p:sldId id="261" r:id="rId8"/>
    <p:sldId id="376" r:id="rId9"/>
    <p:sldId id="263" r:id="rId10"/>
    <p:sldId id="264" r:id="rId11"/>
    <p:sldId id="265" r:id="rId12"/>
    <p:sldId id="266" r:id="rId13"/>
    <p:sldId id="267" r:id="rId14"/>
    <p:sldId id="268" r:id="rId15"/>
    <p:sldId id="377" r:id="rId16"/>
    <p:sldId id="270" r:id="rId17"/>
    <p:sldId id="271" r:id="rId18"/>
    <p:sldId id="272" r:id="rId19"/>
    <p:sldId id="378" r:id="rId20"/>
    <p:sldId id="274" r:id="rId21"/>
    <p:sldId id="275" r:id="rId22"/>
    <p:sldId id="379" r:id="rId23"/>
    <p:sldId id="277" r:id="rId24"/>
    <p:sldId id="278" r:id="rId25"/>
    <p:sldId id="279" r:id="rId26"/>
    <p:sldId id="280" r:id="rId27"/>
    <p:sldId id="281" r:id="rId28"/>
    <p:sldId id="368" r:id="rId29"/>
    <p:sldId id="373" r:id="rId30"/>
    <p:sldId id="369" r:id="rId31"/>
    <p:sldId id="374" r:id="rId32"/>
    <p:sldId id="489" r:id="rId33"/>
  </p:sldIdLst>
  <p:sldSz cx="9144000" cy="5715000" type="screen16x1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gofUVqUUZu3h/1HuYzJXWPErsw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5AAE6"/>
    <a:srgbClr val="EFC58E"/>
    <a:srgbClr val="5F7D44"/>
    <a:srgbClr val="B4D88E"/>
    <a:srgbClr val="91383C"/>
    <a:srgbClr val="E3A6A8"/>
    <a:srgbClr val="FFE07D"/>
    <a:srgbClr val="B58711"/>
    <a:srgbClr val="483B69"/>
    <a:srgbClr val="C5B7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53"/>
    <p:restoredTop sz="94694"/>
  </p:normalViewPr>
  <p:slideViewPr>
    <p:cSldViewPr snapToGrid="0">
      <p:cViewPr varScale="1">
        <p:scale>
          <a:sx n="129" d="100"/>
          <a:sy n="129" d="100"/>
        </p:scale>
        <p:origin x="1596" y="12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45659" cy="49805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3" y="1"/>
            <a:ext cx="2945659" cy="498056"/>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4"/>
            <a:ext cx="2945659" cy="49805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4" name="Google Shape;11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3</a:t>
            </a:fld>
            <a:endParaRPr dirty="0">
              <a:latin typeface="Calibri" panose="020F0502020204030204" pitchFamily="34" charset="0"/>
              <a:cs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4" name="Google Shape;164;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4</a:t>
            </a:fld>
            <a:endParaRPr dirty="0">
              <a:latin typeface="Calibri" panose="020F0502020204030204" pitchFamily="34" charset="0"/>
              <a:cs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 name="Google Shape;57;p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a:p>
            <a:pPr marL="0" lvl="0" indent="0" algn="l" rtl="0">
              <a:spcBef>
                <a:spcPts val="0"/>
              </a:spcBef>
              <a:spcAft>
                <a:spcPts val="0"/>
              </a:spcAft>
              <a:buNone/>
            </a:pPr>
            <a:r>
              <a:rPr lang="es-PE">
                <a:latin typeface="Arial"/>
                <a:ea typeface="Arial"/>
                <a:cs typeface="Arial"/>
                <a:sym typeface="Arial"/>
              </a:rPr>
              <a:t>https://dataforge.cl/empresa-financiera-numero-1-global-gobierno-datos/</a:t>
            </a:r>
            <a:endParaRPr/>
          </a:p>
        </p:txBody>
      </p:sp>
      <p:sp>
        <p:nvSpPr>
          <p:cNvPr id="58" name="Google Shape;58;p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67" name="Google Shape;67;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p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75" name="Google Shape;75;p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13DB0F3F-0971-BD39-0A46-AFBDA110B9F6}"/>
            </a:ext>
          </a:extLst>
        </p:cNvPr>
        <p:cNvGrpSpPr/>
        <p:nvPr/>
      </p:nvGrpSpPr>
      <p:grpSpPr>
        <a:xfrm>
          <a:off x="0" y="0"/>
          <a:ext cx="0" cy="0"/>
          <a:chOff x="0" y="0"/>
          <a:chExt cx="0" cy="0"/>
        </a:xfrm>
      </p:grpSpPr>
      <p:sp>
        <p:nvSpPr>
          <p:cNvPr id="162" name="Google Shape;162;p9:notes">
            <a:extLst>
              <a:ext uri="{FF2B5EF4-FFF2-40B4-BE49-F238E27FC236}">
                <a16:creationId xmlns:a16="http://schemas.microsoft.com/office/drawing/2014/main" id="{75E1FCE0-06BD-6891-F7A1-DA4DEA388CD0}"/>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9:notes">
            <a:extLst>
              <a:ext uri="{FF2B5EF4-FFF2-40B4-BE49-F238E27FC236}">
                <a16:creationId xmlns:a16="http://schemas.microsoft.com/office/drawing/2014/main" id="{968FBAFD-1EC9-A6C4-60C4-52AC92E3FC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4" name="Google Shape;164;p9:notes">
            <a:extLst>
              <a:ext uri="{FF2B5EF4-FFF2-40B4-BE49-F238E27FC236}">
                <a16:creationId xmlns:a16="http://schemas.microsoft.com/office/drawing/2014/main" id="{6EF215BD-0A3D-FBE3-C40C-E42C122C911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8</a:t>
            </a:fld>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8881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262626"/>
              </a:buClr>
              <a:buSzPts val="1200"/>
              <a:buFont typeface="Calibri"/>
              <a:buNone/>
            </a:pPr>
            <a:r>
              <a:rPr lang="es-PE"/>
              <a:t>Mayor eficiencia y toma de decisiones informada: Al tener datos confiables, actualizados y accesibles, los responsables de la toma de decisiones pueden justificar sus acciones con información sólida. Esto permite identificar áreas de mejora, resolver problemas de forma ágil y eficiente, y aprovechar el uso de los recursos disponibles.</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rgbClr val="262626"/>
              </a:buClr>
              <a:buSzPts val="1200"/>
              <a:buFont typeface="Calibri"/>
              <a:buNone/>
            </a:pPr>
            <a:r>
              <a:rPr lang="es-PE"/>
              <a:t>Mejora en la calidad de los servicios públicos: El establecimiento de un gobierno te permite mejorar la calidad de los servicios ofrecidos a los ciudadanos. Al analizar datos sobre las necesidades y preferencias de los usuarios, podemos desarrollar programas y políticas que se ajusten a sus necesidades</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None/>
            </a:pPr>
            <a:r>
              <a:rPr lang="es-PE"/>
              <a:t>Aumento en la transparencia y rendición de cuentas: La DED fomenta la transparencia al brindar a los ciudadanos acceso a información importante sobre las acciones y decisiones del gobierno. Esto aumenta la confianza en las instituciones y simplifica la rendición de cuentas, ya que las organizaciones gubernamentales deben explicar cómo se manejan los datos y cómo se utilizan para tomar decisiones.</a:t>
            </a:r>
            <a:endParaRPr/>
          </a:p>
          <a:p>
            <a:pPr marL="0" lvl="0" indent="0" algn="l" rtl="0">
              <a:spcBef>
                <a:spcPts val="0"/>
              </a:spcBef>
              <a:spcAft>
                <a:spcPts val="0"/>
              </a:spcAft>
              <a:buNone/>
            </a:pPr>
            <a:br>
              <a:rPr lang="es-PE"/>
            </a:br>
            <a:r>
              <a:rPr lang="es-PE"/>
              <a:t>https://data-universe.org/ejemplos-de-gobierno-de-datos-en-la-administracion-publica-mejores-practicas-y-casos-de-exito/</a:t>
            </a:r>
            <a:endParaRPr b="0" i="0">
              <a:solidFill>
                <a:srgbClr val="0D0D0D"/>
              </a:solidFill>
              <a:highlight>
                <a:srgbClr val="FFFFFF"/>
              </a:highlight>
              <a:latin typeface="Arial"/>
              <a:ea typeface="Arial"/>
              <a:cs typeface="Arial"/>
              <a:sym typeface="Arial"/>
            </a:endParaRPr>
          </a:p>
        </p:txBody>
      </p:sp>
      <p:sp>
        <p:nvSpPr>
          <p:cNvPr id="90" name="Google Shape;90;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El gobierno de Aragon </a:t>
            </a:r>
            <a:endParaRPr/>
          </a:p>
          <a:p>
            <a:pPr marL="0" lvl="0" indent="0" algn="l" rtl="0">
              <a:spcBef>
                <a:spcPts val="0"/>
              </a:spcBef>
              <a:spcAft>
                <a:spcPts val="0"/>
              </a:spcAft>
              <a:buNone/>
            </a:pPr>
            <a:r>
              <a:rPr lang="es-PE"/>
              <a:t>Trabaja para mejorar la experiencia de las personas cuando utilizan los servicios públicos. </a:t>
            </a:r>
            <a:endParaRPr/>
          </a:p>
          <a:p>
            <a:pPr marL="0" lvl="0" indent="0" algn="l" rtl="0">
              <a:spcBef>
                <a:spcPts val="0"/>
              </a:spcBef>
              <a:spcAft>
                <a:spcPts val="0"/>
              </a:spcAft>
              <a:buNone/>
            </a:pPr>
            <a:r>
              <a:rPr lang="es-PE"/>
              <a:t>Con ayuda de una consultora Hiberus Tecnología, su objetivo es el de mejorar el tratamiento e intercambio de datos en la administración pública de Aragón, así como facilitar a los diferentes organismos públicos la distribución y consulta de sus datos.</a:t>
            </a:r>
            <a:endParaRPr/>
          </a:p>
          <a:p>
            <a:pPr marL="0" lvl="0" indent="0" algn="l" rtl="0">
              <a:spcBef>
                <a:spcPts val="0"/>
              </a:spcBef>
              <a:spcAft>
                <a:spcPts val="0"/>
              </a:spcAft>
              <a:buClr>
                <a:srgbClr val="000000"/>
              </a:buClr>
              <a:buSzPts val="1200"/>
              <a:buFont typeface="Arial"/>
              <a:buNone/>
            </a:pPr>
            <a:br>
              <a:rPr lang="es-PE"/>
            </a:br>
            <a:r>
              <a:rPr lang="es-PE"/>
              <a:t>https://www.hiberus.com/crecemos-contigo/caso-de-exito-plataforma-integral-de-gobernanza-de-datos-para-el-gobierno-de-aragon/</a:t>
            </a:r>
            <a:endParaRPr b="0" i="0">
              <a:solidFill>
                <a:srgbClr val="0D0D0D"/>
              </a:solidFill>
              <a:highlight>
                <a:srgbClr val="FFFFFF"/>
              </a:highlight>
              <a:latin typeface="Arial"/>
              <a:ea typeface="Arial"/>
              <a:cs typeface="Arial"/>
              <a:sym typeface="Arial"/>
            </a:endParaRPr>
          </a:p>
        </p:txBody>
      </p:sp>
      <p:sp>
        <p:nvSpPr>
          <p:cNvPr id="98" name="Google Shape;98;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1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262626"/>
              </a:buClr>
              <a:buSzPts val="1200"/>
              <a:buFont typeface="Calibri"/>
              <a:buNone/>
            </a:pPr>
            <a:r>
              <a:rPr lang="es-PE"/>
              <a:t>Implementar una plataforma Cloud: Se busca unificar y normalizar la información más relevante de los diferentes organismos de la administración pública de la región de Aragón.</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rgbClr val="000000"/>
              </a:buClr>
              <a:buSzPts val="1200"/>
              <a:buFont typeface="Arial"/>
              <a:buNone/>
            </a:pPr>
            <a:r>
              <a:rPr lang="es-PE"/>
              <a:t>https://www.hiberus.com/crecemos-contigo/caso-de-exito-plataforma-integral-de-gobernanza-de-datos-para-el-gobierno-de-aragon/</a:t>
            </a:r>
            <a:endParaRPr b="0" i="0">
              <a:solidFill>
                <a:srgbClr val="0D0D0D"/>
              </a:solidFill>
              <a:highlight>
                <a:srgbClr val="FFFFFF"/>
              </a:highlight>
              <a:latin typeface="Arial"/>
              <a:ea typeface="Arial"/>
              <a:cs typeface="Arial"/>
              <a:sym typeface="Arial"/>
            </a:endParaRPr>
          </a:p>
        </p:txBody>
      </p:sp>
      <p:sp>
        <p:nvSpPr>
          <p:cNvPr id="106" name="Google Shape;106;p1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1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262626"/>
              </a:buClr>
              <a:buSzPts val="1200"/>
              <a:buFont typeface="Calibri"/>
              <a:buNone/>
            </a:pPr>
            <a:r>
              <a:rPr lang="es-PE"/>
              <a:t>Definición de reglas de gobierno en todos los flujos de datos: Ayudó en controlar y gestionar los datos de cada uno de los procesos y unidades organizaciones.</a:t>
            </a:r>
            <a:endParaRPr/>
          </a:p>
          <a:p>
            <a:pPr marL="0" lvl="0" indent="0" algn="l" rtl="0">
              <a:spcBef>
                <a:spcPts val="0"/>
              </a:spcBef>
              <a:spcAft>
                <a:spcPts val="0"/>
              </a:spcAft>
              <a:buClr>
                <a:srgbClr val="000000"/>
              </a:buClr>
              <a:buSzPts val="1200"/>
              <a:buFont typeface="Arial"/>
              <a:buNone/>
            </a:pPr>
            <a:br>
              <a:rPr lang="es-PE"/>
            </a:br>
            <a:r>
              <a:rPr lang="es-PE"/>
              <a:t>https://www.hiberus.com/crecemos-contigo/caso-de-exito-plataforma-integral-de-gobernanza-de-datos-para-el-gobierno-de-aragon/</a:t>
            </a:r>
            <a:endParaRPr b="0" i="0">
              <a:solidFill>
                <a:srgbClr val="0D0D0D"/>
              </a:solidFill>
              <a:highlight>
                <a:srgbClr val="FFFFFF"/>
              </a:highlight>
              <a:latin typeface="Arial"/>
              <a:ea typeface="Arial"/>
              <a:cs typeface="Arial"/>
              <a:sym typeface="Arial"/>
            </a:endParaRPr>
          </a:p>
        </p:txBody>
      </p:sp>
      <p:sp>
        <p:nvSpPr>
          <p:cNvPr id="115" name="Google Shape;115;p1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1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262626"/>
              </a:buClr>
              <a:buSzPts val="1200"/>
              <a:buFont typeface="Calibri"/>
              <a:buNone/>
            </a:pPr>
            <a:r>
              <a:rPr lang="es-PE"/>
              <a:t>Garantizar la seguridad, el flujo y distribución de los datos: Se definió reglas de gobierno a lo largo de todo el flujo de los datos para el control y gestión de los datos, así como los permisos de uso de los datos estén alineados con los estándares de seguridad que marca el cliente.</a:t>
            </a:r>
            <a:endParaRPr/>
          </a:p>
          <a:p>
            <a:pPr marL="0" lvl="0" indent="0" algn="l" rtl="0">
              <a:spcBef>
                <a:spcPts val="0"/>
              </a:spcBef>
              <a:spcAft>
                <a:spcPts val="0"/>
              </a:spcAft>
              <a:buClr>
                <a:srgbClr val="000000"/>
              </a:buClr>
              <a:buSzPts val="1200"/>
              <a:buFont typeface="Arial"/>
              <a:buNone/>
            </a:pPr>
            <a:br>
              <a:rPr lang="es-PE"/>
            </a:br>
            <a:r>
              <a:rPr lang="es-PE"/>
              <a:t>https://www.hiberus.com/crecemos-contigo/caso-de-exito-plataforma-integral-de-gobernanza-de-datos-para-el-gobierno-de-aragon/</a:t>
            </a:r>
            <a:endParaRPr b="0" i="0">
              <a:solidFill>
                <a:srgbClr val="0D0D0D"/>
              </a:solidFill>
              <a:highlight>
                <a:srgbClr val="FFFFFF"/>
              </a:highlight>
              <a:latin typeface="Arial"/>
              <a:ea typeface="Arial"/>
              <a:cs typeface="Arial"/>
              <a:sym typeface="Arial"/>
            </a:endParaRPr>
          </a:p>
        </p:txBody>
      </p:sp>
      <p:sp>
        <p:nvSpPr>
          <p:cNvPr id="124" name="Google Shape;124;p1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1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br>
              <a:rPr lang="es-PE" b="0" i="0">
                <a:solidFill>
                  <a:srgbClr val="000000"/>
                </a:solidFill>
                <a:highlight>
                  <a:srgbClr val="FFFFFF"/>
                </a:highlight>
                <a:latin typeface="Arial"/>
                <a:ea typeface="Arial"/>
                <a:cs typeface="Arial"/>
                <a:sym typeface="Arial"/>
              </a:rPr>
            </a:br>
            <a:r>
              <a:rPr lang="es-PE"/>
              <a:t>https://www.hiberus.com/crecemos-contigo/caso-de-exito-plataforma-integral-de-gobernanza-de-datos-para-el-gobierno-de-aragon/</a:t>
            </a:r>
            <a:endParaRPr b="0" i="0">
              <a:solidFill>
                <a:srgbClr val="0D0D0D"/>
              </a:solidFill>
              <a:highlight>
                <a:srgbClr val="FFFFFF"/>
              </a:highlight>
              <a:latin typeface="Arial"/>
              <a:ea typeface="Arial"/>
              <a:cs typeface="Arial"/>
              <a:sym typeface="Arial"/>
            </a:endParaRPr>
          </a:p>
        </p:txBody>
      </p:sp>
      <p:sp>
        <p:nvSpPr>
          <p:cNvPr id="133" name="Google Shape;133;p1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13DB0F3F-0971-BD39-0A46-AFBDA110B9F6}"/>
            </a:ext>
          </a:extLst>
        </p:cNvPr>
        <p:cNvGrpSpPr/>
        <p:nvPr/>
      </p:nvGrpSpPr>
      <p:grpSpPr>
        <a:xfrm>
          <a:off x="0" y="0"/>
          <a:ext cx="0" cy="0"/>
          <a:chOff x="0" y="0"/>
          <a:chExt cx="0" cy="0"/>
        </a:xfrm>
      </p:grpSpPr>
      <p:sp>
        <p:nvSpPr>
          <p:cNvPr id="162" name="Google Shape;162;p9:notes">
            <a:extLst>
              <a:ext uri="{FF2B5EF4-FFF2-40B4-BE49-F238E27FC236}">
                <a16:creationId xmlns:a16="http://schemas.microsoft.com/office/drawing/2014/main" id="{75E1FCE0-06BD-6891-F7A1-DA4DEA388CD0}"/>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9:notes">
            <a:extLst>
              <a:ext uri="{FF2B5EF4-FFF2-40B4-BE49-F238E27FC236}">
                <a16:creationId xmlns:a16="http://schemas.microsoft.com/office/drawing/2014/main" id="{968FBAFD-1EC9-A6C4-60C4-52AC92E3FC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4" name="Google Shape;164;p9:notes">
            <a:extLst>
              <a:ext uri="{FF2B5EF4-FFF2-40B4-BE49-F238E27FC236}">
                <a16:creationId xmlns:a16="http://schemas.microsoft.com/office/drawing/2014/main" id="{6EF215BD-0A3D-FBE3-C40C-E42C122C911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15</a:t>
            </a:fld>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8881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1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b="0" i="0">
              <a:solidFill>
                <a:srgbClr val="0D0D0D"/>
              </a:solidFill>
              <a:highlight>
                <a:srgbClr val="FFFFFF"/>
              </a:highlight>
              <a:latin typeface="Arial"/>
              <a:ea typeface="Arial"/>
              <a:cs typeface="Arial"/>
              <a:sym typeface="Arial"/>
            </a:endParaRPr>
          </a:p>
        </p:txBody>
      </p:sp>
      <p:sp>
        <p:nvSpPr>
          <p:cNvPr id="149" name="Google Shape;149;p1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1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b="0" i="0">
              <a:solidFill>
                <a:srgbClr val="0D0D0D"/>
              </a:solidFill>
              <a:highlight>
                <a:srgbClr val="FFFFFF"/>
              </a:highlight>
              <a:latin typeface="Arial"/>
              <a:ea typeface="Arial"/>
              <a:cs typeface="Arial"/>
              <a:sym typeface="Arial"/>
            </a:endParaRPr>
          </a:p>
        </p:txBody>
      </p:sp>
      <p:sp>
        <p:nvSpPr>
          <p:cNvPr id="157" name="Google Shape;157;p1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D0D0D"/>
              </a:buClr>
              <a:buSzPts val="1200"/>
              <a:buFont typeface="Calibri"/>
              <a:buNone/>
            </a:pPr>
            <a:r>
              <a:rPr lang="es-PE"/>
              <a:t>Estimule el debate y la reflexión entre tus estudiantes sobre cómo utilizar la dirección estratégica de datos para mejorar la cadena de suministro y desarrollar modelos de negocio innovadores.</a:t>
            </a:r>
            <a:endParaRPr/>
          </a:p>
          <a:p>
            <a:pPr marL="0" lvl="0" indent="0" algn="l" rtl="0">
              <a:spcBef>
                <a:spcPts val="0"/>
              </a:spcBef>
              <a:spcAft>
                <a:spcPts val="0"/>
              </a:spcAft>
              <a:buClr>
                <a:schemeClr val="dk1"/>
              </a:buClr>
              <a:buSzPts val="1200"/>
              <a:buFont typeface="Calibri"/>
              <a:buNone/>
            </a:pPr>
            <a:endParaRPr/>
          </a:p>
          <a:p>
            <a:pPr marL="0" lvl="0" indent="-88900" algn="l" rtl="0">
              <a:spcBef>
                <a:spcPts val="0"/>
              </a:spcBef>
              <a:spcAft>
                <a:spcPts val="0"/>
              </a:spcAft>
              <a:buSzPts val="1400"/>
              <a:buAutoNum type="arabicPeriod"/>
            </a:pPr>
            <a:r>
              <a:rPr lang="es-PE"/>
              <a:t>Plataforma de gestión de la cadena de suministro basada en datos: Desarrollar una plataforma de gestión de la cadena de suministro que recopile datos de múltiples fuentes, incluidos proveedores, fabricantes y puntos de venta, para proporcionar una visión integral y en tiempo real de toda la cadena de suministro.</a:t>
            </a:r>
            <a:endParaRPr/>
          </a:p>
          <a:p>
            <a:pPr marL="0" lvl="0" indent="0" algn="l" rtl="0">
              <a:spcBef>
                <a:spcPts val="0"/>
              </a:spcBef>
              <a:spcAft>
                <a:spcPts val="0"/>
              </a:spcAft>
              <a:buClr>
                <a:schemeClr val="dk1"/>
              </a:buClr>
              <a:buSzPts val="1200"/>
              <a:buFont typeface="Calibri"/>
              <a:buNone/>
            </a:pPr>
            <a:endParaRPr/>
          </a:p>
          <a:p>
            <a:pPr marL="0" lvl="0" indent="-88900" algn="l" rtl="0">
              <a:spcBef>
                <a:spcPts val="0"/>
              </a:spcBef>
              <a:spcAft>
                <a:spcPts val="0"/>
              </a:spcAft>
              <a:buSzPts val="1400"/>
              <a:buAutoNum type="arabicPeriod"/>
            </a:pPr>
            <a:r>
              <a:rPr lang="es-PE"/>
              <a:t>Marketplace de datos de fabricación: Crear un marketplace donde "FabriCo" pueda compartir datos sobre sus productos, inventarios y capacidades de producción con proveedores, distribuidores y clientes externos. Esto facilitaría la colaboración y la toma de decisiones informadas en toda la cadena de suministro.</a:t>
            </a:r>
            <a:endParaRPr/>
          </a:p>
        </p:txBody>
      </p:sp>
      <p:sp>
        <p:nvSpPr>
          <p:cNvPr id="165" name="Google Shape;165;p1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13DB0F3F-0971-BD39-0A46-AFBDA110B9F6}"/>
            </a:ext>
          </a:extLst>
        </p:cNvPr>
        <p:cNvGrpSpPr/>
        <p:nvPr/>
      </p:nvGrpSpPr>
      <p:grpSpPr>
        <a:xfrm>
          <a:off x="0" y="0"/>
          <a:ext cx="0" cy="0"/>
          <a:chOff x="0" y="0"/>
          <a:chExt cx="0" cy="0"/>
        </a:xfrm>
      </p:grpSpPr>
      <p:sp>
        <p:nvSpPr>
          <p:cNvPr id="162" name="Google Shape;162;p9:notes">
            <a:extLst>
              <a:ext uri="{FF2B5EF4-FFF2-40B4-BE49-F238E27FC236}">
                <a16:creationId xmlns:a16="http://schemas.microsoft.com/office/drawing/2014/main" id="{75E1FCE0-06BD-6891-F7A1-DA4DEA388CD0}"/>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9:notes">
            <a:extLst>
              <a:ext uri="{FF2B5EF4-FFF2-40B4-BE49-F238E27FC236}">
                <a16:creationId xmlns:a16="http://schemas.microsoft.com/office/drawing/2014/main" id="{968FBAFD-1EC9-A6C4-60C4-52AC92E3FC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4" name="Google Shape;164;p9:notes">
            <a:extLst>
              <a:ext uri="{FF2B5EF4-FFF2-40B4-BE49-F238E27FC236}">
                <a16:creationId xmlns:a16="http://schemas.microsoft.com/office/drawing/2014/main" id="{6EF215BD-0A3D-FBE3-C40C-E42C122C911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19</a:t>
            </a:fld>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8881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Paso 1: Comprensión de la visión y estrategia empresarial, Obtener una comprensión clara de la visión y los objetivos estratégicos de la empresa para alinear la dirección estratégica de datos con la estrategia general de la empresa.</a:t>
            </a:r>
            <a:endParaRPr/>
          </a:p>
          <a:p>
            <a:pPr marL="0" lvl="0" indent="0" algn="l" rtl="0">
              <a:spcBef>
                <a:spcPts val="0"/>
              </a:spcBef>
              <a:spcAft>
                <a:spcPts val="0"/>
              </a:spcAft>
              <a:buNone/>
            </a:pPr>
            <a:endParaRPr/>
          </a:p>
          <a:p>
            <a:pPr marL="0" lvl="0" indent="0" algn="l" rtl="0">
              <a:spcBef>
                <a:spcPts val="0"/>
              </a:spcBef>
              <a:spcAft>
                <a:spcPts val="0"/>
              </a:spcAft>
              <a:buNone/>
            </a:pPr>
            <a:r>
              <a:rPr lang="es-PE"/>
              <a:t>Paso 2: Evaluación del estado actual de los datos, Realizar una evaluación exhaustiva del estado actual de los datos de la empresa, incluida la calidad de los datos, la integridad, la disponibilidad y la seguridad.</a:t>
            </a:r>
            <a:endParaRPr/>
          </a:p>
          <a:p>
            <a:pPr marL="0" lvl="0" indent="0" algn="l" rtl="0">
              <a:spcBef>
                <a:spcPts val="0"/>
              </a:spcBef>
              <a:spcAft>
                <a:spcPts val="0"/>
              </a:spcAft>
              <a:buNone/>
            </a:pPr>
            <a:endParaRPr/>
          </a:p>
          <a:p>
            <a:pPr marL="0" lvl="0" indent="0" algn="l" rtl="0">
              <a:spcBef>
                <a:spcPts val="0"/>
              </a:spcBef>
              <a:spcAft>
                <a:spcPts val="0"/>
              </a:spcAft>
              <a:buNone/>
            </a:pPr>
            <a:r>
              <a:rPr lang="es-PE"/>
              <a:t>Paso 3: Definición de objetivos y metas de datos, Establecer objetivos claros y específicos para la gestión de datos, como mejorar la calidad de los datos, aumentar la accesibilidad o garantizar el cumplimiento normativo.</a:t>
            </a:r>
            <a:endParaRPr/>
          </a:p>
          <a:p>
            <a:pPr marL="0" lvl="0" indent="0" algn="l" rtl="0">
              <a:spcBef>
                <a:spcPts val="0"/>
              </a:spcBef>
              <a:spcAft>
                <a:spcPts val="0"/>
              </a:spcAft>
              <a:buNone/>
            </a:pPr>
            <a:endParaRPr>
              <a:latin typeface="Arial"/>
              <a:ea typeface="Arial"/>
              <a:cs typeface="Arial"/>
              <a:sym typeface="Arial"/>
            </a:endParaRPr>
          </a:p>
        </p:txBody>
      </p:sp>
      <p:sp>
        <p:nvSpPr>
          <p:cNvPr id="180" name="Google Shape;180;p1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2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Paso 4: Desarrollo de un marco de gobierno de datos, Crear un marco de gobierno de datos que defina roles, responsabilidades, políticas y procesos para la gestión efectiva de los datos en toda la empresa.</a:t>
            </a:r>
            <a:endParaRPr/>
          </a:p>
          <a:p>
            <a:pPr marL="0" lvl="0" indent="0" algn="l" rtl="0">
              <a:spcBef>
                <a:spcPts val="0"/>
              </a:spcBef>
              <a:spcAft>
                <a:spcPts val="0"/>
              </a:spcAft>
              <a:buNone/>
            </a:pPr>
            <a:endParaRPr/>
          </a:p>
          <a:p>
            <a:pPr marL="0" lvl="0" indent="0" algn="l" rtl="0">
              <a:spcBef>
                <a:spcPts val="0"/>
              </a:spcBef>
              <a:spcAft>
                <a:spcPts val="0"/>
              </a:spcAft>
              <a:buNone/>
            </a:pPr>
            <a:r>
              <a:rPr lang="es-PE"/>
              <a:t>Paso 5: Implementación de tecnología y herramientas, Seleccionar e implementar las tecnologías y herramientas adecuadas para respaldar la gestión y el gobierno de datos, como sistemas de gestión de datos maestros (MDM), herramientas de calidad de datos y soluciones de inteligencia empresarial.</a:t>
            </a:r>
            <a:endParaRPr/>
          </a:p>
          <a:p>
            <a:pPr marL="0" lvl="0" indent="0" algn="l" rtl="0">
              <a:spcBef>
                <a:spcPts val="0"/>
              </a:spcBef>
              <a:spcAft>
                <a:spcPts val="0"/>
              </a:spcAft>
              <a:buNone/>
            </a:pPr>
            <a:endParaRPr/>
          </a:p>
          <a:p>
            <a:pPr marL="0" lvl="0" indent="0" algn="l" rtl="0">
              <a:spcBef>
                <a:spcPts val="0"/>
              </a:spcBef>
              <a:spcAft>
                <a:spcPts val="0"/>
              </a:spcAft>
              <a:buNone/>
            </a:pPr>
            <a:r>
              <a:rPr lang="es-PE"/>
              <a:t>Paso 6: Monitoreo y mejora continua</a:t>
            </a:r>
            <a:endParaRPr/>
          </a:p>
          <a:p>
            <a:pPr marL="0" lvl="0" indent="-88900" algn="l" rtl="0">
              <a:spcBef>
                <a:spcPts val="0"/>
              </a:spcBef>
              <a:spcAft>
                <a:spcPts val="0"/>
              </a:spcAft>
              <a:buSzPts val="1400"/>
              <a:buChar char="•"/>
            </a:pPr>
            <a:r>
              <a:rPr lang="es-PE"/>
              <a:t>Establecer un proceso de monitoreo continuo para evaluar el progreso hacia los objetivos establecidos y realizar ajustes según sea necesario.</a:t>
            </a:r>
            <a:endParaRPr/>
          </a:p>
          <a:p>
            <a:pPr marL="0" lvl="0" indent="-88900" algn="l" rtl="0">
              <a:spcBef>
                <a:spcPts val="0"/>
              </a:spcBef>
              <a:spcAft>
                <a:spcPts val="0"/>
              </a:spcAft>
              <a:buSzPts val="1400"/>
              <a:buChar char="•"/>
            </a:pPr>
            <a:r>
              <a:rPr lang="es-PE"/>
              <a:t>Fomentar una cultura de mejora continua en toda la empresa para garantizar que la dirección estratégica de datos siga siendo relevante y efectiva a lo largo del tiempo.</a:t>
            </a:r>
            <a:endParaRPr/>
          </a:p>
        </p:txBody>
      </p:sp>
      <p:sp>
        <p:nvSpPr>
          <p:cNvPr id="198" name="Google Shape;198;p2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13DB0F3F-0971-BD39-0A46-AFBDA110B9F6}"/>
            </a:ext>
          </a:extLst>
        </p:cNvPr>
        <p:cNvGrpSpPr/>
        <p:nvPr/>
      </p:nvGrpSpPr>
      <p:grpSpPr>
        <a:xfrm>
          <a:off x="0" y="0"/>
          <a:ext cx="0" cy="0"/>
          <a:chOff x="0" y="0"/>
          <a:chExt cx="0" cy="0"/>
        </a:xfrm>
      </p:grpSpPr>
      <p:sp>
        <p:nvSpPr>
          <p:cNvPr id="162" name="Google Shape;162;p9:notes">
            <a:extLst>
              <a:ext uri="{FF2B5EF4-FFF2-40B4-BE49-F238E27FC236}">
                <a16:creationId xmlns:a16="http://schemas.microsoft.com/office/drawing/2014/main" id="{75E1FCE0-06BD-6891-F7A1-DA4DEA388CD0}"/>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9:notes">
            <a:extLst>
              <a:ext uri="{FF2B5EF4-FFF2-40B4-BE49-F238E27FC236}">
                <a16:creationId xmlns:a16="http://schemas.microsoft.com/office/drawing/2014/main" id="{968FBAFD-1EC9-A6C4-60C4-52AC92E3FC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4" name="Google Shape;164;p9:notes">
            <a:extLst>
              <a:ext uri="{FF2B5EF4-FFF2-40B4-BE49-F238E27FC236}">
                <a16:creationId xmlns:a16="http://schemas.microsoft.com/office/drawing/2014/main" id="{6EF215BD-0A3D-FBE3-C40C-E42C122C911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22</a:t>
            </a:fld>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8881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2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1. Objetivos claros y alcance definido:</a:t>
            </a:r>
            <a:endParaRPr/>
          </a:p>
          <a:p>
            <a:pPr marL="0" lvl="0" indent="-88900" algn="l" rtl="0">
              <a:spcBef>
                <a:spcPts val="0"/>
              </a:spcBef>
              <a:spcAft>
                <a:spcPts val="0"/>
              </a:spcAft>
              <a:buSzPts val="1400"/>
              <a:buChar char="•"/>
            </a:pPr>
            <a:r>
              <a:rPr lang="es-PE"/>
              <a:t> Se definen los objetivos específicos que se desean lograr con la implementación de la dirección estratégica de datos.</a:t>
            </a:r>
            <a:endParaRPr/>
          </a:p>
          <a:p>
            <a:pPr marL="0" lvl="0" indent="-88900" algn="l" rtl="0">
              <a:spcBef>
                <a:spcPts val="0"/>
              </a:spcBef>
              <a:spcAft>
                <a:spcPts val="0"/>
              </a:spcAft>
              <a:buSzPts val="1400"/>
              <a:buChar char="•"/>
            </a:pPr>
            <a:r>
              <a:rPr lang="es-PE"/>
              <a:t> Se establece el alcance de la dirección estratégica de datos, determinando qué áreas de la organización se verán afectadas y qué recursos serán necesarios.</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s-PE"/>
              <a:t>2. Recursos Disponibles:</a:t>
            </a:r>
            <a:endParaRPr/>
          </a:p>
          <a:p>
            <a:pPr marL="0" lvl="0" indent="-88900" algn="l" rtl="0">
              <a:spcBef>
                <a:spcPts val="0"/>
              </a:spcBef>
              <a:spcAft>
                <a:spcPts val="0"/>
              </a:spcAft>
              <a:buSzPts val="1400"/>
              <a:buChar char="•"/>
            </a:pPr>
            <a:r>
              <a:rPr lang="es-PE"/>
              <a:t> Se evalúan los recursos financieros, humanos y tecnológicos disponibles para el proyecto.</a:t>
            </a:r>
            <a:endParaRPr/>
          </a:p>
          <a:p>
            <a:pPr marL="0" lvl="0" indent="-88900" algn="l" rtl="0">
              <a:spcBef>
                <a:spcPts val="0"/>
              </a:spcBef>
              <a:spcAft>
                <a:spcPts val="0"/>
              </a:spcAft>
              <a:buSzPts val="1400"/>
              <a:buChar char="•"/>
            </a:pPr>
            <a:r>
              <a:rPr lang="es-PE"/>
              <a:t> Se determina si la empresa cuenta con los recursos necesarios internamente o si se requerirá inversión adicional.</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s-PE"/>
              <a:t>3. Análisis costo-beneficio:</a:t>
            </a:r>
            <a:endParaRPr/>
          </a:p>
          <a:p>
            <a:pPr marL="0" lvl="0" indent="-88900" algn="l" rtl="0">
              <a:spcBef>
                <a:spcPts val="0"/>
              </a:spcBef>
              <a:spcAft>
                <a:spcPts val="0"/>
              </a:spcAft>
              <a:buSzPts val="1400"/>
              <a:buChar char="•"/>
            </a:pPr>
            <a:r>
              <a:rPr lang="es-PE"/>
              <a:t> Se realizan análisis detallados de los costos asociados con la implementación, incluyendo costos iniciales y continuos.</a:t>
            </a:r>
            <a:endParaRPr/>
          </a:p>
          <a:p>
            <a:pPr marL="0" lvl="0" indent="-88900" algn="l" rtl="0">
              <a:spcBef>
                <a:spcPts val="0"/>
              </a:spcBef>
              <a:spcAft>
                <a:spcPts val="0"/>
              </a:spcAft>
              <a:buSzPts val="1400"/>
              <a:buChar char="•"/>
            </a:pPr>
            <a:r>
              <a:rPr lang="es-PE"/>
              <a:t> Se identifican los posibles beneficios esperados, como mejoras en la eficiencia operativa, ahorro de costos y aumento de ingresos.</a:t>
            </a:r>
            <a:endParaRPr/>
          </a:p>
          <a:p>
            <a:pPr marL="0" lvl="0" indent="0" algn="just" rtl="0">
              <a:spcBef>
                <a:spcPts val="0"/>
              </a:spcBef>
              <a:spcAft>
                <a:spcPts val="0"/>
              </a:spcAft>
              <a:buNone/>
            </a:pPr>
            <a:endParaRPr sz="1200">
              <a:latin typeface="Arial"/>
              <a:ea typeface="Arial"/>
              <a:cs typeface="Arial"/>
              <a:sym typeface="Arial"/>
            </a:endParaRPr>
          </a:p>
        </p:txBody>
      </p:sp>
      <p:sp>
        <p:nvSpPr>
          <p:cNvPr id="223" name="Google Shape;223;p2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23</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2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br>
              <a:rPr lang="es-PE"/>
            </a:br>
            <a:endParaRPr>
              <a:latin typeface="Arial"/>
              <a:ea typeface="Arial"/>
              <a:cs typeface="Arial"/>
              <a:sym typeface="Arial"/>
            </a:endParaRPr>
          </a:p>
        </p:txBody>
      </p:sp>
      <p:sp>
        <p:nvSpPr>
          <p:cNvPr id="247" name="Google Shape;247;p2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2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b="0" i="0">
              <a:solidFill>
                <a:srgbClr val="0D0D0D"/>
              </a:solidFill>
              <a:highlight>
                <a:srgbClr val="FFFFFF"/>
              </a:highlight>
              <a:latin typeface="Arial"/>
              <a:ea typeface="Arial"/>
              <a:cs typeface="Arial"/>
              <a:sym typeface="Arial"/>
            </a:endParaRPr>
          </a:p>
        </p:txBody>
      </p:sp>
      <p:sp>
        <p:nvSpPr>
          <p:cNvPr id="266" name="Google Shape;266;p2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25</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p2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D0D0D"/>
              </a:buClr>
              <a:buSzPts val="1200"/>
              <a:buFont typeface="Arial"/>
              <a:buNone/>
            </a:pPr>
            <a:r>
              <a:rPr lang="es-PE"/>
              <a:t>Resistencia al Cambio: El personal puede mostrar resistencia al adoptar nuevas prácticas y tecnologías relacionadas con la gestión de datos.</a:t>
            </a:r>
            <a:endParaRPr/>
          </a:p>
          <a:p>
            <a:pPr marL="0" lvl="0" indent="0" algn="l" rtl="0">
              <a:spcBef>
                <a:spcPts val="0"/>
              </a:spcBef>
              <a:spcAft>
                <a:spcPts val="0"/>
              </a:spcAft>
              <a:buClr>
                <a:srgbClr val="0D0D0D"/>
              </a:buClr>
              <a:buSzPts val="1200"/>
              <a:buFont typeface="Arial"/>
              <a:buNone/>
            </a:pPr>
            <a:r>
              <a:rPr lang="es-PE"/>
              <a:t>La falta de capacitación adecuada y comunicación sobre los beneficios del cambio puede dificultar la aceptación y la adopción por parte del personal.</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rgbClr val="0D0D0D"/>
              </a:buClr>
              <a:buSzPts val="1200"/>
              <a:buFont typeface="Arial"/>
              <a:buNone/>
            </a:pPr>
            <a:r>
              <a:rPr lang="es-PE"/>
              <a:t>Procesos Ineficientes: La implementación de nuevas soluciones de gestión de datos puede revelar deficiencias en los procesos operativos existentes. Esto puede llevar a una interrupción temporal de las operaciones y requerir ajustes en los procesos para garantizar la eficiencia.</a:t>
            </a:r>
            <a:endParaRPr/>
          </a:p>
          <a:p>
            <a:pPr marL="0" marR="0" lvl="0" indent="0" algn="l" rtl="0">
              <a:lnSpc>
                <a:spcPct val="100000"/>
              </a:lnSpc>
              <a:spcBef>
                <a:spcPts val="0"/>
              </a:spcBef>
              <a:spcAft>
                <a:spcPts val="0"/>
              </a:spcAft>
              <a:buClr>
                <a:schemeClr val="dk1"/>
              </a:buClr>
              <a:buSzPts val="1200"/>
              <a:buFont typeface="Calibri"/>
              <a:buNone/>
            </a:pPr>
            <a:endParaRPr b="0" i="0">
              <a:solidFill>
                <a:srgbClr val="0D0D0D"/>
              </a:solidFill>
              <a:highlight>
                <a:srgbClr val="FFFFFF"/>
              </a:highlight>
              <a:latin typeface="Arial"/>
              <a:ea typeface="Arial"/>
              <a:cs typeface="Arial"/>
              <a:sym typeface="Arial"/>
            </a:endParaRPr>
          </a:p>
        </p:txBody>
      </p:sp>
      <p:sp>
        <p:nvSpPr>
          <p:cNvPr id="274" name="Google Shape;274;p2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26</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2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88900" algn="l" rtl="0">
              <a:spcBef>
                <a:spcPts val="0"/>
              </a:spcBef>
              <a:spcAft>
                <a:spcPts val="0"/>
              </a:spcAft>
              <a:buSzPts val="1400"/>
              <a:buChar char="•"/>
            </a:pPr>
            <a:r>
              <a:rPr lang="es-PE"/>
              <a:t>Presupuesto Insuficiente: La subestimación de los costos asociados con la implementación de la dirección estratégica de datos puede llevar a desviaciones presupuestarias y problemas financieros. Es importante realizar una planificación financiera detallada y considerar todos los costos involucrados.</a:t>
            </a:r>
            <a:endParaRPr/>
          </a:p>
          <a:p>
            <a:pPr marL="0" lvl="0" indent="0" algn="l" rtl="0">
              <a:spcBef>
                <a:spcPts val="0"/>
              </a:spcBef>
              <a:spcAft>
                <a:spcPts val="0"/>
              </a:spcAft>
              <a:buClr>
                <a:schemeClr val="dk1"/>
              </a:buClr>
              <a:buSzPts val="1200"/>
              <a:buFont typeface="Arial"/>
              <a:buNone/>
            </a:pPr>
            <a:endParaRPr/>
          </a:p>
          <a:p>
            <a:pPr marL="0" lvl="0" indent="-88900" algn="l" rtl="0">
              <a:spcBef>
                <a:spcPts val="0"/>
              </a:spcBef>
              <a:spcAft>
                <a:spcPts val="0"/>
              </a:spcAft>
              <a:buSzPts val="1400"/>
              <a:buChar char="•"/>
            </a:pPr>
            <a:r>
              <a:rPr lang="es-PE"/>
              <a:t>Retorno de la Inversión (ROI) Negativo: Existe el riesgo de que los beneficios esperados de la implementación no se materialicen en el tiempo esperado, lo que resulta en un ROI negativo. Esto puede ocurrir si los objetivos del proyecto no están claramente definidos o si no se logran los resultados esperados.</a:t>
            </a:r>
            <a:endParaRPr/>
          </a:p>
          <a:p>
            <a:pPr marL="0" marR="0" lvl="0" indent="0" algn="l" rtl="0">
              <a:lnSpc>
                <a:spcPct val="100000"/>
              </a:lnSpc>
              <a:spcBef>
                <a:spcPts val="0"/>
              </a:spcBef>
              <a:spcAft>
                <a:spcPts val="0"/>
              </a:spcAft>
              <a:buClr>
                <a:schemeClr val="dk1"/>
              </a:buClr>
              <a:buSzPts val="1200"/>
              <a:buFont typeface="Calibri"/>
              <a:buNone/>
            </a:pPr>
            <a:endParaRPr b="0" i="0">
              <a:solidFill>
                <a:srgbClr val="0D0D0D"/>
              </a:solidFill>
              <a:highlight>
                <a:srgbClr val="FFFFFF"/>
              </a:highlight>
              <a:latin typeface="Arial"/>
              <a:ea typeface="Arial"/>
              <a:cs typeface="Arial"/>
              <a:sym typeface="Arial"/>
            </a:endParaRPr>
          </a:p>
        </p:txBody>
      </p:sp>
      <p:sp>
        <p:nvSpPr>
          <p:cNvPr id="282" name="Google Shape;282;p2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27</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11E7A7C-774C-D7BE-351F-BE34EE873F14}"/>
            </a:ext>
          </a:extLst>
        </p:cNvPr>
        <p:cNvGrpSpPr/>
        <p:nvPr/>
      </p:nvGrpSpPr>
      <p:grpSpPr>
        <a:xfrm>
          <a:off x="0" y="0"/>
          <a:ext cx="0" cy="0"/>
          <a:chOff x="0" y="0"/>
          <a:chExt cx="0" cy="0"/>
        </a:xfrm>
      </p:grpSpPr>
      <p:sp>
        <p:nvSpPr>
          <p:cNvPr id="112" name="Google Shape;112;p5:notes">
            <a:extLst>
              <a:ext uri="{FF2B5EF4-FFF2-40B4-BE49-F238E27FC236}">
                <a16:creationId xmlns:a16="http://schemas.microsoft.com/office/drawing/2014/main" id="{31C32572-6570-D133-53E7-EAFD2EE0F9F4}"/>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5:notes">
            <a:extLst>
              <a:ext uri="{FF2B5EF4-FFF2-40B4-BE49-F238E27FC236}">
                <a16:creationId xmlns:a16="http://schemas.microsoft.com/office/drawing/2014/main" id="{0AEEF34D-7450-4C2D-74F9-96FD796554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4" name="Google Shape;114;p5:notes">
            <a:extLst>
              <a:ext uri="{FF2B5EF4-FFF2-40B4-BE49-F238E27FC236}">
                <a16:creationId xmlns:a16="http://schemas.microsoft.com/office/drawing/2014/main" id="{F0E36A5C-A98A-5FB9-A7E7-CB33BDDA766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29</a:t>
            </a:fld>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54059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0B440EC-BBC9-824A-4820-1CCC9D777EB6}"/>
            </a:ext>
          </a:extLst>
        </p:cNvPr>
        <p:cNvGrpSpPr/>
        <p:nvPr/>
      </p:nvGrpSpPr>
      <p:grpSpPr>
        <a:xfrm>
          <a:off x="0" y="0"/>
          <a:ext cx="0" cy="0"/>
          <a:chOff x="0" y="0"/>
          <a:chExt cx="0" cy="0"/>
        </a:xfrm>
      </p:grpSpPr>
      <p:sp>
        <p:nvSpPr>
          <p:cNvPr id="112" name="Google Shape;112;p5:notes">
            <a:extLst>
              <a:ext uri="{FF2B5EF4-FFF2-40B4-BE49-F238E27FC236}">
                <a16:creationId xmlns:a16="http://schemas.microsoft.com/office/drawing/2014/main" id="{74E03FB3-17CE-D23E-05BA-C9003A021008}"/>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5:notes">
            <a:extLst>
              <a:ext uri="{FF2B5EF4-FFF2-40B4-BE49-F238E27FC236}">
                <a16:creationId xmlns:a16="http://schemas.microsoft.com/office/drawing/2014/main" id="{8DF7B838-8DC7-2B36-31AF-CA55B3857F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4" name="Google Shape;114;p5:notes">
            <a:extLst>
              <a:ext uri="{FF2B5EF4-FFF2-40B4-BE49-F238E27FC236}">
                <a16:creationId xmlns:a16="http://schemas.microsoft.com/office/drawing/2014/main" id="{161CFE1A-9D24-43FD-17A1-06AA950349B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31</a:t>
            </a:fld>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8387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s-PE" sz="1200" b="0" i="0" u="none" strike="noStrike" cap="none" smtClean="0">
                <a:solidFill>
                  <a:schemeClr val="dk1"/>
                </a:solidFill>
                <a:latin typeface="Calibri"/>
                <a:ea typeface="Calibri"/>
                <a:cs typeface="Calibri"/>
                <a:sym typeface="Calibri"/>
              </a:rPr>
              <a:t>32</a:t>
            </a:fld>
            <a:endParaRPr lang="es-P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554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ema - 1 Imagen A">
  <p:cSld name="Subtema - 1 Imagen A">
    <p:spTree>
      <p:nvGrpSpPr>
        <p:cNvPr id="1"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userDrawn="1">
  <p:cSld name="OBJECT">
    <p:spTree>
      <p:nvGrpSpPr>
        <p:cNvPr id="1" name="Shape 18"/>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5" name="Imagen 4">
            <a:extLst>
              <a:ext uri="{FF2B5EF4-FFF2-40B4-BE49-F238E27FC236}">
                <a16:creationId xmlns:a16="http://schemas.microsoft.com/office/drawing/2014/main" id="{948E5392-706A-EC74-2F94-1FC68A3F36C0}"/>
              </a:ext>
            </a:extLst>
          </p:cNvPr>
          <p:cNvPicPr>
            <a:picLocks noChangeAspect="1"/>
          </p:cNvPicPr>
          <p:nvPr userDrawn="1"/>
        </p:nvPicPr>
        <p:blipFill>
          <a:blip r:embed="rId6">
            <a:alphaModFix amt="64000"/>
          </a:blip>
          <a:stretch>
            <a:fillRect/>
          </a:stretch>
        </p:blipFill>
        <p:spPr>
          <a:xfrm>
            <a:off x="7930183" y="360932"/>
            <a:ext cx="745505" cy="120081"/>
          </a:xfrm>
          <a:prstGeom prst="rect">
            <a:avLst/>
          </a:prstGeom>
        </p:spPr>
      </p:pic>
      <p:sp>
        <p:nvSpPr>
          <p:cNvPr id="6" name="Google Shape;10;p94">
            <a:extLst>
              <a:ext uri="{FF2B5EF4-FFF2-40B4-BE49-F238E27FC236}">
                <a16:creationId xmlns:a16="http://schemas.microsoft.com/office/drawing/2014/main" id="{00C0CE56-E1EC-8E60-7F2C-5D970B1EA50C}"/>
              </a:ext>
            </a:extLst>
          </p:cNvPr>
          <p:cNvSpPr/>
          <p:nvPr userDrawn="1"/>
        </p:nvSpPr>
        <p:spPr>
          <a:xfrm>
            <a:off x="7396149" y="5393577"/>
            <a:ext cx="1369286" cy="18466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PE" sz="600" b="0" i="0" u="none" strike="noStrike" cap="none" dirty="0">
                <a:solidFill>
                  <a:schemeClr val="bg1">
                    <a:lumMod val="75000"/>
                  </a:schemeClr>
                </a:solidFill>
                <a:latin typeface="Calibri"/>
                <a:ea typeface="Calibri"/>
                <a:cs typeface="Calibri"/>
                <a:sym typeface="Calibri"/>
              </a:rPr>
              <a:t>© ISIL. Todos los derechos reservados</a:t>
            </a:r>
            <a:endParaRPr b="0" i="0" dirty="0">
              <a:solidFill>
                <a:schemeClr val="bg1">
                  <a:lumMod val="75000"/>
                </a:schemeClr>
              </a:solidFill>
              <a:latin typeface="Calibri" panose="020F0502020204030204" pitchFamily="34" charset="0"/>
              <a:cs typeface="Calibri" panose="020F0502020204030204" pitchFamily="34" charset="0"/>
            </a:endParaRPr>
          </a:p>
        </p:txBody>
      </p:sp>
      <p:sp>
        <p:nvSpPr>
          <p:cNvPr id="7" name="Google Shape;11;p94">
            <a:extLst>
              <a:ext uri="{FF2B5EF4-FFF2-40B4-BE49-F238E27FC236}">
                <a16:creationId xmlns:a16="http://schemas.microsoft.com/office/drawing/2014/main" id="{C3785878-EC4E-9272-8FBE-08B0D8797543}"/>
              </a:ext>
            </a:extLst>
          </p:cNvPr>
          <p:cNvSpPr txBox="1"/>
          <p:nvPr userDrawn="1"/>
        </p:nvSpPr>
        <p:spPr>
          <a:xfrm>
            <a:off x="503238" y="5384365"/>
            <a:ext cx="2796556" cy="200014"/>
          </a:xfrm>
          <a:prstGeom prst="rect">
            <a:avLst/>
          </a:prstGeom>
          <a:noFill/>
          <a:ln>
            <a:noFill/>
          </a:ln>
        </p:spPr>
        <p:txBody>
          <a:bodyPr spcFirstLastPara="1" wrap="square" lIns="0"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PE" sz="700" b="0" i="0" u="none" strike="noStrike" cap="none" dirty="0">
                <a:solidFill>
                  <a:schemeClr val="bg1">
                    <a:lumMod val="75000"/>
                  </a:schemeClr>
                </a:solidFill>
                <a:latin typeface="Calibri"/>
                <a:ea typeface="Calibri"/>
                <a:cs typeface="Calibri"/>
                <a:sym typeface="Calibri"/>
              </a:rPr>
              <a:t>DIRECCIÓN ESTRATÉGICA DE DATOS  •  TEMA 02</a:t>
            </a:r>
            <a:endParaRPr sz="700" dirty="0">
              <a:solidFill>
                <a:schemeClr val="bg1">
                  <a:lumMod val="75000"/>
                </a:schemeClr>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userDrawn="1">
          <p15:clr>
            <a:srgbClr val="F26B43"/>
          </p15:clr>
        </p15:guide>
        <p15:guide id="2" orient="horz" pos="3297" userDrawn="1">
          <p15:clr>
            <a:srgbClr val="F26B43"/>
          </p15:clr>
        </p15:guide>
        <p15:guide id="3" pos="4513" userDrawn="1">
          <p15:clr>
            <a:srgbClr val="F26B43"/>
          </p15:clr>
        </p15:guide>
        <p15:guide id="4" orient="horz" pos="303" userDrawn="1">
          <p15:clr>
            <a:srgbClr val="F26B43"/>
          </p15:clr>
        </p15:guide>
        <p15:guide id="5" pos="2767" userDrawn="1">
          <p15:clr>
            <a:srgbClr val="F26B43"/>
          </p15:clr>
        </p15:guide>
        <p15:guide id="6" pos="5465" userDrawn="1">
          <p15:clr>
            <a:srgbClr val="F26B43"/>
          </p15:clr>
        </p15:guide>
        <p15:guide id="7" pos="2993" userDrawn="1">
          <p15:clr>
            <a:srgbClr val="F26B43"/>
          </p15:clr>
        </p15:guide>
        <p15:guide id="8" pos="3447" userDrawn="1">
          <p15:clr>
            <a:srgbClr val="F26B43"/>
          </p15:clr>
        </p15:guide>
        <p15:guide id="9" pos="317" userDrawn="1">
          <p15:clr>
            <a:srgbClr val="F26B43"/>
          </p15:clr>
        </p15:guide>
        <p15:guide id="10" orient="horz" pos="57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microsoft.com/office/2007/relationships/hdphoto" Target="../media/hdphoto3.wdp"/><Relationship Id="rId5" Type="http://schemas.microsoft.com/office/2007/relationships/hdphoto" Target="../media/hdphoto2.wdp"/><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3.emf"/><Relationship Id="rId4" Type="http://schemas.openxmlformats.org/officeDocument/2006/relationships/image" Target="../media/image22.emf"/></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1FD85-E576-CA75-C05B-05E437156985}"/>
            </a:ext>
          </a:extLst>
        </p:cNvPr>
        <p:cNvGrpSpPr/>
        <p:nvPr/>
      </p:nvGrpSpPr>
      <p:grpSpPr>
        <a:xfrm>
          <a:off x="0" y="0"/>
          <a:ext cx="0" cy="0"/>
          <a:chOff x="0" y="0"/>
          <a:chExt cx="0" cy="0"/>
        </a:xfrm>
      </p:grpSpPr>
      <p:sp>
        <p:nvSpPr>
          <p:cNvPr id="4" name="Google Shape;48;p1">
            <a:extLst>
              <a:ext uri="{FF2B5EF4-FFF2-40B4-BE49-F238E27FC236}">
                <a16:creationId xmlns:a16="http://schemas.microsoft.com/office/drawing/2014/main" id="{9B970A16-E07B-8DF9-2D61-C251B6348BFA}"/>
              </a:ext>
            </a:extLst>
          </p:cNvPr>
          <p:cNvSpPr/>
          <p:nvPr/>
        </p:nvSpPr>
        <p:spPr>
          <a:xfrm>
            <a:off x="5142975" y="1884858"/>
            <a:ext cx="2636682" cy="110799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2000" dirty="0">
                <a:solidFill>
                  <a:srgbClr val="EFC68E"/>
                </a:solidFill>
                <a:latin typeface="Graphik Bold" panose="020B0503030202060203" pitchFamily="34" charset="77"/>
                <a:cs typeface="Calibri" panose="020F0502020204030204" pitchFamily="34" charset="0"/>
              </a:rPr>
              <a:t>T02.</a:t>
            </a:r>
          </a:p>
          <a:p>
            <a:pPr>
              <a:lnSpc>
                <a:spcPct val="90000"/>
              </a:lnSpc>
            </a:pPr>
            <a:r>
              <a:rPr lang="es-PE" sz="2000" dirty="0">
                <a:latin typeface="Graphik Medium" panose="020B0503030202060203" pitchFamily="34" charset="77"/>
                <a:cs typeface="Arial Black" panose="020B0604020202020204" pitchFamily="34" charset="0"/>
              </a:rPr>
              <a:t>MODELOS DE </a:t>
            </a:r>
            <a:r>
              <a:rPr lang="es-PE" sz="2000" b="1" dirty="0">
                <a:latin typeface="Graphik Bold" panose="020B0503030202060203" pitchFamily="34" charset="77"/>
                <a:cs typeface="Arial Black" panose="020B0604020202020204" pitchFamily="34" charset="0"/>
              </a:rPr>
              <a:t>NEGOCIO BASADOS EN DATOS</a:t>
            </a:r>
          </a:p>
        </p:txBody>
      </p:sp>
      <p:sp>
        <p:nvSpPr>
          <p:cNvPr id="5" name="Google Shape;48;p1">
            <a:extLst>
              <a:ext uri="{FF2B5EF4-FFF2-40B4-BE49-F238E27FC236}">
                <a16:creationId xmlns:a16="http://schemas.microsoft.com/office/drawing/2014/main" id="{9923E08B-1257-FDF9-0D57-0CDC02B6CFA6}"/>
              </a:ext>
            </a:extLst>
          </p:cNvPr>
          <p:cNvSpPr/>
          <p:nvPr/>
        </p:nvSpPr>
        <p:spPr>
          <a:xfrm>
            <a:off x="5306638" y="3262109"/>
            <a:ext cx="3369050" cy="1548116"/>
          </a:xfrm>
          <a:prstGeom prst="rect">
            <a:avLst/>
          </a:prstGeom>
          <a:noFill/>
          <a:ln>
            <a:noFill/>
          </a:ln>
        </p:spPr>
        <p:txBody>
          <a:bodyPr spcFirstLastPara="1" wrap="square" lIns="0" tIns="0" rIns="0" bIns="0" anchor="t" anchorCtr="0">
            <a:spAutoFit/>
          </a:bodyPr>
          <a:lstStyle/>
          <a:p>
            <a:pPr lvl="0">
              <a:lnSpc>
                <a:spcPct val="90000"/>
              </a:lnSpc>
              <a:spcAft>
                <a:spcPts val="600"/>
              </a:spcAft>
              <a:buClr>
                <a:srgbClr val="05AAE6"/>
              </a:buClr>
            </a:pPr>
            <a:r>
              <a:rPr lang="es-PE" sz="1200" dirty="0">
                <a:solidFill>
                  <a:srgbClr val="D7A06F"/>
                </a:solidFill>
                <a:latin typeface="Calibri" panose="020F0502020204030204" pitchFamily="34" charset="0"/>
                <a:cs typeface="Calibri" panose="020F0502020204030204" pitchFamily="34" charset="0"/>
                <a:sym typeface="Arial"/>
              </a:rPr>
              <a:t>1. </a:t>
            </a:r>
            <a:r>
              <a:rPr lang="es-PE" sz="1200" dirty="0">
                <a:solidFill>
                  <a:schemeClr val="tx1"/>
                </a:solidFill>
                <a:latin typeface="Calibri" panose="020F0502020204030204" pitchFamily="34" charset="0"/>
                <a:cs typeface="Calibri" panose="020F0502020204030204" pitchFamily="34" charset="0"/>
                <a:sym typeface="Arial"/>
              </a:rPr>
              <a:t>Análisis de casos de éxito</a:t>
            </a:r>
          </a:p>
          <a:p>
            <a:pPr lvl="0">
              <a:lnSpc>
                <a:spcPct val="90000"/>
              </a:lnSpc>
              <a:spcAft>
                <a:spcPts val="600"/>
              </a:spcAft>
              <a:buClr>
                <a:srgbClr val="05AAE6"/>
              </a:buClr>
            </a:pPr>
            <a:r>
              <a:rPr lang="es-PE" sz="1200" dirty="0">
                <a:solidFill>
                  <a:srgbClr val="D7A06F"/>
                </a:solidFill>
                <a:latin typeface="Calibri" panose="020F0502020204030204" pitchFamily="34" charset="0"/>
                <a:cs typeface="Calibri" panose="020F0502020204030204" pitchFamily="34" charset="0"/>
              </a:rPr>
              <a:t>2. </a:t>
            </a:r>
            <a:r>
              <a:rPr lang="es-PE" sz="1200" dirty="0">
                <a:solidFill>
                  <a:schemeClr val="tx1"/>
                </a:solidFill>
                <a:latin typeface="Calibri" panose="020F0502020204030204" pitchFamily="34" charset="0"/>
                <a:cs typeface="Calibri" panose="020F0502020204030204" pitchFamily="34" charset="0"/>
                <a:sym typeface="Arial"/>
              </a:rPr>
              <a:t>Ejemplos prácticos en diferentes industrias</a:t>
            </a:r>
          </a:p>
          <a:p>
            <a:pPr marL="147600" lvl="0" indent="-179388">
              <a:lnSpc>
                <a:spcPct val="90000"/>
              </a:lnSpc>
              <a:spcAft>
                <a:spcPts val="600"/>
              </a:spcAft>
              <a:buClr>
                <a:srgbClr val="05AAE6"/>
              </a:buClr>
            </a:pPr>
            <a:r>
              <a:rPr lang="es-PE" sz="1200" dirty="0">
                <a:solidFill>
                  <a:srgbClr val="D7A06F"/>
                </a:solidFill>
                <a:latin typeface="Calibri" panose="020F0502020204030204" pitchFamily="34" charset="0"/>
                <a:cs typeface="Calibri" panose="020F0502020204030204" pitchFamily="34" charset="0"/>
              </a:rPr>
              <a:t>3. </a:t>
            </a:r>
            <a:r>
              <a:rPr lang="es-PE" sz="1200" dirty="0">
                <a:solidFill>
                  <a:schemeClr val="tx1"/>
                </a:solidFill>
                <a:latin typeface="Calibri" panose="020F0502020204030204" pitchFamily="34" charset="0"/>
                <a:cs typeface="Calibri" panose="020F0502020204030204" pitchFamily="34" charset="0"/>
                <a:sym typeface="Arial"/>
              </a:rPr>
              <a:t>Sesión de lluvia de ideas para identificar modelos de negocio</a:t>
            </a:r>
          </a:p>
          <a:p>
            <a:pPr marL="154800" lvl="0" indent="-322263">
              <a:lnSpc>
                <a:spcPct val="90000"/>
              </a:lnSpc>
              <a:spcAft>
                <a:spcPts val="600"/>
              </a:spcAft>
              <a:buClr>
                <a:srgbClr val="05AAE6"/>
              </a:buClr>
            </a:pPr>
            <a:r>
              <a:rPr lang="es-PE" sz="1200" dirty="0">
                <a:solidFill>
                  <a:srgbClr val="D7A06F"/>
                </a:solidFill>
                <a:latin typeface="Calibri" panose="020F0502020204030204" pitchFamily="34" charset="0"/>
                <a:cs typeface="Calibri" panose="020F0502020204030204" pitchFamily="34" charset="0"/>
              </a:rPr>
              <a:t>4. </a:t>
            </a:r>
            <a:r>
              <a:rPr lang="es-PE" sz="1200" dirty="0">
                <a:solidFill>
                  <a:schemeClr val="tx1"/>
                </a:solidFill>
                <a:latin typeface="Calibri" panose="020F0502020204030204" pitchFamily="34" charset="0"/>
                <a:cs typeface="Calibri" panose="020F0502020204030204" pitchFamily="34" charset="0"/>
                <a:sym typeface="Arial"/>
              </a:rPr>
              <a:t>Planificación de implementación en empresas ficticias</a:t>
            </a:r>
          </a:p>
          <a:p>
            <a:pPr lvl="0">
              <a:lnSpc>
                <a:spcPct val="90000"/>
              </a:lnSpc>
              <a:spcAft>
                <a:spcPts val="600"/>
              </a:spcAft>
              <a:buClr>
                <a:srgbClr val="05AAE6"/>
              </a:buClr>
            </a:pPr>
            <a:r>
              <a:rPr lang="es-PE" sz="1200" dirty="0">
                <a:solidFill>
                  <a:srgbClr val="D7A06F"/>
                </a:solidFill>
                <a:latin typeface="Calibri" panose="020F0502020204030204" pitchFamily="34" charset="0"/>
                <a:cs typeface="Calibri" panose="020F0502020204030204" pitchFamily="34" charset="0"/>
              </a:rPr>
              <a:t>5. </a:t>
            </a:r>
            <a:r>
              <a:rPr lang="es-PE" sz="1200" dirty="0">
                <a:solidFill>
                  <a:schemeClr val="tx1"/>
                </a:solidFill>
                <a:latin typeface="Calibri" panose="020F0502020204030204" pitchFamily="34" charset="0"/>
                <a:cs typeface="Calibri" panose="020F0502020204030204" pitchFamily="34" charset="0"/>
                <a:sym typeface="Arial"/>
              </a:rPr>
              <a:t>Evaluación de la viabilidad y riesgos asociados</a:t>
            </a:r>
          </a:p>
        </p:txBody>
      </p:sp>
      <p:sp>
        <p:nvSpPr>
          <p:cNvPr id="6" name="Triángulo 5">
            <a:extLst>
              <a:ext uri="{FF2B5EF4-FFF2-40B4-BE49-F238E27FC236}">
                <a16:creationId xmlns:a16="http://schemas.microsoft.com/office/drawing/2014/main" id="{238226CD-AF90-39D0-EE6A-9D78ED3586A0}"/>
              </a:ext>
            </a:extLst>
          </p:cNvPr>
          <p:cNvSpPr/>
          <p:nvPr/>
        </p:nvSpPr>
        <p:spPr>
          <a:xfrm rot="5400000">
            <a:off x="5136152" y="3289511"/>
            <a:ext cx="98906" cy="85264"/>
          </a:xfrm>
          <a:prstGeom prst="triangle">
            <a:avLst/>
          </a:prstGeom>
          <a:solidFill>
            <a:srgbClr val="EFC6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17" name="Conector recto 16">
            <a:extLst>
              <a:ext uri="{FF2B5EF4-FFF2-40B4-BE49-F238E27FC236}">
                <a16:creationId xmlns:a16="http://schemas.microsoft.com/office/drawing/2014/main" id="{3FB5834D-497D-4D98-EFD3-FA2C98E94841}"/>
              </a:ext>
            </a:extLst>
          </p:cNvPr>
          <p:cNvCxnSpPr>
            <a:cxnSpLocks/>
          </p:cNvCxnSpPr>
          <p:nvPr/>
        </p:nvCxnSpPr>
        <p:spPr>
          <a:xfrm flipH="1">
            <a:off x="5142974" y="3693913"/>
            <a:ext cx="3532714"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1D1A183A-CD78-115D-10CB-6F176528D823}"/>
              </a:ext>
            </a:extLst>
          </p:cNvPr>
          <p:cNvCxnSpPr>
            <a:cxnSpLocks/>
          </p:cNvCxnSpPr>
          <p:nvPr/>
        </p:nvCxnSpPr>
        <p:spPr>
          <a:xfrm flipH="1">
            <a:off x="5142974" y="4102004"/>
            <a:ext cx="3532714"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E8674779-0CAD-B4C5-340D-A9EAEF401437}"/>
              </a:ext>
            </a:extLst>
          </p:cNvPr>
          <p:cNvCxnSpPr>
            <a:cxnSpLocks/>
          </p:cNvCxnSpPr>
          <p:nvPr/>
        </p:nvCxnSpPr>
        <p:spPr>
          <a:xfrm flipH="1">
            <a:off x="5142974" y="4502838"/>
            <a:ext cx="3532714"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76FA7193-82CD-D315-80AF-C67476766DB3}"/>
              </a:ext>
            </a:extLst>
          </p:cNvPr>
          <p:cNvCxnSpPr>
            <a:cxnSpLocks/>
          </p:cNvCxnSpPr>
          <p:nvPr/>
        </p:nvCxnSpPr>
        <p:spPr>
          <a:xfrm>
            <a:off x="5142974" y="819255"/>
            <a:ext cx="3532714"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Rectángulo 28">
            <a:extLst>
              <a:ext uri="{FF2B5EF4-FFF2-40B4-BE49-F238E27FC236}">
                <a16:creationId xmlns:a16="http://schemas.microsoft.com/office/drawing/2014/main" id="{F7F4D109-6CA2-256C-EFD7-9F7E22897BD9}"/>
              </a:ext>
            </a:extLst>
          </p:cNvPr>
          <p:cNvSpPr/>
          <p:nvPr/>
        </p:nvSpPr>
        <p:spPr>
          <a:xfrm>
            <a:off x="5142974" y="562812"/>
            <a:ext cx="973032" cy="246221"/>
          </a:xfrm>
          <a:prstGeom prst="rect">
            <a:avLst/>
          </a:prstGeom>
          <a:ln>
            <a:noFill/>
          </a:ln>
        </p:spPr>
        <p:txBody>
          <a:bodyPr wrap="square" lIns="0" tIns="0" rIns="0" bIns="0" anchor="ctr">
            <a:spAutoFit/>
          </a:bodyPr>
          <a:lstStyle/>
          <a:p>
            <a:r>
              <a:rPr lang="es-ES_tradnl" sz="1600" dirty="0">
                <a:solidFill>
                  <a:srgbClr val="EFC68E"/>
                </a:solidFill>
                <a:latin typeface="Graphik Bold" panose="020B0503030202060203" pitchFamily="34" charset="77"/>
                <a:cs typeface="Calibri" panose="020F0502020204030204" pitchFamily="34" charset="0"/>
              </a:rPr>
              <a:t>40062</a:t>
            </a:r>
          </a:p>
        </p:txBody>
      </p:sp>
      <p:sp>
        <p:nvSpPr>
          <p:cNvPr id="30" name="Google Shape;36;p1">
            <a:extLst>
              <a:ext uri="{FF2B5EF4-FFF2-40B4-BE49-F238E27FC236}">
                <a16:creationId xmlns:a16="http://schemas.microsoft.com/office/drawing/2014/main" id="{D3655C74-C295-881E-E263-7EF95875CB83}"/>
              </a:ext>
            </a:extLst>
          </p:cNvPr>
          <p:cNvSpPr txBox="1"/>
          <p:nvPr/>
        </p:nvSpPr>
        <p:spPr>
          <a:xfrm>
            <a:off x="5142974" y="869245"/>
            <a:ext cx="3927958" cy="138499"/>
          </a:xfrm>
          <a:prstGeom prst="rect">
            <a:avLst/>
          </a:prstGeom>
          <a:noFill/>
          <a:ln>
            <a:noFill/>
          </a:ln>
        </p:spPr>
        <p:txBody>
          <a:bodyPr spcFirstLastPara="1" wrap="square" lIns="0" tIns="0" rIns="0" bIns="0" anchor="t" anchorCtr="0">
            <a:spAutoFit/>
          </a:bodyPr>
          <a:lstStyle/>
          <a:p>
            <a:r>
              <a:rPr lang="es-ES_tradnl" sz="900" dirty="0">
                <a:solidFill>
                  <a:schemeClr val="bg1">
                    <a:lumMod val="65000"/>
                  </a:schemeClr>
                </a:solidFill>
                <a:latin typeface="Calibri" charset="0"/>
                <a:cs typeface="Calibri" charset="0"/>
              </a:rPr>
              <a:t>DIRECCION ESTRATÉGICA DE DATOS</a:t>
            </a:r>
          </a:p>
        </p:txBody>
      </p:sp>
      <p:sp>
        <p:nvSpPr>
          <p:cNvPr id="2" name="Triángulo 1">
            <a:extLst>
              <a:ext uri="{FF2B5EF4-FFF2-40B4-BE49-F238E27FC236}">
                <a16:creationId xmlns:a16="http://schemas.microsoft.com/office/drawing/2014/main" id="{FF02B738-007D-66F5-10CE-92F1CE87DA97}"/>
              </a:ext>
            </a:extLst>
          </p:cNvPr>
          <p:cNvSpPr/>
          <p:nvPr/>
        </p:nvSpPr>
        <p:spPr>
          <a:xfrm rot="5400000">
            <a:off x="5136152" y="3530691"/>
            <a:ext cx="98906" cy="85264"/>
          </a:xfrm>
          <a:prstGeom prst="triangle">
            <a:avLst/>
          </a:prstGeom>
          <a:solidFill>
            <a:srgbClr val="EFC6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Triángulo 6">
            <a:extLst>
              <a:ext uri="{FF2B5EF4-FFF2-40B4-BE49-F238E27FC236}">
                <a16:creationId xmlns:a16="http://schemas.microsoft.com/office/drawing/2014/main" id="{616C0187-3610-1348-DA80-33491B1F80AB}"/>
              </a:ext>
            </a:extLst>
          </p:cNvPr>
          <p:cNvSpPr/>
          <p:nvPr/>
        </p:nvSpPr>
        <p:spPr>
          <a:xfrm rot="5400000">
            <a:off x="5136152" y="3771871"/>
            <a:ext cx="98906" cy="85264"/>
          </a:xfrm>
          <a:prstGeom prst="triangle">
            <a:avLst/>
          </a:prstGeom>
          <a:solidFill>
            <a:srgbClr val="EFC6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8" name="Triángulo 7">
            <a:extLst>
              <a:ext uri="{FF2B5EF4-FFF2-40B4-BE49-F238E27FC236}">
                <a16:creationId xmlns:a16="http://schemas.microsoft.com/office/drawing/2014/main" id="{F8CDDF77-4368-2130-7891-E3259AE44483}"/>
              </a:ext>
            </a:extLst>
          </p:cNvPr>
          <p:cNvSpPr/>
          <p:nvPr/>
        </p:nvSpPr>
        <p:spPr>
          <a:xfrm rot="5400000">
            <a:off x="5136152" y="4179962"/>
            <a:ext cx="98906" cy="85264"/>
          </a:xfrm>
          <a:prstGeom prst="triangle">
            <a:avLst/>
          </a:prstGeom>
          <a:solidFill>
            <a:srgbClr val="EFC6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9" name="Triángulo 8">
            <a:extLst>
              <a:ext uri="{FF2B5EF4-FFF2-40B4-BE49-F238E27FC236}">
                <a16:creationId xmlns:a16="http://schemas.microsoft.com/office/drawing/2014/main" id="{2E3B3E93-2888-0232-E054-1ED516B9F3B0}"/>
              </a:ext>
            </a:extLst>
          </p:cNvPr>
          <p:cNvSpPr/>
          <p:nvPr/>
        </p:nvSpPr>
        <p:spPr>
          <a:xfrm rot="5400000">
            <a:off x="5136152" y="4580796"/>
            <a:ext cx="98906" cy="85264"/>
          </a:xfrm>
          <a:prstGeom prst="triangle">
            <a:avLst/>
          </a:prstGeom>
          <a:solidFill>
            <a:srgbClr val="EFC6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0" name="Rectángulo 9">
            <a:extLst>
              <a:ext uri="{FF2B5EF4-FFF2-40B4-BE49-F238E27FC236}">
                <a16:creationId xmlns:a16="http://schemas.microsoft.com/office/drawing/2014/main" id="{B93FE01E-0348-7FB7-30CD-85C0A7B55032}"/>
              </a:ext>
            </a:extLst>
          </p:cNvPr>
          <p:cNvSpPr/>
          <p:nvPr/>
        </p:nvSpPr>
        <p:spPr>
          <a:xfrm>
            <a:off x="7249416" y="5292044"/>
            <a:ext cx="1532771" cy="37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1" name="Rectángulo 10">
            <a:extLst>
              <a:ext uri="{FF2B5EF4-FFF2-40B4-BE49-F238E27FC236}">
                <a16:creationId xmlns:a16="http://schemas.microsoft.com/office/drawing/2014/main" id="{9D5E720C-2EC1-7AC0-B16A-96882A57A294}"/>
              </a:ext>
            </a:extLst>
          </p:cNvPr>
          <p:cNvSpPr/>
          <p:nvPr/>
        </p:nvSpPr>
        <p:spPr>
          <a:xfrm>
            <a:off x="7249416" y="260705"/>
            <a:ext cx="1532771" cy="37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3" name="Conector recto 2">
            <a:extLst>
              <a:ext uri="{FF2B5EF4-FFF2-40B4-BE49-F238E27FC236}">
                <a16:creationId xmlns:a16="http://schemas.microsoft.com/office/drawing/2014/main" id="{9E5631A8-FF29-760A-B63A-50D918423D79}"/>
              </a:ext>
            </a:extLst>
          </p:cNvPr>
          <p:cNvCxnSpPr>
            <a:cxnSpLocks/>
          </p:cNvCxnSpPr>
          <p:nvPr/>
        </p:nvCxnSpPr>
        <p:spPr>
          <a:xfrm flipH="1">
            <a:off x="5142974" y="3448816"/>
            <a:ext cx="3532714"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22CF578E-22C7-F50E-13EA-32C53EFB3501}"/>
              </a:ext>
            </a:extLst>
          </p:cNvPr>
          <p:cNvCxnSpPr>
            <a:cxnSpLocks/>
          </p:cNvCxnSpPr>
          <p:nvPr/>
        </p:nvCxnSpPr>
        <p:spPr>
          <a:xfrm flipH="1">
            <a:off x="5142974" y="4783838"/>
            <a:ext cx="3532714"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FFA0D600-CD1A-7337-B872-4D41B489BC36}"/>
              </a:ext>
            </a:extLst>
          </p:cNvPr>
          <p:cNvPicPr>
            <a:picLocks noChangeAspect="1"/>
          </p:cNvPicPr>
          <p:nvPr/>
        </p:nvPicPr>
        <p:blipFill>
          <a:blip r:embed="rId2"/>
          <a:stretch>
            <a:fillRect/>
          </a:stretch>
        </p:blipFill>
        <p:spPr>
          <a:xfrm>
            <a:off x="0" y="0"/>
            <a:ext cx="4752975" cy="5715000"/>
          </a:xfrm>
          <a:prstGeom prst="rect">
            <a:avLst/>
          </a:prstGeom>
        </p:spPr>
      </p:pic>
    </p:spTree>
    <p:extLst>
      <p:ext uri="{BB962C8B-B14F-4D97-AF65-F5344CB8AC3E}">
        <p14:creationId xmlns:p14="http://schemas.microsoft.com/office/powerpoint/2010/main" val="267850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2D40569-7885-4724-2269-D2FDBCA39D5F}"/>
              </a:ext>
            </a:extLst>
          </p:cNvPr>
          <p:cNvSpPr/>
          <p:nvPr/>
        </p:nvSpPr>
        <p:spPr>
          <a:xfrm>
            <a:off x="7912100" y="276225"/>
            <a:ext cx="889000" cy="330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 name="Rectángulo 1">
            <a:extLst>
              <a:ext uri="{FF2B5EF4-FFF2-40B4-BE49-F238E27FC236}">
                <a16:creationId xmlns:a16="http://schemas.microsoft.com/office/drawing/2014/main" id="{4D542A65-38AD-C8DD-77DD-5D483AEB2C7D}"/>
              </a:ext>
            </a:extLst>
          </p:cNvPr>
          <p:cNvSpPr/>
          <p:nvPr/>
        </p:nvSpPr>
        <p:spPr>
          <a:xfrm>
            <a:off x="130171" y="5233988"/>
            <a:ext cx="8699504" cy="395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6" name="Rectángulo 5">
            <a:extLst>
              <a:ext uri="{FF2B5EF4-FFF2-40B4-BE49-F238E27FC236}">
                <a16:creationId xmlns:a16="http://schemas.microsoft.com/office/drawing/2014/main" id="{CDCC195E-0C73-54DA-6B5A-3A36678BC1D7}"/>
              </a:ext>
            </a:extLst>
          </p:cNvPr>
          <p:cNvSpPr/>
          <p:nvPr/>
        </p:nvSpPr>
        <p:spPr>
          <a:xfrm>
            <a:off x="0" y="0"/>
            <a:ext cx="9143999" cy="5715000"/>
          </a:xfrm>
          <a:prstGeom prst="rect">
            <a:avLst/>
          </a:prstGeom>
          <a:solidFill>
            <a:srgbClr val="3F42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3" name="Google Shape;108;p4">
            <a:extLst>
              <a:ext uri="{FF2B5EF4-FFF2-40B4-BE49-F238E27FC236}">
                <a16:creationId xmlns:a16="http://schemas.microsoft.com/office/drawing/2014/main" id="{AC6BBA2A-74DA-FB0B-693D-E785B9C46750}"/>
              </a:ext>
            </a:extLst>
          </p:cNvPr>
          <p:cNvSpPr txBox="1"/>
          <p:nvPr/>
        </p:nvSpPr>
        <p:spPr>
          <a:xfrm>
            <a:off x="1007268" y="2786209"/>
            <a:ext cx="3321845" cy="68942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s-PE" sz="2800" dirty="0">
                <a:solidFill>
                  <a:srgbClr val="FDDAA8"/>
                </a:solidFill>
                <a:latin typeface="Graphik Regular" panose="020B0503030202060203" pitchFamily="34" charset="77"/>
                <a:cs typeface="Calibri" panose="020F0502020204030204" pitchFamily="34" charset="0"/>
                <a:sym typeface="Arial"/>
              </a:rPr>
              <a:t>INTRODUCCIÓN</a:t>
            </a:r>
            <a:endParaRPr sz="1100" dirty="0">
              <a:solidFill>
                <a:srgbClr val="FDDAA8"/>
              </a:solidFill>
              <a:latin typeface="Graphik Regular" panose="020B0503030202060203" pitchFamily="34" charset="77"/>
              <a:cs typeface="Calibri" panose="020F0502020204030204" pitchFamily="34" charset="0"/>
            </a:endParaRPr>
          </a:p>
          <a:p>
            <a:pPr marL="0" marR="0" lvl="0" indent="0" algn="l" rtl="0">
              <a:lnSpc>
                <a:spcPct val="80000"/>
              </a:lnSpc>
              <a:spcBef>
                <a:spcPts val="0"/>
              </a:spcBef>
              <a:spcAft>
                <a:spcPts val="0"/>
              </a:spcAft>
              <a:buNone/>
            </a:pPr>
            <a:r>
              <a:rPr lang="es-PE" sz="2800" dirty="0">
                <a:solidFill>
                  <a:srgbClr val="FDDAA8"/>
                </a:solidFill>
                <a:latin typeface="Graphik Bold" panose="020B0503030202060203" pitchFamily="34" charset="77"/>
                <a:cs typeface="Arial Black" panose="020B0604020202020204" pitchFamily="34" charset="0"/>
                <a:sym typeface="Arial"/>
              </a:rPr>
              <a:t>DE LA SESIÓN</a:t>
            </a:r>
            <a:endParaRPr sz="1100" dirty="0">
              <a:solidFill>
                <a:srgbClr val="FDDAA8"/>
              </a:solidFill>
              <a:latin typeface="Graphik Bold" panose="020B0503030202060203" pitchFamily="34" charset="77"/>
              <a:cs typeface="Arial Black" panose="020B0604020202020204" pitchFamily="34" charset="0"/>
            </a:endParaRPr>
          </a:p>
        </p:txBody>
      </p:sp>
      <p:pic>
        <p:nvPicPr>
          <p:cNvPr id="11" name="Imagen 10">
            <a:extLst>
              <a:ext uri="{FF2B5EF4-FFF2-40B4-BE49-F238E27FC236}">
                <a16:creationId xmlns:a16="http://schemas.microsoft.com/office/drawing/2014/main" id="{2A2B0BBF-2255-2C62-BF83-9782818D1D2E}"/>
              </a:ext>
            </a:extLst>
          </p:cNvPr>
          <p:cNvPicPr>
            <a:picLocks noChangeAspect="1"/>
          </p:cNvPicPr>
          <p:nvPr/>
        </p:nvPicPr>
        <p:blipFill>
          <a:blip r:embed="rId2"/>
          <a:stretch>
            <a:fillRect/>
          </a:stretch>
        </p:blipFill>
        <p:spPr>
          <a:xfrm>
            <a:off x="1" y="2738583"/>
            <a:ext cx="876304" cy="703917"/>
          </a:xfrm>
          <a:prstGeom prst="rect">
            <a:avLst/>
          </a:prstGeom>
        </p:spPr>
      </p:pic>
      <p:pic>
        <p:nvPicPr>
          <p:cNvPr id="5" name="Imagen 4">
            <a:extLst>
              <a:ext uri="{FF2B5EF4-FFF2-40B4-BE49-F238E27FC236}">
                <a16:creationId xmlns:a16="http://schemas.microsoft.com/office/drawing/2014/main" id="{DBBD87C5-DE68-1DD9-3842-C72859337F1E}"/>
              </a:ext>
            </a:extLst>
          </p:cNvPr>
          <p:cNvPicPr>
            <a:picLocks noChangeAspect="1"/>
          </p:cNvPicPr>
          <p:nvPr/>
        </p:nvPicPr>
        <p:blipFill>
          <a:blip r:embed="rId3"/>
          <a:stretch>
            <a:fillRect/>
          </a:stretch>
        </p:blipFill>
        <p:spPr>
          <a:xfrm>
            <a:off x="5183152" y="1257299"/>
            <a:ext cx="4052461" cy="3260277"/>
          </a:xfrm>
          <a:prstGeom prst="rect">
            <a:avLst/>
          </a:prstGeom>
        </p:spPr>
      </p:pic>
    </p:spTree>
    <p:extLst>
      <p:ext uri="{BB962C8B-B14F-4D97-AF65-F5344CB8AC3E}">
        <p14:creationId xmlns:p14="http://schemas.microsoft.com/office/powerpoint/2010/main" val="431614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0" name="Imagen 9">
            <a:extLst>
              <a:ext uri="{FF2B5EF4-FFF2-40B4-BE49-F238E27FC236}">
                <a16:creationId xmlns:a16="http://schemas.microsoft.com/office/drawing/2014/main" id="{E494F36F-ECE2-FBE6-D03C-DCEDFC891E1D}"/>
              </a:ext>
            </a:extLst>
          </p:cNvPr>
          <p:cNvPicPr>
            <a:picLocks noChangeAspect="1"/>
          </p:cNvPicPr>
          <p:nvPr/>
        </p:nvPicPr>
        <p:blipFill>
          <a:blip r:embed="rId3">
            <a:alphaModFix/>
            <a:duotone>
              <a:prstClr val="black"/>
              <a:srgbClr val="D9C3A5">
                <a:tint val="50000"/>
                <a:satMod val="180000"/>
              </a:srgbClr>
            </a:duotone>
          </a:blip>
          <a:srcRect r="6899"/>
          <a:stretch/>
        </p:blipFill>
        <p:spPr>
          <a:xfrm>
            <a:off x="5991359" y="1450871"/>
            <a:ext cx="3152641" cy="2724287"/>
          </a:xfrm>
          <a:prstGeom prst="rect">
            <a:avLst/>
          </a:prstGeom>
        </p:spPr>
      </p:pic>
      <p:sp>
        <p:nvSpPr>
          <p:cNvPr id="116" name="Google Shape;116;p5"/>
          <p:cNvSpPr/>
          <p:nvPr/>
        </p:nvSpPr>
        <p:spPr>
          <a:xfrm>
            <a:off x="6918960" y="5364480"/>
            <a:ext cx="2133600" cy="2244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5"/>
          <p:cNvSpPr txBox="1"/>
          <p:nvPr/>
        </p:nvSpPr>
        <p:spPr>
          <a:xfrm>
            <a:off x="1095925" y="918371"/>
            <a:ext cx="4100190" cy="28315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Clr>
                <a:schemeClr val="tx1"/>
              </a:buClr>
              <a:buNone/>
            </a:pPr>
            <a:r>
              <a:rPr lang="es-PE" sz="1400" dirty="0">
                <a:solidFill>
                  <a:schemeClr val="tx1"/>
                </a:solidFill>
                <a:latin typeface="Calibri"/>
                <a:ea typeface="Calibri"/>
                <a:cs typeface="Calibri"/>
                <a:sym typeface="Calibri"/>
              </a:rPr>
              <a:t>Durante esta sesión lograrás:</a:t>
            </a:r>
          </a:p>
          <a:p>
            <a:pPr marL="179388" marR="0" lvl="0" indent="-179388" algn="l" rtl="0">
              <a:spcBef>
                <a:spcPts val="0"/>
              </a:spcBef>
              <a:spcAft>
                <a:spcPts val="600"/>
              </a:spcAft>
              <a:buClr>
                <a:schemeClr val="tx1"/>
              </a:buClr>
              <a:buFont typeface="Arial" panose="020B0604020202020204" pitchFamily="34" charset="0"/>
              <a:buChar char="•"/>
            </a:pPr>
            <a:r>
              <a:rPr lang="es-PE" sz="1400" dirty="0">
                <a:solidFill>
                  <a:schemeClr val="tx1"/>
                </a:solidFill>
                <a:latin typeface="Calibri"/>
                <a:ea typeface="Calibri"/>
                <a:cs typeface="Calibri"/>
                <a:sym typeface="Calibri"/>
              </a:rPr>
              <a:t>Analizar casos de éxito en la implementación de la dirección estratégica de datos.</a:t>
            </a:r>
          </a:p>
          <a:p>
            <a:pPr marL="179388" marR="0" lvl="0" indent="-179388" algn="l" rtl="0">
              <a:spcBef>
                <a:spcPts val="0"/>
              </a:spcBef>
              <a:spcAft>
                <a:spcPts val="600"/>
              </a:spcAft>
              <a:buClr>
                <a:schemeClr val="tx1"/>
              </a:buClr>
              <a:buFont typeface="Arial" panose="020B0604020202020204" pitchFamily="34" charset="0"/>
              <a:buChar char="•"/>
            </a:pPr>
            <a:r>
              <a:rPr lang="es-PE" sz="1400" dirty="0">
                <a:solidFill>
                  <a:schemeClr val="tx1"/>
                </a:solidFill>
                <a:latin typeface="Calibri"/>
                <a:ea typeface="Calibri"/>
                <a:cs typeface="Calibri"/>
                <a:sym typeface="Calibri"/>
              </a:rPr>
              <a:t>Explorar ejemplos prácticos en diversas industrias para comprender su aplicación.</a:t>
            </a:r>
          </a:p>
          <a:p>
            <a:pPr marL="179388" marR="0" lvl="0" indent="-179388" algn="l" rtl="0">
              <a:spcBef>
                <a:spcPts val="0"/>
              </a:spcBef>
              <a:spcAft>
                <a:spcPts val="600"/>
              </a:spcAft>
              <a:buClr>
                <a:schemeClr val="tx1"/>
              </a:buClr>
              <a:buFont typeface="Arial" panose="020B0604020202020204" pitchFamily="34" charset="0"/>
              <a:buChar char="•"/>
            </a:pPr>
            <a:r>
              <a:rPr lang="es-PE" sz="1400" dirty="0">
                <a:solidFill>
                  <a:schemeClr val="tx1"/>
                </a:solidFill>
                <a:latin typeface="Calibri"/>
                <a:ea typeface="Calibri"/>
                <a:cs typeface="Calibri"/>
                <a:sym typeface="Calibri"/>
              </a:rPr>
              <a:t>Participar en una sesión de lluvia de ideas para identificar modelos de negocio.</a:t>
            </a:r>
          </a:p>
          <a:p>
            <a:pPr marL="179388" marR="0" lvl="0" indent="-179388" algn="l" rtl="0">
              <a:spcBef>
                <a:spcPts val="0"/>
              </a:spcBef>
              <a:spcAft>
                <a:spcPts val="600"/>
              </a:spcAft>
              <a:buClr>
                <a:schemeClr val="tx1"/>
              </a:buClr>
              <a:buFont typeface="Arial" panose="020B0604020202020204" pitchFamily="34" charset="0"/>
              <a:buChar char="•"/>
            </a:pPr>
            <a:r>
              <a:rPr lang="es-PE" sz="1400" dirty="0">
                <a:solidFill>
                  <a:schemeClr val="tx1"/>
                </a:solidFill>
                <a:latin typeface="Calibri"/>
                <a:ea typeface="Calibri"/>
                <a:cs typeface="Calibri"/>
                <a:sym typeface="Calibri"/>
              </a:rPr>
              <a:t>Desarrollar un plan de implementación en empresas ficticias.</a:t>
            </a:r>
          </a:p>
          <a:p>
            <a:pPr marL="179388" marR="0" lvl="0" indent="-179388" algn="l" rtl="0">
              <a:spcBef>
                <a:spcPts val="0"/>
              </a:spcBef>
              <a:spcAft>
                <a:spcPts val="600"/>
              </a:spcAft>
              <a:buClr>
                <a:schemeClr val="tx1"/>
              </a:buClr>
              <a:buFont typeface="Arial" panose="020B0604020202020204" pitchFamily="34" charset="0"/>
              <a:buChar char="•"/>
            </a:pPr>
            <a:r>
              <a:rPr lang="es-PE" sz="1400" dirty="0">
                <a:solidFill>
                  <a:schemeClr val="tx1"/>
                </a:solidFill>
                <a:latin typeface="Calibri"/>
                <a:ea typeface="Calibri"/>
                <a:cs typeface="Calibri"/>
                <a:sym typeface="Calibri"/>
              </a:rPr>
              <a:t>Evaluar la viabilidad y los riesgos asociados con la dirección estratégica de datos.</a:t>
            </a:r>
          </a:p>
        </p:txBody>
      </p:sp>
      <p:sp>
        <p:nvSpPr>
          <p:cNvPr id="123" name="Google Shape;123;p5"/>
          <p:cNvSpPr/>
          <p:nvPr/>
        </p:nvSpPr>
        <p:spPr>
          <a:xfrm>
            <a:off x="301556" y="5061859"/>
            <a:ext cx="8453337" cy="551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5"/>
          <p:cNvSpPr/>
          <p:nvPr/>
        </p:nvSpPr>
        <p:spPr>
          <a:xfrm>
            <a:off x="503238" y="376836"/>
            <a:ext cx="2430462"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dirty="0">
                <a:solidFill>
                  <a:srgbClr val="A5A5A5"/>
                </a:solidFill>
                <a:latin typeface="Calibri"/>
                <a:ea typeface="Calibri"/>
                <a:cs typeface="Calibri"/>
                <a:sym typeface="Calibri"/>
              </a:rPr>
              <a:t>INTRODUCCIÓN </a:t>
            </a:r>
            <a:endParaRPr dirty="0">
              <a:latin typeface="Calibri" panose="020F0502020204030204" pitchFamily="34" charset="0"/>
              <a:cs typeface="Calibri" panose="020F0502020204030204" pitchFamily="34" charset="0"/>
            </a:endParaRPr>
          </a:p>
        </p:txBody>
      </p:sp>
      <p:cxnSp>
        <p:nvCxnSpPr>
          <p:cNvPr id="6" name="Conector recto de flecha 5">
            <a:extLst>
              <a:ext uri="{FF2B5EF4-FFF2-40B4-BE49-F238E27FC236}">
                <a16:creationId xmlns:a16="http://schemas.microsoft.com/office/drawing/2014/main" id="{5069BC36-9492-7B13-7168-BE4DA75B9A12}"/>
              </a:ext>
            </a:extLst>
          </p:cNvPr>
          <p:cNvCxnSpPr>
            <a:cxnSpLocks/>
          </p:cNvCxnSpPr>
          <p:nvPr/>
        </p:nvCxnSpPr>
        <p:spPr>
          <a:xfrm>
            <a:off x="694394" y="1045235"/>
            <a:ext cx="233756" cy="0"/>
          </a:xfrm>
          <a:prstGeom prst="straightConnector1">
            <a:avLst/>
          </a:prstGeom>
          <a:ln>
            <a:solidFill>
              <a:schemeClr val="bg1">
                <a:lumMod val="50000"/>
              </a:schemeClr>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16EF94E1-72E7-2C8A-9A0C-F1B9DCFDFB2D}"/>
              </a:ext>
            </a:extLst>
          </p:cNvPr>
          <p:cNvCxnSpPr>
            <a:cxnSpLocks/>
          </p:cNvCxnSpPr>
          <p:nvPr/>
        </p:nvCxnSpPr>
        <p:spPr>
          <a:xfrm>
            <a:off x="694394" y="912813"/>
            <a:ext cx="0" cy="13242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31FEFCB0-7D57-0339-56BE-C5A2C4F74101}"/>
              </a:ext>
            </a:extLst>
          </p:cNvPr>
          <p:cNvSpPr/>
          <p:nvPr/>
        </p:nvSpPr>
        <p:spPr>
          <a:xfrm>
            <a:off x="7684477" y="167054"/>
            <a:ext cx="1257300" cy="3482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9"/>
          <p:cNvSpPr/>
          <p:nvPr/>
        </p:nvSpPr>
        <p:spPr>
          <a:xfrm>
            <a:off x="689675" y="0"/>
            <a:ext cx="8454325" cy="5715000"/>
          </a:xfrm>
          <a:prstGeom prst="rect">
            <a:avLst/>
          </a:prstGeom>
          <a:solidFill>
            <a:srgbClr val="13172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 name="Rectángulo 1">
            <a:extLst>
              <a:ext uri="{FF2B5EF4-FFF2-40B4-BE49-F238E27FC236}">
                <a16:creationId xmlns:a16="http://schemas.microsoft.com/office/drawing/2014/main" id="{EFAC8282-FDAA-C79B-9EA1-1CB201D01E04}"/>
              </a:ext>
            </a:extLst>
          </p:cNvPr>
          <p:cNvSpPr/>
          <p:nvPr/>
        </p:nvSpPr>
        <p:spPr>
          <a:xfrm>
            <a:off x="0" y="0"/>
            <a:ext cx="1301859" cy="5715000"/>
          </a:xfrm>
          <a:prstGeom prst="rect">
            <a:avLst/>
          </a:prstGeom>
          <a:solidFill>
            <a:srgbClr val="F0D2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9" name="CuadroTexto 8">
            <a:extLst>
              <a:ext uri="{FF2B5EF4-FFF2-40B4-BE49-F238E27FC236}">
                <a16:creationId xmlns:a16="http://schemas.microsoft.com/office/drawing/2014/main" id="{84303712-A52E-AAE5-EDED-1C2B9C96BEEB}"/>
              </a:ext>
            </a:extLst>
          </p:cNvPr>
          <p:cNvSpPr txBox="1"/>
          <p:nvPr/>
        </p:nvSpPr>
        <p:spPr>
          <a:xfrm>
            <a:off x="321283" y="2857500"/>
            <a:ext cx="879836" cy="1138773"/>
          </a:xfrm>
          <a:prstGeom prst="rect">
            <a:avLst/>
          </a:prstGeom>
          <a:noFill/>
        </p:spPr>
        <p:txBody>
          <a:bodyPr wrap="square">
            <a:spAutoFit/>
          </a:bodyPr>
          <a:lstStyle/>
          <a:p>
            <a:pPr algn="r"/>
            <a:r>
              <a:rPr lang="es-PE" sz="6800" dirty="0">
                <a:solidFill>
                  <a:srgbClr val="13172C"/>
                </a:solidFill>
                <a:latin typeface="Graphik Bold" panose="020B0503030202060203" pitchFamily="34" charset="77"/>
                <a:cs typeface="Calibri" panose="020F0502020204030204" pitchFamily="34" charset="0"/>
                <a:sym typeface="Arial"/>
              </a:rPr>
              <a:t>1.</a:t>
            </a:r>
            <a:endParaRPr lang="es-ES_tradnl" sz="6800" dirty="0">
              <a:solidFill>
                <a:srgbClr val="13172C"/>
              </a:solidFill>
              <a:latin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9DA2890E-7838-CB9B-50D4-27D40BE41D23}"/>
              </a:ext>
            </a:extLst>
          </p:cNvPr>
          <p:cNvPicPr>
            <a:picLocks noChangeAspect="1"/>
          </p:cNvPicPr>
          <p:nvPr/>
        </p:nvPicPr>
        <p:blipFill>
          <a:blip r:embed="rId3"/>
          <a:stretch>
            <a:fillRect/>
          </a:stretch>
        </p:blipFill>
        <p:spPr>
          <a:xfrm>
            <a:off x="0" y="4059303"/>
            <a:ext cx="1301858" cy="1655697"/>
          </a:xfrm>
          <a:prstGeom prst="rect">
            <a:avLst/>
          </a:prstGeom>
        </p:spPr>
      </p:pic>
      <p:cxnSp>
        <p:nvCxnSpPr>
          <p:cNvPr id="13" name="Conector recto 12">
            <a:extLst>
              <a:ext uri="{FF2B5EF4-FFF2-40B4-BE49-F238E27FC236}">
                <a16:creationId xmlns:a16="http://schemas.microsoft.com/office/drawing/2014/main" id="{2908154B-9D5E-48AD-5210-B6837EB7A811}"/>
              </a:ext>
            </a:extLst>
          </p:cNvPr>
          <p:cNvCxnSpPr>
            <a:cxnSpLocks/>
          </p:cNvCxnSpPr>
          <p:nvPr/>
        </p:nvCxnSpPr>
        <p:spPr>
          <a:xfrm>
            <a:off x="1469318" y="3909226"/>
            <a:ext cx="348005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Google Shape;167;p9">
            <a:extLst>
              <a:ext uri="{FF2B5EF4-FFF2-40B4-BE49-F238E27FC236}">
                <a16:creationId xmlns:a16="http://schemas.microsoft.com/office/drawing/2014/main" id="{4B9EBBD0-37C7-9A58-A02B-A3729CA99FD6}"/>
              </a:ext>
            </a:extLst>
          </p:cNvPr>
          <p:cNvSpPr txBox="1"/>
          <p:nvPr/>
        </p:nvSpPr>
        <p:spPr>
          <a:xfrm>
            <a:off x="1469318" y="3073400"/>
            <a:ext cx="3915482" cy="787908"/>
          </a:xfrm>
          <a:prstGeom prst="rect">
            <a:avLst/>
          </a:prstGeom>
          <a:noFill/>
          <a:ln>
            <a:noFill/>
          </a:ln>
        </p:spPr>
        <p:txBody>
          <a:bodyPr spcFirstLastPara="1" wrap="square" lIns="0" tIns="0" rIns="0" bIns="0" anchor="t" anchorCtr="0">
            <a:spAutoFit/>
          </a:bodyPr>
          <a:lstStyle/>
          <a:p>
            <a:pPr marL="6350">
              <a:lnSpc>
                <a:spcPct val="80000"/>
              </a:lnSpc>
            </a:pPr>
            <a:r>
              <a:rPr lang="es-PE" sz="3200" dirty="0">
                <a:solidFill>
                  <a:schemeClr val="lt1"/>
                </a:solidFill>
                <a:latin typeface="Graphik Regular" panose="020B0503030202060203" pitchFamily="34" charset="77"/>
                <a:cs typeface="Calibri" panose="020F0502020204030204" pitchFamily="34" charset="0"/>
              </a:rPr>
              <a:t>ANÁLISIS DE </a:t>
            </a:r>
            <a:r>
              <a:rPr lang="es-PE" sz="3200" b="1" dirty="0">
                <a:solidFill>
                  <a:schemeClr val="lt1"/>
                </a:solidFill>
                <a:latin typeface="Graphik Bold" panose="020B0503030202060203" pitchFamily="34" charset="77"/>
                <a:cs typeface="Calibri" panose="020F0502020204030204" pitchFamily="34" charset="0"/>
              </a:rPr>
              <a:t>CASOS DE ÉXITO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4"/>
          <p:cNvSpPr/>
          <p:nvPr/>
        </p:nvSpPr>
        <p:spPr>
          <a:xfrm>
            <a:off x="511260" y="2338562"/>
            <a:ext cx="8164427" cy="2895426"/>
          </a:xfrm>
          <a:prstGeom prst="rect">
            <a:avLst/>
          </a:prstGeom>
          <a:solidFill>
            <a:schemeClr val="dk1"/>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 name="Google Shape;61;p4"/>
          <p:cNvSpPr txBox="1"/>
          <p:nvPr/>
        </p:nvSpPr>
        <p:spPr>
          <a:xfrm>
            <a:off x="508377" y="912813"/>
            <a:ext cx="7696201" cy="1241365"/>
          </a:xfrm>
          <a:prstGeom prst="rect">
            <a:avLst/>
          </a:prstGeom>
          <a:noFill/>
          <a:ln>
            <a:noFill/>
          </a:ln>
        </p:spPr>
        <p:txBody>
          <a:bodyPr spcFirstLastPara="1" wrap="square" lIns="0" tIns="0" rIns="0" bIns="0" anchor="t" anchorCtr="0">
            <a:spAutoFit/>
          </a:bodyPr>
          <a:lstStyle/>
          <a:p>
            <a:pPr marR="0" lvl="0" indent="0" rtl="0">
              <a:spcBef>
                <a:spcPts val="0"/>
              </a:spcBef>
              <a:spcAft>
                <a:spcPts val="1000"/>
              </a:spcAft>
              <a:buNone/>
            </a:pPr>
            <a:r>
              <a:rPr lang="es-PE" sz="1600" b="1" dirty="0">
                <a:solidFill>
                  <a:schemeClr val="tx1"/>
                </a:solidFill>
                <a:latin typeface="Calibri" panose="020F0502020204030204" pitchFamily="34" charset="0"/>
                <a:ea typeface="Calibri"/>
                <a:cs typeface="Calibri" panose="020F0502020204030204" pitchFamily="34" charset="0"/>
                <a:sym typeface="Calibri"/>
              </a:rPr>
              <a:t>DATAFORGE</a:t>
            </a:r>
            <a:endParaRPr sz="1600" dirty="0">
              <a:solidFill>
                <a:schemeClr val="tx1"/>
              </a:solidFill>
              <a:latin typeface="Calibri" panose="020F0502020204030204" pitchFamily="34" charset="0"/>
              <a:ea typeface="Calibri"/>
              <a:cs typeface="Calibri" panose="020F0502020204030204" pitchFamily="34" charset="0"/>
              <a:sym typeface="Calibri"/>
            </a:endParaRPr>
          </a:p>
          <a:p>
            <a:pPr marR="0" lvl="0" indent="0" rtl="0">
              <a:spcBef>
                <a:spcPts val="0"/>
              </a:spcBef>
              <a:spcAft>
                <a:spcPts val="1000"/>
              </a:spcAft>
              <a:buNone/>
            </a:pPr>
            <a:r>
              <a:rPr lang="es-PE" sz="1600" b="0" i="0"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Dataforge Consulting es una consultora chilena de analítica avanzada y datos, enfocada en darle a organizaciones una ventaja competitiva mediante la explotación del valor escondido en los datos generados por su negocio. </a:t>
            </a:r>
            <a:endParaRPr sz="1600" dirty="0">
              <a:solidFill>
                <a:schemeClr val="tx1"/>
              </a:solidFill>
              <a:latin typeface="Calibri" panose="020F0502020204030204" pitchFamily="34" charset="0"/>
              <a:cs typeface="Calibri" panose="020F0502020204030204" pitchFamily="34" charset="0"/>
            </a:endParaRPr>
          </a:p>
        </p:txBody>
      </p:sp>
      <p:pic>
        <p:nvPicPr>
          <p:cNvPr id="63" name="Google Shape;63;p4" descr="Clientes | Dataforge"/>
          <p:cNvPicPr preferRelativeResize="0"/>
          <p:nvPr/>
        </p:nvPicPr>
        <p:blipFill rotWithShape="1">
          <a:blip r:embed="rId3">
            <a:alphaModFix/>
            <a:extLst>
              <a:ext uri="{BEBA8EAE-BF5A-486C-A8C5-ECC9F3942E4B}">
                <a14:imgProps xmlns:a14="http://schemas.microsoft.com/office/drawing/2010/main">
                  <a14:imgLayer r:embed="rId4">
                    <a14:imgEffect>
                      <a14:sharpenSoften amount="25000"/>
                    </a14:imgEffect>
                  </a14:imgLayer>
                </a14:imgProps>
              </a:ext>
            </a:extLst>
          </a:blip>
          <a:srcRect/>
          <a:stretch/>
        </p:blipFill>
        <p:spPr>
          <a:xfrm>
            <a:off x="959989" y="3152023"/>
            <a:ext cx="7236276" cy="1212327"/>
          </a:xfrm>
          <a:prstGeom prst="rect">
            <a:avLst/>
          </a:prstGeom>
          <a:noFill/>
          <a:ln>
            <a:noFill/>
          </a:ln>
        </p:spPr>
      </p:pic>
      <p:sp>
        <p:nvSpPr>
          <p:cNvPr id="2" name="Google Shape;127;p5">
            <a:extLst>
              <a:ext uri="{FF2B5EF4-FFF2-40B4-BE49-F238E27FC236}">
                <a16:creationId xmlns:a16="http://schemas.microsoft.com/office/drawing/2014/main" id="{0B96B934-9DC9-2594-FD4D-D211CB66D85E}"/>
              </a:ext>
            </a:extLst>
          </p:cNvPr>
          <p:cNvSpPr/>
          <p:nvPr/>
        </p:nvSpPr>
        <p:spPr>
          <a:xfrm>
            <a:off x="503238" y="376836"/>
            <a:ext cx="243046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ANÁLISIS DE CASOS DE ÉXITO </a:t>
            </a:r>
            <a:endParaRPr dirty="0">
              <a:latin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5"/>
          <p:cNvSpPr txBox="1"/>
          <p:nvPr/>
        </p:nvSpPr>
        <p:spPr>
          <a:xfrm>
            <a:off x="508377" y="912813"/>
            <a:ext cx="3558791" cy="1656864"/>
          </a:xfrm>
          <a:prstGeom prst="rect">
            <a:avLst/>
          </a:prstGeom>
          <a:noFill/>
          <a:ln>
            <a:noFill/>
          </a:ln>
        </p:spPr>
        <p:txBody>
          <a:bodyPr spcFirstLastPara="1" wrap="square" lIns="0" tIns="0" rIns="0" bIns="0" anchor="t" anchorCtr="0">
            <a:spAutoFit/>
          </a:bodyPr>
          <a:lstStyle/>
          <a:p>
            <a:pPr marR="0" lvl="0" rtl="0">
              <a:spcBef>
                <a:spcPts val="0"/>
              </a:spcBef>
              <a:spcAft>
                <a:spcPts val="1000"/>
              </a:spcAft>
            </a:pPr>
            <a:r>
              <a:rPr lang="es-PE" sz="1600" b="1" dirty="0">
                <a:solidFill>
                  <a:schemeClr val="tx1"/>
                </a:solidFill>
                <a:latin typeface="Calibri" panose="020F0502020204030204" pitchFamily="34" charset="0"/>
                <a:ea typeface="Calibri"/>
                <a:cs typeface="Calibri" panose="020F0502020204030204" pitchFamily="34" charset="0"/>
                <a:sym typeface="Calibri"/>
              </a:rPr>
              <a:t>DATAFORGE</a:t>
            </a:r>
            <a:endParaRPr sz="1600" dirty="0">
              <a:solidFill>
                <a:schemeClr val="tx1"/>
              </a:solidFill>
              <a:latin typeface="Calibri" panose="020F0502020204030204" pitchFamily="34" charset="0"/>
              <a:ea typeface="Calibri"/>
              <a:cs typeface="Calibri" panose="020F0502020204030204" pitchFamily="34" charset="0"/>
              <a:sym typeface="Calibri"/>
            </a:endParaRPr>
          </a:p>
          <a:p>
            <a:pPr marR="0" lvl="0" rtl="0">
              <a:spcBef>
                <a:spcPts val="0"/>
              </a:spcBef>
              <a:spcAft>
                <a:spcPts val="1000"/>
              </a:spcAft>
            </a:pPr>
            <a:r>
              <a:rPr lang="es-PE" sz="1500" b="1" dirty="0">
                <a:solidFill>
                  <a:schemeClr val="tx1"/>
                </a:solidFill>
                <a:latin typeface="Calibri" panose="020F0502020204030204" pitchFamily="34" charset="0"/>
                <a:ea typeface="Calibri"/>
                <a:cs typeface="Calibri" panose="020F0502020204030204" pitchFamily="34" charset="0"/>
                <a:sym typeface="Calibri"/>
              </a:rPr>
              <a:t>Problema: </a:t>
            </a:r>
            <a:r>
              <a:rPr lang="es-PE" sz="1500" dirty="0">
                <a:solidFill>
                  <a:schemeClr val="tx1"/>
                </a:solidFill>
                <a:latin typeface="Calibri" panose="020F0502020204030204" pitchFamily="34" charset="0"/>
                <a:ea typeface="Calibri"/>
                <a:cs typeface="Calibri" panose="020F0502020204030204" pitchFamily="34" charset="0"/>
                <a:sym typeface="Calibri"/>
              </a:rPr>
              <a:t>En Chile, uno de sus clientes en la industria financiera se enfrentaba a problemas de baja calidad de los datos, que impactaba múltiples áreas. El impacto se manifestaba en:</a:t>
            </a:r>
            <a:endParaRPr sz="15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2" name="Google Shape;127;p5">
            <a:extLst>
              <a:ext uri="{FF2B5EF4-FFF2-40B4-BE49-F238E27FC236}">
                <a16:creationId xmlns:a16="http://schemas.microsoft.com/office/drawing/2014/main" id="{CD925132-19C1-69D3-59C1-76F808ABE961}"/>
              </a:ext>
            </a:extLst>
          </p:cNvPr>
          <p:cNvSpPr/>
          <p:nvPr/>
        </p:nvSpPr>
        <p:spPr>
          <a:xfrm>
            <a:off x="503238" y="376836"/>
            <a:ext cx="243046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ANÁLISIS DE CASOS DE ÉXITO </a:t>
            </a:r>
            <a:endParaRPr dirty="0">
              <a:latin typeface="Calibri" panose="020F0502020204030204" pitchFamily="34" charset="0"/>
              <a:cs typeface="Calibri" panose="020F0502020204030204" pitchFamily="34" charset="0"/>
            </a:endParaRPr>
          </a:p>
        </p:txBody>
      </p:sp>
      <p:sp>
        <p:nvSpPr>
          <p:cNvPr id="5" name="Google Shape;417;p28">
            <a:extLst>
              <a:ext uri="{FF2B5EF4-FFF2-40B4-BE49-F238E27FC236}">
                <a16:creationId xmlns:a16="http://schemas.microsoft.com/office/drawing/2014/main" id="{262FB610-2756-4ECB-621F-7E5BC3F0E50A}"/>
              </a:ext>
            </a:extLst>
          </p:cNvPr>
          <p:cNvSpPr/>
          <p:nvPr/>
        </p:nvSpPr>
        <p:spPr>
          <a:xfrm>
            <a:off x="1121872" y="2653311"/>
            <a:ext cx="2643792" cy="2585323"/>
          </a:xfrm>
          <a:prstGeom prst="rect">
            <a:avLst/>
          </a:prstGeom>
          <a:noFill/>
          <a:ln>
            <a:noFill/>
          </a:ln>
        </p:spPr>
        <p:txBody>
          <a:bodyPr spcFirstLastPara="1" wrap="square" lIns="0" tIns="0" rIns="0" bIns="0" anchor="t" anchorCtr="0">
            <a:spAutoFit/>
          </a:bodyPr>
          <a:lstStyle/>
          <a:p>
            <a:pPr lvl="0">
              <a:buClr>
                <a:srgbClr val="262626"/>
              </a:buClr>
              <a:buSzPts val="1600"/>
            </a:pPr>
            <a:r>
              <a:rPr lang="es-PE" b="1" dirty="0">
                <a:solidFill>
                  <a:srgbClr val="D6A16F"/>
                </a:solidFill>
                <a:latin typeface="Calibri" panose="020F0502020204030204" pitchFamily="34" charset="0"/>
                <a:ea typeface="Calibri"/>
                <a:cs typeface="Calibri" panose="020F0502020204030204" pitchFamily="34" charset="0"/>
                <a:sym typeface="Calibri"/>
              </a:rPr>
              <a:t>MARKETING:</a:t>
            </a:r>
          </a:p>
          <a:p>
            <a:pPr lvl="0">
              <a:buClr>
                <a:srgbClr val="262626"/>
              </a:buClr>
              <a:buSzPts val="1600"/>
            </a:pPr>
            <a:r>
              <a:rPr lang="es-PE" dirty="0">
                <a:solidFill>
                  <a:schemeClr val="tx1"/>
                </a:solidFill>
                <a:latin typeface="Calibri" panose="020F0502020204030204" pitchFamily="34" charset="0"/>
                <a:ea typeface="Calibri"/>
                <a:cs typeface="Calibri" panose="020F0502020204030204" pitchFamily="34" charset="0"/>
                <a:sym typeface="Calibri"/>
              </a:rPr>
              <a:t>Campañas menos efectivas y con el potencial de generar controversia en redes sociales</a:t>
            </a:r>
          </a:p>
          <a:p>
            <a:pPr lvl="0">
              <a:buClr>
                <a:srgbClr val="262626"/>
              </a:buClr>
              <a:buSzPts val="1600"/>
            </a:pPr>
            <a:endParaRPr lang="es-PE" dirty="0">
              <a:solidFill>
                <a:schemeClr val="tx1"/>
              </a:solidFill>
              <a:latin typeface="Calibri" panose="020F0502020204030204" pitchFamily="34" charset="0"/>
              <a:cs typeface="Calibri" panose="020F0502020204030204" pitchFamily="34" charset="0"/>
            </a:endParaRPr>
          </a:p>
          <a:p>
            <a:pPr lvl="0">
              <a:buClr>
                <a:srgbClr val="262626"/>
              </a:buClr>
              <a:buSzPts val="1600"/>
            </a:pPr>
            <a:r>
              <a:rPr lang="es-PE" b="1" dirty="0">
                <a:solidFill>
                  <a:srgbClr val="D6A16F"/>
                </a:solidFill>
                <a:latin typeface="Calibri" panose="020F0502020204030204" pitchFamily="34" charset="0"/>
                <a:ea typeface="Calibri"/>
                <a:cs typeface="Calibri" panose="020F0502020204030204" pitchFamily="34" charset="0"/>
                <a:sym typeface="Calibri"/>
              </a:rPr>
              <a:t>OPERACIONES:</a:t>
            </a:r>
            <a:br>
              <a:rPr lang="es-PE" b="1" dirty="0">
                <a:solidFill>
                  <a:schemeClr val="tx1"/>
                </a:solidFill>
                <a:latin typeface="Calibri" panose="020F0502020204030204" pitchFamily="34" charset="0"/>
                <a:ea typeface="Calibri"/>
                <a:cs typeface="Calibri" panose="020F0502020204030204" pitchFamily="34" charset="0"/>
                <a:sym typeface="Calibri"/>
              </a:rPr>
            </a:br>
            <a:r>
              <a:rPr lang="es-PE" dirty="0">
                <a:solidFill>
                  <a:schemeClr val="tx1"/>
                </a:solidFill>
                <a:latin typeface="Calibri" panose="020F0502020204030204" pitchFamily="34" charset="0"/>
                <a:ea typeface="Calibri"/>
                <a:cs typeface="Calibri" panose="020F0502020204030204" pitchFamily="34" charset="0"/>
                <a:sym typeface="Calibri"/>
              </a:rPr>
              <a:t>Errores que impedían una correcta cobranza y contactabilidad.</a:t>
            </a:r>
          </a:p>
          <a:p>
            <a:pPr lvl="0">
              <a:buClr>
                <a:srgbClr val="262626"/>
              </a:buClr>
              <a:buSzPts val="1600"/>
            </a:pPr>
            <a:endParaRPr lang="es-PE" dirty="0">
              <a:solidFill>
                <a:schemeClr val="tx1"/>
              </a:solidFill>
              <a:latin typeface="Calibri" panose="020F0502020204030204" pitchFamily="34" charset="0"/>
              <a:cs typeface="Calibri" panose="020F0502020204030204" pitchFamily="34" charset="0"/>
            </a:endParaRPr>
          </a:p>
          <a:p>
            <a:pPr lvl="0">
              <a:buClr>
                <a:srgbClr val="262626"/>
              </a:buClr>
              <a:buSzPts val="1600"/>
            </a:pPr>
            <a:r>
              <a:rPr lang="es-PE" b="1" dirty="0">
                <a:solidFill>
                  <a:srgbClr val="D6A16F"/>
                </a:solidFill>
                <a:latin typeface="Calibri" panose="020F0502020204030204" pitchFamily="34" charset="0"/>
                <a:ea typeface="Calibri"/>
                <a:cs typeface="Calibri" panose="020F0502020204030204" pitchFamily="34" charset="0"/>
                <a:sym typeface="Calibri"/>
              </a:rPr>
              <a:t>FINANZAS:</a:t>
            </a:r>
          </a:p>
          <a:p>
            <a:pPr lvl="0">
              <a:buClr>
                <a:srgbClr val="262626"/>
              </a:buClr>
              <a:buSzPts val="1600"/>
            </a:pPr>
            <a:r>
              <a:rPr lang="es-PE" dirty="0">
                <a:solidFill>
                  <a:schemeClr val="tx1"/>
                </a:solidFill>
                <a:latin typeface="Calibri" panose="020F0502020204030204" pitchFamily="34" charset="0"/>
                <a:ea typeface="Calibri"/>
                <a:cs typeface="Calibri" panose="020F0502020204030204" pitchFamily="34" charset="0"/>
                <a:sym typeface="Calibri"/>
              </a:rPr>
              <a:t>Afectación en los reportes y modelos de análisis.</a:t>
            </a:r>
            <a:endParaRPr lang="es-PE" sz="1400" b="0" i="0" u="none" strike="noStrike" cap="none" dirty="0">
              <a:solidFill>
                <a:srgbClr val="000000"/>
              </a:solidFill>
              <a:latin typeface="Arial"/>
              <a:ea typeface="Arial"/>
              <a:cs typeface="Arial"/>
              <a:sym typeface="Arial"/>
            </a:endParaRPr>
          </a:p>
        </p:txBody>
      </p:sp>
      <p:cxnSp>
        <p:nvCxnSpPr>
          <p:cNvPr id="6" name="Conector recto de flecha 5">
            <a:extLst>
              <a:ext uri="{FF2B5EF4-FFF2-40B4-BE49-F238E27FC236}">
                <a16:creationId xmlns:a16="http://schemas.microsoft.com/office/drawing/2014/main" id="{02FAC1F5-4B33-B838-E724-339ADD582903}"/>
              </a:ext>
            </a:extLst>
          </p:cNvPr>
          <p:cNvCxnSpPr>
            <a:cxnSpLocks/>
          </p:cNvCxnSpPr>
          <p:nvPr/>
        </p:nvCxnSpPr>
        <p:spPr>
          <a:xfrm>
            <a:off x="702414" y="2772394"/>
            <a:ext cx="233756" cy="0"/>
          </a:xfrm>
          <a:prstGeom prst="straightConnector1">
            <a:avLst/>
          </a:prstGeom>
          <a:ln>
            <a:solidFill>
              <a:srgbClr val="D6A06F"/>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B9AE6473-3B67-89D2-4ACA-C48A4F8F5DCB}"/>
              </a:ext>
            </a:extLst>
          </p:cNvPr>
          <p:cNvCxnSpPr>
            <a:cxnSpLocks/>
          </p:cNvCxnSpPr>
          <p:nvPr/>
        </p:nvCxnSpPr>
        <p:spPr>
          <a:xfrm>
            <a:off x="702414" y="2639972"/>
            <a:ext cx="0" cy="2030126"/>
          </a:xfrm>
          <a:prstGeom prst="line">
            <a:avLst/>
          </a:prstGeom>
          <a:ln>
            <a:solidFill>
              <a:srgbClr val="D6A06F"/>
            </a:solidFill>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C9D32C67-DFDC-CB01-10D8-52CC14E4A0A9}"/>
              </a:ext>
            </a:extLst>
          </p:cNvPr>
          <p:cNvCxnSpPr>
            <a:cxnSpLocks/>
          </p:cNvCxnSpPr>
          <p:nvPr/>
        </p:nvCxnSpPr>
        <p:spPr>
          <a:xfrm>
            <a:off x="702414" y="3829778"/>
            <a:ext cx="233756" cy="0"/>
          </a:xfrm>
          <a:prstGeom prst="straightConnector1">
            <a:avLst/>
          </a:prstGeom>
          <a:ln>
            <a:solidFill>
              <a:srgbClr val="D6A06F"/>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5C84BD4C-83E9-FB03-4CBB-7CB5DD8564B0}"/>
              </a:ext>
            </a:extLst>
          </p:cNvPr>
          <p:cNvCxnSpPr>
            <a:cxnSpLocks/>
          </p:cNvCxnSpPr>
          <p:nvPr/>
        </p:nvCxnSpPr>
        <p:spPr>
          <a:xfrm>
            <a:off x="702414" y="4670098"/>
            <a:ext cx="233756" cy="0"/>
          </a:xfrm>
          <a:prstGeom prst="straightConnector1">
            <a:avLst/>
          </a:prstGeom>
          <a:ln>
            <a:solidFill>
              <a:srgbClr val="D6A06F"/>
            </a:solidFill>
            <a:round/>
            <a:headEnd type="none"/>
            <a:tailEnd type="oval"/>
          </a:ln>
        </p:spPr>
        <p:style>
          <a:lnRef idx="1">
            <a:schemeClr val="accent1"/>
          </a:lnRef>
          <a:fillRef idx="0">
            <a:schemeClr val="accent1"/>
          </a:fillRef>
          <a:effectRef idx="0">
            <a:schemeClr val="accent1"/>
          </a:effectRef>
          <a:fontRef idx="minor">
            <a:schemeClr val="tx1"/>
          </a:fontRef>
        </p:style>
      </p:cxnSp>
      <p:pic>
        <p:nvPicPr>
          <p:cNvPr id="16" name="Imagen 15">
            <a:extLst>
              <a:ext uri="{FF2B5EF4-FFF2-40B4-BE49-F238E27FC236}">
                <a16:creationId xmlns:a16="http://schemas.microsoft.com/office/drawing/2014/main" id="{765279C8-3EC4-14BB-2E82-901492BB691A}"/>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4392613" y="1"/>
            <a:ext cx="4283075" cy="52339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6"/>
          <p:cNvSpPr txBox="1"/>
          <p:nvPr/>
        </p:nvSpPr>
        <p:spPr>
          <a:xfrm>
            <a:off x="508378" y="912813"/>
            <a:ext cx="3490044" cy="1487587"/>
          </a:xfrm>
          <a:prstGeom prst="rect">
            <a:avLst/>
          </a:prstGeom>
          <a:noFill/>
          <a:ln>
            <a:noFill/>
          </a:ln>
        </p:spPr>
        <p:txBody>
          <a:bodyPr spcFirstLastPara="1" wrap="square" lIns="0" tIns="0" rIns="0" bIns="0" anchor="t" anchorCtr="0">
            <a:spAutoFit/>
          </a:bodyPr>
          <a:lstStyle/>
          <a:p>
            <a:pPr marR="0" lvl="0" rtl="0">
              <a:spcBef>
                <a:spcPts val="0"/>
              </a:spcBef>
              <a:spcAft>
                <a:spcPts val="1000"/>
              </a:spcAft>
            </a:pPr>
            <a:r>
              <a:rPr lang="es-PE" sz="1600" b="1" dirty="0">
                <a:solidFill>
                  <a:schemeClr val="tx1"/>
                </a:solidFill>
                <a:latin typeface="Calibri" panose="020F0502020204030204" pitchFamily="34" charset="0"/>
                <a:ea typeface="Calibri"/>
                <a:cs typeface="Calibri" panose="020F0502020204030204" pitchFamily="34" charset="0"/>
                <a:sym typeface="Calibri"/>
              </a:rPr>
              <a:t>DATAFORGE</a:t>
            </a:r>
            <a:endParaRPr sz="1600" dirty="0">
              <a:solidFill>
                <a:schemeClr val="tx1"/>
              </a:solidFill>
              <a:latin typeface="Calibri" panose="020F0502020204030204" pitchFamily="34" charset="0"/>
              <a:ea typeface="Calibri"/>
              <a:cs typeface="Calibri" panose="020F0502020204030204" pitchFamily="34" charset="0"/>
              <a:sym typeface="Calibri"/>
            </a:endParaRPr>
          </a:p>
          <a:p>
            <a:pPr marR="0" lvl="0" rtl="0">
              <a:spcBef>
                <a:spcPts val="0"/>
              </a:spcBef>
              <a:spcAft>
                <a:spcPts val="1000"/>
              </a:spcAft>
            </a:pPr>
            <a:r>
              <a:rPr lang="es-PE" sz="1600" b="1" dirty="0">
                <a:solidFill>
                  <a:schemeClr val="tx1"/>
                </a:solidFill>
                <a:latin typeface="Calibri" panose="020F0502020204030204" pitchFamily="34" charset="0"/>
                <a:ea typeface="Calibri"/>
                <a:cs typeface="Calibri" panose="020F0502020204030204" pitchFamily="34" charset="0"/>
                <a:sym typeface="Calibri"/>
              </a:rPr>
              <a:t>Resultado: </a:t>
            </a:r>
            <a:r>
              <a:rPr lang="es-PE" sz="1600" dirty="0">
                <a:solidFill>
                  <a:schemeClr val="tx1"/>
                </a:solidFill>
                <a:latin typeface="Calibri" panose="020F0502020204030204" pitchFamily="34" charset="0"/>
                <a:ea typeface="Calibri"/>
                <a:cs typeface="Calibri" panose="020F0502020204030204" pitchFamily="34" charset="0"/>
                <a:sym typeface="Calibri"/>
              </a:rPr>
              <a:t>El involucramiento de toda la organización en la estrategia de datos logró establecer prácticas permanentes en la empresa que generaron:</a:t>
            </a:r>
            <a:endParaRPr sz="16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2" name="Google Shape;127;p5">
            <a:extLst>
              <a:ext uri="{FF2B5EF4-FFF2-40B4-BE49-F238E27FC236}">
                <a16:creationId xmlns:a16="http://schemas.microsoft.com/office/drawing/2014/main" id="{1C522A67-3D65-A721-D7B8-7783F3F4D18D}"/>
              </a:ext>
            </a:extLst>
          </p:cNvPr>
          <p:cNvSpPr/>
          <p:nvPr/>
        </p:nvSpPr>
        <p:spPr>
          <a:xfrm>
            <a:off x="503238" y="376836"/>
            <a:ext cx="243046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ANÁLISIS DE CASOS DE ÉXITO </a:t>
            </a:r>
            <a:endParaRPr dirty="0">
              <a:latin typeface="Calibri" panose="020F0502020204030204" pitchFamily="34" charset="0"/>
              <a:cs typeface="Calibri" panose="020F0502020204030204" pitchFamily="34" charset="0"/>
            </a:endParaRPr>
          </a:p>
        </p:txBody>
      </p:sp>
      <p:sp>
        <p:nvSpPr>
          <p:cNvPr id="5" name="Google Shape;417;p28">
            <a:extLst>
              <a:ext uri="{FF2B5EF4-FFF2-40B4-BE49-F238E27FC236}">
                <a16:creationId xmlns:a16="http://schemas.microsoft.com/office/drawing/2014/main" id="{3902CE22-679C-AF26-A35F-BD8445801490}"/>
              </a:ext>
            </a:extLst>
          </p:cNvPr>
          <p:cNvSpPr/>
          <p:nvPr/>
        </p:nvSpPr>
        <p:spPr>
          <a:xfrm>
            <a:off x="1121873" y="2503681"/>
            <a:ext cx="2735232" cy="1938992"/>
          </a:xfrm>
          <a:prstGeom prst="rect">
            <a:avLst/>
          </a:prstGeom>
          <a:noFill/>
          <a:ln>
            <a:noFill/>
          </a:ln>
        </p:spPr>
        <p:txBody>
          <a:bodyPr spcFirstLastPara="1" wrap="square" lIns="0" tIns="0" rIns="0" bIns="0" anchor="t" anchorCtr="0">
            <a:spAutoFit/>
          </a:bodyPr>
          <a:lstStyle/>
          <a:p>
            <a:pPr lvl="0">
              <a:buClr>
                <a:srgbClr val="262626"/>
              </a:buClr>
              <a:buSzPts val="1600"/>
            </a:pPr>
            <a:r>
              <a:rPr lang="es-PE" dirty="0">
                <a:solidFill>
                  <a:schemeClr val="tx1"/>
                </a:solidFill>
                <a:latin typeface="Calibri" panose="020F0502020204030204" pitchFamily="34" charset="0"/>
                <a:ea typeface="Calibri"/>
                <a:cs typeface="Calibri" panose="020F0502020204030204" pitchFamily="34" charset="0"/>
                <a:sym typeface="Calibri"/>
              </a:rPr>
              <a:t>Un aumento del 75 % al 99 % en la calidad de los datos de marketing, con la respectiva mejora en el desempeño de campañas.</a:t>
            </a:r>
          </a:p>
          <a:p>
            <a:pPr lvl="0">
              <a:buClr>
                <a:srgbClr val="262626"/>
              </a:buClr>
              <a:buSzPts val="1600"/>
            </a:pPr>
            <a:endParaRPr lang="es-PE" dirty="0">
              <a:solidFill>
                <a:schemeClr val="tx1"/>
              </a:solidFill>
              <a:latin typeface="Calibri" panose="020F0502020204030204" pitchFamily="34" charset="0"/>
              <a:cs typeface="Calibri" panose="020F0502020204030204" pitchFamily="34" charset="0"/>
            </a:endParaRPr>
          </a:p>
          <a:p>
            <a:pPr lvl="0">
              <a:buClr>
                <a:srgbClr val="262626"/>
              </a:buClr>
              <a:buSzPts val="1600"/>
            </a:pPr>
            <a:r>
              <a:rPr lang="es-PE" dirty="0">
                <a:solidFill>
                  <a:schemeClr val="tx1"/>
                </a:solidFill>
                <a:latin typeface="Calibri" panose="020F0502020204030204" pitchFamily="34" charset="0"/>
                <a:ea typeface="Calibri"/>
                <a:cs typeface="Calibri" panose="020F0502020204030204" pitchFamily="34" charset="0"/>
                <a:sym typeface="Calibri"/>
              </a:rPr>
              <a:t>La filial en Chile se posicionó #1 a nivel global en los procesos de gobierno de datos en todas sus filiales internacionales.</a:t>
            </a:r>
            <a:endParaRPr lang="es-PE" dirty="0">
              <a:solidFill>
                <a:schemeClr val="tx1"/>
              </a:solidFill>
              <a:latin typeface="Calibri" panose="020F0502020204030204" pitchFamily="34" charset="0"/>
              <a:cs typeface="Calibri" panose="020F0502020204030204" pitchFamily="34" charset="0"/>
            </a:endParaRPr>
          </a:p>
        </p:txBody>
      </p:sp>
      <p:cxnSp>
        <p:nvCxnSpPr>
          <p:cNvPr id="6" name="Conector recto de flecha 5">
            <a:extLst>
              <a:ext uri="{FF2B5EF4-FFF2-40B4-BE49-F238E27FC236}">
                <a16:creationId xmlns:a16="http://schemas.microsoft.com/office/drawing/2014/main" id="{E078532E-30DD-6B76-4854-9CEAC6F4F3D4}"/>
              </a:ext>
            </a:extLst>
          </p:cNvPr>
          <p:cNvCxnSpPr>
            <a:cxnSpLocks/>
          </p:cNvCxnSpPr>
          <p:nvPr/>
        </p:nvCxnSpPr>
        <p:spPr>
          <a:xfrm>
            <a:off x="702414" y="2622764"/>
            <a:ext cx="233756" cy="0"/>
          </a:xfrm>
          <a:prstGeom prst="straightConnector1">
            <a:avLst/>
          </a:prstGeom>
          <a:ln>
            <a:solidFill>
              <a:srgbClr val="D6A06F"/>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68DFA4E3-023F-85A3-E67C-D1F888F5610A}"/>
              </a:ext>
            </a:extLst>
          </p:cNvPr>
          <p:cNvCxnSpPr>
            <a:cxnSpLocks/>
          </p:cNvCxnSpPr>
          <p:nvPr/>
        </p:nvCxnSpPr>
        <p:spPr>
          <a:xfrm>
            <a:off x="702414" y="2490342"/>
            <a:ext cx="0" cy="1181492"/>
          </a:xfrm>
          <a:prstGeom prst="line">
            <a:avLst/>
          </a:prstGeom>
          <a:ln>
            <a:solidFill>
              <a:srgbClr val="D6A06F"/>
            </a:solidFill>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2C09BDDF-CECF-8F4B-6D67-1CFA707CEC42}"/>
              </a:ext>
            </a:extLst>
          </p:cNvPr>
          <p:cNvCxnSpPr>
            <a:cxnSpLocks/>
          </p:cNvCxnSpPr>
          <p:nvPr/>
        </p:nvCxnSpPr>
        <p:spPr>
          <a:xfrm>
            <a:off x="702414" y="3671834"/>
            <a:ext cx="233756" cy="0"/>
          </a:xfrm>
          <a:prstGeom prst="straightConnector1">
            <a:avLst/>
          </a:prstGeom>
          <a:ln>
            <a:solidFill>
              <a:srgbClr val="D6A06F"/>
            </a:solidFill>
            <a:round/>
            <a:headEnd type="none"/>
            <a:tailEnd type="oval"/>
          </a:ln>
        </p:spPr>
        <p:style>
          <a:lnRef idx="1">
            <a:schemeClr val="accent1"/>
          </a:lnRef>
          <a:fillRef idx="0">
            <a:schemeClr val="accent1"/>
          </a:fillRef>
          <a:effectRef idx="0">
            <a:schemeClr val="accent1"/>
          </a:effectRef>
          <a:fontRef idx="minor">
            <a:schemeClr val="tx1"/>
          </a:fontRef>
        </p:style>
      </p:cxnSp>
      <p:pic>
        <p:nvPicPr>
          <p:cNvPr id="14" name="Imagen 13">
            <a:extLst>
              <a:ext uri="{FF2B5EF4-FFF2-40B4-BE49-F238E27FC236}">
                <a16:creationId xmlns:a16="http://schemas.microsoft.com/office/drawing/2014/main" id="{44487172-BE90-E1D6-BA03-4CCBD76D5B82}"/>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4392615" y="0"/>
            <a:ext cx="4285867" cy="52339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70B7532E-4E1C-F202-76C8-689EC189FED0}"/>
            </a:ext>
          </a:extLst>
        </p:cNvPr>
        <p:cNvGrpSpPr/>
        <p:nvPr/>
      </p:nvGrpSpPr>
      <p:grpSpPr>
        <a:xfrm>
          <a:off x="0" y="0"/>
          <a:ext cx="0" cy="0"/>
          <a:chOff x="0" y="0"/>
          <a:chExt cx="0" cy="0"/>
        </a:xfrm>
      </p:grpSpPr>
      <p:sp>
        <p:nvSpPr>
          <p:cNvPr id="166" name="Google Shape;166;p9">
            <a:extLst>
              <a:ext uri="{FF2B5EF4-FFF2-40B4-BE49-F238E27FC236}">
                <a16:creationId xmlns:a16="http://schemas.microsoft.com/office/drawing/2014/main" id="{CBD216D8-460C-9EF6-B2E6-F21D037763B9}"/>
              </a:ext>
            </a:extLst>
          </p:cNvPr>
          <p:cNvSpPr/>
          <p:nvPr/>
        </p:nvSpPr>
        <p:spPr>
          <a:xfrm>
            <a:off x="689675" y="0"/>
            <a:ext cx="8454324" cy="5715000"/>
          </a:xfrm>
          <a:prstGeom prst="rect">
            <a:avLst/>
          </a:prstGeom>
          <a:solidFill>
            <a:srgbClr val="13172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 name="Rectángulo 1">
            <a:extLst>
              <a:ext uri="{FF2B5EF4-FFF2-40B4-BE49-F238E27FC236}">
                <a16:creationId xmlns:a16="http://schemas.microsoft.com/office/drawing/2014/main" id="{C83BAC34-CCD7-2F48-340D-E3BD50F03000}"/>
              </a:ext>
            </a:extLst>
          </p:cNvPr>
          <p:cNvSpPr/>
          <p:nvPr/>
        </p:nvSpPr>
        <p:spPr>
          <a:xfrm>
            <a:off x="1" y="0"/>
            <a:ext cx="1301858" cy="5715000"/>
          </a:xfrm>
          <a:prstGeom prst="rect">
            <a:avLst/>
          </a:prstGeom>
          <a:solidFill>
            <a:srgbClr val="F0D2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67" name="Google Shape;167;p9">
            <a:extLst>
              <a:ext uri="{FF2B5EF4-FFF2-40B4-BE49-F238E27FC236}">
                <a16:creationId xmlns:a16="http://schemas.microsoft.com/office/drawing/2014/main" id="{B3852313-4E08-EF07-3F61-510BB81C395E}"/>
              </a:ext>
            </a:extLst>
          </p:cNvPr>
          <p:cNvSpPr txBox="1"/>
          <p:nvPr/>
        </p:nvSpPr>
        <p:spPr>
          <a:xfrm>
            <a:off x="1469318" y="3073400"/>
            <a:ext cx="5993558" cy="787908"/>
          </a:xfrm>
          <a:prstGeom prst="rect">
            <a:avLst/>
          </a:prstGeom>
          <a:noFill/>
          <a:ln>
            <a:noFill/>
          </a:ln>
        </p:spPr>
        <p:txBody>
          <a:bodyPr spcFirstLastPara="1" wrap="square" lIns="0" tIns="0" rIns="0" bIns="0" anchor="t" anchorCtr="0">
            <a:spAutoFit/>
          </a:bodyPr>
          <a:lstStyle/>
          <a:p>
            <a:pPr marL="6350">
              <a:lnSpc>
                <a:spcPct val="80000"/>
              </a:lnSpc>
            </a:pPr>
            <a:r>
              <a:rPr lang="es-PE" sz="3200" dirty="0">
                <a:solidFill>
                  <a:schemeClr val="lt1"/>
                </a:solidFill>
                <a:latin typeface="Graphik Regular" panose="020B0503030202060203" pitchFamily="34" charset="77"/>
                <a:cs typeface="Calibri" panose="020F0502020204030204" pitchFamily="34" charset="0"/>
              </a:rPr>
              <a:t>EJEMPLOS PRÁCTICOS EN </a:t>
            </a:r>
            <a:r>
              <a:rPr lang="es-PE" sz="3200" b="1" dirty="0">
                <a:solidFill>
                  <a:schemeClr val="lt1"/>
                </a:solidFill>
                <a:latin typeface="Graphik Bold" panose="020B0503030202060203" pitchFamily="34" charset="77"/>
                <a:cs typeface="Calibri" panose="020F0502020204030204" pitchFamily="34" charset="0"/>
              </a:rPr>
              <a:t>DIFERENTES INDUSTRIAS</a:t>
            </a:r>
            <a:endParaRPr sz="3200" b="1" dirty="0">
              <a:solidFill>
                <a:schemeClr val="lt1"/>
              </a:solidFill>
              <a:latin typeface="Graphik Bold" panose="020B0503030202060203" pitchFamily="34" charset="77"/>
              <a:ea typeface="Calibri"/>
              <a:cs typeface="Calibri"/>
              <a:sym typeface="Calibri"/>
            </a:endParaRPr>
          </a:p>
        </p:txBody>
      </p:sp>
      <p:sp>
        <p:nvSpPr>
          <p:cNvPr id="9" name="CuadroTexto 8">
            <a:extLst>
              <a:ext uri="{FF2B5EF4-FFF2-40B4-BE49-F238E27FC236}">
                <a16:creationId xmlns:a16="http://schemas.microsoft.com/office/drawing/2014/main" id="{6808191A-295A-1F02-9B49-AF58D662397F}"/>
              </a:ext>
            </a:extLst>
          </p:cNvPr>
          <p:cNvSpPr txBox="1"/>
          <p:nvPr/>
        </p:nvSpPr>
        <p:spPr>
          <a:xfrm>
            <a:off x="163286" y="2857500"/>
            <a:ext cx="1037833" cy="1138773"/>
          </a:xfrm>
          <a:prstGeom prst="rect">
            <a:avLst/>
          </a:prstGeom>
          <a:noFill/>
        </p:spPr>
        <p:txBody>
          <a:bodyPr wrap="square">
            <a:spAutoFit/>
          </a:bodyPr>
          <a:lstStyle/>
          <a:p>
            <a:pPr algn="r"/>
            <a:r>
              <a:rPr lang="es-PE" sz="6800" dirty="0">
                <a:solidFill>
                  <a:srgbClr val="13172C"/>
                </a:solidFill>
                <a:latin typeface="Graphik Bold" panose="020B0503030202060203" pitchFamily="34" charset="77"/>
                <a:cs typeface="Calibri" panose="020F0502020204030204" pitchFamily="34" charset="0"/>
                <a:sym typeface="Arial"/>
              </a:rPr>
              <a:t>2.</a:t>
            </a:r>
            <a:endParaRPr lang="es-ES_tradnl" sz="6800" dirty="0">
              <a:solidFill>
                <a:srgbClr val="13172C"/>
              </a:solidFill>
              <a:latin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F120599B-9CB4-E810-91E3-821829BF6913}"/>
              </a:ext>
            </a:extLst>
          </p:cNvPr>
          <p:cNvPicPr>
            <a:picLocks noChangeAspect="1"/>
          </p:cNvPicPr>
          <p:nvPr/>
        </p:nvPicPr>
        <p:blipFill>
          <a:blip r:embed="rId3"/>
          <a:stretch>
            <a:fillRect/>
          </a:stretch>
        </p:blipFill>
        <p:spPr>
          <a:xfrm>
            <a:off x="0" y="4059303"/>
            <a:ext cx="1301858" cy="1655697"/>
          </a:xfrm>
          <a:prstGeom prst="rect">
            <a:avLst/>
          </a:prstGeom>
        </p:spPr>
      </p:pic>
      <p:cxnSp>
        <p:nvCxnSpPr>
          <p:cNvPr id="13" name="Conector recto 12">
            <a:extLst>
              <a:ext uri="{FF2B5EF4-FFF2-40B4-BE49-F238E27FC236}">
                <a16:creationId xmlns:a16="http://schemas.microsoft.com/office/drawing/2014/main" id="{5E4AFD56-77A6-B606-3CC2-FF4A4D4A2C61}"/>
              </a:ext>
            </a:extLst>
          </p:cNvPr>
          <p:cNvCxnSpPr>
            <a:cxnSpLocks/>
          </p:cNvCxnSpPr>
          <p:nvPr/>
        </p:nvCxnSpPr>
        <p:spPr>
          <a:xfrm>
            <a:off x="1469318" y="3909226"/>
            <a:ext cx="521451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088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8"/>
          <p:cNvSpPr txBox="1"/>
          <p:nvPr/>
        </p:nvSpPr>
        <p:spPr>
          <a:xfrm>
            <a:off x="508377" y="912813"/>
            <a:ext cx="2924779" cy="2236510"/>
          </a:xfrm>
          <a:prstGeom prst="rect">
            <a:avLst/>
          </a:prstGeom>
          <a:noFill/>
          <a:ln>
            <a:noFill/>
          </a:ln>
        </p:spPr>
        <p:txBody>
          <a:bodyPr spcFirstLastPara="1" wrap="square" lIns="0" tIns="0" rIns="0" bIns="0" anchor="t" anchorCtr="0">
            <a:spAutoFit/>
          </a:bodyPr>
          <a:lstStyle/>
          <a:p>
            <a:pPr marR="0" lvl="0" rtl="0">
              <a:spcBef>
                <a:spcPts val="0"/>
              </a:spcBef>
              <a:spcAft>
                <a:spcPts val="1000"/>
              </a:spcAft>
              <a:buClr>
                <a:schemeClr val="tx1"/>
              </a:buClr>
              <a:buSzPct val="100000"/>
            </a:pPr>
            <a:r>
              <a:rPr lang="es-PE" sz="1600" b="1" dirty="0">
                <a:solidFill>
                  <a:schemeClr val="tx1"/>
                </a:solidFill>
                <a:latin typeface="Calibri" panose="020F0502020204030204" pitchFamily="34" charset="0"/>
                <a:ea typeface="Calibri"/>
                <a:cs typeface="Calibri" panose="020F0502020204030204" pitchFamily="34" charset="0"/>
                <a:sym typeface="Calibri"/>
              </a:rPr>
              <a:t>ADMINISTRACIÓN PÚBLICA</a:t>
            </a:r>
            <a:endParaRPr sz="1600" dirty="0">
              <a:solidFill>
                <a:schemeClr val="tx1"/>
              </a:solidFill>
              <a:latin typeface="Calibri" panose="020F0502020204030204" pitchFamily="34" charset="0"/>
              <a:ea typeface="Calibri"/>
              <a:cs typeface="Calibri" panose="020F0502020204030204" pitchFamily="34" charset="0"/>
              <a:sym typeface="Calibri"/>
            </a:endParaRPr>
          </a:p>
          <a:p>
            <a:pPr marL="180975" marR="0" lvl="0" indent="-180975" rtl="0">
              <a:spcBef>
                <a:spcPts val="0"/>
              </a:spcBef>
              <a:spcAft>
                <a:spcPts val="1000"/>
              </a:spcAft>
              <a:buClr>
                <a:schemeClr val="tx1"/>
              </a:buClr>
              <a:buSzPct val="100000"/>
              <a:buFont typeface="Arial" panose="020B0604020202020204" pitchFamily="34" charset="0"/>
              <a:buChar char="•"/>
            </a:pPr>
            <a:r>
              <a:rPr lang="es-PE" sz="1600" dirty="0">
                <a:solidFill>
                  <a:schemeClr val="tx1"/>
                </a:solidFill>
                <a:latin typeface="Calibri" panose="020F0502020204030204" pitchFamily="34" charset="0"/>
                <a:ea typeface="Calibri"/>
                <a:cs typeface="Calibri" panose="020F0502020204030204" pitchFamily="34" charset="0"/>
                <a:sym typeface="Calibri"/>
              </a:rPr>
              <a:t>Mayor eficiencia y toma de decisiones informada.</a:t>
            </a:r>
            <a:endParaRPr sz="1600" dirty="0">
              <a:solidFill>
                <a:schemeClr val="tx1"/>
              </a:solidFill>
              <a:latin typeface="Calibri" panose="020F0502020204030204" pitchFamily="34" charset="0"/>
              <a:cs typeface="Calibri" panose="020F0502020204030204" pitchFamily="34" charset="0"/>
            </a:endParaRPr>
          </a:p>
          <a:p>
            <a:pPr marL="180975" marR="0" lvl="0" indent="-180975" rtl="0">
              <a:spcBef>
                <a:spcPts val="0"/>
              </a:spcBef>
              <a:spcAft>
                <a:spcPts val="1000"/>
              </a:spcAft>
              <a:buClr>
                <a:schemeClr val="tx1"/>
              </a:buClr>
              <a:buSzPct val="100000"/>
              <a:buFont typeface="Arial" panose="020B0604020202020204" pitchFamily="34" charset="0"/>
              <a:buChar char="•"/>
            </a:pPr>
            <a:r>
              <a:rPr lang="es-PE" sz="1600" dirty="0">
                <a:solidFill>
                  <a:schemeClr val="tx1"/>
                </a:solidFill>
                <a:latin typeface="Calibri" panose="020F0502020204030204" pitchFamily="34" charset="0"/>
                <a:ea typeface="Calibri"/>
                <a:cs typeface="Calibri" panose="020F0502020204030204" pitchFamily="34" charset="0"/>
                <a:sym typeface="Calibri"/>
              </a:rPr>
              <a:t>Mejora en la calidad de los servicios públicos.</a:t>
            </a:r>
            <a:endParaRPr sz="1600" dirty="0">
              <a:solidFill>
                <a:schemeClr val="tx1"/>
              </a:solidFill>
              <a:latin typeface="Calibri" panose="020F0502020204030204" pitchFamily="34" charset="0"/>
              <a:cs typeface="Calibri" panose="020F0502020204030204" pitchFamily="34" charset="0"/>
            </a:endParaRPr>
          </a:p>
          <a:p>
            <a:pPr marL="180975" marR="0" lvl="0" indent="-180975" rtl="0">
              <a:spcBef>
                <a:spcPts val="0"/>
              </a:spcBef>
              <a:spcAft>
                <a:spcPts val="1000"/>
              </a:spcAft>
              <a:buClr>
                <a:schemeClr val="tx1"/>
              </a:buClr>
              <a:buSzPct val="100000"/>
              <a:buFont typeface="Arial" panose="020B0604020202020204" pitchFamily="34" charset="0"/>
              <a:buChar char="•"/>
            </a:pPr>
            <a:r>
              <a:rPr lang="es-PE" sz="1600" dirty="0">
                <a:solidFill>
                  <a:schemeClr val="tx1"/>
                </a:solidFill>
                <a:latin typeface="Calibri" panose="020F0502020204030204" pitchFamily="34" charset="0"/>
                <a:ea typeface="Calibri"/>
                <a:cs typeface="Calibri" panose="020F0502020204030204" pitchFamily="34" charset="0"/>
                <a:sym typeface="Calibri"/>
              </a:rPr>
              <a:t>Aumento en la transparencia y rendición de cuentas.</a:t>
            </a:r>
            <a:endParaRPr sz="1600" dirty="0">
              <a:solidFill>
                <a:schemeClr val="tx1"/>
              </a:solidFill>
              <a:latin typeface="Calibri" panose="020F0502020204030204" pitchFamily="34" charset="0"/>
              <a:cs typeface="Calibri" panose="020F0502020204030204" pitchFamily="34" charset="0"/>
            </a:endParaRPr>
          </a:p>
        </p:txBody>
      </p:sp>
      <p:sp>
        <p:nvSpPr>
          <p:cNvPr id="2" name="Google Shape;127;p5">
            <a:extLst>
              <a:ext uri="{FF2B5EF4-FFF2-40B4-BE49-F238E27FC236}">
                <a16:creationId xmlns:a16="http://schemas.microsoft.com/office/drawing/2014/main" id="{F983A1A0-AC56-0A89-3508-419C7E8EAE07}"/>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EJEMPLOS PRÁCTICOS EN DIFERENTES INDUSTRIAS</a:t>
            </a:r>
            <a:endParaRPr dirty="0">
              <a:latin typeface="Calibri" panose="020F0502020204030204" pitchFamily="34" charset="0"/>
              <a:cs typeface="Calibri" panose="020F0502020204030204" pitchFamily="34" charset="0"/>
            </a:endParaRPr>
          </a:p>
        </p:txBody>
      </p:sp>
      <p:pic>
        <p:nvPicPr>
          <p:cNvPr id="5" name="Imagen 4">
            <a:extLst>
              <a:ext uri="{FF2B5EF4-FFF2-40B4-BE49-F238E27FC236}">
                <a16:creationId xmlns:a16="http://schemas.microsoft.com/office/drawing/2014/main" id="{8F9A609A-1F87-0997-1AF4-523EB631F400}"/>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4067175" y="921126"/>
            <a:ext cx="5076825" cy="43128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9"/>
          <p:cNvSpPr txBox="1"/>
          <p:nvPr/>
        </p:nvSpPr>
        <p:spPr>
          <a:xfrm>
            <a:off x="508377" y="912813"/>
            <a:ext cx="7638096" cy="1138773"/>
          </a:xfrm>
          <a:prstGeom prst="rect">
            <a:avLst/>
          </a:prstGeom>
          <a:noFill/>
          <a:ln>
            <a:noFill/>
          </a:ln>
        </p:spPr>
        <p:txBody>
          <a:bodyPr spcFirstLastPara="1" wrap="square" lIns="0" tIns="0" rIns="0" bIns="0" anchor="t" anchorCtr="0">
            <a:spAutoFit/>
          </a:bodyPr>
          <a:lstStyle/>
          <a:p>
            <a:pPr marR="0" lvl="0" indent="0" rtl="0">
              <a:spcBef>
                <a:spcPts val="0"/>
              </a:spcBef>
              <a:spcAft>
                <a:spcPts val="600"/>
              </a:spcAft>
              <a:buNone/>
            </a:pPr>
            <a:r>
              <a:rPr lang="es-PE" sz="1600" b="1" dirty="0">
                <a:solidFill>
                  <a:schemeClr val="tx1"/>
                </a:solidFill>
                <a:latin typeface="Calibri" panose="020F0502020204030204" pitchFamily="34" charset="0"/>
                <a:ea typeface="Calibri"/>
                <a:cs typeface="Calibri" panose="020F0502020204030204" pitchFamily="34" charset="0"/>
                <a:sym typeface="Calibri"/>
              </a:rPr>
              <a:t>GOBIERNO DE ARAGÓN</a:t>
            </a:r>
            <a:endParaRPr sz="1600" dirty="0">
              <a:solidFill>
                <a:schemeClr val="tx1"/>
              </a:solidFill>
              <a:latin typeface="Calibri" panose="020F0502020204030204" pitchFamily="34" charset="0"/>
              <a:ea typeface="Calibri"/>
              <a:cs typeface="Calibri" panose="020F0502020204030204" pitchFamily="34" charset="0"/>
              <a:sym typeface="Calibri"/>
            </a:endParaRPr>
          </a:p>
          <a:p>
            <a:pPr marR="0" lvl="0" indent="0" rtl="0">
              <a:spcBef>
                <a:spcPts val="0"/>
              </a:spcBef>
              <a:spcAft>
                <a:spcPts val="600"/>
              </a:spcAft>
              <a:buNone/>
            </a:pPr>
            <a:r>
              <a:rPr lang="es-PE" sz="1600" dirty="0">
                <a:solidFill>
                  <a:schemeClr val="tx1"/>
                </a:solidFill>
                <a:latin typeface="Calibri" panose="020F0502020204030204" pitchFamily="34" charset="0"/>
                <a:ea typeface="Calibri"/>
                <a:cs typeface="Calibri" panose="020F0502020204030204" pitchFamily="34" charset="0"/>
                <a:sym typeface="Calibri"/>
              </a:rPr>
              <a:t>Mejorar la experiencia de los ciudadanos cuando usan los servicios públicos. Además, crear y adaptar aplicaciones de uso interno y externo, así como el rediseño de servicios para la ciudadanía y el desarrollo de nuevas herramientas digitales.</a:t>
            </a:r>
            <a:endParaRPr sz="1600" dirty="0">
              <a:solidFill>
                <a:schemeClr val="tx1"/>
              </a:solidFill>
              <a:latin typeface="Calibri" panose="020F0502020204030204" pitchFamily="34" charset="0"/>
              <a:cs typeface="Calibri" panose="020F0502020204030204" pitchFamily="34" charset="0"/>
            </a:endParaRPr>
          </a:p>
        </p:txBody>
      </p:sp>
      <p:sp>
        <p:nvSpPr>
          <p:cNvPr id="2" name="Google Shape;127;p5">
            <a:extLst>
              <a:ext uri="{FF2B5EF4-FFF2-40B4-BE49-F238E27FC236}">
                <a16:creationId xmlns:a16="http://schemas.microsoft.com/office/drawing/2014/main" id="{F526A5AF-8A4A-D4F3-8355-5D1105BD9203}"/>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EJEMPLOS PRÁCTICOS EN DIFERENTES INDUSTRIAS</a:t>
            </a:r>
            <a:endParaRPr dirty="0">
              <a:latin typeface="Calibri" panose="020F0502020204030204" pitchFamily="34" charset="0"/>
              <a:cs typeface="Calibri" panose="020F0502020204030204" pitchFamily="34" charset="0"/>
            </a:endParaRPr>
          </a:p>
        </p:txBody>
      </p:sp>
      <p:pic>
        <p:nvPicPr>
          <p:cNvPr id="4" name="Imagen 3">
            <a:extLst>
              <a:ext uri="{FF2B5EF4-FFF2-40B4-BE49-F238E27FC236}">
                <a16:creationId xmlns:a16="http://schemas.microsoft.com/office/drawing/2014/main" id="{20CB0F62-174B-370B-2199-0FA2AFEF6F07}"/>
              </a:ext>
            </a:extLst>
          </p:cNvPr>
          <p:cNvPicPr>
            <a:picLocks noChangeAspect="1"/>
          </p:cNvPicPr>
          <p:nvPr/>
        </p:nvPicPr>
        <p:blipFill>
          <a:blip r:embed="rId3"/>
          <a:stretch>
            <a:fillRect/>
          </a:stretch>
        </p:blipFill>
        <p:spPr>
          <a:xfrm>
            <a:off x="950408" y="2707451"/>
            <a:ext cx="7243185" cy="16127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0"/>
          <p:cNvSpPr txBox="1"/>
          <p:nvPr/>
        </p:nvSpPr>
        <p:spPr>
          <a:xfrm>
            <a:off x="508377" y="912813"/>
            <a:ext cx="7596532" cy="1744067"/>
          </a:xfrm>
          <a:prstGeom prst="rect">
            <a:avLst/>
          </a:prstGeom>
          <a:noFill/>
          <a:ln>
            <a:noFill/>
          </a:ln>
        </p:spPr>
        <p:txBody>
          <a:bodyPr spcFirstLastPara="1" wrap="square" lIns="0" tIns="0" rIns="0" bIns="0" anchor="t" anchorCtr="0">
            <a:spAutoFit/>
          </a:bodyPr>
          <a:lstStyle/>
          <a:p>
            <a:pPr marR="0" lvl="0" rtl="0">
              <a:spcBef>
                <a:spcPts val="0"/>
              </a:spcBef>
              <a:spcAft>
                <a:spcPts val="1000"/>
              </a:spcAft>
            </a:pPr>
            <a:r>
              <a:rPr lang="es-PE" sz="1600" b="1" dirty="0">
                <a:solidFill>
                  <a:schemeClr val="tx1"/>
                </a:solidFill>
                <a:latin typeface="Calibri" panose="020F0502020204030204" pitchFamily="34" charset="0"/>
                <a:ea typeface="Calibri"/>
                <a:cs typeface="Calibri" panose="020F0502020204030204" pitchFamily="34" charset="0"/>
                <a:sym typeface="Calibri"/>
              </a:rPr>
              <a:t>ESTRATEGIA</a:t>
            </a:r>
            <a:endParaRPr sz="1600" dirty="0">
              <a:solidFill>
                <a:schemeClr val="tx1"/>
              </a:solidFill>
              <a:latin typeface="Calibri" panose="020F0502020204030204" pitchFamily="34" charset="0"/>
              <a:ea typeface="Calibri"/>
              <a:cs typeface="Calibri" panose="020F0502020204030204" pitchFamily="34" charset="0"/>
              <a:sym typeface="Calibri"/>
            </a:endParaRPr>
          </a:p>
          <a:p>
            <a:pPr marR="0" lvl="0" rtl="0">
              <a:spcBef>
                <a:spcPts val="0"/>
              </a:spcBef>
              <a:spcAft>
                <a:spcPts val="1000"/>
              </a:spcAft>
            </a:pPr>
            <a:r>
              <a:rPr lang="es-PE" sz="1600" dirty="0">
                <a:solidFill>
                  <a:schemeClr val="tx1"/>
                </a:solidFill>
                <a:latin typeface="Calibri" panose="020F0502020204030204" pitchFamily="34" charset="0"/>
                <a:ea typeface="Calibri"/>
                <a:cs typeface="Calibri" panose="020F0502020204030204" pitchFamily="34" charset="0"/>
                <a:sym typeface="Calibri"/>
              </a:rPr>
              <a:t>Implementar una plataforma cloud para la gestión de la información conllevó: </a:t>
            </a:r>
            <a:endParaRPr sz="1600" dirty="0">
              <a:solidFill>
                <a:schemeClr val="tx1"/>
              </a:solidFill>
              <a:latin typeface="Calibri" panose="020F0502020204030204" pitchFamily="34" charset="0"/>
              <a:ea typeface="Calibri"/>
              <a:cs typeface="Calibri" panose="020F0502020204030204" pitchFamily="34" charset="0"/>
              <a:sym typeface="Calibri"/>
            </a:endParaRPr>
          </a:p>
          <a:p>
            <a:pPr marL="180975" marR="0" lvl="0" indent="-180975" rtl="0">
              <a:spcBef>
                <a:spcPts val="0"/>
              </a:spcBef>
              <a:spcAft>
                <a:spcPts val="1000"/>
              </a:spcAft>
              <a:buClr>
                <a:schemeClr val="tx1"/>
              </a:buClr>
              <a:buSzPts val="1600"/>
              <a:buFont typeface="Arial" panose="020B0604020202020204" pitchFamily="34" charset="0"/>
              <a:buChar char="•"/>
            </a:pPr>
            <a:r>
              <a:rPr lang="es-PE" sz="1600" dirty="0">
                <a:solidFill>
                  <a:schemeClr val="tx1"/>
                </a:solidFill>
                <a:latin typeface="Calibri" panose="020F0502020204030204" pitchFamily="34" charset="0"/>
                <a:ea typeface="Calibri"/>
                <a:cs typeface="Calibri" panose="020F0502020204030204" pitchFamily="34" charset="0"/>
                <a:sym typeface="Calibri"/>
              </a:rPr>
              <a:t>Tener un repositorio centralizado y escalable ante el creciente volumen de datos.</a:t>
            </a:r>
            <a:endParaRPr sz="1600" dirty="0">
              <a:solidFill>
                <a:schemeClr val="tx1"/>
              </a:solidFill>
              <a:latin typeface="Calibri" panose="020F0502020204030204" pitchFamily="34" charset="0"/>
              <a:cs typeface="Calibri" panose="020F0502020204030204" pitchFamily="34" charset="0"/>
            </a:endParaRPr>
          </a:p>
          <a:p>
            <a:pPr marL="180975" marR="0" lvl="0" indent="-180975" rtl="0">
              <a:spcBef>
                <a:spcPts val="0"/>
              </a:spcBef>
              <a:spcAft>
                <a:spcPts val="1000"/>
              </a:spcAft>
              <a:buClr>
                <a:schemeClr val="tx1"/>
              </a:buClr>
              <a:buSzPts val="1600"/>
              <a:buFont typeface="Arial" panose="020B0604020202020204" pitchFamily="34" charset="0"/>
              <a:buChar char="•"/>
            </a:pPr>
            <a:r>
              <a:rPr lang="es-PE" sz="1600" dirty="0">
                <a:solidFill>
                  <a:schemeClr val="tx1"/>
                </a:solidFill>
                <a:latin typeface="Calibri" panose="020F0502020204030204" pitchFamily="34" charset="0"/>
                <a:ea typeface="Calibri"/>
                <a:cs typeface="Calibri" panose="020F0502020204030204" pitchFamily="34" charset="0"/>
                <a:sym typeface="Calibri"/>
              </a:rPr>
              <a:t>La unificación y normalización de la información de los diferentes organismos del gobierno de Aragón involucrados en el proyecto. </a:t>
            </a:r>
            <a:endParaRPr sz="1600" dirty="0">
              <a:solidFill>
                <a:schemeClr val="tx1"/>
              </a:solidFill>
              <a:latin typeface="Calibri" panose="020F0502020204030204" pitchFamily="34" charset="0"/>
              <a:cs typeface="Calibri" panose="020F0502020204030204" pitchFamily="34" charset="0"/>
            </a:endParaRPr>
          </a:p>
        </p:txBody>
      </p:sp>
      <p:sp>
        <p:nvSpPr>
          <p:cNvPr id="2" name="Google Shape;127;p5">
            <a:extLst>
              <a:ext uri="{FF2B5EF4-FFF2-40B4-BE49-F238E27FC236}">
                <a16:creationId xmlns:a16="http://schemas.microsoft.com/office/drawing/2014/main" id="{90944329-B6B5-BF13-E433-CD54390E56F6}"/>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EJEMPLOS PRÁCTICOS EN DIFERENTES INDUSTRIAS</a:t>
            </a:r>
            <a:endParaRPr dirty="0">
              <a:latin typeface="Calibri" panose="020F0502020204030204" pitchFamily="34" charset="0"/>
              <a:cs typeface="Calibri" panose="020F0502020204030204" pitchFamily="34" charset="0"/>
            </a:endParaRPr>
          </a:p>
        </p:txBody>
      </p:sp>
      <p:pic>
        <p:nvPicPr>
          <p:cNvPr id="5" name="Google Shape;119;p11">
            <a:extLst>
              <a:ext uri="{FF2B5EF4-FFF2-40B4-BE49-F238E27FC236}">
                <a16:creationId xmlns:a16="http://schemas.microsoft.com/office/drawing/2014/main" id="{0700DD54-9E0C-93A9-3C86-195BB175E0B1}"/>
              </a:ext>
            </a:extLst>
          </p:cNvPr>
          <p:cNvPicPr preferRelativeResize="0"/>
          <p:nvPr/>
        </p:nvPicPr>
        <p:blipFill rotWithShape="1">
          <a:blip r:embed="rId3">
            <a:alphaModFix/>
          </a:blip>
          <a:srcRect/>
          <a:stretch/>
        </p:blipFill>
        <p:spPr>
          <a:xfrm>
            <a:off x="511551" y="4942115"/>
            <a:ext cx="988063" cy="291873"/>
          </a:xfrm>
          <a:prstGeom prst="rect">
            <a:avLst/>
          </a:prstGeom>
          <a:noFill/>
          <a:ln>
            <a:noFill/>
          </a:ln>
        </p:spPr>
      </p:pic>
      <p:pic>
        <p:nvPicPr>
          <p:cNvPr id="7" name="Imagen 6">
            <a:extLst>
              <a:ext uri="{FF2B5EF4-FFF2-40B4-BE49-F238E27FC236}">
                <a16:creationId xmlns:a16="http://schemas.microsoft.com/office/drawing/2014/main" id="{F6DE33DF-1F13-7A7F-4252-E01611D4A471}"/>
              </a:ext>
            </a:extLst>
          </p:cNvPr>
          <p:cNvPicPr>
            <a:picLocks noChangeAspect="1"/>
          </p:cNvPicPr>
          <p:nvPr/>
        </p:nvPicPr>
        <p:blipFill>
          <a:blip r:embed="rId4"/>
          <a:srcRect t="14584" b="7218"/>
          <a:stretch>
            <a:fillRect/>
          </a:stretch>
        </p:blipFill>
        <p:spPr>
          <a:xfrm>
            <a:off x="2071492" y="2715071"/>
            <a:ext cx="5001016" cy="25771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grpSp>
        <p:nvGrpSpPr>
          <p:cNvPr id="39" name="Grupo 38">
            <a:extLst>
              <a:ext uri="{FF2B5EF4-FFF2-40B4-BE49-F238E27FC236}">
                <a16:creationId xmlns:a16="http://schemas.microsoft.com/office/drawing/2014/main" id="{3B0C7B37-D455-DFFF-D932-3BC48A730127}"/>
              </a:ext>
            </a:extLst>
          </p:cNvPr>
          <p:cNvGrpSpPr/>
          <p:nvPr/>
        </p:nvGrpSpPr>
        <p:grpSpPr>
          <a:xfrm>
            <a:off x="1365325" y="1785458"/>
            <a:ext cx="6413350" cy="3212437"/>
            <a:chOff x="1508680" y="1461950"/>
            <a:chExt cx="6810272" cy="3411255"/>
          </a:xfrm>
        </p:grpSpPr>
        <p:pic>
          <p:nvPicPr>
            <p:cNvPr id="21" name="Imagen 20">
              <a:extLst>
                <a:ext uri="{FF2B5EF4-FFF2-40B4-BE49-F238E27FC236}">
                  <a16:creationId xmlns:a16="http://schemas.microsoft.com/office/drawing/2014/main" id="{0DE39BBD-FF15-B799-5C55-867CAEC950F7}"/>
                </a:ext>
              </a:extLst>
            </p:cNvPr>
            <p:cNvPicPr>
              <a:picLocks noChangeAspect="1"/>
            </p:cNvPicPr>
            <p:nvPr/>
          </p:nvPicPr>
          <p:blipFill>
            <a:blip r:embed="rId3"/>
            <a:srcRect l="1615" r="570" b="402"/>
            <a:stretch>
              <a:fillRect/>
            </a:stretch>
          </p:blipFill>
          <p:spPr>
            <a:xfrm>
              <a:off x="2428387" y="1461950"/>
              <a:ext cx="4900822" cy="3411255"/>
            </a:xfrm>
            <a:prstGeom prst="rect">
              <a:avLst/>
            </a:prstGeom>
          </p:spPr>
        </p:pic>
        <p:sp>
          <p:nvSpPr>
            <p:cNvPr id="8" name="Pentágono 7">
              <a:extLst>
                <a:ext uri="{FF2B5EF4-FFF2-40B4-BE49-F238E27FC236}">
                  <a16:creationId xmlns:a16="http://schemas.microsoft.com/office/drawing/2014/main" id="{F6BE7213-D782-35D7-B37D-F1DCCFF25D28}"/>
                </a:ext>
              </a:extLst>
            </p:cNvPr>
            <p:cNvSpPr/>
            <p:nvPr/>
          </p:nvSpPr>
          <p:spPr>
            <a:xfrm>
              <a:off x="1508680" y="4289531"/>
              <a:ext cx="866727" cy="349135"/>
            </a:xfrm>
            <a:prstGeom prst="homePlate">
              <a:avLst/>
            </a:prstGeom>
            <a:solidFill>
              <a:srgbClr val="05AAE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_tradnl" sz="800" b="1" dirty="0">
                  <a:latin typeface="Calibri" panose="020F0502020204030204" pitchFamily="34" charset="0"/>
                  <a:cs typeface="Calibri" panose="020F0502020204030204" pitchFamily="34" charset="0"/>
                </a:rPr>
                <a:t>Requerimiento</a:t>
              </a:r>
            </a:p>
          </p:txBody>
        </p:sp>
        <p:sp>
          <p:nvSpPr>
            <p:cNvPr id="9" name="Pentágono 8">
              <a:extLst>
                <a:ext uri="{FF2B5EF4-FFF2-40B4-BE49-F238E27FC236}">
                  <a16:creationId xmlns:a16="http://schemas.microsoft.com/office/drawing/2014/main" id="{1B7FBB2C-D3F9-0DB5-5139-53E79B89CF3C}"/>
                </a:ext>
              </a:extLst>
            </p:cNvPr>
            <p:cNvSpPr/>
            <p:nvPr/>
          </p:nvSpPr>
          <p:spPr>
            <a:xfrm>
              <a:off x="7452225" y="4289531"/>
              <a:ext cx="866727" cy="349135"/>
            </a:xfrm>
            <a:prstGeom prst="homePlate">
              <a:avLst/>
            </a:prstGeom>
            <a:solidFill>
              <a:srgbClr val="05AAE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_tradnl" sz="800" b="1" dirty="0">
                  <a:latin typeface="Calibri" panose="020F0502020204030204" pitchFamily="34" charset="0"/>
                  <a:cs typeface="Calibri" panose="020F0502020204030204" pitchFamily="34" charset="0"/>
                </a:rPr>
                <a:t>Respuesta</a:t>
              </a:r>
            </a:p>
          </p:txBody>
        </p:sp>
        <p:cxnSp>
          <p:nvCxnSpPr>
            <p:cNvPr id="16" name="Conector recto 15">
              <a:extLst>
                <a:ext uri="{FF2B5EF4-FFF2-40B4-BE49-F238E27FC236}">
                  <a16:creationId xmlns:a16="http://schemas.microsoft.com/office/drawing/2014/main" id="{D46F8649-0339-9FBF-C492-7A5F24BBCE8C}"/>
                </a:ext>
              </a:extLst>
            </p:cNvPr>
            <p:cNvCxnSpPr>
              <a:cxnSpLocks/>
            </p:cNvCxnSpPr>
            <p:nvPr/>
          </p:nvCxnSpPr>
          <p:spPr>
            <a:xfrm flipV="1">
              <a:off x="2419149" y="3999862"/>
              <a:ext cx="324051" cy="17456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83CF0A5D-BEC7-70C0-A4DA-F7B891570650}"/>
                </a:ext>
              </a:extLst>
            </p:cNvPr>
            <p:cNvSpPr/>
            <p:nvPr/>
          </p:nvSpPr>
          <p:spPr>
            <a:xfrm>
              <a:off x="4206240" y="1936933"/>
              <a:ext cx="1365104" cy="311592"/>
            </a:xfrm>
            <a:prstGeom prst="rect">
              <a:avLst/>
            </a:prstGeom>
            <a:solidFill>
              <a:srgbClr val="C5B7D6"/>
            </a:solidFill>
            <a:ln w="19050">
              <a:solidFill>
                <a:srgbClr val="483B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1200" dirty="0">
                  <a:solidFill>
                    <a:schemeClr val="tx1"/>
                  </a:solidFill>
                  <a:latin typeface="Calibri" panose="020F0502020204030204" pitchFamily="34" charset="0"/>
                  <a:cs typeface="Calibri" panose="020F0502020204030204" pitchFamily="34" charset="0"/>
                </a:rPr>
                <a:t>Organización </a:t>
              </a:r>
            </a:p>
          </p:txBody>
        </p:sp>
        <p:sp>
          <p:nvSpPr>
            <p:cNvPr id="23" name="Rectángulo 22">
              <a:extLst>
                <a:ext uri="{FF2B5EF4-FFF2-40B4-BE49-F238E27FC236}">
                  <a16:creationId xmlns:a16="http://schemas.microsoft.com/office/drawing/2014/main" id="{702EAB34-43A2-FCA0-19D3-BA551B2B3E39}"/>
                </a:ext>
              </a:extLst>
            </p:cNvPr>
            <p:cNvSpPr/>
            <p:nvPr/>
          </p:nvSpPr>
          <p:spPr>
            <a:xfrm>
              <a:off x="6005059" y="2753032"/>
              <a:ext cx="1365104" cy="311592"/>
            </a:xfrm>
            <a:prstGeom prst="rect">
              <a:avLst/>
            </a:prstGeom>
            <a:solidFill>
              <a:srgbClr val="FFE07D"/>
            </a:solidFill>
            <a:ln w="19050">
              <a:solidFill>
                <a:srgbClr val="B587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1200" dirty="0">
                  <a:solidFill>
                    <a:schemeClr val="tx1"/>
                  </a:solidFill>
                  <a:latin typeface="Calibri" panose="020F0502020204030204" pitchFamily="34" charset="0"/>
                  <a:cs typeface="Calibri" panose="020F0502020204030204" pitchFamily="34" charset="0"/>
                </a:rPr>
                <a:t>Función C</a:t>
              </a:r>
            </a:p>
          </p:txBody>
        </p:sp>
        <p:sp>
          <p:nvSpPr>
            <p:cNvPr id="24" name="Rectángulo 23">
              <a:extLst>
                <a:ext uri="{FF2B5EF4-FFF2-40B4-BE49-F238E27FC236}">
                  <a16:creationId xmlns:a16="http://schemas.microsoft.com/office/drawing/2014/main" id="{73ACB82B-23AE-E1DD-1A33-81E8666AED50}"/>
                </a:ext>
              </a:extLst>
            </p:cNvPr>
            <p:cNvSpPr/>
            <p:nvPr/>
          </p:nvSpPr>
          <p:spPr>
            <a:xfrm>
              <a:off x="4196246" y="2753032"/>
              <a:ext cx="1365104" cy="311592"/>
            </a:xfrm>
            <a:prstGeom prst="rect">
              <a:avLst/>
            </a:prstGeom>
            <a:solidFill>
              <a:srgbClr val="E3A6A8"/>
            </a:solidFill>
            <a:ln w="19050">
              <a:solidFill>
                <a:srgbClr val="9138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1200" dirty="0">
                  <a:solidFill>
                    <a:schemeClr val="tx1"/>
                  </a:solidFill>
                  <a:latin typeface="Calibri" panose="020F0502020204030204" pitchFamily="34" charset="0"/>
                  <a:cs typeface="Calibri" panose="020F0502020204030204" pitchFamily="34" charset="0"/>
                </a:rPr>
                <a:t>Función B</a:t>
              </a:r>
            </a:p>
          </p:txBody>
        </p:sp>
        <p:sp>
          <p:nvSpPr>
            <p:cNvPr id="25" name="Rectángulo 24">
              <a:extLst>
                <a:ext uri="{FF2B5EF4-FFF2-40B4-BE49-F238E27FC236}">
                  <a16:creationId xmlns:a16="http://schemas.microsoft.com/office/drawing/2014/main" id="{9F0AC768-7A8C-2836-0D7C-03FCFA55F674}"/>
                </a:ext>
              </a:extLst>
            </p:cNvPr>
            <p:cNvSpPr/>
            <p:nvPr/>
          </p:nvSpPr>
          <p:spPr>
            <a:xfrm>
              <a:off x="2399070" y="2753032"/>
              <a:ext cx="1365104" cy="311592"/>
            </a:xfrm>
            <a:prstGeom prst="rect">
              <a:avLst/>
            </a:prstGeom>
            <a:solidFill>
              <a:srgbClr val="B4D88E"/>
            </a:solidFill>
            <a:ln w="19050">
              <a:solidFill>
                <a:srgbClr val="5F7D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1200" dirty="0">
                  <a:solidFill>
                    <a:schemeClr val="tx1"/>
                  </a:solidFill>
                  <a:latin typeface="Calibri" panose="020F0502020204030204" pitchFamily="34" charset="0"/>
                  <a:cs typeface="Calibri" panose="020F0502020204030204" pitchFamily="34" charset="0"/>
                </a:rPr>
                <a:t>Función A</a:t>
              </a:r>
            </a:p>
          </p:txBody>
        </p:sp>
        <p:sp>
          <p:nvSpPr>
            <p:cNvPr id="27" name="Rectángulo 26">
              <a:extLst>
                <a:ext uri="{FF2B5EF4-FFF2-40B4-BE49-F238E27FC236}">
                  <a16:creationId xmlns:a16="http://schemas.microsoft.com/office/drawing/2014/main" id="{7B5AD7D2-8CC8-942D-2237-B289D5A7954B}"/>
                </a:ext>
              </a:extLst>
            </p:cNvPr>
            <p:cNvSpPr/>
            <p:nvPr/>
          </p:nvSpPr>
          <p:spPr>
            <a:xfrm>
              <a:off x="4514875" y="4289531"/>
              <a:ext cx="211455" cy="512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6" name="Imagen 25">
              <a:extLst>
                <a:ext uri="{FF2B5EF4-FFF2-40B4-BE49-F238E27FC236}">
                  <a16:creationId xmlns:a16="http://schemas.microsoft.com/office/drawing/2014/main" id="{B37097C8-4EC8-8540-E8D7-C4F0E82AA54C}"/>
                </a:ext>
              </a:extLst>
            </p:cNvPr>
            <p:cNvPicPr>
              <a:picLocks noChangeAspect="1"/>
            </p:cNvPicPr>
            <p:nvPr/>
          </p:nvPicPr>
          <p:blipFill>
            <a:blip r:embed="rId3"/>
            <a:srcRect l="43072" t="83917" r="52707" b="3384"/>
            <a:stretch>
              <a:fillRect/>
            </a:stretch>
          </p:blipFill>
          <p:spPr>
            <a:xfrm>
              <a:off x="4485007" y="4078031"/>
              <a:ext cx="211455" cy="434975"/>
            </a:xfrm>
            <a:prstGeom prst="rect">
              <a:avLst/>
            </a:prstGeom>
          </p:spPr>
        </p:pic>
        <p:sp>
          <p:nvSpPr>
            <p:cNvPr id="19" name="Forma libre 18">
              <a:extLst>
                <a:ext uri="{FF2B5EF4-FFF2-40B4-BE49-F238E27FC236}">
                  <a16:creationId xmlns:a16="http://schemas.microsoft.com/office/drawing/2014/main" id="{6B0AC05E-053D-2A44-F4E2-D79FDB23B733}"/>
                </a:ext>
              </a:extLst>
            </p:cNvPr>
            <p:cNvSpPr/>
            <p:nvPr/>
          </p:nvSpPr>
          <p:spPr>
            <a:xfrm>
              <a:off x="2442944" y="3256336"/>
              <a:ext cx="4893505" cy="1520610"/>
            </a:xfrm>
            <a:custGeom>
              <a:avLst/>
              <a:gdLst>
                <a:gd name="connsiteX0" fmla="*/ 0 w 3724102"/>
                <a:gd name="connsiteY0" fmla="*/ 968167 h 1181092"/>
                <a:gd name="connsiteX1" fmla="*/ 299258 w 3724102"/>
                <a:gd name="connsiteY1" fmla="*/ 801912 h 1181092"/>
                <a:gd name="connsiteX2" fmla="*/ 457200 w 3724102"/>
                <a:gd name="connsiteY2" fmla="*/ 1051294 h 1181092"/>
                <a:gd name="connsiteX3" fmla="*/ 1512916 w 3724102"/>
                <a:gd name="connsiteY3" fmla="*/ 1159359 h 1181092"/>
                <a:gd name="connsiteX4" fmla="*/ 1853738 w 3724102"/>
                <a:gd name="connsiteY4" fmla="*/ 627345 h 1181092"/>
                <a:gd name="connsiteX5" fmla="*/ 3100647 w 3724102"/>
                <a:gd name="connsiteY5" fmla="*/ 909977 h 1181092"/>
                <a:gd name="connsiteX6" fmla="*/ 3308466 w 3724102"/>
                <a:gd name="connsiteY6" fmla="*/ 3890 h 1181092"/>
                <a:gd name="connsiteX7" fmla="*/ 3724102 w 3724102"/>
                <a:gd name="connsiteY7" fmla="*/ 643970 h 1181092"/>
                <a:gd name="connsiteX0" fmla="*/ 0 w 3724102"/>
                <a:gd name="connsiteY0" fmla="*/ 968167 h 1181092"/>
                <a:gd name="connsiteX1" fmla="*/ 299258 w 3724102"/>
                <a:gd name="connsiteY1" fmla="*/ 801912 h 1181092"/>
                <a:gd name="connsiteX2" fmla="*/ 457200 w 3724102"/>
                <a:gd name="connsiteY2" fmla="*/ 1051294 h 1181092"/>
                <a:gd name="connsiteX3" fmla="*/ 1512916 w 3724102"/>
                <a:gd name="connsiteY3" fmla="*/ 1159359 h 1181092"/>
                <a:gd name="connsiteX4" fmla="*/ 1853738 w 3724102"/>
                <a:gd name="connsiteY4" fmla="*/ 627345 h 1181092"/>
                <a:gd name="connsiteX5" fmla="*/ 3100647 w 3724102"/>
                <a:gd name="connsiteY5" fmla="*/ 909977 h 1181092"/>
                <a:gd name="connsiteX6" fmla="*/ 3308466 w 3724102"/>
                <a:gd name="connsiteY6" fmla="*/ 3890 h 1181092"/>
                <a:gd name="connsiteX7" fmla="*/ 3724102 w 3724102"/>
                <a:gd name="connsiteY7" fmla="*/ 643970 h 1181092"/>
                <a:gd name="connsiteX0" fmla="*/ 0 w 3724102"/>
                <a:gd name="connsiteY0" fmla="*/ 968167 h 1181092"/>
                <a:gd name="connsiteX1" fmla="*/ 299258 w 3724102"/>
                <a:gd name="connsiteY1" fmla="*/ 801912 h 1181092"/>
                <a:gd name="connsiteX2" fmla="*/ 457200 w 3724102"/>
                <a:gd name="connsiteY2" fmla="*/ 1051294 h 1181092"/>
                <a:gd name="connsiteX3" fmla="*/ 1512916 w 3724102"/>
                <a:gd name="connsiteY3" fmla="*/ 1159359 h 1181092"/>
                <a:gd name="connsiteX4" fmla="*/ 1853738 w 3724102"/>
                <a:gd name="connsiteY4" fmla="*/ 627345 h 1181092"/>
                <a:gd name="connsiteX5" fmla="*/ 3100647 w 3724102"/>
                <a:gd name="connsiteY5" fmla="*/ 909977 h 1181092"/>
                <a:gd name="connsiteX6" fmla="*/ 3308466 w 3724102"/>
                <a:gd name="connsiteY6" fmla="*/ 3890 h 1181092"/>
                <a:gd name="connsiteX7" fmla="*/ 3724102 w 3724102"/>
                <a:gd name="connsiteY7" fmla="*/ 643970 h 1181092"/>
                <a:gd name="connsiteX0" fmla="*/ 0 w 3724102"/>
                <a:gd name="connsiteY0" fmla="*/ 968167 h 1181092"/>
                <a:gd name="connsiteX1" fmla="*/ 299258 w 3724102"/>
                <a:gd name="connsiteY1" fmla="*/ 801912 h 1181092"/>
                <a:gd name="connsiteX2" fmla="*/ 457200 w 3724102"/>
                <a:gd name="connsiteY2" fmla="*/ 1051294 h 1181092"/>
                <a:gd name="connsiteX3" fmla="*/ 1512916 w 3724102"/>
                <a:gd name="connsiteY3" fmla="*/ 1159359 h 1181092"/>
                <a:gd name="connsiteX4" fmla="*/ 1853738 w 3724102"/>
                <a:gd name="connsiteY4" fmla="*/ 627345 h 1181092"/>
                <a:gd name="connsiteX5" fmla="*/ 3100647 w 3724102"/>
                <a:gd name="connsiteY5" fmla="*/ 909977 h 1181092"/>
                <a:gd name="connsiteX6" fmla="*/ 3308466 w 3724102"/>
                <a:gd name="connsiteY6" fmla="*/ 3890 h 1181092"/>
                <a:gd name="connsiteX7" fmla="*/ 3724102 w 3724102"/>
                <a:gd name="connsiteY7" fmla="*/ 643970 h 1181092"/>
                <a:gd name="connsiteX0" fmla="*/ 0 w 3724102"/>
                <a:gd name="connsiteY0" fmla="*/ 968167 h 1181092"/>
                <a:gd name="connsiteX1" fmla="*/ 299258 w 3724102"/>
                <a:gd name="connsiteY1" fmla="*/ 801912 h 1181092"/>
                <a:gd name="connsiteX2" fmla="*/ 457200 w 3724102"/>
                <a:gd name="connsiteY2" fmla="*/ 1051294 h 1181092"/>
                <a:gd name="connsiteX3" fmla="*/ 1512916 w 3724102"/>
                <a:gd name="connsiteY3" fmla="*/ 1159359 h 1181092"/>
                <a:gd name="connsiteX4" fmla="*/ 1853738 w 3724102"/>
                <a:gd name="connsiteY4" fmla="*/ 627345 h 1181092"/>
                <a:gd name="connsiteX5" fmla="*/ 3100647 w 3724102"/>
                <a:gd name="connsiteY5" fmla="*/ 909977 h 1181092"/>
                <a:gd name="connsiteX6" fmla="*/ 3308466 w 3724102"/>
                <a:gd name="connsiteY6" fmla="*/ 3890 h 1181092"/>
                <a:gd name="connsiteX7" fmla="*/ 3724102 w 3724102"/>
                <a:gd name="connsiteY7" fmla="*/ 643970 h 1181092"/>
                <a:gd name="connsiteX0" fmla="*/ 0 w 3724102"/>
                <a:gd name="connsiteY0" fmla="*/ 968167 h 1181092"/>
                <a:gd name="connsiteX1" fmla="*/ 299258 w 3724102"/>
                <a:gd name="connsiteY1" fmla="*/ 801912 h 1181092"/>
                <a:gd name="connsiteX2" fmla="*/ 457200 w 3724102"/>
                <a:gd name="connsiteY2" fmla="*/ 1051294 h 1181092"/>
                <a:gd name="connsiteX3" fmla="*/ 1512916 w 3724102"/>
                <a:gd name="connsiteY3" fmla="*/ 1159359 h 1181092"/>
                <a:gd name="connsiteX4" fmla="*/ 1853738 w 3724102"/>
                <a:gd name="connsiteY4" fmla="*/ 627345 h 1181092"/>
                <a:gd name="connsiteX5" fmla="*/ 3100647 w 3724102"/>
                <a:gd name="connsiteY5" fmla="*/ 909977 h 1181092"/>
                <a:gd name="connsiteX6" fmla="*/ 3308466 w 3724102"/>
                <a:gd name="connsiteY6" fmla="*/ 3890 h 1181092"/>
                <a:gd name="connsiteX7" fmla="*/ 3724102 w 3724102"/>
                <a:gd name="connsiteY7" fmla="*/ 643970 h 1181092"/>
                <a:gd name="connsiteX0" fmla="*/ 0 w 3724102"/>
                <a:gd name="connsiteY0" fmla="*/ 968167 h 1181092"/>
                <a:gd name="connsiteX1" fmla="*/ 299258 w 3724102"/>
                <a:gd name="connsiteY1" fmla="*/ 801912 h 1181092"/>
                <a:gd name="connsiteX2" fmla="*/ 457200 w 3724102"/>
                <a:gd name="connsiteY2" fmla="*/ 1051294 h 1181092"/>
                <a:gd name="connsiteX3" fmla="*/ 1512916 w 3724102"/>
                <a:gd name="connsiteY3" fmla="*/ 1159359 h 1181092"/>
                <a:gd name="connsiteX4" fmla="*/ 1853738 w 3724102"/>
                <a:gd name="connsiteY4" fmla="*/ 627345 h 1181092"/>
                <a:gd name="connsiteX5" fmla="*/ 3100647 w 3724102"/>
                <a:gd name="connsiteY5" fmla="*/ 909977 h 1181092"/>
                <a:gd name="connsiteX6" fmla="*/ 3308466 w 3724102"/>
                <a:gd name="connsiteY6" fmla="*/ 3890 h 1181092"/>
                <a:gd name="connsiteX7" fmla="*/ 3724102 w 3724102"/>
                <a:gd name="connsiteY7" fmla="*/ 643970 h 1181092"/>
                <a:gd name="connsiteX0" fmla="*/ 0 w 3724102"/>
                <a:gd name="connsiteY0" fmla="*/ 968167 h 1175636"/>
                <a:gd name="connsiteX1" fmla="*/ 299258 w 3724102"/>
                <a:gd name="connsiteY1" fmla="*/ 801912 h 1175636"/>
                <a:gd name="connsiteX2" fmla="*/ 457200 w 3724102"/>
                <a:gd name="connsiteY2" fmla="*/ 1051294 h 1175636"/>
                <a:gd name="connsiteX3" fmla="*/ 1512916 w 3724102"/>
                <a:gd name="connsiteY3" fmla="*/ 1159359 h 1175636"/>
                <a:gd name="connsiteX4" fmla="*/ 1853738 w 3724102"/>
                <a:gd name="connsiteY4" fmla="*/ 627345 h 1175636"/>
                <a:gd name="connsiteX5" fmla="*/ 3100647 w 3724102"/>
                <a:gd name="connsiteY5" fmla="*/ 909977 h 1175636"/>
                <a:gd name="connsiteX6" fmla="*/ 3308466 w 3724102"/>
                <a:gd name="connsiteY6" fmla="*/ 3890 h 1175636"/>
                <a:gd name="connsiteX7" fmla="*/ 3724102 w 3724102"/>
                <a:gd name="connsiteY7" fmla="*/ 643970 h 1175636"/>
                <a:gd name="connsiteX0" fmla="*/ 0 w 3724102"/>
                <a:gd name="connsiteY0" fmla="*/ 968167 h 1159359"/>
                <a:gd name="connsiteX1" fmla="*/ 299258 w 3724102"/>
                <a:gd name="connsiteY1" fmla="*/ 801912 h 1159359"/>
                <a:gd name="connsiteX2" fmla="*/ 457200 w 3724102"/>
                <a:gd name="connsiteY2" fmla="*/ 1051294 h 1159359"/>
                <a:gd name="connsiteX3" fmla="*/ 1512916 w 3724102"/>
                <a:gd name="connsiteY3" fmla="*/ 1159359 h 1159359"/>
                <a:gd name="connsiteX4" fmla="*/ 1853738 w 3724102"/>
                <a:gd name="connsiteY4" fmla="*/ 627345 h 1159359"/>
                <a:gd name="connsiteX5" fmla="*/ 3100647 w 3724102"/>
                <a:gd name="connsiteY5" fmla="*/ 909977 h 1159359"/>
                <a:gd name="connsiteX6" fmla="*/ 3308466 w 3724102"/>
                <a:gd name="connsiteY6" fmla="*/ 3890 h 1159359"/>
                <a:gd name="connsiteX7" fmla="*/ 3724102 w 3724102"/>
                <a:gd name="connsiteY7" fmla="*/ 643970 h 1159359"/>
                <a:gd name="connsiteX0" fmla="*/ 0 w 3724102"/>
                <a:gd name="connsiteY0" fmla="*/ 968167 h 1159359"/>
                <a:gd name="connsiteX1" fmla="*/ 299258 w 3724102"/>
                <a:gd name="connsiteY1" fmla="*/ 801912 h 1159359"/>
                <a:gd name="connsiteX2" fmla="*/ 457200 w 3724102"/>
                <a:gd name="connsiteY2" fmla="*/ 1051294 h 1159359"/>
                <a:gd name="connsiteX3" fmla="*/ 1512916 w 3724102"/>
                <a:gd name="connsiteY3" fmla="*/ 1159359 h 1159359"/>
                <a:gd name="connsiteX4" fmla="*/ 1853738 w 3724102"/>
                <a:gd name="connsiteY4" fmla="*/ 627345 h 1159359"/>
                <a:gd name="connsiteX5" fmla="*/ 3100647 w 3724102"/>
                <a:gd name="connsiteY5" fmla="*/ 909977 h 1159359"/>
                <a:gd name="connsiteX6" fmla="*/ 3308466 w 3724102"/>
                <a:gd name="connsiteY6" fmla="*/ 3890 h 1159359"/>
                <a:gd name="connsiteX7" fmla="*/ 3724102 w 3724102"/>
                <a:gd name="connsiteY7" fmla="*/ 643970 h 1159359"/>
                <a:gd name="connsiteX0" fmla="*/ 0 w 3724102"/>
                <a:gd name="connsiteY0" fmla="*/ 968167 h 1159359"/>
                <a:gd name="connsiteX1" fmla="*/ 299258 w 3724102"/>
                <a:gd name="connsiteY1" fmla="*/ 801912 h 1159359"/>
                <a:gd name="connsiteX2" fmla="*/ 457200 w 3724102"/>
                <a:gd name="connsiteY2" fmla="*/ 1051294 h 1159359"/>
                <a:gd name="connsiteX3" fmla="*/ 1512916 w 3724102"/>
                <a:gd name="connsiteY3" fmla="*/ 1159359 h 1159359"/>
                <a:gd name="connsiteX4" fmla="*/ 1853738 w 3724102"/>
                <a:gd name="connsiteY4" fmla="*/ 627345 h 1159359"/>
                <a:gd name="connsiteX5" fmla="*/ 3100647 w 3724102"/>
                <a:gd name="connsiteY5" fmla="*/ 909977 h 1159359"/>
                <a:gd name="connsiteX6" fmla="*/ 3308466 w 3724102"/>
                <a:gd name="connsiteY6" fmla="*/ 3890 h 1159359"/>
                <a:gd name="connsiteX7" fmla="*/ 3724102 w 3724102"/>
                <a:gd name="connsiteY7" fmla="*/ 643970 h 1159359"/>
                <a:gd name="connsiteX0" fmla="*/ 0 w 3724102"/>
                <a:gd name="connsiteY0" fmla="*/ 968167 h 1159359"/>
                <a:gd name="connsiteX1" fmla="*/ 299258 w 3724102"/>
                <a:gd name="connsiteY1" fmla="*/ 801912 h 1159359"/>
                <a:gd name="connsiteX2" fmla="*/ 457200 w 3724102"/>
                <a:gd name="connsiteY2" fmla="*/ 1051294 h 1159359"/>
                <a:gd name="connsiteX3" fmla="*/ 1512916 w 3724102"/>
                <a:gd name="connsiteY3" fmla="*/ 1159359 h 1159359"/>
                <a:gd name="connsiteX4" fmla="*/ 1853738 w 3724102"/>
                <a:gd name="connsiteY4" fmla="*/ 627345 h 1159359"/>
                <a:gd name="connsiteX5" fmla="*/ 3100647 w 3724102"/>
                <a:gd name="connsiteY5" fmla="*/ 909977 h 1159359"/>
                <a:gd name="connsiteX6" fmla="*/ 3308466 w 3724102"/>
                <a:gd name="connsiteY6" fmla="*/ 3890 h 1159359"/>
                <a:gd name="connsiteX7" fmla="*/ 3724102 w 3724102"/>
                <a:gd name="connsiteY7" fmla="*/ 643970 h 1159359"/>
                <a:gd name="connsiteX0" fmla="*/ 0 w 3724102"/>
                <a:gd name="connsiteY0" fmla="*/ 964277 h 1155469"/>
                <a:gd name="connsiteX1" fmla="*/ 299258 w 3724102"/>
                <a:gd name="connsiteY1" fmla="*/ 798022 h 1155469"/>
                <a:gd name="connsiteX2" fmla="*/ 457200 w 3724102"/>
                <a:gd name="connsiteY2" fmla="*/ 1047404 h 1155469"/>
                <a:gd name="connsiteX3" fmla="*/ 1512916 w 3724102"/>
                <a:gd name="connsiteY3" fmla="*/ 1155469 h 1155469"/>
                <a:gd name="connsiteX4" fmla="*/ 1853738 w 3724102"/>
                <a:gd name="connsiteY4" fmla="*/ 623455 h 1155469"/>
                <a:gd name="connsiteX5" fmla="*/ 3100647 w 3724102"/>
                <a:gd name="connsiteY5" fmla="*/ 906087 h 1155469"/>
                <a:gd name="connsiteX6" fmla="*/ 3308466 w 3724102"/>
                <a:gd name="connsiteY6" fmla="*/ 0 h 1155469"/>
                <a:gd name="connsiteX7" fmla="*/ 3724102 w 3724102"/>
                <a:gd name="connsiteY7" fmla="*/ 640080 h 1155469"/>
                <a:gd name="connsiteX0" fmla="*/ 0 w 3724112"/>
                <a:gd name="connsiteY0" fmla="*/ 964277 h 1155469"/>
                <a:gd name="connsiteX1" fmla="*/ 299258 w 3724112"/>
                <a:gd name="connsiteY1" fmla="*/ 798022 h 1155469"/>
                <a:gd name="connsiteX2" fmla="*/ 457200 w 3724112"/>
                <a:gd name="connsiteY2" fmla="*/ 1047404 h 1155469"/>
                <a:gd name="connsiteX3" fmla="*/ 1512916 w 3724112"/>
                <a:gd name="connsiteY3" fmla="*/ 1155469 h 1155469"/>
                <a:gd name="connsiteX4" fmla="*/ 1853738 w 3724112"/>
                <a:gd name="connsiteY4" fmla="*/ 623455 h 1155469"/>
                <a:gd name="connsiteX5" fmla="*/ 3100647 w 3724112"/>
                <a:gd name="connsiteY5" fmla="*/ 906087 h 1155469"/>
                <a:gd name="connsiteX6" fmla="*/ 3308466 w 3724112"/>
                <a:gd name="connsiteY6" fmla="*/ 0 h 1155469"/>
                <a:gd name="connsiteX7" fmla="*/ 3724102 w 3724112"/>
                <a:gd name="connsiteY7" fmla="*/ 640080 h 1155469"/>
                <a:gd name="connsiteX0" fmla="*/ 0 w 3724111"/>
                <a:gd name="connsiteY0" fmla="*/ 1188720 h 1379912"/>
                <a:gd name="connsiteX1" fmla="*/ 299258 w 3724111"/>
                <a:gd name="connsiteY1" fmla="*/ 1022465 h 1379912"/>
                <a:gd name="connsiteX2" fmla="*/ 457200 w 3724111"/>
                <a:gd name="connsiteY2" fmla="*/ 1271847 h 1379912"/>
                <a:gd name="connsiteX3" fmla="*/ 1512916 w 3724111"/>
                <a:gd name="connsiteY3" fmla="*/ 1379912 h 1379912"/>
                <a:gd name="connsiteX4" fmla="*/ 1853738 w 3724111"/>
                <a:gd name="connsiteY4" fmla="*/ 847898 h 1379912"/>
                <a:gd name="connsiteX5" fmla="*/ 3100647 w 3724111"/>
                <a:gd name="connsiteY5" fmla="*/ 1130530 h 1379912"/>
                <a:gd name="connsiteX6" fmla="*/ 3257210 w 3724111"/>
                <a:gd name="connsiteY6" fmla="*/ 0 h 1379912"/>
                <a:gd name="connsiteX7" fmla="*/ 3724102 w 3724111"/>
                <a:gd name="connsiteY7" fmla="*/ 864523 h 1379912"/>
                <a:gd name="connsiteX0" fmla="*/ 0 w 3724111"/>
                <a:gd name="connsiteY0" fmla="*/ 1188788 h 1379980"/>
                <a:gd name="connsiteX1" fmla="*/ 299258 w 3724111"/>
                <a:gd name="connsiteY1" fmla="*/ 1022533 h 1379980"/>
                <a:gd name="connsiteX2" fmla="*/ 457200 w 3724111"/>
                <a:gd name="connsiteY2" fmla="*/ 1271915 h 1379980"/>
                <a:gd name="connsiteX3" fmla="*/ 1512916 w 3724111"/>
                <a:gd name="connsiteY3" fmla="*/ 1379980 h 1379980"/>
                <a:gd name="connsiteX4" fmla="*/ 1853738 w 3724111"/>
                <a:gd name="connsiteY4" fmla="*/ 847966 h 1379980"/>
                <a:gd name="connsiteX5" fmla="*/ 3100647 w 3724111"/>
                <a:gd name="connsiteY5" fmla="*/ 1130598 h 1379980"/>
                <a:gd name="connsiteX6" fmla="*/ 3257210 w 3724111"/>
                <a:gd name="connsiteY6" fmla="*/ 68 h 1379980"/>
                <a:gd name="connsiteX7" fmla="*/ 3724102 w 3724111"/>
                <a:gd name="connsiteY7" fmla="*/ 864591 h 1379980"/>
                <a:gd name="connsiteX0" fmla="*/ 0 w 3724114"/>
                <a:gd name="connsiteY0" fmla="*/ 1190581 h 1381773"/>
                <a:gd name="connsiteX1" fmla="*/ 299258 w 3724114"/>
                <a:gd name="connsiteY1" fmla="*/ 1024326 h 1381773"/>
                <a:gd name="connsiteX2" fmla="*/ 457200 w 3724114"/>
                <a:gd name="connsiteY2" fmla="*/ 1273708 h 1381773"/>
                <a:gd name="connsiteX3" fmla="*/ 1512916 w 3724114"/>
                <a:gd name="connsiteY3" fmla="*/ 1381773 h 1381773"/>
                <a:gd name="connsiteX4" fmla="*/ 1853738 w 3724114"/>
                <a:gd name="connsiteY4" fmla="*/ 849759 h 1381773"/>
                <a:gd name="connsiteX5" fmla="*/ 3055799 w 3724114"/>
                <a:gd name="connsiteY5" fmla="*/ 1157329 h 1381773"/>
                <a:gd name="connsiteX6" fmla="*/ 3257210 w 3724114"/>
                <a:gd name="connsiteY6" fmla="*/ 1861 h 1381773"/>
                <a:gd name="connsiteX7" fmla="*/ 3724102 w 3724114"/>
                <a:gd name="connsiteY7" fmla="*/ 866384 h 1381773"/>
                <a:gd name="connsiteX0" fmla="*/ 0 w 3724114"/>
                <a:gd name="connsiteY0" fmla="*/ 1190581 h 1381773"/>
                <a:gd name="connsiteX1" fmla="*/ 299258 w 3724114"/>
                <a:gd name="connsiteY1" fmla="*/ 1024326 h 1381773"/>
                <a:gd name="connsiteX2" fmla="*/ 457200 w 3724114"/>
                <a:gd name="connsiteY2" fmla="*/ 1273708 h 1381773"/>
                <a:gd name="connsiteX3" fmla="*/ 1512916 w 3724114"/>
                <a:gd name="connsiteY3" fmla="*/ 1381773 h 1381773"/>
                <a:gd name="connsiteX4" fmla="*/ 1853738 w 3724114"/>
                <a:gd name="connsiteY4" fmla="*/ 849759 h 1381773"/>
                <a:gd name="connsiteX5" fmla="*/ 3055799 w 3724114"/>
                <a:gd name="connsiteY5" fmla="*/ 1157329 h 1381773"/>
                <a:gd name="connsiteX6" fmla="*/ 3257210 w 3724114"/>
                <a:gd name="connsiteY6" fmla="*/ 1861 h 1381773"/>
                <a:gd name="connsiteX7" fmla="*/ 3724102 w 3724114"/>
                <a:gd name="connsiteY7" fmla="*/ 866384 h 1381773"/>
                <a:gd name="connsiteX0" fmla="*/ 0 w 3724111"/>
                <a:gd name="connsiteY0" fmla="*/ 1198951 h 1390143"/>
                <a:gd name="connsiteX1" fmla="*/ 299258 w 3724111"/>
                <a:gd name="connsiteY1" fmla="*/ 1032696 h 1390143"/>
                <a:gd name="connsiteX2" fmla="*/ 457200 w 3724111"/>
                <a:gd name="connsiteY2" fmla="*/ 1282078 h 1390143"/>
                <a:gd name="connsiteX3" fmla="*/ 1512916 w 3724111"/>
                <a:gd name="connsiteY3" fmla="*/ 1390143 h 1390143"/>
                <a:gd name="connsiteX4" fmla="*/ 1853738 w 3724111"/>
                <a:gd name="connsiteY4" fmla="*/ 858129 h 1390143"/>
                <a:gd name="connsiteX5" fmla="*/ 3055799 w 3724111"/>
                <a:gd name="connsiteY5" fmla="*/ 1165699 h 1390143"/>
                <a:gd name="connsiteX6" fmla="*/ 3257210 w 3724111"/>
                <a:gd name="connsiteY6" fmla="*/ 10231 h 1390143"/>
                <a:gd name="connsiteX7" fmla="*/ 3724102 w 3724111"/>
                <a:gd name="connsiteY7" fmla="*/ 874754 h 1390143"/>
                <a:gd name="connsiteX0" fmla="*/ 0 w 3724111"/>
                <a:gd name="connsiteY0" fmla="*/ 1188721 h 1379913"/>
                <a:gd name="connsiteX1" fmla="*/ 299258 w 3724111"/>
                <a:gd name="connsiteY1" fmla="*/ 1022466 h 1379913"/>
                <a:gd name="connsiteX2" fmla="*/ 457200 w 3724111"/>
                <a:gd name="connsiteY2" fmla="*/ 1271848 h 1379913"/>
                <a:gd name="connsiteX3" fmla="*/ 1512916 w 3724111"/>
                <a:gd name="connsiteY3" fmla="*/ 1379913 h 1379913"/>
                <a:gd name="connsiteX4" fmla="*/ 1853738 w 3724111"/>
                <a:gd name="connsiteY4" fmla="*/ 847899 h 1379913"/>
                <a:gd name="connsiteX5" fmla="*/ 3055799 w 3724111"/>
                <a:gd name="connsiteY5" fmla="*/ 1155469 h 1379913"/>
                <a:gd name="connsiteX6" fmla="*/ 3257210 w 3724111"/>
                <a:gd name="connsiteY6" fmla="*/ 1 h 1379913"/>
                <a:gd name="connsiteX7" fmla="*/ 3724102 w 3724111"/>
                <a:gd name="connsiteY7" fmla="*/ 864524 h 1379913"/>
                <a:gd name="connsiteX0" fmla="*/ 0 w 3724111"/>
                <a:gd name="connsiteY0" fmla="*/ 1188721 h 1399391"/>
                <a:gd name="connsiteX1" fmla="*/ 299258 w 3724111"/>
                <a:gd name="connsiteY1" fmla="*/ 1022466 h 1399391"/>
                <a:gd name="connsiteX2" fmla="*/ 457200 w 3724111"/>
                <a:gd name="connsiteY2" fmla="*/ 1271848 h 1399391"/>
                <a:gd name="connsiteX3" fmla="*/ 1512916 w 3724111"/>
                <a:gd name="connsiteY3" fmla="*/ 1379913 h 1399391"/>
                <a:gd name="connsiteX4" fmla="*/ 1803755 w 3724111"/>
                <a:gd name="connsiteY4" fmla="*/ 792775 h 1399391"/>
                <a:gd name="connsiteX5" fmla="*/ 3055799 w 3724111"/>
                <a:gd name="connsiteY5" fmla="*/ 1155469 h 1399391"/>
                <a:gd name="connsiteX6" fmla="*/ 3257210 w 3724111"/>
                <a:gd name="connsiteY6" fmla="*/ 1 h 1399391"/>
                <a:gd name="connsiteX7" fmla="*/ 3724102 w 3724111"/>
                <a:gd name="connsiteY7" fmla="*/ 864524 h 1399391"/>
                <a:gd name="connsiteX0" fmla="*/ 0 w 3724111"/>
                <a:gd name="connsiteY0" fmla="*/ 1188721 h 1399391"/>
                <a:gd name="connsiteX1" fmla="*/ 299258 w 3724111"/>
                <a:gd name="connsiteY1" fmla="*/ 1022466 h 1399391"/>
                <a:gd name="connsiteX2" fmla="*/ 457200 w 3724111"/>
                <a:gd name="connsiteY2" fmla="*/ 1271848 h 1399391"/>
                <a:gd name="connsiteX3" fmla="*/ 1512916 w 3724111"/>
                <a:gd name="connsiteY3" fmla="*/ 1379913 h 1399391"/>
                <a:gd name="connsiteX4" fmla="*/ 1803755 w 3724111"/>
                <a:gd name="connsiteY4" fmla="*/ 792775 h 1399391"/>
                <a:gd name="connsiteX5" fmla="*/ 3055799 w 3724111"/>
                <a:gd name="connsiteY5" fmla="*/ 1155469 h 1399391"/>
                <a:gd name="connsiteX6" fmla="*/ 3257210 w 3724111"/>
                <a:gd name="connsiteY6" fmla="*/ 1 h 1399391"/>
                <a:gd name="connsiteX7" fmla="*/ 3724102 w 3724111"/>
                <a:gd name="connsiteY7" fmla="*/ 864524 h 1399391"/>
                <a:gd name="connsiteX0" fmla="*/ 0 w 3724111"/>
                <a:gd name="connsiteY0" fmla="*/ 1188721 h 1399391"/>
                <a:gd name="connsiteX1" fmla="*/ 299258 w 3724111"/>
                <a:gd name="connsiteY1" fmla="*/ 1022466 h 1399391"/>
                <a:gd name="connsiteX2" fmla="*/ 457200 w 3724111"/>
                <a:gd name="connsiteY2" fmla="*/ 1271848 h 1399391"/>
                <a:gd name="connsiteX3" fmla="*/ 1512916 w 3724111"/>
                <a:gd name="connsiteY3" fmla="*/ 1379913 h 1399391"/>
                <a:gd name="connsiteX4" fmla="*/ 1803755 w 3724111"/>
                <a:gd name="connsiteY4" fmla="*/ 792775 h 1399391"/>
                <a:gd name="connsiteX5" fmla="*/ 3055799 w 3724111"/>
                <a:gd name="connsiteY5" fmla="*/ 1155469 h 1399391"/>
                <a:gd name="connsiteX6" fmla="*/ 3257210 w 3724111"/>
                <a:gd name="connsiteY6" fmla="*/ 1 h 1399391"/>
                <a:gd name="connsiteX7" fmla="*/ 3724102 w 3724111"/>
                <a:gd name="connsiteY7" fmla="*/ 864524 h 1399391"/>
                <a:gd name="connsiteX0" fmla="*/ 0 w 3724111"/>
                <a:gd name="connsiteY0" fmla="*/ 1188721 h 1470653"/>
                <a:gd name="connsiteX1" fmla="*/ 299258 w 3724111"/>
                <a:gd name="connsiteY1" fmla="*/ 1022466 h 1470653"/>
                <a:gd name="connsiteX2" fmla="*/ 457200 w 3724111"/>
                <a:gd name="connsiteY2" fmla="*/ 1271848 h 1470653"/>
                <a:gd name="connsiteX3" fmla="*/ 1477927 w 3724111"/>
                <a:gd name="connsiteY3" fmla="*/ 1451249 h 1470653"/>
                <a:gd name="connsiteX4" fmla="*/ 1803755 w 3724111"/>
                <a:gd name="connsiteY4" fmla="*/ 792775 h 1470653"/>
                <a:gd name="connsiteX5" fmla="*/ 3055799 w 3724111"/>
                <a:gd name="connsiteY5" fmla="*/ 1155469 h 1470653"/>
                <a:gd name="connsiteX6" fmla="*/ 3257210 w 3724111"/>
                <a:gd name="connsiteY6" fmla="*/ 1 h 1470653"/>
                <a:gd name="connsiteX7" fmla="*/ 3724102 w 3724111"/>
                <a:gd name="connsiteY7" fmla="*/ 864524 h 1470653"/>
                <a:gd name="connsiteX0" fmla="*/ 0 w 3724111"/>
                <a:gd name="connsiteY0" fmla="*/ 1188721 h 1488924"/>
                <a:gd name="connsiteX1" fmla="*/ 299258 w 3724111"/>
                <a:gd name="connsiteY1" fmla="*/ 1022466 h 1488924"/>
                <a:gd name="connsiteX2" fmla="*/ 457200 w 3724111"/>
                <a:gd name="connsiteY2" fmla="*/ 1271848 h 1488924"/>
                <a:gd name="connsiteX3" fmla="*/ 1475428 w 3724111"/>
                <a:gd name="connsiteY3" fmla="*/ 1470705 h 1488924"/>
                <a:gd name="connsiteX4" fmla="*/ 1803755 w 3724111"/>
                <a:gd name="connsiteY4" fmla="*/ 792775 h 1488924"/>
                <a:gd name="connsiteX5" fmla="*/ 3055799 w 3724111"/>
                <a:gd name="connsiteY5" fmla="*/ 1155469 h 1488924"/>
                <a:gd name="connsiteX6" fmla="*/ 3257210 w 3724111"/>
                <a:gd name="connsiteY6" fmla="*/ 1 h 1488924"/>
                <a:gd name="connsiteX7" fmla="*/ 3724102 w 3724111"/>
                <a:gd name="connsiteY7" fmla="*/ 864524 h 1488924"/>
                <a:gd name="connsiteX0" fmla="*/ 0 w 3724111"/>
                <a:gd name="connsiteY0" fmla="*/ 1188721 h 1470728"/>
                <a:gd name="connsiteX1" fmla="*/ 299258 w 3724111"/>
                <a:gd name="connsiteY1" fmla="*/ 1022466 h 1470728"/>
                <a:gd name="connsiteX2" fmla="*/ 457200 w 3724111"/>
                <a:gd name="connsiteY2" fmla="*/ 1271848 h 1470728"/>
                <a:gd name="connsiteX3" fmla="*/ 1475428 w 3724111"/>
                <a:gd name="connsiteY3" fmla="*/ 1470705 h 1470728"/>
                <a:gd name="connsiteX4" fmla="*/ 1803755 w 3724111"/>
                <a:gd name="connsiteY4" fmla="*/ 792775 h 1470728"/>
                <a:gd name="connsiteX5" fmla="*/ 3055799 w 3724111"/>
                <a:gd name="connsiteY5" fmla="*/ 1155469 h 1470728"/>
                <a:gd name="connsiteX6" fmla="*/ 3257210 w 3724111"/>
                <a:gd name="connsiteY6" fmla="*/ 1 h 1470728"/>
                <a:gd name="connsiteX7" fmla="*/ 3724102 w 3724111"/>
                <a:gd name="connsiteY7" fmla="*/ 864524 h 1470728"/>
                <a:gd name="connsiteX0" fmla="*/ 0 w 3724111"/>
                <a:gd name="connsiteY0" fmla="*/ 1188721 h 1470726"/>
                <a:gd name="connsiteX1" fmla="*/ 299258 w 3724111"/>
                <a:gd name="connsiteY1" fmla="*/ 1022466 h 1470726"/>
                <a:gd name="connsiteX2" fmla="*/ 457200 w 3724111"/>
                <a:gd name="connsiteY2" fmla="*/ 1271848 h 1470726"/>
                <a:gd name="connsiteX3" fmla="*/ 1475428 w 3724111"/>
                <a:gd name="connsiteY3" fmla="*/ 1470705 h 1470726"/>
                <a:gd name="connsiteX4" fmla="*/ 1803755 w 3724111"/>
                <a:gd name="connsiteY4" fmla="*/ 792775 h 1470726"/>
                <a:gd name="connsiteX5" fmla="*/ 3055799 w 3724111"/>
                <a:gd name="connsiteY5" fmla="*/ 1155469 h 1470726"/>
                <a:gd name="connsiteX6" fmla="*/ 3257210 w 3724111"/>
                <a:gd name="connsiteY6" fmla="*/ 1 h 1470726"/>
                <a:gd name="connsiteX7" fmla="*/ 3724102 w 3724111"/>
                <a:gd name="connsiteY7" fmla="*/ 864524 h 1470726"/>
                <a:gd name="connsiteX0" fmla="*/ 0 w 3724111"/>
                <a:gd name="connsiteY0" fmla="*/ 1188721 h 1494420"/>
                <a:gd name="connsiteX1" fmla="*/ 299258 w 3724111"/>
                <a:gd name="connsiteY1" fmla="*/ 1022466 h 1494420"/>
                <a:gd name="connsiteX2" fmla="*/ 427210 w 3724111"/>
                <a:gd name="connsiteY2" fmla="*/ 1310758 h 1494420"/>
                <a:gd name="connsiteX3" fmla="*/ 1475428 w 3724111"/>
                <a:gd name="connsiteY3" fmla="*/ 1470705 h 1494420"/>
                <a:gd name="connsiteX4" fmla="*/ 1803755 w 3724111"/>
                <a:gd name="connsiteY4" fmla="*/ 792775 h 1494420"/>
                <a:gd name="connsiteX5" fmla="*/ 3055799 w 3724111"/>
                <a:gd name="connsiteY5" fmla="*/ 1155469 h 1494420"/>
                <a:gd name="connsiteX6" fmla="*/ 3257210 w 3724111"/>
                <a:gd name="connsiteY6" fmla="*/ 1 h 1494420"/>
                <a:gd name="connsiteX7" fmla="*/ 3724102 w 3724111"/>
                <a:gd name="connsiteY7" fmla="*/ 864524 h 1494420"/>
                <a:gd name="connsiteX0" fmla="*/ 0 w 3724111"/>
                <a:gd name="connsiteY0" fmla="*/ 1188721 h 1489064"/>
                <a:gd name="connsiteX1" fmla="*/ 299258 w 3724111"/>
                <a:gd name="connsiteY1" fmla="*/ 1022466 h 1489064"/>
                <a:gd name="connsiteX2" fmla="*/ 427210 w 3724111"/>
                <a:gd name="connsiteY2" fmla="*/ 1310758 h 1489064"/>
                <a:gd name="connsiteX3" fmla="*/ 1475428 w 3724111"/>
                <a:gd name="connsiteY3" fmla="*/ 1470705 h 1489064"/>
                <a:gd name="connsiteX4" fmla="*/ 1803755 w 3724111"/>
                <a:gd name="connsiteY4" fmla="*/ 792775 h 1489064"/>
                <a:gd name="connsiteX5" fmla="*/ 3055799 w 3724111"/>
                <a:gd name="connsiteY5" fmla="*/ 1155469 h 1489064"/>
                <a:gd name="connsiteX6" fmla="*/ 3257210 w 3724111"/>
                <a:gd name="connsiteY6" fmla="*/ 1 h 1489064"/>
                <a:gd name="connsiteX7" fmla="*/ 3724102 w 3724111"/>
                <a:gd name="connsiteY7" fmla="*/ 864524 h 1489064"/>
                <a:gd name="connsiteX0" fmla="*/ 0 w 3724111"/>
                <a:gd name="connsiteY0" fmla="*/ 1188721 h 1470723"/>
                <a:gd name="connsiteX1" fmla="*/ 299258 w 3724111"/>
                <a:gd name="connsiteY1" fmla="*/ 1022466 h 1470723"/>
                <a:gd name="connsiteX2" fmla="*/ 427210 w 3724111"/>
                <a:gd name="connsiteY2" fmla="*/ 1310758 h 1470723"/>
                <a:gd name="connsiteX3" fmla="*/ 1475428 w 3724111"/>
                <a:gd name="connsiteY3" fmla="*/ 1470705 h 1470723"/>
                <a:gd name="connsiteX4" fmla="*/ 1803755 w 3724111"/>
                <a:gd name="connsiteY4" fmla="*/ 792775 h 1470723"/>
                <a:gd name="connsiteX5" fmla="*/ 3055799 w 3724111"/>
                <a:gd name="connsiteY5" fmla="*/ 1155469 h 1470723"/>
                <a:gd name="connsiteX6" fmla="*/ 3257210 w 3724111"/>
                <a:gd name="connsiteY6" fmla="*/ 1 h 1470723"/>
                <a:gd name="connsiteX7" fmla="*/ 3724102 w 3724111"/>
                <a:gd name="connsiteY7" fmla="*/ 864524 h 1470723"/>
                <a:gd name="connsiteX0" fmla="*/ 0 w 3724111"/>
                <a:gd name="connsiteY0" fmla="*/ 1188721 h 1470723"/>
                <a:gd name="connsiteX1" fmla="*/ 299258 w 3724111"/>
                <a:gd name="connsiteY1" fmla="*/ 1022466 h 1470723"/>
                <a:gd name="connsiteX2" fmla="*/ 427210 w 3724111"/>
                <a:gd name="connsiteY2" fmla="*/ 1310758 h 1470723"/>
                <a:gd name="connsiteX3" fmla="*/ 1475428 w 3724111"/>
                <a:gd name="connsiteY3" fmla="*/ 1470705 h 1470723"/>
                <a:gd name="connsiteX4" fmla="*/ 1803755 w 3724111"/>
                <a:gd name="connsiteY4" fmla="*/ 792775 h 1470723"/>
                <a:gd name="connsiteX5" fmla="*/ 3055799 w 3724111"/>
                <a:gd name="connsiteY5" fmla="*/ 1155469 h 1470723"/>
                <a:gd name="connsiteX6" fmla="*/ 3257210 w 3724111"/>
                <a:gd name="connsiteY6" fmla="*/ 1 h 1470723"/>
                <a:gd name="connsiteX7" fmla="*/ 3724102 w 3724111"/>
                <a:gd name="connsiteY7" fmla="*/ 864524 h 1470723"/>
                <a:gd name="connsiteX0" fmla="*/ 0 w 3724111"/>
                <a:gd name="connsiteY0" fmla="*/ 1188721 h 1470723"/>
                <a:gd name="connsiteX1" fmla="*/ 299258 w 3724111"/>
                <a:gd name="connsiteY1" fmla="*/ 1022466 h 1470723"/>
                <a:gd name="connsiteX2" fmla="*/ 427210 w 3724111"/>
                <a:gd name="connsiteY2" fmla="*/ 1310758 h 1470723"/>
                <a:gd name="connsiteX3" fmla="*/ 1475428 w 3724111"/>
                <a:gd name="connsiteY3" fmla="*/ 1470705 h 1470723"/>
                <a:gd name="connsiteX4" fmla="*/ 1803755 w 3724111"/>
                <a:gd name="connsiteY4" fmla="*/ 792775 h 1470723"/>
                <a:gd name="connsiteX5" fmla="*/ 3055799 w 3724111"/>
                <a:gd name="connsiteY5" fmla="*/ 1155469 h 1470723"/>
                <a:gd name="connsiteX6" fmla="*/ 3257210 w 3724111"/>
                <a:gd name="connsiteY6" fmla="*/ 1 h 1470723"/>
                <a:gd name="connsiteX7" fmla="*/ 3724102 w 3724111"/>
                <a:gd name="connsiteY7" fmla="*/ 864524 h 1470723"/>
                <a:gd name="connsiteX0" fmla="*/ 0 w 3724111"/>
                <a:gd name="connsiteY0" fmla="*/ 1188721 h 1470723"/>
                <a:gd name="connsiteX1" fmla="*/ 299258 w 3724111"/>
                <a:gd name="connsiteY1" fmla="*/ 1022466 h 1470723"/>
                <a:gd name="connsiteX2" fmla="*/ 427210 w 3724111"/>
                <a:gd name="connsiteY2" fmla="*/ 1310758 h 1470723"/>
                <a:gd name="connsiteX3" fmla="*/ 1475428 w 3724111"/>
                <a:gd name="connsiteY3" fmla="*/ 1470705 h 1470723"/>
                <a:gd name="connsiteX4" fmla="*/ 1803755 w 3724111"/>
                <a:gd name="connsiteY4" fmla="*/ 792775 h 1470723"/>
                <a:gd name="connsiteX5" fmla="*/ 3055799 w 3724111"/>
                <a:gd name="connsiteY5" fmla="*/ 1155469 h 1470723"/>
                <a:gd name="connsiteX6" fmla="*/ 3257210 w 3724111"/>
                <a:gd name="connsiteY6" fmla="*/ 1 h 1470723"/>
                <a:gd name="connsiteX7" fmla="*/ 3724102 w 3724111"/>
                <a:gd name="connsiteY7" fmla="*/ 864524 h 1470723"/>
                <a:gd name="connsiteX0" fmla="*/ 0 w 3724111"/>
                <a:gd name="connsiteY0" fmla="*/ 1188721 h 1470739"/>
                <a:gd name="connsiteX1" fmla="*/ 294259 w 3724111"/>
                <a:gd name="connsiteY1" fmla="*/ 1022466 h 1470739"/>
                <a:gd name="connsiteX2" fmla="*/ 427210 w 3724111"/>
                <a:gd name="connsiteY2" fmla="*/ 1310758 h 1470739"/>
                <a:gd name="connsiteX3" fmla="*/ 1475428 w 3724111"/>
                <a:gd name="connsiteY3" fmla="*/ 1470705 h 1470739"/>
                <a:gd name="connsiteX4" fmla="*/ 1803755 w 3724111"/>
                <a:gd name="connsiteY4" fmla="*/ 792775 h 1470739"/>
                <a:gd name="connsiteX5" fmla="*/ 3055799 w 3724111"/>
                <a:gd name="connsiteY5" fmla="*/ 1155469 h 1470739"/>
                <a:gd name="connsiteX6" fmla="*/ 3257210 w 3724111"/>
                <a:gd name="connsiteY6" fmla="*/ 1 h 1470739"/>
                <a:gd name="connsiteX7" fmla="*/ 3724102 w 3724111"/>
                <a:gd name="connsiteY7" fmla="*/ 864524 h 1470739"/>
                <a:gd name="connsiteX0" fmla="*/ 0 w 3724111"/>
                <a:gd name="connsiteY0" fmla="*/ 1188721 h 1470739"/>
                <a:gd name="connsiteX1" fmla="*/ 294259 w 3724111"/>
                <a:gd name="connsiteY1" fmla="*/ 1022466 h 1470739"/>
                <a:gd name="connsiteX2" fmla="*/ 427210 w 3724111"/>
                <a:gd name="connsiteY2" fmla="*/ 1310758 h 1470739"/>
                <a:gd name="connsiteX3" fmla="*/ 1475428 w 3724111"/>
                <a:gd name="connsiteY3" fmla="*/ 1470705 h 1470739"/>
                <a:gd name="connsiteX4" fmla="*/ 1803755 w 3724111"/>
                <a:gd name="connsiteY4" fmla="*/ 792775 h 1470739"/>
                <a:gd name="connsiteX5" fmla="*/ 3055799 w 3724111"/>
                <a:gd name="connsiteY5" fmla="*/ 1155469 h 1470739"/>
                <a:gd name="connsiteX6" fmla="*/ 3257210 w 3724111"/>
                <a:gd name="connsiteY6" fmla="*/ 1 h 1470739"/>
                <a:gd name="connsiteX7" fmla="*/ 3724102 w 3724111"/>
                <a:gd name="connsiteY7" fmla="*/ 864524 h 1470739"/>
                <a:gd name="connsiteX0" fmla="*/ 0 w 3724111"/>
                <a:gd name="connsiteY0" fmla="*/ 1188721 h 1470723"/>
                <a:gd name="connsiteX1" fmla="*/ 294259 w 3724111"/>
                <a:gd name="connsiteY1" fmla="*/ 1022466 h 1470723"/>
                <a:gd name="connsiteX2" fmla="*/ 427210 w 3724111"/>
                <a:gd name="connsiteY2" fmla="*/ 1310758 h 1470723"/>
                <a:gd name="connsiteX3" fmla="*/ 1475428 w 3724111"/>
                <a:gd name="connsiteY3" fmla="*/ 1470705 h 1470723"/>
                <a:gd name="connsiteX4" fmla="*/ 1803755 w 3724111"/>
                <a:gd name="connsiteY4" fmla="*/ 792775 h 1470723"/>
                <a:gd name="connsiteX5" fmla="*/ 3055799 w 3724111"/>
                <a:gd name="connsiteY5" fmla="*/ 1155469 h 1470723"/>
                <a:gd name="connsiteX6" fmla="*/ 3257210 w 3724111"/>
                <a:gd name="connsiteY6" fmla="*/ 1 h 1470723"/>
                <a:gd name="connsiteX7" fmla="*/ 3724102 w 3724111"/>
                <a:gd name="connsiteY7" fmla="*/ 864524 h 1470723"/>
                <a:gd name="connsiteX0" fmla="*/ 0 w 3771596"/>
                <a:gd name="connsiteY0" fmla="*/ 1214662 h 1470723"/>
                <a:gd name="connsiteX1" fmla="*/ 341744 w 3771596"/>
                <a:gd name="connsiteY1" fmla="*/ 1022466 h 1470723"/>
                <a:gd name="connsiteX2" fmla="*/ 474695 w 3771596"/>
                <a:gd name="connsiteY2" fmla="*/ 1310758 h 1470723"/>
                <a:gd name="connsiteX3" fmla="*/ 1522913 w 3771596"/>
                <a:gd name="connsiteY3" fmla="*/ 1470705 h 1470723"/>
                <a:gd name="connsiteX4" fmla="*/ 1851240 w 3771596"/>
                <a:gd name="connsiteY4" fmla="*/ 792775 h 1470723"/>
                <a:gd name="connsiteX5" fmla="*/ 3103284 w 3771596"/>
                <a:gd name="connsiteY5" fmla="*/ 1155469 h 1470723"/>
                <a:gd name="connsiteX6" fmla="*/ 3304695 w 3771596"/>
                <a:gd name="connsiteY6" fmla="*/ 1 h 1470723"/>
                <a:gd name="connsiteX7" fmla="*/ 3771587 w 3771596"/>
                <a:gd name="connsiteY7" fmla="*/ 864524 h 1470723"/>
                <a:gd name="connsiteX0" fmla="*/ 32 w 3771628"/>
                <a:gd name="connsiteY0" fmla="*/ 1214662 h 1470723"/>
                <a:gd name="connsiteX1" fmla="*/ 341776 w 3771628"/>
                <a:gd name="connsiteY1" fmla="*/ 1022466 h 1470723"/>
                <a:gd name="connsiteX2" fmla="*/ 474727 w 3771628"/>
                <a:gd name="connsiteY2" fmla="*/ 1310758 h 1470723"/>
                <a:gd name="connsiteX3" fmla="*/ 1522945 w 3771628"/>
                <a:gd name="connsiteY3" fmla="*/ 1470705 h 1470723"/>
                <a:gd name="connsiteX4" fmla="*/ 1851272 w 3771628"/>
                <a:gd name="connsiteY4" fmla="*/ 792775 h 1470723"/>
                <a:gd name="connsiteX5" fmla="*/ 3103316 w 3771628"/>
                <a:gd name="connsiteY5" fmla="*/ 1155469 h 1470723"/>
                <a:gd name="connsiteX6" fmla="*/ 3304727 w 3771628"/>
                <a:gd name="connsiteY6" fmla="*/ 1 h 1470723"/>
                <a:gd name="connsiteX7" fmla="*/ 3771619 w 3771628"/>
                <a:gd name="connsiteY7" fmla="*/ 864524 h 1470723"/>
                <a:gd name="connsiteX0" fmla="*/ 33 w 3771629"/>
                <a:gd name="connsiteY0" fmla="*/ 1214662 h 1470723"/>
                <a:gd name="connsiteX1" fmla="*/ 341777 w 3771629"/>
                <a:gd name="connsiteY1" fmla="*/ 1022466 h 1470723"/>
                <a:gd name="connsiteX2" fmla="*/ 474728 w 3771629"/>
                <a:gd name="connsiteY2" fmla="*/ 1310758 h 1470723"/>
                <a:gd name="connsiteX3" fmla="*/ 1522946 w 3771629"/>
                <a:gd name="connsiteY3" fmla="*/ 1470705 h 1470723"/>
                <a:gd name="connsiteX4" fmla="*/ 1851273 w 3771629"/>
                <a:gd name="connsiteY4" fmla="*/ 792775 h 1470723"/>
                <a:gd name="connsiteX5" fmla="*/ 3103317 w 3771629"/>
                <a:gd name="connsiteY5" fmla="*/ 1155469 h 1470723"/>
                <a:gd name="connsiteX6" fmla="*/ 3304728 w 3771629"/>
                <a:gd name="connsiteY6" fmla="*/ 1 h 1470723"/>
                <a:gd name="connsiteX7" fmla="*/ 3771620 w 3771629"/>
                <a:gd name="connsiteY7" fmla="*/ 864524 h 1470723"/>
                <a:gd name="connsiteX0" fmla="*/ 26 w 3771622"/>
                <a:gd name="connsiteY0" fmla="*/ 1214662 h 1470723"/>
                <a:gd name="connsiteX1" fmla="*/ 341770 w 3771622"/>
                <a:gd name="connsiteY1" fmla="*/ 1022466 h 1470723"/>
                <a:gd name="connsiteX2" fmla="*/ 474721 w 3771622"/>
                <a:gd name="connsiteY2" fmla="*/ 1310758 h 1470723"/>
                <a:gd name="connsiteX3" fmla="*/ 1522939 w 3771622"/>
                <a:gd name="connsiteY3" fmla="*/ 1470705 h 1470723"/>
                <a:gd name="connsiteX4" fmla="*/ 1851266 w 3771622"/>
                <a:gd name="connsiteY4" fmla="*/ 792775 h 1470723"/>
                <a:gd name="connsiteX5" fmla="*/ 3103310 w 3771622"/>
                <a:gd name="connsiteY5" fmla="*/ 1155469 h 1470723"/>
                <a:gd name="connsiteX6" fmla="*/ 3304721 w 3771622"/>
                <a:gd name="connsiteY6" fmla="*/ 1 h 1470723"/>
                <a:gd name="connsiteX7" fmla="*/ 3771613 w 3771622"/>
                <a:gd name="connsiteY7" fmla="*/ 864524 h 1470723"/>
                <a:gd name="connsiteX0" fmla="*/ 34 w 3771630"/>
                <a:gd name="connsiteY0" fmla="*/ 1214662 h 1510119"/>
                <a:gd name="connsiteX1" fmla="*/ 341778 w 3771630"/>
                <a:gd name="connsiteY1" fmla="*/ 1022466 h 1510119"/>
                <a:gd name="connsiteX2" fmla="*/ 532392 w 3771630"/>
                <a:gd name="connsiteY2" fmla="*/ 1435448 h 1510119"/>
                <a:gd name="connsiteX3" fmla="*/ 1522947 w 3771630"/>
                <a:gd name="connsiteY3" fmla="*/ 1470705 h 1510119"/>
                <a:gd name="connsiteX4" fmla="*/ 1851274 w 3771630"/>
                <a:gd name="connsiteY4" fmla="*/ 792775 h 1510119"/>
                <a:gd name="connsiteX5" fmla="*/ 3103318 w 3771630"/>
                <a:gd name="connsiteY5" fmla="*/ 1155469 h 1510119"/>
                <a:gd name="connsiteX6" fmla="*/ 3304729 w 3771630"/>
                <a:gd name="connsiteY6" fmla="*/ 1 h 1510119"/>
                <a:gd name="connsiteX7" fmla="*/ 3771621 w 3771630"/>
                <a:gd name="connsiteY7" fmla="*/ 864524 h 1510119"/>
                <a:gd name="connsiteX0" fmla="*/ 34 w 3771630"/>
                <a:gd name="connsiteY0" fmla="*/ 1214662 h 1545168"/>
                <a:gd name="connsiteX1" fmla="*/ 341778 w 3771630"/>
                <a:gd name="connsiteY1" fmla="*/ 1022466 h 1545168"/>
                <a:gd name="connsiteX2" fmla="*/ 532392 w 3771630"/>
                <a:gd name="connsiteY2" fmla="*/ 1435448 h 1545168"/>
                <a:gd name="connsiteX3" fmla="*/ 1567796 w 3771630"/>
                <a:gd name="connsiteY3" fmla="*/ 1495643 h 1545168"/>
                <a:gd name="connsiteX4" fmla="*/ 1851274 w 3771630"/>
                <a:gd name="connsiteY4" fmla="*/ 792775 h 1545168"/>
                <a:gd name="connsiteX5" fmla="*/ 3103318 w 3771630"/>
                <a:gd name="connsiteY5" fmla="*/ 1155469 h 1545168"/>
                <a:gd name="connsiteX6" fmla="*/ 3304729 w 3771630"/>
                <a:gd name="connsiteY6" fmla="*/ 1 h 1545168"/>
                <a:gd name="connsiteX7" fmla="*/ 3771621 w 3771630"/>
                <a:gd name="connsiteY7" fmla="*/ 864524 h 1545168"/>
                <a:gd name="connsiteX0" fmla="*/ 34 w 3771630"/>
                <a:gd name="connsiteY0" fmla="*/ 1214662 h 1607410"/>
                <a:gd name="connsiteX1" fmla="*/ 341778 w 3771630"/>
                <a:gd name="connsiteY1" fmla="*/ 1022466 h 1607410"/>
                <a:gd name="connsiteX2" fmla="*/ 532392 w 3771630"/>
                <a:gd name="connsiteY2" fmla="*/ 1435448 h 1607410"/>
                <a:gd name="connsiteX3" fmla="*/ 1510133 w 3771630"/>
                <a:gd name="connsiteY3" fmla="*/ 1570458 h 1607410"/>
                <a:gd name="connsiteX4" fmla="*/ 1851274 w 3771630"/>
                <a:gd name="connsiteY4" fmla="*/ 792775 h 1607410"/>
                <a:gd name="connsiteX5" fmla="*/ 3103318 w 3771630"/>
                <a:gd name="connsiteY5" fmla="*/ 1155469 h 1607410"/>
                <a:gd name="connsiteX6" fmla="*/ 3304729 w 3771630"/>
                <a:gd name="connsiteY6" fmla="*/ 1 h 1607410"/>
                <a:gd name="connsiteX7" fmla="*/ 3771621 w 3771630"/>
                <a:gd name="connsiteY7" fmla="*/ 864524 h 1607410"/>
                <a:gd name="connsiteX0" fmla="*/ 34 w 3771630"/>
                <a:gd name="connsiteY0" fmla="*/ 1214662 h 1565123"/>
                <a:gd name="connsiteX1" fmla="*/ 341778 w 3771630"/>
                <a:gd name="connsiteY1" fmla="*/ 1022466 h 1565123"/>
                <a:gd name="connsiteX2" fmla="*/ 532392 w 3771630"/>
                <a:gd name="connsiteY2" fmla="*/ 1435448 h 1565123"/>
                <a:gd name="connsiteX3" fmla="*/ 1548576 w 3771630"/>
                <a:gd name="connsiteY3" fmla="*/ 1520581 h 1565123"/>
                <a:gd name="connsiteX4" fmla="*/ 1851274 w 3771630"/>
                <a:gd name="connsiteY4" fmla="*/ 792775 h 1565123"/>
                <a:gd name="connsiteX5" fmla="*/ 3103318 w 3771630"/>
                <a:gd name="connsiteY5" fmla="*/ 1155469 h 1565123"/>
                <a:gd name="connsiteX6" fmla="*/ 3304729 w 3771630"/>
                <a:gd name="connsiteY6" fmla="*/ 1 h 1565123"/>
                <a:gd name="connsiteX7" fmla="*/ 3771621 w 3771630"/>
                <a:gd name="connsiteY7" fmla="*/ 864524 h 1565123"/>
                <a:gd name="connsiteX0" fmla="*/ 26 w 3771622"/>
                <a:gd name="connsiteY0" fmla="*/ 1214662 h 1565123"/>
                <a:gd name="connsiteX1" fmla="*/ 341770 w 3771622"/>
                <a:gd name="connsiteY1" fmla="*/ 1022466 h 1565123"/>
                <a:gd name="connsiteX2" fmla="*/ 532384 w 3771622"/>
                <a:gd name="connsiteY2" fmla="*/ 1435448 h 1565123"/>
                <a:gd name="connsiteX3" fmla="*/ 1548568 w 3771622"/>
                <a:gd name="connsiteY3" fmla="*/ 1520581 h 1565123"/>
                <a:gd name="connsiteX4" fmla="*/ 1851266 w 3771622"/>
                <a:gd name="connsiteY4" fmla="*/ 792775 h 1565123"/>
                <a:gd name="connsiteX5" fmla="*/ 3103310 w 3771622"/>
                <a:gd name="connsiteY5" fmla="*/ 1155469 h 1565123"/>
                <a:gd name="connsiteX6" fmla="*/ 3304721 w 3771622"/>
                <a:gd name="connsiteY6" fmla="*/ 1 h 1565123"/>
                <a:gd name="connsiteX7" fmla="*/ 3771613 w 3771622"/>
                <a:gd name="connsiteY7" fmla="*/ 864524 h 1565123"/>
                <a:gd name="connsiteX0" fmla="*/ 26 w 3771622"/>
                <a:gd name="connsiteY0" fmla="*/ 1214662 h 1565123"/>
                <a:gd name="connsiteX1" fmla="*/ 341770 w 3771622"/>
                <a:gd name="connsiteY1" fmla="*/ 1022466 h 1565123"/>
                <a:gd name="connsiteX2" fmla="*/ 532384 w 3771622"/>
                <a:gd name="connsiteY2" fmla="*/ 1435448 h 1565123"/>
                <a:gd name="connsiteX3" fmla="*/ 1548568 w 3771622"/>
                <a:gd name="connsiteY3" fmla="*/ 1520581 h 1565123"/>
                <a:gd name="connsiteX4" fmla="*/ 1851266 w 3771622"/>
                <a:gd name="connsiteY4" fmla="*/ 792775 h 1565123"/>
                <a:gd name="connsiteX5" fmla="*/ 3103310 w 3771622"/>
                <a:gd name="connsiteY5" fmla="*/ 1155469 h 1565123"/>
                <a:gd name="connsiteX6" fmla="*/ 3304721 w 3771622"/>
                <a:gd name="connsiteY6" fmla="*/ 1 h 1565123"/>
                <a:gd name="connsiteX7" fmla="*/ 3771613 w 3771622"/>
                <a:gd name="connsiteY7" fmla="*/ 864524 h 1565123"/>
                <a:gd name="connsiteX0" fmla="*/ 26 w 3771622"/>
                <a:gd name="connsiteY0" fmla="*/ 1214662 h 1553982"/>
                <a:gd name="connsiteX1" fmla="*/ 341770 w 3771622"/>
                <a:gd name="connsiteY1" fmla="*/ 1022466 h 1553982"/>
                <a:gd name="connsiteX2" fmla="*/ 532384 w 3771622"/>
                <a:gd name="connsiteY2" fmla="*/ 1435448 h 1553982"/>
                <a:gd name="connsiteX3" fmla="*/ 1548568 w 3771622"/>
                <a:gd name="connsiteY3" fmla="*/ 1520581 h 1553982"/>
                <a:gd name="connsiteX4" fmla="*/ 1851266 w 3771622"/>
                <a:gd name="connsiteY4" fmla="*/ 792775 h 1553982"/>
                <a:gd name="connsiteX5" fmla="*/ 3103310 w 3771622"/>
                <a:gd name="connsiteY5" fmla="*/ 1155469 h 1553982"/>
                <a:gd name="connsiteX6" fmla="*/ 3304721 w 3771622"/>
                <a:gd name="connsiteY6" fmla="*/ 1 h 1553982"/>
                <a:gd name="connsiteX7" fmla="*/ 3771613 w 3771622"/>
                <a:gd name="connsiteY7" fmla="*/ 864524 h 1553982"/>
                <a:gd name="connsiteX0" fmla="*/ 33 w 3771629"/>
                <a:gd name="connsiteY0" fmla="*/ 1214662 h 1542191"/>
                <a:gd name="connsiteX1" fmla="*/ 341777 w 3771629"/>
                <a:gd name="connsiteY1" fmla="*/ 1022466 h 1542191"/>
                <a:gd name="connsiteX2" fmla="*/ 513171 w 3771629"/>
                <a:gd name="connsiteY2" fmla="*/ 1360633 h 1542191"/>
                <a:gd name="connsiteX3" fmla="*/ 1548575 w 3771629"/>
                <a:gd name="connsiteY3" fmla="*/ 1520581 h 1542191"/>
                <a:gd name="connsiteX4" fmla="*/ 1851273 w 3771629"/>
                <a:gd name="connsiteY4" fmla="*/ 792775 h 1542191"/>
                <a:gd name="connsiteX5" fmla="*/ 3103317 w 3771629"/>
                <a:gd name="connsiteY5" fmla="*/ 1155469 h 1542191"/>
                <a:gd name="connsiteX6" fmla="*/ 3304728 w 3771629"/>
                <a:gd name="connsiteY6" fmla="*/ 1 h 1542191"/>
                <a:gd name="connsiteX7" fmla="*/ 3771620 w 3771629"/>
                <a:gd name="connsiteY7" fmla="*/ 864524 h 1542191"/>
                <a:gd name="connsiteX0" fmla="*/ 25 w 3771621"/>
                <a:gd name="connsiteY0" fmla="*/ 1214662 h 1542191"/>
                <a:gd name="connsiteX1" fmla="*/ 341769 w 3771621"/>
                <a:gd name="connsiteY1" fmla="*/ 1022466 h 1542191"/>
                <a:gd name="connsiteX2" fmla="*/ 513163 w 3771621"/>
                <a:gd name="connsiteY2" fmla="*/ 1360633 h 1542191"/>
                <a:gd name="connsiteX3" fmla="*/ 1548567 w 3771621"/>
                <a:gd name="connsiteY3" fmla="*/ 1520581 h 1542191"/>
                <a:gd name="connsiteX4" fmla="*/ 1851265 w 3771621"/>
                <a:gd name="connsiteY4" fmla="*/ 792775 h 1542191"/>
                <a:gd name="connsiteX5" fmla="*/ 3103309 w 3771621"/>
                <a:gd name="connsiteY5" fmla="*/ 1155469 h 1542191"/>
                <a:gd name="connsiteX6" fmla="*/ 3304720 w 3771621"/>
                <a:gd name="connsiteY6" fmla="*/ 1 h 1542191"/>
                <a:gd name="connsiteX7" fmla="*/ 3771612 w 3771621"/>
                <a:gd name="connsiteY7" fmla="*/ 864524 h 1542191"/>
                <a:gd name="connsiteX0" fmla="*/ 25 w 3771621"/>
                <a:gd name="connsiteY0" fmla="*/ 1214662 h 1542191"/>
                <a:gd name="connsiteX1" fmla="*/ 341769 w 3771621"/>
                <a:gd name="connsiteY1" fmla="*/ 1022466 h 1542191"/>
                <a:gd name="connsiteX2" fmla="*/ 513163 w 3771621"/>
                <a:gd name="connsiteY2" fmla="*/ 1360633 h 1542191"/>
                <a:gd name="connsiteX3" fmla="*/ 1548567 w 3771621"/>
                <a:gd name="connsiteY3" fmla="*/ 1520581 h 1542191"/>
                <a:gd name="connsiteX4" fmla="*/ 1851265 w 3771621"/>
                <a:gd name="connsiteY4" fmla="*/ 792775 h 1542191"/>
                <a:gd name="connsiteX5" fmla="*/ 3103309 w 3771621"/>
                <a:gd name="connsiteY5" fmla="*/ 1155469 h 1542191"/>
                <a:gd name="connsiteX6" fmla="*/ 3304720 w 3771621"/>
                <a:gd name="connsiteY6" fmla="*/ 1 h 1542191"/>
                <a:gd name="connsiteX7" fmla="*/ 3771612 w 3771621"/>
                <a:gd name="connsiteY7" fmla="*/ 864524 h 1542191"/>
                <a:gd name="connsiteX0" fmla="*/ 25 w 3771621"/>
                <a:gd name="connsiteY0" fmla="*/ 1214662 h 1542191"/>
                <a:gd name="connsiteX1" fmla="*/ 341769 w 3771621"/>
                <a:gd name="connsiteY1" fmla="*/ 1022466 h 1542191"/>
                <a:gd name="connsiteX2" fmla="*/ 513163 w 3771621"/>
                <a:gd name="connsiteY2" fmla="*/ 1360633 h 1542191"/>
                <a:gd name="connsiteX3" fmla="*/ 1548567 w 3771621"/>
                <a:gd name="connsiteY3" fmla="*/ 1520581 h 1542191"/>
                <a:gd name="connsiteX4" fmla="*/ 1851265 w 3771621"/>
                <a:gd name="connsiteY4" fmla="*/ 792775 h 1542191"/>
                <a:gd name="connsiteX5" fmla="*/ 3103309 w 3771621"/>
                <a:gd name="connsiteY5" fmla="*/ 1155469 h 1542191"/>
                <a:gd name="connsiteX6" fmla="*/ 3304720 w 3771621"/>
                <a:gd name="connsiteY6" fmla="*/ 1 h 1542191"/>
                <a:gd name="connsiteX7" fmla="*/ 3771612 w 3771621"/>
                <a:gd name="connsiteY7" fmla="*/ 864524 h 1542191"/>
                <a:gd name="connsiteX0" fmla="*/ 25 w 3771621"/>
                <a:gd name="connsiteY0" fmla="*/ 1214662 h 1542191"/>
                <a:gd name="connsiteX1" fmla="*/ 341769 w 3771621"/>
                <a:gd name="connsiteY1" fmla="*/ 1022466 h 1542191"/>
                <a:gd name="connsiteX2" fmla="*/ 513163 w 3771621"/>
                <a:gd name="connsiteY2" fmla="*/ 1360633 h 1542191"/>
                <a:gd name="connsiteX3" fmla="*/ 1548567 w 3771621"/>
                <a:gd name="connsiteY3" fmla="*/ 1520581 h 1542191"/>
                <a:gd name="connsiteX4" fmla="*/ 1851265 w 3771621"/>
                <a:gd name="connsiteY4" fmla="*/ 792775 h 1542191"/>
                <a:gd name="connsiteX5" fmla="*/ 3103309 w 3771621"/>
                <a:gd name="connsiteY5" fmla="*/ 1155469 h 1542191"/>
                <a:gd name="connsiteX6" fmla="*/ 3304720 w 3771621"/>
                <a:gd name="connsiteY6" fmla="*/ 1 h 1542191"/>
                <a:gd name="connsiteX7" fmla="*/ 3771612 w 3771621"/>
                <a:gd name="connsiteY7" fmla="*/ 864524 h 1542191"/>
                <a:gd name="connsiteX0" fmla="*/ 33 w 3771629"/>
                <a:gd name="connsiteY0" fmla="*/ 1214662 h 1541717"/>
                <a:gd name="connsiteX1" fmla="*/ 341777 w 3771629"/>
                <a:gd name="connsiteY1" fmla="*/ 1022466 h 1541717"/>
                <a:gd name="connsiteX2" fmla="*/ 495552 w 3771629"/>
                <a:gd name="connsiteY2" fmla="*/ 1356823 h 1541717"/>
                <a:gd name="connsiteX3" fmla="*/ 1548575 w 3771629"/>
                <a:gd name="connsiteY3" fmla="*/ 1520581 h 1541717"/>
                <a:gd name="connsiteX4" fmla="*/ 1851273 w 3771629"/>
                <a:gd name="connsiteY4" fmla="*/ 792775 h 1541717"/>
                <a:gd name="connsiteX5" fmla="*/ 3103317 w 3771629"/>
                <a:gd name="connsiteY5" fmla="*/ 1155469 h 1541717"/>
                <a:gd name="connsiteX6" fmla="*/ 3304728 w 3771629"/>
                <a:gd name="connsiteY6" fmla="*/ 1 h 1541717"/>
                <a:gd name="connsiteX7" fmla="*/ 3771620 w 3771629"/>
                <a:gd name="connsiteY7" fmla="*/ 864524 h 1541717"/>
                <a:gd name="connsiteX0" fmla="*/ 33 w 3771629"/>
                <a:gd name="connsiteY0" fmla="*/ 1214662 h 1541246"/>
                <a:gd name="connsiteX1" fmla="*/ 341777 w 3771629"/>
                <a:gd name="connsiteY1" fmla="*/ 1022466 h 1541246"/>
                <a:gd name="connsiteX2" fmla="*/ 495552 w 3771629"/>
                <a:gd name="connsiteY2" fmla="*/ 1356823 h 1541246"/>
                <a:gd name="connsiteX3" fmla="*/ 1548575 w 3771629"/>
                <a:gd name="connsiteY3" fmla="*/ 1520581 h 1541246"/>
                <a:gd name="connsiteX4" fmla="*/ 1851273 w 3771629"/>
                <a:gd name="connsiteY4" fmla="*/ 792775 h 1541246"/>
                <a:gd name="connsiteX5" fmla="*/ 3103317 w 3771629"/>
                <a:gd name="connsiteY5" fmla="*/ 1155469 h 1541246"/>
                <a:gd name="connsiteX6" fmla="*/ 3304728 w 3771629"/>
                <a:gd name="connsiteY6" fmla="*/ 1 h 1541246"/>
                <a:gd name="connsiteX7" fmla="*/ 3771620 w 3771629"/>
                <a:gd name="connsiteY7" fmla="*/ 864524 h 1541246"/>
                <a:gd name="connsiteX0" fmla="*/ 32 w 3771628"/>
                <a:gd name="connsiteY0" fmla="*/ 1214662 h 1541246"/>
                <a:gd name="connsiteX1" fmla="*/ 341776 w 3771628"/>
                <a:gd name="connsiteY1" fmla="*/ 1022466 h 1541246"/>
                <a:gd name="connsiteX2" fmla="*/ 495551 w 3771628"/>
                <a:gd name="connsiteY2" fmla="*/ 1356823 h 1541246"/>
                <a:gd name="connsiteX3" fmla="*/ 1548574 w 3771628"/>
                <a:gd name="connsiteY3" fmla="*/ 1520581 h 1541246"/>
                <a:gd name="connsiteX4" fmla="*/ 1851272 w 3771628"/>
                <a:gd name="connsiteY4" fmla="*/ 792775 h 1541246"/>
                <a:gd name="connsiteX5" fmla="*/ 3103316 w 3771628"/>
                <a:gd name="connsiteY5" fmla="*/ 1155469 h 1541246"/>
                <a:gd name="connsiteX6" fmla="*/ 3304727 w 3771628"/>
                <a:gd name="connsiteY6" fmla="*/ 1 h 1541246"/>
                <a:gd name="connsiteX7" fmla="*/ 3771619 w 3771628"/>
                <a:gd name="connsiteY7" fmla="*/ 864524 h 1541246"/>
                <a:gd name="connsiteX0" fmla="*/ 26 w 3771622"/>
                <a:gd name="connsiteY0" fmla="*/ 1214662 h 1541246"/>
                <a:gd name="connsiteX1" fmla="*/ 341770 w 3771622"/>
                <a:gd name="connsiteY1" fmla="*/ 1022466 h 1541246"/>
                <a:gd name="connsiteX2" fmla="*/ 495545 w 3771622"/>
                <a:gd name="connsiteY2" fmla="*/ 1356823 h 1541246"/>
                <a:gd name="connsiteX3" fmla="*/ 1548568 w 3771622"/>
                <a:gd name="connsiteY3" fmla="*/ 1520581 h 1541246"/>
                <a:gd name="connsiteX4" fmla="*/ 1851266 w 3771622"/>
                <a:gd name="connsiteY4" fmla="*/ 792775 h 1541246"/>
                <a:gd name="connsiteX5" fmla="*/ 3103310 w 3771622"/>
                <a:gd name="connsiteY5" fmla="*/ 1155469 h 1541246"/>
                <a:gd name="connsiteX6" fmla="*/ 3304721 w 3771622"/>
                <a:gd name="connsiteY6" fmla="*/ 1 h 1541246"/>
                <a:gd name="connsiteX7" fmla="*/ 3771613 w 3771622"/>
                <a:gd name="connsiteY7" fmla="*/ 864524 h 1541246"/>
                <a:gd name="connsiteX0" fmla="*/ 26 w 3771622"/>
                <a:gd name="connsiteY0" fmla="*/ 1214662 h 1520610"/>
                <a:gd name="connsiteX1" fmla="*/ 341770 w 3771622"/>
                <a:gd name="connsiteY1" fmla="*/ 1022466 h 1520610"/>
                <a:gd name="connsiteX2" fmla="*/ 495545 w 3771622"/>
                <a:gd name="connsiteY2" fmla="*/ 1356823 h 1520610"/>
                <a:gd name="connsiteX3" fmla="*/ 1548568 w 3771622"/>
                <a:gd name="connsiteY3" fmla="*/ 1520581 h 1520610"/>
                <a:gd name="connsiteX4" fmla="*/ 1851266 w 3771622"/>
                <a:gd name="connsiteY4" fmla="*/ 792775 h 1520610"/>
                <a:gd name="connsiteX5" fmla="*/ 3103310 w 3771622"/>
                <a:gd name="connsiteY5" fmla="*/ 1155469 h 1520610"/>
                <a:gd name="connsiteX6" fmla="*/ 3304721 w 3771622"/>
                <a:gd name="connsiteY6" fmla="*/ 1 h 1520610"/>
                <a:gd name="connsiteX7" fmla="*/ 3771613 w 3771622"/>
                <a:gd name="connsiteY7" fmla="*/ 864524 h 1520610"/>
                <a:gd name="connsiteX0" fmla="*/ 26 w 3771622"/>
                <a:gd name="connsiteY0" fmla="*/ 1214662 h 1520610"/>
                <a:gd name="connsiteX1" fmla="*/ 341770 w 3771622"/>
                <a:gd name="connsiteY1" fmla="*/ 1022466 h 1520610"/>
                <a:gd name="connsiteX2" fmla="*/ 495545 w 3771622"/>
                <a:gd name="connsiteY2" fmla="*/ 1356823 h 1520610"/>
                <a:gd name="connsiteX3" fmla="*/ 1548568 w 3771622"/>
                <a:gd name="connsiteY3" fmla="*/ 1520581 h 1520610"/>
                <a:gd name="connsiteX4" fmla="*/ 1851266 w 3771622"/>
                <a:gd name="connsiteY4" fmla="*/ 792775 h 1520610"/>
                <a:gd name="connsiteX5" fmla="*/ 3103310 w 3771622"/>
                <a:gd name="connsiteY5" fmla="*/ 1155469 h 1520610"/>
                <a:gd name="connsiteX6" fmla="*/ 3304721 w 3771622"/>
                <a:gd name="connsiteY6" fmla="*/ 1 h 1520610"/>
                <a:gd name="connsiteX7" fmla="*/ 3771613 w 3771622"/>
                <a:gd name="connsiteY7" fmla="*/ 864524 h 1520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1622" h="1520610">
                  <a:moveTo>
                    <a:pt x="26" y="1214662"/>
                  </a:moveTo>
                  <a:cubicBezTo>
                    <a:pt x="-3406" y="1218641"/>
                    <a:pt x="340394" y="1020690"/>
                    <a:pt x="341770" y="1022466"/>
                  </a:cubicBezTo>
                  <a:cubicBezTo>
                    <a:pt x="346533" y="1028614"/>
                    <a:pt x="501303" y="1356238"/>
                    <a:pt x="495545" y="1356823"/>
                  </a:cubicBezTo>
                  <a:cubicBezTo>
                    <a:pt x="489787" y="1357408"/>
                    <a:pt x="1554599" y="1523149"/>
                    <a:pt x="1548568" y="1520581"/>
                  </a:cubicBezTo>
                  <a:cubicBezTo>
                    <a:pt x="1542537" y="1518013"/>
                    <a:pt x="1850557" y="788857"/>
                    <a:pt x="1851266" y="792775"/>
                  </a:cubicBezTo>
                  <a:cubicBezTo>
                    <a:pt x="1851975" y="796693"/>
                    <a:pt x="3098490" y="1157896"/>
                    <a:pt x="3103310" y="1155469"/>
                  </a:cubicBezTo>
                  <a:cubicBezTo>
                    <a:pt x="3108130" y="1153042"/>
                    <a:pt x="3312675" y="5448"/>
                    <a:pt x="3304721" y="1"/>
                  </a:cubicBezTo>
                  <a:cubicBezTo>
                    <a:pt x="3303633" y="-744"/>
                    <a:pt x="3774087" y="866701"/>
                    <a:pt x="3771613" y="864524"/>
                  </a:cubicBez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8" name="Imagen 27">
              <a:extLst>
                <a:ext uri="{FF2B5EF4-FFF2-40B4-BE49-F238E27FC236}">
                  <a16:creationId xmlns:a16="http://schemas.microsoft.com/office/drawing/2014/main" id="{DD4CFA79-A0E3-BCD2-402B-1DCA16C0BA05}"/>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sharpenSoften amount="50000"/>
                      </a14:imgEffect>
                    </a14:imgLayer>
                  </a14:imgProps>
                </a:ext>
              </a:extLst>
            </a:blip>
            <a:srcRect l="43072" t="83917" r="52707" b="3384"/>
            <a:stretch>
              <a:fillRect/>
            </a:stretch>
          </p:blipFill>
          <p:spPr>
            <a:xfrm>
              <a:off x="1783371" y="3835777"/>
              <a:ext cx="211455" cy="434975"/>
            </a:xfrm>
            <a:prstGeom prst="rect">
              <a:avLst/>
            </a:prstGeom>
          </p:spPr>
        </p:pic>
        <p:pic>
          <p:nvPicPr>
            <p:cNvPr id="30" name="Imagen 29">
              <a:extLst>
                <a:ext uri="{FF2B5EF4-FFF2-40B4-BE49-F238E27FC236}">
                  <a16:creationId xmlns:a16="http://schemas.microsoft.com/office/drawing/2014/main" id="{96AE6480-35E7-C200-868E-AE7E7264E1D0}"/>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6">
                      <a14:imgEffect>
                        <a14:sharpenSoften amount="50000"/>
                      </a14:imgEffect>
                    </a14:imgLayer>
                  </a14:imgProps>
                </a:ext>
              </a:extLst>
            </a:blip>
            <a:srcRect l="43072" t="83917" r="52707" b="3384"/>
            <a:stretch>
              <a:fillRect/>
            </a:stretch>
          </p:blipFill>
          <p:spPr>
            <a:xfrm>
              <a:off x="7716548" y="3835777"/>
              <a:ext cx="211455" cy="434975"/>
            </a:xfrm>
            <a:prstGeom prst="rect">
              <a:avLst/>
            </a:prstGeom>
          </p:spPr>
        </p:pic>
        <p:sp>
          <p:nvSpPr>
            <p:cNvPr id="31" name="Elipse 30">
              <a:extLst>
                <a:ext uri="{FF2B5EF4-FFF2-40B4-BE49-F238E27FC236}">
                  <a16:creationId xmlns:a16="http://schemas.microsoft.com/office/drawing/2014/main" id="{5225B927-8307-8B13-F8F5-8C71AC41A743}"/>
                </a:ext>
              </a:extLst>
            </p:cNvPr>
            <p:cNvSpPr/>
            <p:nvPr/>
          </p:nvSpPr>
          <p:spPr>
            <a:xfrm>
              <a:off x="2838565" y="4213201"/>
              <a:ext cx="115102" cy="11510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2" name="Elipse 31">
              <a:extLst>
                <a:ext uri="{FF2B5EF4-FFF2-40B4-BE49-F238E27FC236}">
                  <a16:creationId xmlns:a16="http://schemas.microsoft.com/office/drawing/2014/main" id="{D6DD085D-52E3-2492-4573-41508A77107A}"/>
                </a:ext>
              </a:extLst>
            </p:cNvPr>
            <p:cNvSpPr/>
            <p:nvPr/>
          </p:nvSpPr>
          <p:spPr>
            <a:xfrm>
              <a:off x="2387715" y="4403701"/>
              <a:ext cx="115102" cy="11510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Elipse 32">
              <a:extLst>
                <a:ext uri="{FF2B5EF4-FFF2-40B4-BE49-F238E27FC236}">
                  <a16:creationId xmlns:a16="http://schemas.microsoft.com/office/drawing/2014/main" id="{EE2323B6-D719-FCB3-DC0E-2320A4466128}"/>
                </a:ext>
              </a:extLst>
            </p:cNvPr>
            <p:cNvSpPr/>
            <p:nvPr/>
          </p:nvSpPr>
          <p:spPr>
            <a:xfrm>
              <a:off x="3035415" y="4559276"/>
              <a:ext cx="115102" cy="11510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Elipse 33">
              <a:extLst>
                <a:ext uri="{FF2B5EF4-FFF2-40B4-BE49-F238E27FC236}">
                  <a16:creationId xmlns:a16="http://schemas.microsoft.com/office/drawing/2014/main" id="{E385536F-903F-4692-377C-81308CD1D0F7}"/>
                </a:ext>
              </a:extLst>
            </p:cNvPr>
            <p:cNvSpPr/>
            <p:nvPr/>
          </p:nvSpPr>
          <p:spPr>
            <a:xfrm>
              <a:off x="4378440" y="4724376"/>
              <a:ext cx="115102" cy="11510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5" name="Elipse 34">
              <a:extLst>
                <a:ext uri="{FF2B5EF4-FFF2-40B4-BE49-F238E27FC236}">
                  <a16:creationId xmlns:a16="http://schemas.microsoft.com/office/drawing/2014/main" id="{E8135EC3-92D9-A242-1AC7-4A94DF534B5E}"/>
                </a:ext>
              </a:extLst>
            </p:cNvPr>
            <p:cNvSpPr/>
            <p:nvPr/>
          </p:nvSpPr>
          <p:spPr>
            <a:xfrm>
              <a:off x="4784840" y="3987776"/>
              <a:ext cx="115102" cy="11510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6" name="Elipse 35">
              <a:extLst>
                <a:ext uri="{FF2B5EF4-FFF2-40B4-BE49-F238E27FC236}">
                  <a16:creationId xmlns:a16="http://schemas.microsoft.com/office/drawing/2014/main" id="{EED573F4-244B-5B04-DFEB-5B68B073B55E}"/>
                </a:ext>
              </a:extLst>
            </p:cNvPr>
            <p:cNvSpPr/>
            <p:nvPr/>
          </p:nvSpPr>
          <p:spPr>
            <a:xfrm>
              <a:off x="6410440" y="4349726"/>
              <a:ext cx="115102" cy="11510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8D164781-0A78-F9A3-3718-933740BFD959}"/>
                </a:ext>
              </a:extLst>
            </p:cNvPr>
            <p:cNvSpPr/>
            <p:nvPr/>
          </p:nvSpPr>
          <p:spPr>
            <a:xfrm>
              <a:off x="6673965" y="3200376"/>
              <a:ext cx="115102" cy="11510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Elipse 37">
              <a:extLst>
                <a:ext uri="{FF2B5EF4-FFF2-40B4-BE49-F238E27FC236}">
                  <a16:creationId xmlns:a16="http://schemas.microsoft.com/office/drawing/2014/main" id="{80896325-DB63-9793-4E76-08713B65380A}"/>
                </a:ext>
              </a:extLst>
            </p:cNvPr>
            <p:cNvSpPr/>
            <p:nvPr/>
          </p:nvSpPr>
          <p:spPr>
            <a:xfrm>
              <a:off x="7280390" y="4060801"/>
              <a:ext cx="115102" cy="11510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2" name="Google Shape;127;p5">
            <a:extLst>
              <a:ext uri="{FF2B5EF4-FFF2-40B4-BE49-F238E27FC236}">
                <a16:creationId xmlns:a16="http://schemas.microsoft.com/office/drawing/2014/main" id="{456B7428-D14F-CEB2-6CEE-721630CBC25D}"/>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EJEMPLOS PRÁCTICOS EN DIFERENTES INDUSTRIAS</a:t>
            </a:r>
            <a:endParaRPr dirty="0">
              <a:latin typeface="Calibri" panose="020F0502020204030204" pitchFamily="34" charset="0"/>
              <a:cs typeface="Calibri" panose="020F0502020204030204" pitchFamily="34" charset="0"/>
            </a:endParaRPr>
          </a:p>
        </p:txBody>
      </p:sp>
      <p:sp>
        <p:nvSpPr>
          <p:cNvPr id="4" name="Google Shape;108;p10">
            <a:extLst>
              <a:ext uri="{FF2B5EF4-FFF2-40B4-BE49-F238E27FC236}">
                <a16:creationId xmlns:a16="http://schemas.microsoft.com/office/drawing/2014/main" id="{ED86D982-2F3C-1FF8-7663-5B8E4F866554}"/>
              </a:ext>
            </a:extLst>
          </p:cNvPr>
          <p:cNvSpPr txBox="1"/>
          <p:nvPr/>
        </p:nvSpPr>
        <p:spPr>
          <a:xfrm>
            <a:off x="508377" y="912813"/>
            <a:ext cx="7313899" cy="748923"/>
          </a:xfrm>
          <a:prstGeom prst="rect">
            <a:avLst/>
          </a:prstGeom>
          <a:noFill/>
          <a:ln>
            <a:noFill/>
          </a:ln>
        </p:spPr>
        <p:txBody>
          <a:bodyPr spcFirstLastPara="1" wrap="square" lIns="0" tIns="0" rIns="0" bIns="0" anchor="t" anchorCtr="0">
            <a:spAutoFit/>
          </a:bodyPr>
          <a:lstStyle/>
          <a:p>
            <a:pPr marR="0" lvl="0" rtl="0">
              <a:spcBef>
                <a:spcPts val="0"/>
              </a:spcBef>
              <a:spcAft>
                <a:spcPts val="1000"/>
              </a:spcAft>
            </a:pPr>
            <a:r>
              <a:rPr lang="es-PE" sz="1600" b="1" dirty="0">
                <a:solidFill>
                  <a:schemeClr val="tx1"/>
                </a:solidFill>
                <a:latin typeface="Calibri" panose="020F0502020204030204" pitchFamily="34" charset="0"/>
                <a:ea typeface="Calibri"/>
                <a:cs typeface="Calibri" panose="020F0502020204030204" pitchFamily="34" charset="0"/>
                <a:sym typeface="Calibri"/>
              </a:rPr>
              <a:t>ESTRATEGIA</a:t>
            </a:r>
            <a:endParaRPr sz="1600" dirty="0">
              <a:solidFill>
                <a:schemeClr val="tx1"/>
              </a:solidFill>
              <a:latin typeface="Calibri" panose="020F0502020204030204" pitchFamily="34" charset="0"/>
              <a:ea typeface="Calibri"/>
              <a:cs typeface="Calibri" panose="020F0502020204030204" pitchFamily="34" charset="0"/>
              <a:sym typeface="Calibri"/>
            </a:endParaRPr>
          </a:p>
          <a:p>
            <a:pPr>
              <a:spcAft>
                <a:spcPts val="1000"/>
              </a:spcAft>
            </a:pPr>
            <a:r>
              <a:rPr lang="es-PE" sz="1600" dirty="0">
                <a:solidFill>
                  <a:schemeClr val="tx1"/>
                </a:solidFill>
                <a:latin typeface="Calibri" panose="020F0502020204030204" pitchFamily="34" charset="0"/>
                <a:ea typeface="Calibri"/>
                <a:cs typeface="Calibri" panose="020F0502020204030204" pitchFamily="34" charset="0"/>
                <a:sym typeface="Calibri"/>
              </a:rPr>
              <a:t>Definición de reglas de gobierno en todos los flujos de datos.</a:t>
            </a:r>
          </a:p>
        </p:txBody>
      </p:sp>
      <p:pic>
        <p:nvPicPr>
          <p:cNvPr id="5" name="Google Shape;119;p11">
            <a:extLst>
              <a:ext uri="{FF2B5EF4-FFF2-40B4-BE49-F238E27FC236}">
                <a16:creationId xmlns:a16="http://schemas.microsoft.com/office/drawing/2014/main" id="{79BD4D81-BE20-EB8B-692D-17E4CED56940}"/>
              </a:ext>
            </a:extLst>
          </p:cNvPr>
          <p:cNvPicPr preferRelativeResize="0"/>
          <p:nvPr/>
        </p:nvPicPr>
        <p:blipFill rotWithShape="1">
          <a:blip r:embed="rId7">
            <a:alphaModFix/>
          </a:blip>
          <a:srcRect/>
          <a:stretch/>
        </p:blipFill>
        <p:spPr>
          <a:xfrm>
            <a:off x="511551" y="4942115"/>
            <a:ext cx="988063" cy="2918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9" name="Google Shape;129;p12" descr="Informe sobre el desarrollo mundial 2021: Datos para una vida mejor |  Governing data"/>
          <p:cNvPicPr preferRelativeResize="0"/>
          <p:nvPr/>
        </p:nvPicPr>
        <p:blipFill rotWithShape="1">
          <a:blip r:embed="rId3">
            <a:alphaModFix/>
          </a:blip>
          <a:srcRect l="9445" t="7593" r="9444" b="5495"/>
          <a:stretch/>
        </p:blipFill>
        <p:spPr>
          <a:xfrm>
            <a:off x="1611883" y="1920876"/>
            <a:ext cx="5920234" cy="3320526"/>
          </a:xfrm>
          <a:prstGeom prst="rect">
            <a:avLst/>
          </a:prstGeom>
          <a:noFill/>
          <a:ln>
            <a:noFill/>
          </a:ln>
        </p:spPr>
      </p:pic>
      <p:sp>
        <p:nvSpPr>
          <p:cNvPr id="2" name="Google Shape;127;p5">
            <a:extLst>
              <a:ext uri="{FF2B5EF4-FFF2-40B4-BE49-F238E27FC236}">
                <a16:creationId xmlns:a16="http://schemas.microsoft.com/office/drawing/2014/main" id="{75CFF8FA-C29C-EB53-F811-9FF736E306C1}"/>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EJEMPLOS PRÁCTICOS EN DIFERENTES INDUSTRIAS</a:t>
            </a:r>
            <a:endParaRPr dirty="0">
              <a:latin typeface="Calibri" panose="020F0502020204030204" pitchFamily="34" charset="0"/>
              <a:cs typeface="Calibri" panose="020F0502020204030204" pitchFamily="34" charset="0"/>
            </a:endParaRPr>
          </a:p>
        </p:txBody>
      </p:sp>
      <p:sp>
        <p:nvSpPr>
          <p:cNvPr id="4" name="Google Shape;108;p10">
            <a:extLst>
              <a:ext uri="{FF2B5EF4-FFF2-40B4-BE49-F238E27FC236}">
                <a16:creationId xmlns:a16="http://schemas.microsoft.com/office/drawing/2014/main" id="{2689D0F8-849F-4C2D-65AC-E174931770CC}"/>
              </a:ext>
            </a:extLst>
          </p:cNvPr>
          <p:cNvSpPr txBox="1"/>
          <p:nvPr/>
        </p:nvSpPr>
        <p:spPr>
          <a:xfrm>
            <a:off x="508377" y="912813"/>
            <a:ext cx="7772024" cy="995144"/>
          </a:xfrm>
          <a:prstGeom prst="rect">
            <a:avLst/>
          </a:prstGeom>
          <a:noFill/>
          <a:ln>
            <a:noFill/>
          </a:ln>
        </p:spPr>
        <p:txBody>
          <a:bodyPr spcFirstLastPara="1" wrap="square" lIns="0" tIns="0" rIns="0" bIns="0" anchor="t" anchorCtr="0">
            <a:spAutoFit/>
          </a:bodyPr>
          <a:lstStyle/>
          <a:p>
            <a:pPr marR="0" lvl="0" rtl="0">
              <a:spcBef>
                <a:spcPts val="0"/>
              </a:spcBef>
              <a:spcAft>
                <a:spcPts val="1000"/>
              </a:spcAft>
            </a:pPr>
            <a:r>
              <a:rPr lang="es-PE" sz="1600" b="1" dirty="0">
                <a:solidFill>
                  <a:schemeClr val="tx1"/>
                </a:solidFill>
                <a:latin typeface="Calibri" panose="020F0502020204030204" pitchFamily="34" charset="0"/>
                <a:ea typeface="Calibri"/>
                <a:cs typeface="Calibri" panose="020F0502020204030204" pitchFamily="34" charset="0"/>
                <a:sym typeface="Calibri"/>
              </a:rPr>
              <a:t>ESTRATEGIA</a:t>
            </a:r>
            <a:endParaRPr sz="1600" dirty="0">
              <a:solidFill>
                <a:schemeClr val="tx1"/>
              </a:solidFill>
              <a:latin typeface="Calibri" panose="020F0502020204030204" pitchFamily="34" charset="0"/>
              <a:ea typeface="Calibri"/>
              <a:cs typeface="Calibri" panose="020F0502020204030204" pitchFamily="34" charset="0"/>
              <a:sym typeface="Calibri"/>
            </a:endParaRPr>
          </a:p>
          <a:p>
            <a:pPr lvl="0">
              <a:spcAft>
                <a:spcPts val="1000"/>
              </a:spcAft>
            </a:pPr>
            <a:r>
              <a:rPr lang="es-PE" sz="1600" dirty="0">
                <a:solidFill>
                  <a:schemeClr val="tx1"/>
                </a:solidFill>
                <a:latin typeface="Calibri" panose="020F0502020204030204" pitchFamily="34" charset="0"/>
                <a:ea typeface="Calibri"/>
                <a:cs typeface="Calibri" panose="020F0502020204030204" pitchFamily="34" charset="0"/>
                <a:sym typeface="Calibri"/>
              </a:rPr>
              <a:t>Aplicar controles de seguridad al acceso de la información, así como la protección de los datos personales cumpliendo con las normas regulatorias.</a:t>
            </a:r>
          </a:p>
        </p:txBody>
      </p:sp>
      <p:pic>
        <p:nvPicPr>
          <p:cNvPr id="5" name="Google Shape;119;p11">
            <a:extLst>
              <a:ext uri="{FF2B5EF4-FFF2-40B4-BE49-F238E27FC236}">
                <a16:creationId xmlns:a16="http://schemas.microsoft.com/office/drawing/2014/main" id="{55BAB0BB-F0CE-44C1-76B6-94DDD87B5C33}"/>
              </a:ext>
            </a:extLst>
          </p:cNvPr>
          <p:cNvPicPr preferRelativeResize="0"/>
          <p:nvPr/>
        </p:nvPicPr>
        <p:blipFill rotWithShape="1">
          <a:blip r:embed="rId4">
            <a:alphaModFix/>
          </a:blip>
          <a:srcRect/>
          <a:stretch/>
        </p:blipFill>
        <p:spPr>
          <a:xfrm>
            <a:off x="511551" y="4942115"/>
            <a:ext cx="988063" cy="29187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3"/>
          <p:cNvSpPr txBox="1"/>
          <p:nvPr/>
        </p:nvSpPr>
        <p:spPr>
          <a:xfrm>
            <a:off x="508377" y="912813"/>
            <a:ext cx="2849965" cy="1615827"/>
          </a:xfrm>
          <a:prstGeom prst="rect">
            <a:avLst/>
          </a:prstGeom>
          <a:noFill/>
          <a:ln>
            <a:noFill/>
          </a:ln>
        </p:spPr>
        <p:txBody>
          <a:bodyPr spcFirstLastPara="1" wrap="square" lIns="0" tIns="0" rIns="0" bIns="0" anchor="t" anchorCtr="0">
            <a:spAutoFit/>
          </a:bodyPr>
          <a:lstStyle/>
          <a:p>
            <a:pPr marR="0" lvl="0" rtl="0">
              <a:spcBef>
                <a:spcPts val="0"/>
              </a:spcBef>
              <a:spcAft>
                <a:spcPts val="1000"/>
              </a:spcAft>
            </a:pPr>
            <a:r>
              <a:rPr lang="es-PE" sz="1600" b="1" dirty="0">
                <a:solidFill>
                  <a:schemeClr val="tx1"/>
                </a:solidFill>
                <a:latin typeface="Calibri"/>
                <a:ea typeface="Calibri"/>
                <a:cs typeface="Calibri"/>
                <a:sym typeface="Calibri"/>
              </a:rPr>
              <a:t>RESULTADO</a:t>
            </a:r>
            <a:endParaRPr sz="1600" b="1" dirty="0">
              <a:solidFill>
                <a:schemeClr val="tx1"/>
              </a:solidFill>
              <a:latin typeface="Calibri"/>
              <a:ea typeface="Calibri"/>
              <a:cs typeface="Calibri"/>
              <a:sym typeface="Calibri"/>
            </a:endParaRPr>
          </a:p>
          <a:p>
            <a:pPr marL="180975" marR="0" lvl="0" indent="-180975" rtl="0">
              <a:spcBef>
                <a:spcPts val="0"/>
              </a:spcBef>
              <a:spcAft>
                <a:spcPts val="1000"/>
              </a:spcAft>
              <a:buClr>
                <a:srgbClr val="262626"/>
              </a:buClr>
              <a:buSzPts val="1600"/>
              <a:buFont typeface="Arial" panose="020B0604020202020204" pitchFamily="34" charset="0"/>
              <a:buChar char="•"/>
            </a:pPr>
            <a:r>
              <a:rPr lang="es-PE" sz="1600" dirty="0">
                <a:solidFill>
                  <a:schemeClr val="tx1"/>
                </a:solidFill>
                <a:latin typeface="Calibri"/>
                <a:ea typeface="Calibri"/>
                <a:cs typeface="Calibri"/>
                <a:sym typeface="Calibri"/>
              </a:rPr>
              <a:t>Garantizar la seguridad, el flujo y distribución de los datos.</a:t>
            </a:r>
            <a:endParaRPr sz="1600" dirty="0">
              <a:solidFill>
                <a:schemeClr val="tx1"/>
              </a:solidFill>
              <a:latin typeface="Calibri"/>
              <a:ea typeface="Calibri"/>
              <a:cs typeface="Calibri"/>
              <a:sym typeface="Calibri"/>
            </a:endParaRPr>
          </a:p>
          <a:p>
            <a:pPr marL="180975" marR="0" lvl="0" indent="-180975" rtl="0">
              <a:spcBef>
                <a:spcPts val="0"/>
              </a:spcBef>
              <a:spcAft>
                <a:spcPts val="1000"/>
              </a:spcAft>
              <a:buClr>
                <a:srgbClr val="262626"/>
              </a:buClr>
              <a:buSzPts val="1600"/>
              <a:buFont typeface="Arial" panose="020B0604020202020204" pitchFamily="34" charset="0"/>
              <a:buChar char="•"/>
            </a:pPr>
            <a:r>
              <a:rPr lang="es-PE" sz="1600" dirty="0">
                <a:solidFill>
                  <a:schemeClr val="tx1"/>
                </a:solidFill>
                <a:latin typeface="Calibri"/>
                <a:ea typeface="Calibri"/>
                <a:cs typeface="Calibri"/>
                <a:sym typeface="Calibri"/>
              </a:rPr>
              <a:t>Aumento en la transparencia y rendición de cuentas.</a:t>
            </a:r>
            <a:endParaRPr dirty="0">
              <a:solidFill>
                <a:schemeClr val="tx1"/>
              </a:solidFill>
            </a:endParaRPr>
          </a:p>
        </p:txBody>
      </p:sp>
      <p:sp>
        <p:nvSpPr>
          <p:cNvPr id="2" name="Google Shape;127;p5">
            <a:extLst>
              <a:ext uri="{FF2B5EF4-FFF2-40B4-BE49-F238E27FC236}">
                <a16:creationId xmlns:a16="http://schemas.microsoft.com/office/drawing/2014/main" id="{A98A26AE-35A2-4D08-363E-F5EC3F3A4296}"/>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EJEMPLOS PRÁCTICOS EN DIFERENTES INDUSTRIAS</a:t>
            </a:r>
            <a:endParaRPr dirty="0">
              <a:latin typeface="Calibri" panose="020F0502020204030204" pitchFamily="34" charset="0"/>
              <a:cs typeface="Calibri" panose="020F0502020204030204" pitchFamily="34" charset="0"/>
            </a:endParaRPr>
          </a:p>
        </p:txBody>
      </p:sp>
      <p:pic>
        <p:nvPicPr>
          <p:cNvPr id="4" name="Google Shape;119;p11">
            <a:extLst>
              <a:ext uri="{FF2B5EF4-FFF2-40B4-BE49-F238E27FC236}">
                <a16:creationId xmlns:a16="http://schemas.microsoft.com/office/drawing/2014/main" id="{2E81293B-A124-399C-3D8E-5D39ACE8E549}"/>
              </a:ext>
            </a:extLst>
          </p:cNvPr>
          <p:cNvPicPr preferRelativeResize="0"/>
          <p:nvPr/>
        </p:nvPicPr>
        <p:blipFill rotWithShape="1">
          <a:blip r:embed="rId3">
            <a:alphaModFix/>
          </a:blip>
          <a:srcRect/>
          <a:stretch/>
        </p:blipFill>
        <p:spPr>
          <a:xfrm>
            <a:off x="511551" y="4942115"/>
            <a:ext cx="988063" cy="291873"/>
          </a:xfrm>
          <a:prstGeom prst="rect">
            <a:avLst/>
          </a:prstGeom>
          <a:noFill/>
          <a:ln>
            <a:noFill/>
          </a:ln>
        </p:spPr>
      </p:pic>
      <p:pic>
        <p:nvPicPr>
          <p:cNvPr id="6" name="Imagen 5">
            <a:extLst>
              <a:ext uri="{FF2B5EF4-FFF2-40B4-BE49-F238E27FC236}">
                <a16:creationId xmlns:a16="http://schemas.microsoft.com/office/drawing/2014/main" id="{92F320FE-EF70-4321-4178-AE51A29FDCD2}"/>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4067174" y="912813"/>
            <a:ext cx="5076825" cy="43211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70B7532E-4E1C-F202-76C8-689EC189FED0}"/>
            </a:ext>
          </a:extLst>
        </p:cNvPr>
        <p:cNvGrpSpPr/>
        <p:nvPr/>
      </p:nvGrpSpPr>
      <p:grpSpPr>
        <a:xfrm>
          <a:off x="0" y="0"/>
          <a:ext cx="0" cy="0"/>
          <a:chOff x="0" y="0"/>
          <a:chExt cx="0" cy="0"/>
        </a:xfrm>
      </p:grpSpPr>
      <p:sp>
        <p:nvSpPr>
          <p:cNvPr id="166" name="Google Shape;166;p9">
            <a:extLst>
              <a:ext uri="{FF2B5EF4-FFF2-40B4-BE49-F238E27FC236}">
                <a16:creationId xmlns:a16="http://schemas.microsoft.com/office/drawing/2014/main" id="{CBD216D8-460C-9EF6-B2E6-F21D037763B9}"/>
              </a:ext>
            </a:extLst>
          </p:cNvPr>
          <p:cNvSpPr/>
          <p:nvPr/>
        </p:nvSpPr>
        <p:spPr>
          <a:xfrm>
            <a:off x="689675" y="0"/>
            <a:ext cx="8454324" cy="5715000"/>
          </a:xfrm>
          <a:prstGeom prst="rect">
            <a:avLst/>
          </a:prstGeom>
          <a:solidFill>
            <a:srgbClr val="13172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 name="Rectángulo 1">
            <a:extLst>
              <a:ext uri="{FF2B5EF4-FFF2-40B4-BE49-F238E27FC236}">
                <a16:creationId xmlns:a16="http://schemas.microsoft.com/office/drawing/2014/main" id="{C83BAC34-CCD7-2F48-340D-E3BD50F03000}"/>
              </a:ext>
            </a:extLst>
          </p:cNvPr>
          <p:cNvSpPr/>
          <p:nvPr/>
        </p:nvSpPr>
        <p:spPr>
          <a:xfrm>
            <a:off x="1" y="0"/>
            <a:ext cx="1301858" cy="5715000"/>
          </a:xfrm>
          <a:prstGeom prst="rect">
            <a:avLst/>
          </a:prstGeom>
          <a:solidFill>
            <a:srgbClr val="F0D2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67" name="Google Shape;167;p9">
            <a:extLst>
              <a:ext uri="{FF2B5EF4-FFF2-40B4-BE49-F238E27FC236}">
                <a16:creationId xmlns:a16="http://schemas.microsoft.com/office/drawing/2014/main" id="{B3852313-4E08-EF07-3F61-510BB81C395E}"/>
              </a:ext>
            </a:extLst>
          </p:cNvPr>
          <p:cNvSpPr txBox="1"/>
          <p:nvPr/>
        </p:nvSpPr>
        <p:spPr>
          <a:xfrm>
            <a:off x="1469318" y="3073400"/>
            <a:ext cx="3436512" cy="738664"/>
          </a:xfrm>
          <a:prstGeom prst="rect">
            <a:avLst/>
          </a:prstGeom>
          <a:noFill/>
          <a:ln>
            <a:noFill/>
          </a:ln>
        </p:spPr>
        <p:txBody>
          <a:bodyPr spcFirstLastPara="1" wrap="square" lIns="0" tIns="0" rIns="0" bIns="0" anchor="t" anchorCtr="0">
            <a:spAutoFit/>
          </a:bodyPr>
          <a:lstStyle/>
          <a:p>
            <a:pPr marL="6350">
              <a:lnSpc>
                <a:spcPct val="80000"/>
              </a:lnSpc>
            </a:pPr>
            <a:r>
              <a:rPr lang="es-PE" sz="2000" dirty="0">
                <a:solidFill>
                  <a:schemeClr val="lt1"/>
                </a:solidFill>
                <a:latin typeface="Graphik Regular" panose="020B0503030202060203" pitchFamily="34" charset="77"/>
                <a:cs typeface="Calibri" panose="020F0502020204030204" pitchFamily="34" charset="0"/>
              </a:rPr>
              <a:t>SESIÓN DE LLUVIA DE </a:t>
            </a:r>
            <a:r>
              <a:rPr lang="es-PE" sz="2000" b="1" dirty="0">
                <a:solidFill>
                  <a:schemeClr val="lt1"/>
                </a:solidFill>
                <a:latin typeface="Graphik Bold" panose="020B0503030202060203" pitchFamily="34" charset="77"/>
                <a:cs typeface="Calibri" panose="020F0502020204030204" pitchFamily="34" charset="0"/>
              </a:rPr>
              <a:t>IDEAS PARA IDENTIFICAR MODELOS DE NEGOCIO</a:t>
            </a:r>
          </a:p>
        </p:txBody>
      </p:sp>
      <p:sp>
        <p:nvSpPr>
          <p:cNvPr id="9" name="CuadroTexto 8">
            <a:extLst>
              <a:ext uri="{FF2B5EF4-FFF2-40B4-BE49-F238E27FC236}">
                <a16:creationId xmlns:a16="http://schemas.microsoft.com/office/drawing/2014/main" id="{6808191A-295A-1F02-9B49-AF58D662397F}"/>
              </a:ext>
            </a:extLst>
          </p:cNvPr>
          <p:cNvSpPr txBox="1"/>
          <p:nvPr/>
        </p:nvSpPr>
        <p:spPr>
          <a:xfrm>
            <a:off x="163286" y="2857500"/>
            <a:ext cx="1037833" cy="1138773"/>
          </a:xfrm>
          <a:prstGeom prst="rect">
            <a:avLst/>
          </a:prstGeom>
          <a:noFill/>
        </p:spPr>
        <p:txBody>
          <a:bodyPr wrap="square">
            <a:spAutoFit/>
          </a:bodyPr>
          <a:lstStyle/>
          <a:p>
            <a:pPr algn="r"/>
            <a:r>
              <a:rPr lang="es-PE" sz="6800" dirty="0">
                <a:solidFill>
                  <a:srgbClr val="13172C"/>
                </a:solidFill>
                <a:latin typeface="Graphik Bold" panose="020B0503030202060203" pitchFamily="34" charset="77"/>
                <a:cs typeface="Calibri" panose="020F0502020204030204" pitchFamily="34" charset="0"/>
              </a:rPr>
              <a:t>3</a:t>
            </a:r>
            <a:r>
              <a:rPr lang="es-PE" sz="6800" dirty="0">
                <a:solidFill>
                  <a:srgbClr val="13172C"/>
                </a:solidFill>
                <a:latin typeface="Graphik Bold" panose="020B0503030202060203" pitchFamily="34" charset="77"/>
                <a:cs typeface="Calibri" panose="020F0502020204030204" pitchFamily="34" charset="0"/>
                <a:sym typeface="Arial"/>
              </a:rPr>
              <a:t>.</a:t>
            </a:r>
            <a:endParaRPr lang="es-ES_tradnl" sz="6800" dirty="0">
              <a:solidFill>
                <a:srgbClr val="13172C"/>
              </a:solidFill>
              <a:latin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F120599B-9CB4-E810-91E3-821829BF6913}"/>
              </a:ext>
            </a:extLst>
          </p:cNvPr>
          <p:cNvPicPr>
            <a:picLocks noChangeAspect="1"/>
          </p:cNvPicPr>
          <p:nvPr/>
        </p:nvPicPr>
        <p:blipFill>
          <a:blip r:embed="rId3"/>
          <a:stretch>
            <a:fillRect/>
          </a:stretch>
        </p:blipFill>
        <p:spPr>
          <a:xfrm>
            <a:off x="0" y="4059303"/>
            <a:ext cx="1301858" cy="1655697"/>
          </a:xfrm>
          <a:prstGeom prst="rect">
            <a:avLst/>
          </a:prstGeom>
        </p:spPr>
      </p:pic>
      <p:cxnSp>
        <p:nvCxnSpPr>
          <p:cNvPr id="13" name="Conector recto 12">
            <a:extLst>
              <a:ext uri="{FF2B5EF4-FFF2-40B4-BE49-F238E27FC236}">
                <a16:creationId xmlns:a16="http://schemas.microsoft.com/office/drawing/2014/main" id="{5E4AFD56-77A6-B606-3CC2-FF4A4D4A2C61}"/>
              </a:ext>
            </a:extLst>
          </p:cNvPr>
          <p:cNvCxnSpPr>
            <a:cxnSpLocks/>
          </p:cNvCxnSpPr>
          <p:nvPr/>
        </p:nvCxnSpPr>
        <p:spPr>
          <a:xfrm>
            <a:off x="1469318" y="3909226"/>
            <a:ext cx="328207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935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2" name="Google Shape;127;p5">
            <a:extLst>
              <a:ext uri="{FF2B5EF4-FFF2-40B4-BE49-F238E27FC236}">
                <a16:creationId xmlns:a16="http://schemas.microsoft.com/office/drawing/2014/main" id="{5B6C7F4B-9CAC-36C2-87FF-089E6209BDC9}"/>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SESIÓN DE LLUVIA DE IDEAS PARA IDENTIFICAR MODELOS DE NEGOCIO</a:t>
            </a:r>
            <a:endParaRPr dirty="0">
              <a:latin typeface="Calibri" panose="020F0502020204030204" pitchFamily="34" charset="0"/>
              <a:cs typeface="Calibri" panose="020F0502020204030204" pitchFamily="34" charset="0"/>
            </a:endParaRPr>
          </a:p>
        </p:txBody>
      </p:sp>
      <p:sp>
        <p:nvSpPr>
          <p:cNvPr id="4" name="CuadroTexto 3">
            <a:extLst>
              <a:ext uri="{FF2B5EF4-FFF2-40B4-BE49-F238E27FC236}">
                <a16:creationId xmlns:a16="http://schemas.microsoft.com/office/drawing/2014/main" id="{B147E034-4806-F3CC-C072-017CA4C55BD1}"/>
              </a:ext>
            </a:extLst>
          </p:cNvPr>
          <p:cNvSpPr txBox="1"/>
          <p:nvPr/>
        </p:nvSpPr>
        <p:spPr>
          <a:xfrm>
            <a:off x="801341" y="912813"/>
            <a:ext cx="7253692" cy="1154162"/>
          </a:xfrm>
          <a:prstGeom prst="rect">
            <a:avLst/>
          </a:prstGeom>
          <a:noFill/>
        </p:spPr>
        <p:txBody>
          <a:bodyPr wrap="square" lIns="0" tIns="0" rIns="0" bIns="0" rtlCol="0">
            <a:spAutoFit/>
          </a:bodyPr>
          <a:lstStyle/>
          <a:p>
            <a:pPr>
              <a:spcAft>
                <a:spcPts val="600"/>
              </a:spcAft>
            </a:pPr>
            <a:r>
              <a:rPr lang="es-ES_tradnl" sz="1400" b="1"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CASO FABRICO</a:t>
            </a:r>
          </a:p>
          <a:p>
            <a:r>
              <a:rPr lang="es-ES_tradnl" sz="1400"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La empresa de fabricación "</a:t>
            </a:r>
            <a:r>
              <a:rPr lang="es-ES_tradnl" sz="1400" noProof="0" dirty="0" err="1">
                <a:solidFill>
                  <a:schemeClr val="tx1"/>
                </a:solidFill>
                <a:latin typeface="Calibri" panose="020F0502020204030204" pitchFamily="34" charset="0"/>
                <a:ea typeface="Times New Roman" panose="02020603050405020304" pitchFamily="18" charset="0"/>
                <a:cs typeface="Calibri" panose="020F0502020204030204" pitchFamily="34" charset="0"/>
              </a:rPr>
              <a:t>FabriCo</a:t>
            </a:r>
            <a:r>
              <a:rPr lang="es-ES_tradnl" sz="1400"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 enfrenta desafíos en su cadena de suministro, como retrasos en la producción, ineficiencias en la logística y falta de visibilidad sobre el estado de los inventarios. Estos problemas están afectando la capacidad de la empresa para cumplir con los pedidos de manera oportuna y eficiente.</a:t>
            </a:r>
          </a:p>
        </p:txBody>
      </p:sp>
      <p:grpSp>
        <p:nvGrpSpPr>
          <p:cNvPr id="5" name="Grupo 4">
            <a:extLst>
              <a:ext uri="{FF2B5EF4-FFF2-40B4-BE49-F238E27FC236}">
                <a16:creationId xmlns:a16="http://schemas.microsoft.com/office/drawing/2014/main" id="{5A47CCC2-DCB9-2D26-0ADA-6D14FD72F856}"/>
              </a:ext>
            </a:extLst>
          </p:cNvPr>
          <p:cNvGrpSpPr/>
          <p:nvPr/>
        </p:nvGrpSpPr>
        <p:grpSpPr>
          <a:xfrm>
            <a:off x="503238" y="912813"/>
            <a:ext cx="221069" cy="221069"/>
            <a:chOff x="1476655" y="2151793"/>
            <a:chExt cx="391981" cy="391981"/>
          </a:xfrm>
        </p:grpSpPr>
        <p:sp>
          <p:nvSpPr>
            <p:cNvPr id="6" name="Elipse 5">
              <a:extLst>
                <a:ext uri="{FF2B5EF4-FFF2-40B4-BE49-F238E27FC236}">
                  <a16:creationId xmlns:a16="http://schemas.microsoft.com/office/drawing/2014/main" id="{E11E738E-BCAC-F23A-1F19-86F2B8DBF87C}"/>
                </a:ext>
              </a:extLst>
            </p:cNvPr>
            <p:cNvSpPr/>
            <p:nvPr/>
          </p:nvSpPr>
          <p:spPr>
            <a:xfrm>
              <a:off x="1476655" y="2151793"/>
              <a:ext cx="391981" cy="391981"/>
            </a:xfrm>
            <a:prstGeom prst="ellipse">
              <a:avLst/>
            </a:prstGeom>
            <a:solidFill>
              <a:srgbClr val="162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Graphik Regular" panose="020B0503030202060203" pitchFamily="34" charset="77"/>
              </a:endParaRPr>
            </a:p>
          </p:txBody>
        </p:sp>
        <p:sp>
          <p:nvSpPr>
            <p:cNvPr id="7" name="Triángulo 6">
              <a:extLst>
                <a:ext uri="{FF2B5EF4-FFF2-40B4-BE49-F238E27FC236}">
                  <a16:creationId xmlns:a16="http://schemas.microsoft.com/office/drawing/2014/main" id="{A77F426D-F8D3-53F7-CDAE-24FBF1B0C145}"/>
                </a:ext>
              </a:extLst>
            </p:cNvPr>
            <p:cNvSpPr/>
            <p:nvPr/>
          </p:nvSpPr>
          <p:spPr>
            <a:xfrm rot="5400000">
              <a:off x="1599728" y="2263306"/>
              <a:ext cx="195990" cy="168957"/>
            </a:xfrm>
            <a:prstGeom prst="triangle">
              <a:avLst/>
            </a:prstGeom>
            <a:solidFill>
              <a:srgbClr val="F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Graphik Regular" panose="020B0503030202060203" pitchFamily="34" charset="77"/>
              </a:endParaRPr>
            </a:p>
          </p:txBody>
        </p:sp>
      </p:grpSp>
      <p:pic>
        <p:nvPicPr>
          <p:cNvPr id="13" name="Imagen 12">
            <a:extLst>
              <a:ext uri="{FF2B5EF4-FFF2-40B4-BE49-F238E27FC236}">
                <a16:creationId xmlns:a16="http://schemas.microsoft.com/office/drawing/2014/main" id="{3EA556CF-FED6-F9B5-0E6C-18D883177929}"/>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503238" y="2243975"/>
            <a:ext cx="8172450" cy="299001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2" name="Google Shape;127;p5">
            <a:extLst>
              <a:ext uri="{FF2B5EF4-FFF2-40B4-BE49-F238E27FC236}">
                <a16:creationId xmlns:a16="http://schemas.microsoft.com/office/drawing/2014/main" id="{3D25DD68-A763-BAD6-C610-97F22E902200}"/>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SESIÓN DE LLUVIA DE IDEAS PARA IDENTIFICAR MODELOS DE NEGOCIO</a:t>
            </a:r>
            <a:endParaRPr dirty="0">
              <a:latin typeface="Calibri" panose="020F0502020204030204" pitchFamily="34" charset="0"/>
              <a:cs typeface="Calibri" panose="020F0502020204030204" pitchFamily="34" charset="0"/>
            </a:endParaRPr>
          </a:p>
        </p:txBody>
      </p:sp>
      <p:sp>
        <p:nvSpPr>
          <p:cNvPr id="4" name="CuadroTexto 3">
            <a:extLst>
              <a:ext uri="{FF2B5EF4-FFF2-40B4-BE49-F238E27FC236}">
                <a16:creationId xmlns:a16="http://schemas.microsoft.com/office/drawing/2014/main" id="{4F5B2B18-4A83-368C-D304-0DF763BB3528}"/>
              </a:ext>
            </a:extLst>
          </p:cNvPr>
          <p:cNvSpPr txBox="1"/>
          <p:nvPr/>
        </p:nvSpPr>
        <p:spPr>
          <a:xfrm>
            <a:off x="801341" y="912813"/>
            <a:ext cx="7079124" cy="1969770"/>
          </a:xfrm>
          <a:prstGeom prst="rect">
            <a:avLst/>
          </a:prstGeom>
          <a:noFill/>
        </p:spPr>
        <p:txBody>
          <a:bodyPr wrap="square" lIns="0" tIns="0" rIns="0" bIns="0" rtlCol="0">
            <a:spAutoFit/>
          </a:bodyPr>
          <a:lstStyle/>
          <a:p>
            <a:pPr>
              <a:spcAft>
                <a:spcPts val="600"/>
              </a:spcAft>
            </a:pPr>
            <a:r>
              <a:rPr lang="es-ES_tradnl" sz="1400" b="1"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CASO FABRICO</a:t>
            </a:r>
          </a:p>
          <a:p>
            <a:pPr marL="180975" lvl="0" indent="-180975">
              <a:spcAft>
                <a:spcPts val="1000"/>
              </a:spcAft>
              <a:buClr>
                <a:srgbClr val="D6A16F"/>
              </a:buClr>
              <a:buFont typeface="Arial" panose="020B0604020202020204" pitchFamily="34" charset="0"/>
              <a:buChar char="•"/>
            </a:pPr>
            <a:r>
              <a:rPr lang="es-ES_tradnl" sz="1400"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¿Cuáles podrían ser las causas subyacentes de estos problemas? </a:t>
            </a:r>
          </a:p>
          <a:p>
            <a:pPr marL="180975" lvl="0" indent="-180975">
              <a:spcAft>
                <a:spcPts val="1000"/>
              </a:spcAft>
              <a:buClr>
                <a:srgbClr val="D6A16F"/>
              </a:buClr>
              <a:buFont typeface="Arial" panose="020B0604020202020204" pitchFamily="34" charset="0"/>
              <a:buChar char="•"/>
            </a:pPr>
            <a:r>
              <a:rPr lang="es-ES_tradnl" sz="1400"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¿Cómo afectan estos problemas a la eficiencia operativa y la rentabilidad de la empresa?</a:t>
            </a:r>
          </a:p>
          <a:p>
            <a:pPr marL="180975" lvl="0" indent="-180975">
              <a:spcAft>
                <a:spcPts val="1000"/>
              </a:spcAft>
              <a:buClr>
                <a:srgbClr val="D6A16F"/>
              </a:buClr>
              <a:buFont typeface="Arial" panose="020B0604020202020204" pitchFamily="34" charset="0"/>
              <a:buChar char="•"/>
            </a:pPr>
            <a:r>
              <a:rPr lang="es-ES_tradnl" sz="1400"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¿Cómo podrían los datos ayudar a mejorar la visibilidad de la cadena de suministro, optimizar la gestión de inventarios y reducir los tiempos de entrega?</a:t>
            </a:r>
          </a:p>
          <a:p>
            <a:pPr marL="180975" lvl="0" indent="-180975">
              <a:spcAft>
                <a:spcPts val="1000"/>
              </a:spcAft>
              <a:buClr>
                <a:srgbClr val="D6A16F"/>
              </a:buClr>
              <a:buFont typeface="Arial" panose="020B0604020202020204" pitchFamily="34" charset="0"/>
              <a:buChar char="•"/>
            </a:pPr>
            <a:r>
              <a:rPr lang="es-ES_tradnl" sz="1400"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¿Cómo podrían "</a:t>
            </a:r>
            <a:r>
              <a:rPr lang="es-ES_tradnl" sz="1400" noProof="0" dirty="0" err="1">
                <a:solidFill>
                  <a:schemeClr val="tx1"/>
                </a:solidFill>
                <a:latin typeface="Calibri" panose="020F0502020204030204" pitchFamily="34" charset="0"/>
                <a:ea typeface="Times New Roman" panose="02020603050405020304" pitchFamily="18" charset="0"/>
                <a:cs typeface="Calibri" panose="020F0502020204030204" pitchFamily="34" charset="0"/>
              </a:rPr>
              <a:t>FabriCo</a:t>
            </a:r>
            <a:r>
              <a:rPr lang="es-ES_tradnl" sz="1400"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 garantizar la seguridad y privacidad de los datos mientras comparte información con unidades internas y externas?</a:t>
            </a:r>
          </a:p>
        </p:txBody>
      </p:sp>
      <p:grpSp>
        <p:nvGrpSpPr>
          <p:cNvPr id="5" name="Grupo 4">
            <a:extLst>
              <a:ext uri="{FF2B5EF4-FFF2-40B4-BE49-F238E27FC236}">
                <a16:creationId xmlns:a16="http://schemas.microsoft.com/office/drawing/2014/main" id="{4FE25276-AF8D-9DC0-585D-6C691970218D}"/>
              </a:ext>
            </a:extLst>
          </p:cNvPr>
          <p:cNvGrpSpPr/>
          <p:nvPr/>
        </p:nvGrpSpPr>
        <p:grpSpPr>
          <a:xfrm>
            <a:off x="503238" y="912813"/>
            <a:ext cx="221069" cy="221069"/>
            <a:chOff x="1476655" y="2151793"/>
            <a:chExt cx="391981" cy="391981"/>
          </a:xfrm>
        </p:grpSpPr>
        <p:sp>
          <p:nvSpPr>
            <p:cNvPr id="6" name="Elipse 5">
              <a:extLst>
                <a:ext uri="{FF2B5EF4-FFF2-40B4-BE49-F238E27FC236}">
                  <a16:creationId xmlns:a16="http://schemas.microsoft.com/office/drawing/2014/main" id="{CE1BBB71-51F3-ADE1-F278-6C06EE5B63D4}"/>
                </a:ext>
              </a:extLst>
            </p:cNvPr>
            <p:cNvSpPr/>
            <p:nvPr/>
          </p:nvSpPr>
          <p:spPr>
            <a:xfrm>
              <a:off x="1476655" y="2151793"/>
              <a:ext cx="391981" cy="391981"/>
            </a:xfrm>
            <a:prstGeom prst="ellipse">
              <a:avLst/>
            </a:prstGeom>
            <a:solidFill>
              <a:srgbClr val="162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Graphik Regular" panose="020B0503030202060203" pitchFamily="34" charset="77"/>
              </a:endParaRPr>
            </a:p>
          </p:txBody>
        </p:sp>
        <p:sp>
          <p:nvSpPr>
            <p:cNvPr id="7" name="Triángulo 6">
              <a:extLst>
                <a:ext uri="{FF2B5EF4-FFF2-40B4-BE49-F238E27FC236}">
                  <a16:creationId xmlns:a16="http://schemas.microsoft.com/office/drawing/2014/main" id="{1DF8C050-62C4-5DF3-1D49-D583638CD042}"/>
                </a:ext>
              </a:extLst>
            </p:cNvPr>
            <p:cNvSpPr/>
            <p:nvPr/>
          </p:nvSpPr>
          <p:spPr>
            <a:xfrm rot="5400000">
              <a:off x="1599728" y="2263306"/>
              <a:ext cx="195990" cy="168957"/>
            </a:xfrm>
            <a:prstGeom prst="triangle">
              <a:avLst/>
            </a:prstGeom>
            <a:solidFill>
              <a:srgbClr val="F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Graphik Regular" panose="020B0503030202060203" pitchFamily="34" charset="77"/>
              </a:endParaRPr>
            </a:p>
          </p:txBody>
        </p:sp>
      </p:grpSp>
      <p:pic>
        <p:nvPicPr>
          <p:cNvPr id="9" name="Imagen 8">
            <a:extLst>
              <a:ext uri="{FF2B5EF4-FFF2-40B4-BE49-F238E27FC236}">
                <a16:creationId xmlns:a16="http://schemas.microsoft.com/office/drawing/2014/main" id="{3E2C2D4D-F8F2-DA1A-48BB-A0A5DC84BDC1}"/>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511550" y="3050771"/>
            <a:ext cx="8164137" cy="218321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2" name="Google Shape;127;p5">
            <a:extLst>
              <a:ext uri="{FF2B5EF4-FFF2-40B4-BE49-F238E27FC236}">
                <a16:creationId xmlns:a16="http://schemas.microsoft.com/office/drawing/2014/main" id="{8E38DDAC-583F-5CB8-CAF2-F076A3959E36}"/>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SESIÓN DE LLUVIA DE IDEAS PARA IDENTIFICAR MODELOS DE NEGOCIO</a:t>
            </a:r>
            <a:endParaRPr dirty="0">
              <a:latin typeface="Calibri" panose="020F0502020204030204" pitchFamily="34" charset="0"/>
              <a:cs typeface="Calibri" panose="020F0502020204030204" pitchFamily="34" charset="0"/>
            </a:endParaRPr>
          </a:p>
        </p:txBody>
      </p:sp>
      <p:sp>
        <p:nvSpPr>
          <p:cNvPr id="4" name="CuadroTexto 3">
            <a:extLst>
              <a:ext uri="{FF2B5EF4-FFF2-40B4-BE49-F238E27FC236}">
                <a16:creationId xmlns:a16="http://schemas.microsoft.com/office/drawing/2014/main" id="{B0E34459-3A3F-A117-64BC-EC94645112D2}"/>
              </a:ext>
            </a:extLst>
          </p:cNvPr>
          <p:cNvSpPr txBox="1"/>
          <p:nvPr/>
        </p:nvSpPr>
        <p:spPr>
          <a:xfrm>
            <a:off x="801341" y="912813"/>
            <a:ext cx="6214601" cy="507831"/>
          </a:xfrm>
          <a:prstGeom prst="rect">
            <a:avLst/>
          </a:prstGeom>
          <a:noFill/>
        </p:spPr>
        <p:txBody>
          <a:bodyPr wrap="square" lIns="0" tIns="0" rIns="0" bIns="0" rtlCol="0">
            <a:spAutoFit/>
          </a:bodyPr>
          <a:lstStyle/>
          <a:p>
            <a:pPr>
              <a:spcAft>
                <a:spcPts val="600"/>
              </a:spcAft>
            </a:pPr>
            <a:r>
              <a:rPr lang="es-ES_tradnl" sz="1400" b="1"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CASO FABRICO</a:t>
            </a:r>
          </a:p>
          <a:p>
            <a:r>
              <a:rPr lang="es-ES_tradnl" sz="1400" noProof="0" dirty="0">
                <a:solidFill>
                  <a:schemeClr val="tx1"/>
                </a:solidFill>
                <a:latin typeface="Calibri" panose="020F0502020204030204" pitchFamily="34" charset="0"/>
                <a:ea typeface="Times New Roman" panose="02020603050405020304" pitchFamily="18" charset="0"/>
                <a:cs typeface="Calibri" panose="020F0502020204030204" pitchFamily="34" charset="0"/>
              </a:rPr>
              <a:t>¿Qué modelos de negocio puede desarrollar la empresa y qué áreas afectaría?</a:t>
            </a:r>
          </a:p>
        </p:txBody>
      </p:sp>
      <p:grpSp>
        <p:nvGrpSpPr>
          <p:cNvPr id="5" name="Grupo 4">
            <a:extLst>
              <a:ext uri="{FF2B5EF4-FFF2-40B4-BE49-F238E27FC236}">
                <a16:creationId xmlns:a16="http://schemas.microsoft.com/office/drawing/2014/main" id="{48274BC1-589B-908C-58EC-8A62B74B04CF}"/>
              </a:ext>
            </a:extLst>
          </p:cNvPr>
          <p:cNvGrpSpPr/>
          <p:nvPr/>
        </p:nvGrpSpPr>
        <p:grpSpPr>
          <a:xfrm>
            <a:off x="503238" y="912813"/>
            <a:ext cx="221069" cy="221069"/>
            <a:chOff x="1476655" y="2151793"/>
            <a:chExt cx="391981" cy="391981"/>
          </a:xfrm>
        </p:grpSpPr>
        <p:sp>
          <p:nvSpPr>
            <p:cNvPr id="6" name="Elipse 5">
              <a:extLst>
                <a:ext uri="{FF2B5EF4-FFF2-40B4-BE49-F238E27FC236}">
                  <a16:creationId xmlns:a16="http://schemas.microsoft.com/office/drawing/2014/main" id="{5E428D64-47D7-F8A1-A18F-8BA2E57E79CC}"/>
                </a:ext>
              </a:extLst>
            </p:cNvPr>
            <p:cNvSpPr/>
            <p:nvPr/>
          </p:nvSpPr>
          <p:spPr>
            <a:xfrm>
              <a:off x="1476655" y="2151793"/>
              <a:ext cx="391981" cy="391981"/>
            </a:xfrm>
            <a:prstGeom prst="ellipse">
              <a:avLst/>
            </a:prstGeom>
            <a:solidFill>
              <a:srgbClr val="162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Graphik Regular" panose="020B0503030202060203" pitchFamily="34" charset="77"/>
              </a:endParaRPr>
            </a:p>
          </p:txBody>
        </p:sp>
        <p:sp>
          <p:nvSpPr>
            <p:cNvPr id="7" name="Triángulo 6">
              <a:extLst>
                <a:ext uri="{FF2B5EF4-FFF2-40B4-BE49-F238E27FC236}">
                  <a16:creationId xmlns:a16="http://schemas.microsoft.com/office/drawing/2014/main" id="{FD02DF2A-7DB1-BD9B-303B-4FB6CD3B9CC5}"/>
                </a:ext>
              </a:extLst>
            </p:cNvPr>
            <p:cNvSpPr/>
            <p:nvPr/>
          </p:nvSpPr>
          <p:spPr>
            <a:xfrm rot="5400000">
              <a:off x="1599728" y="2263306"/>
              <a:ext cx="195990" cy="168957"/>
            </a:xfrm>
            <a:prstGeom prst="triangle">
              <a:avLst/>
            </a:prstGeom>
            <a:solidFill>
              <a:srgbClr val="F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Graphik Regular" panose="020B0503030202060203" pitchFamily="34" charset="77"/>
              </a:endParaRPr>
            </a:p>
          </p:txBody>
        </p:sp>
      </p:grpSp>
      <p:pic>
        <p:nvPicPr>
          <p:cNvPr id="9" name="Imagen 8">
            <a:extLst>
              <a:ext uri="{FF2B5EF4-FFF2-40B4-BE49-F238E27FC236}">
                <a16:creationId xmlns:a16="http://schemas.microsoft.com/office/drawing/2014/main" id="{B560FA3F-8E4C-9FC8-96F8-28949AEABC30}"/>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506412" y="1643438"/>
            <a:ext cx="8169275" cy="359572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70B7532E-4E1C-F202-76C8-689EC189FED0}"/>
            </a:ext>
          </a:extLst>
        </p:cNvPr>
        <p:cNvGrpSpPr/>
        <p:nvPr/>
      </p:nvGrpSpPr>
      <p:grpSpPr>
        <a:xfrm>
          <a:off x="0" y="0"/>
          <a:ext cx="0" cy="0"/>
          <a:chOff x="0" y="0"/>
          <a:chExt cx="0" cy="0"/>
        </a:xfrm>
      </p:grpSpPr>
      <p:sp>
        <p:nvSpPr>
          <p:cNvPr id="166" name="Google Shape;166;p9">
            <a:extLst>
              <a:ext uri="{FF2B5EF4-FFF2-40B4-BE49-F238E27FC236}">
                <a16:creationId xmlns:a16="http://schemas.microsoft.com/office/drawing/2014/main" id="{CBD216D8-460C-9EF6-B2E6-F21D037763B9}"/>
              </a:ext>
            </a:extLst>
          </p:cNvPr>
          <p:cNvSpPr/>
          <p:nvPr/>
        </p:nvSpPr>
        <p:spPr>
          <a:xfrm>
            <a:off x="689675" y="0"/>
            <a:ext cx="8454324" cy="5715000"/>
          </a:xfrm>
          <a:prstGeom prst="rect">
            <a:avLst/>
          </a:prstGeom>
          <a:solidFill>
            <a:srgbClr val="13172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 name="Rectángulo 1">
            <a:extLst>
              <a:ext uri="{FF2B5EF4-FFF2-40B4-BE49-F238E27FC236}">
                <a16:creationId xmlns:a16="http://schemas.microsoft.com/office/drawing/2014/main" id="{C83BAC34-CCD7-2F48-340D-E3BD50F03000}"/>
              </a:ext>
            </a:extLst>
          </p:cNvPr>
          <p:cNvSpPr/>
          <p:nvPr/>
        </p:nvSpPr>
        <p:spPr>
          <a:xfrm>
            <a:off x="1" y="0"/>
            <a:ext cx="1301858" cy="5715000"/>
          </a:xfrm>
          <a:prstGeom prst="rect">
            <a:avLst/>
          </a:prstGeom>
          <a:solidFill>
            <a:srgbClr val="F0D2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67" name="Google Shape;167;p9">
            <a:extLst>
              <a:ext uri="{FF2B5EF4-FFF2-40B4-BE49-F238E27FC236}">
                <a16:creationId xmlns:a16="http://schemas.microsoft.com/office/drawing/2014/main" id="{B3852313-4E08-EF07-3F61-510BB81C395E}"/>
              </a:ext>
            </a:extLst>
          </p:cNvPr>
          <p:cNvSpPr txBox="1"/>
          <p:nvPr/>
        </p:nvSpPr>
        <p:spPr>
          <a:xfrm>
            <a:off x="1469318" y="3073400"/>
            <a:ext cx="4379939" cy="787908"/>
          </a:xfrm>
          <a:prstGeom prst="rect">
            <a:avLst/>
          </a:prstGeom>
          <a:noFill/>
          <a:ln>
            <a:noFill/>
          </a:ln>
        </p:spPr>
        <p:txBody>
          <a:bodyPr spcFirstLastPara="1" wrap="square" lIns="0" tIns="0" rIns="0" bIns="0" anchor="t" anchorCtr="0">
            <a:spAutoFit/>
          </a:bodyPr>
          <a:lstStyle/>
          <a:p>
            <a:pPr marL="6350">
              <a:lnSpc>
                <a:spcPct val="80000"/>
              </a:lnSpc>
            </a:pPr>
            <a:r>
              <a:rPr lang="es-PE" sz="3200" dirty="0">
                <a:solidFill>
                  <a:schemeClr val="lt1"/>
                </a:solidFill>
                <a:latin typeface="Graphik Regular" panose="020B0503030202060203" pitchFamily="34" charset="77"/>
                <a:cs typeface="Calibri" panose="020F0502020204030204" pitchFamily="34" charset="0"/>
              </a:rPr>
              <a:t>PLANIFICACIÓN DE </a:t>
            </a:r>
            <a:r>
              <a:rPr lang="es-PE" sz="3200" b="1" dirty="0">
                <a:solidFill>
                  <a:schemeClr val="lt1"/>
                </a:solidFill>
                <a:latin typeface="Graphik Bold" panose="020B0503030202060203" pitchFamily="34" charset="77"/>
                <a:cs typeface="Calibri" panose="020F0502020204030204" pitchFamily="34" charset="0"/>
              </a:rPr>
              <a:t>IMPLEMENTACIÓN</a:t>
            </a:r>
            <a:endParaRPr sz="3200" b="1" dirty="0">
              <a:solidFill>
                <a:schemeClr val="lt1"/>
              </a:solidFill>
              <a:latin typeface="Graphik Bold" panose="020B0503030202060203" pitchFamily="34" charset="77"/>
              <a:ea typeface="Calibri"/>
              <a:cs typeface="Calibri"/>
              <a:sym typeface="Calibri"/>
            </a:endParaRPr>
          </a:p>
        </p:txBody>
      </p:sp>
      <p:sp>
        <p:nvSpPr>
          <p:cNvPr id="9" name="CuadroTexto 8">
            <a:extLst>
              <a:ext uri="{FF2B5EF4-FFF2-40B4-BE49-F238E27FC236}">
                <a16:creationId xmlns:a16="http://schemas.microsoft.com/office/drawing/2014/main" id="{6808191A-295A-1F02-9B49-AF58D662397F}"/>
              </a:ext>
            </a:extLst>
          </p:cNvPr>
          <p:cNvSpPr txBox="1"/>
          <p:nvPr/>
        </p:nvSpPr>
        <p:spPr>
          <a:xfrm>
            <a:off x="163286" y="2857500"/>
            <a:ext cx="1037833" cy="1138773"/>
          </a:xfrm>
          <a:prstGeom prst="rect">
            <a:avLst/>
          </a:prstGeom>
          <a:noFill/>
        </p:spPr>
        <p:txBody>
          <a:bodyPr wrap="square">
            <a:spAutoFit/>
          </a:bodyPr>
          <a:lstStyle/>
          <a:p>
            <a:pPr algn="r"/>
            <a:r>
              <a:rPr lang="es-PE" sz="6800" dirty="0">
                <a:solidFill>
                  <a:srgbClr val="13172C"/>
                </a:solidFill>
                <a:latin typeface="Graphik Bold" panose="020B0503030202060203" pitchFamily="34" charset="77"/>
                <a:cs typeface="Calibri" panose="020F0502020204030204" pitchFamily="34" charset="0"/>
              </a:rPr>
              <a:t>4</a:t>
            </a:r>
            <a:r>
              <a:rPr lang="es-PE" sz="6800" dirty="0">
                <a:solidFill>
                  <a:srgbClr val="13172C"/>
                </a:solidFill>
                <a:latin typeface="Graphik Bold" panose="020B0503030202060203" pitchFamily="34" charset="77"/>
                <a:cs typeface="Calibri" panose="020F0502020204030204" pitchFamily="34" charset="0"/>
                <a:sym typeface="Arial"/>
              </a:rPr>
              <a:t>.</a:t>
            </a:r>
            <a:endParaRPr lang="es-ES_tradnl" sz="6800" dirty="0">
              <a:solidFill>
                <a:srgbClr val="13172C"/>
              </a:solidFill>
              <a:latin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F120599B-9CB4-E810-91E3-821829BF6913}"/>
              </a:ext>
            </a:extLst>
          </p:cNvPr>
          <p:cNvPicPr>
            <a:picLocks noChangeAspect="1"/>
          </p:cNvPicPr>
          <p:nvPr/>
        </p:nvPicPr>
        <p:blipFill>
          <a:blip r:embed="rId3"/>
          <a:stretch>
            <a:fillRect/>
          </a:stretch>
        </p:blipFill>
        <p:spPr>
          <a:xfrm>
            <a:off x="0" y="4059303"/>
            <a:ext cx="1301858" cy="1655697"/>
          </a:xfrm>
          <a:prstGeom prst="rect">
            <a:avLst/>
          </a:prstGeom>
        </p:spPr>
      </p:pic>
      <p:cxnSp>
        <p:nvCxnSpPr>
          <p:cNvPr id="13" name="Conector recto 12">
            <a:extLst>
              <a:ext uri="{FF2B5EF4-FFF2-40B4-BE49-F238E27FC236}">
                <a16:creationId xmlns:a16="http://schemas.microsoft.com/office/drawing/2014/main" id="{5E4AFD56-77A6-B606-3CC2-FF4A4D4A2C61}"/>
              </a:ext>
            </a:extLst>
          </p:cNvPr>
          <p:cNvCxnSpPr>
            <a:cxnSpLocks/>
          </p:cNvCxnSpPr>
          <p:nvPr/>
        </p:nvCxnSpPr>
        <p:spPr>
          <a:xfrm>
            <a:off x="1469318" y="3909226"/>
            <a:ext cx="388645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680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2" name="Google Shape;127;p5">
            <a:extLst>
              <a:ext uri="{FF2B5EF4-FFF2-40B4-BE49-F238E27FC236}">
                <a16:creationId xmlns:a16="http://schemas.microsoft.com/office/drawing/2014/main" id="{738A5EB4-899A-6F89-AF6B-FB67659B83EC}"/>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PLANIFICACIÓN DE IMPLEMENTACIÓN</a:t>
            </a:r>
            <a:endParaRPr dirty="0">
              <a:latin typeface="Calibri" panose="020F0502020204030204" pitchFamily="34" charset="0"/>
              <a:cs typeface="Calibri" panose="020F0502020204030204" pitchFamily="34" charset="0"/>
            </a:endParaRPr>
          </a:p>
        </p:txBody>
      </p:sp>
      <p:grpSp>
        <p:nvGrpSpPr>
          <p:cNvPr id="41" name="Grupo 40">
            <a:extLst>
              <a:ext uri="{FF2B5EF4-FFF2-40B4-BE49-F238E27FC236}">
                <a16:creationId xmlns:a16="http://schemas.microsoft.com/office/drawing/2014/main" id="{01C9CB31-6DC2-CDE7-11DB-C49FFECF4F8B}"/>
              </a:ext>
            </a:extLst>
          </p:cNvPr>
          <p:cNvGrpSpPr/>
          <p:nvPr/>
        </p:nvGrpSpPr>
        <p:grpSpPr>
          <a:xfrm>
            <a:off x="793582" y="1709065"/>
            <a:ext cx="7573461" cy="1807219"/>
            <a:chOff x="785269" y="1709065"/>
            <a:chExt cx="7573461" cy="1807219"/>
          </a:xfrm>
        </p:grpSpPr>
        <p:grpSp>
          <p:nvGrpSpPr>
            <p:cNvPr id="4" name="Grupo 3">
              <a:extLst>
                <a:ext uri="{FF2B5EF4-FFF2-40B4-BE49-F238E27FC236}">
                  <a16:creationId xmlns:a16="http://schemas.microsoft.com/office/drawing/2014/main" id="{EE612405-2EF1-A95F-2B2F-75B51ECAD6B7}"/>
                </a:ext>
              </a:extLst>
            </p:cNvPr>
            <p:cNvGrpSpPr/>
            <p:nvPr/>
          </p:nvGrpSpPr>
          <p:grpSpPr>
            <a:xfrm>
              <a:off x="785269" y="1709065"/>
              <a:ext cx="2482738" cy="1807219"/>
              <a:chOff x="408604" y="648947"/>
              <a:chExt cx="4151535" cy="3021958"/>
            </a:xfrm>
          </p:grpSpPr>
          <p:sp>
            <p:nvSpPr>
              <p:cNvPr id="5" name="Rectángulo redondeado 4">
                <a:extLst>
                  <a:ext uri="{FF2B5EF4-FFF2-40B4-BE49-F238E27FC236}">
                    <a16:creationId xmlns:a16="http://schemas.microsoft.com/office/drawing/2014/main" id="{29E5C45C-96A6-3D2E-D844-F146F9E3D24F}"/>
                  </a:ext>
                </a:extLst>
              </p:cNvPr>
              <p:cNvSpPr/>
              <p:nvPr/>
            </p:nvSpPr>
            <p:spPr>
              <a:xfrm>
                <a:off x="813472" y="648947"/>
                <a:ext cx="3746667" cy="3021958"/>
              </a:xfrm>
              <a:prstGeom prst="roundRect">
                <a:avLst>
                  <a:gd name="adj" fmla="val 9766"/>
                </a:avLst>
              </a:prstGeom>
              <a:solidFill>
                <a:srgbClr val="EFC58E"/>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6" name="Elipse 5">
                <a:extLst>
                  <a:ext uri="{FF2B5EF4-FFF2-40B4-BE49-F238E27FC236}">
                    <a16:creationId xmlns:a16="http://schemas.microsoft.com/office/drawing/2014/main" id="{11456CC8-8FA3-F5F9-A435-16C48ABCD452}"/>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7" name="CuadroTexto 6">
                <a:extLst>
                  <a:ext uri="{FF2B5EF4-FFF2-40B4-BE49-F238E27FC236}">
                    <a16:creationId xmlns:a16="http://schemas.microsoft.com/office/drawing/2014/main" id="{AEF64AA3-A3DC-8212-15EA-4C235C34B898}"/>
                  </a:ext>
                </a:extLst>
              </p:cNvPr>
              <p:cNvSpPr txBox="1"/>
              <p:nvPr/>
            </p:nvSpPr>
            <p:spPr>
              <a:xfrm>
                <a:off x="1341056" y="1049359"/>
                <a:ext cx="2808048" cy="2161537"/>
              </a:xfrm>
              <a:prstGeom prst="rect">
                <a:avLst/>
              </a:prstGeom>
              <a:noFill/>
            </p:spPr>
            <p:txBody>
              <a:bodyPr wrap="square" lIns="0" tIns="0" rIns="0" bIns="0" rtlCol="0">
                <a:spAutoFit/>
              </a:bodyPr>
              <a:lstStyle/>
              <a:p>
                <a:pPr>
                  <a:buSzPts val="900"/>
                </a:pPr>
                <a:r>
                  <a:rPr lang="es-PE" sz="1200" dirty="0">
                    <a:solidFill>
                      <a:schemeClr val="tx1"/>
                    </a:solidFill>
                    <a:latin typeface="Calibri"/>
                    <a:cs typeface="Calibri"/>
                    <a:sym typeface="Calibri"/>
                  </a:rPr>
                  <a:t>Obtener una comprensión clara de la visión y los objetivos estratégicos de la empresa para alinear la dirección estratégica de datos con la estrategia general de la empresa.</a:t>
                </a:r>
              </a:p>
            </p:txBody>
          </p:sp>
          <p:sp>
            <p:nvSpPr>
              <p:cNvPr id="8" name="Elipse 7">
                <a:extLst>
                  <a:ext uri="{FF2B5EF4-FFF2-40B4-BE49-F238E27FC236}">
                    <a16:creationId xmlns:a16="http://schemas.microsoft.com/office/drawing/2014/main" id="{572252D4-64F0-62F3-3B73-A99BEEE68A7B}"/>
                  </a:ext>
                </a:extLst>
              </p:cNvPr>
              <p:cNvSpPr/>
              <p:nvPr/>
            </p:nvSpPr>
            <p:spPr>
              <a:xfrm>
                <a:off x="465306" y="1828585"/>
                <a:ext cx="641336" cy="641336"/>
              </a:xfrm>
              <a:prstGeom prst="ellipse">
                <a:avLst/>
              </a:prstGeom>
              <a:solidFill>
                <a:schemeClr val="bg1"/>
              </a:solidFill>
              <a:ln w="38100">
                <a:solidFill>
                  <a:srgbClr val="EFC5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9" name="Google Shape;363;p26">
                <a:extLst>
                  <a:ext uri="{FF2B5EF4-FFF2-40B4-BE49-F238E27FC236}">
                    <a16:creationId xmlns:a16="http://schemas.microsoft.com/office/drawing/2014/main" id="{16183B26-103D-1E6D-88F3-F267D2103871}"/>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EFC58E"/>
                    </a:solidFill>
                    <a:latin typeface="Calibri"/>
                    <a:ea typeface="Calibri"/>
                    <a:cs typeface="Calibri"/>
                    <a:sym typeface="Calibri"/>
                  </a:rPr>
                  <a:t>1</a:t>
                </a:r>
                <a:endParaRPr sz="2000" dirty="0">
                  <a:solidFill>
                    <a:srgbClr val="EFC58E"/>
                  </a:solidFill>
                </a:endParaRPr>
              </a:p>
            </p:txBody>
          </p:sp>
        </p:grpSp>
        <p:grpSp>
          <p:nvGrpSpPr>
            <p:cNvPr id="10" name="Grupo 9">
              <a:extLst>
                <a:ext uri="{FF2B5EF4-FFF2-40B4-BE49-F238E27FC236}">
                  <a16:creationId xmlns:a16="http://schemas.microsoft.com/office/drawing/2014/main" id="{3E4A93A9-E05D-B3A5-1EED-2DF7FAC5B1A8}"/>
                </a:ext>
              </a:extLst>
            </p:cNvPr>
            <p:cNvGrpSpPr/>
            <p:nvPr/>
          </p:nvGrpSpPr>
          <p:grpSpPr>
            <a:xfrm>
              <a:off x="3330631" y="1709066"/>
              <a:ext cx="2482738" cy="1807217"/>
              <a:chOff x="408604" y="648949"/>
              <a:chExt cx="4151535" cy="3021957"/>
            </a:xfrm>
          </p:grpSpPr>
          <p:sp>
            <p:nvSpPr>
              <p:cNvPr id="11" name="Rectángulo redondeado 10">
                <a:extLst>
                  <a:ext uri="{FF2B5EF4-FFF2-40B4-BE49-F238E27FC236}">
                    <a16:creationId xmlns:a16="http://schemas.microsoft.com/office/drawing/2014/main" id="{D60DD4F8-A943-D78B-3C12-93826FAE273B}"/>
                  </a:ext>
                </a:extLst>
              </p:cNvPr>
              <p:cNvSpPr/>
              <p:nvPr/>
            </p:nvSpPr>
            <p:spPr>
              <a:xfrm>
                <a:off x="813472" y="648949"/>
                <a:ext cx="3746667" cy="3021957"/>
              </a:xfrm>
              <a:prstGeom prst="roundRect">
                <a:avLst>
                  <a:gd name="adj" fmla="val 9766"/>
                </a:avLst>
              </a:prstGeom>
              <a:solidFill>
                <a:srgbClr val="18213C"/>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2" name="Elipse 11">
                <a:extLst>
                  <a:ext uri="{FF2B5EF4-FFF2-40B4-BE49-F238E27FC236}">
                    <a16:creationId xmlns:a16="http://schemas.microsoft.com/office/drawing/2014/main" id="{2497292C-2EF0-7D05-6B9D-27AEF82D777D}"/>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3" name="CuadroTexto 12">
                <a:extLst>
                  <a:ext uri="{FF2B5EF4-FFF2-40B4-BE49-F238E27FC236}">
                    <a16:creationId xmlns:a16="http://schemas.microsoft.com/office/drawing/2014/main" id="{C642662D-762F-2AEC-1D74-167C8C1EEA4D}"/>
                  </a:ext>
                </a:extLst>
              </p:cNvPr>
              <p:cNvSpPr txBox="1"/>
              <p:nvPr/>
            </p:nvSpPr>
            <p:spPr>
              <a:xfrm>
                <a:off x="1341056" y="1049360"/>
                <a:ext cx="2711994" cy="2161538"/>
              </a:xfrm>
              <a:prstGeom prst="rect">
                <a:avLst/>
              </a:prstGeom>
              <a:noFill/>
            </p:spPr>
            <p:txBody>
              <a:bodyPr wrap="square" lIns="0" tIns="0" rIns="0" bIns="0" rtlCol="0">
                <a:spAutoFit/>
              </a:bodyPr>
              <a:lstStyle/>
              <a:p>
                <a:pPr>
                  <a:buSzPts val="900"/>
                </a:pPr>
                <a:r>
                  <a:rPr lang="es-PE" sz="1200" dirty="0">
                    <a:solidFill>
                      <a:schemeClr val="bg1"/>
                    </a:solidFill>
                    <a:latin typeface="Calibri"/>
                    <a:cs typeface="Calibri"/>
                    <a:sym typeface="Calibri"/>
                  </a:rPr>
                  <a:t>Realizar una evaluación del estado actual de los datos de la empresa, incluida la calidad de los datos, la integridad, la disponibilidad y la seguridad.</a:t>
                </a:r>
              </a:p>
            </p:txBody>
          </p:sp>
          <p:sp>
            <p:nvSpPr>
              <p:cNvPr id="14" name="Elipse 13">
                <a:extLst>
                  <a:ext uri="{FF2B5EF4-FFF2-40B4-BE49-F238E27FC236}">
                    <a16:creationId xmlns:a16="http://schemas.microsoft.com/office/drawing/2014/main" id="{FE99ECCA-4DB3-BD1F-A5E8-1661694417D7}"/>
                  </a:ext>
                </a:extLst>
              </p:cNvPr>
              <p:cNvSpPr/>
              <p:nvPr/>
            </p:nvSpPr>
            <p:spPr>
              <a:xfrm>
                <a:off x="465306" y="1828585"/>
                <a:ext cx="641336" cy="641336"/>
              </a:xfrm>
              <a:prstGeom prst="ellipse">
                <a:avLst/>
              </a:prstGeom>
              <a:solidFill>
                <a:schemeClr val="bg1"/>
              </a:solidFill>
              <a:ln w="38100">
                <a:solidFill>
                  <a:srgbClr val="18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5" name="Google Shape;363;p26">
                <a:extLst>
                  <a:ext uri="{FF2B5EF4-FFF2-40B4-BE49-F238E27FC236}">
                    <a16:creationId xmlns:a16="http://schemas.microsoft.com/office/drawing/2014/main" id="{099116D3-8049-BDC9-1693-F63AB0D30EDD}"/>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18213C"/>
                    </a:solidFill>
                    <a:latin typeface="Calibri"/>
                    <a:ea typeface="Calibri"/>
                    <a:cs typeface="Calibri"/>
                    <a:sym typeface="Calibri"/>
                  </a:rPr>
                  <a:t>2</a:t>
                </a:r>
                <a:endParaRPr sz="2000" dirty="0">
                  <a:solidFill>
                    <a:srgbClr val="18213C"/>
                  </a:solidFill>
                </a:endParaRPr>
              </a:p>
            </p:txBody>
          </p:sp>
        </p:grpSp>
        <p:grpSp>
          <p:nvGrpSpPr>
            <p:cNvPr id="16" name="Grupo 15">
              <a:extLst>
                <a:ext uri="{FF2B5EF4-FFF2-40B4-BE49-F238E27FC236}">
                  <a16:creationId xmlns:a16="http://schemas.microsoft.com/office/drawing/2014/main" id="{EF71E977-F1A0-5FE0-BCFC-A113963C1606}"/>
                </a:ext>
              </a:extLst>
            </p:cNvPr>
            <p:cNvGrpSpPr/>
            <p:nvPr/>
          </p:nvGrpSpPr>
          <p:grpSpPr>
            <a:xfrm>
              <a:off x="5875992" y="1709066"/>
              <a:ext cx="2482738" cy="1807217"/>
              <a:chOff x="408604" y="648949"/>
              <a:chExt cx="4151535" cy="3021958"/>
            </a:xfrm>
          </p:grpSpPr>
          <p:sp>
            <p:nvSpPr>
              <p:cNvPr id="17" name="Rectángulo redondeado 16">
                <a:extLst>
                  <a:ext uri="{FF2B5EF4-FFF2-40B4-BE49-F238E27FC236}">
                    <a16:creationId xmlns:a16="http://schemas.microsoft.com/office/drawing/2014/main" id="{542DEF3D-2BF4-7E2E-E693-7D3CD1782C14}"/>
                  </a:ext>
                </a:extLst>
              </p:cNvPr>
              <p:cNvSpPr/>
              <p:nvPr/>
            </p:nvSpPr>
            <p:spPr>
              <a:xfrm>
                <a:off x="813472" y="648949"/>
                <a:ext cx="3746667" cy="3021958"/>
              </a:xfrm>
              <a:prstGeom prst="roundRect">
                <a:avLst>
                  <a:gd name="adj" fmla="val 9766"/>
                </a:avLst>
              </a:prstGeom>
              <a:solidFill>
                <a:srgbClr val="CA9C61"/>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8" name="Elipse 17">
                <a:extLst>
                  <a:ext uri="{FF2B5EF4-FFF2-40B4-BE49-F238E27FC236}">
                    <a16:creationId xmlns:a16="http://schemas.microsoft.com/office/drawing/2014/main" id="{379AEE54-CB23-868C-E16C-1246AD0401AB}"/>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9" name="CuadroTexto 18">
                <a:extLst>
                  <a:ext uri="{FF2B5EF4-FFF2-40B4-BE49-F238E27FC236}">
                    <a16:creationId xmlns:a16="http://schemas.microsoft.com/office/drawing/2014/main" id="{C09CB13B-F7D7-5864-CBBC-518921D52EBE}"/>
                  </a:ext>
                </a:extLst>
              </p:cNvPr>
              <p:cNvSpPr txBox="1"/>
              <p:nvPr/>
            </p:nvSpPr>
            <p:spPr>
              <a:xfrm>
                <a:off x="1341056" y="1049360"/>
                <a:ext cx="2961457" cy="2161539"/>
              </a:xfrm>
              <a:prstGeom prst="rect">
                <a:avLst/>
              </a:prstGeom>
              <a:noFill/>
            </p:spPr>
            <p:txBody>
              <a:bodyPr wrap="square" lIns="0" tIns="0" rIns="0" bIns="0" rtlCol="0">
                <a:spAutoFit/>
              </a:bodyPr>
              <a:lstStyle/>
              <a:p>
                <a:pPr>
                  <a:buSzPts val="900"/>
                </a:pPr>
                <a:r>
                  <a:rPr lang="es-PE" sz="1200" dirty="0">
                    <a:solidFill>
                      <a:schemeClr val="bg1"/>
                    </a:solidFill>
                    <a:latin typeface="Calibri"/>
                    <a:cs typeface="Calibri"/>
                    <a:sym typeface="Calibri"/>
                  </a:rPr>
                  <a:t>Establecer objetivos claros y específicos para la gestión de datos, como mejorar la calidad de los datos, aumentar la accesibilidad o garantizar el cumplimiento normativo.</a:t>
                </a:r>
                <a:endParaRPr lang="es-PE" sz="1200" dirty="0">
                  <a:solidFill>
                    <a:schemeClr val="bg1"/>
                  </a:solidFill>
                  <a:latin typeface="Calibri"/>
                  <a:cs typeface="Calibri"/>
                </a:endParaRPr>
              </a:p>
            </p:txBody>
          </p:sp>
          <p:sp>
            <p:nvSpPr>
              <p:cNvPr id="20" name="Elipse 19">
                <a:extLst>
                  <a:ext uri="{FF2B5EF4-FFF2-40B4-BE49-F238E27FC236}">
                    <a16:creationId xmlns:a16="http://schemas.microsoft.com/office/drawing/2014/main" id="{A394F6E2-1F27-1BB1-A1CB-2227CD4F7C02}"/>
                  </a:ext>
                </a:extLst>
              </p:cNvPr>
              <p:cNvSpPr/>
              <p:nvPr/>
            </p:nvSpPr>
            <p:spPr>
              <a:xfrm>
                <a:off x="465306" y="1828585"/>
                <a:ext cx="641336" cy="641336"/>
              </a:xfrm>
              <a:prstGeom prst="ellipse">
                <a:avLst/>
              </a:prstGeom>
              <a:solidFill>
                <a:schemeClr val="bg1"/>
              </a:solidFill>
              <a:ln w="38100">
                <a:solidFill>
                  <a:srgbClr val="CA9C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21" name="Google Shape;363;p26">
                <a:extLst>
                  <a:ext uri="{FF2B5EF4-FFF2-40B4-BE49-F238E27FC236}">
                    <a16:creationId xmlns:a16="http://schemas.microsoft.com/office/drawing/2014/main" id="{36A8D356-2A2D-7996-AC83-1A66813631B5}"/>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CA9C61"/>
                    </a:solidFill>
                    <a:latin typeface="Calibri"/>
                    <a:ea typeface="Calibri"/>
                    <a:cs typeface="Calibri"/>
                    <a:sym typeface="Calibri"/>
                  </a:rPr>
                  <a:t>3</a:t>
                </a:r>
                <a:endParaRPr sz="2000" dirty="0">
                  <a:solidFill>
                    <a:srgbClr val="CA9C61"/>
                  </a:solidFill>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 name="Google Shape;127;p5">
            <a:extLst>
              <a:ext uri="{FF2B5EF4-FFF2-40B4-BE49-F238E27FC236}">
                <a16:creationId xmlns:a16="http://schemas.microsoft.com/office/drawing/2014/main" id="{1A2162DB-E9CB-18BD-906C-4CF0B7A080FB}"/>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PLANIFICACIÓN DE IMPLEMENTACIÓN</a:t>
            </a:r>
            <a:endParaRPr dirty="0">
              <a:latin typeface="Calibri" panose="020F0502020204030204" pitchFamily="34" charset="0"/>
              <a:cs typeface="Calibri" panose="020F0502020204030204" pitchFamily="34" charset="0"/>
            </a:endParaRPr>
          </a:p>
        </p:txBody>
      </p:sp>
      <p:grpSp>
        <p:nvGrpSpPr>
          <p:cNvPr id="4" name="Grupo 3">
            <a:extLst>
              <a:ext uri="{FF2B5EF4-FFF2-40B4-BE49-F238E27FC236}">
                <a16:creationId xmlns:a16="http://schemas.microsoft.com/office/drawing/2014/main" id="{387A1B23-F168-C02D-0CCA-27BDF7D39141}"/>
              </a:ext>
            </a:extLst>
          </p:cNvPr>
          <p:cNvGrpSpPr/>
          <p:nvPr/>
        </p:nvGrpSpPr>
        <p:grpSpPr>
          <a:xfrm>
            <a:off x="793582" y="1709065"/>
            <a:ext cx="7573461" cy="1807219"/>
            <a:chOff x="785269" y="1709065"/>
            <a:chExt cx="7573461" cy="1807219"/>
          </a:xfrm>
        </p:grpSpPr>
        <p:grpSp>
          <p:nvGrpSpPr>
            <p:cNvPr id="5" name="Grupo 4">
              <a:extLst>
                <a:ext uri="{FF2B5EF4-FFF2-40B4-BE49-F238E27FC236}">
                  <a16:creationId xmlns:a16="http://schemas.microsoft.com/office/drawing/2014/main" id="{61727B54-C08F-84B9-F77B-46C174353462}"/>
                </a:ext>
              </a:extLst>
            </p:cNvPr>
            <p:cNvGrpSpPr/>
            <p:nvPr/>
          </p:nvGrpSpPr>
          <p:grpSpPr>
            <a:xfrm>
              <a:off x="785269" y="1709065"/>
              <a:ext cx="2482738" cy="1807219"/>
              <a:chOff x="408604" y="648947"/>
              <a:chExt cx="4151535" cy="3021958"/>
            </a:xfrm>
          </p:grpSpPr>
          <p:sp>
            <p:nvSpPr>
              <p:cNvPr id="18" name="Rectángulo redondeado 17">
                <a:extLst>
                  <a:ext uri="{FF2B5EF4-FFF2-40B4-BE49-F238E27FC236}">
                    <a16:creationId xmlns:a16="http://schemas.microsoft.com/office/drawing/2014/main" id="{B548610D-007D-6DEE-8E49-9D865D75998D}"/>
                  </a:ext>
                </a:extLst>
              </p:cNvPr>
              <p:cNvSpPr/>
              <p:nvPr/>
            </p:nvSpPr>
            <p:spPr>
              <a:xfrm>
                <a:off x="813472" y="648947"/>
                <a:ext cx="3746667" cy="3021958"/>
              </a:xfrm>
              <a:prstGeom prst="roundRect">
                <a:avLst>
                  <a:gd name="adj" fmla="val 9766"/>
                </a:avLst>
              </a:prstGeom>
              <a:solidFill>
                <a:srgbClr val="05AAE6"/>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9" name="Elipse 18">
                <a:extLst>
                  <a:ext uri="{FF2B5EF4-FFF2-40B4-BE49-F238E27FC236}">
                    <a16:creationId xmlns:a16="http://schemas.microsoft.com/office/drawing/2014/main" id="{75292BD0-CA48-E92F-42EF-40173E5453EA}"/>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20" name="CuadroTexto 19">
                <a:extLst>
                  <a:ext uri="{FF2B5EF4-FFF2-40B4-BE49-F238E27FC236}">
                    <a16:creationId xmlns:a16="http://schemas.microsoft.com/office/drawing/2014/main" id="{2DA52B70-83FE-BAFB-8797-EDB578D4930E}"/>
                  </a:ext>
                </a:extLst>
              </p:cNvPr>
              <p:cNvSpPr txBox="1"/>
              <p:nvPr/>
            </p:nvSpPr>
            <p:spPr>
              <a:xfrm>
                <a:off x="1341056" y="1049359"/>
                <a:ext cx="2814217" cy="2161537"/>
              </a:xfrm>
              <a:prstGeom prst="rect">
                <a:avLst/>
              </a:prstGeom>
              <a:noFill/>
            </p:spPr>
            <p:txBody>
              <a:bodyPr wrap="square" lIns="0" tIns="0" rIns="0" bIns="0" rtlCol="0">
                <a:spAutoFit/>
              </a:bodyPr>
              <a:lstStyle/>
              <a:p>
                <a:pPr lvl="0">
                  <a:buSzPts val="900"/>
                </a:pPr>
                <a:r>
                  <a:rPr lang="es-PE" sz="1200" dirty="0">
                    <a:solidFill>
                      <a:schemeClr val="bg1"/>
                    </a:solidFill>
                    <a:latin typeface="Calibri"/>
                    <a:cs typeface="Calibri"/>
                    <a:sym typeface="Calibri"/>
                  </a:rPr>
                  <a:t>Crear un marco de gobierno de datos que defina roles, responsabilidades, políticas y procesos para la gestión efectiva de los datos en toda la empresa.</a:t>
                </a:r>
              </a:p>
            </p:txBody>
          </p:sp>
          <p:sp>
            <p:nvSpPr>
              <p:cNvPr id="21" name="Elipse 20">
                <a:extLst>
                  <a:ext uri="{FF2B5EF4-FFF2-40B4-BE49-F238E27FC236}">
                    <a16:creationId xmlns:a16="http://schemas.microsoft.com/office/drawing/2014/main" id="{B32948A5-1BCD-A2D7-01D0-04DE638C720E}"/>
                  </a:ext>
                </a:extLst>
              </p:cNvPr>
              <p:cNvSpPr/>
              <p:nvPr/>
            </p:nvSpPr>
            <p:spPr>
              <a:xfrm>
                <a:off x="465306" y="1828585"/>
                <a:ext cx="641336" cy="641336"/>
              </a:xfrm>
              <a:prstGeom prst="ellipse">
                <a:avLst/>
              </a:prstGeom>
              <a:solidFill>
                <a:schemeClr val="bg1"/>
              </a:solidFill>
              <a:ln w="38100">
                <a:solidFill>
                  <a:srgbClr val="05A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22" name="Google Shape;363;p26">
                <a:extLst>
                  <a:ext uri="{FF2B5EF4-FFF2-40B4-BE49-F238E27FC236}">
                    <a16:creationId xmlns:a16="http://schemas.microsoft.com/office/drawing/2014/main" id="{EC27F1DA-546C-93AF-68BB-61E04CA7085B}"/>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05AAE6"/>
                    </a:solidFill>
                    <a:latin typeface="Calibri"/>
                    <a:cs typeface="Calibri"/>
                    <a:sym typeface="Calibri"/>
                  </a:rPr>
                  <a:t>4</a:t>
                </a:r>
                <a:endParaRPr sz="2000" dirty="0">
                  <a:solidFill>
                    <a:srgbClr val="05AAE6"/>
                  </a:solidFill>
                </a:endParaRPr>
              </a:p>
            </p:txBody>
          </p:sp>
        </p:grpSp>
        <p:grpSp>
          <p:nvGrpSpPr>
            <p:cNvPr id="6" name="Grupo 5">
              <a:extLst>
                <a:ext uri="{FF2B5EF4-FFF2-40B4-BE49-F238E27FC236}">
                  <a16:creationId xmlns:a16="http://schemas.microsoft.com/office/drawing/2014/main" id="{CF1555DE-289E-0C20-D5C1-551264B6753B}"/>
                </a:ext>
              </a:extLst>
            </p:cNvPr>
            <p:cNvGrpSpPr/>
            <p:nvPr/>
          </p:nvGrpSpPr>
          <p:grpSpPr>
            <a:xfrm>
              <a:off x="3330631" y="1709066"/>
              <a:ext cx="2482738" cy="1807216"/>
              <a:chOff x="408604" y="648949"/>
              <a:chExt cx="4151535" cy="3021957"/>
            </a:xfrm>
          </p:grpSpPr>
          <p:sp>
            <p:nvSpPr>
              <p:cNvPr id="13" name="Rectángulo redondeado 12">
                <a:extLst>
                  <a:ext uri="{FF2B5EF4-FFF2-40B4-BE49-F238E27FC236}">
                    <a16:creationId xmlns:a16="http://schemas.microsoft.com/office/drawing/2014/main" id="{D804C451-891B-D402-9F79-AD61E26A3C06}"/>
                  </a:ext>
                </a:extLst>
              </p:cNvPr>
              <p:cNvSpPr/>
              <p:nvPr/>
            </p:nvSpPr>
            <p:spPr>
              <a:xfrm>
                <a:off x="813472" y="648949"/>
                <a:ext cx="3746667" cy="3021957"/>
              </a:xfrm>
              <a:prstGeom prst="roundRect">
                <a:avLst>
                  <a:gd name="adj" fmla="val 9766"/>
                </a:avLst>
              </a:prstGeom>
              <a:solidFill>
                <a:srgbClr val="D6A16F"/>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4" name="Elipse 13">
                <a:extLst>
                  <a:ext uri="{FF2B5EF4-FFF2-40B4-BE49-F238E27FC236}">
                    <a16:creationId xmlns:a16="http://schemas.microsoft.com/office/drawing/2014/main" id="{941B34D3-7B72-DF35-3D16-2F469DCBEBE9}"/>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5" name="CuadroTexto 14">
                <a:extLst>
                  <a:ext uri="{FF2B5EF4-FFF2-40B4-BE49-F238E27FC236}">
                    <a16:creationId xmlns:a16="http://schemas.microsoft.com/office/drawing/2014/main" id="{2621CCB3-D97E-E28A-F545-03F9EE4F2BEA}"/>
                  </a:ext>
                </a:extLst>
              </p:cNvPr>
              <p:cNvSpPr txBox="1"/>
              <p:nvPr/>
            </p:nvSpPr>
            <p:spPr>
              <a:xfrm>
                <a:off x="1341056" y="1049360"/>
                <a:ext cx="3138270" cy="2161540"/>
              </a:xfrm>
              <a:prstGeom prst="rect">
                <a:avLst/>
              </a:prstGeom>
              <a:noFill/>
            </p:spPr>
            <p:txBody>
              <a:bodyPr wrap="square" lIns="0" tIns="0" rIns="0" bIns="0" rtlCol="0">
                <a:spAutoFit/>
              </a:bodyPr>
              <a:lstStyle/>
              <a:p>
                <a:pPr>
                  <a:buSzPts val="900"/>
                </a:pPr>
                <a:r>
                  <a:rPr lang="es-PE" sz="1200" dirty="0">
                    <a:solidFill>
                      <a:schemeClr val="bg1"/>
                    </a:solidFill>
                    <a:latin typeface="Calibri"/>
                    <a:cs typeface="Calibri"/>
                    <a:sym typeface="Calibri"/>
                  </a:rPr>
                  <a:t>Seleccionar e implementar las tecnologías y herramientas adecuadas para respaldar la gestión y el gobierno de datos, como sistemas de gestión de datos maestros, herramientas de calidad.</a:t>
                </a:r>
              </a:p>
            </p:txBody>
          </p:sp>
          <p:sp>
            <p:nvSpPr>
              <p:cNvPr id="16" name="Elipse 15">
                <a:extLst>
                  <a:ext uri="{FF2B5EF4-FFF2-40B4-BE49-F238E27FC236}">
                    <a16:creationId xmlns:a16="http://schemas.microsoft.com/office/drawing/2014/main" id="{9A8261B0-94A4-F09B-806E-5ED965F1D161}"/>
                  </a:ext>
                </a:extLst>
              </p:cNvPr>
              <p:cNvSpPr/>
              <p:nvPr/>
            </p:nvSpPr>
            <p:spPr>
              <a:xfrm>
                <a:off x="465306" y="1828585"/>
                <a:ext cx="641336" cy="641336"/>
              </a:xfrm>
              <a:prstGeom prst="ellipse">
                <a:avLst/>
              </a:prstGeom>
              <a:solidFill>
                <a:schemeClr val="bg1"/>
              </a:solidFill>
              <a:ln w="38100">
                <a:solidFill>
                  <a:srgbClr val="D6A1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solidFill>
                    <a:srgbClr val="D6A16F"/>
                  </a:solidFill>
                  <a:latin typeface="Calibri" panose="020F0502020204030204" pitchFamily="34" charset="0"/>
                </a:endParaRPr>
              </a:p>
            </p:txBody>
          </p:sp>
          <p:sp>
            <p:nvSpPr>
              <p:cNvPr id="17" name="Google Shape;363;p26">
                <a:extLst>
                  <a:ext uri="{FF2B5EF4-FFF2-40B4-BE49-F238E27FC236}">
                    <a16:creationId xmlns:a16="http://schemas.microsoft.com/office/drawing/2014/main" id="{4AAB97AD-84B1-3346-EF59-3BD556D5807F}"/>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D6A16F"/>
                    </a:solidFill>
                    <a:latin typeface="Calibri"/>
                    <a:cs typeface="Calibri"/>
                    <a:sym typeface="Calibri"/>
                  </a:rPr>
                  <a:t>5</a:t>
                </a:r>
                <a:endParaRPr sz="2000" dirty="0">
                  <a:solidFill>
                    <a:srgbClr val="D6A16F"/>
                  </a:solidFill>
                </a:endParaRPr>
              </a:p>
            </p:txBody>
          </p:sp>
        </p:grpSp>
        <p:grpSp>
          <p:nvGrpSpPr>
            <p:cNvPr id="7" name="Grupo 6">
              <a:extLst>
                <a:ext uri="{FF2B5EF4-FFF2-40B4-BE49-F238E27FC236}">
                  <a16:creationId xmlns:a16="http://schemas.microsoft.com/office/drawing/2014/main" id="{F4CD8320-1B76-0B6B-F3B3-224BAACC1819}"/>
                </a:ext>
              </a:extLst>
            </p:cNvPr>
            <p:cNvGrpSpPr/>
            <p:nvPr/>
          </p:nvGrpSpPr>
          <p:grpSpPr>
            <a:xfrm>
              <a:off x="5875992" y="1709066"/>
              <a:ext cx="2482738" cy="1807217"/>
              <a:chOff x="408604" y="648949"/>
              <a:chExt cx="4151535" cy="3021958"/>
            </a:xfrm>
          </p:grpSpPr>
          <p:sp>
            <p:nvSpPr>
              <p:cNvPr id="8" name="Rectángulo redondeado 7">
                <a:extLst>
                  <a:ext uri="{FF2B5EF4-FFF2-40B4-BE49-F238E27FC236}">
                    <a16:creationId xmlns:a16="http://schemas.microsoft.com/office/drawing/2014/main" id="{7C7C7470-599E-CD82-D60E-E621A380784B}"/>
                  </a:ext>
                </a:extLst>
              </p:cNvPr>
              <p:cNvSpPr/>
              <p:nvPr/>
            </p:nvSpPr>
            <p:spPr>
              <a:xfrm>
                <a:off x="813472" y="648949"/>
                <a:ext cx="3746667" cy="3021958"/>
              </a:xfrm>
              <a:prstGeom prst="roundRect">
                <a:avLst>
                  <a:gd name="adj" fmla="val 9766"/>
                </a:avLst>
              </a:prstGeom>
              <a:solidFill>
                <a:srgbClr val="0F2E50"/>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9" name="Elipse 8">
                <a:extLst>
                  <a:ext uri="{FF2B5EF4-FFF2-40B4-BE49-F238E27FC236}">
                    <a16:creationId xmlns:a16="http://schemas.microsoft.com/office/drawing/2014/main" id="{B80D531C-8A17-448A-5A4F-C2D82BD3585A}"/>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0" name="CuadroTexto 9">
                <a:extLst>
                  <a:ext uri="{FF2B5EF4-FFF2-40B4-BE49-F238E27FC236}">
                    <a16:creationId xmlns:a16="http://schemas.microsoft.com/office/drawing/2014/main" id="{5E3186D4-8845-552C-B39D-D505DFFE65C2}"/>
                  </a:ext>
                </a:extLst>
              </p:cNvPr>
              <p:cNvSpPr txBox="1"/>
              <p:nvPr/>
            </p:nvSpPr>
            <p:spPr>
              <a:xfrm>
                <a:off x="1341056" y="1049360"/>
                <a:ext cx="2961457" cy="1852748"/>
              </a:xfrm>
              <a:prstGeom prst="rect">
                <a:avLst/>
              </a:prstGeom>
              <a:noFill/>
            </p:spPr>
            <p:txBody>
              <a:bodyPr wrap="square" lIns="0" tIns="0" rIns="0" bIns="0" rtlCol="0">
                <a:spAutoFit/>
              </a:bodyPr>
              <a:lstStyle/>
              <a:p>
                <a:pPr lvl="0">
                  <a:buSzPts val="900"/>
                </a:pPr>
                <a:r>
                  <a:rPr lang="es-PE" sz="1200" dirty="0">
                    <a:solidFill>
                      <a:schemeClr val="bg1"/>
                    </a:solidFill>
                    <a:latin typeface="Calibri"/>
                    <a:cs typeface="Calibri"/>
                    <a:sym typeface="Calibri"/>
                  </a:rPr>
                  <a:t>Establecer un proceso de monitoreo continuo para evaluar el progreso hacia los objetivos establecidos y realizar ajustes según sea necesario.</a:t>
                </a:r>
              </a:p>
            </p:txBody>
          </p:sp>
          <p:sp>
            <p:nvSpPr>
              <p:cNvPr id="11" name="Elipse 10">
                <a:extLst>
                  <a:ext uri="{FF2B5EF4-FFF2-40B4-BE49-F238E27FC236}">
                    <a16:creationId xmlns:a16="http://schemas.microsoft.com/office/drawing/2014/main" id="{7AFFFC21-EA1C-A031-55D9-FC970B84D79B}"/>
                  </a:ext>
                </a:extLst>
              </p:cNvPr>
              <p:cNvSpPr/>
              <p:nvPr/>
            </p:nvSpPr>
            <p:spPr>
              <a:xfrm>
                <a:off x="465306" y="1828585"/>
                <a:ext cx="641336" cy="641336"/>
              </a:xfrm>
              <a:prstGeom prst="ellipse">
                <a:avLst/>
              </a:prstGeom>
              <a:solidFill>
                <a:schemeClr val="bg1"/>
              </a:solidFill>
              <a:ln w="38100">
                <a:solidFill>
                  <a:srgbClr val="0F2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2" name="Google Shape;363;p26">
                <a:extLst>
                  <a:ext uri="{FF2B5EF4-FFF2-40B4-BE49-F238E27FC236}">
                    <a16:creationId xmlns:a16="http://schemas.microsoft.com/office/drawing/2014/main" id="{DC1833BE-6865-0B6F-E61D-394392C3B8BD}"/>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0F2E50"/>
                    </a:solidFill>
                    <a:latin typeface="Calibri"/>
                    <a:cs typeface="Calibri"/>
                    <a:sym typeface="Calibri"/>
                  </a:rPr>
                  <a:t>6</a:t>
                </a:r>
                <a:endParaRPr sz="2000" dirty="0">
                  <a:solidFill>
                    <a:srgbClr val="0F2E50"/>
                  </a:solidFill>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70B7532E-4E1C-F202-76C8-689EC189FED0}"/>
            </a:ext>
          </a:extLst>
        </p:cNvPr>
        <p:cNvGrpSpPr/>
        <p:nvPr/>
      </p:nvGrpSpPr>
      <p:grpSpPr>
        <a:xfrm>
          <a:off x="0" y="0"/>
          <a:ext cx="0" cy="0"/>
          <a:chOff x="0" y="0"/>
          <a:chExt cx="0" cy="0"/>
        </a:xfrm>
      </p:grpSpPr>
      <p:sp>
        <p:nvSpPr>
          <p:cNvPr id="166" name="Google Shape;166;p9">
            <a:extLst>
              <a:ext uri="{FF2B5EF4-FFF2-40B4-BE49-F238E27FC236}">
                <a16:creationId xmlns:a16="http://schemas.microsoft.com/office/drawing/2014/main" id="{CBD216D8-460C-9EF6-B2E6-F21D037763B9}"/>
              </a:ext>
            </a:extLst>
          </p:cNvPr>
          <p:cNvSpPr/>
          <p:nvPr/>
        </p:nvSpPr>
        <p:spPr>
          <a:xfrm>
            <a:off x="689675" y="0"/>
            <a:ext cx="8454324" cy="5715000"/>
          </a:xfrm>
          <a:prstGeom prst="rect">
            <a:avLst/>
          </a:prstGeom>
          <a:solidFill>
            <a:srgbClr val="13172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 name="Rectángulo 1">
            <a:extLst>
              <a:ext uri="{FF2B5EF4-FFF2-40B4-BE49-F238E27FC236}">
                <a16:creationId xmlns:a16="http://schemas.microsoft.com/office/drawing/2014/main" id="{C83BAC34-CCD7-2F48-340D-E3BD50F03000}"/>
              </a:ext>
            </a:extLst>
          </p:cNvPr>
          <p:cNvSpPr/>
          <p:nvPr/>
        </p:nvSpPr>
        <p:spPr>
          <a:xfrm>
            <a:off x="1" y="0"/>
            <a:ext cx="1301858" cy="5715000"/>
          </a:xfrm>
          <a:prstGeom prst="rect">
            <a:avLst/>
          </a:prstGeom>
          <a:solidFill>
            <a:srgbClr val="F0D2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67" name="Google Shape;167;p9">
            <a:extLst>
              <a:ext uri="{FF2B5EF4-FFF2-40B4-BE49-F238E27FC236}">
                <a16:creationId xmlns:a16="http://schemas.microsoft.com/office/drawing/2014/main" id="{B3852313-4E08-EF07-3F61-510BB81C395E}"/>
              </a:ext>
            </a:extLst>
          </p:cNvPr>
          <p:cNvSpPr txBox="1"/>
          <p:nvPr/>
        </p:nvSpPr>
        <p:spPr>
          <a:xfrm>
            <a:off x="1469318" y="3073400"/>
            <a:ext cx="2870453" cy="738664"/>
          </a:xfrm>
          <a:prstGeom prst="rect">
            <a:avLst/>
          </a:prstGeom>
          <a:noFill/>
          <a:ln>
            <a:noFill/>
          </a:ln>
        </p:spPr>
        <p:txBody>
          <a:bodyPr spcFirstLastPara="1" wrap="square" lIns="0" tIns="0" rIns="0" bIns="0" anchor="t" anchorCtr="0">
            <a:spAutoFit/>
          </a:bodyPr>
          <a:lstStyle/>
          <a:p>
            <a:pPr marL="6350">
              <a:lnSpc>
                <a:spcPct val="80000"/>
              </a:lnSpc>
            </a:pPr>
            <a:r>
              <a:rPr lang="es-PE" sz="2000" dirty="0">
                <a:solidFill>
                  <a:schemeClr val="lt1"/>
                </a:solidFill>
                <a:latin typeface="Graphik Regular" panose="020B0503030202060203" pitchFamily="34" charset="77"/>
                <a:cs typeface="Calibri" panose="020F0502020204030204" pitchFamily="34" charset="0"/>
              </a:rPr>
              <a:t>EVALUACIÓN DE</a:t>
            </a:r>
            <a:br>
              <a:rPr lang="es-PE" sz="2000" dirty="0">
                <a:solidFill>
                  <a:schemeClr val="lt1"/>
                </a:solidFill>
                <a:latin typeface="Graphik Regular" panose="020B0503030202060203" pitchFamily="34" charset="77"/>
                <a:cs typeface="Calibri" panose="020F0502020204030204" pitchFamily="34" charset="0"/>
              </a:rPr>
            </a:br>
            <a:r>
              <a:rPr lang="es-PE" sz="2000" b="1" dirty="0">
                <a:solidFill>
                  <a:schemeClr val="lt1"/>
                </a:solidFill>
                <a:latin typeface="Graphik Bold" panose="020B0503030202060203" pitchFamily="34" charset="77"/>
                <a:cs typeface="Calibri" panose="020F0502020204030204" pitchFamily="34" charset="0"/>
              </a:rPr>
              <a:t>LA VIABILIDAD Y RIESGOS ASOCIADOS</a:t>
            </a:r>
          </a:p>
        </p:txBody>
      </p:sp>
      <p:sp>
        <p:nvSpPr>
          <p:cNvPr id="9" name="CuadroTexto 8">
            <a:extLst>
              <a:ext uri="{FF2B5EF4-FFF2-40B4-BE49-F238E27FC236}">
                <a16:creationId xmlns:a16="http://schemas.microsoft.com/office/drawing/2014/main" id="{6808191A-295A-1F02-9B49-AF58D662397F}"/>
              </a:ext>
            </a:extLst>
          </p:cNvPr>
          <p:cNvSpPr txBox="1"/>
          <p:nvPr/>
        </p:nvSpPr>
        <p:spPr>
          <a:xfrm>
            <a:off x="163286" y="2857500"/>
            <a:ext cx="1037833" cy="1138773"/>
          </a:xfrm>
          <a:prstGeom prst="rect">
            <a:avLst/>
          </a:prstGeom>
          <a:noFill/>
        </p:spPr>
        <p:txBody>
          <a:bodyPr wrap="square">
            <a:spAutoFit/>
          </a:bodyPr>
          <a:lstStyle/>
          <a:p>
            <a:pPr algn="r"/>
            <a:r>
              <a:rPr lang="es-PE" sz="6800" dirty="0">
                <a:solidFill>
                  <a:srgbClr val="13172C"/>
                </a:solidFill>
                <a:latin typeface="Graphik Bold" panose="020B0503030202060203" pitchFamily="34" charset="77"/>
                <a:cs typeface="Calibri" panose="020F0502020204030204" pitchFamily="34" charset="0"/>
              </a:rPr>
              <a:t>5</a:t>
            </a:r>
            <a:r>
              <a:rPr lang="es-PE" sz="6800" dirty="0">
                <a:solidFill>
                  <a:srgbClr val="13172C"/>
                </a:solidFill>
                <a:latin typeface="Graphik Bold" panose="020B0503030202060203" pitchFamily="34" charset="77"/>
                <a:cs typeface="Calibri" panose="020F0502020204030204" pitchFamily="34" charset="0"/>
                <a:sym typeface="Arial"/>
              </a:rPr>
              <a:t>.</a:t>
            </a:r>
            <a:endParaRPr lang="es-ES_tradnl" sz="6800" dirty="0">
              <a:solidFill>
                <a:srgbClr val="13172C"/>
              </a:solidFill>
              <a:latin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F120599B-9CB4-E810-91E3-821829BF6913}"/>
              </a:ext>
            </a:extLst>
          </p:cNvPr>
          <p:cNvPicPr>
            <a:picLocks noChangeAspect="1"/>
          </p:cNvPicPr>
          <p:nvPr/>
        </p:nvPicPr>
        <p:blipFill>
          <a:blip r:embed="rId3"/>
          <a:stretch>
            <a:fillRect/>
          </a:stretch>
        </p:blipFill>
        <p:spPr>
          <a:xfrm>
            <a:off x="0" y="4059303"/>
            <a:ext cx="1301858" cy="1655697"/>
          </a:xfrm>
          <a:prstGeom prst="rect">
            <a:avLst/>
          </a:prstGeom>
        </p:spPr>
      </p:pic>
      <p:cxnSp>
        <p:nvCxnSpPr>
          <p:cNvPr id="13" name="Conector recto 12">
            <a:extLst>
              <a:ext uri="{FF2B5EF4-FFF2-40B4-BE49-F238E27FC236}">
                <a16:creationId xmlns:a16="http://schemas.microsoft.com/office/drawing/2014/main" id="{5E4AFD56-77A6-B606-3CC2-FF4A4D4A2C61}"/>
              </a:ext>
            </a:extLst>
          </p:cNvPr>
          <p:cNvCxnSpPr>
            <a:cxnSpLocks/>
          </p:cNvCxnSpPr>
          <p:nvPr/>
        </p:nvCxnSpPr>
        <p:spPr>
          <a:xfrm>
            <a:off x="1469318" y="3909226"/>
            <a:ext cx="281965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888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43" name="Google Shape;243;p22"/>
          <p:cNvSpPr txBox="1"/>
          <p:nvPr/>
        </p:nvSpPr>
        <p:spPr>
          <a:xfrm>
            <a:off x="508377" y="912813"/>
            <a:ext cx="3760631"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a:solidFill>
                  <a:schemeClr val="tx1"/>
                </a:solidFill>
                <a:latin typeface="Calibri"/>
                <a:ea typeface="Calibri"/>
                <a:cs typeface="Calibri"/>
                <a:sym typeface="Calibri"/>
              </a:rPr>
              <a:t>EVALUACIÓN DE LA VIABILIDAD</a:t>
            </a:r>
            <a:endParaRPr sz="1600" b="1">
              <a:solidFill>
                <a:schemeClr val="tx1"/>
              </a:solidFill>
              <a:latin typeface="Calibri"/>
              <a:ea typeface="Calibri"/>
              <a:cs typeface="Calibri"/>
              <a:sym typeface="Calibri"/>
            </a:endParaRPr>
          </a:p>
        </p:txBody>
      </p:sp>
      <p:sp>
        <p:nvSpPr>
          <p:cNvPr id="2" name="Google Shape;127;p5">
            <a:extLst>
              <a:ext uri="{FF2B5EF4-FFF2-40B4-BE49-F238E27FC236}">
                <a16:creationId xmlns:a16="http://schemas.microsoft.com/office/drawing/2014/main" id="{BB7CD5B1-5322-206D-0886-A57E0480D72A}"/>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EVALUACIÓN DE LA VIABILIDAD Y RIESGOS ASOCIADOS</a:t>
            </a:r>
            <a:endParaRPr dirty="0">
              <a:latin typeface="Calibri" panose="020F0502020204030204" pitchFamily="34" charset="0"/>
              <a:cs typeface="Calibri" panose="020F0502020204030204" pitchFamily="34" charset="0"/>
            </a:endParaRPr>
          </a:p>
        </p:txBody>
      </p:sp>
      <p:grpSp>
        <p:nvGrpSpPr>
          <p:cNvPr id="52" name="Grupo 51">
            <a:extLst>
              <a:ext uri="{FF2B5EF4-FFF2-40B4-BE49-F238E27FC236}">
                <a16:creationId xmlns:a16="http://schemas.microsoft.com/office/drawing/2014/main" id="{000BB515-86E8-117A-76E0-A7A7EDA49C34}"/>
              </a:ext>
            </a:extLst>
          </p:cNvPr>
          <p:cNvGrpSpPr/>
          <p:nvPr/>
        </p:nvGrpSpPr>
        <p:grpSpPr>
          <a:xfrm>
            <a:off x="1055053" y="2098346"/>
            <a:ext cx="7049856" cy="786170"/>
            <a:chOff x="1055053" y="1898841"/>
            <a:chExt cx="7049856" cy="786170"/>
          </a:xfrm>
        </p:grpSpPr>
        <p:grpSp>
          <p:nvGrpSpPr>
            <p:cNvPr id="27" name="Grupo 26">
              <a:extLst>
                <a:ext uri="{FF2B5EF4-FFF2-40B4-BE49-F238E27FC236}">
                  <a16:creationId xmlns:a16="http://schemas.microsoft.com/office/drawing/2014/main" id="{C539B8E3-2B07-18BB-A3DA-D8072F0605B7}"/>
                </a:ext>
              </a:extLst>
            </p:cNvPr>
            <p:cNvGrpSpPr/>
            <p:nvPr/>
          </p:nvGrpSpPr>
          <p:grpSpPr>
            <a:xfrm>
              <a:off x="1055053" y="1898841"/>
              <a:ext cx="2084156" cy="786170"/>
              <a:chOff x="408604" y="1496869"/>
              <a:chExt cx="3485044" cy="1314602"/>
            </a:xfrm>
          </p:grpSpPr>
          <p:sp>
            <p:nvSpPr>
              <p:cNvPr id="28" name="Rectángulo redondeado 27">
                <a:extLst>
                  <a:ext uri="{FF2B5EF4-FFF2-40B4-BE49-F238E27FC236}">
                    <a16:creationId xmlns:a16="http://schemas.microsoft.com/office/drawing/2014/main" id="{3AD971B7-6D96-0469-F9D2-34060E5F720F}"/>
                  </a:ext>
                </a:extLst>
              </p:cNvPr>
              <p:cNvSpPr/>
              <p:nvPr/>
            </p:nvSpPr>
            <p:spPr>
              <a:xfrm>
                <a:off x="813473" y="1496869"/>
                <a:ext cx="3080175" cy="1314602"/>
              </a:xfrm>
              <a:prstGeom prst="roundRect">
                <a:avLst>
                  <a:gd name="adj" fmla="val 9766"/>
                </a:avLst>
              </a:prstGeom>
              <a:solidFill>
                <a:srgbClr val="1A3663"/>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29" name="Elipse 28">
                <a:extLst>
                  <a:ext uri="{FF2B5EF4-FFF2-40B4-BE49-F238E27FC236}">
                    <a16:creationId xmlns:a16="http://schemas.microsoft.com/office/drawing/2014/main" id="{50C44B0A-BE66-EA04-5F64-8F3A4BA50DE0}"/>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30" name="CuadroTexto 29">
                <a:extLst>
                  <a:ext uri="{FF2B5EF4-FFF2-40B4-BE49-F238E27FC236}">
                    <a16:creationId xmlns:a16="http://schemas.microsoft.com/office/drawing/2014/main" id="{490824A3-E3F2-518F-11E0-0A057FADB21A}"/>
                  </a:ext>
                </a:extLst>
              </p:cNvPr>
              <p:cNvSpPr txBox="1"/>
              <p:nvPr/>
            </p:nvSpPr>
            <p:spPr>
              <a:xfrm>
                <a:off x="1341056" y="1793915"/>
                <a:ext cx="2191184" cy="720512"/>
              </a:xfrm>
              <a:prstGeom prst="rect">
                <a:avLst/>
              </a:prstGeom>
              <a:noFill/>
            </p:spPr>
            <p:txBody>
              <a:bodyPr wrap="square" lIns="0" tIns="0" rIns="0" bIns="0" rtlCol="0">
                <a:spAutoFit/>
              </a:bodyPr>
              <a:lstStyle/>
              <a:p>
                <a:pPr>
                  <a:buSzPts val="900"/>
                </a:pPr>
                <a:r>
                  <a:rPr lang="es-PE" b="1" dirty="0">
                    <a:solidFill>
                      <a:schemeClr val="bg1"/>
                    </a:solidFill>
                    <a:latin typeface="Calibri"/>
                    <a:cs typeface="Calibri"/>
                    <a:sym typeface="Calibri"/>
                  </a:rPr>
                  <a:t>Objetivos claros y alcance definido</a:t>
                </a:r>
              </a:p>
            </p:txBody>
          </p:sp>
          <p:sp>
            <p:nvSpPr>
              <p:cNvPr id="31" name="Elipse 30">
                <a:extLst>
                  <a:ext uri="{FF2B5EF4-FFF2-40B4-BE49-F238E27FC236}">
                    <a16:creationId xmlns:a16="http://schemas.microsoft.com/office/drawing/2014/main" id="{88032663-2913-6995-AAAB-64EC5A228B35}"/>
                  </a:ext>
                </a:extLst>
              </p:cNvPr>
              <p:cNvSpPr/>
              <p:nvPr/>
            </p:nvSpPr>
            <p:spPr>
              <a:xfrm>
                <a:off x="465306" y="1828585"/>
                <a:ext cx="641336" cy="641336"/>
              </a:xfrm>
              <a:prstGeom prst="ellipse">
                <a:avLst/>
              </a:prstGeom>
              <a:solidFill>
                <a:schemeClr val="bg1"/>
              </a:solidFill>
              <a:ln w="38100">
                <a:solidFill>
                  <a:srgbClr val="1A36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32" name="Google Shape;363;p26">
                <a:extLst>
                  <a:ext uri="{FF2B5EF4-FFF2-40B4-BE49-F238E27FC236}">
                    <a16:creationId xmlns:a16="http://schemas.microsoft.com/office/drawing/2014/main" id="{64B082AF-6066-2CB3-89B0-252FAFF2104A}"/>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1A3663"/>
                    </a:solidFill>
                    <a:latin typeface="Calibri"/>
                    <a:ea typeface="Calibri"/>
                    <a:cs typeface="Calibri"/>
                    <a:sym typeface="Calibri"/>
                  </a:rPr>
                  <a:t>1</a:t>
                </a:r>
                <a:endParaRPr sz="2000" dirty="0">
                  <a:solidFill>
                    <a:srgbClr val="1A3663"/>
                  </a:solidFill>
                </a:endParaRPr>
              </a:p>
            </p:txBody>
          </p:sp>
        </p:grpSp>
        <p:grpSp>
          <p:nvGrpSpPr>
            <p:cNvPr id="33" name="Grupo 32">
              <a:extLst>
                <a:ext uri="{FF2B5EF4-FFF2-40B4-BE49-F238E27FC236}">
                  <a16:creationId xmlns:a16="http://schemas.microsoft.com/office/drawing/2014/main" id="{ED8134F3-F65B-074C-7EC2-F8B9951105A8}"/>
                </a:ext>
              </a:extLst>
            </p:cNvPr>
            <p:cNvGrpSpPr/>
            <p:nvPr/>
          </p:nvGrpSpPr>
          <p:grpSpPr>
            <a:xfrm>
              <a:off x="3537904" y="1898841"/>
              <a:ext cx="2084156" cy="786170"/>
              <a:chOff x="408604" y="1496869"/>
              <a:chExt cx="3485044" cy="1314602"/>
            </a:xfrm>
          </p:grpSpPr>
          <p:sp>
            <p:nvSpPr>
              <p:cNvPr id="34" name="Rectángulo redondeado 33">
                <a:extLst>
                  <a:ext uri="{FF2B5EF4-FFF2-40B4-BE49-F238E27FC236}">
                    <a16:creationId xmlns:a16="http://schemas.microsoft.com/office/drawing/2014/main" id="{9767544C-7739-07BB-F96B-140342F81341}"/>
                  </a:ext>
                </a:extLst>
              </p:cNvPr>
              <p:cNvSpPr/>
              <p:nvPr/>
            </p:nvSpPr>
            <p:spPr>
              <a:xfrm>
                <a:off x="813473" y="1496869"/>
                <a:ext cx="3080175" cy="1314602"/>
              </a:xfrm>
              <a:prstGeom prst="roundRect">
                <a:avLst>
                  <a:gd name="adj" fmla="val 9766"/>
                </a:avLst>
              </a:prstGeom>
              <a:solidFill>
                <a:srgbClr val="EFC58E"/>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35" name="Elipse 34">
                <a:extLst>
                  <a:ext uri="{FF2B5EF4-FFF2-40B4-BE49-F238E27FC236}">
                    <a16:creationId xmlns:a16="http://schemas.microsoft.com/office/drawing/2014/main" id="{00832537-FC84-3531-D890-2E6932ABAB5B}"/>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36" name="CuadroTexto 35">
                <a:extLst>
                  <a:ext uri="{FF2B5EF4-FFF2-40B4-BE49-F238E27FC236}">
                    <a16:creationId xmlns:a16="http://schemas.microsoft.com/office/drawing/2014/main" id="{366449D5-FB75-B65B-9F18-32ACFF54621B}"/>
                  </a:ext>
                </a:extLst>
              </p:cNvPr>
              <p:cNvSpPr txBox="1"/>
              <p:nvPr/>
            </p:nvSpPr>
            <p:spPr>
              <a:xfrm>
                <a:off x="1341056" y="1793915"/>
                <a:ext cx="2191184" cy="720512"/>
              </a:xfrm>
              <a:prstGeom prst="rect">
                <a:avLst/>
              </a:prstGeom>
              <a:noFill/>
            </p:spPr>
            <p:txBody>
              <a:bodyPr wrap="square" lIns="0" tIns="0" rIns="0" bIns="0" rtlCol="0">
                <a:spAutoFit/>
              </a:bodyPr>
              <a:lstStyle/>
              <a:p>
                <a:pPr>
                  <a:buSzPts val="900"/>
                </a:pPr>
                <a:r>
                  <a:rPr lang="es-PE" b="1" dirty="0">
                    <a:solidFill>
                      <a:schemeClr val="tx1"/>
                    </a:solidFill>
                    <a:latin typeface="Calibri"/>
                    <a:cs typeface="Calibri"/>
                    <a:sym typeface="Calibri"/>
                  </a:rPr>
                  <a:t>Recursos Disponibles</a:t>
                </a:r>
              </a:p>
            </p:txBody>
          </p:sp>
          <p:sp>
            <p:nvSpPr>
              <p:cNvPr id="37" name="Elipse 36">
                <a:extLst>
                  <a:ext uri="{FF2B5EF4-FFF2-40B4-BE49-F238E27FC236}">
                    <a16:creationId xmlns:a16="http://schemas.microsoft.com/office/drawing/2014/main" id="{DA5951D8-CF32-8ACC-5C9F-80D14B7C2A39}"/>
                  </a:ext>
                </a:extLst>
              </p:cNvPr>
              <p:cNvSpPr/>
              <p:nvPr/>
            </p:nvSpPr>
            <p:spPr>
              <a:xfrm>
                <a:off x="465306" y="1828585"/>
                <a:ext cx="641336" cy="641336"/>
              </a:xfrm>
              <a:prstGeom prst="ellipse">
                <a:avLst/>
              </a:prstGeom>
              <a:solidFill>
                <a:schemeClr val="bg1"/>
              </a:solidFill>
              <a:ln w="38100">
                <a:solidFill>
                  <a:srgbClr val="EFC5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38" name="Google Shape;363;p26">
                <a:extLst>
                  <a:ext uri="{FF2B5EF4-FFF2-40B4-BE49-F238E27FC236}">
                    <a16:creationId xmlns:a16="http://schemas.microsoft.com/office/drawing/2014/main" id="{7191ED22-69A7-7D6E-3F82-A2F26AED14C9}"/>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EFC58E"/>
                    </a:solidFill>
                    <a:latin typeface="Calibri"/>
                    <a:ea typeface="Calibri"/>
                    <a:cs typeface="Calibri"/>
                    <a:sym typeface="Calibri"/>
                  </a:rPr>
                  <a:t>2</a:t>
                </a:r>
                <a:endParaRPr sz="2000" dirty="0">
                  <a:solidFill>
                    <a:srgbClr val="EFC58E"/>
                  </a:solidFill>
                </a:endParaRPr>
              </a:p>
            </p:txBody>
          </p:sp>
        </p:grpSp>
        <p:grpSp>
          <p:nvGrpSpPr>
            <p:cNvPr id="39" name="Grupo 38">
              <a:extLst>
                <a:ext uri="{FF2B5EF4-FFF2-40B4-BE49-F238E27FC236}">
                  <a16:creationId xmlns:a16="http://schemas.microsoft.com/office/drawing/2014/main" id="{BC2FE6A4-8B39-ADB6-CD0F-5F93F3920BEC}"/>
                </a:ext>
              </a:extLst>
            </p:cNvPr>
            <p:cNvGrpSpPr/>
            <p:nvPr/>
          </p:nvGrpSpPr>
          <p:grpSpPr>
            <a:xfrm>
              <a:off x="6020753" y="1898841"/>
              <a:ext cx="2084156" cy="786170"/>
              <a:chOff x="408604" y="1496869"/>
              <a:chExt cx="3485044" cy="1314602"/>
            </a:xfrm>
          </p:grpSpPr>
          <p:sp>
            <p:nvSpPr>
              <p:cNvPr id="40" name="Rectángulo redondeado 39">
                <a:extLst>
                  <a:ext uri="{FF2B5EF4-FFF2-40B4-BE49-F238E27FC236}">
                    <a16:creationId xmlns:a16="http://schemas.microsoft.com/office/drawing/2014/main" id="{B247A72D-718F-3194-B2F2-BB0B7BD4DA2D}"/>
                  </a:ext>
                </a:extLst>
              </p:cNvPr>
              <p:cNvSpPr/>
              <p:nvPr/>
            </p:nvSpPr>
            <p:spPr>
              <a:xfrm>
                <a:off x="813473" y="1496869"/>
                <a:ext cx="3080175" cy="1314602"/>
              </a:xfrm>
              <a:prstGeom prst="roundRect">
                <a:avLst>
                  <a:gd name="adj" fmla="val 9766"/>
                </a:avLst>
              </a:prstGeom>
              <a:solidFill>
                <a:srgbClr val="CA9C61"/>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41" name="Elipse 40">
                <a:extLst>
                  <a:ext uri="{FF2B5EF4-FFF2-40B4-BE49-F238E27FC236}">
                    <a16:creationId xmlns:a16="http://schemas.microsoft.com/office/drawing/2014/main" id="{909F26FF-B4DF-D0E8-5E3B-4A64840584E6}"/>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42" name="CuadroTexto 41">
                <a:extLst>
                  <a:ext uri="{FF2B5EF4-FFF2-40B4-BE49-F238E27FC236}">
                    <a16:creationId xmlns:a16="http://schemas.microsoft.com/office/drawing/2014/main" id="{5E5075DC-C5B9-80A3-5CA4-39D61377D91B}"/>
                  </a:ext>
                </a:extLst>
              </p:cNvPr>
              <p:cNvSpPr txBox="1"/>
              <p:nvPr/>
            </p:nvSpPr>
            <p:spPr>
              <a:xfrm>
                <a:off x="1341056" y="1793915"/>
                <a:ext cx="2191184" cy="720512"/>
              </a:xfrm>
              <a:prstGeom prst="rect">
                <a:avLst/>
              </a:prstGeom>
              <a:noFill/>
            </p:spPr>
            <p:txBody>
              <a:bodyPr wrap="square" lIns="0" tIns="0" rIns="0" bIns="0" rtlCol="0">
                <a:spAutoFit/>
              </a:bodyPr>
              <a:lstStyle/>
              <a:p>
                <a:pPr>
                  <a:buSzPts val="900"/>
                </a:pPr>
                <a:r>
                  <a:rPr lang="es-PE" b="1" dirty="0">
                    <a:solidFill>
                      <a:schemeClr val="bg1"/>
                    </a:solidFill>
                    <a:latin typeface="Calibri"/>
                    <a:cs typeface="Calibri"/>
                    <a:sym typeface="Calibri"/>
                  </a:rPr>
                  <a:t>Análisis costo beneficio</a:t>
                </a:r>
              </a:p>
            </p:txBody>
          </p:sp>
          <p:sp>
            <p:nvSpPr>
              <p:cNvPr id="43" name="Elipse 42">
                <a:extLst>
                  <a:ext uri="{FF2B5EF4-FFF2-40B4-BE49-F238E27FC236}">
                    <a16:creationId xmlns:a16="http://schemas.microsoft.com/office/drawing/2014/main" id="{2D1DE370-B603-AEAD-449A-3014367B9E0F}"/>
                  </a:ext>
                </a:extLst>
              </p:cNvPr>
              <p:cNvSpPr/>
              <p:nvPr/>
            </p:nvSpPr>
            <p:spPr>
              <a:xfrm>
                <a:off x="465306" y="1828585"/>
                <a:ext cx="641336" cy="641336"/>
              </a:xfrm>
              <a:prstGeom prst="ellipse">
                <a:avLst/>
              </a:prstGeom>
              <a:solidFill>
                <a:schemeClr val="bg1"/>
              </a:solidFill>
              <a:ln w="38100">
                <a:solidFill>
                  <a:srgbClr val="CA9C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44" name="Google Shape;363;p26">
                <a:extLst>
                  <a:ext uri="{FF2B5EF4-FFF2-40B4-BE49-F238E27FC236}">
                    <a16:creationId xmlns:a16="http://schemas.microsoft.com/office/drawing/2014/main" id="{51781292-7A56-AAD5-EE74-60CF15759A3A}"/>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CA9C61"/>
                    </a:solidFill>
                    <a:latin typeface="Calibri"/>
                    <a:ea typeface="Calibri"/>
                    <a:cs typeface="Calibri"/>
                    <a:sym typeface="Calibri"/>
                  </a:rPr>
                  <a:t>3</a:t>
                </a:r>
                <a:endParaRPr sz="2000" dirty="0">
                  <a:solidFill>
                    <a:srgbClr val="CA9C61"/>
                  </a:solidFill>
                </a:endParaRPr>
              </a:p>
            </p:txBody>
          </p:sp>
        </p:grpSp>
        <p:sp>
          <p:nvSpPr>
            <p:cNvPr id="46" name="Triángulo 45">
              <a:extLst>
                <a:ext uri="{FF2B5EF4-FFF2-40B4-BE49-F238E27FC236}">
                  <a16:creationId xmlns:a16="http://schemas.microsoft.com/office/drawing/2014/main" id="{18549F5D-CDFE-F3E6-6924-51B82EAF7516}"/>
                </a:ext>
              </a:extLst>
            </p:cNvPr>
            <p:cNvSpPr/>
            <p:nvPr/>
          </p:nvSpPr>
          <p:spPr>
            <a:xfrm rot="5400000">
              <a:off x="3234329" y="2207356"/>
              <a:ext cx="208455" cy="179703"/>
            </a:xfrm>
            <a:prstGeom prst="triangle">
              <a:avLst/>
            </a:prstGeom>
            <a:solidFill>
              <a:srgbClr val="1A36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0" dirty="0">
                <a:latin typeface="Calibri" panose="020F0502020204030204" pitchFamily="34" charset="0"/>
                <a:cs typeface="Calibri" panose="020F0502020204030204" pitchFamily="34" charset="0"/>
              </a:endParaRPr>
            </a:p>
          </p:txBody>
        </p:sp>
        <p:sp>
          <p:nvSpPr>
            <p:cNvPr id="48" name="Triángulo 47">
              <a:extLst>
                <a:ext uri="{FF2B5EF4-FFF2-40B4-BE49-F238E27FC236}">
                  <a16:creationId xmlns:a16="http://schemas.microsoft.com/office/drawing/2014/main" id="{868209AF-B058-81EC-4ABA-64CA4E054C44}"/>
                </a:ext>
              </a:extLst>
            </p:cNvPr>
            <p:cNvSpPr/>
            <p:nvPr/>
          </p:nvSpPr>
          <p:spPr>
            <a:xfrm rot="5400000">
              <a:off x="5717180" y="2207356"/>
              <a:ext cx="208455" cy="179703"/>
            </a:xfrm>
            <a:prstGeom prst="triangle">
              <a:avLst/>
            </a:prstGeom>
            <a:solidFill>
              <a:srgbClr val="EFC5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0" dirty="0">
                <a:latin typeface="Calibri" panose="020F0502020204030204" pitchFamily="34" charset="0"/>
                <a:cs typeface="Calibri" panose="020F0502020204030204" pitchFamily="34"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 name="Google Shape;127;p5">
            <a:extLst>
              <a:ext uri="{FF2B5EF4-FFF2-40B4-BE49-F238E27FC236}">
                <a16:creationId xmlns:a16="http://schemas.microsoft.com/office/drawing/2014/main" id="{3391A4E1-C81B-7791-CF4D-9C676E6DB403}"/>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EVALUACIÓN DE LA VIABILIDAD Y RIESGOS ASOCIADOS</a:t>
            </a:r>
            <a:endParaRPr dirty="0">
              <a:latin typeface="Calibri" panose="020F0502020204030204" pitchFamily="34" charset="0"/>
              <a:cs typeface="Calibri" panose="020F0502020204030204" pitchFamily="34" charset="0"/>
            </a:endParaRPr>
          </a:p>
        </p:txBody>
      </p:sp>
      <p:sp>
        <p:nvSpPr>
          <p:cNvPr id="4" name="Google Shape;243;p22">
            <a:extLst>
              <a:ext uri="{FF2B5EF4-FFF2-40B4-BE49-F238E27FC236}">
                <a16:creationId xmlns:a16="http://schemas.microsoft.com/office/drawing/2014/main" id="{D9EBC16A-307F-1D6A-8905-E0A4BCAC2C91}"/>
              </a:ext>
            </a:extLst>
          </p:cNvPr>
          <p:cNvSpPr txBox="1"/>
          <p:nvPr/>
        </p:nvSpPr>
        <p:spPr>
          <a:xfrm>
            <a:off x="508377" y="912813"/>
            <a:ext cx="3760631"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a:solidFill>
                  <a:schemeClr val="tx1"/>
                </a:solidFill>
                <a:latin typeface="Calibri"/>
                <a:ea typeface="Calibri"/>
                <a:cs typeface="Calibri"/>
                <a:sym typeface="Calibri"/>
              </a:rPr>
              <a:t>EVALUACIÓN DE LA VIABILIDAD</a:t>
            </a:r>
            <a:endParaRPr sz="1600" b="1">
              <a:solidFill>
                <a:schemeClr val="tx1"/>
              </a:solidFill>
              <a:latin typeface="Calibri"/>
              <a:ea typeface="Calibri"/>
              <a:cs typeface="Calibri"/>
              <a:sym typeface="Calibri"/>
            </a:endParaRPr>
          </a:p>
        </p:txBody>
      </p:sp>
      <p:grpSp>
        <p:nvGrpSpPr>
          <p:cNvPr id="5" name="Grupo 4">
            <a:extLst>
              <a:ext uri="{FF2B5EF4-FFF2-40B4-BE49-F238E27FC236}">
                <a16:creationId xmlns:a16="http://schemas.microsoft.com/office/drawing/2014/main" id="{FFAE4D0E-55C3-2AEC-6038-901B61BFC990}"/>
              </a:ext>
            </a:extLst>
          </p:cNvPr>
          <p:cNvGrpSpPr/>
          <p:nvPr/>
        </p:nvGrpSpPr>
        <p:grpSpPr>
          <a:xfrm>
            <a:off x="793582" y="1709065"/>
            <a:ext cx="7573461" cy="1807219"/>
            <a:chOff x="785269" y="1709065"/>
            <a:chExt cx="7573461" cy="1807219"/>
          </a:xfrm>
        </p:grpSpPr>
        <p:grpSp>
          <p:nvGrpSpPr>
            <p:cNvPr id="6" name="Grupo 5">
              <a:extLst>
                <a:ext uri="{FF2B5EF4-FFF2-40B4-BE49-F238E27FC236}">
                  <a16:creationId xmlns:a16="http://schemas.microsoft.com/office/drawing/2014/main" id="{FF7160B9-4342-C1AC-9CA9-1844DFBFB328}"/>
                </a:ext>
              </a:extLst>
            </p:cNvPr>
            <p:cNvGrpSpPr/>
            <p:nvPr/>
          </p:nvGrpSpPr>
          <p:grpSpPr>
            <a:xfrm>
              <a:off x="785269" y="1709065"/>
              <a:ext cx="2482738" cy="1807219"/>
              <a:chOff x="408604" y="648947"/>
              <a:chExt cx="4151535" cy="3021958"/>
            </a:xfrm>
          </p:grpSpPr>
          <p:sp>
            <p:nvSpPr>
              <p:cNvPr id="19" name="Rectángulo redondeado 18">
                <a:extLst>
                  <a:ext uri="{FF2B5EF4-FFF2-40B4-BE49-F238E27FC236}">
                    <a16:creationId xmlns:a16="http://schemas.microsoft.com/office/drawing/2014/main" id="{B9365640-C343-26CA-F778-0869C097795E}"/>
                  </a:ext>
                </a:extLst>
              </p:cNvPr>
              <p:cNvSpPr/>
              <p:nvPr/>
            </p:nvSpPr>
            <p:spPr>
              <a:xfrm>
                <a:off x="813472" y="648947"/>
                <a:ext cx="3746667" cy="3021958"/>
              </a:xfrm>
              <a:prstGeom prst="roundRect">
                <a:avLst>
                  <a:gd name="adj" fmla="val 9766"/>
                </a:avLst>
              </a:prstGeom>
              <a:solidFill>
                <a:srgbClr val="1A3663"/>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20" name="Elipse 19">
                <a:extLst>
                  <a:ext uri="{FF2B5EF4-FFF2-40B4-BE49-F238E27FC236}">
                    <a16:creationId xmlns:a16="http://schemas.microsoft.com/office/drawing/2014/main" id="{6A8BF8F1-CA10-6003-2337-CE7D93E15053}"/>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21" name="CuadroTexto 20">
                <a:extLst>
                  <a:ext uri="{FF2B5EF4-FFF2-40B4-BE49-F238E27FC236}">
                    <a16:creationId xmlns:a16="http://schemas.microsoft.com/office/drawing/2014/main" id="{0270EFF8-1E5D-53B3-45A1-3EE9CBFAFD03}"/>
                  </a:ext>
                </a:extLst>
              </p:cNvPr>
              <p:cNvSpPr txBox="1"/>
              <p:nvPr/>
            </p:nvSpPr>
            <p:spPr>
              <a:xfrm>
                <a:off x="1341056" y="965957"/>
                <a:ext cx="2808048" cy="2470328"/>
              </a:xfrm>
              <a:prstGeom prst="rect">
                <a:avLst/>
              </a:prstGeom>
              <a:noFill/>
            </p:spPr>
            <p:txBody>
              <a:bodyPr wrap="square" lIns="0" tIns="0" rIns="0" bIns="0" rtlCol="0">
                <a:spAutoFit/>
              </a:bodyPr>
              <a:lstStyle/>
              <a:p>
                <a:pPr>
                  <a:buSzPts val="900"/>
                </a:pPr>
                <a:r>
                  <a:rPr lang="es-PE" sz="1200" dirty="0">
                    <a:solidFill>
                      <a:schemeClr val="bg1"/>
                    </a:solidFill>
                    <a:latin typeface="Calibri"/>
                    <a:cs typeface="Calibri"/>
                    <a:sym typeface="Calibri"/>
                  </a:rPr>
                  <a:t>Tener los objetivos claros y un alcance bien definido ayudará a asegurar que los recursos se asignen adecuadamente y que se mantenga un enfoque claro en los resultados esperados.</a:t>
                </a:r>
              </a:p>
            </p:txBody>
          </p:sp>
          <p:sp>
            <p:nvSpPr>
              <p:cNvPr id="22" name="Elipse 21">
                <a:extLst>
                  <a:ext uri="{FF2B5EF4-FFF2-40B4-BE49-F238E27FC236}">
                    <a16:creationId xmlns:a16="http://schemas.microsoft.com/office/drawing/2014/main" id="{D8341BF7-E253-3B09-7A7F-8C93B6142601}"/>
                  </a:ext>
                </a:extLst>
              </p:cNvPr>
              <p:cNvSpPr/>
              <p:nvPr/>
            </p:nvSpPr>
            <p:spPr>
              <a:xfrm>
                <a:off x="465306" y="1828585"/>
                <a:ext cx="641336" cy="641336"/>
              </a:xfrm>
              <a:prstGeom prst="ellipse">
                <a:avLst/>
              </a:prstGeom>
              <a:solidFill>
                <a:schemeClr val="bg1"/>
              </a:solidFill>
              <a:ln w="38100">
                <a:solidFill>
                  <a:srgbClr val="1A36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23" name="Google Shape;363;p26">
                <a:extLst>
                  <a:ext uri="{FF2B5EF4-FFF2-40B4-BE49-F238E27FC236}">
                    <a16:creationId xmlns:a16="http://schemas.microsoft.com/office/drawing/2014/main" id="{EA226C76-23F2-B168-7A2B-A9362AFA5AEE}"/>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1A3663"/>
                    </a:solidFill>
                    <a:latin typeface="Calibri"/>
                    <a:ea typeface="Calibri"/>
                    <a:cs typeface="Calibri"/>
                    <a:sym typeface="Calibri"/>
                  </a:rPr>
                  <a:t>1</a:t>
                </a:r>
                <a:endParaRPr sz="2000" dirty="0">
                  <a:solidFill>
                    <a:srgbClr val="1A3663"/>
                  </a:solidFill>
                </a:endParaRPr>
              </a:p>
            </p:txBody>
          </p:sp>
        </p:grpSp>
        <p:grpSp>
          <p:nvGrpSpPr>
            <p:cNvPr id="7" name="Grupo 6">
              <a:extLst>
                <a:ext uri="{FF2B5EF4-FFF2-40B4-BE49-F238E27FC236}">
                  <a16:creationId xmlns:a16="http://schemas.microsoft.com/office/drawing/2014/main" id="{141340E0-B77C-C042-212D-B0525299D8B1}"/>
                </a:ext>
              </a:extLst>
            </p:cNvPr>
            <p:cNvGrpSpPr/>
            <p:nvPr/>
          </p:nvGrpSpPr>
          <p:grpSpPr>
            <a:xfrm>
              <a:off x="3330631" y="1709066"/>
              <a:ext cx="2482738" cy="1807216"/>
              <a:chOff x="408604" y="648949"/>
              <a:chExt cx="4151535" cy="3021957"/>
            </a:xfrm>
          </p:grpSpPr>
          <p:sp>
            <p:nvSpPr>
              <p:cNvPr id="14" name="Rectángulo redondeado 13">
                <a:extLst>
                  <a:ext uri="{FF2B5EF4-FFF2-40B4-BE49-F238E27FC236}">
                    <a16:creationId xmlns:a16="http://schemas.microsoft.com/office/drawing/2014/main" id="{3863F5D2-1570-A20A-6843-F52615BF7875}"/>
                  </a:ext>
                </a:extLst>
              </p:cNvPr>
              <p:cNvSpPr/>
              <p:nvPr/>
            </p:nvSpPr>
            <p:spPr>
              <a:xfrm>
                <a:off x="813472" y="648949"/>
                <a:ext cx="3746667" cy="3021957"/>
              </a:xfrm>
              <a:prstGeom prst="roundRect">
                <a:avLst>
                  <a:gd name="adj" fmla="val 9766"/>
                </a:avLst>
              </a:prstGeom>
              <a:solidFill>
                <a:srgbClr val="EFC58E"/>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5" name="Elipse 14">
                <a:extLst>
                  <a:ext uri="{FF2B5EF4-FFF2-40B4-BE49-F238E27FC236}">
                    <a16:creationId xmlns:a16="http://schemas.microsoft.com/office/drawing/2014/main" id="{79CE773C-DF65-9FB4-A71D-10D358BD6531}"/>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6" name="CuadroTexto 15">
                <a:extLst>
                  <a:ext uri="{FF2B5EF4-FFF2-40B4-BE49-F238E27FC236}">
                    <a16:creationId xmlns:a16="http://schemas.microsoft.com/office/drawing/2014/main" id="{F4DBE3E2-3990-7739-0EC9-A459FD01E529}"/>
                  </a:ext>
                </a:extLst>
              </p:cNvPr>
              <p:cNvSpPr txBox="1"/>
              <p:nvPr/>
            </p:nvSpPr>
            <p:spPr>
              <a:xfrm>
                <a:off x="1341056" y="1049360"/>
                <a:ext cx="2711994" cy="2161540"/>
              </a:xfrm>
              <a:prstGeom prst="rect">
                <a:avLst/>
              </a:prstGeom>
              <a:noFill/>
            </p:spPr>
            <p:txBody>
              <a:bodyPr wrap="square" lIns="0" tIns="0" rIns="0" bIns="0" rtlCol="0">
                <a:spAutoFit/>
              </a:bodyPr>
              <a:lstStyle/>
              <a:p>
                <a:pPr>
                  <a:buSzPts val="900"/>
                </a:pPr>
                <a:r>
                  <a:rPr lang="es-PE" sz="1200" dirty="0">
                    <a:solidFill>
                      <a:schemeClr val="tx1"/>
                    </a:solidFill>
                    <a:latin typeface="Calibri"/>
                    <a:cs typeface="Calibri"/>
                    <a:sym typeface="Calibri"/>
                  </a:rPr>
                  <a:t>Determinar si la empresa tiene los recursos necesarios internamente o si se necesitará buscar recursos externos para apoyar la implementación.</a:t>
                </a:r>
              </a:p>
            </p:txBody>
          </p:sp>
          <p:sp>
            <p:nvSpPr>
              <p:cNvPr id="17" name="Elipse 16">
                <a:extLst>
                  <a:ext uri="{FF2B5EF4-FFF2-40B4-BE49-F238E27FC236}">
                    <a16:creationId xmlns:a16="http://schemas.microsoft.com/office/drawing/2014/main" id="{CF6ECF78-2C0C-21E8-AB65-FB89992F92A0}"/>
                  </a:ext>
                </a:extLst>
              </p:cNvPr>
              <p:cNvSpPr/>
              <p:nvPr/>
            </p:nvSpPr>
            <p:spPr>
              <a:xfrm>
                <a:off x="465306" y="1828585"/>
                <a:ext cx="641336" cy="641336"/>
              </a:xfrm>
              <a:prstGeom prst="ellipse">
                <a:avLst/>
              </a:prstGeom>
              <a:solidFill>
                <a:schemeClr val="bg1"/>
              </a:solidFill>
              <a:ln w="38100">
                <a:solidFill>
                  <a:srgbClr val="EFC5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8" name="Google Shape;363;p26">
                <a:extLst>
                  <a:ext uri="{FF2B5EF4-FFF2-40B4-BE49-F238E27FC236}">
                    <a16:creationId xmlns:a16="http://schemas.microsoft.com/office/drawing/2014/main" id="{E702776F-1307-D563-F01F-ADB874BD2EDC}"/>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EFC58E"/>
                    </a:solidFill>
                    <a:latin typeface="Calibri"/>
                    <a:ea typeface="Calibri"/>
                    <a:cs typeface="Calibri"/>
                    <a:sym typeface="Calibri"/>
                  </a:rPr>
                  <a:t>2</a:t>
                </a:r>
                <a:endParaRPr sz="2000" dirty="0">
                  <a:solidFill>
                    <a:srgbClr val="EFC58E"/>
                  </a:solidFill>
                </a:endParaRPr>
              </a:p>
            </p:txBody>
          </p:sp>
        </p:grpSp>
        <p:grpSp>
          <p:nvGrpSpPr>
            <p:cNvPr id="8" name="Grupo 7">
              <a:extLst>
                <a:ext uri="{FF2B5EF4-FFF2-40B4-BE49-F238E27FC236}">
                  <a16:creationId xmlns:a16="http://schemas.microsoft.com/office/drawing/2014/main" id="{5B1972D7-186F-AC56-9BC8-23488ED57615}"/>
                </a:ext>
              </a:extLst>
            </p:cNvPr>
            <p:cNvGrpSpPr/>
            <p:nvPr/>
          </p:nvGrpSpPr>
          <p:grpSpPr>
            <a:xfrm>
              <a:off x="5875992" y="1709066"/>
              <a:ext cx="2482738" cy="1807217"/>
              <a:chOff x="408604" y="648949"/>
              <a:chExt cx="4151535" cy="3021958"/>
            </a:xfrm>
          </p:grpSpPr>
          <p:sp>
            <p:nvSpPr>
              <p:cNvPr id="9" name="Rectángulo redondeado 8">
                <a:extLst>
                  <a:ext uri="{FF2B5EF4-FFF2-40B4-BE49-F238E27FC236}">
                    <a16:creationId xmlns:a16="http://schemas.microsoft.com/office/drawing/2014/main" id="{B5B5A475-0F54-A2D0-74B5-343FFC53EB77}"/>
                  </a:ext>
                </a:extLst>
              </p:cNvPr>
              <p:cNvSpPr/>
              <p:nvPr/>
            </p:nvSpPr>
            <p:spPr>
              <a:xfrm>
                <a:off x="813472" y="648949"/>
                <a:ext cx="3746667" cy="3021958"/>
              </a:xfrm>
              <a:prstGeom prst="roundRect">
                <a:avLst>
                  <a:gd name="adj" fmla="val 9766"/>
                </a:avLst>
              </a:prstGeom>
              <a:solidFill>
                <a:srgbClr val="CA9D61"/>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0" name="Elipse 9">
                <a:extLst>
                  <a:ext uri="{FF2B5EF4-FFF2-40B4-BE49-F238E27FC236}">
                    <a16:creationId xmlns:a16="http://schemas.microsoft.com/office/drawing/2014/main" id="{02C76E2B-9861-410F-7280-9258952762E6}"/>
                  </a:ext>
                </a:extLst>
              </p:cNvPr>
              <p:cNvSpPr/>
              <p:nvPr/>
            </p:nvSpPr>
            <p:spPr>
              <a:xfrm>
                <a:off x="408604" y="1758133"/>
                <a:ext cx="809740" cy="809740"/>
              </a:xfrm>
              <a:prstGeom prst="ellipse">
                <a:avLst/>
              </a:prstGeom>
              <a:solidFill>
                <a:schemeClr val="bg1"/>
              </a:solidFill>
              <a:ln w="571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1" name="CuadroTexto 10">
                <a:extLst>
                  <a:ext uri="{FF2B5EF4-FFF2-40B4-BE49-F238E27FC236}">
                    <a16:creationId xmlns:a16="http://schemas.microsoft.com/office/drawing/2014/main" id="{ABCEB8CA-2D4E-40DA-CD5A-E81E08BCFBDD}"/>
                  </a:ext>
                </a:extLst>
              </p:cNvPr>
              <p:cNvSpPr txBox="1"/>
              <p:nvPr/>
            </p:nvSpPr>
            <p:spPr>
              <a:xfrm>
                <a:off x="1341056" y="1049360"/>
                <a:ext cx="2961457" cy="2161539"/>
              </a:xfrm>
              <a:prstGeom prst="rect">
                <a:avLst/>
              </a:prstGeom>
              <a:noFill/>
            </p:spPr>
            <p:txBody>
              <a:bodyPr wrap="square" lIns="0" tIns="0" rIns="0" bIns="0" rtlCol="0">
                <a:spAutoFit/>
              </a:bodyPr>
              <a:lstStyle/>
              <a:p>
                <a:pPr>
                  <a:buSzPts val="900"/>
                </a:pPr>
                <a:r>
                  <a:rPr lang="es-PE" sz="1200" dirty="0">
                    <a:solidFill>
                      <a:schemeClr val="bg1"/>
                    </a:solidFill>
                    <a:latin typeface="Calibri"/>
                    <a:cs typeface="Calibri"/>
                    <a:sym typeface="Calibri"/>
                  </a:rPr>
                  <a:t>Realizar un análisis detallado de los costos asociados con la dirección de datos, incluidos los costos iniciales y los costos continuos de mantenimiento. </a:t>
                </a:r>
              </a:p>
            </p:txBody>
          </p:sp>
          <p:sp>
            <p:nvSpPr>
              <p:cNvPr id="12" name="Elipse 11">
                <a:extLst>
                  <a:ext uri="{FF2B5EF4-FFF2-40B4-BE49-F238E27FC236}">
                    <a16:creationId xmlns:a16="http://schemas.microsoft.com/office/drawing/2014/main" id="{874A7DFA-184A-1853-0793-D6BFDF2F4DD2}"/>
                  </a:ext>
                </a:extLst>
              </p:cNvPr>
              <p:cNvSpPr/>
              <p:nvPr/>
            </p:nvSpPr>
            <p:spPr>
              <a:xfrm>
                <a:off x="465306" y="1828585"/>
                <a:ext cx="641336" cy="641336"/>
              </a:xfrm>
              <a:prstGeom prst="ellipse">
                <a:avLst/>
              </a:prstGeom>
              <a:solidFill>
                <a:schemeClr val="bg1"/>
              </a:solidFill>
              <a:ln w="38100">
                <a:solidFill>
                  <a:srgbClr val="D6A1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0" dirty="0">
                  <a:latin typeface="Calibri" panose="020F0502020204030204" pitchFamily="34" charset="0"/>
                </a:endParaRPr>
              </a:p>
            </p:txBody>
          </p:sp>
          <p:sp>
            <p:nvSpPr>
              <p:cNvPr id="13" name="Google Shape;363;p26">
                <a:extLst>
                  <a:ext uri="{FF2B5EF4-FFF2-40B4-BE49-F238E27FC236}">
                    <a16:creationId xmlns:a16="http://schemas.microsoft.com/office/drawing/2014/main" id="{D9A9A2BC-7418-7967-CD4D-35115A9AD95C}"/>
                  </a:ext>
                </a:extLst>
              </p:cNvPr>
              <p:cNvSpPr txBox="1"/>
              <p:nvPr/>
            </p:nvSpPr>
            <p:spPr>
              <a:xfrm>
                <a:off x="535369" y="1809971"/>
                <a:ext cx="370681" cy="668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dirty="0">
                    <a:solidFill>
                      <a:srgbClr val="CA9D61"/>
                    </a:solidFill>
                    <a:latin typeface="Calibri"/>
                    <a:ea typeface="Calibri"/>
                    <a:cs typeface="Calibri"/>
                    <a:sym typeface="Calibri"/>
                  </a:rPr>
                  <a:t>3</a:t>
                </a:r>
                <a:endParaRPr sz="2000" dirty="0">
                  <a:solidFill>
                    <a:srgbClr val="CA9D61"/>
                  </a:solidFill>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4"/>
          <p:cNvSpPr txBox="1"/>
          <p:nvPr/>
        </p:nvSpPr>
        <p:spPr>
          <a:xfrm>
            <a:off x="508377" y="912813"/>
            <a:ext cx="3884236" cy="492443"/>
          </a:xfrm>
          <a:prstGeom prst="rect">
            <a:avLst/>
          </a:prstGeom>
          <a:noFill/>
          <a:ln>
            <a:noFill/>
          </a:ln>
        </p:spPr>
        <p:txBody>
          <a:bodyPr spcFirstLastPara="1" wrap="square" lIns="0" tIns="0" rIns="0" bIns="0" anchor="t" anchorCtr="0">
            <a:spAutoFit/>
          </a:bodyPr>
          <a:lstStyle/>
          <a:p>
            <a:pPr marR="0" lvl="0" rtl="0">
              <a:spcBef>
                <a:spcPts val="0"/>
              </a:spcBef>
              <a:spcAft>
                <a:spcPts val="0"/>
              </a:spcAft>
            </a:pPr>
            <a:r>
              <a:rPr lang="es-PE" sz="1600" b="1" dirty="0">
                <a:solidFill>
                  <a:schemeClr val="tx1"/>
                </a:solidFill>
                <a:latin typeface="Calibri" panose="020F0502020204030204" pitchFamily="34" charset="0"/>
                <a:ea typeface="Calibri"/>
                <a:cs typeface="Calibri" panose="020F0502020204030204" pitchFamily="34" charset="0"/>
                <a:sym typeface="Calibri"/>
              </a:rPr>
              <a:t>RIESGOS ASOCIADOS:</a:t>
            </a:r>
          </a:p>
          <a:p>
            <a:pPr marR="0" lvl="0" rtl="0">
              <a:spcBef>
                <a:spcPts val="0"/>
              </a:spcBef>
              <a:spcAft>
                <a:spcPts val="0"/>
              </a:spcAft>
            </a:pPr>
            <a:r>
              <a:rPr lang="es-PE" sz="1600" b="1" dirty="0">
                <a:solidFill>
                  <a:srgbClr val="05AAE6"/>
                </a:solidFill>
                <a:latin typeface="Calibri" panose="020F0502020204030204" pitchFamily="34" charset="0"/>
                <a:ea typeface="Calibri"/>
                <a:cs typeface="Calibri" panose="020F0502020204030204" pitchFamily="34" charset="0"/>
                <a:sym typeface="Calibri"/>
              </a:rPr>
              <a:t>RIESGOS TÉCNICOS</a:t>
            </a:r>
            <a:endParaRPr sz="1600" dirty="0">
              <a:solidFill>
                <a:srgbClr val="05AAE6"/>
              </a:solidFill>
              <a:latin typeface="Calibri" panose="020F0502020204030204" pitchFamily="34" charset="0"/>
              <a:cs typeface="Calibri" panose="020F0502020204030204" pitchFamily="34" charset="0"/>
            </a:endParaRPr>
          </a:p>
        </p:txBody>
      </p:sp>
      <p:sp>
        <p:nvSpPr>
          <p:cNvPr id="2" name="Google Shape;127;p5">
            <a:extLst>
              <a:ext uri="{FF2B5EF4-FFF2-40B4-BE49-F238E27FC236}">
                <a16:creationId xmlns:a16="http://schemas.microsoft.com/office/drawing/2014/main" id="{2696548C-1DFC-90E6-7593-2C17AE023EED}"/>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EVALUACIÓN DE LA VIABILIDAD Y RIESGOS ASOCIADOS</a:t>
            </a:r>
            <a:endParaRPr dirty="0">
              <a:latin typeface="Calibri" panose="020F0502020204030204" pitchFamily="34" charset="0"/>
              <a:cs typeface="Calibri" panose="020F0502020204030204" pitchFamily="34" charset="0"/>
            </a:endParaRPr>
          </a:p>
        </p:txBody>
      </p:sp>
      <p:sp>
        <p:nvSpPr>
          <p:cNvPr id="5" name="Google Shape;417;p28">
            <a:extLst>
              <a:ext uri="{FF2B5EF4-FFF2-40B4-BE49-F238E27FC236}">
                <a16:creationId xmlns:a16="http://schemas.microsoft.com/office/drawing/2014/main" id="{290D9909-1225-6F7C-8E63-67FF0F0FBDFB}"/>
              </a:ext>
            </a:extLst>
          </p:cNvPr>
          <p:cNvSpPr/>
          <p:nvPr/>
        </p:nvSpPr>
        <p:spPr>
          <a:xfrm>
            <a:off x="1121873" y="1580970"/>
            <a:ext cx="3019146" cy="3447098"/>
          </a:xfrm>
          <a:prstGeom prst="rect">
            <a:avLst/>
          </a:prstGeom>
          <a:noFill/>
          <a:ln>
            <a:noFill/>
          </a:ln>
        </p:spPr>
        <p:txBody>
          <a:bodyPr spcFirstLastPara="1" wrap="square" lIns="0" tIns="0" rIns="0" bIns="0" anchor="t" anchorCtr="0">
            <a:spAutoFit/>
          </a:bodyPr>
          <a:lstStyle/>
          <a:p>
            <a:pPr lvl="0">
              <a:buClr>
                <a:srgbClr val="0D0D0D"/>
              </a:buClr>
              <a:buSzPts val="1600"/>
            </a:pPr>
            <a:r>
              <a:rPr lang="es-PE" b="1" dirty="0">
                <a:solidFill>
                  <a:srgbClr val="05AAE6"/>
                </a:solidFill>
                <a:highlight>
                  <a:srgbClr val="FFFFFF"/>
                </a:highlight>
                <a:latin typeface="Calibri" panose="020F0502020204030204" pitchFamily="34" charset="0"/>
                <a:ea typeface="Calibri"/>
                <a:cs typeface="Calibri" panose="020F0502020204030204" pitchFamily="34" charset="0"/>
                <a:sym typeface="Calibri"/>
              </a:rPr>
              <a:t>INTEGRACIÓN DE SISTEMAS:</a:t>
            </a:r>
          </a:p>
          <a:p>
            <a:pPr lvl="0">
              <a:buClr>
                <a:srgbClr val="0D0D0D"/>
              </a:buClr>
              <a:buSzPts val="1600"/>
            </a:pPr>
            <a:r>
              <a:rPr lang="es-PE"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Existe el riesgo de problemas de compatibilidad entre sistemas existentes y nuevas soluciones de gestión de datos. Esto puede resultar en dificultades durante la integración y la transferencia de datos entre plataformas.</a:t>
            </a:r>
            <a:endParaRPr lang="es-PE" dirty="0">
              <a:solidFill>
                <a:schemeClr val="tx1"/>
              </a:solidFill>
              <a:latin typeface="Calibri" panose="020F0502020204030204" pitchFamily="34" charset="0"/>
              <a:cs typeface="Calibri" panose="020F0502020204030204" pitchFamily="34" charset="0"/>
            </a:endParaRPr>
          </a:p>
          <a:p>
            <a:pPr lvl="0">
              <a:buClr>
                <a:schemeClr val="dk1"/>
              </a:buClr>
              <a:buSzPts val="1600"/>
            </a:pPr>
            <a:endParaRPr lang="es-PE" dirty="0">
              <a:solidFill>
                <a:schemeClr val="tx1"/>
              </a:solidFill>
              <a:highlight>
                <a:srgbClr val="FFFFFF"/>
              </a:highlight>
              <a:latin typeface="Calibri" panose="020F0502020204030204" pitchFamily="34" charset="0"/>
              <a:ea typeface="Calibri"/>
              <a:cs typeface="Calibri" panose="020F0502020204030204" pitchFamily="34" charset="0"/>
              <a:sym typeface="Calibri"/>
            </a:endParaRPr>
          </a:p>
          <a:p>
            <a:pPr lvl="0">
              <a:buClr>
                <a:srgbClr val="0D0D0D"/>
              </a:buClr>
              <a:buSzPts val="1600"/>
            </a:pPr>
            <a:r>
              <a:rPr lang="es-PE" b="1" dirty="0">
                <a:solidFill>
                  <a:srgbClr val="05AAE6"/>
                </a:solidFill>
                <a:highlight>
                  <a:srgbClr val="FFFFFF"/>
                </a:highlight>
                <a:latin typeface="Calibri" panose="020F0502020204030204" pitchFamily="34" charset="0"/>
                <a:ea typeface="Calibri"/>
                <a:cs typeface="Calibri" panose="020F0502020204030204" pitchFamily="34" charset="0"/>
                <a:sym typeface="Calibri"/>
              </a:rPr>
              <a:t>CALIDAD DE LOS DATOS:</a:t>
            </a:r>
          </a:p>
          <a:p>
            <a:pPr lvl="0">
              <a:buClr>
                <a:srgbClr val="0D0D0D"/>
              </a:buClr>
              <a:buSzPts val="1600"/>
            </a:pPr>
            <a:r>
              <a:rPr lang="es-PE"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La calidad de los datos puede verse comprometida durante la migración o la consolidación de bases de datos. La presencia de datos duplicados, inexactos o incompletos puede afectar negativamente la toma de decisiones basada en datos.</a:t>
            </a:r>
            <a:endParaRPr lang="es-PE" dirty="0">
              <a:solidFill>
                <a:schemeClr val="tx1"/>
              </a:solidFill>
              <a:latin typeface="Calibri" panose="020F0502020204030204" pitchFamily="34" charset="0"/>
              <a:cs typeface="Calibri" panose="020F0502020204030204" pitchFamily="34" charset="0"/>
            </a:endParaRPr>
          </a:p>
        </p:txBody>
      </p:sp>
      <p:cxnSp>
        <p:nvCxnSpPr>
          <p:cNvPr id="6" name="Conector recto de flecha 5">
            <a:extLst>
              <a:ext uri="{FF2B5EF4-FFF2-40B4-BE49-F238E27FC236}">
                <a16:creationId xmlns:a16="http://schemas.microsoft.com/office/drawing/2014/main" id="{9BEE41B3-1549-92F3-A787-563D2A6BA346}"/>
              </a:ext>
            </a:extLst>
          </p:cNvPr>
          <p:cNvCxnSpPr>
            <a:cxnSpLocks/>
          </p:cNvCxnSpPr>
          <p:nvPr/>
        </p:nvCxnSpPr>
        <p:spPr>
          <a:xfrm>
            <a:off x="702414" y="1700053"/>
            <a:ext cx="233756" cy="0"/>
          </a:xfrm>
          <a:prstGeom prst="straightConnector1">
            <a:avLst/>
          </a:prstGeom>
          <a:ln>
            <a:solidFill>
              <a:srgbClr val="05AAE6"/>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2E53208F-CA81-63D9-94D8-F35CAB81BC35}"/>
              </a:ext>
            </a:extLst>
          </p:cNvPr>
          <p:cNvCxnSpPr>
            <a:cxnSpLocks/>
          </p:cNvCxnSpPr>
          <p:nvPr/>
        </p:nvCxnSpPr>
        <p:spPr>
          <a:xfrm>
            <a:off x="702414" y="1567631"/>
            <a:ext cx="0" cy="1812638"/>
          </a:xfrm>
          <a:prstGeom prst="line">
            <a:avLst/>
          </a:prstGeom>
          <a:ln>
            <a:solidFill>
              <a:srgbClr val="05AAE6"/>
            </a:solidFill>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F0F9B5D9-899C-5A8A-EA36-4360C8D4993D}"/>
              </a:ext>
            </a:extLst>
          </p:cNvPr>
          <p:cNvCxnSpPr>
            <a:cxnSpLocks/>
          </p:cNvCxnSpPr>
          <p:nvPr/>
        </p:nvCxnSpPr>
        <p:spPr>
          <a:xfrm>
            <a:off x="702414" y="3380894"/>
            <a:ext cx="233756" cy="0"/>
          </a:xfrm>
          <a:prstGeom prst="straightConnector1">
            <a:avLst/>
          </a:prstGeom>
          <a:ln>
            <a:solidFill>
              <a:srgbClr val="05AAE6"/>
            </a:solidFill>
            <a:round/>
            <a:headEnd type="none"/>
            <a:tailEnd type="oval"/>
          </a:ln>
        </p:spPr>
        <p:style>
          <a:lnRef idx="1">
            <a:schemeClr val="accent1"/>
          </a:lnRef>
          <a:fillRef idx="0">
            <a:schemeClr val="accent1"/>
          </a:fillRef>
          <a:effectRef idx="0">
            <a:schemeClr val="accent1"/>
          </a:effectRef>
          <a:fontRef idx="minor">
            <a:schemeClr val="tx1"/>
          </a:fontRef>
        </p:style>
      </p:cxnSp>
      <p:grpSp>
        <p:nvGrpSpPr>
          <p:cNvPr id="63" name="Grupo 62">
            <a:extLst>
              <a:ext uri="{FF2B5EF4-FFF2-40B4-BE49-F238E27FC236}">
                <a16:creationId xmlns:a16="http://schemas.microsoft.com/office/drawing/2014/main" id="{C797FAB9-CBAF-5E84-0437-7F2425730183}"/>
              </a:ext>
            </a:extLst>
          </p:cNvPr>
          <p:cNvGrpSpPr/>
          <p:nvPr/>
        </p:nvGrpSpPr>
        <p:grpSpPr>
          <a:xfrm>
            <a:off x="4392612" y="1288879"/>
            <a:ext cx="4283073" cy="2742269"/>
            <a:chOff x="4648826" y="1482538"/>
            <a:chExt cx="3966187" cy="2539380"/>
          </a:xfrm>
        </p:grpSpPr>
        <p:grpSp>
          <p:nvGrpSpPr>
            <p:cNvPr id="15" name="Grupo 14">
              <a:extLst>
                <a:ext uri="{FF2B5EF4-FFF2-40B4-BE49-F238E27FC236}">
                  <a16:creationId xmlns:a16="http://schemas.microsoft.com/office/drawing/2014/main" id="{26EC3AB0-2AA5-0C18-3A7C-D67DF8F23C34}"/>
                </a:ext>
              </a:extLst>
            </p:cNvPr>
            <p:cNvGrpSpPr/>
            <p:nvPr/>
          </p:nvGrpSpPr>
          <p:grpSpPr>
            <a:xfrm>
              <a:off x="6117450" y="1482538"/>
              <a:ext cx="998220" cy="998220"/>
              <a:chOff x="5618340" y="160814"/>
              <a:chExt cx="998220" cy="998220"/>
            </a:xfrm>
          </p:grpSpPr>
          <p:sp>
            <p:nvSpPr>
              <p:cNvPr id="13" name="Elipse 12">
                <a:extLst>
                  <a:ext uri="{FF2B5EF4-FFF2-40B4-BE49-F238E27FC236}">
                    <a16:creationId xmlns:a16="http://schemas.microsoft.com/office/drawing/2014/main" id="{1E999CB2-6234-1553-CCD2-ABFDDD81180F}"/>
                  </a:ext>
                </a:extLst>
              </p:cNvPr>
              <p:cNvSpPr/>
              <p:nvPr/>
            </p:nvSpPr>
            <p:spPr>
              <a:xfrm>
                <a:off x="5618340" y="160814"/>
                <a:ext cx="998220" cy="998220"/>
              </a:xfrm>
              <a:prstGeom prst="ellipse">
                <a:avLst/>
              </a:prstGeom>
              <a:solidFill>
                <a:srgbClr val="05AA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4" name="Imagen 13">
                <a:extLst>
                  <a:ext uri="{FF2B5EF4-FFF2-40B4-BE49-F238E27FC236}">
                    <a16:creationId xmlns:a16="http://schemas.microsoft.com/office/drawing/2014/main" id="{9489A64D-F4FE-B1B3-023C-9A6865A859A8}"/>
                  </a:ext>
                </a:extLst>
              </p:cNvPr>
              <p:cNvPicPr>
                <a:picLocks noChangeAspect="1"/>
              </p:cNvPicPr>
              <p:nvPr/>
            </p:nvPicPr>
            <p:blipFill>
              <a:blip r:embed="rId3">
                <a:lum bright="100000"/>
              </a:blip>
              <a:stretch>
                <a:fillRect/>
              </a:stretch>
            </p:blipFill>
            <p:spPr>
              <a:xfrm>
                <a:off x="5761655" y="409550"/>
                <a:ext cx="711590" cy="500748"/>
              </a:xfrm>
              <a:prstGeom prst="rect">
                <a:avLst/>
              </a:prstGeom>
            </p:spPr>
          </p:pic>
        </p:grpSp>
        <p:grpSp>
          <p:nvGrpSpPr>
            <p:cNvPr id="21" name="Grupo 20">
              <a:extLst>
                <a:ext uri="{FF2B5EF4-FFF2-40B4-BE49-F238E27FC236}">
                  <a16:creationId xmlns:a16="http://schemas.microsoft.com/office/drawing/2014/main" id="{137CDC20-31E2-1BED-335C-19249C1EFEB3}"/>
                </a:ext>
              </a:extLst>
            </p:cNvPr>
            <p:cNvGrpSpPr/>
            <p:nvPr/>
          </p:nvGrpSpPr>
          <p:grpSpPr>
            <a:xfrm>
              <a:off x="7799350" y="2182146"/>
              <a:ext cx="815663" cy="815663"/>
              <a:chOff x="4937043" y="1141716"/>
              <a:chExt cx="998220" cy="998220"/>
            </a:xfrm>
          </p:grpSpPr>
          <p:sp>
            <p:nvSpPr>
              <p:cNvPr id="22" name="Elipse 21">
                <a:extLst>
                  <a:ext uri="{FF2B5EF4-FFF2-40B4-BE49-F238E27FC236}">
                    <a16:creationId xmlns:a16="http://schemas.microsoft.com/office/drawing/2014/main" id="{2D203867-B9FF-4B4C-1EC1-4F863C09D368}"/>
                  </a:ext>
                </a:extLst>
              </p:cNvPr>
              <p:cNvSpPr/>
              <p:nvPr/>
            </p:nvSpPr>
            <p:spPr>
              <a:xfrm>
                <a:off x="4937043" y="1141716"/>
                <a:ext cx="998220" cy="998220"/>
              </a:xfrm>
              <a:prstGeom prst="ellipse">
                <a:avLst/>
              </a:prstGeom>
              <a:solidFill>
                <a:srgbClr val="05AA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3" name="Imagen 22">
                <a:extLst>
                  <a:ext uri="{FF2B5EF4-FFF2-40B4-BE49-F238E27FC236}">
                    <a16:creationId xmlns:a16="http://schemas.microsoft.com/office/drawing/2014/main" id="{5834F63F-6609-875A-E1AF-7CBAA6989A12}"/>
                  </a:ext>
                </a:extLst>
              </p:cNvPr>
              <p:cNvPicPr>
                <a:picLocks noChangeAspect="1"/>
              </p:cNvPicPr>
              <p:nvPr/>
            </p:nvPicPr>
            <p:blipFill>
              <a:blip r:embed="rId4">
                <a:lum bright="100000"/>
              </a:blip>
              <a:stretch>
                <a:fillRect/>
              </a:stretch>
            </p:blipFill>
            <p:spPr>
              <a:xfrm>
                <a:off x="5099629" y="1366565"/>
                <a:ext cx="673049" cy="524978"/>
              </a:xfrm>
              <a:prstGeom prst="rect">
                <a:avLst/>
              </a:prstGeom>
            </p:spPr>
          </p:pic>
        </p:grpSp>
        <p:grpSp>
          <p:nvGrpSpPr>
            <p:cNvPr id="38" name="Grupo 37">
              <a:extLst>
                <a:ext uri="{FF2B5EF4-FFF2-40B4-BE49-F238E27FC236}">
                  <a16:creationId xmlns:a16="http://schemas.microsoft.com/office/drawing/2014/main" id="{446FCBCD-09C6-BC4E-3E3A-22006168642F}"/>
                </a:ext>
              </a:extLst>
            </p:cNvPr>
            <p:cNvGrpSpPr/>
            <p:nvPr/>
          </p:nvGrpSpPr>
          <p:grpSpPr>
            <a:xfrm>
              <a:off x="5055327" y="1918473"/>
              <a:ext cx="3151854" cy="408522"/>
              <a:chOff x="5055327" y="1918473"/>
              <a:chExt cx="3151854" cy="408522"/>
            </a:xfrm>
          </p:grpSpPr>
          <p:cxnSp>
            <p:nvCxnSpPr>
              <p:cNvPr id="25" name="Conector angular 24">
                <a:extLst>
                  <a:ext uri="{FF2B5EF4-FFF2-40B4-BE49-F238E27FC236}">
                    <a16:creationId xmlns:a16="http://schemas.microsoft.com/office/drawing/2014/main" id="{086C8D87-55FB-1480-41D3-E1EDA23388ED}"/>
                  </a:ext>
                </a:extLst>
              </p:cNvPr>
              <p:cNvCxnSpPr>
                <a:cxnSpLocks/>
              </p:cNvCxnSpPr>
              <p:nvPr/>
            </p:nvCxnSpPr>
            <p:spPr>
              <a:xfrm flipV="1">
                <a:off x="5055327" y="1918473"/>
                <a:ext cx="961642" cy="408522"/>
              </a:xfrm>
              <a:prstGeom prst="bentConnector3">
                <a:avLst>
                  <a:gd name="adj1" fmla="val -185"/>
                </a:avLst>
              </a:prstGeom>
              <a:ln w="19050">
                <a:solidFill>
                  <a:srgbClr val="05AAE6"/>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angular 36">
                <a:extLst>
                  <a:ext uri="{FF2B5EF4-FFF2-40B4-BE49-F238E27FC236}">
                    <a16:creationId xmlns:a16="http://schemas.microsoft.com/office/drawing/2014/main" id="{CAA0D170-587F-4493-B7B1-EE0FA84441A9}"/>
                  </a:ext>
                </a:extLst>
              </p:cNvPr>
              <p:cNvCxnSpPr>
                <a:cxnSpLocks/>
              </p:cNvCxnSpPr>
              <p:nvPr/>
            </p:nvCxnSpPr>
            <p:spPr>
              <a:xfrm flipH="1" flipV="1">
                <a:off x="7245539" y="1918473"/>
                <a:ext cx="961642" cy="408522"/>
              </a:xfrm>
              <a:prstGeom prst="bentConnector3">
                <a:avLst>
                  <a:gd name="adj1" fmla="val -185"/>
                </a:avLst>
              </a:prstGeom>
              <a:ln w="19050">
                <a:solidFill>
                  <a:srgbClr val="05AAE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Grupo 38">
              <a:extLst>
                <a:ext uri="{FF2B5EF4-FFF2-40B4-BE49-F238E27FC236}">
                  <a16:creationId xmlns:a16="http://schemas.microsoft.com/office/drawing/2014/main" id="{D2CC3740-54D8-7C49-7725-BC90BB931FAC}"/>
                </a:ext>
              </a:extLst>
            </p:cNvPr>
            <p:cNvGrpSpPr/>
            <p:nvPr/>
          </p:nvGrpSpPr>
          <p:grpSpPr>
            <a:xfrm flipV="1">
              <a:off x="5331640" y="3010673"/>
              <a:ext cx="2690489" cy="408522"/>
              <a:chOff x="5055327" y="1918473"/>
              <a:chExt cx="3151855" cy="408522"/>
            </a:xfrm>
          </p:grpSpPr>
          <p:cxnSp>
            <p:nvCxnSpPr>
              <p:cNvPr id="40" name="Conector angular 39">
                <a:extLst>
                  <a:ext uri="{FF2B5EF4-FFF2-40B4-BE49-F238E27FC236}">
                    <a16:creationId xmlns:a16="http://schemas.microsoft.com/office/drawing/2014/main" id="{AB38C169-7E00-CA0E-AC93-7DA512EAA70F}"/>
                  </a:ext>
                </a:extLst>
              </p:cNvPr>
              <p:cNvCxnSpPr>
                <a:cxnSpLocks/>
              </p:cNvCxnSpPr>
              <p:nvPr/>
            </p:nvCxnSpPr>
            <p:spPr>
              <a:xfrm flipV="1">
                <a:off x="5055327" y="1918473"/>
                <a:ext cx="961642" cy="408522"/>
              </a:xfrm>
              <a:prstGeom prst="bentConnector3">
                <a:avLst>
                  <a:gd name="adj1" fmla="val -185"/>
                </a:avLst>
              </a:prstGeom>
              <a:ln w="19050">
                <a:solidFill>
                  <a:srgbClr val="05AAE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Conector angular 40">
                <a:extLst>
                  <a:ext uri="{FF2B5EF4-FFF2-40B4-BE49-F238E27FC236}">
                    <a16:creationId xmlns:a16="http://schemas.microsoft.com/office/drawing/2014/main" id="{776F7514-ED00-F7F9-30DC-1E0CB7D886DD}"/>
                  </a:ext>
                </a:extLst>
              </p:cNvPr>
              <p:cNvCxnSpPr>
                <a:cxnSpLocks/>
              </p:cNvCxnSpPr>
              <p:nvPr/>
            </p:nvCxnSpPr>
            <p:spPr>
              <a:xfrm flipH="1" flipV="1">
                <a:off x="7245539" y="1918473"/>
                <a:ext cx="961642" cy="408522"/>
              </a:xfrm>
              <a:prstGeom prst="bentConnector3">
                <a:avLst>
                  <a:gd name="adj1" fmla="val -185"/>
                </a:avLst>
              </a:prstGeom>
              <a:ln w="19050">
                <a:solidFill>
                  <a:srgbClr val="05AAE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upo 46">
              <a:extLst>
                <a:ext uri="{FF2B5EF4-FFF2-40B4-BE49-F238E27FC236}">
                  <a16:creationId xmlns:a16="http://schemas.microsoft.com/office/drawing/2014/main" id="{5AAD1708-1398-2C9A-F811-AE055A217FF3}"/>
                </a:ext>
              </a:extLst>
            </p:cNvPr>
            <p:cNvGrpSpPr/>
            <p:nvPr/>
          </p:nvGrpSpPr>
          <p:grpSpPr>
            <a:xfrm>
              <a:off x="4734535" y="3424815"/>
              <a:ext cx="597103" cy="597103"/>
              <a:chOff x="4648228" y="4258268"/>
              <a:chExt cx="815663" cy="815663"/>
            </a:xfrm>
          </p:grpSpPr>
          <p:sp>
            <p:nvSpPr>
              <p:cNvPr id="17" name="Elipse 16">
                <a:extLst>
                  <a:ext uri="{FF2B5EF4-FFF2-40B4-BE49-F238E27FC236}">
                    <a16:creationId xmlns:a16="http://schemas.microsoft.com/office/drawing/2014/main" id="{53E42873-03F6-2973-05A6-B60A4000B59A}"/>
                  </a:ext>
                </a:extLst>
              </p:cNvPr>
              <p:cNvSpPr/>
              <p:nvPr/>
            </p:nvSpPr>
            <p:spPr>
              <a:xfrm>
                <a:off x="4648228" y="4258268"/>
                <a:ext cx="815663" cy="815663"/>
              </a:xfrm>
              <a:prstGeom prst="ellipse">
                <a:avLst/>
              </a:prstGeom>
              <a:solidFill>
                <a:srgbClr val="05AA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3" name="Imagen 42">
                <a:extLst>
                  <a:ext uri="{FF2B5EF4-FFF2-40B4-BE49-F238E27FC236}">
                    <a16:creationId xmlns:a16="http://schemas.microsoft.com/office/drawing/2014/main" id="{CF2E3533-4535-F0C8-61A0-257E21DF40C4}"/>
                  </a:ext>
                </a:extLst>
              </p:cNvPr>
              <p:cNvPicPr>
                <a:picLocks noChangeAspect="1"/>
              </p:cNvPicPr>
              <p:nvPr/>
            </p:nvPicPr>
            <p:blipFill>
              <a:blip r:embed="rId5">
                <a:lum bright="100000"/>
              </a:blip>
              <a:stretch>
                <a:fillRect/>
              </a:stretch>
            </p:blipFill>
            <p:spPr>
              <a:xfrm>
                <a:off x="4807410" y="4384587"/>
                <a:ext cx="515917" cy="567880"/>
              </a:xfrm>
              <a:prstGeom prst="rect">
                <a:avLst/>
              </a:prstGeom>
            </p:spPr>
          </p:pic>
        </p:grpSp>
        <p:grpSp>
          <p:nvGrpSpPr>
            <p:cNvPr id="44" name="Grupo 43">
              <a:extLst>
                <a:ext uri="{FF2B5EF4-FFF2-40B4-BE49-F238E27FC236}">
                  <a16:creationId xmlns:a16="http://schemas.microsoft.com/office/drawing/2014/main" id="{AE3B1AE4-8501-24FC-6AE4-C7D7321F9E50}"/>
                </a:ext>
              </a:extLst>
            </p:cNvPr>
            <p:cNvGrpSpPr/>
            <p:nvPr/>
          </p:nvGrpSpPr>
          <p:grpSpPr>
            <a:xfrm>
              <a:off x="4648826" y="2182146"/>
              <a:ext cx="815663" cy="815663"/>
              <a:chOff x="4937043" y="1141716"/>
              <a:chExt cx="998220" cy="998220"/>
            </a:xfrm>
          </p:grpSpPr>
          <p:sp>
            <p:nvSpPr>
              <p:cNvPr id="45" name="Elipse 44">
                <a:extLst>
                  <a:ext uri="{FF2B5EF4-FFF2-40B4-BE49-F238E27FC236}">
                    <a16:creationId xmlns:a16="http://schemas.microsoft.com/office/drawing/2014/main" id="{740774DA-0F0A-A079-4CAF-021845C53E31}"/>
                  </a:ext>
                </a:extLst>
              </p:cNvPr>
              <p:cNvSpPr/>
              <p:nvPr/>
            </p:nvSpPr>
            <p:spPr>
              <a:xfrm>
                <a:off x="4937043" y="1141716"/>
                <a:ext cx="998220" cy="998220"/>
              </a:xfrm>
              <a:prstGeom prst="ellipse">
                <a:avLst/>
              </a:prstGeom>
              <a:solidFill>
                <a:srgbClr val="05AA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6" name="Imagen 45">
                <a:extLst>
                  <a:ext uri="{FF2B5EF4-FFF2-40B4-BE49-F238E27FC236}">
                    <a16:creationId xmlns:a16="http://schemas.microsoft.com/office/drawing/2014/main" id="{784B11FD-2A81-FB45-DB5B-A18566FD558F}"/>
                  </a:ext>
                </a:extLst>
              </p:cNvPr>
              <p:cNvPicPr>
                <a:picLocks noChangeAspect="1"/>
              </p:cNvPicPr>
              <p:nvPr/>
            </p:nvPicPr>
            <p:blipFill>
              <a:blip r:embed="rId4">
                <a:lum bright="100000"/>
              </a:blip>
              <a:stretch>
                <a:fillRect/>
              </a:stretch>
            </p:blipFill>
            <p:spPr>
              <a:xfrm>
                <a:off x="5099629" y="1366565"/>
                <a:ext cx="673049" cy="524978"/>
              </a:xfrm>
              <a:prstGeom prst="rect">
                <a:avLst/>
              </a:prstGeom>
            </p:spPr>
          </p:pic>
        </p:grpSp>
        <p:grpSp>
          <p:nvGrpSpPr>
            <p:cNvPr id="48" name="Grupo 47">
              <a:extLst>
                <a:ext uri="{FF2B5EF4-FFF2-40B4-BE49-F238E27FC236}">
                  <a16:creationId xmlns:a16="http://schemas.microsoft.com/office/drawing/2014/main" id="{12C9477C-A3A8-B014-50D1-4418AA3A244A}"/>
                </a:ext>
              </a:extLst>
            </p:cNvPr>
            <p:cNvGrpSpPr/>
            <p:nvPr/>
          </p:nvGrpSpPr>
          <p:grpSpPr>
            <a:xfrm>
              <a:off x="7909997" y="3424815"/>
              <a:ext cx="597103" cy="597103"/>
              <a:chOff x="4648228" y="4258268"/>
              <a:chExt cx="815663" cy="815663"/>
            </a:xfrm>
          </p:grpSpPr>
          <p:sp>
            <p:nvSpPr>
              <p:cNvPr id="49" name="Elipse 48">
                <a:extLst>
                  <a:ext uri="{FF2B5EF4-FFF2-40B4-BE49-F238E27FC236}">
                    <a16:creationId xmlns:a16="http://schemas.microsoft.com/office/drawing/2014/main" id="{D09DDFE6-61E2-20D7-01BA-8CBEFE7212B5}"/>
                  </a:ext>
                </a:extLst>
              </p:cNvPr>
              <p:cNvSpPr/>
              <p:nvPr/>
            </p:nvSpPr>
            <p:spPr>
              <a:xfrm>
                <a:off x="4648228" y="4258268"/>
                <a:ext cx="815663" cy="815663"/>
              </a:xfrm>
              <a:prstGeom prst="ellipse">
                <a:avLst/>
              </a:prstGeom>
              <a:solidFill>
                <a:srgbClr val="05AA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50" name="Imagen 49">
                <a:extLst>
                  <a:ext uri="{FF2B5EF4-FFF2-40B4-BE49-F238E27FC236}">
                    <a16:creationId xmlns:a16="http://schemas.microsoft.com/office/drawing/2014/main" id="{12AE83C9-BFFD-730F-563B-252C8547B029}"/>
                  </a:ext>
                </a:extLst>
              </p:cNvPr>
              <p:cNvPicPr>
                <a:picLocks noChangeAspect="1"/>
              </p:cNvPicPr>
              <p:nvPr/>
            </p:nvPicPr>
            <p:blipFill>
              <a:blip r:embed="rId5">
                <a:lum bright="100000"/>
              </a:blip>
              <a:stretch>
                <a:fillRect/>
              </a:stretch>
            </p:blipFill>
            <p:spPr>
              <a:xfrm>
                <a:off x="4807410" y="4384587"/>
                <a:ext cx="515917" cy="567880"/>
              </a:xfrm>
              <a:prstGeom prst="rect">
                <a:avLst/>
              </a:prstGeom>
            </p:spPr>
          </p:pic>
        </p:grpSp>
        <p:grpSp>
          <p:nvGrpSpPr>
            <p:cNvPr id="51" name="Grupo 50">
              <a:extLst>
                <a:ext uri="{FF2B5EF4-FFF2-40B4-BE49-F238E27FC236}">
                  <a16:creationId xmlns:a16="http://schemas.microsoft.com/office/drawing/2014/main" id="{8243D540-160D-925F-ECC6-5D54B3920A95}"/>
                </a:ext>
              </a:extLst>
            </p:cNvPr>
            <p:cNvGrpSpPr/>
            <p:nvPr/>
          </p:nvGrpSpPr>
          <p:grpSpPr>
            <a:xfrm>
              <a:off x="6318009" y="3424815"/>
              <a:ext cx="597103" cy="597103"/>
              <a:chOff x="4648228" y="4258268"/>
              <a:chExt cx="815663" cy="815663"/>
            </a:xfrm>
          </p:grpSpPr>
          <p:sp>
            <p:nvSpPr>
              <p:cNvPr id="52" name="Elipse 51">
                <a:extLst>
                  <a:ext uri="{FF2B5EF4-FFF2-40B4-BE49-F238E27FC236}">
                    <a16:creationId xmlns:a16="http://schemas.microsoft.com/office/drawing/2014/main" id="{E2BE12B4-FA8D-D3B0-449C-C077856133ED}"/>
                  </a:ext>
                </a:extLst>
              </p:cNvPr>
              <p:cNvSpPr/>
              <p:nvPr/>
            </p:nvSpPr>
            <p:spPr>
              <a:xfrm>
                <a:off x="4648228" y="4258268"/>
                <a:ext cx="815663" cy="815663"/>
              </a:xfrm>
              <a:prstGeom prst="ellipse">
                <a:avLst/>
              </a:prstGeom>
              <a:solidFill>
                <a:srgbClr val="EFC5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53" name="Imagen 52">
                <a:extLst>
                  <a:ext uri="{FF2B5EF4-FFF2-40B4-BE49-F238E27FC236}">
                    <a16:creationId xmlns:a16="http://schemas.microsoft.com/office/drawing/2014/main" id="{026F9198-7297-971D-C0D3-43E6C550D920}"/>
                  </a:ext>
                </a:extLst>
              </p:cNvPr>
              <p:cNvPicPr>
                <a:picLocks noChangeAspect="1"/>
              </p:cNvPicPr>
              <p:nvPr/>
            </p:nvPicPr>
            <p:blipFill>
              <a:blip r:embed="rId5">
                <a:lum bright="100000"/>
              </a:blip>
              <a:stretch>
                <a:fillRect/>
              </a:stretch>
            </p:blipFill>
            <p:spPr>
              <a:xfrm>
                <a:off x="4807410" y="4384587"/>
                <a:ext cx="515917" cy="567880"/>
              </a:xfrm>
              <a:prstGeom prst="rect">
                <a:avLst/>
              </a:prstGeom>
            </p:spPr>
          </p:pic>
        </p:grpSp>
        <p:cxnSp>
          <p:nvCxnSpPr>
            <p:cNvPr id="55" name="Conector recto de flecha 54">
              <a:extLst>
                <a:ext uri="{FF2B5EF4-FFF2-40B4-BE49-F238E27FC236}">
                  <a16:creationId xmlns:a16="http://schemas.microsoft.com/office/drawing/2014/main" id="{E6F17056-50AD-715A-9205-3D2E5012FFC9}"/>
                </a:ext>
              </a:extLst>
            </p:cNvPr>
            <p:cNvCxnSpPr>
              <a:cxnSpLocks/>
            </p:cNvCxnSpPr>
            <p:nvPr/>
          </p:nvCxnSpPr>
          <p:spPr>
            <a:xfrm>
              <a:off x="5433809" y="3723366"/>
              <a:ext cx="786287"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de flecha 57">
              <a:extLst>
                <a:ext uri="{FF2B5EF4-FFF2-40B4-BE49-F238E27FC236}">
                  <a16:creationId xmlns:a16="http://schemas.microsoft.com/office/drawing/2014/main" id="{3479E1AE-7DF8-B11E-2614-A58D2A55EA20}"/>
                </a:ext>
              </a:extLst>
            </p:cNvPr>
            <p:cNvCxnSpPr>
              <a:cxnSpLocks/>
            </p:cNvCxnSpPr>
            <p:nvPr/>
          </p:nvCxnSpPr>
          <p:spPr>
            <a:xfrm>
              <a:off x="7021540" y="3723366"/>
              <a:ext cx="786287"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62" name="Grupo 61">
              <a:extLst>
                <a:ext uri="{FF2B5EF4-FFF2-40B4-BE49-F238E27FC236}">
                  <a16:creationId xmlns:a16="http://schemas.microsoft.com/office/drawing/2014/main" id="{CF13E999-DE44-B20D-41A9-D7809D807C4B}"/>
                </a:ext>
              </a:extLst>
            </p:cNvPr>
            <p:cNvGrpSpPr/>
            <p:nvPr/>
          </p:nvGrpSpPr>
          <p:grpSpPr>
            <a:xfrm>
              <a:off x="6451733" y="2632834"/>
              <a:ext cx="329654" cy="557755"/>
              <a:chOff x="6442248" y="2632834"/>
              <a:chExt cx="329654" cy="557755"/>
            </a:xfrm>
          </p:grpSpPr>
          <p:sp>
            <p:nvSpPr>
              <p:cNvPr id="59" name="Cheurón 58">
                <a:extLst>
                  <a:ext uri="{FF2B5EF4-FFF2-40B4-BE49-F238E27FC236}">
                    <a16:creationId xmlns:a16="http://schemas.microsoft.com/office/drawing/2014/main" id="{CC9CF55B-9DA7-FCA3-C2E5-571DA2A21351}"/>
                  </a:ext>
                </a:extLst>
              </p:cNvPr>
              <p:cNvSpPr/>
              <p:nvPr/>
            </p:nvSpPr>
            <p:spPr>
              <a:xfrm rot="16200000">
                <a:off x="6510685" y="2929372"/>
                <a:ext cx="192780" cy="329654"/>
              </a:xfrm>
              <a:prstGeom prst="chevron">
                <a:avLst>
                  <a:gd name="adj" fmla="val 7779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tx1"/>
                  </a:solidFill>
                </a:endParaRPr>
              </a:p>
            </p:txBody>
          </p:sp>
          <p:sp>
            <p:nvSpPr>
              <p:cNvPr id="60" name="Cheurón 59">
                <a:extLst>
                  <a:ext uri="{FF2B5EF4-FFF2-40B4-BE49-F238E27FC236}">
                    <a16:creationId xmlns:a16="http://schemas.microsoft.com/office/drawing/2014/main" id="{0B20CF1E-2CD5-9EE9-1136-C8C91C654485}"/>
                  </a:ext>
                </a:extLst>
              </p:cNvPr>
              <p:cNvSpPr/>
              <p:nvPr/>
            </p:nvSpPr>
            <p:spPr>
              <a:xfrm rot="16200000">
                <a:off x="6510685" y="2746885"/>
                <a:ext cx="192780" cy="329654"/>
              </a:xfrm>
              <a:prstGeom prst="chevron">
                <a:avLst>
                  <a:gd name="adj" fmla="val 7779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tx1"/>
                  </a:solidFill>
                </a:endParaRPr>
              </a:p>
            </p:txBody>
          </p:sp>
          <p:sp>
            <p:nvSpPr>
              <p:cNvPr id="61" name="Cheurón 60">
                <a:extLst>
                  <a:ext uri="{FF2B5EF4-FFF2-40B4-BE49-F238E27FC236}">
                    <a16:creationId xmlns:a16="http://schemas.microsoft.com/office/drawing/2014/main" id="{69146AD4-CBA8-7A61-7A1C-8BC26C61A2DE}"/>
                  </a:ext>
                </a:extLst>
              </p:cNvPr>
              <p:cNvSpPr/>
              <p:nvPr/>
            </p:nvSpPr>
            <p:spPr>
              <a:xfrm rot="16200000">
                <a:off x="6510685" y="2564397"/>
                <a:ext cx="192780" cy="329654"/>
              </a:xfrm>
              <a:prstGeom prst="chevron">
                <a:avLst>
                  <a:gd name="adj" fmla="val 7779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tx1"/>
                  </a:solidFill>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 name="Google Shape;127;p5">
            <a:extLst>
              <a:ext uri="{FF2B5EF4-FFF2-40B4-BE49-F238E27FC236}">
                <a16:creationId xmlns:a16="http://schemas.microsoft.com/office/drawing/2014/main" id="{2375F536-1F05-4227-5C26-491DA1E655EA}"/>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EVALUACIÓN DE LA VIABILIDAD Y RIESGOS ASOCIADOS</a:t>
            </a:r>
            <a:endParaRPr dirty="0">
              <a:latin typeface="Calibri" panose="020F0502020204030204" pitchFamily="34" charset="0"/>
              <a:cs typeface="Calibri" panose="020F0502020204030204" pitchFamily="34" charset="0"/>
            </a:endParaRPr>
          </a:p>
        </p:txBody>
      </p:sp>
      <p:sp>
        <p:nvSpPr>
          <p:cNvPr id="4" name="Google Shape;417;p28">
            <a:extLst>
              <a:ext uri="{FF2B5EF4-FFF2-40B4-BE49-F238E27FC236}">
                <a16:creationId xmlns:a16="http://schemas.microsoft.com/office/drawing/2014/main" id="{1A2C3F55-A46A-B240-A69D-3EFF3177045E}"/>
              </a:ext>
            </a:extLst>
          </p:cNvPr>
          <p:cNvSpPr/>
          <p:nvPr/>
        </p:nvSpPr>
        <p:spPr>
          <a:xfrm>
            <a:off x="1121872" y="1580970"/>
            <a:ext cx="2934739" cy="2369880"/>
          </a:xfrm>
          <a:prstGeom prst="rect">
            <a:avLst/>
          </a:prstGeom>
          <a:noFill/>
          <a:ln>
            <a:noFill/>
          </a:ln>
        </p:spPr>
        <p:txBody>
          <a:bodyPr spcFirstLastPara="1" wrap="square" lIns="0" tIns="0" rIns="0" bIns="0" anchor="t" anchorCtr="0">
            <a:spAutoFit/>
          </a:bodyPr>
          <a:lstStyle/>
          <a:p>
            <a:pPr>
              <a:buClr>
                <a:srgbClr val="0D0D0D"/>
              </a:buClr>
              <a:buSzPts val="1600"/>
            </a:pPr>
            <a:r>
              <a:rPr lang="es-PE" b="1" dirty="0">
                <a:solidFill>
                  <a:srgbClr val="D6A16F"/>
                </a:solidFill>
                <a:highlight>
                  <a:srgbClr val="FFFFFF"/>
                </a:highlight>
                <a:latin typeface="Calibri" panose="020F0502020204030204" pitchFamily="34" charset="0"/>
                <a:ea typeface="Calibri"/>
                <a:cs typeface="Calibri" panose="020F0502020204030204" pitchFamily="34" charset="0"/>
                <a:sym typeface="Calibri"/>
              </a:rPr>
              <a:t>RESISTENCIA AL CAMBIO:</a:t>
            </a:r>
          </a:p>
          <a:p>
            <a:pPr>
              <a:buClr>
                <a:srgbClr val="0D0D0D"/>
              </a:buClr>
              <a:buSzPts val="1600"/>
            </a:pPr>
            <a:r>
              <a:rPr lang="es-PE"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El personal puede mostrar resistencia al adoptar nuevas prácticas y tecnologías relacionadas con la gestión de datos.</a:t>
            </a:r>
          </a:p>
          <a:p>
            <a:pPr>
              <a:buClr>
                <a:srgbClr val="0D0D0D"/>
              </a:buClr>
              <a:buSzPts val="1600"/>
            </a:pPr>
            <a:endParaRPr lang="es-PE" b="1" dirty="0">
              <a:solidFill>
                <a:srgbClr val="05AAE6"/>
              </a:solidFill>
              <a:highlight>
                <a:srgbClr val="FFFFFF"/>
              </a:highlight>
              <a:latin typeface="Calibri" panose="020F0502020204030204" pitchFamily="34" charset="0"/>
              <a:ea typeface="Calibri"/>
              <a:cs typeface="Calibri" panose="020F0502020204030204" pitchFamily="34" charset="0"/>
              <a:sym typeface="Calibri"/>
            </a:endParaRPr>
          </a:p>
          <a:p>
            <a:pPr>
              <a:buClr>
                <a:srgbClr val="0D0D0D"/>
              </a:buClr>
              <a:buSzPts val="1600"/>
            </a:pPr>
            <a:r>
              <a:rPr lang="es-PE" b="1" dirty="0">
                <a:solidFill>
                  <a:srgbClr val="D6A16F"/>
                </a:solidFill>
                <a:highlight>
                  <a:srgbClr val="FFFFFF"/>
                </a:highlight>
                <a:latin typeface="Calibri" panose="020F0502020204030204" pitchFamily="34" charset="0"/>
                <a:ea typeface="Calibri"/>
                <a:cs typeface="Calibri" panose="020F0502020204030204" pitchFamily="34" charset="0"/>
                <a:sym typeface="Calibri"/>
              </a:rPr>
              <a:t>PROCESOS INEFICIENTES:</a:t>
            </a:r>
          </a:p>
          <a:p>
            <a:pPr>
              <a:buClr>
                <a:srgbClr val="0D0D0D"/>
              </a:buClr>
              <a:buSzPts val="1600"/>
            </a:pPr>
            <a:r>
              <a:rPr lang="es-PE"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La implementación de nuevas soluciones de gestión de datos puede revelar deficiencias en los procesos operativos existentes que puede conllevar a ajustes en los procesos. </a:t>
            </a:r>
          </a:p>
        </p:txBody>
      </p:sp>
      <p:cxnSp>
        <p:nvCxnSpPr>
          <p:cNvPr id="5" name="Conector recto de flecha 4">
            <a:extLst>
              <a:ext uri="{FF2B5EF4-FFF2-40B4-BE49-F238E27FC236}">
                <a16:creationId xmlns:a16="http://schemas.microsoft.com/office/drawing/2014/main" id="{EF3683D0-29AA-FCA1-7045-F5221FFF90C3}"/>
              </a:ext>
            </a:extLst>
          </p:cNvPr>
          <p:cNvCxnSpPr>
            <a:cxnSpLocks/>
          </p:cNvCxnSpPr>
          <p:nvPr/>
        </p:nvCxnSpPr>
        <p:spPr>
          <a:xfrm>
            <a:off x="702414" y="1700053"/>
            <a:ext cx="233756" cy="0"/>
          </a:xfrm>
          <a:prstGeom prst="straightConnector1">
            <a:avLst/>
          </a:prstGeom>
          <a:ln>
            <a:solidFill>
              <a:srgbClr val="D6A16F"/>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2ED4E38F-4EF7-F099-B80B-295492943B19}"/>
              </a:ext>
            </a:extLst>
          </p:cNvPr>
          <p:cNvCxnSpPr>
            <a:cxnSpLocks/>
          </p:cNvCxnSpPr>
          <p:nvPr/>
        </p:nvCxnSpPr>
        <p:spPr>
          <a:xfrm>
            <a:off x="702414" y="1567631"/>
            <a:ext cx="0" cy="1181497"/>
          </a:xfrm>
          <a:prstGeom prst="line">
            <a:avLst/>
          </a:prstGeom>
          <a:ln>
            <a:solidFill>
              <a:srgbClr val="D6A16F"/>
            </a:solidFill>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7967DC96-4FB8-461E-CFE6-0CE355C669F0}"/>
              </a:ext>
            </a:extLst>
          </p:cNvPr>
          <p:cNvCxnSpPr>
            <a:cxnSpLocks/>
          </p:cNvCxnSpPr>
          <p:nvPr/>
        </p:nvCxnSpPr>
        <p:spPr>
          <a:xfrm>
            <a:off x="702414" y="2749128"/>
            <a:ext cx="233756" cy="0"/>
          </a:xfrm>
          <a:prstGeom prst="straightConnector1">
            <a:avLst/>
          </a:prstGeom>
          <a:ln>
            <a:solidFill>
              <a:srgbClr val="D6A16F"/>
            </a:solidFill>
            <a:round/>
            <a:headEnd type="none"/>
            <a:tailEnd type="oval"/>
          </a:ln>
        </p:spPr>
        <p:style>
          <a:lnRef idx="1">
            <a:schemeClr val="accent1"/>
          </a:lnRef>
          <a:fillRef idx="0">
            <a:schemeClr val="accent1"/>
          </a:fillRef>
          <a:effectRef idx="0">
            <a:schemeClr val="accent1"/>
          </a:effectRef>
          <a:fontRef idx="minor">
            <a:schemeClr val="tx1"/>
          </a:fontRef>
        </p:style>
      </p:cxnSp>
      <p:sp>
        <p:nvSpPr>
          <p:cNvPr id="8" name="Google Shape;268;p24">
            <a:extLst>
              <a:ext uri="{FF2B5EF4-FFF2-40B4-BE49-F238E27FC236}">
                <a16:creationId xmlns:a16="http://schemas.microsoft.com/office/drawing/2014/main" id="{81B23AFF-D426-624F-C05C-39B9405ED444}"/>
              </a:ext>
            </a:extLst>
          </p:cNvPr>
          <p:cNvSpPr txBox="1"/>
          <p:nvPr/>
        </p:nvSpPr>
        <p:spPr>
          <a:xfrm>
            <a:off x="508377" y="912813"/>
            <a:ext cx="4243011" cy="492443"/>
          </a:xfrm>
          <a:prstGeom prst="rect">
            <a:avLst/>
          </a:prstGeom>
          <a:noFill/>
          <a:ln>
            <a:noFill/>
          </a:ln>
        </p:spPr>
        <p:txBody>
          <a:bodyPr spcFirstLastPara="1" wrap="square" lIns="0" tIns="0" rIns="0" bIns="0" anchor="t" anchorCtr="0">
            <a:spAutoFit/>
          </a:bodyPr>
          <a:lstStyle/>
          <a:p>
            <a:r>
              <a:rPr lang="es-PE" sz="1600" b="1" dirty="0">
                <a:solidFill>
                  <a:schemeClr val="tx1"/>
                </a:solidFill>
                <a:latin typeface="Calibri" panose="020F0502020204030204" pitchFamily="34" charset="0"/>
                <a:ea typeface="Calibri"/>
                <a:cs typeface="Calibri" panose="020F0502020204030204" pitchFamily="34" charset="0"/>
                <a:sym typeface="Calibri"/>
              </a:rPr>
              <a:t>RIESGOS ASOCIADOS:</a:t>
            </a:r>
          </a:p>
          <a:p>
            <a:r>
              <a:rPr lang="es-PE" sz="1600" b="1" dirty="0">
                <a:solidFill>
                  <a:srgbClr val="D6A16F"/>
                </a:solidFill>
                <a:latin typeface="Calibri" panose="020F0502020204030204" pitchFamily="34" charset="0"/>
                <a:ea typeface="Calibri"/>
                <a:cs typeface="Calibri" panose="020F0502020204030204" pitchFamily="34" charset="0"/>
                <a:sym typeface="Calibri"/>
              </a:rPr>
              <a:t>RIESGOS OPERATIVOS</a:t>
            </a:r>
            <a:endParaRPr sz="1600" dirty="0">
              <a:solidFill>
                <a:srgbClr val="D6A16F"/>
              </a:solidFill>
              <a:latin typeface="Calibri" panose="020F0502020204030204" pitchFamily="34" charset="0"/>
              <a:cs typeface="Calibri" panose="020F0502020204030204" pitchFamily="34" charset="0"/>
            </a:endParaRPr>
          </a:p>
        </p:txBody>
      </p:sp>
      <p:pic>
        <p:nvPicPr>
          <p:cNvPr id="10" name="Imagen 9">
            <a:extLst>
              <a:ext uri="{FF2B5EF4-FFF2-40B4-BE49-F238E27FC236}">
                <a16:creationId xmlns:a16="http://schemas.microsoft.com/office/drawing/2014/main" id="{C454A25F-9B92-95D5-2489-FA684AC95FAB}"/>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4392613" y="921125"/>
            <a:ext cx="4751387" cy="431286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 name="Google Shape;127;p5">
            <a:extLst>
              <a:ext uri="{FF2B5EF4-FFF2-40B4-BE49-F238E27FC236}">
                <a16:creationId xmlns:a16="http://schemas.microsoft.com/office/drawing/2014/main" id="{33D185EF-36B0-8ACA-4D5C-73D51581EC87}"/>
              </a:ext>
            </a:extLst>
          </p:cNvPr>
          <p:cNvSpPr/>
          <p:nvPr/>
        </p:nvSpPr>
        <p:spPr>
          <a:xfrm>
            <a:off x="503238" y="376836"/>
            <a:ext cx="3703002" cy="138499"/>
          </a:xfrm>
          <a:prstGeom prst="rect">
            <a:avLst/>
          </a:prstGeom>
          <a:noFill/>
          <a:ln>
            <a:noFill/>
          </a:ln>
        </p:spPr>
        <p:txBody>
          <a:bodyPr spcFirstLastPara="1" wrap="square" lIns="0" tIns="0" rIns="0" bIns="0" anchor="b" anchorCtr="0">
            <a:spAutoFit/>
          </a:bodyPr>
          <a:lstStyle/>
          <a:p>
            <a:pPr>
              <a:lnSpc>
                <a:spcPct val="90000"/>
              </a:lnSpc>
            </a:pPr>
            <a:r>
              <a:rPr lang="es-PE" sz="1000" dirty="0">
                <a:solidFill>
                  <a:srgbClr val="A5A5A5"/>
                </a:solidFill>
                <a:latin typeface="Calibri"/>
                <a:ea typeface="Calibri"/>
                <a:cs typeface="Calibri"/>
                <a:sym typeface="Calibri"/>
              </a:rPr>
              <a:t>EVALUACIÓN DE LA VIABILIDAD Y RIESGOS ASOCIADOS</a:t>
            </a:r>
            <a:endParaRPr dirty="0">
              <a:latin typeface="Calibri" panose="020F0502020204030204" pitchFamily="34" charset="0"/>
              <a:cs typeface="Calibri" panose="020F0502020204030204" pitchFamily="34" charset="0"/>
            </a:endParaRPr>
          </a:p>
        </p:txBody>
      </p:sp>
      <p:sp>
        <p:nvSpPr>
          <p:cNvPr id="4" name="Google Shape;417;p28">
            <a:extLst>
              <a:ext uri="{FF2B5EF4-FFF2-40B4-BE49-F238E27FC236}">
                <a16:creationId xmlns:a16="http://schemas.microsoft.com/office/drawing/2014/main" id="{773CBA2A-5DA0-8F86-8A13-0BF331F65B1C}"/>
              </a:ext>
            </a:extLst>
          </p:cNvPr>
          <p:cNvSpPr/>
          <p:nvPr/>
        </p:nvSpPr>
        <p:spPr>
          <a:xfrm>
            <a:off x="1121873" y="1572656"/>
            <a:ext cx="2945302" cy="2585323"/>
          </a:xfrm>
          <a:prstGeom prst="rect">
            <a:avLst/>
          </a:prstGeom>
          <a:noFill/>
          <a:ln>
            <a:noFill/>
          </a:ln>
        </p:spPr>
        <p:txBody>
          <a:bodyPr spcFirstLastPara="1" wrap="square" lIns="0" tIns="0" rIns="0" bIns="0" anchor="t" anchorCtr="0">
            <a:spAutoFit/>
          </a:bodyPr>
          <a:lstStyle/>
          <a:p>
            <a:pPr lvl="0">
              <a:buClr>
                <a:srgbClr val="0D0D0D"/>
              </a:buClr>
              <a:buSzPts val="1600"/>
            </a:pPr>
            <a:r>
              <a:rPr lang="es-PE" b="1" dirty="0">
                <a:solidFill>
                  <a:srgbClr val="1A3663"/>
                </a:solidFill>
                <a:highlight>
                  <a:srgbClr val="FFFFFF"/>
                </a:highlight>
                <a:latin typeface="Calibri" panose="020F0502020204030204" pitchFamily="34" charset="0"/>
                <a:ea typeface="Calibri"/>
                <a:cs typeface="Calibri" panose="020F0502020204030204" pitchFamily="34" charset="0"/>
                <a:sym typeface="Calibri"/>
              </a:rPr>
              <a:t>PRESUPUESTO INSUFICIENTE:</a:t>
            </a:r>
          </a:p>
          <a:p>
            <a:pPr lvl="0">
              <a:buClr>
                <a:srgbClr val="0D0D0D"/>
              </a:buClr>
              <a:buSzPts val="1600"/>
            </a:pPr>
            <a:r>
              <a:rPr lang="es-PE"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La subestimación de los costos asociados con la implementación de la dirección estratégica de datos puede llevar a desviaciones presupuestarias y problemas financieros. </a:t>
            </a:r>
          </a:p>
          <a:p>
            <a:pPr lvl="0">
              <a:buClr>
                <a:srgbClr val="0D0D0D"/>
              </a:buClr>
              <a:buSzPts val="1600"/>
            </a:pPr>
            <a:endParaRPr lang="es-PE" b="1" dirty="0">
              <a:solidFill>
                <a:srgbClr val="D6A16F"/>
              </a:solidFill>
              <a:highlight>
                <a:srgbClr val="FFFFFF"/>
              </a:highlight>
              <a:latin typeface="Calibri" panose="020F0502020204030204" pitchFamily="34" charset="0"/>
              <a:ea typeface="Calibri"/>
              <a:cs typeface="Calibri" panose="020F0502020204030204" pitchFamily="34" charset="0"/>
              <a:sym typeface="Calibri"/>
            </a:endParaRPr>
          </a:p>
          <a:p>
            <a:pPr lvl="0">
              <a:buClr>
                <a:srgbClr val="0D0D0D"/>
              </a:buClr>
              <a:buSzPts val="1600"/>
            </a:pPr>
            <a:r>
              <a:rPr lang="es-PE" b="1" dirty="0">
                <a:solidFill>
                  <a:srgbClr val="1A3663"/>
                </a:solidFill>
                <a:highlight>
                  <a:srgbClr val="FFFFFF"/>
                </a:highlight>
                <a:latin typeface="Calibri" panose="020F0502020204030204" pitchFamily="34" charset="0"/>
                <a:ea typeface="Calibri"/>
                <a:cs typeface="Calibri" panose="020F0502020204030204" pitchFamily="34" charset="0"/>
                <a:sym typeface="Calibri"/>
              </a:rPr>
              <a:t>ROI NEGATIVO:</a:t>
            </a:r>
          </a:p>
          <a:p>
            <a:pPr lvl="0">
              <a:buClr>
                <a:srgbClr val="0D0D0D"/>
              </a:buClr>
              <a:buSzPts val="1600"/>
            </a:pPr>
            <a:r>
              <a:rPr lang="es-PE"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Existe el riesgo de que los beneficios esperados de la implementación no se materialicen en el tiempo esperado, lo que resulta en un ROI negativo. </a:t>
            </a:r>
          </a:p>
        </p:txBody>
      </p:sp>
      <p:cxnSp>
        <p:nvCxnSpPr>
          <p:cNvPr id="5" name="Conector recto de flecha 4">
            <a:extLst>
              <a:ext uri="{FF2B5EF4-FFF2-40B4-BE49-F238E27FC236}">
                <a16:creationId xmlns:a16="http://schemas.microsoft.com/office/drawing/2014/main" id="{876D0D9E-226A-7469-2199-E37226168FCF}"/>
              </a:ext>
            </a:extLst>
          </p:cNvPr>
          <p:cNvCxnSpPr>
            <a:cxnSpLocks/>
          </p:cNvCxnSpPr>
          <p:nvPr/>
        </p:nvCxnSpPr>
        <p:spPr>
          <a:xfrm>
            <a:off x="702414" y="1691739"/>
            <a:ext cx="233756" cy="0"/>
          </a:xfrm>
          <a:prstGeom prst="straightConnector1">
            <a:avLst/>
          </a:prstGeom>
          <a:ln>
            <a:solidFill>
              <a:srgbClr val="1A3663"/>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F3FEACCE-1163-3476-65C7-9D03C5C80E6F}"/>
              </a:ext>
            </a:extLst>
          </p:cNvPr>
          <p:cNvCxnSpPr>
            <a:cxnSpLocks/>
          </p:cNvCxnSpPr>
          <p:nvPr/>
        </p:nvCxnSpPr>
        <p:spPr>
          <a:xfrm>
            <a:off x="702414" y="1559317"/>
            <a:ext cx="0" cy="1613759"/>
          </a:xfrm>
          <a:prstGeom prst="line">
            <a:avLst/>
          </a:prstGeom>
          <a:ln>
            <a:solidFill>
              <a:srgbClr val="1A3663"/>
            </a:solidFill>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7AA1E1CA-6394-48D3-0B01-8BAF345E787B}"/>
              </a:ext>
            </a:extLst>
          </p:cNvPr>
          <p:cNvCxnSpPr>
            <a:cxnSpLocks/>
          </p:cNvCxnSpPr>
          <p:nvPr/>
        </p:nvCxnSpPr>
        <p:spPr>
          <a:xfrm>
            <a:off x="702414" y="3173076"/>
            <a:ext cx="233756" cy="0"/>
          </a:xfrm>
          <a:prstGeom prst="straightConnector1">
            <a:avLst/>
          </a:prstGeom>
          <a:ln>
            <a:solidFill>
              <a:srgbClr val="1A3663"/>
            </a:solidFill>
            <a:round/>
            <a:headEnd type="none"/>
            <a:tailEnd type="oval"/>
          </a:ln>
        </p:spPr>
        <p:style>
          <a:lnRef idx="1">
            <a:schemeClr val="accent1"/>
          </a:lnRef>
          <a:fillRef idx="0">
            <a:schemeClr val="accent1"/>
          </a:fillRef>
          <a:effectRef idx="0">
            <a:schemeClr val="accent1"/>
          </a:effectRef>
          <a:fontRef idx="minor">
            <a:schemeClr val="tx1"/>
          </a:fontRef>
        </p:style>
      </p:cxnSp>
      <p:sp>
        <p:nvSpPr>
          <p:cNvPr id="8" name="Google Shape;268;p24">
            <a:extLst>
              <a:ext uri="{FF2B5EF4-FFF2-40B4-BE49-F238E27FC236}">
                <a16:creationId xmlns:a16="http://schemas.microsoft.com/office/drawing/2014/main" id="{5F5AE058-A1CE-1A2C-FE60-9A74235F9340}"/>
              </a:ext>
            </a:extLst>
          </p:cNvPr>
          <p:cNvSpPr txBox="1"/>
          <p:nvPr/>
        </p:nvSpPr>
        <p:spPr>
          <a:xfrm>
            <a:off x="508377" y="912813"/>
            <a:ext cx="4243011" cy="492443"/>
          </a:xfrm>
          <a:prstGeom prst="rect">
            <a:avLst/>
          </a:prstGeom>
          <a:noFill/>
          <a:ln>
            <a:noFill/>
          </a:ln>
        </p:spPr>
        <p:txBody>
          <a:bodyPr spcFirstLastPara="1" wrap="square" lIns="0" tIns="0" rIns="0" bIns="0" anchor="t" anchorCtr="0">
            <a:spAutoFit/>
          </a:bodyPr>
          <a:lstStyle/>
          <a:p>
            <a:r>
              <a:rPr lang="es-PE" sz="1600" b="1" dirty="0">
                <a:solidFill>
                  <a:schemeClr val="tx1"/>
                </a:solidFill>
                <a:latin typeface="Calibri" panose="020F0502020204030204" pitchFamily="34" charset="0"/>
                <a:ea typeface="Calibri"/>
                <a:cs typeface="Calibri" panose="020F0502020204030204" pitchFamily="34" charset="0"/>
                <a:sym typeface="Calibri"/>
              </a:rPr>
              <a:t>RIESGOS ASOCIADOS:</a:t>
            </a:r>
          </a:p>
          <a:p>
            <a:r>
              <a:rPr lang="es-PE" sz="1600" b="1" dirty="0">
                <a:solidFill>
                  <a:srgbClr val="1A3663"/>
                </a:solidFill>
                <a:latin typeface="Calibri" panose="020F0502020204030204" pitchFamily="34" charset="0"/>
                <a:ea typeface="Calibri"/>
                <a:cs typeface="Calibri" panose="020F0502020204030204" pitchFamily="34" charset="0"/>
                <a:sym typeface="Calibri"/>
              </a:rPr>
              <a:t>RIESGOS FINANCIEROS</a:t>
            </a:r>
            <a:endParaRPr sz="1600" dirty="0">
              <a:solidFill>
                <a:srgbClr val="1A3663"/>
              </a:solidFill>
              <a:latin typeface="Calibri" panose="020F0502020204030204" pitchFamily="34" charset="0"/>
              <a:cs typeface="Calibri" panose="020F0502020204030204" pitchFamily="34" charset="0"/>
            </a:endParaRPr>
          </a:p>
        </p:txBody>
      </p:sp>
      <p:pic>
        <p:nvPicPr>
          <p:cNvPr id="12" name="Imagen 11">
            <a:extLst>
              <a:ext uri="{FF2B5EF4-FFF2-40B4-BE49-F238E27FC236}">
                <a16:creationId xmlns:a16="http://schemas.microsoft.com/office/drawing/2014/main" id="{F4BC72FB-D744-1B42-9A14-BDF1B9117D17}"/>
              </a:ext>
            </a:extLst>
          </p:cNvPr>
          <p:cNvPicPr>
            <a:picLocks noChangeAspect="1"/>
          </p:cNvPicPr>
          <p:nvPr/>
        </p:nvPicPr>
        <p:blipFill>
          <a:blip r:embed="rId3"/>
          <a:srcRect l="5015" r="21754"/>
          <a:stretch>
            <a:fillRect/>
          </a:stretch>
        </p:blipFill>
        <p:spPr>
          <a:xfrm>
            <a:off x="4392618" y="912813"/>
            <a:ext cx="4751382" cy="43211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5EA8-9B0B-9018-AA1E-DD2C7A820C5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DEC6859-D8BD-2F9A-DD6E-49A0EFFEABCA}"/>
              </a:ext>
            </a:extLst>
          </p:cNvPr>
          <p:cNvSpPr/>
          <p:nvPr/>
        </p:nvSpPr>
        <p:spPr>
          <a:xfrm>
            <a:off x="130171" y="5233988"/>
            <a:ext cx="8699504" cy="395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6" name="Rectángulo 5">
            <a:extLst>
              <a:ext uri="{FF2B5EF4-FFF2-40B4-BE49-F238E27FC236}">
                <a16:creationId xmlns:a16="http://schemas.microsoft.com/office/drawing/2014/main" id="{227F14FD-1659-FF10-2817-C61125A73105}"/>
              </a:ext>
            </a:extLst>
          </p:cNvPr>
          <p:cNvSpPr/>
          <p:nvPr/>
        </p:nvSpPr>
        <p:spPr>
          <a:xfrm>
            <a:off x="1" y="0"/>
            <a:ext cx="9144000" cy="5715000"/>
          </a:xfrm>
          <a:prstGeom prst="rect">
            <a:avLst/>
          </a:prstGeom>
          <a:solidFill>
            <a:srgbClr val="1A27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3" name="Google Shape;108;p4">
            <a:extLst>
              <a:ext uri="{FF2B5EF4-FFF2-40B4-BE49-F238E27FC236}">
                <a16:creationId xmlns:a16="http://schemas.microsoft.com/office/drawing/2014/main" id="{9DF024E2-0754-7CB2-5425-46DB77A7FC27}"/>
              </a:ext>
            </a:extLst>
          </p:cNvPr>
          <p:cNvSpPr txBox="1"/>
          <p:nvPr/>
        </p:nvSpPr>
        <p:spPr>
          <a:xfrm>
            <a:off x="1007268" y="2786209"/>
            <a:ext cx="3321845" cy="68942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s-PE" sz="2800" dirty="0">
                <a:solidFill>
                  <a:srgbClr val="FDDAA8"/>
                </a:solidFill>
                <a:latin typeface="Graphik Regular" panose="020B0503030202060203" pitchFamily="34" charset="77"/>
                <a:cs typeface="Calibri" panose="020F0502020204030204" pitchFamily="34" charset="0"/>
                <a:sym typeface="Arial"/>
              </a:rPr>
              <a:t>CONCLUSIONES</a:t>
            </a:r>
            <a:r>
              <a:rPr lang="es-PE" sz="2800" dirty="0">
                <a:solidFill>
                  <a:srgbClr val="FDDAA8"/>
                </a:solidFill>
                <a:latin typeface="Calibri" panose="020F0502020204030204" pitchFamily="34" charset="0"/>
                <a:cs typeface="Calibri" panose="020F0502020204030204" pitchFamily="34" charset="0"/>
                <a:sym typeface="Arial"/>
              </a:rPr>
              <a:t> </a:t>
            </a:r>
            <a:endParaRPr sz="1100" dirty="0">
              <a:solidFill>
                <a:srgbClr val="FDDAA8"/>
              </a:solidFill>
              <a:latin typeface="Calibri" panose="020F0502020204030204" pitchFamily="34" charset="0"/>
              <a:cs typeface="Calibri" panose="020F0502020204030204" pitchFamily="34" charset="0"/>
            </a:endParaRPr>
          </a:p>
          <a:p>
            <a:pPr marL="0" marR="0" lvl="0" indent="0" algn="l" rtl="0">
              <a:lnSpc>
                <a:spcPct val="80000"/>
              </a:lnSpc>
              <a:spcBef>
                <a:spcPts val="0"/>
              </a:spcBef>
              <a:spcAft>
                <a:spcPts val="0"/>
              </a:spcAft>
              <a:buNone/>
            </a:pPr>
            <a:r>
              <a:rPr lang="es-PE" sz="2800" dirty="0">
                <a:solidFill>
                  <a:srgbClr val="FDDAA8"/>
                </a:solidFill>
                <a:latin typeface="Graphik Bold" panose="020B0503030202060203" pitchFamily="34" charset="77"/>
                <a:cs typeface="Arial Black" panose="020B0604020202020204" pitchFamily="34" charset="0"/>
                <a:sym typeface="Arial"/>
              </a:rPr>
              <a:t>DE LA SESIÓN</a:t>
            </a:r>
            <a:endParaRPr sz="1100" dirty="0">
              <a:solidFill>
                <a:srgbClr val="FDDAA8"/>
              </a:solidFill>
              <a:latin typeface="Graphik Bold" panose="020B0503030202060203" pitchFamily="34" charset="77"/>
              <a:cs typeface="Arial Black" panose="020B0604020202020204" pitchFamily="34" charset="0"/>
            </a:endParaRPr>
          </a:p>
        </p:txBody>
      </p:sp>
      <p:pic>
        <p:nvPicPr>
          <p:cNvPr id="11" name="Imagen 10">
            <a:extLst>
              <a:ext uri="{FF2B5EF4-FFF2-40B4-BE49-F238E27FC236}">
                <a16:creationId xmlns:a16="http://schemas.microsoft.com/office/drawing/2014/main" id="{3E89B564-FDA7-62C4-5DB4-67224ACED18C}"/>
              </a:ext>
            </a:extLst>
          </p:cNvPr>
          <p:cNvPicPr>
            <a:picLocks noChangeAspect="1"/>
          </p:cNvPicPr>
          <p:nvPr/>
        </p:nvPicPr>
        <p:blipFill>
          <a:blip r:embed="rId2"/>
          <a:stretch>
            <a:fillRect/>
          </a:stretch>
        </p:blipFill>
        <p:spPr>
          <a:xfrm>
            <a:off x="1" y="2738583"/>
            <a:ext cx="876304" cy="703917"/>
          </a:xfrm>
          <a:prstGeom prst="rect">
            <a:avLst/>
          </a:prstGeom>
        </p:spPr>
      </p:pic>
      <p:pic>
        <p:nvPicPr>
          <p:cNvPr id="10" name="Imagen 9">
            <a:extLst>
              <a:ext uri="{FF2B5EF4-FFF2-40B4-BE49-F238E27FC236}">
                <a16:creationId xmlns:a16="http://schemas.microsoft.com/office/drawing/2014/main" id="{A7753F10-B744-02DD-500A-97FF23C168DB}"/>
              </a:ext>
            </a:extLst>
          </p:cNvPr>
          <p:cNvPicPr>
            <a:picLocks noChangeAspect="1"/>
          </p:cNvPicPr>
          <p:nvPr/>
        </p:nvPicPr>
        <p:blipFill>
          <a:blip r:embed="rId3"/>
          <a:srcRect r="5224"/>
          <a:stretch/>
        </p:blipFill>
        <p:spPr>
          <a:xfrm>
            <a:off x="5236094" y="1206936"/>
            <a:ext cx="3907906" cy="3392496"/>
          </a:xfrm>
          <a:prstGeom prst="rect">
            <a:avLst/>
          </a:prstGeom>
        </p:spPr>
      </p:pic>
    </p:spTree>
    <p:extLst>
      <p:ext uri="{BB962C8B-B14F-4D97-AF65-F5344CB8AC3E}">
        <p14:creationId xmlns:p14="http://schemas.microsoft.com/office/powerpoint/2010/main" val="25115766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2A5C86F4-B2DD-F770-E862-79C73FF59111}"/>
            </a:ext>
          </a:extLst>
        </p:cNvPr>
        <p:cNvGrpSpPr/>
        <p:nvPr/>
      </p:nvGrpSpPr>
      <p:grpSpPr>
        <a:xfrm>
          <a:off x="0" y="0"/>
          <a:ext cx="0" cy="0"/>
          <a:chOff x="0" y="0"/>
          <a:chExt cx="0" cy="0"/>
        </a:xfrm>
      </p:grpSpPr>
      <p:sp>
        <p:nvSpPr>
          <p:cNvPr id="116" name="Google Shape;116;p5">
            <a:extLst>
              <a:ext uri="{FF2B5EF4-FFF2-40B4-BE49-F238E27FC236}">
                <a16:creationId xmlns:a16="http://schemas.microsoft.com/office/drawing/2014/main" id="{67C33654-FBBB-0CDC-74F9-1331D1F972C3}"/>
              </a:ext>
            </a:extLst>
          </p:cNvPr>
          <p:cNvSpPr/>
          <p:nvPr/>
        </p:nvSpPr>
        <p:spPr>
          <a:xfrm>
            <a:off x="6918960" y="5364480"/>
            <a:ext cx="2133600" cy="2244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5">
            <a:extLst>
              <a:ext uri="{FF2B5EF4-FFF2-40B4-BE49-F238E27FC236}">
                <a16:creationId xmlns:a16="http://schemas.microsoft.com/office/drawing/2014/main" id="{745611F8-526E-363C-D426-B176A71DB6C8}"/>
              </a:ext>
            </a:extLst>
          </p:cNvPr>
          <p:cNvSpPr txBox="1"/>
          <p:nvPr/>
        </p:nvSpPr>
        <p:spPr>
          <a:xfrm>
            <a:off x="1095924" y="918371"/>
            <a:ext cx="4496999" cy="2585323"/>
          </a:xfrm>
          <a:prstGeom prst="rect">
            <a:avLst/>
          </a:prstGeom>
          <a:noFill/>
          <a:ln>
            <a:noFill/>
          </a:ln>
        </p:spPr>
        <p:txBody>
          <a:bodyPr spcFirstLastPara="1" wrap="square" lIns="0" tIns="0" rIns="0" bIns="0" anchor="t" anchorCtr="0">
            <a:spAutoFit/>
          </a:bodyPr>
          <a:lstStyle/>
          <a:p>
            <a:r>
              <a:rPr lang="es-PE" sz="1400" dirty="0">
                <a:solidFill>
                  <a:schemeClr val="tx1"/>
                </a:solidFill>
                <a:latin typeface="Calibri"/>
                <a:ea typeface="Calibri"/>
                <a:cs typeface="Calibri"/>
                <a:sym typeface="Calibri"/>
              </a:rPr>
              <a:t>La planificación de la dirección estratégica de datos es fundamental para el éxito de cualquier iniciativa relacionada con la gestión y aprovechamiento de los datos en una organización.</a:t>
            </a:r>
          </a:p>
          <a:p>
            <a:endParaRPr lang="es-PE" sz="1400" dirty="0">
              <a:solidFill>
                <a:schemeClr val="tx1"/>
              </a:solidFill>
              <a:latin typeface="Calibri"/>
              <a:ea typeface="Calibri"/>
              <a:cs typeface="Calibri"/>
              <a:sym typeface="Calibri"/>
            </a:endParaRPr>
          </a:p>
          <a:p>
            <a:r>
              <a:rPr lang="es-PE" sz="1400" dirty="0">
                <a:solidFill>
                  <a:schemeClr val="tx1"/>
                </a:solidFill>
                <a:latin typeface="Calibri"/>
                <a:ea typeface="Calibri"/>
                <a:cs typeface="Calibri"/>
                <a:sym typeface="Calibri"/>
              </a:rPr>
              <a:t>La evaluación de viabilidad de la implementación de la dirección estratégica de datos es crucial para determinar si el proyecto es factible y beneficioso para la organización.</a:t>
            </a:r>
          </a:p>
          <a:p>
            <a:endParaRPr lang="es-PE" sz="1400" dirty="0">
              <a:solidFill>
                <a:schemeClr val="tx1"/>
              </a:solidFill>
              <a:latin typeface="Calibri"/>
              <a:ea typeface="Calibri"/>
              <a:cs typeface="Calibri"/>
              <a:sym typeface="Calibri"/>
            </a:endParaRPr>
          </a:p>
          <a:p>
            <a:r>
              <a:rPr lang="es-PE" sz="1400" dirty="0">
                <a:solidFill>
                  <a:schemeClr val="tx1"/>
                </a:solidFill>
                <a:latin typeface="Calibri"/>
                <a:ea typeface="Calibri"/>
                <a:cs typeface="Calibri"/>
                <a:sym typeface="Calibri"/>
              </a:rPr>
              <a:t>La evaluación de los riesgos asociados con la implementación de la dirección estratégica de datos es esencial para anticipar y mitigar posibles problemas.</a:t>
            </a:r>
          </a:p>
        </p:txBody>
      </p:sp>
      <p:sp>
        <p:nvSpPr>
          <p:cNvPr id="123" name="Google Shape;123;p5">
            <a:extLst>
              <a:ext uri="{FF2B5EF4-FFF2-40B4-BE49-F238E27FC236}">
                <a16:creationId xmlns:a16="http://schemas.microsoft.com/office/drawing/2014/main" id="{4CEA609A-098F-913A-F887-2474183B2E4F}"/>
              </a:ext>
            </a:extLst>
          </p:cNvPr>
          <p:cNvSpPr/>
          <p:nvPr/>
        </p:nvSpPr>
        <p:spPr>
          <a:xfrm>
            <a:off x="301556" y="5061859"/>
            <a:ext cx="8453337" cy="551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5">
            <a:extLst>
              <a:ext uri="{FF2B5EF4-FFF2-40B4-BE49-F238E27FC236}">
                <a16:creationId xmlns:a16="http://schemas.microsoft.com/office/drawing/2014/main" id="{C6F08C57-F1FF-358B-DFB2-628E983205D5}"/>
              </a:ext>
            </a:extLst>
          </p:cNvPr>
          <p:cNvSpPr/>
          <p:nvPr/>
        </p:nvSpPr>
        <p:spPr>
          <a:xfrm>
            <a:off x="503237" y="376836"/>
            <a:ext cx="3641377"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dirty="0">
                <a:solidFill>
                  <a:srgbClr val="A5A5A5"/>
                </a:solidFill>
                <a:latin typeface="Calibri"/>
                <a:ea typeface="Calibri"/>
                <a:cs typeface="Calibri"/>
                <a:sym typeface="Calibri"/>
              </a:rPr>
              <a:t>CONCLUSIONES DE LA SESIÓN</a:t>
            </a:r>
            <a:endParaRPr dirty="0">
              <a:latin typeface="Calibri" panose="020F0502020204030204" pitchFamily="34" charset="0"/>
              <a:cs typeface="Calibri" panose="020F0502020204030204" pitchFamily="34" charset="0"/>
            </a:endParaRPr>
          </a:p>
        </p:txBody>
      </p:sp>
      <p:cxnSp>
        <p:nvCxnSpPr>
          <p:cNvPr id="6" name="Conector recto de flecha 5">
            <a:extLst>
              <a:ext uri="{FF2B5EF4-FFF2-40B4-BE49-F238E27FC236}">
                <a16:creationId xmlns:a16="http://schemas.microsoft.com/office/drawing/2014/main" id="{6A25D77C-D94C-1875-F0A2-F55F147A0966}"/>
              </a:ext>
            </a:extLst>
          </p:cNvPr>
          <p:cNvCxnSpPr>
            <a:cxnSpLocks/>
          </p:cNvCxnSpPr>
          <p:nvPr/>
        </p:nvCxnSpPr>
        <p:spPr>
          <a:xfrm>
            <a:off x="694394" y="1045235"/>
            <a:ext cx="233756" cy="0"/>
          </a:xfrm>
          <a:prstGeom prst="straightConnector1">
            <a:avLst/>
          </a:prstGeom>
          <a:ln>
            <a:solidFill>
              <a:schemeClr val="bg1">
                <a:lumMod val="50000"/>
              </a:schemeClr>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7D9E619E-321E-10CA-48C4-E671CA9D4FB2}"/>
              </a:ext>
            </a:extLst>
          </p:cNvPr>
          <p:cNvCxnSpPr>
            <a:cxnSpLocks/>
          </p:cNvCxnSpPr>
          <p:nvPr/>
        </p:nvCxnSpPr>
        <p:spPr>
          <a:xfrm>
            <a:off x="694394" y="2093683"/>
            <a:ext cx="233756" cy="0"/>
          </a:xfrm>
          <a:prstGeom prst="straightConnector1">
            <a:avLst/>
          </a:prstGeom>
          <a:ln>
            <a:solidFill>
              <a:schemeClr val="bg1">
                <a:lumMod val="50000"/>
              </a:schemeClr>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118832A1-466E-FBB8-44EE-FD4EC4BB1BEA}"/>
              </a:ext>
            </a:extLst>
          </p:cNvPr>
          <p:cNvCxnSpPr>
            <a:cxnSpLocks/>
          </p:cNvCxnSpPr>
          <p:nvPr/>
        </p:nvCxnSpPr>
        <p:spPr>
          <a:xfrm>
            <a:off x="694394" y="2943803"/>
            <a:ext cx="233756" cy="0"/>
          </a:xfrm>
          <a:prstGeom prst="straightConnector1">
            <a:avLst/>
          </a:prstGeom>
          <a:ln>
            <a:solidFill>
              <a:schemeClr val="bg1">
                <a:lumMod val="50000"/>
              </a:schemeClr>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5273E5E3-1D93-D0A1-3B05-C458B427AB08}"/>
              </a:ext>
            </a:extLst>
          </p:cNvPr>
          <p:cNvCxnSpPr>
            <a:cxnSpLocks/>
          </p:cNvCxnSpPr>
          <p:nvPr/>
        </p:nvCxnSpPr>
        <p:spPr>
          <a:xfrm>
            <a:off x="694394" y="912813"/>
            <a:ext cx="0" cy="20309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807690C2-308D-3BE0-BE89-A8DAEA26E5F6}"/>
              </a:ext>
            </a:extLst>
          </p:cNvPr>
          <p:cNvSpPr/>
          <p:nvPr/>
        </p:nvSpPr>
        <p:spPr>
          <a:xfrm>
            <a:off x="7684477" y="167054"/>
            <a:ext cx="1257300" cy="3482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5" name="Imagen 4">
            <a:extLst>
              <a:ext uri="{FF2B5EF4-FFF2-40B4-BE49-F238E27FC236}">
                <a16:creationId xmlns:a16="http://schemas.microsoft.com/office/drawing/2014/main" id="{497EA553-357C-1978-3AB2-8BCE550124A9}"/>
              </a:ext>
            </a:extLst>
          </p:cNvPr>
          <p:cNvPicPr>
            <a:picLocks noChangeAspect="1"/>
          </p:cNvPicPr>
          <p:nvPr/>
        </p:nvPicPr>
        <p:blipFill>
          <a:blip r:embed="rId3">
            <a:alphaModFix amt="44000"/>
          </a:blip>
          <a:srcRect r="6227"/>
          <a:stretch/>
        </p:blipFill>
        <p:spPr>
          <a:xfrm>
            <a:off x="5942374" y="1371883"/>
            <a:ext cx="3201626" cy="2809107"/>
          </a:xfrm>
          <a:prstGeom prst="rect">
            <a:avLst/>
          </a:prstGeom>
        </p:spPr>
      </p:pic>
    </p:spTree>
    <p:extLst>
      <p:ext uri="{BB962C8B-B14F-4D97-AF65-F5344CB8AC3E}">
        <p14:creationId xmlns:p14="http://schemas.microsoft.com/office/powerpoint/2010/main" val="4225384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590F9-1137-543C-2B81-3CC406D8EDC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AD6D573-7EAE-0B66-ADC9-3B81BA71E4D2}"/>
              </a:ext>
            </a:extLst>
          </p:cNvPr>
          <p:cNvSpPr/>
          <p:nvPr/>
        </p:nvSpPr>
        <p:spPr>
          <a:xfrm>
            <a:off x="130171" y="5233988"/>
            <a:ext cx="8699504" cy="395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6" name="Rectángulo 5">
            <a:extLst>
              <a:ext uri="{FF2B5EF4-FFF2-40B4-BE49-F238E27FC236}">
                <a16:creationId xmlns:a16="http://schemas.microsoft.com/office/drawing/2014/main" id="{6CE3602C-8440-1C9C-936D-4365E7688ED4}"/>
              </a:ext>
            </a:extLst>
          </p:cNvPr>
          <p:cNvSpPr/>
          <p:nvPr/>
        </p:nvSpPr>
        <p:spPr>
          <a:xfrm>
            <a:off x="1" y="0"/>
            <a:ext cx="9144000" cy="5715000"/>
          </a:xfrm>
          <a:prstGeom prst="rect">
            <a:avLst/>
          </a:prstGeom>
          <a:solidFill>
            <a:srgbClr val="2030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3" name="Google Shape;108;p4">
            <a:extLst>
              <a:ext uri="{FF2B5EF4-FFF2-40B4-BE49-F238E27FC236}">
                <a16:creationId xmlns:a16="http://schemas.microsoft.com/office/drawing/2014/main" id="{D9C1FD5E-6FA4-359E-0AA3-987726F467BC}"/>
              </a:ext>
            </a:extLst>
          </p:cNvPr>
          <p:cNvSpPr txBox="1"/>
          <p:nvPr/>
        </p:nvSpPr>
        <p:spPr>
          <a:xfrm>
            <a:off x="1007268" y="2786209"/>
            <a:ext cx="3321845" cy="68942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s-PE" sz="2800" dirty="0">
                <a:solidFill>
                  <a:srgbClr val="FDDAA8"/>
                </a:solidFill>
                <a:latin typeface="Graphik Regular" panose="020B0503030202060203" pitchFamily="34" charset="77"/>
                <a:cs typeface="Calibri" panose="020F0502020204030204" pitchFamily="34" charset="0"/>
                <a:sym typeface="Arial"/>
              </a:rPr>
              <a:t>BIBLIOGRAFIA</a:t>
            </a:r>
            <a:r>
              <a:rPr lang="es-PE" sz="2800" dirty="0">
                <a:solidFill>
                  <a:srgbClr val="FDDAA8"/>
                </a:solidFill>
                <a:latin typeface="Calibri" panose="020F0502020204030204" pitchFamily="34" charset="0"/>
                <a:cs typeface="Calibri" panose="020F0502020204030204" pitchFamily="34" charset="0"/>
                <a:sym typeface="Arial"/>
              </a:rPr>
              <a:t> </a:t>
            </a:r>
            <a:endParaRPr sz="1100" dirty="0">
              <a:solidFill>
                <a:srgbClr val="FDDAA8"/>
              </a:solidFill>
              <a:latin typeface="Calibri" panose="020F0502020204030204" pitchFamily="34" charset="0"/>
              <a:cs typeface="Calibri" panose="020F0502020204030204" pitchFamily="34" charset="0"/>
            </a:endParaRPr>
          </a:p>
          <a:p>
            <a:pPr marL="0" marR="0" lvl="0" indent="0" algn="l" rtl="0">
              <a:lnSpc>
                <a:spcPct val="80000"/>
              </a:lnSpc>
              <a:spcBef>
                <a:spcPts val="0"/>
              </a:spcBef>
              <a:spcAft>
                <a:spcPts val="0"/>
              </a:spcAft>
              <a:buNone/>
            </a:pPr>
            <a:r>
              <a:rPr lang="es-PE" sz="2800" dirty="0">
                <a:solidFill>
                  <a:srgbClr val="FDDAA8"/>
                </a:solidFill>
                <a:latin typeface="Graphik Bold" panose="020B0503030202060203" pitchFamily="34" charset="77"/>
                <a:cs typeface="Arial Black" panose="020B0604020202020204" pitchFamily="34" charset="0"/>
                <a:sym typeface="Arial"/>
              </a:rPr>
              <a:t>DE LA SESIÓN</a:t>
            </a:r>
            <a:endParaRPr sz="1100" dirty="0">
              <a:solidFill>
                <a:srgbClr val="FDDAA8"/>
              </a:solidFill>
              <a:latin typeface="Graphik Bold" panose="020B0503030202060203" pitchFamily="34" charset="77"/>
              <a:cs typeface="Arial Black" panose="020B0604020202020204" pitchFamily="34" charset="0"/>
            </a:endParaRPr>
          </a:p>
        </p:txBody>
      </p:sp>
      <p:pic>
        <p:nvPicPr>
          <p:cNvPr id="11" name="Imagen 10">
            <a:extLst>
              <a:ext uri="{FF2B5EF4-FFF2-40B4-BE49-F238E27FC236}">
                <a16:creationId xmlns:a16="http://schemas.microsoft.com/office/drawing/2014/main" id="{40FF7740-6F8F-AF03-079A-F992E7836E42}"/>
              </a:ext>
            </a:extLst>
          </p:cNvPr>
          <p:cNvPicPr>
            <a:picLocks noChangeAspect="1"/>
          </p:cNvPicPr>
          <p:nvPr/>
        </p:nvPicPr>
        <p:blipFill>
          <a:blip r:embed="rId2"/>
          <a:stretch>
            <a:fillRect/>
          </a:stretch>
        </p:blipFill>
        <p:spPr>
          <a:xfrm>
            <a:off x="1" y="2738583"/>
            <a:ext cx="876304" cy="703917"/>
          </a:xfrm>
          <a:prstGeom prst="rect">
            <a:avLst/>
          </a:prstGeom>
        </p:spPr>
      </p:pic>
      <p:pic>
        <p:nvPicPr>
          <p:cNvPr id="5" name="Imagen 4">
            <a:extLst>
              <a:ext uri="{FF2B5EF4-FFF2-40B4-BE49-F238E27FC236}">
                <a16:creationId xmlns:a16="http://schemas.microsoft.com/office/drawing/2014/main" id="{927691AB-8375-6E2E-A6BF-2DC3EB2FC9B3}"/>
              </a:ext>
            </a:extLst>
          </p:cNvPr>
          <p:cNvPicPr>
            <a:picLocks noChangeAspect="1"/>
          </p:cNvPicPr>
          <p:nvPr/>
        </p:nvPicPr>
        <p:blipFill>
          <a:blip r:embed="rId3"/>
          <a:srcRect r="7943"/>
          <a:stretch/>
        </p:blipFill>
        <p:spPr>
          <a:xfrm>
            <a:off x="5201614" y="1261636"/>
            <a:ext cx="3942386" cy="3207265"/>
          </a:xfrm>
          <a:prstGeom prst="rect">
            <a:avLst/>
          </a:prstGeom>
        </p:spPr>
      </p:pic>
    </p:spTree>
    <p:extLst>
      <p:ext uri="{BB962C8B-B14F-4D97-AF65-F5344CB8AC3E}">
        <p14:creationId xmlns:p14="http://schemas.microsoft.com/office/powerpoint/2010/main" val="2650752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243D81F0-5DFF-B973-613F-A460C5FAB11A}"/>
            </a:ext>
          </a:extLst>
        </p:cNvPr>
        <p:cNvGrpSpPr/>
        <p:nvPr/>
      </p:nvGrpSpPr>
      <p:grpSpPr>
        <a:xfrm>
          <a:off x="0" y="0"/>
          <a:ext cx="0" cy="0"/>
          <a:chOff x="0" y="0"/>
          <a:chExt cx="0" cy="0"/>
        </a:xfrm>
      </p:grpSpPr>
      <p:sp>
        <p:nvSpPr>
          <p:cNvPr id="116" name="Google Shape;116;p5">
            <a:extLst>
              <a:ext uri="{FF2B5EF4-FFF2-40B4-BE49-F238E27FC236}">
                <a16:creationId xmlns:a16="http://schemas.microsoft.com/office/drawing/2014/main" id="{A5377161-B1BE-4301-8ABB-9C6C7A3C59F3}"/>
              </a:ext>
            </a:extLst>
          </p:cNvPr>
          <p:cNvSpPr/>
          <p:nvPr/>
        </p:nvSpPr>
        <p:spPr>
          <a:xfrm>
            <a:off x="6918960" y="5364480"/>
            <a:ext cx="2133600" cy="2244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5">
            <a:extLst>
              <a:ext uri="{FF2B5EF4-FFF2-40B4-BE49-F238E27FC236}">
                <a16:creationId xmlns:a16="http://schemas.microsoft.com/office/drawing/2014/main" id="{BB2E0576-0CFA-C693-910E-077E24F902A2}"/>
              </a:ext>
            </a:extLst>
          </p:cNvPr>
          <p:cNvSpPr txBox="1"/>
          <p:nvPr/>
        </p:nvSpPr>
        <p:spPr>
          <a:xfrm>
            <a:off x="1095925" y="918371"/>
            <a:ext cx="4376188" cy="3447098"/>
          </a:xfrm>
          <a:prstGeom prst="rect">
            <a:avLst/>
          </a:prstGeom>
          <a:noFill/>
          <a:ln>
            <a:noFill/>
          </a:ln>
        </p:spPr>
        <p:txBody>
          <a:bodyPr spcFirstLastPara="1" wrap="square" lIns="0" tIns="0" rIns="0" bIns="0" anchor="t" anchorCtr="0">
            <a:spAutoFit/>
          </a:bodyPr>
          <a:lstStyle/>
          <a:p>
            <a:pPr lvl="0">
              <a:buClr>
                <a:schemeClr val="dk1"/>
              </a:buClr>
              <a:buSzPts val="1600"/>
            </a:pPr>
            <a:r>
              <a:rPr lang="es-PE" dirty="0">
                <a:solidFill>
                  <a:schemeClr val="tx1"/>
                </a:solidFill>
                <a:latin typeface="Calibri" panose="020F0502020204030204" pitchFamily="34" charset="0"/>
                <a:ea typeface="Calibri"/>
                <a:cs typeface="Calibri" panose="020F0502020204030204" pitchFamily="34" charset="0"/>
                <a:sym typeface="Calibri"/>
              </a:rPr>
              <a:t>DataForge. (s.f.). Empresa Financiera Número 1 Global - Gobierno de Datos. Recuperado de https://dataforge.cl/empresa-financiera-numero-1-global-gobierno-datos/</a:t>
            </a:r>
            <a:endParaRPr lang="es-PE" dirty="0">
              <a:solidFill>
                <a:schemeClr val="tx1"/>
              </a:solidFill>
              <a:latin typeface="Calibri" panose="020F0502020204030204" pitchFamily="34" charset="0"/>
              <a:cs typeface="Calibri" panose="020F0502020204030204" pitchFamily="34" charset="0"/>
            </a:endParaRPr>
          </a:p>
          <a:p>
            <a:pPr lvl="0">
              <a:buClr>
                <a:schemeClr val="dk1"/>
              </a:buClr>
              <a:buSzPts val="1600"/>
            </a:pPr>
            <a:endParaRPr lang="es-PE" dirty="0">
              <a:solidFill>
                <a:schemeClr val="tx1"/>
              </a:solidFill>
              <a:latin typeface="Calibri" panose="020F0502020204030204" pitchFamily="34" charset="0"/>
              <a:ea typeface="Calibri"/>
              <a:cs typeface="Calibri" panose="020F0502020204030204" pitchFamily="34" charset="0"/>
              <a:sym typeface="Calibri"/>
            </a:endParaRPr>
          </a:p>
          <a:p>
            <a:pPr lvl="0">
              <a:buClr>
                <a:schemeClr val="dk1"/>
              </a:buClr>
              <a:buSzPts val="1600"/>
            </a:pPr>
            <a:r>
              <a:rPr lang="es-PE" dirty="0">
                <a:solidFill>
                  <a:schemeClr val="tx1"/>
                </a:solidFill>
                <a:latin typeface="Calibri" panose="020F0502020204030204" pitchFamily="34" charset="0"/>
                <a:ea typeface="Calibri"/>
                <a:cs typeface="Calibri" panose="020F0502020204030204" pitchFamily="34" charset="0"/>
                <a:sym typeface="Calibri"/>
              </a:rPr>
              <a:t>Data Universe. (s.f.). Ejemplos de Gobierno de Datos en la Administración Pública: Mejores Prácticas y Casos de Éxito. Recuperado de https://data-universe.org/ejemplos-de-gobierno-de-datos-en-la-administracion-publica-mejores-practicas-y-casos-de-exito/</a:t>
            </a:r>
            <a:endParaRPr lang="es-PE" dirty="0">
              <a:solidFill>
                <a:schemeClr val="tx1"/>
              </a:solidFill>
              <a:latin typeface="Calibri" panose="020F0502020204030204" pitchFamily="34" charset="0"/>
              <a:cs typeface="Calibri" panose="020F0502020204030204" pitchFamily="34" charset="0"/>
            </a:endParaRPr>
          </a:p>
          <a:p>
            <a:pPr lvl="0">
              <a:buClr>
                <a:schemeClr val="dk1"/>
              </a:buClr>
              <a:buSzPts val="1600"/>
            </a:pPr>
            <a:endParaRPr lang="es-PE" dirty="0">
              <a:solidFill>
                <a:schemeClr val="tx1"/>
              </a:solidFill>
              <a:latin typeface="Calibri" panose="020F0502020204030204" pitchFamily="34" charset="0"/>
              <a:ea typeface="Calibri"/>
              <a:cs typeface="Calibri" panose="020F0502020204030204" pitchFamily="34" charset="0"/>
              <a:sym typeface="Calibri"/>
            </a:endParaRPr>
          </a:p>
          <a:p>
            <a:pPr lvl="0">
              <a:buClr>
                <a:schemeClr val="dk1"/>
              </a:buClr>
              <a:buSzPts val="1600"/>
            </a:pPr>
            <a:r>
              <a:rPr lang="es-PE" dirty="0">
                <a:solidFill>
                  <a:schemeClr val="tx1"/>
                </a:solidFill>
                <a:latin typeface="Calibri" panose="020F0502020204030204" pitchFamily="34" charset="0"/>
                <a:ea typeface="Calibri"/>
                <a:cs typeface="Calibri" panose="020F0502020204030204" pitchFamily="34" charset="0"/>
                <a:sym typeface="Calibri"/>
              </a:rPr>
              <a:t>García, D. (2023). Caso de Éxito: Plataforma Integral de Gobernanza de Datos para el Gobierno de Aragón. Recuperado de https://www.hiberus.com/crecemos-contigo/caso-de-exito-plataforma-integral-de-gobernanza-de-datos-para-el-gobierno-de-aragon/</a:t>
            </a:r>
          </a:p>
        </p:txBody>
      </p:sp>
      <p:sp>
        <p:nvSpPr>
          <p:cNvPr id="123" name="Google Shape;123;p5">
            <a:extLst>
              <a:ext uri="{FF2B5EF4-FFF2-40B4-BE49-F238E27FC236}">
                <a16:creationId xmlns:a16="http://schemas.microsoft.com/office/drawing/2014/main" id="{B3BBDC20-3A55-71B9-980D-C0E2C5D7A9B9}"/>
              </a:ext>
            </a:extLst>
          </p:cNvPr>
          <p:cNvSpPr/>
          <p:nvPr/>
        </p:nvSpPr>
        <p:spPr>
          <a:xfrm>
            <a:off x="301556" y="5061859"/>
            <a:ext cx="8453337" cy="551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5">
            <a:extLst>
              <a:ext uri="{FF2B5EF4-FFF2-40B4-BE49-F238E27FC236}">
                <a16:creationId xmlns:a16="http://schemas.microsoft.com/office/drawing/2014/main" id="{FF11DDB7-9F4F-5551-CABA-28A26DFDD8A7}"/>
              </a:ext>
            </a:extLst>
          </p:cNvPr>
          <p:cNvSpPr/>
          <p:nvPr/>
        </p:nvSpPr>
        <p:spPr>
          <a:xfrm>
            <a:off x="503237" y="376836"/>
            <a:ext cx="3641377"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dirty="0">
                <a:solidFill>
                  <a:srgbClr val="A5A5A5"/>
                </a:solidFill>
                <a:latin typeface="Calibri"/>
                <a:ea typeface="Calibri"/>
                <a:cs typeface="Calibri"/>
                <a:sym typeface="Calibri"/>
              </a:rPr>
              <a:t>BIBLIOGRAFÍA DE LA SESIÓN</a:t>
            </a:r>
            <a:endParaRPr dirty="0">
              <a:latin typeface="Calibri" panose="020F0502020204030204" pitchFamily="34" charset="0"/>
              <a:cs typeface="Calibri" panose="020F0502020204030204" pitchFamily="34" charset="0"/>
            </a:endParaRPr>
          </a:p>
        </p:txBody>
      </p:sp>
      <p:cxnSp>
        <p:nvCxnSpPr>
          <p:cNvPr id="6" name="Conector recto de flecha 5">
            <a:extLst>
              <a:ext uri="{FF2B5EF4-FFF2-40B4-BE49-F238E27FC236}">
                <a16:creationId xmlns:a16="http://schemas.microsoft.com/office/drawing/2014/main" id="{BF5BBCAE-36EF-C74D-C654-B78200712FAE}"/>
              </a:ext>
            </a:extLst>
          </p:cNvPr>
          <p:cNvCxnSpPr>
            <a:cxnSpLocks/>
          </p:cNvCxnSpPr>
          <p:nvPr/>
        </p:nvCxnSpPr>
        <p:spPr>
          <a:xfrm>
            <a:off x="694394" y="1045235"/>
            <a:ext cx="233756" cy="0"/>
          </a:xfrm>
          <a:prstGeom prst="straightConnector1">
            <a:avLst/>
          </a:prstGeom>
          <a:ln>
            <a:solidFill>
              <a:schemeClr val="bg1">
                <a:lumMod val="50000"/>
              </a:schemeClr>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2B71D01C-C505-70D2-C26F-4220F65F15E8}"/>
              </a:ext>
            </a:extLst>
          </p:cNvPr>
          <p:cNvCxnSpPr>
            <a:cxnSpLocks/>
          </p:cNvCxnSpPr>
          <p:nvPr/>
        </p:nvCxnSpPr>
        <p:spPr>
          <a:xfrm>
            <a:off x="694394" y="2093683"/>
            <a:ext cx="233756" cy="0"/>
          </a:xfrm>
          <a:prstGeom prst="straightConnector1">
            <a:avLst/>
          </a:prstGeom>
          <a:ln>
            <a:solidFill>
              <a:schemeClr val="bg1">
                <a:lumMod val="50000"/>
              </a:schemeClr>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C4662D60-763E-45BA-DF26-07F5C99F09AC}"/>
              </a:ext>
            </a:extLst>
          </p:cNvPr>
          <p:cNvCxnSpPr>
            <a:cxnSpLocks/>
          </p:cNvCxnSpPr>
          <p:nvPr/>
        </p:nvCxnSpPr>
        <p:spPr>
          <a:xfrm>
            <a:off x="694394" y="3352706"/>
            <a:ext cx="233756" cy="0"/>
          </a:xfrm>
          <a:prstGeom prst="straightConnector1">
            <a:avLst/>
          </a:prstGeom>
          <a:ln>
            <a:solidFill>
              <a:schemeClr val="bg1">
                <a:lumMod val="50000"/>
              </a:schemeClr>
            </a:solidFill>
            <a:round/>
            <a:headEnd type="none"/>
            <a:tailEnd type="ova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5F8F09D2-DF31-8599-BA9B-F9F8F22A97C6}"/>
              </a:ext>
            </a:extLst>
          </p:cNvPr>
          <p:cNvCxnSpPr>
            <a:cxnSpLocks/>
          </p:cNvCxnSpPr>
          <p:nvPr/>
        </p:nvCxnSpPr>
        <p:spPr>
          <a:xfrm>
            <a:off x="694394" y="912813"/>
            <a:ext cx="0" cy="24398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9CC027E7-A295-1F47-F107-1BE68EA1174D}"/>
              </a:ext>
            </a:extLst>
          </p:cNvPr>
          <p:cNvSpPr/>
          <p:nvPr/>
        </p:nvSpPr>
        <p:spPr>
          <a:xfrm>
            <a:off x="7684477" y="167054"/>
            <a:ext cx="1257300" cy="3482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5" name="Imagen 4">
            <a:extLst>
              <a:ext uri="{FF2B5EF4-FFF2-40B4-BE49-F238E27FC236}">
                <a16:creationId xmlns:a16="http://schemas.microsoft.com/office/drawing/2014/main" id="{A84F0BD6-62BF-C1E5-779A-4A63E7B61536}"/>
              </a:ext>
            </a:extLst>
          </p:cNvPr>
          <p:cNvPicPr>
            <a:picLocks noChangeAspect="1"/>
          </p:cNvPicPr>
          <p:nvPr/>
        </p:nvPicPr>
        <p:blipFill>
          <a:blip r:embed="rId3">
            <a:alphaModFix amt="44000"/>
          </a:blip>
          <a:srcRect r="6227"/>
          <a:stretch/>
        </p:blipFill>
        <p:spPr>
          <a:xfrm>
            <a:off x="5942374" y="1371883"/>
            <a:ext cx="3201626" cy="2809107"/>
          </a:xfrm>
          <a:prstGeom prst="rect">
            <a:avLst/>
          </a:prstGeom>
        </p:spPr>
      </p:pic>
    </p:spTree>
    <p:extLst>
      <p:ext uri="{BB962C8B-B14F-4D97-AF65-F5344CB8AC3E}">
        <p14:creationId xmlns:p14="http://schemas.microsoft.com/office/powerpoint/2010/main" val="4168455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66;p9">
            <a:extLst>
              <a:ext uri="{FF2B5EF4-FFF2-40B4-BE49-F238E27FC236}">
                <a16:creationId xmlns:a16="http://schemas.microsoft.com/office/drawing/2014/main" id="{ADBA8644-1386-5FA4-0AD2-2EBA59EED003}"/>
              </a:ext>
            </a:extLst>
          </p:cNvPr>
          <p:cNvSpPr/>
          <p:nvPr/>
        </p:nvSpPr>
        <p:spPr>
          <a:xfrm>
            <a:off x="0" y="0"/>
            <a:ext cx="9144000" cy="5715000"/>
          </a:xfrm>
          <a:prstGeom prst="rect">
            <a:avLst/>
          </a:prstGeom>
          <a:solidFill>
            <a:srgbClr val="1721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 name="Grupo 2">
            <a:extLst>
              <a:ext uri="{FF2B5EF4-FFF2-40B4-BE49-F238E27FC236}">
                <a16:creationId xmlns:a16="http://schemas.microsoft.com/office/drawing/2014/main" id="{AE5561F8-8363-C256-2631-19AE75BA5C71}"/>
              </a:ext>
            </a:extLst>
          </p:cNvPr>
          <p:cNvGrpSpPr/>
          <p:nvPr/>
        </p:nvGrpSpPr>
        <p:grpSpPr>
          <a:xfrm>
            <a:off x="2777490" y="2680344"/>
            <a:ext cx="3589019" cy="447843"/>
            <a:chOff x="2269672" y="2560683"/>
            <a:chExt cx="4757378" cy="593632"/>
          </a:xfrm>
        </p:grpSpPr>
        <p:pic>
          <p:nvPicPr>
            <p:cNvPr id="6" name="Imagen 5">
              <a:extLst>
                <a:ext uri="{FF2B5EF4-FFF2-40B4-BE49-F238E27FC236}">
                  <a16:creationId xmlns:a16="http://schemas.microsoft.com/office/drawing/2014/main" id="{FDC25311-1E0E-C7B3-156F-C8FAF61F2A7D}"/>
                </a:ext>
              </a:extLst>
            </p:cNvPr>
            <p:cNvPicPr>
              <a:picLocks noChangeAspect="1"/>
            </p:cNvPicPr>
            <p:nvPr/>
          </p:nvPicPr>
          <p:blipFill>
            <a:blip r:embed="rId3">
              <a:lum bright="70000" contrast="-70000"/>
            </a:blip>
            <a:srcRect l="9192" r="68193"/>
            <a:stretch/>
          </p:blipFill>
          <p:spPr>
            <a:xfrm>
              <a:off x="2269672" y="2572162"/>
              <a:ext cx="918434" cy="560415"/>
            </a:xfrm>
            <a:prstGeom prst="rect">
              <a:avLst/>
            </a:prstGeom>
          </p:spPr>
        </p:pic>
        <p:pic>
          <p:nvPicPr>
            <p:cNvPr id="5" name="Imagen 4">
              <a:extLst>
                <a:ext uri="{FF2B5EF4-FFF2-40B4-BE49-F238E27FC236}">
                  <a16:creationId xmlns:a16="http://schemas.microsoft.com/office/drawing/2014/main" id="{A1963F98-1F78-9B9C-DCE7-875C7C4660C8}"/>
                </a:ext>
              </a:extLst>
            </p:cNvPr>
            <p:cNvPicPr>
              <a:picLocks noChangeAspect="1"/>
            </p:cNvPicPr>
            <p:nvPr/>
          </p:nvPicPr>
          <p:blipFill>
            <a:blip r:embed="rId4"/>
            <a:stretch>
              <a:fillRect/>
            </a:stretch>
          </p:blipFill>
          <p:spPr>
            <a:xfrm>
              <a:off x="3341585" y="2560683"/>
              <a:ext cx="3685465" cy="593632"/>
            </a:xfrm>
            <a:prstGeom prst="rect">
              <a:avLst/>
            </a:prstGeom>
          </p:spPr>
        </p:pic>
      </p:grpSp>
    </p:spTree>
    <p:extLst>
      <p:ext uri="{BB962C8B-B14F-4D97-AF65-F5344CB8AC3E}">
        <p14:creationId xmlns:p14="http://schemas.microsoft.com/office/powerpoint/2010/main" val="132794105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2674</Words>
  <Application>Microsoft Office PowerPoint</Application>
  <PresentationFormat>Presentación en pantalla (16:10)</PresentationFormat>
  <Paragraphs>242</Paragraphs>
  <Slides>32</Slides>
  <Notes>28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32</vt:i4>
      </vt:variant>
    </vt:vector>
  </HeadingPairs>
  <TitlesOfParts>
    <vt:vector size="40" baseType="lpstr">
      <vt:lpstr>Arial</vt:lpstr>
      <vt:lpstr>Arial Black</vt:lpstr>
      <vt:lpstr>Calibri</vt:lpstr>
      <vt:lpstr>Graphik Bold</vt:lpstr>
      <vt:lpstr>Graphik Medium</vt:lpstr>
      <vt:lpstr>Graphik Regular</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Rosa Maria Muñoz Mendo</cp:lastModifiedBy>
  <cp:revision>17</cp:revision>
  <dcterms:created xsi:type="dcterms:W3CDTF">2016-10-06T14:52:02Z</dcterms:created>
  <dcterms:modified xsi:type="dcterms:W3CDTF">2025-08-11T16:51:36Z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