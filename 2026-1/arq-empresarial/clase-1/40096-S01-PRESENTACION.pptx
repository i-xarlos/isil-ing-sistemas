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3" roundtripDataSignature="AMtx7mg40Rct+2MtjUGp8PkK515s2RPa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6A151F-A58A-49FE-AA31-FF30BF646BD7}">
  <a:tblStyle styleId="{5F6A151F-A58A-49FE-AA31-FF30BF646BD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4E6"/>
          </a:solidFill>
        </a:fill>
      </a:tcStyle>
    </a:wholeTbl>
    <a:band1H>
      <a:tcTxStyle/>
      <a:tcStyle>
        <a:fill>
          <a:solidFill>
            <a:srgbClr val="FEE9CA"/>
          </a:solidFill>
        </a:fill>
      </a:tcStyle>
    </a:band1H>
    <a:band2H>
      <a:tcTxStyle/>
    </a:band2H>
    <a:band1V>
      <a:tcTxStyle/>
      <a:tcStyle>
        <a:fill>
          <a:solidFill>
            <a:srgbClr val="FEE9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143" name="Google Shape;143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165" name="Google Shape;16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Comentario:</a:t>
            </a:r>
            <a:r>
              <a:rPr lang="es-ES"/>
              <a:t> “si ya existe un patrón de integración/API y un estándar de datos, un nuevo canal digital se implementa con menos fricción”.</a:t>
            </a:r>
            <a:endParaRPr/>
          </a:p>
        </p:txBody>
      </p:sp>
      <p:sp>
        <p:nvSpPr>
          <p:cNvPr id="213" name="Google Shape;21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Comentario:</a:t>
            </a:r>
            <a:r>
              <a:rPr lang="es-ES"/>
              <a:t> “si ya existe un patrón de integración/API y un estándar de datos, un nuevo canal digital se implementa con menos fricción”.</a:t>
            </a:r>
            <a:endParaRPr/>
          </a:p>
        </p:txBody>
      </p:sp>
      <p:sp>
        <p:nvSpPr>
          <p:cNvPr id="255" name="Google Shape;255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Video">
  <p:cSld name="Subtema - Vide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/>
          <p:nvPr/>
        </p:nvSpPr>
        <p:spPr>
          <a:xfrm>
            <a:off x="7379148" y="5371562"/>
            <a:ext cx="13692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</a:t>
            </a:r>
            <a:endParaRPr/>
          </a:p>
        </p:txBody>
      </p:sp>
      <p:sp>
        <p:nvSpPr>
          <p:cNvPr id="11" name="Google Shape;11;p37"/>
          <p:cNvSpPr txBox="1"/>
          <p:nvPr/>
        </p:nvSpPr>
        <p:spPr>
          <a:xfrm>
            <a:off x="876300" y="5343300"/>
            <a:ext cx="2673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</a:t>
            </a:r>
            <a:r>
              <a:rPr b="0" i="0" lang="es-ES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•  TEMA 01</a:t>
            </a:r>
            <a:endParaRPr sz="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7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3">
          <p15:clr>
            <a:srgbClr val="F26B43"/>
          </p15:clr>
        </p15:guide>
        <p15:guide id="2" pos="2880">
          <p15:clr>
            <a:srgbClr val="F26B43"/>
          </p15:clr>
        </p15:guide>
        <p15:guide id="3" pos="2993">
          <p15:clr>
            <a:srgbClr val="F26B43"/>
          </p15:clr>
        </p15:guide>
        <p15:guide id="4" pos="2767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575">
          <p15:clr>
            <a:srgbClr val="F26B43"/>
          </p15:clr>
        </p15:guide>
        <p15:guide id="7" orient="horz" pos="3297">
          <p15:clr>
            <a:srgbClr val="F26B43"/>
          </p15:clr>
        </p15:guide>
        <p15:guide id="8" pos="31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11" Type="http://schemas.openxmlformats.org/officeDocument/2006/relationships/image" Target="../media/image53.png"/><Relationship Id="rId10" Type="http://schemas.openxmlformats.org/officeDocument/2006/relationships/image" Target="../media/image49.png"/><Relationship Id="rId12" Type="http://schemas.openxmlformats.org/officeDocument/2006/relationships/image" Target="../media/image45.png"/><Relationship Id="rId9" Type="http://schemas.openxmlformats.org/officeDocument/2006/relationships/image" Target="../media/image47.png"/><Relationship Id="rId5" Type="http://schemas.openxmlformats.org/officeDocument/2006/relationships/image" Target="../media/image42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jpg"/><Relationship Id="rId4" Type="http://schemas.openxmlformats.org/officeDocument/2006/relationships/image" Target="../media/image50.png"/><Relationship Id="rId5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743325" y="2200"/>
            <a:ext cx="5400675" cy="5715000"/>
          </a:xfrm>
          <a:prstGeom prst="rect">
            <a:avLst/>
          </a:prstGeom>
          <a:solidFill>
            <a:srgbClr val="ACD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</a:t>
            </a:r>
            <a:endParaRPr/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7912730" y="3083101"/>
            <a:ext cx="330754" cy="210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7509203" y="1095185"/>
            <a:ext cx="114521" cy="11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4487845" y="2266121"/>
            <a:ext cx="317533" cy="1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8111944" y="1223486"/>
            <a:ext cx="263080" cy="167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5576266" y="2378873"/>
            <a:ext cx="114521" cy="11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5887997" y="1698053"/>
            <a:ext cx="272736" cy="173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8505456" y="2569985"/>
            <a:ext cx="76092" cy="7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6200774" y="560161"/>
            <a:ext cx="635554" cy="635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"/>
          <p:cNvPicPr preferRelativeResize="0"/>
          <p:nvPr/>
        </p:nvPicPr>
        <p:blipFill rotWithShape="1">
          <a:blip r:embed="rId7">
            <a:alphaModFix amt="41000"/>
          </a:blip>
          <a:srcRect b="0" l="0" r="0" t="0"/>
          <a:stretch/>
        </p:blipFill>
        <p:spPr>
          <a:xfrm>
            <a:off x="7641486" y="1778879"/>
            <a:ext cx="660479" cy="73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"/>
          <p:cNvPicPr preferRelativeResize="0"/>
          <p:nvPr/>
        </p:nvPicPr>
        <p:blipFill rotWithShape="1">
          <a:blip r:embed="rId8">
            <a:alphaModFix amt="41000"/>
          </a:blip>
          <a:srcRect b="0" l="0" r="0" t="0"/>
          <a:stretch/>
        </p:blipFill>
        <p:spPr>
          <a:xfrm>
            <a:off x="5061550" y="1439333"/>
            <a:ext cx="400659" cy="560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"/>
          <p:cNvPicPr preferRelativeResize="0"/>
          <p:nvPr/>
        </p:nvPicPr>
        <p:blipFill rotWithShape="1">
          <a:blip r:embed="rId9">
            <a:alphaModFix amt="41000"/>
          </a:blip>
          <a:srcRect b="0" l="0" r="0" t="0"/>
          <a:stretch/>
        </p:blipFill>
        <p:spPr>
          <a:xfrm>
            <a:off x="4790427" y="2946166"/>
            <a:ext cx="541333" cy="45111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"/>
          <p:cNvSpPr/>
          <p:nvPr/>
        </p:nvSpPr>
        <p:spPr>
          <a:xfrm>
            <a:off x="511529" y="1994912"/>
            <a:ext cx="2978495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INTRODUCCIÓN A </a:t>
            </a:r>
            <a:r>
              <a:rPr b="1"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</a:t>
            </a: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EMPRESARIAL</a:t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445539" y="3502875"/>
            <a:ext cx="3220140" cy="109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y propósito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Evolución histórica y contexto actual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Beneficios estratégicos y operativos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Componentes: Negocio, datos, aplicaciones e infraestructura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752192" y="1605906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ACD144"/>
                </a:solidFill>
                <a:latin typeface="Calibri"/>
                <a:ea typeface="Calibri"/>
                <a:cs typeface="Calibri"/>
                <a:sym typeface="Calibri"/>
              </a:rPr>
              <a:t>TEMA 01</a:t>
            </a:r>
            <a:endParaRPr/>
          </a:p>
        </p:txBody>
      </p:sp>
      <p:pic>
        <p:nvPicPr>
          <p:cNvPr id="41" name="Google Shape;4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5457" y="809726"/>
            <a:ext cx="4820231" cy="482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5754" y="1669931"/>
            <a:ext cx="166865" cy="170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3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grpSp>
        <p:nvGrpSpPr>
          <p:cNvPr id="63" name="Google Shape;63;p3"/>
          <p:cNvGrpSpPr/>
          <p:nvPr/>
        </p:nvGrpSpPr>
        <p:grpSpPr>
          <a:xfrm>
            <a:off x="999788" y="1033866"/>
            <a:ext cx="6333700" cy="3231654"/>
            <a:chOff x="1008932" y="864134"/>
            <a:chExt cx="6333700" cy="3231654"/>
          </a:xfrm>
        </p:grpSpPr>
        <p:sp>
          <p:nvSpPr>
            <p:cNvPr id="64" name="Google Shape;64;p3"/>
            <p:cNvSpPr txBox="1"/>
            <p:nvPr/>
          </p:nvSpPr>
          <p:spPr>
            <a:xfrm>
              <a:off x="1288550" y="864134"/>
              <a:ext cx="6054082" cy="3231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Arquitectura Empresarial (AE) como disciplina de gestión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AE permite describir, diseñar y gobernar la organización, conectando estrategia, operación y tecnología para decisiones coherentes.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AE frente a la complejidad organizacional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multiplicidad de procesos, datos y sistemas genera duplicidad y riesgo; la AE ordena esa complejidad con modelos y estándares comunes.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AE como marco para la transformación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Guía la priorización de iniciativas y define To-Be y roadmaps que vinculan inversión con resultados estratégicos.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Alcance de la sesión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Revisaremos propósito, evolución, beneficios y dominios de la AE (negocio, datos, aplicaciones e infraestructura) como base del curso.</a:t>
              </a:r>
              <a:endParaRPr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" name="Google Shape;6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0839" y="954885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932" y="1792259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932" y="2629633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932" y="3495959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1008061" y="3169972"/>
            <a:ext cx="555682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DEFINICIÓN Y PROPÓSITO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/>
        </p:nvSpPr>
        <p:spPr>
          <a:xfrm>
            <a:off x="426523" y="934003"/>
            <a:ext cx="847728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Propósito central: </a:t>
            </a:r>
            <a:r>
              <a:rPr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asegurar coherencia y trazabilidad entre estrategia, operación y tecnología, mediante principios, modelos y gobierno que guían la evolución de la organización.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DEFINICIÓN Y PROPÓSITO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os de arquitectura empresarial: una breve descripción de los conceptos  básicos - Conexiam"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523" y="1766278"/>
            <a:ext cx="4381403" cy="2920935"/>
          </a:xfrm>
          <a:prstGeom prst="round2DiagRect">
            <a:avLst>
              <a:gd fmla="val 16667" name="adj1"/>
              <a:gd fmla="val 11895" name="adj2"/>
            </a:avLst>
          </a:prstGeom>
          <a:noFill/>
          <a:ln>
            <a:noFill/>
          </a:ln>
        </p:spPr>
      </p:pic>
      <p:sp>
        <p:nvSpPr>
          <p:cNvPr id="84" name="Google Shape;84;p5"/>
          <p:cNvSpPr txBox="1"/>
          <p:nvPr/>
        </p:nvSpPr>
        <p:spPr>
          <a:xfrm>
            <a:off x="4845538" y="2545529"/>
            <a:ext cx="375920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John Zachman </a:t>
            </a:r>
            <a:r>
              <a:rPr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plantea la AE como un marco de clasificación para describir la empresa de forma completa (qué, cómo, dónde, quién, cuándo, por qué).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/>
        </p:nvSpPr>
        <p:spPr>
          <a:xfrm>
            <a:off x="503238" y="1277880"/>
            <a:ext cx="421367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TOGAF (The Open Group) </a:t>
            </a:r>
            <a:r>
              <a:rPr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define la AE como una capacidad para diseñar y gobernar la arquitectura actual (As-Is) y objetivo (To-Be) mediante un método (ADM).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Jeanne Ross, Peter Weill y David Robertson </a:t>
            </a:r>
            <a:r>
              <a:rPr lang="es-ES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conectan AE con ejecución: la arquitectura “buena” estandariza lo que debe estandarizarse para escalar y operar con disciplina.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os de arquitectura empresarial: una breve descripción de los conceptos  básicos - Conexiam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946" y="1277880"/>
            <a:ext cx="3563816" cy="2375877"/>
          </a:xfrm>
          <a:prstGeom prst="round2DiagRect">
            <a:avLst>
              <a:gd fmla="val 16667" name="adj1"/>
              <a:gd fmla="val 11895" name="adj2"/>
            </a:avLst>
          </a:prstGeom>
          <a:noFill/>
          <a:ln>
            <a:noFill/>
          </a:ln>
        </p:spPr>
      </p:pic>
      <p:sp>
        <p:nvSpPr>
          <p:cNvPr id="91" name="Google Shape;91;p6"/>
          <p:cNvSpPr txBox="1"/>
          <p:nvPr/>
        </p:nvSpPr>
        <p:spPr>
          <a:xfrm>
            <a:off x="559652" y="4098566"/>
            <a:ext cx="77637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AE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 para que la empresa no crezca como “parches”, sino como </a:t>
            </a: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r>
              <a:rPr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DEFINICIÓN Y PROPÓSITO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/>
        </p:nvSpPr>
        <p:spPr>
          <a:xfrm>
            <a:off x="588779" y="995562"/>
            <a:ext cx="3560379" cy="4508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PRINCIPIOS FUNDAMENTALES (LO QUE “RIGE” DECISIONES)</a:t>
            </a:r>
            <a:endParaRPr/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principios son reglas de diseño que evitan decisiones aisladas. Una versión muy usada en cursos: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Alineamiento estratégico: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 iniciativa debe mapearse a objetivos y capacidades.</a:t>
            </a:r>
            <a:endParaRPr/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Estandarización selectiva: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estandarizar lo crítico para escalar (no todo).</a:t>
            </a:r>
            <a:endParaRPr/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Interoperabilidad: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por contratos (APIs, eventos, estándares).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cargar ejemplos de principios de arquitectura empresarial - Conexiam"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745760"/>
            <a:ext cx="4299054" cy="342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DEFINICIÓN Y PROPÓSITO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7"/>
          <p:cNvCxnSpPr/>
          <p:nvPr/>
        </p:nvCxnSpPr>
        <p:spPr>
          <a:xfrm>
            <a:off x="722046" y="2781409"/>
            <a:ext cx="0" cy="701530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7"/>
          <p:cNvSpPr/>
          <p:nvPr/>
        </p:nvSpPr>
        <p:spPr>
          <a:xfrm>
            <a:off x="645704" y="2588311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7"/>
          <p:cNvCxnSpPr/>
          <p:nvPr/>
        </p:nvCxnSpPr>
        <p:spPr>
          <a:xfrm>
            <a:off x="722046" y="3757583"/>
            <a:ext cx="0" cy="750320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7"/>
          <p:cNvSpPr/>
          <p:nvPr/>
        </p:nvSpPr>
        <p:spPr>
          <a:xfrm>
            <a:off x="645704" y="3574834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5704" y="452305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cargar ejemplos de principios de arquitectura empresarial - Conexiam"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733" y="543140"/>
            <a:ext cx="4299054" cy="3426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 txBox="1"/>
          <p:nvPr/>
        </p:nvSpPr>
        <p:spPr>
          <a:xfrm>
            <a:off x="4820888" y="1285981"/>
            <a:ext cx="3560379" cy="278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PRINCIPIOS FUNDAMENTALES (LO QUE “RIGE” DECISIONES)</a:t>
            </a:r>
            <a:endParaRPr/>
          </a:p>
          <a:p>
            <a:pPr indent="0" lvl="0" marL="360363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Reutilización antes que duplicación: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“construir una vez, usar muchas”.</a:t>
            </a:r>
            <a:endParaRPr/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Seguridad y cumplimiento por diseño: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como “parche” al final.</a:t>
            </a:r>
            <a:endParaRPr/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0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Trazabilidad: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poder explicar por qué existe cada sistema/dato/proceso.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1464782" y="4392759"/>
            <a:ext cx="533911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Scott Bernard: </a:t>
            </a:r>
            <a:r>
              <a:rPr b="0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 refuerza desde el enfoque “holístico”: sin principios y gobierno, la AE se queda en diagramas sin impacto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DEFINICIÓN Y PROPÓSITO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8"/>
          <p:cNvCxnSpPr/>
          <p:nvPr/>
        </p:nvCxnSpPr>
        <p:spPr>
          <a:xfrm>
            <a:off x="4951046" y="2075618"/>
            <a:ext cx="0" cy="503195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8"/>
          <p:cNvSpPr/>
          <p:nvPr/>
        </p:nvSpPr>
        <p:spPr>
          <a:xfrm>
            <a:off x="4874704" y="1882520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874704" y="2643015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884978" y="3375485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8"/>
          <p:cNvCxnSpPr/>
          <p:nvPr/>
        </p:nvCxnSpPr>
        <p:spPr>
          <a:xfrm>
            <a:off x="4949336" y="2834194"/>
            <a:ext cx="0" cy="503195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1008061" y="3169972"/>
            <a:ext cx="3563939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EVOLUCIÓN HISTÓRICA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 CONTEXTO ACTUAL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503238" y="836111"/>
            <a:ext cx="777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4150" lvl="0" marL="184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AE surge para gestionar complejidad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organizacional.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crecimiento de procesos, sistemas, datos y canales genera duplicidad, silos e incoherencia. La AE aparece como disciplina para describir el sistema empresa y guiar su evolución.</a:t>
            </a:r>
            <a:endParaRPr/>
          </a:p>
          <a:p>
            <a:pPr indent="-82550" lvl="0" marL="1841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p10"/>
          <p:cNvGrpSpPr/>
          <p:nvPr/>
        </p:nvGrpSpPr>
        <p:grpSpPr>
          <a:xfrm>
            <a:off x="5774487" y="1742306"/>
            <a:ext cx="2862716" cy="3122671"/>
            <a:chOff x="5812970" y="2111318"/>
            <a:chExt cx="2862716" cy="3122671"/>
          </a:xfrm>
        </p:grpSpPr>
        <p:sp>
          <p:nvSpPr>
            <p:cNvPr id="135" name="Google Shape;135;p10"/>
            <p:cNvSpPr/>
            <p:nvPr/>
          </p:nvSpPr>
          <p:spPr>
            <a:xfrm rot="5400000">
              <a:off x="5682993" y="2241295"/>
              <a:ext cx="3122671" cy="2862716"/>
            </a:xfrm>
            <a:prstGeom prst="round2SameRect">
              <a:avLst>
                <a:gd fmla="val 5165" name="adj1"/>
                <a:gd fmla="val 0" name="adj2"/>
              </a:avLst>
            </a:prstGeom>
            <a:solidFill>
              <a:srgbClr val="654E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0"/>
            <p:cNvSpPr txBox="1"/>
            <p:nvPr/>
          </p:nvSpPr>
          <p:spPr>
            <a:xfrm>
              <a:off x="6105409" y="3113793"/>
              <a:ext cx="2286285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 AE nace para que la organización evolucione con coherencia, no por acumulación de soluciones aisladas.</a:t>
              </a:r>
              <a:endParaRPr b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7" name="Google Shape;13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05409" y="2920757"/>
              <a:ext cx="121379" cy="1213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10"/>
          <p:cNvSpPr/>
          <p:nvPr/>
        </p:nvSpPr>
        <p:spPr>
          <a:xfrm>
            <a:off x="503237" y="380615"/>
            <a:ext cx="3606425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EVOLUCIÓN HISTÓRICA Y CONTEXTO ACTUAL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533265" y="1903257"/>
            <a:ext cx="4973943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Arquitectura como estructura + relaciones + principios de evolución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enfoque TOGAF, la arquitectura no es solo “dibujos”: incluye componentes, interacciones, entorno y principios que orientan el diseño y los cambios en el tiempo.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La AE como puente entre negocio y tecnología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ubica la arquitectura como un instrumento para alinear estrategia con capacidades operativas y decisiones tecnológicas.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/>
        </p:nvSpPr>
        <p:spPr>
          <a:xfrm>
            <a:off x="503238" y="726666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QUÉ APORTA PARA EVOLUCIONAR LA AE</a:t>
            </a:r>
            <a:endParaRPr/>
          </a:p>
        </p:txBody>
      </p:sp>
      <p:sp>
        <p:nvSpPr>
          <p:cNvPr id="146" name="Google Shape;146;p11"/>
          <p:cNvSpPr txBox="1"/>
          <p:nvPr/>
        </p:nvSpPr>
        <p:spPr>
          <a:xfrm>
            <a:off x="392021" y="1180439"/>
            <a:ext cx="45318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8016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método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pasar de As-Is a To-Be: ADM TOGAF propone un ciclo de desarrollo arquitectónico (ADM) que guía la arquitectura por dominios y gestiona requisitos de forma continua, asegurando un enfoque iterativo y controlado.</a:t>
            </a:r>
            <a:endParaRPr/>
          </a:p>
          <a:p>
            <a:pPr indent="0" lvl="0" marL="8016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16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marco de contenido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repositorio (arquitectura como activos reutilizables) </a:t>
            </a:r>
            <a:r>
              <a:rPr lang="es-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enfoque para estructurar entregables y artefactos (contenido), y un repositorio para clasificar y reutilizar resultados, integrando el concepto de Enterprise Continuum.</a:t>
            </a:r>
            <a:endParaRPr/>
          </a:p>
          <a:p>
            <a:pPr indent="0" lvl="0" marL="8016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1688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arquitectura: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roles, gobierno y práctica institucionalizada TOGAF no se queda en método: (competencias, responsabilidades, gobierno y operación de la práctica).</a:t>
            </a:r>
            <a:endParaRPr/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4183" y="304799"/>
            <a:ext cx="3722326" cy="474754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/>
          <p:nvPr/>
        </p:nvSpPr>
        <p:spPr>
          <a:xfrm>
            <a:off x="552228" y="1155132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11"/>
          <p:cNvCxnSpPr/>
          <p:nvPr/>
        </p:nvCxnSpPr>
        <p:spPr>
          <a:xfrm flipH="1">
            <a:off x="1142391" y="1410581"/>
            <a:ext cx="14543" cy="2894291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11"/>
          <p:cNvSpPr/>
          <p:nvPr/>
        </p:nvSpPr>
        <p:spPr>
          <a:xfrm>
            <a:off x="552228" y="2617363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552228" y="4121970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11"/>
          <p:cNvGrpSpPr/>
          <p:nvPr/>
        </p:nvGrpSpPr>
        <p:grpSpPr>
          <a:xfrm>
            <a:off x="1071996" y="2767301"/>
            <a:ext cx="140792" cy="140258"/>
            <a:chOff x="3427964" y="2244682"/>
            <a:chExt cx="225891" cy="225034"/>
          </a:xfrm>
        </p:grpSpPr>
        <p:sp>
          <p:nvSpPr>
            <p:cNvPr id="153" name="Google Shape;153;p1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1"/>
          <p:cNvGrpSpPr/>
          <p:nvPr/>
        </p:nvGrpSpPr>
        <p:grpSpPr>
          <a:xfrm>
            <a:off x="1071996" y="4261634"/>
            <a:ext cx="140792" cy="140258"/>
            <a:chOff x="3427964" y="2244682"/>
            <a:chExt cx="225891" cy="225034"/>
          </a:xfrm>
        </p:grpSpPr>
        <p:sp>
          <p:nvSpPr>
            <p:cNvPr id="156" name="Google Shape;156;p1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1"/>
          <p:cNvGrpSpPr/>
          <p:nvPr/>
        </p:nvGrpSpPr>
        <p:grpSpPr>
          <a:xfrm>
            <a:off x="1071996" y="1270323"/>
            <a:ext cx="140792" cy="140258"/>
            <a:chOff x="3427964" y="2244682"/>
            <a:chExt cx="225891" cy="225034"/>
          </a:xfrm>
        </p:grpSpPr>
        <p:sp>
          <p:nvSpPr>
            <p:cNvPr id="159" name="Google Shape;159;p1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1"/>
          <p:cNvSpPr/>
          <p:nvPr/>
        </p:nvSpPr>
        <p:spPr>
          <a:xfrm>
            <a:off x="503237" y="380615"/>
            <a:ext cx="3606425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EVOLUCIÓN HISTÓRICA Y CONTEXTO ACTUAL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/>
        </p:nvSpPr>
        <p:spPr>
          <a:xfrm>
            <a:off x="565761" y="77567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DE TI A DOMINIOS EMPRESARIALES</a:t>
            </a: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289464" y="1399898"/>
            <a:ext cx="40341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del foco: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infraestructura a empresa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completa.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práctica madura de AE pasa de “arquitectura tecnológica” a cubrir también negocio, datos y aplicaciones, porque ahí se originan los principales problemas de integración y duplicidad.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 actual: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 continuo y necesidad de trazabilidad. La AE moderna debe responder a transformación digital, regulación, ciberseguridad y escalabilidad. Por eso TOGAF enfatiza consistencia, estándar y gobernanza.</a:t>
            </a:r>
            <a:endParaRPr/>
          </a:p>
        </p:txBody>
      </p:sp>
      <p:pic>
        <p:nvPicPr>
          <p:cNvPr descr="Lego Serious Play | ZKM"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768096"/>
            <a:ext cx="4113487" cy="394141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70" name="Google Shape;170;p12"/>
          <p:cNvSpPr/>
          <p:nvPr/>
        </p:nvSpPr>
        <p:spPr>
          <a:xfrm>
            <a:off x="503237" y="380615"/>
            <a:ext cx="3606425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EVOLUCIÓN HISTÓRICA Y CONTEXTO ACTUAL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/>
        </p:nvSpPr>
        <p:spPr>
          <a:xfrm>
            <a:off x="565760" y="741894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845573" y="1210895"/>
            <a:ext cx="7218043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AE surge como respuesta a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complejidad organizacional, reduciendo duplicidad, silos e incoherencia mediante una visión integral.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TOGAF, “arquitectura”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implica estructura, relaciones y principios, orientando el diseño y la evolución de la empresa en el tiempo.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práctica evoluciona de un enfoque centrado en TI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hacia dominios empresariales (negocio, datos, aplicaciones y tecnología) para asegurar trazabilidad end-to-end.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aporta un marco robusto para evolucionar la AE: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ADM (método), contenido y repositorio (activos reutilizables) y capacidad de arquitectura (gobierno y práctica).</a:t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503237" y="380615"/>
            <a:ext cx="3606425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EVOLUCIÓN HISTÓRICA Y CONTEXTO ACTUAL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3"/>
          <p:cNvCxnSpPr/>
          <p:nvPr/>
        </p:nvCxnSpPr>
        <p:spPr>
          <a:xfrm>
            <a:off x="697536" y="1510542"/>
            <a:ext cx="0" cy="503195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13"/>
          <p:cNvSpPr/>
          <p:nvPr/>
        </p:nvSpPr>
        <p:spPr>
          <a:xfrm>
            <a:off x="621194" y="1317444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621194" y="202656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631468" y="2769313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3"/>
          <p:cNvCxnSpPr/>
          <p:nvPr/>
        </p:nvCxnSpPr>
        <p:spPr>
          <a:xfrm>
            <a:off x="695826" y="2228022"/>
            <a:ext cx="0" cy="503195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3"/>
          <p:cNvSpPr/>
          <p:nvPr/>
        </p:nvSpPr>
        <p:spPr>
          <a:xfrm>
            <a:off x="629758" y="3497064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13"/>
          <p:cNvCxnSpPr/>
          <p:nvPr/>
        </p:nvCxnSpPr>
        <p:spPr>
          <a:xfrm>
            <a:off x="694116" y="2955773"/>
            <a:ext cx="0" cy="503195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1008061" y="3169972"/>
            <a:ext cx="4067373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BENEFICIOS ESTRATÉGICOS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 OPERATIVOS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/>
        </p:nvSpPr>
        <p:spPr>
          <a:xfrm>
            <a:off x="935825" y="1296796"/>
            <a:ext cx="4858800" cy="3985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La AE crea un lenguaje común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describir arquitectura y soluciones, reduciendo ambigüedad entre áreas (negocio, TI, datos, seguridad).</a:t>
            </a:r>
            <a:endParaRPr/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Enterprise Continuum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 arquitecturas y soluciones desde lo genérico hasta lo específico, facilitando adopción progresiva.</a:t>
            </a:r>
            <a:endParaRPr/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El valor principal es la reutilización: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“reinventar” modelos, patrones y componentes en cada iniciativa.</a:t>
            </a:r>
            <a:endParaRPr/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consistencia en decisiones y mayor velocidad para diseñar arquitecturas objetivo (To-Be) y su transición.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354625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BENEFICIOS ESTRATÉGICOS Y OPERATIVOS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503238" y="738678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CENTRAL: LA ARQUITECTURA COMO “ACTIVOS REUTILIZABLES”</a:t>
            </a:r>
            <a:endParaRPr/>
          </a:p>
        </p:txBody>
      </p:sp>
      <p:cxnSp>
        <p:nvCxnSpPr>
          <p:cNvPr id="202" name="Google Shape;202;p15"/>
          <p:cNvCxnSpPr/>
          <p:nvPr/>
        </p:nvCxnSpPr>
        <p:spPr>
          <a:xfrm>
            <a:off x="722046" y="1527967"/>
            <a:ext cx="0" cy="835089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5"/>
          <p:cNvSpPr/>
          <p:nvPr/>
        </p:nvSpPr>
        <p:spPr>
          <a:xfrm>
            <a:off x="645704" y="133486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5"/>
          <p:cNvCxnSpPr/>
          <p:nvPr/>
        </p:nvCxnSpPr>
        <p:spPr>
          <a:xfrm>
            <a:off x="722046" y="3747310"/>
            <a:ext cx="0" cy="750320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5"/>
          <p:cNvSpPr/>
          <p:nvPr/>
        </p:nvSpPr>
        <p:spPr>
          <a:xfrm>
            <a:off x="645704" y="358510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45704" y="4512786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643994" y="2463517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5"/>
          <p:cNvCxnSpPr/>
          <p:nvPr/>
        </p:nvCxnSpPr>
        <p:spPr>
          <a:xfrm>
            <a:off x="720336" y="2676958"/>
            <a:ext cx="0" cy="835089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9" name="Google Shape;209;p15"/>
          <p:cNvPicPr preferRelativeResize="0"/>
          <p:nvPr/>
        </p:nvPicPr>
        <p:blipFill rotWithShape="1">
          <a:blip r:embed="rId3">
            <a:alphaModFix/>
          </a:blip>
          <a:srcRect b="0" l="12240" r="4616" t="0"/>
          <a:stretch/>
        </p:blipFill>
        <p:spPr>
          <a:xfrm>
            <a:off x="6109536" y="1296796"/>
            <a:ext cx="2388760" cy="3883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/>
          <p:nvPr/>
        </p:nvSpPr>
        <p:spPr>
          <a:xfrm>
            <a:off x="3163998" y="3288063"/>
            <a:ext cx="4340812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estandarizar activos, se reduce el costo de integración y mantenimiento.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 time-to-architecture menor y ejecución más eficiente de proyectos.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576231" y="781466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BENEFICIO: ACELERAR EL DELIVERY REDUCIENDO COSTO Y RETRABAJO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16"/>
          <p:cNvGrpSpPr/>
          <p:nvPr/>
        </p:nvGrpSpPr>
        <p:grpSpPr>
          <a:xfrm>
            <a:off x="684213" y="1526607"/>
            <a:ext cx="7746506" cy="1107997"/>
            <a:chOff x="684213" y="1597025"/>
            <a:chExt cx="7746506" cy="1107997"/>
          </a:xfrm>
        </p:grpSpPr>
        <p:grpSp>
          <p:nvGrpSpPr>
            <p:cNvPr id="218" name="Google Shape;218;p16"/>
            <p:cNvGrpSpPr/>
            <p:nvPr/>
          </p:nvGrpSpPr>
          <p:grpSpPr>
            <a:xfrm>
              <a:off x="4654594" y="1597025"/>
              <a:ext cx="1107997" cy="1107997"/>
              <a:chOff x="4751388" y="948615"/>
              <a:chExt cx="1170848" cy="1170848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4751388" y="948615"/>
                <a:ext cx="1170848" cy="1170848"/>
              </a:xfrm>
              <a:prstGeom prst="roundRect">
                <a:avLst>
                  <a:gd fmla="val 11306" name="adj"/>
                </a:avLst>
              </a:prstGeom>
              <a:solidFill>
                <a:srgbClr val="00B1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20" name="Google Shape;220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885184" y="1105390"/>
                <a:ext cx="903256" cy="857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1" name="Google Shape;221;p16"/>
            <p:cNvSpPr/>
            <p:nvPr/>
          </p:nvSpPr>
          <p:spPr>
            <a:xfrm>
              <a:off x="5889205" y="1647852"/>
              <a:ext cx="2541514" cy="969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00B1C3"/>
                  </a:solidFill>
                  <a:latin typeface="Calibri"/>
                  <a:ea typeface="Calibri"/>
                  <a:cs typeface="Calibri"/>
                  <a:sym typeface="Calibri"/>
                </a:rPr>
                <a:t>Menos duplicidad de soluciones: se favorece la generalización para reutilización y luego la adaptación para el uso (principio del Continuum).</a:t>
              </a: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1918823" y="1666275"/>
              <a:ext cx="2471164" cy="969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00B1C3"/>
                  </a:solidFill>
                  <a:latin typeface="Calibri"/>
                  <a:ea typeface="Calibri"/>
                  <a:cs typeface="Calibri"/>
                  <a:sym typeface="Calibri"/>
                </a:rPr>
                <a:t>Reutilización sistemática de entregables y activos previos: plantillas, patrones, bloques de construcción (building blocks).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00B1C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684213" y="1597025"/>
              <a:ext cx="1107996" cy="1107996"/>
            </a:xfrm>
            <a:prstGeom prst="roundRect">
              <a:avLst>
                <a:gd fmla="val 10564" name="adj"/>
              </a:avLst>
            </a:prstGeom>
            <a:solidFill>
              <a:srgbClr val="00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ecycle outline" id="224" name="Google Shape;22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1011" y="167540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16"/>
          <p:cNvSpPr txBox="1"/>
          <p:nvPr/>
        </p:nvSpPr>
        <p:spPr>
          <a:xfrm rot="2542203">
            <a:off x="1262660" y="2825149"/>
            <a:ext cx="190346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BENEFICIOS ESTRATÉGICOS Y OPERATIVOS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/>
          <p:nvPr/>
        </p:nvSpPr>
        <p:spPr>
          <a:xfrm>
            <a:off x="656781" y="461367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VALOR Y BENEFICIOS DE LA AE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576231" y="738222"/>
            <a:ext cx="73143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BENEFICIO: TRAZABILIDAD, CONTROL Y CUMPLIMIENTO MEDIANTE REPOSITORIO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576231" y="861476"/>
            <a:ext cx="782726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Architecture Repository centraliza artefactos y decisiones, convirtiendo la AE en un sistema de gestión del conocimiento. Componentes clave que generan valor: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6337738" y="2570650"/>
            <a:ext cx="1926736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gobernanza, mayor cumplimiento y menor riesgo de “arquitectura invisible”.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17"/>
          <p:cNvGrpSpPr/>
          <p:nvPr/>
        </p:nvGrpSpPr>
        <p:grpSpPr>
          <a:xfrm>
            <a:off x="284289" y="1854579"/>
            <a:ext cx="2924569" cy="1599148"/>
            <a:chOff x="158166" y="1465698"/>
            <a:chExt cx="2924569" cy="1599148"/>
          </a:xfrm>
        </p:grpSpPr>
        <p:sp>
          <p:nvSpPr>
            <p:cNvPr id="237" name="Google Shape;237;p17"/>
            <p:cNvSpPr/>
            <p:nvPr/>
          </p:nvSpPr>
          <p:spPr>
            <a:xfrm>
              <a:off x="547515" y="1465698"/>
              <a:ext cx="2535220" cy="1599148"/>
            </a:xfrm>
            <a:prstGeom prst="roundRect">
              <a:avLst>
                <a:gd fmla="val 6762" name="adj"/>
              </a:avLst>
            </a:prstGeom>
            <a:solidFill>
              <a:srgbClr val="CCEFF2"/>
            </a:solidFill>
            <a:ln cap="flat" cmpd="sng" w="38100">
              <a:solidFill>
                <a:srgbClr val="00B1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476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00B1C2"/>
                  </a:solidFill>
                  <a:latin typeface="Calibri"/>
                  <a:ea typeface="Calibri"/>
                  <a:cs typeface="Calibri"/>
                  <a:sym typeface="Calibri"/>
                </a:rPr>
                <a:t>STANDARDS INFORMATION BASE (SIB)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Asegura conformidad     con estándares internos/industria.</a:t>
              </a:r>
              <a:endParaRPr/>
            </a:p>
          </p:txBody>
        </p:sp>
        <p:sp>
          <p:nvSpPr>
            <p:cNvPr id="238" name="Google Shape;238;p17"/>
            <p:cNvSpPr/>
            <p:nvPr/>
          </p:nvSpPr>
          <p:spPr>
            <a:xfrm rot="-9000000">
              <a:off x="276723" y="2017867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"/>
            <p:cNvSpPr txBox="1"/>
            <p:nvPr/>
          </p:nvSpPr>
          <p:spPr>
            <a:xfrm>
              <a:off x="479524" y="200382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240" name="Google Shape;240;p17"/>
          <p:cNvGrpSpPr/>
          <p:nvPr/>
        </p:nvGrpSpPr>
        <p:grpSpPr>
          <a:xfrm>
            <a:off x="3061829" y="1854579"/>
            <a:ext cx="2924569" cy="1647890"/>
            <a:chOff x="2935706" y="1481982"/>
            <a:chExt cx="2924569" cy="1647890"/>
          </a:xfrm>
        </p:grpSpPr>
        <p:sp>
          <p:nvSpPr>
            <p:cNvPr id="241" name="Google Shape;241;p17"/>
            <p:cNvSpPr/>
            <p:nvPr/>
          </p:nvSpPr>
          <p:spPr>
            <a:xfrm>
              <a:off x="3325055" y="1481982"/>
              <a:ext cx="2535220" cy="1647890"/>
            </a:xfrm>
            <a:prstGeom prst="roundRect">
              <a:avLst>
                <a:gd fmla="val 7758" name="adj"/>
              </a:avLst>
            </a:prstGeom>
            <a:solidFill>
              <a:srgbClr val="E6F3D6"/>
            </a:solidFill>
            <a:ln cap="flat" cmpd="sng" w="38100">
              <a:solidFill>
                <a:srgbClr val="8EC5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8EC540"/>
                  </a:solidFill>
                  <a:latin typeface="Calibri"/>
                  <a:ea typeface="Calibri"/>
                  <a:cs typeface="Calibri"/>
                  <a:sym typeface="Calibri"/>
                </a:rPr>
                <a:t>GOBERNANCE LOG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Evidencia y trazabilidad de decisiones de gobierno (auditable).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7"/>
            <p:cNvSpPr/>
            <p:nvPr/>
          </p:nvSpPr>
          <p:spPr>
            <a:xfrm rot="-9000000">
              <a:off x="3054263" y="2015863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44" name="Google Shape;244;p17"/>
          <p:cNvGrpSpPr/>
          <p:nvPr/>
        </p:nvGrpSpPr>
        <p:grpSpPr>
          <a:xfrm>
            <a:off x="284289" y="3655012"/>
            <a:ext cx="2924569" cy="1599149"/>
            <a:chOff x="158166" y="3467193"/>
            <a:chExt cx="2924569" cy="1599149"/>
          </a:xfrm>
        </p:grpSpPr>
        <p:sp>
          <p:nvSpPr>
            <p:cNvPr id="245" name="Google Shape;245;p17"/>
            <p:cNvSpPr/>
            <p:nvPr/>
          </p:nvSpPr>
          <p:spPr>
            <a:xfrm>
              <a:off x="547515" y="3467193"/>
              <a:ext cx="2535220" cy="1599149"/>
            </a:xfrm>
            <a:prstGeom prst="roundRect">
              <a:avLst>
                <a:gd fmla="val 6762" name="adj"/>
              </a:avLst>
            </a:prstGeom>
            <a:solidFill>
              <a:srgbClr val="FFE2D2"/>
            </a:solidFill>
            <a:ln cap="flat" cmpd="sng" w="38100">
              <a:solidFill>
                <a:srgbClr val="FF7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FF7828"/>
                  </a:solidFill>
                  <a:latin typeface="Calibri"/>
                  <a:ea typeface="Calibri"/>
                  <a:cs typeface="Calibri"/>
                  <a:sym typeface="Calibri"/>
                </a:rPr>
                <a:t>REFERENCE LIBRARY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Guías, plantillas, patrones para acelerar y homogeneizar.</a:t>
              </a:r>
              <a:endParaRPr/>
            </a:p>
          </p:txBody>
        </p:sp>
        <p:sp>
          <p:nvSpPr>
            <p:cNvPr id="246" name="Google Shape;246;p17"/>
            <p:cNvSpPr/>
            <p:nvPr/>
          </p:nvSpPr>
          <p:spPr>
            <a:xfrm rot="-9000000">
              <a:off x="276723" y="4019363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FF78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479524" y="4005321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248" name="Google Shape;248;p17"/>
          <p:cNvGrpSpPr/>
          <p:nvPr/>
        </p:nvGrpSpPr>
        <p:grpSpPr>
          <a:xfrm>
            <a:off x="3061829" y="3655012"/>
            <a:ext cx="2924569" cy="1599149"/>
            <a:chOff x="2935706" y="3483477"/>
            <a:chExt cx="2924569" cy="1599149"/>
          </a:xfrm>
        </p:grpSpPr>
        <p:sp>
          <p:nvSpPr>
            <p:cNvPr id="249" name="Google Shape;249;p17"/>
            <p:cNvSpPr/>
            <p:nvPr/>
          </p:nvSpPr>
          <p:spPr>
            <a:xfrm>
              <a:off x="3325055" y="3483477"/>
              <a:ext cx="2535220" cy="1599149"/>
            </a:xfrm>
            <a:prstGeom prst="roundRect">
              <a:avLst>
                <a:gd fmla="val 8008" name="adj"/>
              </a:avLst>
            </a:prstGeom>
            <a:solidFill>
              <a:srgbClr val="FFF2D1"/>
            </a:solidFill>
            <a:ln cap="flat" cmpd="sng" w="38100">
              <a:solidFill>
                <a:srgbClr val="FEC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FEC212"/>
                  </a:solidFill>
                  <a:latin typeface="Calibri"/>
                  <a:ea typeface="Calibri"/>
                  <a:cs typeface="Calibri"/>
                  <a:sym typeface="Calibri"/>
                </a:rPr>
                <a:t>LANDSCAPE/INVENTARIO ARQUITECTÓNICO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Vista del “estado” actual para análisis de impacto.</a:t>
              </a: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 rot="-9000000">
              <a:off x="3054263" y="4017359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FEC21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3257063" y="402160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BENEFICIOS ESTRATÉGICOS Y OPERATIVOS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507609" y="991267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BENEFICIO: ESCALABILIDAD ORGANIZACIONAL MEDIANTE PARTICIONADO</a:t>
            </a:r>
            <a:endParaRPr/>
          </a:p>
        </p:txBody>
      </p:sp>
      <p:grpSp>
        <p:nvGrpSpPr>
          <p:cNvPr id="259" name="Google Shape;259;p18"/>
          <p:cNvGrpSpPr/>
          <p:nvPr/>
        </p:nvGrpSpPr>
        <p:grpSpPr>
          <a:xfrm>
            <a:off x="584862" y="1625438"/>
            <a:ext cx="7721267" cy="3015362"/>
            <a:chOff x="773510" y="1381126"/>
            <a:chExt cx="7721267" cy="3015362"/>
          </a:xfrm>
        </p:grpSpPr>
        <p:sp>
          <p:nvSpPr>
            <p:cNvPr id="260" name="Google Shape;260;p18"/>
            <p:cNvSpPr/>
            <p:nvPr/>
          </p:nvSpPr>
          <p:spPr>
            <a:xfrm>
              <a:off x="848519" y="1387134"/>
              <a:ext cx="7646257" cy="923356"/>
            </a:xfrm>
            <a:prstGeom prst="roundRect">
              <a:avLst>
                <a:gd fmla="val 16667" name="adj"/>
              </a:avLst>
            </a:prstGeom>
            <a:solidFill>
              <a:srgbClr val="D1EFF4"/>
            </a:solidFill>
            <a:ln>
              <a:noFill/>
            </a:ln>
          </p:spPr>
          <p:txBody>
            <a:bodyPr anchorCtr="0" anchor="ctr" bIns="0" lIns="86400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ENTERPRISE CONTINUUM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 para clasificar y organizar activos de arquitectura y soluciones, desde lo más genérico hasta lo más específico, favoreciendo reutilización y consistencia.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 rot="-5400000">
              <a:off x="766028" y="1463617"/>
              <a:ext cx="929364" cy="76438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00B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848520" y="2411263"/>
              <a:ext cx="7646257" cy="923356"/>
            </a:xfrm>
            <a:prstGeom prst="roundRect">
              <a:avLst>
                <a:gd fmla="val 16667" name="adj"/>
              </a:avLst>
            </a:prstGeom>
            <a:solidFill>
              <a:srgbClr val="D1EFF4"/>
            </a:solidFill>
            <a:ln>
              <a:noFill/>
            </a:ln>
          </p:spPr>
          <p:txBody>
            <a:bodyPr anchorCtr="0" anchor="ctr" bIns="0" lIns="86400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00B2C4"/>
                  </a:solidFill>
                  <a:latin typeface="Calibri"/>
                  <a:ea typeface="Calibri"/>
                  <a:cs typeface="Calibri"/>
                  <a:sym typeface="Calibri"/>
                </a:rPr>
                <a:t>REPOSITORIO DE ARQUITECTURA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Repositorio estructurado para almacenar, gobernar y reutilizar artefactos arquitectónicos (modelos, estándares, patrones, landscape), habilitando trazabilidad y control.</a:t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 rot="-5400000">
              <a:off x="766029" y="2487746"/>
              <a:ext cx="929364" cy="76438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00B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848520" y="3473132"/>
              <a:ext cx="7646257" cy="923356"/>
            </a:xfrm>
            <a:prstGeom prst="roundRect">
              <a:avLst>
                <a:gd fmla="val 11518" name="adj"/>
              </a:avLst>
            </a:prstGeom>
            <a:solidFill>
              <a:srgbClr val="D1EFF4"/>
            </a:solidFill>
            <a:ln>
              <a:noFill/>
            </a:ln>
          </p:spPr>
          <p:txBody>
            <a:bodyPr anchorCtr="0" anchor="ctr" bIns="0" lIns="86400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BITÁCORA DE GOBIERNO (GOVERNANCE LOG)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Registro de decisiones, excepciones y evidencias del gobierno de arquitectura, útil para auditoría, cumplimiento y seguimiento de acuerdos arquitectónicos.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 rot="-5400000">
              <a:off x="769035" y="3546611"/>
              <a:ext cx="923355" cy="76438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00B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Continuous Improvement with solid fill" id="266" name="Google Shape;266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3510" y="1401791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yncing cloud with solid fill" id="267" name="Google Shape;26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4521" y="2581311"/>
              <a:ext cx="552377" cy="552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ooks on shelf outline" id="268" name="Google Shape;268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6379" y="3611757"/>
              <a:ext cx="708660" cy="7086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9"/>
          <p:cNvGrpSpPr/>
          <p:nvPr/>
        </p:nvGrpSpPr>
        <p:grpSpPr>
          <a:xfrm>
            <a:off x="794105" y="2520383"/>
            <a:ext cx="7555789" cy="2851241"/>
            <a:chOff x="656781" y="2304395"/>
            <a:chExt cx="7555789" cy="2851241"/>
          </a:xfrm>
        </p:grpSpPr>
        <p:grpSp>
          <p:nvGrpSpPr>
            <p:cNvPr id="275" name="Google Shape;275;p19"/>
            <p:cNvGrpSpPr/>
            <p:nvPr/>
          </p:nvGrpSpPr>
          <p:grpSpPr>
            <a:xfrm>
              <a:off x="656781" y="2304395"/>
              <a:ext cx="7555789" cy="2851241"/>
              <a:chOff x="794105" y="1172663"/>
              <a:chExt cx="7555789" cy="2851241"/>
            </a:xfrm>
          </p:grpSpPr>
          <p:pic>
            <p:nvPicPr>
              <p:cNvPr id="276" name="Google Shape;276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94105" y="1172663"/>
                <a:ext cx="7555789" cy="28512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19"/>
              <p:cNvSpPr/>
              <p:nvPr/>
            </p:nvSpPr>
            <p:spPr>
              <a:xfrm rot="-5400000">
                <a:off x="7286387" y="2582901"/>
                <a:ext cx="484635" cy="298664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FF782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8" name="Google Shape;278;p19"/>
            <p:cNvSpPr txBox="1"/>
            <p:nvPr/>
          </p:nvSpPr>
          <p:spPr>
            <a:xfrm>
              <a:off x="1259364" y="3176017"/>
              <a:ext cx="1225296" cy="110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6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🪙</a:t>
              </a:r>
              <a:endParaRPr/>
            </a:p>
          </p:txBody>
        </p:sp>
      </p:grpSp>
      <p:sp>
        <p:nvSpPr>
          <p:cNvPr id="279" name="Google Shape;279;p19"/>
          <p:cNvSpPr txBox="1"/>
          <p:nvPr/>
        </p:nvSpPr>
        <p:spPr>
          <a:xfrm>
            <a:off x="3113885" y="766121"/>
            <a:ext cx="5399976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AE genera valor al convertir arquitectura y solución en activos reutilizables (Enterprise Continuum).</a:t>
            </a:r>
            <a:endParaRPr/>
          </a:p>
          <a:p>
            <a:pPr indent="-698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costo y retrabajo al promover generalización y adaptación controlada de patrones y componentes.</a:t>
            </a:r>
            <a:endParaRPr/>
          </a:p>
          <a:p>
            <a:pPr indent="-698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 trazabilidad y cumplimiento al institucionalizar un Architecture Repository (estándares, biblioteca, bitácora).</a:t>
            </a:r>
            <a:endParaRPr/>
          </a:p>
          <a:p>
            <a:pPr indent="-698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 la práctica permitiendo particionar la arquitectura para trabajo paralelo y gobierno efectivo.</a:t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BENEFICIOS ESTRATÉGICOS Y OPERATIVOS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1008061" y="3169972"/>
            <a:ext cx="5556823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COMPONENTES: NEGOCIO, DATOS,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APLICACIONES E INFRAESTRUCTURA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/>
          <p:nvPr/>
        </p:nvSpPr>
        <p:spPr>
          <a:xfrm>
            <a:off x="506796" y="895212"/>
            <a:ext cx="8504342" cy="278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DE LA AE (QUÉ SE MODELA)</a:t>
            </a:r>
            <a:endParaRPr/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componentes se suelen organizar en </a:t>
            </a: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dominios/capas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Arquitectura de Negocio: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capacidades, procesos end-to-end, roles, servicios.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Arquitectura de Datos/Información: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entidades, flujos, calidad, gobierno, linaje.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Arquitectura de Aplicaciones: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portafolio, integraciones, servicios, patrones.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Arquitectura Tecnológica: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plataformas, red, nube/híbrido, observabilidad, continuidad.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732461" y="4183985"/>
            <a:ext cx="606729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Steven Spewak (EAP) </a:t>
            </a:r>
            <a:r>
              <a:rPr b="0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 plantea como planeamiento por “blueprints”: datos, aplicaciones y tecnología alineados a necesidades del negocio.</a:t>
            </a:r>
            <a:endParaRPr b="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875324" y="4045485"/>
            <a:ext cx="9261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503238" y="380615"/>
            <a:ext cx="4695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COMPONENTES: NEGOCIO, DATOS, APLICACIONES E INFRAESTRUCTURA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/>
          <p:nvPr/>
        </p:nvSpPr>
        <p:spPr>
          <a:xfrm>
            <a:off x="574432" y="860550"/>
            <a:ext cx="7856336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OBJETIVO: </a:t>
            </a: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Describir cómo la organización crea valor y qué debe cambiar para cumplir la estrategia.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503238" y="380615"/>
            <a:ext cx="469548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COMPONENTES: NEGOCIO, DATOS, APLICACIONES E INFRAESTRUCTURA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574432" y="1409735"/>
            <a:ext cx="48297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Qué define: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Capacidades, procesos end-to-end, roles, reglas de negocio, organización y gobierno.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preguntas guía: </a:t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capacidades son críticas para la estrategia?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procesos soportan esas capacidades?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dueños de proceso y KPIs gobiernan la ejecución?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Entregables como parte de la metodologia: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 de capacidades, mapa de procesos, modelo operativo (alto nivel).</a:t>
            </a:r>
            <a:endParaRPr/>
          </a:p>
        </p:txBody>
      </p:sp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10977" l="0" r="0" t="7723"/>
          <a:stretch/>
        </p:blipFill>
        <p:spPr>
          <a:xfrm>
            <a:off x="5404207" y="1409735"/>
            <a:ext cx="3026561" cy="3690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25" y="1199702"/>
            <a:ext cx="3598015" cy="3997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23"/>
          <p:cNvGrpSpPr/>
          <p:nvPr/>
        </p:nvGrpSpPr>
        <p:grpSpPr>
          <a:xfrm>
            <a:off x="4808306" y="1201273"/>
            <a:ext cx="3759311" cy="4117514"/>
            <a:chOff x="5433588" y="1393197"/>
            <a:chExt cx="3146529" cy="3812796"/>
          </a:xfrm>
        </p:grpSpPr>
        <p:sp>
          <p:nvSpPr>
            <p:cNvPr id="313" name="Google Shape;313;p23"/>
            <p:cNvSpPr/>
            <p:nvPr/>
          </p:nvSpPr>
          <p:spPr>
            <a:xfrm>
              <a:off x="5433589" y="1393197"/>
              <a:ext cx="3146528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EMPRESARIAL ESTRATÉGICA: </a:t>
              </a:r>
              <a:b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define dirección, coherencia y lineamientos a nivel corporativo (visión y principios a escala empresa).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5433588" y="2309660"/>
              <a:ext cx="3146523" cy="797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 SEGMENTO:                       </a:t>
              </a:r>
              <a:r>
                <a:rPr lang="es-E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aterriza la arquitectura para una unidad/vertical/parte del negocio, permitiendo coordinación entre equipos sin conflictos.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5433588" y="3388635"/>
              <a:ext cx="3146522" cy="797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DE CAPACIDADES:             </a:t>
              </a:r>
              <a:r>
                <a:rPr lang="es-E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profundiza en una capacidad específica (qué debe cambiar y cómo), habilitando implementación controlada.</a:t>
              </a: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5433588" y="4407995"/>
              <a:ext cx="3011525" cy="797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EL DOMINIO:                                                                </a:t>
              </a:r>
              <a:r>
                <a:rPr lang="es-E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 es solo el tema (negocio/datos), sino el nivel de granularidad y alcance con el que trabajas la arquitectura.</a:t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23"/>
          <p:cNvSpPr txBox="1"/>
          <p:nvPr/>
        </p:nvSpPr>
        <p:spPr>
          <a:xfrm>
            <a:off x="421825" y="680866"/>
            <a:ext cx="39834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NIVELES DE ALCANCE (ARCHITECTURE LANDSCAPE)</a:t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4067127" y="1132938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23"/>
          <p:cNvCxnSpPr>
            <a:endCxn id="320" idx="0"/>
          </p:cNvCxnSpPr>
          <p:nvPr/>
        </p:nvCxnSpPr>
        <p:spPr>
          <a:xfrm>
            <a:off x="4623152" y="1258957"/>
            <a:ext cx="0" cy="3241800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3"/>
          <p:cNvSpPr/>
          <p:nvPr/>
        </p:nvSpPr>
        <p:spPr>
          <a:xfrm>
            <a:off x="4067127" y="2107408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4067127" y="3290826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23"/>
          <p:cNvGrpSpPr/>
          <p:nvPr/>
        </p:nvGrpSpPr>
        <p:grpSpPr>
          <a:xfrm>
            <a:off x="4552756" y="1236977"/>
            <a:ext cx="140792" cy="140258"/>
            <a:chOff x="3427964" y="2244682"/>
            <a:chExt cx="225891" cy="225034"/>
          </a:xfrm>
        </p:grpSpPr>
        <p:sp>
          <p:nvSpPr>
            <p:cNvPr id="324" name="Google Shape;324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23"/>
          <p:cNvSpPr/>
          <p:nvPr/>
        </p:nvSpPr>
        <p:spPr>
          <a:xfrm>
            <a:off x="4069454" y="4387018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" name="Google Shape;327;p23"/>
          <p:cNvGrpSpPr/>
          <p:nvPr/>
        </p:nvGrpSpPr>
        <p:grpSpPr>
          <a:xfrm>
            <a:off x="4552756" y="2229049"/>
            <a:ext cx="140792" cy="140258"/>
            <a:chOff x="3427964" y="2244682"/>
            <a:chExt cx="225891" cy="225034"/>
          </a:xfrm>
        </p:grpSpPr>
        <p:sp>
          <p:nvSpPr>
            <p:cNvPr id="328" name="Google Shape;328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23"/>
          <p:cNvGrpSpPr/>
          <p:nvPr/>
        </p:nvGrpSpPr>
        <p:grpSpPr>
          <a:xfrm>
            <a:off x="4552756" y="3402119"/>
            <a:ext cx="140792" cy="140258"/>
            <a:chOff x="3427964" y="2244682"/>
            <a:chExt cx="225891" cy="225034"/>
          </a:xfrm>
        </p:grpSpPr>
        <p:sp>
          <p:nvSpPr>
            <p:cNvPr id="331" name="Google Shape;331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23"/>
          <p:cNvGrpSpPr/>
          <p:nvPr/>
        </p:nvGrpSpPr>
        <p:grpSpPr>
          <a:xfrm>
            <a:off x="4552756" y="4500757"/>
            <a:ext cx="140792" cy="140258"/>
            <a:chOff x="3427964" y="2244682"/>
            <a:chExt cx="225891" cy="225034"/>
          </a:xfrm>
        </p:grpSpPr>
        <p:sp>
          <p:nvSpPr>
            <p:cNvPr id="320" name="Google Shape;320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23"/>
          <p:cNvSpPr/>
          <p:nvPr/>
        </p:nvSpPr>
        <p:spPr>
          <a:xfrm>
            <a:off x="503238" y="380615"/>
            <a:ext cx="469548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COMPONENTES: NEGOCIO, DATOS, APLICACIONES E INFRAESTRUCTURA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/>
          <p:nvPr/>
        </p:nvSpPr>
        <p:spPr>
          <a:xfrm>
            <a:off x="513398" y="1207838"/>
            <a:ext cx="676116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muestra que la arquitectura se desarrolla mediante iteraciones (dominios de actividad dentro del ciclo ADM), cada una con propósito distinto: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430968" y="790403"/>
            <a:ext cx="61650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DOMINIOS COMO CICLOS DE TRABAJO: ITERACIONES EN EL ADM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24"/>
          <p:cNvGrpSpPr/>
          <p:nvPr/>
        </p:nvGrpSpPr>
        <p:grpSpPr>
          <a:xfrm>
            <a:off x="607092" y="1917444"/>
            <a:ext cx="4991184" cy="3330143"/>
            <a:chOff x="552228" y="1935965"/>
            <a:chExt cx="4991184" cy="3330143"/>
          </a:xfrm>
        </p:grpSpPr>
        <p:sp>
          <p:nvSpPr>
            <p:cNvPr id="343" name="Google Shape;343;p24"/>
            <p:cNvSpPr/>
            <p:nvPr/>
          </p:nvSpPr>
          <p:spPr>
            <a:xfrm>
              <a:off x="1356793" y="2034011"/>
              <a:ext cx="4186619" cy="581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ITERACIÓN DE CAPACIDAD ARQUITECTÓNICA:    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establece o ajusta enfoque, principios, alcance, visión y gobierno (arranque y madurez de la práctica).</a:t>
              </a: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552228" y="1935965"/>
              <a:ext cx="40081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8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5" name="Google Shape;345;p24"/>
            <p:cNvCxnSpPr>
              <a:endCxn id="346" idx="4"/>
            </p:cNvCxnSpPr>
            <p:nvPr/>
          </p:nvCxnSpPr>
          <p:spPr>
            <a:xfrm flipH="1">
              <a:off x="1155943" y="2191994"/>
              <a:ext cx="36300" cy="2742900"/>
            </a:xfrm>
            <a:prstGeom prst="straightConnector1">
              <a:avLst/>
            </a:prstGeom>
            <a:noFill/>
            <a:ln cap="flat" cmpd="sng" w="12700">
              <a:solidFill>
                <a:srgbClr val="7150A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7" name="Google Shape;347;p24"/>
            <p:cNvSpPr/>
            <p:nvPr/>
          </p:nvSpPr>
          <p:spPr>
            <a:xfrm>
              <a:off x="552228" y="2718903"/>
              <a:ext cx="40081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8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4"/>
            <p:cNvSpPr/>
            <p:nvPr/>
          </p:nvSpPr>
          <p:spPr>
            <a:xfrm>
              <a:off x="552228" y="3658285"/>
              <a:ext cx="40081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8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4"/>
            <p:cNvSpPr/>
            <p:nvPr/>
          </p:nvSpPr>
          <p:spPr>
            <a:xfrm>
              <a:off x="1355468" y="2815508"/>
              <a:ext cx="4186619" cy="77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ITERACIÓN DE DESARROLLO DE LA ARQUITECTURA:   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 el contenido pasando por dominios del ADM (negocio, sistemas de información y tecnología) y asegura visión “como un todo”.</a:t>
              </a:r>
              <a:endParaRPr/>
            </a:p>
          </p:txBody>
        </p:sp>
        <p:sp>
          <p:nvSpPr>
            <p:cNvPr id="350" name="Google Shape;350;p24"/>
            <p:cNvSpPr/>
            <p:nvPr/>
          </p:nvSpPr>
          <p:spPr>
            <a:xfrm>
              <a:off x="1355468" y="3790904"/>
              <a:ext cx="4186619" cy="77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ITERACIÓN DE PLANIFICACIÓN DE LA TRANSICIÓN: 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construye planes formales de cambio (itinerario/migración) para llegar a la arquitectura destino.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1" name="Google Shape;351;p24"/>
            <p:cNvGrpSpPr/>
            <p:nvPr/>
          </p:nvGrpSpPr>
          <p:grpSpPr>
            <a:xfrm>
              <a:off x="1107157" y="2864217"/>
              <a:ext cx="140792" cy="140258"/>
              <a:chOff x="3427964" y="2244682"/>
              <a:chExt cx="225891" cy="225034"/>
            </a:xfrm>
          </p:grpSpPr>
          <p:sp>
            <p:nvSpPr>
              <p:cNvPr id="352" name="Google Shape;352;p24"/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714F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" name="Google Shape;354;p24"/>
            <p:cNvGrpSpPr/>
            <p:nvPr/>
          </p:nvGrpSpPr>
          <p:grpSpPr>
            <a:xfrm>
              <a:off x="1104837" y="3803600"/>
              <a:ext cx="140792" cy="140258"/>
              <a:chOff x="3427964" y="2244682"/>
              <a:chExt cx="225891" cy="225034"/>
            </a:xfrm>
          </p:grpSpPr>
          <p:sp>
            <p:nvSpPr>
              <p:cNvPr id="355" name="Google Shape;355;p24"/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714F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7" name="Google Shape;357;p24"/>
            <p:cNvGrpSpPr/>
            <p:nvPr/>
          </p:nvGrpSpPr>
          <p:grpSpPr>
            <a:xfrm>
              <a:off x="1113368" y="2051156"/>
              <a:ext cx="140792" cy="140258"/>
              <a:chOff x="3427964" y="2244682"/>
              <a:chExt cx="225891" cy="225034"/>
            </a:xfrm>
          </p:grpSpPr>
          <p:sp>
            <p:nvSpPr>
              <p:cNvPr id="358" name="Google Shape;358;p24"/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714F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0" name="Google Shape;360;p24"/>
            <p:cNvSpPr/>
            <p:nvPr/>
          </p:nvSpPr>
          <p:spPr>
            <a:xfrm>
              <a:off x="555599" y="4638725"/>
              <a:ext cx="400819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8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24"/>
            <p:cNvGrpSpPr/>
            <p:nvPr/>
          </p:nvGrpSpPr>
          <p:grpSpPr>
            <a:xfrm>
              <a:off x="1085547" y="4794636"/>
              <a:ext cx="140792" cy="140258"/>
              <a:chOff x="3427964" y="2244682"/>
              <a:chExt cx="225891" cy="225034"/>
            </a:xfrm>
          </p:grpSpPr>
          <p:sp>
            <p:nvSpPr>
              <p:cNvPr id="346" name="Google Shape;346;p24"/>
              <p:cNvSpPr/>
              <p:nvPr/>
            </p:nvSpPr>
            <p:spPr>
              <a:xfrm>
                <a:off x="3427964" y="2244682"/>
                <a:ext cx="225891" cy="225034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714F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3482167" y="2298680"/>
                <a:ext cx="117483" cy="117037"/>
              </a:xfrm>
              <a:prstGeom prst="ellipse">
                <a:avLst/>
              </a:prstGeom>
              <a:solidFill>
                <a:srgbClr val="714F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3" name="Google Shape;363;p24"/>
            <p:cNvSpPr/>
            <p:nvPr/>
          </p:nvSpPr>
          <p:spPr>
            <a:xfrm>
              <a:off x="1355468" y="4684410"/>
              <a:ext cx="4186619" cy="581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  <a:t>ITERACIÓN DE GOBIERNO DE LA ARQUITECTURA: 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asegura control del cambio mientras se avanza hacia el destino (conformidad y decisiones).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24"/>
          <p:cNvSpPr txBox="1"/>
          <p:nvPr/>
        </p:nvSpPr>
        <p:spPr>
          <a:xfrm rot="-1987111">
            <a:off x="5888374" y="2354706"/>
            <a:ext cx="2462270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sz="19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503238" y="380615"/>
            <a:ext cx="469548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COMPONENTES: NEGOCIO, DATOS, APLICACIONES E INFRAESTRUCTURA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1" name="Google Shape;371;p25"/>
          <p:cNvCxnSpPr/>
          <p:nvPr/>
        </p:nvCxnSpPr>
        <p:spPr>
          <a:xfrm flipH="1">
            <a:off x="2483405" y="2384029"/>
            <a:ext cx="7600" cy="10"/>
          </a:xfrm>
          <a:prstGeom prst="straightConnector1">
            <a:avLst/>
          </a:prstGeom>
          <a:noFill/>
          <a:ln>
            <a:noFill/>
          </a:ln>
        </p:spPr>
      </p:cxnSp>
      <p:graphicFrame>
        <p:nvGraphicFramePr>
          <p:cNvPr id="372" name="Google Shape;372;p25"/>
          <p:cNvGraphicFramePr/>
          <p:nvPr/>
        </p:nvGraphicFramePr>
        <p:xfrm>
          <a:off x="1039660" y="273067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{5F6A151F-A58A-49FE-AA31-FF30BF646BD7}</a:tableStyleId>
              </a:tblPr>
              <a:tblGrid>
                <a:gridCol w="2937350"/>
              </a:tblGrid>
              <a:tr h="3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LÍNEA DE BASE PRIMERO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(BASELINE-FIRST):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B1C3"/>
                    </a:solidFill>
                  </a:tcPr>
                </a:tc>
              </a:tr>
              <a:tr h="55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evalúa la arquitectura actual primero</a:t>
                      </a:r>
                      <a:endParaRPr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8ED"/>
                    </a:solidFill>
                  </a:tcPr>
                </a:tc>
              </a:tr>
              <a:tr h="27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útil cuando el destino no está claro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8ED"/>
                    </a:solidFill>
                  </a:tcPr>
                </a:tc>
              </a:tr>
              <a:tr h="55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Existe hay incertidumbre alta</a:t>
                      </a:r>
                      <a:endParaRPr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8ED"/>
                    </a:solidFill>
                  </a:tcPr>
                </a:tc>
              </a:tr>
              <a:tr h="27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Complejidad no estimada para el futuro</a:t>
                      </a:r>
                      <a:endParaRPr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8ED"/>
                    </a:solidFill>
                  </a:tcPr>
                </a:tc>
              </a:tr>
              <a:tr h="451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Necesidad de un punto de partida</a:t>
                      </a:r>
                      <a:endParaRPr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8ED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25"/>
          <p:cNvSpPr/>
          <p:nvPr/>
        </p:nvSpPr>
        <p:spPr>
          <a:xfrm>
            <a:off x="1043608" y="1325365"/>
            <a:ext cx="2939845" cy="3872109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0B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25"/>
          <p:cNvCxnSpPr/>
          <p:nvPr/>
        </p:nvCxnSpPr>
        <p:spPr>
          <a:xfrm flipH="1">
            <a:off x="6528540" y="2384500"/>
            <a:ext cx="7600" cy="10"/>
          </a:xfrm>
          <a:prstGeom prst="straightConnector1">
            <a:avLst/>
          </a:prstGeom>
          <a:noFill/>
          <a:ln>
            <a:noFill/>
          </a:ln>
        </p:spPr>
      </p:cxnSp>
      <p:graphicFrame>
        <p:nvGraphicFramePr>
          <p:cNvPr id="375" name="Google Shape;375;p25"/>
          <p:cNvGraphicFramePr/>
          <p:nvPr/>
        </p:nvGraphicFramePr>
        <p:xfrm>
          <a:off x="5084795" y="273114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{5F6A151F-A58A-49FE-AA31-FF30BF646BD7}</a:tableStyleId>
              </a:tblPr>
              <a:tblGrid>
                <a:gridCol w="2937350"/>
              </a:tblGrid>
              <a:tr h="34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DESTINO PRIMERO (TARGET-FIRST):</a:t>
                      </a:r>
                      <a:endParaRPr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50A0"/>
                    </a:solidFill>
                  </a:tcPr>
                </a:tc>
              </a:tr>
              <a:tr h="410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define detalladamente el To-Be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BE3"/>
                    </a:solidFill>
                  </a:tcPr>
                </a:tc>
              </a:tr>
              <a:tr h="452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Luego se alinea la línea base y el plan de cambio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BE3"/>
                    </a:solidFill>
                  </a:tcPr>
                </a:tc>
              </a:tr>
              <a:tr h="54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Es útil cuando hay consenso sobre el destino a alto nivel.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BE3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cuenta con capacidades necesarias</a:t>
                      </a:r>
                      <a:endParaRPr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BE3"/>
                    </a:solidFill>
                  </a:tcPr>
                </a:tc>
              </a:tr>
              <a:tr h="44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Plana gerencial con experiencia en sector y metodología</a:t>
                      </a:r>
                      <a:endParaRPr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CBE3"/>
                    </a:solidFill>
                  </a:tcPr>
                </a:tc>
              </a:tr>
            </a:tbl>
          </a:graphicData>
        </a:graphic>
      </p:graphicFrame>
      <p:sp>
        <p:nvSpPr>
          <p:cNvPr id="376" name="Google Shape;376;p25"/>
          <p:cNvSpPr/>
          <p:nvPr/>
        </p:nvSpPr>
        <p:spPr>
          <a:xfrm>
            <a:off x="5088743" y="1325364"/>
            <a:ext cx="2939845" cy="3872581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180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 txBox="1"/>
          <p:nvPr/>
        </p:nvSpPr>
        <p:spPr>
          <a:xfrm>
            <a:off x="513398" y="769408"/>
            <a:ext cx="637406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ESTILOS DE DEFINICIÓN BASE PRIMERO VS DESTINO PRIMERO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ogle (Noto Color Emoji 16.0)" id="378" name="Google Shape;3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7253" y="1233789"/>
            <a:ext cx="1547504" cy="1547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>
            <a:off x="503238" y="380615"/>
            <a:ext cx="469548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COMPONENTES: NEGOCIO, DATOS, APLICACIONES E INFRAESTRUCTURA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2195" y="1454597"/>
            <a:ext cx="1267890" cy="1184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/>
          <p:nvPr/>
        </p:nvSpPr>
        <p:spPr>
          <a:xfrm>
            <a:off x="513398" y="668918"/>
            <a:ext cx="631144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DOMINIOS ESPECIALIZADOS: ARQUITECTURA DE SEGURIDAD EN EL ADM</a:t>
            </a:r>
            <a:endParaRPr/>
          </a:p>
        </p:txBody>
      </p:sp>
      <p:grpSp>
        <p:nvGrpSpPr>
          <p:cNvPr id="387" name="Google Shape;387;p26"/>
          <p:cNvGrpSpPr/>
          <p:nvPr/>
        </p:nvGrpSpPr>
        <p:grpSpPr>
          <a:xfrm>
            <a:off x="513398" y="1750554"/>
            <a:ext cx="7825241" cy="2996208"/>
            <a:chOff x="559807" y="1809032"/>
            <a:chExt cx="7825241" cy="2996208"/>
          </a:xfrm>
        </p:grpSpPr>
        <p:sp>
          <p:nvSpPr>
            <p:cNvPr id="388" name="Google Shape;388;p26"/>
            <p:cNvSpPr/>
            <p:nvPr/>
          </p:nvSpPr>
          <p:spPr>
            <a:xfrm>
              <a:off x="850550" y="1809032"/>
              <a:ext cx="7379050" cy="77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AUTENTICACIÓN (verificación de identidad)</a:t>
              </a:r>
              <a:br>
                <a:rPr lang="es-ES" sz="14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Verificación de identidad de una persona o entidad que interactúa con la organización o un sistema. Define mecanismos y niveles de confianza (ej. MFA, biometría, certificados), criterios de identidad, y puntos de control. Riesgo que mitiga: suplantación de identidad y accesos no legítimos.</a:t>
              </a:r>
              <a:endParaRPr/>
            </a:p>
          </p:txBody>
        </p:sp>
        <p:cxnSp>
          <p:nvCxnSpPr>
            <p:cNvPr id="389" name="Google Shape;389;p26"/>
            <p:cNvCxnSpPr/>
            <p:nvPr/>
          </p:nvCxnSpPr>
          <p:spPr>
            <a:xfrm>
              <a:off x="636149" y="2011902"/>
              <a:ext cx="0" cy="839469"/>
            </a:xfrm>
            <a:prstGeom prst="straightConnector1">
              <a:avLst/>
            </a:prstGeom>
            <a:noFill/>
            <a:ln cap="flat" cmpd="sng" w="12700">
              <a:solidFill>
                <a:srgbClr val="EE463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0" name="Google Shape;390;p26"/>
            <p:cNvSpPr/>
            <p:nvPr/>
          </p:nvSpPr>
          <p:spPr>
            <a:xfrm>
              <a:off x="850549" y="2876631"/>
              <a:ext cx="7534499" cy="77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AUTORIZACIÓN (capacidades permitidas según identidad)</a:t>
              </a:r>
              <a:br>
                <a:rPr lang="es-ES" sz="14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Definición y aplicación de capacidades permitidas según una identidad ya verificada.</a:t>
              </a:r>
              <a:b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</a:t>
              </a:r>
              <a:r>
                <a:rPr lang="es-E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definen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roles/perfiles, políticas de acceso (mínimo privilegio), segregación de funciones y controles por contexto. Mitiga riesgos </a:t>
              </a:r>
              <a:r>
                <a:rPr lang="es-E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accesos indebidos a datos/funciones críticas y abuso de privilegios.</a:t>
              </a: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850550" y="3835744"/>
              <a:ext cx="6885274" cy="969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AUDITORÍA (capacidad forense y verificación de uso conforme a políticas)</a:t>
              </a:r>
              <a:br>
                <a:rPr b="1" lang="es-ES" sz="14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Son capacidad de generar evidencia verificable (forense) de que el uso de los sistemas cumple políticas y controles establecidos. Donde se </a:t>
              </a:r>
              <a:r>
                <a:rPr lang="es-E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define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trazabilidad de eventos, registros, integridad de logs, retención, monitoreo y capacidad de investigación. Riesgo que mitiga: falta de evidencia ante incidentes, incumplimiento normativo y debilidad de control interno.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559807" y="1818804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3" name="Google Shape;393;p26"/>
            <p:cNvCxnSpPr/>
            <p:nvPr/>
          </p:nvCxnSpPr>
          <p:spPr>
            <a:xfrm>
              <a:off x="636149" y="3070268"/>
              <a:ext cx="0" cy="750320"/>
            </a:xfrm>
            <a:prstGeom prst="straightConnector1">
              <a:avLst/>
            </a:prstGeom>
            <a:noFill/>
            <a:ln cap="flat" cmpd="sng" w="12700">
              <a:solidFill>
                <a:srgbClr val="EE463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4" name="Google Shape;394;p26"/>
            <p:cNvSpPr/>
            <p:nvPr/>
          </p:nvSpPr>
          <p:spPr>
            <a:xfrm>
              <a:off x="559807" y="2887519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559807" y="3835744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26"/>
          <p:cNvSpPr txBox="1"/>
          <p:nvPr/>
        </p:nvSpPr>
        <p:spPr>
          <a:xfrm>
            <a:off x="401650" y="992399"/>
            <a:ext cx="72877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Propósito: evitar omisiones de preocupaciones críticas y asegurar que las decisiones de seguridad sean trazables a decisiones de negocio y políticas de riesgo.</a:t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503238" y="380615"/>
            <a:ext cx="469548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COMPONENTES: NEGOCIO, DATOS, APLICACIONES E INFRAESTRUCTURA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27"/>
          <p:cNvGrpSpPr/>
          <p:nvPr/>
        </p:nvGrpSpPr>
        <p:grpSpPr>
          <a:xfrm>
            <a:off x="158166" y="1465697"/>
            <a:ext cx="2924569" cy="1722587"/>
            <a:chOff x="158166" y="1465697"/>
            <a:chExt cx="2924569" cy="1722587"/>
          </a:xfrm>
        </p:grpSpPr>
        <p:sp>
          <p:nvSpPr>
            <p:cNvPr id="403" name="Google Shape;403;p27"/>
            <p:cNvSpPr/>
            <p:nvPr/>
          </p:nvSpPr>
          <p:spPr>
            <a:xfrm>
              <a:off x="547515" y="1465697"/>
              <a:ext cx="2535220" cy="1722587"/>
            </a:xfrm>
            <a:prstGeom prst="roundRect">
              <a:avLst>
                <a:gd fmla="val 6762" name="adj"/>
              </a:avLst>
            </a:prstGeom>
            <a:solidFill>
              <a:srgbClr val="CCEFF2"/>
            </a:solidFill>
            <a:ln cap="flat" cmpd="sng" w="38100">
              <a:solidFill>
                <a:srgbClr val="00B1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476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00B1C2"/>
                  </a:solidFill>
                  <a:latin typeface="Calibri"/>
                  <a:ea typeface="Calibri"/>
                  <a:cs typeface="Calibri"/>
                  <a:sym typeface="Calibri"/>
                </a:rPr>
                <a:t>META-MODELO DE CONTENIDOS</a:t>
              </a:r>
              <a:endParaRPr/>
            </a:p>
            <a:p>
              <a:pPr indent="0" lvl="0" marL="476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Definir un lenguaje estándar para describir arquitectura (artefactos, catálogos, matrices, diagramas).</a:t>
              </a:r>
              <a:endParaRPr/>
            </a:p>
            <a:p>
              <a:pPr indent="0" lvl="0" marL="476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Resultado: consistencia y comparabilidad entre iniciativas y dominios.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7"/>
            <p:cNvSpPr/>
            <p:nvPr/>
          </p:nvSpPr>
          <p:spPr>
            <a:xfrm rot="-9000000">
              <a:off x="276723" y="2017867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7"/>
            <p:cNvSpPr txBox="1"/>
            <p:nvPr/>
          </p:nvSpPr>
          <p:spPr>
            <a:xfrm>
              <a:off x="479524" y="200382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406" name="Google Shape;406;p27"/>
          <p:cNvGrpSpPr/>
          <p:nvPr/>
        </p:nvGrpSpPr>
        <p:grpSpPr>
          <a:xfrm>
            <a:off x="2935706" y="1465697"/>
            <a:ext cx="2924569" cy="1722587"/>
            <a:chOff x="2935706" y="1481981"/>
            <a:chExt cx="2924569" cy="1722587"/>
          </a:xfrm>
        </p:grpSpPr>
        <p:sp>
          <p:nvSpPr>
            <p:cNvPr id="407" name="Google Shape;407;p27"/>
            <p:cNvSpPr/>
            <p:nvPr/>
          </p:nvSpPr>
          <p:spPr>
            <a:xfrm>
              <a:off x="3325055" y="1481981"/>
              <a:ext cx="2535220" cy="1722587"/>
            </a:xfrm>
            <a:prstGeom prst="roundRect">
              <a:avLst>
                <a:gd fmla="val 7758" name="adj"/>
              </a:avLst>
            </a:prstGeom>
            <a:solidFill>
              <a:srgbClr val="E6F3D6"/>
            </a:solidFill>
            <a:ln cap="flat" cmpd="sng" w="38100">
              <a:solidFill>
                <a:srgbClr val="8EC5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8EC540"/>
                  </a:solidFill>
                  <a:latin typeface="Calibri"/>
                  <a:ea typeface="Calibri"/>
                  <a:cs typeface="Calibri"/>
                  <a:sym typeface="Calibri"/>
                </a:rPr>
                <a:t>TRAZABILIDAD ENTRE ELEMENTOS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Asegurar relación entre artefactos y bloques de construcción. Resultado: decisiones y arquitectura “explicable” end-to-end.</a:t>
              </a:r>
              <a:endParaRPr/>
            </a:p>
          </p:txBody>
        </p:sp>
        <p:sp>
          <p:nvSpPr>
            <p:cNvPr id="408" name="Google Shape;408;p27"/>
            <p:cNvSpPr/>
            <p:nvPr/>
          </p:nvSpPr>
          <p:spPr>
            <a:xfrm rot="-9000000">
              <a:off x="3054263" y="2015863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7"/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410" name="Google Shape;410;p27"/>
          <p:cNvGrpSpPr/>
          <p:nvPr/>
        </p:nvGrpSpPr>
        <p:grpSpPr>
          <a:xfrm>
            <a:off x="5713245" y="1465697"/>
            <a:ext cx="2924570" cy="1722587"/>
            <a:chOff x="5713245" y="1491617"/>
            <a:chExt cx="2924570" cy="1722587"/>
          </a:xfrm>
        </p:grpSpPr>
        <p:sp>
          <p:nvSpPr>
            <p:cNvPr id="411" name="Google Shape;411;p27"/>
            <p:cNvSpPr/>
            <p:nvPr/>
          </p:nvSpPr>
          <p:spPr>
            <a:xfrm>
              <a:off x="6102595" y="1491617"/>
              <a:ext cx="2535220" cy="1722587"/>
            </a:xfrm>
            <a:prstGeom prst="roundRect">
              <a:avLst>
                <a:gd fmla="val 6512" name="adj"/>
              </a:avLst>
            </a:prstGeom>
            <a:solidFill>
              <a:srgbClr val="FCD7D5"/>
            </a:solidFill>
            <a:ln cap="flat" cmpd="sng" w="38100">
              <a:solidFill>
                <a:srgbClr val="EE46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ENTREGABLES ARQUITECTÓNICOS CONTROLADOS</a:t>
              </a:r>
              <a:br>
                <a:rPr b="1" lang="es-ES" sz="13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Estructurar qué se produce por fase (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estructura).</a:t>
              </a: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Resultado: claridad de producto, alcance y control del avance.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7"/>
            <p:cNvSpPr/>
            <p:nvPr/>
          </p:nvSpPr>
          <p:spPr>
            <a:xfrm rot="-9000000">
              <a:off x="5831802" y="2025499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7"/>
            <p:cNvSpPr txBox="1"/>
            <p:nvPr/>
          </p:nvSpPr>
          <p:spPr>
            <a:xfrm>
              <a:off x="6034603" y="202974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414" name="Google Shape;414;p27"/>
          <p:cNvGrpSpPr/>
          <p:nvPr/>
        </p:nvGrpSpPr>
        <p:grpSpPr>
          <a:xfrm>
            <a:off x="158166" y="3476337"/>
            <a:ext cx="2924569" cy="1722587"/>
            <a:chOff x="158166" y="3467193"/>
            <a:chExt cx="2924569" cy="1722587"/>
          </a:xfrm>
        </p:grpSpPr>
        <p:sp>
          <p:nvSpPr>
            <p:cNvPr id="415" name="Google Shape;415;p27"/>
            <p:cNvSpPr/>
            <p:nvPr/>
          </p:nvSpPr>
          <p:spPr>
            <a:xfrm>
              <a:off x="547515" y="3467193"/>
              <a:ext cx="2535220" cy="1722587"/>
            </a:xfrm>
            <a:prstGeom prst="roundRect">
              <a:avLst>
                <a:gd fmla="val 6762" name="adj"/>
              </a:avLst>
            </a:prstGeom>
            <a:solidFill>
              <a:srgbClr val="FFE2D2"/>
            </a:solidFill>
            <a:ln cap="flat" cmpd="sng" w="38100">
              <a:solidFill>
                <a:srgbClr val="FF7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FF7828"/>
                  </a:solidFill>
                  <a:latin typeface="Calibri"/>
                  <a:ea typeface="Calibri"/>
                  <a:cs typeface="Calibri"/>
                  <a:sym typeface="Calibri"/>
                </a:rPr>
                <a:t>BLOQUES DE CONSTRUCCIÓN </a:t>
              </a:r>
              <a:br>
                <a:rPr b="1" lang="es-ES" sz="1300">
                  <a:solidFill>
                    <a:srgbClr val="FF782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Construir arquitectura con componentes reutilizables , generando interoperabilidad, flexibilidad y menos reinvención.</a:t>
              </a: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 rot="-9000000">
              <a:off x="276723" y="4019363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FF78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7"/>
            <p:cNvSpPr txBox="1"/>
            <p:nvPr/>
          </p:nvSpPr>
          <p:spPr>
            <a:xfrm>
              <a:off x="479524" y="4005321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418" name="Google Shape;418;p27"/>
          <p:cNvGrpSpPr/>
          <p:nvPr/>
        </p:nvGrpSpPr>
        <p:grpSpPr>
          <a:xfrm>
            <a:off x="2935706" y="3476337"/>
            <a:ext cx="2924569" cy="1722587"/>
            <a:chOff x="2935706" y="3483477"/>
            <a:chExt cx="2924569" cy="1722587"/>
          </a:xfrm>
        </p:grpSpPr>
        <p:sp>
          <p:nvSpPr>
            <p:cNvPr id="419" name="Google Shape;419;p27"/>
            <p:cNvSpPr/>
            <p:nvPr/>
          </p:nvSpPr>
          <p:spPr>
            <a:xfrm>
              <a:off x="3325055" y="3483477"/>
              <a:ext cx="2535220" cy="1722587"/>
            </a:xfrm>
            <a:prstGeom prst="roundRect">
              <a:avLst>
                <a:gd fmla="val 8008" name="adj"/>
              </a:avLst>
            </a:prstGeom>
            <a:solidFill>
              <a:srgbClr val="FFF2D1"/>
            </a:solidFill>
            <a:ln cap="flat" cmpd="sng" w="38100">
              <a:solidFill>
                <a:srgbClr val="FEC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FEC212"/>
                  </a:solidFill>
                  <a:latin typeface="Calibri"/>
                  <a:ea typeface="Calibri"/>
                  <a:cs typeface="Calibri"/>
                  <a:sym typeface="Calibri"/>
                </a:rPr>
                <a:t>REPOSITORIO DE ARQUITECTURA</a:t>
              </a:r>
              <a:br>
                <a:rPr b="1" lang="es-ES" sz="1300">
                  <a:solidFill>
                    <a:srgbClr val="FEC21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Gobernar artefactos, entregables y estándares como activos. Ello permite reutilización sistemática, arquitectura y auditoria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7"/>
            <p:cNvSpPr/>
            <p:nvPr/>
          </p:nvSpPr>
          <p:spPr>
            <a:xfrm rot="-9000000">
              <a:off x="3054263" y="4017359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FEC21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7"/>
            <p:cNvSpPr txBox="1"/>
            <p:nvPr/>
          </p:nvSpPr>
          <p:spPr>
            <a:xfrm>
              <a:off x="3257063" y="402160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grpSp>
        <p:nvGrpSpPr>
          <p:cNvPr id="422" name="Google Shape;422;p27"/>
          <p:cNvGrpSpPr/>
          <p:nvPr/>
        </p:nvGrpSpPr>
        <p:grpSpPr>
          <a:xfrm>
            <a:off x="5713245" y="3476337"/>
            <a:ext cx="2924570" cy="1722587"/>
            <a:chOff x="5713245" y="3493113"/>
            <a:chExt cx="2924570" cy="1722587"/>
          </a:xfrm>
        </p:grpSpPr>
        <p:sp>
          <p:nvSpPr>
            <p:cNvPr id="423" name="Google Shape;423;p27"/>
            <p:cNvSpPr/>
            <p:nvPr/>
          </p:nvSpPr>
          <p:spPr>
            <a:xfrm>
              <a:off x="6102595" y="3493113"/>
              <a:ext cx="2535220" cy="1722587"/>
            </a:xfrm>
            <a:prstGeom prst="roundRect">
              <a:avLst>
                <a:gd fmla="val 6512" name="adj"/>
              </a:avLst>
            </a:prstGeom>
            <a:solidFill>
              <a:srgbClr val="E0D9EB"/>
            </a:solidFill>
            <a:ln cap="flat" cmpd="sng" w="3810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714FA0"/>
                  </a:solidFill>
                  <a:latin typeface="Calibri"/>
                  <a:ea typeface="Calibri"/>
                  <a:cs typeface="Calibri"/>
                  <a:sym typeface="Calibri"/>
                </a:rPr>
                <a:t>CAPACIDAD ARQUITECTÓNICA Y GOBIERNO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Establecer práctica: roles, responsabilidades, gobernanza y operación de arquitectura. Disciplina</a:t>
              </a:r>
              <a:endParaRPr/>
            </a:p>
          </p:txBody>
        </p:sp>
        <p:sp>
          <p:nvSpPr>
            <p:cNvPr id="424" name="Google Shape;424;p27"/>
            <p:cNvSpPr/>
            <p:nvPr/>
          </p:nvSpPr>
          <p:spPr>
            <a:xfrm rot="-9000000">
              <a:off x="5831802" y="4026995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7"/>
            <p:cNvSpPr txBox="1"/>
            <p:nvPr/>
          </p:nvSpPr>
          <p:spPr>
            <a:xfrm>
              <a:off x="6034603" y="4031241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sp>
        <p:nvSpPr>
          <p:cNvPr id="426" name="Google Shape;426;p27"/>
          <p:cNvSpPr/>
          <p:nvPr/>
        </p:nvSpPr>
        <p:spPr>
          <a:xfrm>
            <a:off x="503237" y="920364"/>
            <a:ext cx="71320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PRINCIPIOS Y RESULTADOS DE MAYOR IMPACTO DE LA METODOLOGÍA</a:t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503238" y="380615"/>
            <a:ext cx="469548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COMPONENTES: NEGOCIO, DATOS, APLICACIONES E INFRAESTRUCTURA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8"/>
          <p:cNvSpPr txBox="1"/>
          <p:nvPr/>
        </p:nvSpPr>
        <p:spPr>
          <a:xfrm>
            <a:off x="503238" y="767395"/>
            <a:ext cx="388581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APORTES RELEVANTES</a:t>
            </a:r>
            <a:endParaRPr/>
          </a:p>
        </p:txBody>
      </p:sp>
      <p:grpSp>
        <p:nvGrpSpPr>
          <p:cNvPr id="434" name="Google Shape;434;p28"/>
          <p:cNvGrpSpPr/>
          <p:nvPr/>
        </p:nvGrpSpPr>
        <p:grpSpPr>
          <a:xfrm>
            <a:off x="1747413" y="1186153"/>
            <a:ext cx="5283283" cy="3773261"/>
            <a:chOff x="1807261" y="1333691"/>
            <a:chExt cx="5283283" cy="3773261"/>
          </a:xfrm>
        </p:grpSpPr>
        <p:sp>
          <p:nvSpPr>
            <p:cNvPr id="435" name="Google Shape;435;p28"/>
            <p:cNvSpPr/>
            <p:nvPr/>
          </p:nvSpPr>
          <p:spPr>
            <a:xfrm>
              <a:off x="3264106" y="2107336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1825526" y="1333691"/>
              <a:ext cx="2518544" cy="1821316"/>
            </a:xfrm>
            <a:prstGeom prst="roundRect">
              <a:avLst>
                <a:gd fmla="val 6572" name="adj"/>
              </a:avLst>
            </a:prstGeom>
            <a:solidFill>
              <a:schemeClr val="lt1"/>
            </a:solidFill>
            <a:ln cap="flat" cmpd="sng" w="38100">
              <a:solidFill>
                <a:srgbClr val="FF77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Meta-modelo común (catálogos, matrices, diagramas).</a:t>
              </a: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1817579" y="2682242"/>
              <a:ext cx="2538511" cy="472329"/>
            </a:xfrm>
            <a:prstGeom prst="roundRect">
              <a:avLst>
                <a:gd fmla="val 23854" name="adj"/>
              </a:avLst>
            </a:prstGeom>
            <a:solidFill>
              <a:srgbClr val="FF77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CONSISTENCIA </a:t>
              </a:r>
              <a:endParaRPr b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3270116" y="4059281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1831536" y="3285636"/>
              <a:ext cx="2518544" cy="1821316"/>
            </a:xfrm>
            <a:prstGeom prst="roundRect">
              <a:avLst>
                <a:gd fmla="val 6397" name="adj"/>
              </a:avLst>
            </a:prstGeom>
            <a:solidFill>
              <a:schemeClr val="lt1"/>
            </a:solidFill>
            <a:ln cap="flat" cmpd="sng" w="38100">
              <a:solidFill>
                <a:srgbClr val="00B1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ABBs/SBBs reutilizables con interfaces definidas.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1823590" y="4652133"/>
              <a:ext cx="2522182" cy="454384"/>
            </a:xfrm>
            <a:prstGeom prst="roundRect">
              <a:avLst>
                <a:gd fmla="val 25650" name="adj"/>
              </a:avLst>
            </a:prstGeom>
            <a:solidFill>
              <a:srgbClr val="00B2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REUTILIZACIÓN</a:t>
              </a: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1823589" y="4617539"/>
              <a:ext cx="2521027" cy="121339"/>
            </a:xfrm>
            <a:prstGeom prst="rect">
              <a:avLst/>
            </a:prstGeom>
            <a:solidFill>
              <a:srgbClr val="00B2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6010580" y="2107336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4572000" y="1333691"/>
              <a:ext cx="2518544" cy="1821316"/>
            </a:xfrm>
            <a:prstGeom prst="roundRect">
              <a:avLst>
                <a:gd fmla="val 6397" name="adj"/>
              </a:avLst>
            </a:prstGeom>
            <a:solidFill>
              <a:schemeClr val="lt1"/>
            </a:solidFill>
            <a:ln cap="flat" cmpd="sng" w="38100">
              <a:solidFill>
                <a:srgbClr val="8EC5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Artefactos y entregables ligados a requerimientos.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4569148" y="2700188"/>
              <a:ext cx="2511227" cy="454384"/>
            </a:xfrm>
            <a:prstGeom prst="roundRect">
              <a:avLst>
                <a:gd fmla="val 22057" name="adj"/>
              </a:avLst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TRAZABILIDAD</a:t>
              </a: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4564053" y="2665594"/>
              <a:ext cx="2516321" cy="146513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6010580" y="4059281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4572000" y="3285636"/>
              <a:ext cx="2518544" cy="1821316"/>
            </a:xfrm>
            <a:prstGeom prst="roundRect">
              <a:avLst>
                <a:gd fmla="val 6746" name="adj"/>
              </a:avLst>
            </a:prstGeom>
            <a:solidFill>
              <a:schemeClr val="lt1"/>
            </a:solidFill>
            <a:ln cap="flat" cmpd="sng" w="38100">
              <a:solidFill>
                <a:srgbClr val="EE45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Repositorio + capacidad arquitectónica para control del cambio.</a:t>
              </a: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4564053" y="4617539"/>
              <a:ext cx="2516321" cy="145832"/>
            </a:xfrm>
            <a:prstGeom prst="rect">
              <a:avLst/>
            </a:prstGeom>
            <a:solidFill>
              <a:srgbClr val="EE45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4564053" y="4652133"/>
              <a:ext cx="2516321" cy="454384"/>
            </a:xfrm>
            <a:prstGeom prst="roundRect">
              <a:avLst>
                <a:gd fmla="val 23855" name="adj"/>
              </a:avLst>
            </a:prstGeom>
            <a:solidFill>
              <a:srgbClr val="EE45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GOBERNANZA</a:t>
              </a: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1807261" y="2665594"/>
              <a:ext cx="2538511" cy="162841"/>
            </a:xfrm>
            <a:prstGeom prst="rect">
              <a:avLst/>
            </a:prstGeom>
            <a:solidFill>
              <a:srgbClr val="FF77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ecycle outline" id="451" name="Google Shape;451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33608" y="333550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2" name="Google Shape;452;p28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PRINCIPIOS Y RESULTADOS DE LA AE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9918" y="1333791"/>
            <a:ext cx="668713" cy="66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4715" y="1314500"/>
            <a:ext cx="743905" cy="74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9471" y="3251048"/>
            <a:ext cx="743905" cy="743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"/>
          <p:cNvSpPr/>
          <p:nvPr/>
        </p:nvSpPr>
        <p:spPr>
          <a:xfrm>
            <a:off x="785086" y="920364"/>
            <a:ext cx="4207537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PRINCIPIOS Y RESULTADOS DE LA AE (TOGAF 9.1)</a:t>
            </a:r>
            <a:endParaRPr/>
          </a:p>
        </p:txBody>
      </p:sp>
      <p:pic>
        <p:nvPicPr>
          <p:cNvPr id="462" name="Google Shape;4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8832" y="2265340"/>
            <a:ext cx="2577375" cy="213349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9"/>
          <p:cNvSpPr/>
          <p:nvPr/>
        </p:nvSpPr>
        <p:spPr>
          <a:xfrm>
            <a:off x="3182988" y="1930206"/>
            <a:ext cx="2747042" cy="2798388"/>
          </a:xfrm>
          <a:prstGeom prst="ellipse">
            <a:avLst/>
          </a:prstGeom>
          <a:noFill/>
          <a:ln cap="flat" cmpd="sng" w="28575">
            <a:solidFill>
              <a:srgbClr val="808799">
                <a:alpha val="53725"/>
              </a:srgbClr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1255095" y="1800334"/>
            <a:ext cx="1915411" cy="722579"/>
          </a:xfrm>
          <a:prstGeom prst="roundRect">
            <a:avLst>
              <a:gd fmla="val 47824" name="adj"/>
            </a:avLst>
          </a:prstGeom>
          <a:solidFill>
            <a:schemeClr val="lt1"/>
          </a:solidFill>
          <a:ln cap="flat" cmpd="sng" w="19050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00ADEE"/>
                </a:solidFill>
                <a:latin typeface="Calibri"/>
                <a:ea typeface="Calibri"/>
                <a:cs typeface="Calibri"/>
                <a:sym typeface="Calibri"/>
              </a:rPr>
              <a:t>CONTENIDO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00ADEE"/>
                </a:solidFill>
                <a:latin typeface="Calibri"/>
                <a:ea typeface="Calibri"/>
                <a:cs typeface="Calibri"/>
                <a:sym typeface="Calibri"/>
              </a:rPr>
              <a:t>ARQUITECTÓNICO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00ADEE"/>
                </a:solidFill>
                <a:latin typeface="Calibri"/>
                <a:ea typeface="Calibri"/>
                <a:cs typeface="Calibri"/>
                <a:sym typeface="Calibri"/>
              </a:rPr>
              <a:t>(TRAZABLE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00ADEE"/>
                </a:solidFill>
                <a:latin typeface="Calibri"/>
                <a:ea typeface="Calibri"/>
                <a:cs typeface="Calibri"/>
                <a:sym typeface="Calibri"/>
              </a:rPr>
              <a:t>Y GOBERNADO)</a:t>
            </a: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2500808" y="1786135"/>
            <a:ext cx="746433" cy="743601"/>
          </a:xfrm>
          <a:prstGeom prst="ellipse">
            <a:avLst/>
          </a:prstGeom>
          <a:solidFill>
            <a:srgbClr val="00A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924225" y="2800548"/>
            <a:ext cx="1915411" cy="722579"/>
          </a:xfrm>
          <a:prstGeom prst="roundRect">
            <a:avLst>
              <a:gd fmla="val 47824" name="adj"/>
            </a:avLst>
          </a:prstGeom>
          <a:solidFill>
            <a:schemeClr val="lt1"/>
          </a:solidFill>
          <a:ln cap="flat" cmpd="sng" w="19050">
            <a:solidFill>
              <a:srgbClr val="8EC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8EC540"/>
                </a:solidFill>
                <a:latin typeface="Calibri"/>
                <a:ea typeface="Calibri"/>
                <a:cs typeface="Calibri"/>
                <a:sym typeface="Calibri"/>
              </a:rPr>
              <a:t>ENTREGABLES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8EC540"/>
                </a:solidFill>
                <a:latin typeface="Calibri"/>
                <a:ea typeface="Calibri"/>
                <a:cs typeface="Calibri"/>
                <a:sym typeface="Calibri"/>
              </a:rPr>
              <a:t>Control del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8EC540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2169938" y="2786349"/>
            <a:ext cx="746433" cy="743601"/>
          </a:xfrm>
          <a:prstGeom prst="ellipse">
            <a:avLst/>
          </a:prstGeom>
          <a:solidFill>
            <a:srgbClr val="8EC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1116418" y="3812584"/>
            <a:ext cx="1915411" cy="722579"/>
          </a:xfrm>
          <a:prstGeom prst="roundRect">
            <a:avLst>
              <a:gd fmla="val 47824" name="adj"/>
            </a:avLst>
          </a:prstGeom>
          <a:solidFill>
            <a:schemeClr val="lt1"/>
          </a:solidFill>
          <a:ln cap="flat" cmpd="sng" w="19050">
            <a:solidFill>
              <a:srgbClr val="714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714FA0"/>
                </a:solidFill>
                <a:latin typeface="Calibri"/>
                <a:ea typeface="Calibri"/>
                <a:cs typeface="Calibri"/>
                <a:sym typeface="Calibri"/>
              </a:rPr>
              <a:t>ABBs / SBBs</a:t>
            </a:r>
            <a:endParaRPr b="1" sz="1400">
              <a:solidFill>
                <a:srgbClr val="714F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714FA0"/>
                </a:solidFill>
                <a:latin typeface="Calibri"/>
                <a:ea typeface="Calibri"/>
                <a:cs typeface="Calibri"/>
                <a:sym typeface="Calibri"/>
              </a:rPr>
              <a:t>Reutilización</a:t>
            </a: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2362131" y="3798385"/>
            <a:ext cx="746433" cy="743601"/>
          </a:xfrm>
          <a:prstGeom prst="ellipse">
            <a:avLst/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6217875" y="3386782"/>
            <a:ext cx="1918402" cy="722579"/>
          </a:xfrm>
          <a:prstGeom prst="roundRect">
            <a:avLst>
              <a:gd fmla="val 47824" name="adj"/>
            </a:avLst>
          </a:prstGeom>
          <a:solidFill>
            <a:schemeClr val="lt1"/>
          </a:solidFill>
          <a:ln cap="flat" cmpd="sng" w="1905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731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REPOSITORIO</a:t>
            </a:r>
            <a:endParaRPr/>
          </a:p>
          <a:p>
            <a:pPr indent="0" lvl="0" marL="6731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Memoria y estándares</a:t>
            </a:r>
            <a:endParaRPr b="1" sz="1400">
              <a:solidFill>
                <a:srgbClr val="EE46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6173119" y="3372584"/>
            <a:ext cx="746433" cy="743601"/>
          </a:xfrm>
          <a:prstGeom prst="ellipse">
            <a:avLst/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6186016" y="2484454"/>
            <a:ext cx="1918402" cy="722579"/>
          </a:xfrm>
          <a:prstGeom prst="roundRect">
            <a:avLst>
              <a:gd fmla="val 47824" name="adj"/>
            </a:avLst>
          </a:prstGeom>
          <a:solidFill>
            <a:schemeClr val="lt1"/>
          </a:solidFill>
          <a:ln cap="flat" cmpd="sng" w="19050">
            <a:solidFill>
              <a:srgbClr val="FEC2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731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FEC212"/>
                </a:solidFill>
                <a:latin typeface="Calibri"/>
                <a:ea typeface="Calibri"/>
                <a:cs typeface="Calibri"/>
                <a:sym typeface="Calibri"/>
              </a:rPr>
              <a:t>ARTEFACTOS</a:t>
            </a:r>
            <a:endParaRPr/>
          </a:p>
          <a:p>
            <a:pPr indent="0" lvl="0" marL="6731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FEC212"/>
                </a:solidFill>
                <a:latin typeface="Calibri"/>
                <a:ea typeface="Calibri"/>
                <a:cs typeface="Calibri"/>
                <a:sym typeface="Calibri"/>
              </a:rPr>
              <a:t>Catálogos, matrices, diagramas</a:t>
            </a: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6141260" y="2470255"/>
            <a:ext cx="746433" cy="743601"/>
          </a:xfrm>
          <a:prstGeom prst="ellipse">
            <a:avLst/>
          </a:prstGeom>
          <a:solidFill>
            <a:srgbClr val="FEC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5603075" y="1596324"/>
            <a:ext cx="1918402" cy="722579"/>
          </a:xfrm>
          <a:prstGeom prst="roundRect">
            <a:avLst>
              <a:gd fmla="val 47824" name="adj"/>
            </a:avLst>
          </a:prstGeom>
          <a:solidFill>
            <a:schemeClr val="lt1"/>
          </a:solidFill>
          <a:ln cap="flat" cmpd="sng" w="19050">
            <a:solidFill>
              <a:srgbClr val="80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5723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rPr>
              <a:t>META-MODELO</a:t>
            </a:r>
            <a:endParaRPr/>
          </a:p>
          <a:p>
            <a:pPr indent="0" lvl="0" marL="757238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rPr>
              <a:t>Consistencia</a:t>
            </a:r>
            <a:endParaRPr/>
          </a:p>
        </p:txBody>
      </p:sp>
      <p:sp>
        <p:nvSpPr>
          <p:cNvPr id="475" name="Google Shape;475;p29"/>
          <p:cNvSpPr/>
          <p:nvPr/>
        </p:nvSpPr>
        <p:spPr>
          <a:xfrm>
            <a:off x="5592682" y="1586346"/>
            <a:ext cx="746433" cy="743601"/>
          </a:xfrm>
          <a:prstGeom prst="ellipse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5736383" y="4314654"/>
            <a:ext cx="1918402" cy="722579"/>
          </a:xfrm>
          <a:prstGeom prst="roundRect">
            <a:avLst>
              <a:gd fmla="val 47824" name="adj"/>
            </a:avLst>
          </a:prstGeom>
          <a:solidFill>
            <a:schemeClr val="lt1"/>
          </a:solidFill>
          <a:ln cap="flat" cmpd="sng" w="19050">
            <a:solidFill>
              <a:srgbClr val="00B1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581025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00B1C1"/>
                </a:solidFill>
                <a:latin typeface="Calibri"/>
                <a:ea typeface="Calibri"/>
                <a:cs typeface="Calibri"/>
                <a:sym typeface="Calibri"/>
              </a:rPr>
              <a:t>GOBIERNO Y CAPACIDAD</a:t>
            </a:r>
            <a:endParaRPr/>
          </a:p>
          <a:p>
            <a:pPr indent="581025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00B1C1"/>
                </a:solidFill>
                <a:latin typeface="Calibri"/>
                <a:ea typeface="Calibri"/>
                <a:cs typeface="Calibri"/>
                <a:sym typeface="Calibri"/>
              </a:rPr>
              <a:t>Conformidad y continuidad</a:t>
            </a:r>
            <a:endParaRPr b="1" sz="900">
              <a:solidFill>
                <a:srgbClr val="00B1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5691627" y="4300455"/>
            <a:ext cx="746433" cy="743601"/>
          </a:xfrm>
          <a:prstGeom prst="ellipse">
            <a:avLst/>
          </a:prstGeom>
          <a:solidFill>
            <a:srgbClr val="00B1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829" y="1670544"/>
            <a:ext cx="574138" cy="574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5469" y="2612259"/>
            <a:ext cx="478013" cy="478013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9"/>
          <p:cNvSpPr/>
          <p:nvPr/>
        </p:nvSpPr>
        <p:spPr>
          <a:xfrm rot="-6300000">
            <a:off x="5469006" y="1973464"/>
            <a:ext cx="175831" cy="141393"/>
          </a:xfrm>
          <a:prstGeom prst="triangle">
            <a:avLst>
              <a:gd fmla="val 34770" name="adj"/>
            </a:avLst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9"/>
          <p:cNvSpPr/>
          <p:nvPr/>
        </p:nvSpPr>
        <p:spPr>
          <a:xfrm rot="-5400000">
            <a:off x="6001434" y="2780568"/>
            <a:ext cx="175831" cy="141393"/>
          </a:xfrm>
          <a:prstGeom prst="triangle">
            <a:avLst>
              <a:gd fmla="val 50000" name="adj"/>
            </a:avLst>
          </a:prstGeom>
          <a:solidFill>
            <a:srgbClr val="FEC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 rot="-4653533">
            <a:off x="6041984" y="3572605"/>
            <a:ext cx="175831" cy="141393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/>
          <p:nvPr/>
        </p:nvSpPr>
        <p:spPr>
          <a:xfrm rot="-4113316">
            <a:off x="5595559" y="4430033"/>
            <a:ext cx="175831" cy="141393"/>
          </a:xfrm>
          <a:prstGeom prst="triangle">
            <a:avLst>
              <a:gd fmla="val 50000" name="adj"/>
            </a:avLst>
          </a:prstGeom>
          <a:solidFill>
            <a:srgbClr val="00B1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/>
          <p:nvPr/>
        </p:nvSpPr>
        <p:spPr>
          <a:xfrm rot="4469506">
            <a:off x="3056561" y="3997147"/>
            <a:ext cx="175831" cy="141393"/>
          </a:xfrm>
          <a:prstGeom prst="triangle">
            <a:avLst>
              <a:gd fmla="val 50000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9"/>
          <p:cNvSpPr/>
          <p:nvPr/>
        </p:nvSpPr>
        <p:spPr>
          <a:xfrm rot="5400000">
            <a:off x="2880667" y="3087453"/>
            <a:ext cx="175831" cy="141393"/>
          </a:xfrm>
          <a:prstGeom prst="triangle">
            <a:avLst>
              <a:gd fmla="val 50000" name="adj"/>
            </a:avLst>
          </a:prstGeom>
          <a:solidFill>
            <a:srgbClr val="8EC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9"/>
          <p:cNvSpPr/>
          <p:nvPr/>
        </p:nvSpPr>
        <p:spPr>
          <a:xfrm rot="6202974">
            <a:off x="3202400" y="2189131"/>
            <a:ext cx="175831" cy="141393"/>
          </a:xfrm>
          <a:prstGeom prst="triangle">
            <a:avLst>
              <a:gd fmla="val 51933" name="adj"/>
            </a:avLst>
          </a:prstGeom>
          <a:solidFill>
            <a:srgbClr val="00AD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7" name="Google Shape;487;p29"/>
          <p:cNvGrpSpPr/>
          <p:nvPr/>
        </p:nvGrpSpPr>
        <p:grpSpPr>
          <a:xfrm>
            <a:off x="511902" y="912279"/>
            <a:ext cx="210869" cy="211672"/>
            <a:chOff x="511902" y="912279"/>
            <a:chExt cx="281320" cy="282391"/>
          </a:xfrm>
        </p:grpSpPr>
        <p:sp>
          <p:nvSpPr>
            <p:cNvPr id="488" name="Google Shape;488;p29"/>
            <p:cNvSpPr/>
            <p:nvPr/>
          </p:nvSpPr>
          <p:spPr>
            <a:xfrm rot="5400000">
              <a:off x="511366" y="912814"/>
              <a:ext cx="282391" cy="281320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9" name="Google Shape;489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5400000">
              <a:off x="578093" y="979006"/>
              <a:ext cx="148937" cy="1489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0" name="Google Shape;490;p29"/>
          <p:cNvGrpSpPr/>
          <p:nvPr/>
        </p:nvGrpSpPr>
        <p:grpSpPr>
          <a:xfrm>
            <a:off x="3465392" y="2278006"/>
            <a:ext cx="168063" cy="167425"/>
            <a:chOff x="3427964" y="2244682"/>
            <a:chExt cx="225891" cy="225034"/>
          </a:xfrm>
        </p:grpSpPr>
        <p:sp>
          <p:nvSpPr>
            <p:cNvPr id="491" name="Google Shape;491;p29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AD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0AD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29"/>
          <p:cNvGrpSpPr/>
          <p:nvPr/>
        </p:nvGrpSpPr>
        <p:grpSpPr>
          <a:xfrm>
            <a:off x="3117158" y="3090272"/>
            <a:ext cx="168063" cy="167425"/>
            <a:chOff x="3427964" y="2244682"/>
            <a:chExt cx="225891" cy="225034"/>
          </a:xfrm>
        </p:grpSpPr>
        <p:sp>
          <p:nvSpPr>
            <p:cNvPr id="494" name="Google Shape;494;p29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8EC5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29"/>
          <p:cNvGrpSpPr/>
          <p:nvPr/>
        </p:nvGrpSpPr>
        <p:grpSpPr>
          <a:xfrm>
            <a:off x="3267621" y="3900418"/>
            <a:ext cx="168063" cy="167425"/>
            <a:chOff x="3427964" y="2244682"/>
            <a:chExt cx="225891" cy="225034"/>
          </a:xfrm>
        </p:grpSpPr>
        <p:sp>
          <p:nvSpPr>
            <p:cNvPr id="497" name="Google Shape;497;p29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29"/>
          <p:cNvGrpSpPr/>
          <p:nvPr/>
        </p:nvGrpSpPr>
        <p:grpSpPr>
          <a:xfrm>
            <a:off x="5826475" y="3523797"/>
            <a:ext cx="168063" cy="167425"/>
            <a:chOff x="3427964" y="2244682"/>
            <a:chExt cx="225891" cy="225034"/>
          </a:xfrm>
        </p:grpSpPr>
        <p:sp>
          <p:nvSpPr>
            <p:cNvPr id="500" name="Google Shape;500;p29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EE46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29"/>
          <p:cNvGrpSpPr/>
          <p:nvPr/>
        </p:nvGrpSpPr>
        <p:grpSpPr>
          <a:xfrm>
            <a:off x="5768237" y="2773206"/>
            <a:ext cx="168063" cy="167425"/>
            <a:chOff x="3427964" y="2244682"/>
            <a:chExt cx="225891" cy="225034"/>
          </a:xfrm>
        </p:grpSpPr>
        <p:sp>
          <p:nvSpPr>
            <p:cNvPr id="503" name="Google Shape;503;p29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FEC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FEC21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" name="Google Shape;505;p29"/>
          <p:cNvGrpSpPr/>
          <p:nvPr/>
        </p:nvGrpSpPr>
        <p:grpSpPr>
          <a:xfrm>
            <a:off x="5378672" y="4309755"/>
            <a:ext cx="168063" cy="167425"/>
            <a:chOff x="3427964" y="2244682"/>
            <a:chExt cx="225891" cy="225034"/>
          </a:xfrm>
        </p:grpSpPr>
        <p:sp>
          <p:nvSpPr>
            <p:cNvPr id="506" name="Google Shape;506;p29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0B1C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0B1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" name="Google Shape;508;p29"/>
          <p:cNvGrpSpPr/>
          <p:nvPr/>
        </p:nvGrpSpPr>
        <p:grpSpPr>
          <a:xfrm>
            <a:off x="5250936" y="2087586"/>
            <a:ext cx="168063" cy="167425"/>
            <a:chOff x="3427964" y="2244682"/>
            <a:chExt cx="225891" cy="225034"/>
          </a:xfrm>
        </p:grpSpPr>
        <p:sp>
          <p:nvSpPr>
            <p:cNvPr id="509" name="Google Shape;509;p29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8087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1" name="Google Shape;511;p29"/>
          <p:cNvSpPr/>
          <p:nvPr/>
        </p:nvSpPr>
        <p:spPr>
          <a:xfrm rot="5400000">
            <a:off x="511500" y="912681"/>
            <a:ext cx="211672" cy="210869"/>
          </a:xfrm>
          <a:prstGeom prst="ellipse">
            <a:avLst/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" name="Google Shape;51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792" y="966062"/>
            <a:ext cx="101088" cy="104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ress Book outline" id="513" name="Google Shape;51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77140" y="1862466"/>
            <a:ext cx="583312" cy="583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 graph with upward trend outline" id="514" name="Google Shape;51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51706" y="2870357"/>
            <a:ext cx="575583" cy="575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cycle outline" id="515" name="Google Shape;515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87588" y="3891733"/>
            <a:ext cx="501320" cy="501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lder Search outline" id="516" name="Google Shape;516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32110" y="3413923"/>
            <a:ext cx="660922" cy="660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urt outline" id="517" name="Google Shape;517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97539" y="4368815"/>
            <a:ext cx="518507" cy="518507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29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PRINCIPIOS Y RESULTADOS DE LA AE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0"/>
          <p:cNvPicPr preferRelativeResize="0"/>
          <p:nvPr/>
        </p:nvPicPr>
        <p:blipFill rotWithShape="1">
          <a:blip r:embed="rId3">
            <a:alphaModFix/>
          </a:blip>
          <a:srcRect b="0" l="27208" r="27730" t="0"/>
          <a:stretch/>
        </p:blipFill>
        <p:spPr>
          <a:xfrm flipH="1">
            <a:off x="6006351" y="912813"/>
            <a:ext cx="2596200" cy="43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0"/>
          <p:cNvSpPr txBox="1"/>
          <p:nvPr/>
        </p:nvSpPr>
        <p:spPr>
          <a:xfrm>
            <a:off x="2211768" y="2277499"/>
            <a:ext cx="3599053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¿Y AHORA</a:t>
            </a:r>
            <a:br>
              <a:rPr b="1" lang="es-ES" sz="3600">
                <a:solidFill>
                  <a:srgbClr val="8EC5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rgbClr val="8EC540"/>
                </a:solidFill>
                <a:latin typeface="Arial"/>
                <a:ea typeface="Arial"/>
                <a:cs typeface="Arial"/>
                <a:sym typeface="Arial"/>
              </a:rPr>
              <a:t>QUÉ OPINAS…?</a:t>
            </a:r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076" y="2441396"/>
            <a:ext cx="329184" cy="54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891" y="2149609"/>
            <a:ext cx="1222115" cy="12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1"/>
          <p:cNvSpPr txBox="1"/>
          <p:nvPr/>
        </p:nvSpPr>
        <p:spPr>
          <a:xfrm>
            <a:off x="2538968" y="2146536"/>
            <a:ext cx="4393096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Comparte tus dudas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Podemos resolverlo juntos como equipo</a:t>
            </a:r>
            <a:endParaRPr/>
          </a:p>
        </p:txBody>
      </p:sp>
      <p:sp>
        <p:nvSpPr>
          <p:cNvPr id="533" name="Google Shape;533;p31"/>
          <p:cNvSpPr/>
          <p:nvPr/>
        </p:nvSpPr>
        <p:spPr>
          <a:xfrm>
            <a:off x="2017643" y="2253078"/>
            <a:ext cx="425980" cy="425980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4" name="Google Shape;53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2988" y="2344912"/>
            <a:ext cx="235290" cy="24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0" name="Google Shape;540;p32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541" name="Google Shape;541;p32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2" name="Google Shape;542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3" name="Google Shape;54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1" name="Google Shape;551;p33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287395" y="3366155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grpSp>
        <p:nvGrpSpPr>
          <p:cNvPr id="553" name="Google Shape;553;p33"/>
          <p:cNvGrpSpPr/>
          <p:nvPr/>
        </p:nvGrpSpPr>
        <p:grpSpPr>
          <a:xfrm>
            <a:off x="1029549" y="751183"/>
            <a:ext cx="6514252" cy="3231654"/>
            <a:chOff x="1011260" y="833479"/>
            <a:chExt cx="6564707" cy="3231654"/>
          </a:xfrm>
        </p:grpSpPr>
        <p:sp>
          <p:nvSpPr>
            <p:cNvPr id="554" name="Google Shape;554;p33"/>
            <p:cNvSpPr txBox="1"/>
            <p:nvPr/>
          </p:nvSpPr>
          <p:spPr>
            <a:xfrm>
              <a:off x="1300084" y="833479"/>
              <a:ext cx="6275883" cy="3231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Arquitectura Empresarial (AE) actúa como un mecanismo de alineamiento entre estrategia, operación y tecnología, evitando iniciativas desconectadas y mejorando la coherencia en la ejecución.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AE permite gestionar la complejidad (procesos, datos, aplicaciones e infraestructura) con modelos y estándares, reduciendo silos, duplicidades y riesgos operativos.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Desde TOGAF, el valor se materializa en trazabilidad y control: artefactos, entregables, bloques de construcción y repositorio convierten la arquitectura en un activo reutilizable y auditable.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AE se vuelve sostenible cuando se institucionaliza como capacidad con gobierno (roles, responsabilidades, iteración ADM y dominios especializados como seguridad), habilitando transformación y escalabilidad con control del cambio.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5" name="Google Shape;555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879119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1741807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2590373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3451501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4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565" name="Google Shape;5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5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5"/>
          <p:cNvSpPr txBox="1"/>
          <p:nvPr/>
        </p:nvSpPr>
        <p:spPr>
          <a:xfrm>
            <a:off x="1279009" y="917823"/>
            <a:ext cx="4774320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Open Group. (2019). ArchiMate® 3.1 Specification. The Open Group Standard.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 International. (2008). The Zachman Framework™ for Enterprise Architecture. Zachman International.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Ross, J. W., Weill, P., &amp; Robertson, D. (2006). Enterprise Architecture as Strategy: Creating a Foundation for Business Execution. Harvard Business School Press.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Bernard, S. A. (2012). An Introduction to Enterprise Architecture (EA3) (3rd ed.). AuthorHouse.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Lankhorst, M. (Ed.). (2017). Enterprise Architecture at Work: Modelling, Communication and Analysis (4th ed.). Springer.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3" name="Google Shape;57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1620119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35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578" name="Google Shape;5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228112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343" y="3140072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342" y="3801077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6" name="Google Shape;5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2006-06-01T21:36:52Z</dcterms:created>
  <dc:creator>Isil</dc:creator>
</cp:coreProperties>
</file>