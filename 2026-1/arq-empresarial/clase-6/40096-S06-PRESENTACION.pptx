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</p:sldIdLst>
  <p:sldSz cy="5715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2D200454-40CA-4A62-9FC3-DE9A4176ACB9}">
      <p15:notesGuideLst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  <p:ext uri="GoogleSlidesCustomDataVersion2">
      <go:slidesCustomData xmlns:go="http://customooxmlschemas.google.com/" r:id="rId52" roundtripDataSignature="AMtx7mhBtavhasdgGBEVx94HzM2MJFGFM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2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s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" name="Google Shape;2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" name="Google Shape;22;p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" name="Google Shape;6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5" name="Google Shape;13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4" name="Google Shape;15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9" name="Google Shape;17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1" name="Google Shape;20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1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6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7" name="Google Shape;267;p16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8" name="Google Shape;268;p16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7" name="Google Shape;277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1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5" name="Google Shape;285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p1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5" name="Google Shape;305;p1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5" name="Google Shape;315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p2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6" name="Google Shape;336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7" name="Google Shape;337;p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2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7" name="Google Shape;357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8" name="Google Shape;358;p22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8" name="Google Shape;37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9" name="Google Shape;379;p2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2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3" name="Google Shape;40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2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2" name="Google Shape;412;p2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2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6" name="Google Shape;426;p26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5" name="Google Shape;43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href="https://www.flaticon.es/iconos-gratis/buscar" title="buscar iconos"&gt;Buscar iconos creados por srip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href="https://www.flaticon.es/iconos-gratis/entrevista" title="entrevista iconos"&gt;Entrevista iconos creados por Good Ware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href="https://www.flaticon.es/iconos-gratis/comparar" title="comparar iconos"&gt;Comparar iconos creados por Uniconlabs - Flaticon&lt;/a&gt;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/>
              <a:t>&lt;a href="https://www.flaticon.es/iconos-gratis/evaluacion" title="evaluación iconos"&gt;Evaluación iconos creados por Freepik - Flaticon&lt;/a&gt;</a:t>
            </a:r>
            <a:endParaRPr/>
          </a:p>
        </p:txBody>
      </p:sp>
      <p:sp>
        <p:nvSpPr>
          <p:cNvPr id="436" name="Google Shape;436;p2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p2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3" name="Google Shape;46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4" name="Google Shape;464;p2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2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5" name="Google Shape;485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2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3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7" name="Google Shape;507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8" name="Google Shape;508;p3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3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32" name="Google Shape;5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3" name="Google Shape;533;p3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8" name="Shape 5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9" name="Google Shape;539;p32:notes"/>
          <p:cNvSpPr/>
          <p:nvPr>
            <p:ph idx="2" type="sldImg"/>
          </p:nvPr>
        </p:nvSpPr>
        <p:spPr>
          <a:xfrm>
            <a:off x="719138" y="1241425"/>
            <a:ext cx="5359400" cy="334962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40" name="Google Shape;540;p32:notes"/>
          <p:cNvSpPr txBox="1"/>
          <p:nvPr>
            <p:ph idx="1" type="body"/>
          </p:nvPr>
        </p:nvSpPr>
        <p:spPr>
          <a:xfrm>
            <a:off x="679768" y="4777194"/>
            <a:ext cx="5438140" cy="39086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1" name="Google Shape;541;p32:notes"/>
          <p:cNvSpPr txBox="1"/>
          <p:nvPr>
            <p:ph idx="12" type="sldNum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8" name="Shape 5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Google Shape;549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0" name="Google Shape;550;p3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8" name="Google Shape;55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9" name="Google Shape;559;p3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9" name="Shape 5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0" name="Google Shape;580;p3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1" name="Google Shape;581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2" name="Google Shape;582;p35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0" name="Google Shape;590;p3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6" name="Shape 5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Google Shape;597;p37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98" name="Google Shape;598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9" name="Google Shape;599;p3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p38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15" name="Google Shape;615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6" name="Google Shape;616;p38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5" name="Shape 6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6" name="Google Shape;626;p39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7" name="Google Shape;627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8" name="Google Shape;628;p39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5" name="Shape 6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6" name="Google Shape;646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7" name="Google Shape;647;p40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1" name="Shape 6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Google Shape;652;p41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3" name="Google Shape;653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4" name="Google Shape;654;p4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9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1" name="Google Shape;661;p42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8" name="Shape 6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9" name="Google Shape;669;p43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0" name="Google Shape;670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1" name="Google Shape;671;p43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6" name="Google Shape;686;p44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2" name="Shape 6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3" name="Google Shape;693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4" name="Google Shape;694;p45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8" name="Shape 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9" name="Google Shape;709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0" name="Google Shape;710;p46:notes"/>
          <p:cNvSpPr/>
          <p:nvPr>
            <p:ph idx="2" type="sldImg"/>
          </p:nvPr>
        </p:nvSpPr>
        <p:spPr>
          <a:xfrm>
            <a:off x="685800" y="685800"/>
            <a:ext cx="54864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extLst>
    <p:ext uri="{DCECCB84-F9BA-43D5-87BE-67443E8EF086}">
      <p15:sldGuideLst>
        <p15:guide id="1" orient="horz" pos="180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showMasterSp="0">
  <p:cSld name="Título y objetos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ubtema - 1 Imagen A">
  <p:cSld name="Subtema - 1 Imagen A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>
  <p:cSld name="1_Título y objeto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showMasterSp="0">
  <p:cSld name="Diapositiva de título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7"/>
          <p:cNvSpPr/>
          <p:nvPr/>
        </p:nvSpPr>
        <p:spPr>
          <a:xfrm>
            <a:off x="7379148" y="5371562"/>
            <a:ext cx="1369286" cy="1846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6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© ISIL. Todos los derechos reservados</a:t>
            </a:r>
            <a:endParaRPr/>
          </a:p>
        </p:txBody>
      </p:sp>
      <p:sp>
        <p:nvSpPr>
          <p:cNvPr id="11" name="Google Shape;11;p47"/>
          <p:cNvSpPr txBox="1"/>
          <p:nvPr/>
        </p:nvSpPr>
        <p:spPr>
          <a:xfrm>
            <a:off x="876300" y="5343295"/>
            <a:ext cx="1962397" cy="2154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s-ES" sz="8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ARQUITECTURA EMPRESARIAL  •  TEMA 06</a:t>
            </a:r>
            <a:endParaRPr sz="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" name="Google Shape;12;p47"/>
          <p:cNvPicPr preferRelativeResize="0"/>
          <p:nvPr/>
        </p:nvPicPr>
        <p:blipFill rotWithShape="1">
          <a:blip r:embed="rId1">
            <a:alphaModFix amt="20000"/>
          </a:blip>
          <a:srcRect b="0" l="0" r="0" t="0"/>
          <a:stretch/>
        </p:blipFill>
        <p:spPr>
          <a:xfrm>
            <a:off x="506316" y="5349405"/>
            <a:ext cx="369984" cy="206823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303">
          <p15:clr>
            <a:srgbClr val="F26B43"/>
          </p15:clr>
        </p15:guide>
        <p15:guide id="2" pos="2880">
          <p15:clr>
            <a:srgbClr val="F26B43"/>
          </p15:clr>
        </p15:guide>
        <p15:guide id="3" pos="2993">
          <p15:clr>
            <a:srgbClr val="F26B43"/>
          </p15:clr>
        </p15:guide>
        <p15:guide id="4" pos="2767">
          <p15:clr>
            <a:srgbClr val="F26B43"/>
          </p15:clr>
        </p15:guide>
        <p15:guide id="5" pos="5465">
          <p15:clr>
            <a:srgbClr val="F26B43"/>
          </p15:clr>
        </p15:guide>
        <p15:guide id="6" orient="horz" pos="575">
          <p15:clr>
            <a:srgbClr val="F26B43"/>
          </p15:clr>
        </p15:guide>
        <p15:guide id="7" orient="horz" pos="3297">
          <p15:clr>
            <a:srgbClr val="F26B43"/>
          </p15:clr>
        </p15:guide>
        <p15:guide id="8" pos="317">
          <p15:clr>
            <a:srgbClr val="F26B43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Relationship Id="rId5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Relationship Id="rId4" Type="http://schemas.openxmlformats.org/officeDocument/2006/relationships/image" Target="../media/image4.png"/><Relationship Id="rId5" Type="http://schemas.openxmlformats.org/officeDocument/2006/relationships/image" Target="../media/image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9.jp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4.png"/><Relationship Id="rId4" Type="http://schemas.openxmlformats.org/officeDocument/2006/relationships/image" Target="../media/image12.png"/><Relationship Id="rId5" Type="http://schemas.openxmlformats.org/officeDocument/2006/relationships/image" Target="../media/image24.png"/><Relationship Id="rId6" Type="http://schemas.openxmlformats.org/officeDocument/2006/relationships/image" Target="../media/image1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8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8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27.jp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2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25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34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23.png"/><Relationship Id="rId4" Type="http://schemas.openxmlformats.org/officeDocument/2006/relationships/image" Target="../media/image32.png"/><Relationship Id="rId5" Type="http://schemas.openxmlformats.org/officeDocument/2006/relationships/image" Target="../media/image29.png"/><Relationship Id="rId6" Type="http://schemas.openxmlformats.org/officeDocument/2006/relationships/image" Target="../media/image31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6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3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8.png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3" Type="http://schemas.openxmlformats.org/officeDocument/2006/relationships/image" Target="../media/image8.png"/><Relationship Id="rId4" Type="http://schemas.openxmlformats.org/officeDocument/2006/relationships/image" Target="../media/image37.png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3" Type="http://schemas.openxmlformats.org/officeDocument/2006/relationships/image" Target="../media/image39.png"/><Relationship Id="rId4" Type="http://schemas.openxmlformats.org/officeDocument/2006/relationships/image" Target="../media/image30.png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8.png"/><Relationship Id="rId4" Type="http://schemas.openxmlformats.org/officeDocument/2006/relationships/image" Target="../media/image3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8.png"/><Relationship Id="rId4" Type="http://schemas.openxmlformats.org/officeDocument/2006/relationships/image" Target="../media/image33.png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"/>
          <p:cNvSpPr/>
          <p:nvPr/>
        </p:nvSpPr>
        <p:spPr>
          <a:xfrm>
            <a:off x="182879" y="5120640"/>
            <a:ext cx="4304965" cy="46201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 txBox="1"/>
          <p:nvPr/>
        </p:nvSpPr>
        <p:spPr>
          <a:xfrm>
            <a:off x="503238" y="808689"/>
            <a:ext cx="3104743" cy="1384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9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ARQUITECTURA EMPRESARIAL</a:t>
            </a:r>
            <a:endParaRPr/>
          </a:p>
        </p:txBody>
      </p:sp>
      <p:sp>
        <p:nvSpPr>
          <p:cNvPr id="26" name="Google Shape;26;p1"/>
          <p:cNvSpPr/>
          <p:nvPr/>
        </p:nvSpPr>
        <p:spPr>
          <a:xfrm>
            <a:off x="331151" y="3229822"/>
            <a:ext cx="3216721" cy="65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4D6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Modelos de madurez (CMMI y otros marcos)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4D6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Diagnóstico</a:t>
            </a:r>
            <a:endParaRPr/>
          </a:p>
          <a:p>
            <a:pPr indent="-177800" lvl="0" marL="177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D4D6"/>
              </a:buClr>
              <a:buSzPts val="1200"/>
              <a:buFont typeface="Arial"/>
              <a:buChar char="•"/>
            </a:pPr>
            <a:r>
              <a:rPr lang="es-E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Plan de mejora 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1"/>
          <p:cNvSpPr txBox="1"/>
          <p:nvPr/>
        </p:nvSpPr>
        <p:spPr>
          <a:xfrm>
            <a:off x="734059" y="1443689"/>
            <a:ext cx="1457648" cy="30777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000">
                <a:solidFill>
                  <a:srgbClr val="00D4D6"/>
                </a:solidFill>
                <a:latin typeface="Calibri"/>
                <a:ea typeface="Calibri"/>
                <a:cs typeface="Calibri"/>
                <a:sym typeface="Calibri"/>
              </a:rPr>
              <a:t>TEMA 06</a:t>
            </a:r>
            <a:endParaRPr/>
          </a:p>
        </p:txBody>
      </p:sp>
      <p:pic>
        <p:nvPicPr>
          <p:cNvPr id="28" name="Google Shape;2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7621" y="1507714"/>
            <a:ext cx="166865" cy="1704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9" name="Google Shape;29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748087" y="0"/>
            <a:ext cx="5395913" cy="5715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1"/>
          <p:cNvSpPr/>
          <p:nvPr/>
        </p:nvSpPr>
        <p:spPr>
          <a:xfrm>
            <a:off x="544319" y="1825366"/>
            <a:ext cx="2978495" cy="116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GOBIERNO Y </a:t>
            </a:r>
            <a:r>
              <a:rPr b="1" lang="es-ES" sz="2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ALINEAMIENTO ESTRATÉGICO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"/>
          <p:cNvSpPr/>
          <p:nvPr/>
        </p:nvSpPr>
        <p:spPr>
          <a:xfrm>
            <a:off x="0" y="1"/>
            <a:ext cx="9144000" cy="5715000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6" name="Google Shape;36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" y="946969"/>
            <a:ext cx="2072213" cy="3898064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2"/>
          <p:cNvSpPr/>
          <p:nvPr/>
        </p:nvSpPr>
        <p:spPr>
          <a:xfrm>
            <a:off x="149817" y="3724759"/>
            <a:ext cx="1037633" cy="1069383"/>
          </a:xfrm>
          <a:prstGeom prst="rect">
            <a:avLst/>
          </a:prstGeom>
          <a:solidFill>
            <a:srgbClr val="ED434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 txBox="1"/>
          <p:nvPr/>
        </p:nvSpPr>
        <p:spPr>
          <a:xfrm>
            <a:off x="2519363" y="2540738"/>
            <a:ext cx="4581728" cy="8125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INTRODUCCIÓN</a:t>
            </a:r>
            <a:endParaRPr/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3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DE LA SESIÓN</a:t>
            </a:r>
            <a:endParaRPr/>
          </a:p>
        </p:txBody>
      </p:sp>
      <p:pic>
        <p:nvPicPr>
          <p:cNvPr id="39" name="Google Shape;39;p2"/>
          <p:cNvPicPr preferRelativeResize="0"/>
          <p:nvPr/>
        </p:nvPicPr>
        <p:blipFill rotWithShape="1">
          <a:blip r:embed="rId4">
            <a:alphaModFix amt="16000"/>
          </a:blip>
          <a:srcRect b="0" l="0" r="0" t="0"/>
          <a:stretch/>
        </p:blipFill>
        <p:spPr>
          <a:xfrm>
            <a:off x="334433" y="3817749"/>
            <a:ext cx="809264" cy="80926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" name="Google Shape;40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/>
          <p:nvPr/>
        </p:nvSpPr>
        <p:spPr>
          <a:xfrm>
            <a:off x="6918960" y="5364480"/>
            <a:ext cx="2133600" cy="22445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8" name="Google Shape;48;p3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7577904" y="3292700"/>
            <a:ext cx="1363134" cy="1760389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INTRODUCCIÓN </a:t>
            </a:r>
            <a:endParaRPr/>
          </a:p>
        </p:txBody>
      </p:sp>
      <p:grpSp>
        <p:nvGrpSpPr>
          <p:cNvPr id="51" name="Google Shape;51;p3"/>
          <p:cNvGrpSpPr/>
          <p:nvPr/>
        </p:nvGrpSpPr>
        <p:grpSpPr>
          <a:xfrm>
            <a:off x="984400" y="982381"/>
            <a:ext cx="6906872" cy="3016210"/>
            <a:chOff x="1168213" y="797438"/>
            <a:chExt cx="6306965" cy="3016210"/>
          </a:xfrm>
        </p:grpSpPr>
        <p:grpSp>
          <p:nvGrpSpPr>
            <p:cNvPr id="52" name="Google Shape;52;p3"/>
            <p:cNvGrpSpPr/>
            <p:nvPr/>
          </p:nvGrpSpPr>
          <p:grpSpPr>
            <a:xfrm>
              <a:off x="1168213" y="797438"/>
              <a:ext cx="6306965" cy="3016210"/>
              <a:chOff x="1031053" y="784946"/>
              <a:chExt cx="6306965" cy="3016210"/>
            </a:xfrm>
          </p:grpSpPr>
          <p:sp>
            <p:nvSpPr>
              <p:cNvPr id="53" name="Google Shape;53;p3"/>
              <p:cNvSpPr txBox="1"/>
              <p:nvPr/>
            </p:nvSpPr>
            <p:spPr>
              <a:xfrm>
                <a:off x="1283936" y="784946"/>
                <a:ext cx="6054082" cy="3016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El gobierno arquitectónico es el mecanismo que asegura que las decisiones tecnológicas respondan a criterios estratégicos y no a iniciativas aisladas.</a:t>
                </a:r>
                <a:endParaRPr/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El alineamiento estratégico exige que la arquitectura empresarial actúe como puente entre visión corporativa, portafolio de inversión y ejecución operativa.</a:t>
                </a:r>
                <a:endParaRPr/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 madurez arquitectónica refleja el grado en que la organización ha institucionalizado procesos, roles, métricas y mecanismos de control.</a:t>
                </a:r>
                <a:endParaRPr/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Evaluar la madurez permite transformar la arquitectura de función técnica a capacidad estratégica sostenible.</a:t>
                </a:r>
                <a:endParaRPr/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1270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En esta sesión analizaremos cómo medir la madurez arquitectónica y cómo estructurar planes de mejora orientados a valor y coherencia organizacional.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54" name="Google Shape;54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6301" y="834982"/>
                <a:ext cx="117851" cy="1213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5" name="Google Shape;55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2492" y="1490938"/>
                <a:ext cx="117851" cy="1213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6" name="Google Shape;56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2492" y="2123848"/>
                <a:ext cx="117851" cy="121369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57" name="Google Shape;57;p3"/>
              <p:cNvPicPr preferRelativeResize="0"/>
              <p:nvPr/>
            </p:nvPicPr>
            <p:blipFill rotWithShape="1">
              <a:blip r:embed="rId4">
                <a:alphaModFix/>
              </a:blip>
              <a:srcRect b="0" l="0" r="0" t="0"/>
              <a:stretch/>
            </p:blipFill>
            <p:spPr>
              <a:xfrm>
                <a:off x="1031053" y="2767019"/>
                <a:ext cx="117851" cy="121369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58" name="Google Shape;58;p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176804" y="3438276"/>
              <a:ext cx="117851" cy="121369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 txBox="1"/>
          <p:nvPr/>
        </p:nvSpPr>
        <p:spPr>
          <a:xfrm>
            <a:off x="1008061" y="3169972"/>
            <a:ext cx="3563939" cy="6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MODELOS DE MADUREZ </a:t>
            </a:r>
            <a:r>
              <a:rPr b="1"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(CMMI Y OTROS)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6" name="Google Shape;66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5"/>
          <p:cNvSpPr/>
          <p:nvPr/>
        </p:nvSpPr>
        <p:spPr>
          <a:xfrm>
            <a:off x="1362631" y="1882588"/>
            <a:ext cx="6615957" cy="1824708"/>
          </a:xfrm>
          <a:prstGeom prst="roundRect">
            <a:avLst>
              <a:gd fmla="val 5987" name="adj"/>
            </a:avLst>
          </a:prstGeom>
          <a:solidFill>
            <a:srgbClr val="00B1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5"/>
          <p:cNvPicPr preferRelativeResize="0"/>
          <p:nvPr/>
        </p:nvPicPr>
        <p:blipFill rotWithShape="1">
          <a:blip r:embed="rId3">
            <a:alphaModFix/>
          </a:blip>
          <a:srcRect b="47890" l="30026" r="24147" t="0"/>
          <a:stretch/>
        </p:blipFill>
        <p:spPr>
          <a:xfrm>
            <a:off x="1640542" y="1410107"/>
            <a:ext cx="546847" cy="920717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5"/>
          <p:cNvSpPr txBox="1"/>
          <p:nvPr/>
        </p:nvSpPr>
        <p:spPr>
          <a:xfrm>
            <a:off x="1754368" y="2402902"/>
            <a:ext cx="5811844" cy="11079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“La madurez arquitectónica determina la capacidad real de una organización, para transformar estrategia en ejecución consistente.”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6"/>
          <p:cNvSpPr/>
          <p:nvPr/>
        </p:nvSpPr>
        <p:spPr>
          <a:xfrm>
            <a:off x="936447" y="1890790"/>
            <a:ext cx="418661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madurez refleja la capacidad de la organización para gestionar arquitectura como disciplina, no como esfuerzo aislado.</a:t>
            </a:r>
            <a:endParaRPr/>
          </a:p>
        </p:txBody>
      </p:sp>
      <p:cxnSp>
        <p:nvCxnSpPr>
          <p:cNvPr id="81" name="Google Shape;81;p6"/>
          <p:cNvCxnSpPr/>
          <p:nvPr/>
        </p:nvCxnSpPr>
        <p:spPr>
          <a:xfrm flipH="1">
            <a:off x="722045" y="2148745"/>
            <a:ext cx="1" cy="569270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2" name="Google Shape;82;p6"/>
          <p:cNvSpPr/>
          <p:nvPr/>
        </p:nvSpPr>
        <p:spPr>
          <a:xfrm>
            <a:off x="936446" y="2762083"/>
            <a:ext cx="41866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Implica pasar de prácticas reactivas a modelos estructurados, medibles y optimizados.</a:t>
            </a:r>
            <a:endParaRPr/>
          </a:p>
        </p:txBody>
      </p:sp>
      <p:sp>
        <p:nvSpPr>
          <p:cNvPr id="83" name="Google Shape;83;p6"/>
          <p:cNvSpPr/>
          <p:nvPr/>
        </p:nvSpPr>
        <p:spPr>
          <a:xfrm>
            <a:off x="936446" y="3417932"/>
            <a:ext cx="41866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Evalúa coherencia entre estrategia, portafolio, diseño y ejecución.</a:t>
            </a:r>
            <a:endParaRPr/>
          </a:p>
        </p:txBody>
      </p:sp>
      <p:sp>
        <p:nvSpPr>
          <p:cNvPr id="84" name="Google Shape;84;p6"/>
          <p:cNvSpPr/>
          <p:nvPr/>
        </p:nvSpPr>
        <p:spPr>
          <a:xfrm>
            <a:off x="645704" y="823414"/>
            <a:ext cx="7296705" cy="81560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FUNDAMENTOS DE LA MADUREZ ARQUITECTÓNICA</a:t>
            </a:r>
            <a:endParaRPr/>
          </a:p>
          <a:p>
            <a:pPr indent="0" lvl="0" marL="0" marR="0" rtl="0" algn="just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madurez arquitectónica no mide cuántos documentos existen, sino qué tan consistente, repetible y gobernada es la toma de decisiones arquitectónicas.</a:t>
            </a:r>
            <a:endParaRPr/>
          </a:p>
        </p:txBody>
      </p:sp>
      <p:sp>
        <p:nvSpPr>
          <p:cNvPr id="85" name="Google Shape;85;p6"/>
          <p:cNvSpPr/>
          <p:nvPr/>
        </p:nvSpPr>
        <p:spPr>
          <a:xfrm>
            <a:off x="645704" y="1933613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86" name="Google Shape;86;p6"/>
          <p:cNvCxnSpPr/>
          <p:nvPr/>
        </p:nvCxnSpPr>
        <p:spPr>
          <a:xfrm flipH="1">
            <a:off x="722045" y="2986771"/>
            <a:ext cx="1" cy="43116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87" name="Google Shape;87;p6"/>
          <p:cNvSpPr/>
          <p:nvPr/>
        </p:nvSpPr>
        <p:spPr>
          <a:xfrm>
            <a:off x="645704" y="280402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/>
          <p:nvPr/>
        </p:nvSpPr>
        <p:spPr>
          <a:xfrm>
            <a:off x="645704" y="3476823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6"/>
          <p:cNvSpPr/>
          <p:nvPr/>
        </p:nvSpPr>
        <p:spPr>
          <a:xfrm>
            <a:off x="936446" y="4073781"/>
            <a:ext cx="41866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es un fin en sí mismo: es un medio para reducir riesgo, deuda técnica y dispersión de inversiones.</a:t>
            </a:r>
            <a:endParaRPr/>
          </a:p>
        </p:txBody>
      </p:sp>
      <p:sp>
        <p:nvSpPr>
          <p:cNvPr id="90" name="Google Shape;90;p6"/>
          <p:cNvSpPr/>
          <p:nvPr/>
        </p:nvSpPr>
        <p:spPr>
          <a:xfrm>
            <a:off x="936446" y="4729630"/>
            <a:ext cx="418661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mayor madurez, mayor predictibilidad, trazabilidad y alineamiento estratégico.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91" name="Google Shape;91;p6"/>
          <p:cNvCxnSpPr/>
          <p:nvPr/>
        </p:nvCxnSpPr>
        <p:spPr>
          <a:xfrm flipH="1">
            <a:off x="722045" y="3629506"/>
            <a:ext cx="791" cy="416587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92" name="Google Shape;92;p6"/>
          <p:cNvCxnSpPr/>
          <p:nvPr/>
        </p:nvCxnSpPr>
        <p:spPr>
          <a:xfrm flipH="1">
            <a:off x="722834" y="4291260"/>
            <a:ext cx="1" cy="43116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3" name="Google Shape;93;p6"/>
          <p:cNvSpPr/>
          <p:nvPr/>
        </p:nvSpPr>
        <p:spPr>
          <a:xfrm>
            <a:off x="646493" y="4108511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646493" y="478131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6"/>
          <p:cNvPicPr preferRelativeResize="0"/>
          <p:nvPr/>
        </p:nvPicPr>
        <p:blipFill rotWithShape="1">
          <a:blip r:embed="rId3">
            <a:alphaModFix/>
          </a:blip>
          <a:srcRect b="0" l="5940" r="5326" t="0"/>
          <a:stretch/>
        </p:blipFill>
        <p:spPr>
          <a:xfrm>
            <a:off x="5860976" y="1933613"/>
            <a:ext cx="2636531" cy="30559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7"/>
          <p:cNvSpPr txBox="1"/>
          <p:nvPr/>
        </p:nvSpPr>
        <p:spPr>
          <a:xfrm>
            <a:off x="503238" y="840288"/>
            <a:ext cx="84772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¿CÓMO SE EVALÚA EL ESTADO ACTUAL (AS-IS)?</a:t>
            </a:r>
            <a:endParaRPr/>
          </a:p>
        </p:txBody>
      </p:sp>
      <p:grpSp>
        <p:nvGrpSpPr>
          <p:cNvPr id="103" name="Google Shape;103;p7"/>
          <p:cNvGrpSpPr/>
          <p:nvPr/>
        </p:nvGrpSpPr>
        <p:grpSpPr>
          <a:xfrm>
            <a:off x="1091475" y="158216"/>
            <a:ext cx="7549286" cy="4718304"/>
            <a:chOff x="247736" y="0"/>
            <a:chExt cx="7549286" cy="4718304"/>
          </a:xfrm>
        </p:grpSpPr>
        <p:sp>
          <p:nvSpPr>
            <p:cNvPr id="104" name="Google Shape;104;p7"/>
            <p:cNvSpPr/>
            <p:nvPr/>
          </p:nvSpPr>
          <p:spPr>
            <a:xfrm>
              <a:off x="247736" y="0"/>
              <a:ext cx="7549286" cy="4718304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quadBezTo>
                    <a:pt x="20000" y="40000"/>
                    <a:pt x="101250" y="15000"/>
                  </a:quadBezTo>
                  <a:lnTo>
                    <a:pt x="100194" y="0"/>
                  </a:lnTo>
                  <a:lnTo>
                    <a:pt x="120000" y="24000"/>
                  </a:lnTo>
                  <a:lnTo>
                    <a:pt x="104419" y="60000"/>
                  </a:lnTo>
                  <a:lnTo>
                    <a:pt x="103363" y="45000"/>
                  </a:lnTo>
                  <a:quadBezTo>
                    <a:pt x="30000" y="55000"/>
                    <a:pt x="0" y="120000"/>
                  </a:quadBezTo>
                  <a:close/>
                </a:path>
              </a:pathLst>
            </a:custGeom>
            <a:solidFill>
              <a:srgbClr val="FEE9C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" name="Google Shape;105;p7"/>
            <p:cNvSpPr/>
            <p:nvPr/>
          </p:nvSpPr>
          <p:spPr>
            <a:xfrm>
              <a:off x="1082627" y="3256573"/>
              <a:ext cx="196281" cy="196281"/>
            </a:xfrm>
            <a:prstGeom prst="ellipse">
              <a:avLst/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" name="Google Shape;106;p7"/>
            <p:cNvSpPr/>
            <p:nvPr/>
          </p:nvSpPr>
          <p:spPr>
            <a:xfrm>
              <a:off x="1169757" y="3354714"/>
              <a:ext cx="1758983" cy="1363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" name="Google Shape;107;p7"/>
            <p:cNvSpPr txBox="1"/>
            <p:nvPr/>
          </p:nvSpPr>
          <p:spPr>
            <a:xfrm>
              <a:off x="1169757" y="3354714"/>
              <a:ext cx="1758983" cy="1363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04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madurez evalúa el nivel de institucionalización de la arquitectura: qué tan formalizados, medidos y gobernados están sus procesos y decisiones.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" name="Google Shape;108;p7"/>
            <p:cNvSpPr/>
            <p:nvPr/>
          </p:nvSpPr>
          <p:spPr>
            <a:xfrm>
              <a:off x="2815188" y="1974138"/>
              <a:ext cx="354816" cy="354816"/>
            </a:xfrm>
            <a:prstGeom prst="ellipse">
              <a:avLst/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7"/>
            <p:cNvSpPr/>
            <p:nvPr/>
          </p:nvSpPr>
          <p:spPr>
            <a:xfrm>
              <a:off x="2897838" y="2151546"/>
              <a:ext cx="2001346" cy="2566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" name="Google Shape;110;p7"/>
            <p:cNvSpPr txBox="1"/>
            <p:nvPr/>
          </p:nvSpPr>
          <p:spPr>
            <a:xfrm>
              <a:off x="2897838" y="2151546"/>
              <a:ext cx="2001346" cy="2566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t/>
              </a:r>
              <a:endParaRPr sz="1300">
                <a:solidFill>
                  <a:srgbClr val="8087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Analiza la capacidad de traducir objetivos estratégicos en capacidades, iniciativas y soluciones con trazabilidad end-to-end.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" name="Google Shape;111;p7"/>
            <p:cNvSpPr/>
            <p:nvPr/>
          </p:nvSpPr>
          <p:spPr>
            <a:xfrm>
              <a:off x="4898791" y="1193730"/>
              <a:ext cx="490703" cy="490703"/>
            </a:xfrm>
            <a:prstGeom prst="ellipse">
              <a:avLst/>
            </a:prstGeom>
            <a:solidFill>
              <a:srgbClr val="FDC211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7"/>
            <p:cNvSpPr/>
            <p:nvPr/>
          </p:nvSpPr>
          <p:spPr>
            <a:xfrm>
              <a:off x="5144143" y="1439082"/>
              <a:ext cx="1811828" cy="32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7"/>
            <p:cNvSpPr txBox="1"/>
            <p:nvPr/>
          </p:nvSpPr>
          <p:spPr>
            <a:xfrm>
              <a:off x="5144143" y="1439082"/>
              <a:ext cx="1811828" cy="32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60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Examina si existen mecanismos estructurados de gobierno: principios claros, estándares aplicables, comités activos y repositorios controlados.</a:t>
              </a:r>
              <a:endPara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14" name="Google Shape;114;p7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8"/>
          <p:cNvSpPr txBox="1"/>
          <p:nvPr/>
        </p:nvSpPr>
        <p:spPr>
          <a:xfrm>
            <a:off x="503238" y="840288"/>
            <a:ext cx="8477284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SE EVALÚA EL ESTADO ACTUAL (AS-IS)?</a:t>
            </a:r>
            <a:endParaRPr/>
          </a:p>
        </p:txBody>
      </p:sp>
      <p:grpSp>
        <p:nvGrpSpPr>
          <p:cNvPr id="121" name="Google Shape;121;p8"/>
          <p:cNvGrpSpPr/>
          <p:nvPr/>
        </p:nvGrpSpPr>
        <p:grpSpPr>
          <a:xfrm>
            <a:off x="1091475" y="156408"/>
            <a:ext cx="7549286" cy="4718304"/>
            <a:chOff x="247736" y="0"/>
            <a:chExt cx="7549286" cy="4718304"/>
          </a:xfrm>
        </p:grpSpPr>
        <p:sp>
          <p:nvSpPr>
            <p:cNvPr id="122" name="Google Shape;122;p8"/>
            <p:cNvSpPr/>
            <p:nvPr/>
          </p:nvSpPr>
          <p:spPr>
            <a:xfrm>
              <a:off x="247736" y="0"/>
              <a:ext cx="7549286" cy="4718304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quadBezTo>
                    <a:pt x="20000" y="40000"/>
                    <a:pt x="101250" y="15000"/>
                  </a:quadBezTo>
                  <a:lnTo>
                    <a:pt x="100194" y="0"/>
                  </a:lnTo>
                  <a:lnTo>
                    <a:pt x="120000" y="24000"/>
                  </a:lnTo>
                  <a:lnTo>
                    <a:pt x="104419" y="60000"/>
                  </a:lnTo>
                  <a:lnTo>
                    <a:pt x="103363" y="45000"/>
                  </a:lnTo>
                  <a:quadBezTo>
                    <a:pt x="30000" y="55000"/>
                    <a:pt x="0" y="120000"/>
                  </a:quadBezTo>
                  <a:close/>
                </a:path>
              </a:pathLst>
            </a:custGeom>
            <a:solidFill>
              <a:srgbClr val="FF7828">
                <a:alpha val="29019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8"/>
            <p:cNvSpPr/>
            <p:nvPr/>
          </p:nvSpPr>
          <p:spPr>
            <a:xfrm>
              <a:off x="1082627" y="3256573"/>
              <a:ext cx="196281" cy="196281"/>
            </a:xfrm>
            <a:prstGeom prst="ellipse">
              <a:avLst/>
            </a:prstGeom>
            <a:solidFill>
              <a:srgbClr val="FF7828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8"/>
            <p:cNvSpPr/>
            <p:nvPr/>
          </p:nvSpPr>
          <p:spPr>
            <a:xfrm>
              <a:off x="1240600" y="3354714"/>
              <a:ext cx="1485162" cy="1363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" name="Google Shape;125;p8"/>
            <p:cNvSpPr txBox="1"/>
            <p:nvPr/>
          </p:nvSpPr>
          <p:spPr>
            <a:xfrm>
              <a:off x="1240600" y="3354714"/>
              <a:ext cx="1485162" cy="136358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04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0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Determina si la arquitectura opera como función estratégica transversal o como actividad reactiva dependiente de iniciativas individuales.</a:t>
              </a:r>
              <a:endPara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8"/>
            <p:cNvSpPr/>
            <p:nvPr/>
          </p:nvSpPr>
          <p:spPr>
            <a:xfrm>
              <a:off x="2815188" y="1974138"/>
              <a:ext cx="354816" cy="354816"/>
            </a:xfrm>
            <a:prstGeom prst="ellipse">
              <a:avLst/>
            </a:prstGeom>
            <a:solidFill>
              <a:srgbClr val="FF7828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" name="Google Shape;127;p8"/>
            <p:cNvSpPr/>
            <p:nvPr/>
          </p:nvSpPr>
          <p:spPr>
            <a:xfrm>
              <a:off x="2996981" y="2107501"/>
              <a:ext cx="2001346" cy="2566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" name="Google Shape;128;p8"/>
            <p:cNvSpPr txBox="1"/>
            <p:nvPr/>
          </p:nvSpPr>
          <p:spPr>
            <a:xfrm>
              <a:off x="2996981" y="2107501"/>
              <a:ext cx="2001346" cy="256675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188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300"/>
                <a:buFont typeface="Arial"/>
                <a:buNone/>
              </a:pPr>
              <a:r>
                <a:t/>
              </a:r>
              <a:endParaRPr b="0" sz="1300">
                <a:solidFill>
                  <a:srgbClr val="808799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55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0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Evalúa la integración entre capas (negocio, datos, aplicaciones, tecnología) y la consistencia entre el estado actual (As-Is), el futuro (To-Be) y la transición.</a:t>
              </a:r>
              <a:endParaRPr b="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8"/>
            <p:cNvSpPr/>
            <p:nvPr/>
          </p:nvSpPr>
          <p:spPr>
            <a:xfrm>
              <a:off x="4898791" y="1193730"/>
              <a:ext cx="490703" cy="490703"/>
            </a:xfrm>
            <a:prstGeom prst="ellipse">
              <a:avLst/>
            </a:prstGeom>
            <a:solidFill>
              <a:srgbClr val="FF7828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8"/>
            <p:cNvSpPr/>
            <p:nvPr/>
          </p:nvSpPr>
          <p:spPr>
            <a:xfrm>
              <a:off x="5144143" y="1439082"/>
              <a:ext cx="1811828" cy="32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" name="Google Shape;131;p8"/>
            <p:cNvSpPr txBox="1"/>
            <p:nvPr/>
          </p:nvSpPr>
          <p:spPr>
            <a:xfrm>
              <a:off x="5144143" y="1439082"/>
              <a:ext cx="1811828" cy="3279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26000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b="0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Mide el grado de repetibilidad y predictibilidad de las decisiones arquitectónicas, </a:t>
              </a:r>
              <a:r>
                <a:rPr lang="es-ES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reduciendo la</a:t>
              </a:r>
              <a:r>
                <a:rPr b="0"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variabilidad entre proyectos.</a:t>
              </a:r>
              <a:endParaRPr b="0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b="0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32" name="Google Shape;132;p8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9"/>
          <p:cNvSpPr txBox="1"/>
          <p:nvPr/>
        </p:nvSpPr>
        <p:spPr>
          <a:xfrm>
            <a:off x="503238" y="1607251"/>
            <a:ext cx="200221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significa?</a:t>
            </a:r>
            <a:endParaRPr/>
          </a:p>
        </p:txBody>
      </p:sp>
      <p:grpSp>
        <p:nvGrpSpPr>
          <p:cNvPr id="139" name="Google Shape;139;p9"/>
          <p:cNvGrpSpPr/>
          <p:nvPr/>
        </p:nvGrpSpPr>
        <p:grpSpPr>
          <a:xfrm>
            <a:off x="3067653" y="929763"/>
            <a:ext cx="5394642" cy="3855474"/>
            <a:chOff x="0" y="0"/>
            <a:chExt cx="5394642" cy="3855474"/>
          </a:xfrm>
        </p:grpSpPr>
        <p:sp>
          <p:nvSpPr>
            <p:cNvPr id="140" name="Google Shape;140;p9"/>
            <p:cNvSpPr/>
            <p:nvPr/>
          </p:nvSpPr>
          <p:spPr>
            <a:xfrm rot="-5400000">
              <a:off x="384792" y="-384792"/>
              <a:ext cx="1927737" cy="2697321"/>
            </a:xfrm>
            <a:prstGeom prst="round1Rect">
              <a:avLst>
                <a:gd fmla="val 16667" name="adj"/>
              </a:avLst>
            </a:prstGeom>
            <a:solidFill>
              <a:srgbClr val="7150A0">
                <a:alpha val="74901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" name="Google Shape;141;p9"/>
            <p:cNvSpPr txBox="1"/>
            <p:nvPr/>
          </p:nvSpPr>
          <p:spPr>
            <a:xfrm>
              <a:off x="0" y="0"/>
              <a:ext cx="2697321" cy="1445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Decisiones arquitectónicas repetibles, no improvisadas</a:t>
              </a:r>
              <a:endParaRPr/>
            </a:p>
          </p:txBody>
        </p:sp>
        <p:sp>
          <p:nvSpPr>
            <p:cNvPr id="142" name="Google Shape;142;p9"/>
            <p:cNvSpPr/>
            <p:nvPr/>
          </p:nvSpPr>
          <p:spPr>
            <a:xfrm>
              <a:off x="2697321" y="0"/>
              <a:ext cx="2697321" cy="1927737"/>
            </a:xfrm>
            <a:prstGeom prst="round1Rect">
              <a:avLst>
                <a:gd fmla="val 16667" name="adj"/>
              </a:avLst>
            </a:prstGeom>
            <a:solidFill>
              <a:srgbClr val="7150A0">
                <a:alpha val="74901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" name="Google Shape;143;p9"/>
            <p:cNvSpPr txBox="1"/>
            <p:nvPr/>
          </p:nvSpPr>
          <p:spPr>
            <a:xfrm>
              <a:off x="2697321" y="0"/>
              <a:ext cx="2697321" cy="1445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Trazabilidad estrategia → capacidad → iniciativa → solución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9"/>
            <p:cNvSpPr/>
            <p:nvPr/>
          </p:nvSpPr>
          <p:spPr>
            <a:xfrm rot="10800000">
              <a:off x="0" y="1927737"/>
              <a:ext cx="2697321" cy="1927737"/>
            </a:xfrm>
            <a:prstGeom prst="round1Rect">
              <a:avLst>
                <a:gd fmla="val 16667" name="adj"/>
              </a:avLst>
            </a:prstGeom>
            <a:solidFill>
              <a:srgbClr val="7150A0">
                <a:alpha val="74901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" name="Google Shape;145;p9"/>
            <p:cNvSpPr txBox="1"/>
            <p:nvPr/>
          </p:nvSpPr>
          <p:spPr>
            <a:xfrm>
              <a:off x="0" y="2409671"/>
              <a:ext cx="2697321" cy="1445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Gobierno activo, no solo declarado</a:t>
              </a:r>
              <a:endParaRPr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6" name="Google Shape;146;p9"/>
            <p:cNvSpPr/>
            <p:nvPr/>
          </p:nvSpPr>
          <p:spPr>
            <a:xfrm rot="5400000">
              <a:off x="3082113" y="1542945"/>
              <a:ext cx="1927737" cy="2697321"/>
            </a:xfrm>
            <a:prstGeom prst="round1Rect">
              <a:avLst>
                <a:gd fmla="val 16667" name="adj"/>
              </a:avLst>
            </a:prstGeom>
            <a:solidFill>
              <a:srgbClr val="7150A0">
                <a:alpha val="74901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" name="Google Shape;147;p9"/>
            <p:cNvSpPr txBox="1"/>
            <p:nvPr/>
          </p:nvSpPr>
          <p:spPr>
            <a:xfrm>
              <a:off x="2697321" y="2409671"/>
              <a:ext cx="2697321" cy="144580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42225" lIns="142225" spcFirstLastPara="1" rIns="142225" wrap="square" tIns="1422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Métricas que permiten evaluar desempeño arquitectónico</a:t>
              </a:r>
              <a:endParaRPr/>
            </a:p>
            <a:p>
              <a:pPr indent="0" lvl="0" marL="0" marR="0" rtl="0" algn="ctr">
                <a:lnSpc>
                  <a:spcPct val="90000"/>
                </a:lnSpc>
                <a:spcBef>
                  <a:spcPts val="700"/>
                </a:spcBef>
                <a:spcAft>
                  <a:spcPts val="0"/>
                </a:spcAft>
                <a:buClr>
                  <a:schemeClr val="dk1"/>
                </a:buClr>
                <a:buSzPts val="2000"/>
                <a:buFont typeface="Arial"/>
                <a:buNone/>
              </a:pPr>
              <a:r>
                <a:t/>
              </a:r>
              <a:endParaRPr sz="2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8" name="Google Shape;148;p9"/>
            <p:cNvSpPr/>
            <p:nvPr/>
          </p:nvSpPr>
          <p:spPr>
            <a:xfrm>
              <a:off x="1888124" y="1445802"/>
              <a:ext cx="1618392" cy="963868"/>
            </a:xfrm>
            <a:prstGeom prst="roundRect">
              <a:avLst>
                <a:gd fmla="val 16667" name="adj"/>
              </a:avLst>
            </a:prstGeom>
            <a:solidFill>
              <a:srgbClr val="FEDDA8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9"/>
            <p:cNvSpPr txBox="1"/>
            <p:nvPr/>
          </p:nvSpPr>
          <p:spPr>
            <a:xfrm>
              <a:off x="1935176" y="1492854"/>
              <a:ext cx="1524288" cy="8697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Calibri"/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Estándares aplicados en proyectos reales</a:t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ctr">
                <a:lnSpc>
                  <a:spcPct val="90000"/>
                </a:lnSpc>
                <a:spcBef>
                  <a:spcPts val="490"/>
                </a:spcBef>
                <a:spcAft>
                  <a:spcPts val="0"/>
                </a:spcAft>
                <a:buClr>
                  <a:schemeClr val="dk1"/>
                </a:buClr>
                <a:buSzPts val="1600"/>
                <a:buFont typeface="Arial"/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0" name="Google Shape;150;p9"/>
          <p:cNvSpPr txBox="1"/>
          <p:nvPr/>
        </p:nvSpPr>
        <p:spPr>
          <a:xfrm>
            <a:off x="503238" y="2085877"/>
            <a:ext cx="2359152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Madurez = Capacidad organizacional para decidir y ejecutar con coherencia arquitectónica.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9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7" name="Google Shape;157;p10"/>
          <p:cNvGrpSpPr/>
          <p:nvPr/>
        </p:nvGrpSpPr>
        <p:grpSpPr>
          <a:xfrm>
            <a:off x="2720538" y="802398"/>
            <a:ext cx="5358993" cy="4751730"/>
            <a:chOff x="764738" y="-1"/>
            <a:chExt cx="5358993" cy="4751730"/>
          </a:xfrm>
        </p:grpSpPr>
        <p:sp>
          <p:nvSpPr>
            <p:cNvPr id="158" name="Google Shape;158;p10"/>
            <p:cNvSpPr/>
            <p:nvPr/>
          </p:nvSpPr>
          <p:spPr>
            <a:xfrm rot="4396374">
              <a:off x="1171812" y="945556"/>
              <a:ext cx="4101975" cy="2860616"/>
            </a:xfrm>
            <a:custGeom>
              <a:rect b="b" l="l" r="r" t="t"/>
              <a:pathLst>
                <a:path extrusionOk="0" h="120000" w="120000">
                  <a:moveTo>
                    <a:pt x="0" y="120000"/>
                  </a:moveTo>
                  <a:quadBezTo>
                    <a:pt x="20000" y="40000"/>
                    <a:pt x="93748" y="15000"/>
                  </a:quadBezTo>
                  <a:lnTo>
                    <a:pt x="92569" y="0"/>
                  </a:lnTo>
                  <a:lnTo>
                    <a:pt x="120000" y="18786"/>
                  </a:lnTo>
                  <a:lnTo>
                    <a:pt x="96465" y="49572"/>
                  </a:lnTo>
                  <a:lnTo>
                    <a:pt x="95286" y="34572"/>
                  </a:lnTo>
                  <a:quadBezTo>
                    <a:pt x="30000" y="44572"/>
                    <a:pt x="0" y="120000"/>
                  </a:quadBezTo>
                  <a:close/>
                </a:path>
              </a:pathLst>
            </a:custGeom>
            <a:solidFill>
              <a:srgbClr val="7150A0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" name="Google Shape;159;p10"/>
            <p:cNvSpPr/>
            <p:nvPr/>
          </p:nvSpPr>
          <p:spPr>
            <a:xfrm>
              <a:off x="2708425" y="1319080"/>
              <a:ext cx="103587" cy="103587"/>
            </a:xfrm>
            <a:prstGeom prst="ellipse">
              <a:avLst/>
            </a:prstGeom>
            <a:solidFill>
              <a:srgbClr val="7150A0">
                <a:alpha val="41176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3417716" y="1891188"/>
              <a:ext cx="103587" cy="103587"/>
            </a:xfrm>
            <a:prstGeom prst="ellipse">
              <a:avLst/>
            </a:prstGeom>
            <a:solidFill>
              <a:srgbClr val="7150A0">
                <a:alpha val="40000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" name="Google Shape;161;p10"/>
            <p:cNvSpPr/>
            <p:nvPr/>
          </p:nvSpPr>
          <p:spPr>
            <a:xfrm>
              <a:off x="3949292" y="2560232"/>
              <a:ext cx="103587" cy="103587"/>
            </a:xfrm>
            <a:prstGeom prst="ellipse">
              <a:avLst/>
            </a:prstGeom>
            <a:solidFill>
              <a:srgbClr val="7150A0">
                <a:alpha val="52941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" name="Google Shape;162;p10"/>
            <p:cNvSpPr/>
            <p:nvPr/>
          </p:nvSpPr>
          <p:spPr>
            <a:xfrm>
              <a:off x="896828" y="0"/>
              <a:ext cx="1933954" cy="760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" name="Google Shape;163;p10"/>
            <p:cNvSpPr txBox="1"/>
            <p:nvPr/>
          </p:nvSpPr>
          <p:spPr>
            <a:xfrm>
              <a:off x="896828" y="0"/>
              <a:ext cx="1933954" cy="760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D6474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rgbClr val="5D6474"/>
                  </a:solidFill>
                  <a:latin typeface="Calibri"/>
                  <a:ea typeface="Calibri"/>
                  <a:cs typeface="Calibri"/>
                  <a:sym typeface="Calibri"/>
                </a:rPr>
                <a:t>Nivel bajo</a:t>
              </a:r>
              <a:endParaRPr sz="2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4" name="Google Shape;164;p10"/>
            <p:cNvSpPr/>
            <p:nvPr/>
          </p:nvSpPr>
          <p:spPr>
            <a:xfrm>
              <a:off x="3301203" y="990735"/>
              <a:ext cx="2822527" cy="760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" name="Google Shape;165;p10"/>
            <p:cNvSpPr txBox="1"/>
            <p:nvPr/>
          </p:nvSpPr>
          <p:spPr>
            <a:xfrm>
              <a:off x="3301203" y="990735"/>
              <a:ext cx="2822527" cy="760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D6474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rgbClr val="5D6474"/>
                  </a:solidFill>
                  <a:latin typeface="Calibri"/>
                  <a:ea typeface="Calibri"/>
                  <a:cs typeface="Calibri"/>
                  <a:sym typeface="Calibri"/>
                </a:rPr>
                <a:t>Arquitectura reactiva</a:t>
              </a:r>
              <a:endParaRPr/>
            </a:p>
          </p:txBody>
        </p:sp>
        <p:sp>
          <p:nvSpPr>
            <p:cNvPr id="166" name="Google Shape;166;p10"/>
            <p:cNvSpPr/>
            <p:nvPr/>
          </p:nvSpPr>
          <p:spPr>
            <a:xfrm>
              <a:off x="764738" y="1603480"/>
              <a:ext cx="2247568" cy="760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0"/>
            <p:cNvSpPr txBox="1"/>
            <p:nvPr/>
          </p:nvSpPr>
          <p:spPr>
            <a:xfrm>
              <a:off x="764738" y="1603480"/>
              <a:ext cx="2247568" cy="760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D6474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rgbClr val="5D6474"/>
                  </a:solidFill>
                  <a:latin typeface="Calibri"/>
                  <a:ea typeface="Calibri"/>
                  <a:cs typeface="Calibri"/>
                  <a:sym typeface="Calibri"/>
                </a:rPr>
                <a:t>Decisiones por urgencia</a:t>
              </a:r>
              <a:endParaRPr sz="2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8" name="Google Shape;168;p10"/>
            <p:cNvSpPr/>
            <p:nvPr/>
          </p:nvSpPr>
          <p:spPr>
            <a:xfrm>
              <a:off x="4398853" y="2262367"/>
              <a:ext cx="1724877" cy="760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" name="Google Shape;169;p10"/>
            <p:cNvSpPr txBox="1"/>
            <p:nvPr/>
          </p:nvSpPr>
          <p:spPr>
            <a:xfrm>
              <a:off x="4398853" y="2262367"/>
              <a:ext cx="1724877" cy="760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25400" lIns="25400" spcFirstLastPara="1" rIns="25400" wrap="square" tIns="2540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D6474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rgbClr val="5D6474"/>
                  </a:solidFill>
                  <a:latin typeface="Calibri"/>
                  <a:ea typeface="Calibri"/>
                  <a:cs typeface="Calibri"/>
                  <a:sym typeface="Calibri"/>
                </a:rPr>
                <a:t>Proyectos desconectados</a:t>
              </a:r>
              <a:endParaRPr/>
            </a:p>
          </p:txBody>
        </p:sp>
        <p:sp>
          <p:nvSpPr>
            <p:cNvPr id="170" name="Google Shape;170;p10"/>
            <p:cNvSpPr/>
            <p:nvPr/>
          </p:nvSpPr>
          <p:spPr>
            <a:xfrm>
              <a:off x="3510280" y="3991453"/>
              <a:ext cx="2613451" cy="760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p10"/>
            <p:cNvSpPr txBox="1"/>
            <p:nvPr/>
          </p:nvSpPr>
          <p:spPr>
            <a:xfrm>
              <a:off x="3510280" y="3991453"/>
              <a:ext cx="2613451" cy="76027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25400" lIns="25400" spcFirstLastPara="1" rIns="25400" wrap="square" tIns="2540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D6474"/>
                </a:buClr>
                <a:buSzPts val="2000"/>
                <a:buFont typeface="Calibri"/>
                <a:buNone/>
              </a:pPr>
              <a:r>
                <a:rPr lang="es-ES" sz="2000">
                  <a:solidFill>
                    <a:srgbClr val="5D6474"/>
                  </a:solidFill>
                  <a:latin typeface="Calibri"/>
                  <a:ea typeface="Calibri"/>
                  <a:cs typeface="Calibri"/>
                  <a:sym typeface="Calibri"/>
                </a:rPr>
                <a:t>Dependencia de personas clave</a:t>
              </a:r>
              <a:endParaRPr/>
            </a:p>
          </p:txBody>
        </p:sp>
      </p:grpSp>
      <p:sp>
        <p:nvSpPr>
          <p:cNvPr id="172" name="Google Shape;172;p10"/>
          <p:cNvSpPr txBox="1"/>
          <p:nvPr/>
        </p:nvSpPr>
        <p:spPr>
          <a:xfrm>
            <a:off x="503238" y="699013"/>
            <a:ext cx="720820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¿POR QUÉ NO TODAS LAS ORGANIZACIONES ESTÁN EN EL MISMO NIVEL?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/>
          <p:nvPr/>
        </p:nvSpPr>
        <p:spPr>
          <a:xfrm>
            <a:off x="958698" y="3683644"/>
            <a:ext cx="3175640" cy="1343357"/>
          </a:xfrm>
          <a:prstGeom prst="roundRect">
            <a:avLst>
              <a:gd fmla="val 2748" name="adj"/>
            </a:avLst>
          </a:prstGeom>
          <a:solidFill>
            <a:srgbClr val="D9CFE7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0" lvl="0" marL="95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 rot="2542203">
            <a:off x="996152" y="3818388"/>
            <a:ext cx="1064361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175" name="Google Shape;175;p10"/>
          <p:cNvSpPr txBox="1"/>
          <p:nvPr/>
        </p:nvSpPr>
        <p:spPr>
          <a:xfrm>
            <a:off x="2208365" y="3847490"/>
            <a:ext cx="176216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madurez es progresiva, no binaria.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1"/>
          <p:cNvSpPr txBox="1"/>
          <p:nvPr/>
        </p:nvSpPr>
        <p:spPr>
          <a:xfrm>
            <a:off x="503238" y="623209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RELACIÓN CON GOBIERNO, PORTAFOLIO Y EJECUCIÓN </a:t>
            </a:r>
            <a:endParaRPr/>
          </a:p>
        </p:txBody>
      </p:sp>
      <p:grpSp>
        <p:nvGrpSpPr>
          <p:cNvPr id="183" name="Google Shape;183;p11"/>
          <p:cNvGrpSpPr/>
          <p:nvPr/>
        </p:nvGrpSpPr>
        <p:grpSpPr>
          <a:xfrm>
            <a:off x="739220" y="1051295"/>
            <a:ext cx="8263184" cy="4258408"/>
            <a:chOff x="597625" y="24680"/>
            <a:chExt cx="8263184" cy="4258408"/>
          </a:xfrm>
        </p:grpSpPr>
        <p:sp>
          <p:nvSpPr>
            <p:cNvPr id="184" name="Google Shape;184;p11"/>
            <p:cNvSpPr/>
            <p:nvPr/>
          </p:nvSpPr>
          <p:spPr>
            <a:xfrm rot="5400000">
              <a:off x="1203429" y="1276886"/>
              <a:ext cx="1113121" cy="1267248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7150A0">
                <a:alpha val="47058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p11"/>
            <p:cNvSpPr/>
            <p:nvPr/>
          </p:nvSpPr>
          <p:spPr>
            <a:xfrm>
              <a:off x="597625" y="24680"/>
              <a:ext cx="1873840" cy="1311627"/>
            </a:xfrm>
            <a:prstGeom prst="roundRect">
              <a:avLst>
                <a:gd fmla="val 16670" name="adj"/>
              </a:avLst>
            </a:prstGeom>
            <a:solidFill>
              <a:srgbClr val="7150A0">
                <a:alpha val="63137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11"/>
            <p:cNvSpPr txBox="1"/>
            <p:nvPr/>
          </p:nvSpPr>
          <p:spPr>
            <a:xfrm>
              <a:off x="661665" y="88720"/>
              <a:ext cx="1745760" cy="1183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E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Madurez baja</a:t>
              </a:r>
              <a:endParaRPr/>
            </a:p>
          </p:txBody>
        </p:sp>
        <p:sp>
          <p:nvSpPr>
            <p:cNvPr id="187" name="Google Shape;187;p11"/>
            <p:cNvSpPr/>
            <p:nvPr/>
          </p:nvSpPr>
          <p:spPr>
            <a:xfrm>
              <a:off x="2566716" y="118288"/>
              <a:ext cx="2966004" cy="1060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11"/>
            <p:cNvSpPr txBox="1"/>
            <p:nvPr/>
          </p:nvSpPr>
          <p:spPr>
            <a:xfrm>
              <a:off x="2566716" y="118288"/>
              <a:ext cx="2966004" cy="1060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150A0"/>
                </a:buClr>
                <a:buSzPts val="1400"/>
                <a:buFont typeface="Arial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Gobierno débil→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rgbClr val="7150A0"/>
                </a:buClr>
                <a:buSzPts val="1400"/>
                <a:buFont typeface="Arial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Portafolio desordenado→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rgbClr val="7150A0"/>
                </a:buClr>
                <a:buSzPts val="1400"/>
                <a:buFont typeface="Arial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Retrabajo→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9" name="Google Shape;189;p11"/>
            <p:cNvSpPr/>
            <p:nvPr/>
          </p:nvSpPr>
          <p:spPr>
            <a:xfrm rot="5400000">
              <a:off x="3060289" y="2768565"/>
              <a:ext cx="1113121" cy="1267248"/>
            </a:xfrm>
            <a:prstGeom prst="bentUpArrow">
              <a:avLst>
                <a:gd fmla="val 32840" name="adj1"/>
                <a:gd fmla="val 25000" name="adj2"/>
                <a:gd fmla="val 35780" name="adj3"/>
              </a:avLst>
            </a:prstGeom>
            <a:solidFill>
              <a:srgbClr val="558ED5">
                <a:alpha val="74117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11"/>
            <p:cNvSpPr/>
            <p:nvPr/>
          </p:nvSpPr>
          <p:spPr>
            <a:xfrm>
              <a:off x="2535995" y="1498071"/>
              <a:ext cx="1873840" cy="1311627"/>
            </a:xfrm>
            <a:prstGeom prst="roundRect">
              <a:avLst>
                <a:gd fmla="val 16670" name="adj"/>
              </a:avLst>
            </a:prstGeom>
            <a:solidFill>
              <a:srgbClr val="538CD5"/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" name="Google Shape;191;p11"/>
            <p:cNvSpPr txBox="1"/>
            <p:nvPr/>
          </p:nvSpPr>
          <p:spPr>
            <a:xfrm>
              <a:off x="2600035" y="1562111"/>
              <a:ext cx="1745760" cy="1183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E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Madurez media</a:t>
              </a:r>
              <a:endParaRPr/>
            </a:p>
          </p:txBody>
        </p:sp>
        <p:sp>
          <p:nvSpPr>
            <p:cNvPr id="192" name="Google Shape;192;p11"/>
            <p:cNvSpPr/>
            <p:nvPr/>
          </p:nvSpPr>
          <p:spPr>
            <a:xfrm>
              <a:off x="4551054" y="1612924"/>
              <a:ext cx="3011169" cy="1060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11"/>
            <p:cNvSpPr txBox="1"/>
            <p:nvPr/>
          </p:nvSpPr>
          <p:spPr>
            <a:xfrm>
              <a:off x="4551054" y="1612924"/>
              <a:ext cx="3011169" cy="1060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538CD5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Gobierno formal→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rgbClr val="538CD5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Portafolio priorizado →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rgbClr val="538CD5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Mejor coordinación →</a:t>
              </a:r>
              <a:endPara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p11"/>
            <p:cNvSpPr/>
            <p:nvPr/>
          </p:nvSpPr>
          <p:spPr>
            <a:xfrm>
              <a:off x="4474364" y="2971461"/>
              <a:ext cx="1873840" cy="1311627"/>
            </a:xfrm>
            <a:prstGeom prst="roundRect">
              <a:avLst>
                <a:gd fmla="val 16670" name="adj"/>
              </a:avLst>
            </a:prstGeom>
            <a:solidFill>
              <a:srgbClr val="FF7828">
                <a:alpha val="89019"/>
              </a:srgbClr>
            </a:solidFill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" name="Google Shape;195;p11"/>
            <p:cNvSpPr txBox="1"/>
            <p:nvPr/>
          </p:nvSpPr>
          <p:spPr>
            <a:xfrm>
              <a:off x="4538404" y="3035501"/>
              <a:ext cx="1745760" cy="118354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106675" lIns="106675" spcFirstLastPara="1" rIns="106675" wrap="square" tIns="1066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Calibri"/>
                <a:buNone/>
              </a:pPr>
              <a:r>
                <a:rPr lang="es-ES" sz="28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Madurez alta</a:t>
              </a:r>
              <a:endParaRPr/>
            </a:p>
          </p:txBody>
        </p:sp>
        <p:sp>
          <p:nvSpPr>
            <p:cNvPr id="196" name="Google Shape;196;p11"/>
            <p:cNvSpPr/>
            <p:nvPr/>
          </p:nvSpPr>
          <p:spPr>
            <a:xfrm>
              <a:off x="6393705" y="3070412"/>
              <a:ext cx="2467104" cy="1060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" name="Google Shape;197;p11"/>
            <p:cNvSpPr txBox="1"/>
            <p:nvPr/>
          </p:nvSpPr>
          <p:spPr>
            <a:xfrm>
              <a:off x="6393705" y="3070412"/>
              <a:ext cx="2467104" cy="10601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3325" lIns="53325" spcFirstLastPara="1" rIns="53325" wrap="square" tIns="53325">
              <a:noAutofit/>
            </a:bodyPr>
            <a:lstStyle/>
            <a:p>
              <a:pPr indent="-114300" lvl="1" marL="11430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accent4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Gobierno estratégico →</a:t>
              </a:r>
              <a:endParaRPr b="0" i="0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accent4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Portafolio alineado →</a:t>
              </a:r>
              <a:endParaRPr b="0" i="0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114300" lvl="1" marL="114300" marR="0" rtl="0" algn="l">
                <a:lnSpc>
                  <a:spcPct val="90000"/>
                </a:lnSpc>
                <a:spcBef>
                  <a:spcPts val="210"/>
                </a:spcBef>
                <a:spcAft>
                  <a:spcPts val="0"/>
                </a:spcAft>
                <a:buClr>
                  <a:schemeClr val="accent4"/>
                </a:buClr>
                <a:buSzPts val="1400"/>
                <a:buFont typeface="Calibri"/>
                <a:buChar char="•"/>
              </a:pPr>
              <a:r>
                <a:rPr b="0" i="0" lang="es-ES" sz="1400" u="none" cap="none" strike="noStrike">
                  <a:solidFill>
                    <a:srgbClr val="7F7F7F"/>
                  </a:solidFill>
                  <a:latin typeface="Calibri"/>
                  <a:ea typeface="Calibri"/>
                  <a:cs typeface="Calibri"/>
                  <a:sym typeface="Calibri"/>
                </a:rPr>
                <a:t>Ejecución consistente→</a:t>
              </a:r>
              <a:endParaRPr b="0" i="0" sz="1400" u="none" cap="none" strike="noStrike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8" name="Google Shape;198;p11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" name="Google Shape;204;p12"/>
          <p:cNvPicPr preferRelativeResize="0"/>
          <p:nvPr/>
        </p:nvPicPr>
        <p:blipFill rotWithShape="1">
          <a:blip r:embed="rId3">
            <a:alphaModFix/>
          </a:blip>
          <a:srcRect b="9136" l="2220" r="1024" t="4286"/>
          <a:stretch/>
        </p:blipFill>
        <p:spPr>
          <a:xfrm>
            <a:off x="503238" y="1935044"/>
            <a:ext cx="5324320" cy="3122674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12"/>
          <p:cNvSpPr/>
          <p:nvPr/>
        </p:nvSpPr>
        <p:spPr>
          <a:xfrm rot="5400000">
            <a:off x="5682993" y="2065023"/>
            <a:ext cx="3122671" cy="2862716"/>
          </a:xfrm>
          <a:prstGeom prst="round2SameRect">
            <a:avLst>
              <a:gd fmla="val 5165" name="adj1"/>
              <a:gd fmla="val 0" name="adj2"/>
            </a:avLst>
          </a:prstGeom>
          <a:solidFill>
            <a:srgbClr val="654E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2"/>
          <p:cNvSpPr txBox="1"/>
          <p:nvPr/>
        </p:nvSpPr>
        <p:spPr>
          <a:xfrm>
            <a:off x="6105409" y="2937521"/>
            <a:ext cx="2286285" cy="12926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 madurez, el gobierno es simbólico.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 madurez, el portafolio pierde foco.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Sin madurez, la ejecución genera deuda técnica.</a:t>
            </a:r>
            <a:endParaRPr/>
          </a:p>
        </p:txBody>
      </p:sp>
      <p:sp>
        <p:nvSpPr>
          <p:cNvPr id="207" name="Google Shape;207;p12"/>
          <p:cNvSpPr txBox="1"/>
          <p:nvPr/>
        </p:nvSpPr>
        <p:spPr>
          <a:xfrm>
            <a:off x="506796" y="1061593"/>
            <a:ext cx="7777668" cy="4924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176213" lvl="0" marL="176213" marR="0" rtl="0"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madurez arquitectónica es el nivel de control estructural que tiene la organización sobre su propia transformación.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08" name="Google Shape;20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105409" y="2744485"/>
            <a:ext cx="121379" cy="121379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2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0" name="Google Shape;210;p12"/>
          <p:cNvPicPr preferRelativeResize="0"/>
          <p:nvPr/>
        </p:nvPicPr>
        <p:blipFill rotWithShape="1">
          <a:blip r:embed="rId5">
            <a:alphaModFix/>
          </a:blip>
          <a:srcRect b="12132" l="0" r="0" t="504"/>
          <a:stretch/>
        </p:blipFill>
        <p:spPr>
          <a:xfrm>
            <a:off x="451373" y="1935043"/>
            <a:ext cx="5361597" cy="3122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13"/>
          <p:cNvSpPr txBox="1"/>
          <p:nvPr/>
        </p:nvSpPr>
        <p:spPr>
          <a:xfrm>
            <a:off x="1124606" y="1334006"/>
            <a:ext cx="6659975" cy="30469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madurez arquitectónica no mide documentación, mide capacidad organizacional para tomar decisiones estructuradas, repetibles y alineadas a la estrategia.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mayor madurez, mayor coherencia entre gobierno, portafolio e implementación, reduciendo improvisación y deuda técnica.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madurez es progresiva: evoluciona desde prácticas reactivas hasta modelos institucionalizados, medibles y optimizados.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la madurez es el punto de partida para fortalecer la arquitectura como función estratégica transversal y no como soporte técnico aislado.</a:t>
            </a:r>
            <a:endParaRPr/>
          </a:p>
        </p:txBody>
      </p:sp>
      <p:sp>
        <p:nvSpPr>
          <p:cNvPr id="217" name="Google Shape;217;p13"/>
          <p:cNvSpPr txBox="1"/>
          <p:nvPr/>
        </p:nvSpPr>
        <p:spPr>
          <a:xfrm>
            <a:off x="503238" y="751484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00D4D6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218" name="Google Shape;218;p13"/>
          <p:cNvSpPr/>
          <p:nvPr/>
        </p:nvSpPr>
        <p:spPr>
          <a:xfrm>
            <a:off x="475796" y="1354120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19" name="Google Shape;219;p13"/>
          <p:cNvCxnSpPr>
            <a:endCxn id="220" idx="4"/>
          </p:cNvCxnSpPr>
          <p:nvPr/>
        </p:nvCxnSpPr>
        <p:spPr>
          <a:xfrm>
            <a:off x="1031821" y="1510267"/>
            <a:ext cx="0" cy="2544900"/>
          </a:xfrm>
          <a:prstGeom prst="straightConnector1">
            <a:avLst/>
          </a:prstGeom>
          <a:noFill/>
          <a:ln cap="flat" cmpd="sng" w="12700">
            <a:solidFill>
              <a:srgbClr val="01B1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1" name="Google Shape;221;p13"/>
          <p:cNvSpPr/>
          <p:nvPr/>
        </p:nvSpPr>
        <p:spPr>
          <a:xfrm>
            <a:off x="475796" y="2297573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3"/>
          <p:cNvSpPr/>
          <p:nvPr/>
        </p:nvSpPr>
        <p:spPr>
          <a:xfrm>
            <a:off x="475796" y="3041916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3" name="Google Shape;223;p13"/>
          <p:cNvGrpSpPr/>
          <p:nvPr/>
        </p:nvGrpSpPr>
        <p:grpSpPr>
          <a:xfrm>
            <a:off x="961425" y="1458159"/>
            <a:ext cx="140792" cy="140258"/>
            <a:chOff x="3427964" y="2244682"/>
            <a:chExt cx="225891" cy="225034"/>
          </a:xfrm>
        </p:grpSpPr>
        <p:sp>
          <p:nvSpPr>
            <p:cNvPr id="224" name="Google Shape;224;p1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5" name="Google Shape;225;p1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6" name="Google Shape;226;p13"/>
          <p:cNvSpPr/>
          <p:nvPr/>
        </p:nvSpPr>
        <p:spPr>
          <a:xfrm>
            <a:off x="478123" y="3781301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7" name="Google Shape;227;p13"/>
          <p:cNvGrpSpPr/>
          <p:nvPr/>
        </p:nvGrpSpPr>
        <p:grpSpPr>
          <a:xfrm>
            <a:off x="961425" y="2398667"/>
            <a:ext cx="140792" cy="140258"/>
            <a:chOff x="3427964" y="2244682"/>
            <a:chExt cx="225891" cy="225034"/>
          </a:xfrm>
        </p:grpSpPr>
        <p:sp>
          <p:nvSpPr>
            <p:cNvPr id="228" name="Google Shape;228;p1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9" name="Google Shape;229;p1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0" name="Google Shape;230;p13"/>
          <p:cNvGrpSpPr/>
          <p:nvPr/>
        </p:nvGrpSpPr>
        <p:grpSpPr>
          <a:xfrm>
            <a:off x="961425" y="3132661"/>
            <a:ext cx="140792" cy="140258"/>
            <a:chOff x="3427964" y="2244682"/>
            <a:chExt cx="225891" cy="225034"/>
          </a:xfrm>
        </p:grpSpPr>
        <p:sp>
          <p:nvSpPr>
            <p:cNvPr id="231" name="Google Shape;231;p1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2" name="Google Shape;232;p1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3" name="Google Shape;233;p13"/>
          <p:cNvGrpSpPr/>
          <p:nvPr/>
        </p:nvGrpSpPr>
        <p:grpSpPr>
          <a:xfrm>
            <a:off x="961425" y="3914909"/>
            <a:ext cx="140792" cy="140258"/>
            <a:chOff x="3427964" y="2244682"/>
            <a:chExt cx="225891" cy="225034"/>
          </a:xfrm>
        </p:grpSpPr>
        <p:sp>
          <p:nvSpPr>
            <p:cNvPr id="220" name="Google Shape;220;p1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4" name="Google Shape;234;p1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5" name="Google Shape;235;p13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4"/>
          <p:cNvSpPr txBox="1"/>
          <p:nvPr/>
        </p:nvSpPr>
        <p:spPr>
          <a:xfrm>
            <a:off x="506796" y="918372"/>
            <a:ext cx="3560379" cy="352404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UN MODELO DE MADUREZ?</a:t>
            </a:r>
            <a:endParaRPr/>
          </a:p>
          <a:p>
            <a:pPr indent="0" lvl="0" marL="11725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marco estructurado que define niveles progresivos de capacidad organizacional.</a:t>
            </a:r>
            <a:endParaRPr/>
          </a:p>
          <a:p>
            <a:pPr indent="-746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Permite evaluar prácticas actuales frente a criterios definidos.</a:t>
            </a:r>
            <a:endParaRPr/>
          </a:p>
          <a:p>
            <a:pPr indent="-746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Facilita comparar estado actual vs estado deseado.</a:t>
            </a:r>
            <a:endParaRPr/>
          </a:p>
          <a:p>
            <a:pPr indent="-746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Proporciona un lenguaje común para diagnosticar evolución</a:t>
            </a:r>
            <a:r>
              <a:rPr b="1" lang="es-ES" sz="1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</p:txBody>
      </p:sp>
      <p:pic>
        <p:nvPicPr>
          <p:cNvPr id="242" name="Google Shape;24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848657" y="614569"/>
            <a:ext cx="3677163" cy="4182059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14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5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0" name="Google Shape;250;p15"/>
          <p:cNvGrpSpPr/>
          <p:nvPr/>
        </p:nvGrpSpPr>
        <p:grpSpPr>
          <a:xfrm>
            <a:off x="2750508" y="876484"/>
            <a:ext cx="6096000" cy="4126043"/>
            <a:chOff x="1524000" y="763455"/>
            <a:chExt cx="6096000" cy="4126043"/>
          </a:xfrm>
        </p:grpSpPr>
        <p:grpSp>
          <p:nvGrpSpPr>
            <p:cNvPr id="251" name="Google Shape;251;p15"/>
            <p:cNvGrpSpPr/>
            <p:nvPr/>
          </p:nvGrpSpPr>
          <p:grpSpPr>
            <a:xfrm>
              <a:off x="1524000" y="825500"/>
              <a:ext cx="6096000" cy="4063998"/>
              <a:chOff x="0" y="0"/>
              <a:chExt cx="6096000" cy="4063998"/>
            </a:xfrm>
          </p:grpSpPr>
          <p:sp>
            <p:nvSpPr>
              <p:cNvPr id="252" name="Google Shape;252;p15"/>
              <p:cNvSpPr/>
              <p:nvPr/>
            </p:nvSpPr>
            <p:spPr>
              <a:xfrm>
                <a:off x="2438400" y="0"/>
                <a:ext cx="1219200" cy="812799"/>
              </a:xfrm>
              <a:prstGeom prst="trapezoid">
                <a:avLst>
                  <a:gd fmla="val 75000" name="adj"/>
                </a:avLst>
              </a:prstGeom>
              <a:solidFill>
                <a:srgbClr val="7150A0">
                  <a:alpha val="36862"/>
                </a:srgbClr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5"/>
              <p:cNvSpPr txBox="1"/>
              <p:nvPr/>
            </p:nvSpPr>
            <p:spPr>
              <a:xfrm>
                <a:off x="2438400" y="0"/>
                <a:ext cx="1219200" cy="812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700" lIns="12700" spcFirstLastPara="1" rIns="12700" wrap="square" tIns="127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7150A0"/>
                  </a:buClr>
                  <a:buSzPts val="1000"/>
                  <a:buFont typeface="Calibri"/>
                  <a:buNone/>
                </a:pPr>
                <a:r>
                  <a:rPr b="1" lang="es-ES" sz="1000">
                    <a:solidFill>
                      <a:srgbClr val="7150A0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Nivel 5 – Optimizado: Mejora continua sistemática y evolución estratégica.</a:t>
                </a:r>
                <a:endParaRPr b="1" sz="1000">
                  <a:solidFill>
                    <a:srgbClr val="7150A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4" name="Google Shape;254;p15"/>
              <p:cNvSpPr/>
              <p:nvPr/>
            </p:nvSpPr>
            <p:spPr>
              <a:xfrm>
                <a:off x="1828800" y="812799"/>
                <a:ext cx="2438400" cy="812799"/>
              </a:xfrm>
              <a:prstGeom prst="trapezoid">
                <a:avLst>
                  <a:gd fmla="val 75000" name="adj"/>
                </a:avLst>
              </a:prstGeom>
              <a:solidFill>
                <a:srgbClr val="7150A0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5" name="Google Shape;255;p15"/>
              <p:cNvSpPr txBox="1"/>
              <p:nvPr/>
            </p:nvSpPr>
            <p:spPr>
              <a:xfrm>
                <a:off x="2255520" y="812799"/>
                <a:ext cx="1584960" cy="812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3950" lIns="13950" spcFirstLastPara="1" rIns="13950" wrap="square" tIns="1395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Calibri"/>
                  <a:buNone/>
                </a:pPr>
                <a:r>
                  <a:rPr lang="es-ES" sz="11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Nivel 4 – Medido: 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385"/>
                  </a:spcBef>
                  <a:spcAft>
                    <a:spcPts val="0"/>
                  </a:spcAft>
                  <a:buClr>
                    <a:schemeClr val="lt1"/>
                  </a:buClr>
                  <a:buSzPts val="1100"/>
                  <a:buFont typeface="Calibri"/>
                  <a:buNone/>
                </a:pPr>
                <a:r>
                  <a:rPr lang="es-ES" sz="11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Uso de métricas para control y mejora.</a:t>
                </a:r>
                <a:endParaRPr sz="11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6" name="Google Shape;256;p15"/>
              <p:cNvSpPr/>
              <p:nvPr/>
            </p:nvSpPr>
            <p:spPr>
              <a:xfrm>
                <a:off x="1219200" y="1625599"/>
                <a:ext cx="3657600" cy="812799"/>
              </a:xfrm>
              <a:prstGeom prst="trapezoid">
                <a:avLst>
                  <a:gd fmla="val 75000" name="adj"/>
                </a:avLst>
              </a:prstGeom>
              <a:solidFill>
                <a:srgbClr val="7150A0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5"/>
              <p:cNvSpPr txBox="1"/>
              <p:nvPr/>
            </p:nvSpPr>
            <p:spPr>
              <a:xfrm>
                <a:off x="1859280" y="1625599"/>
                <a:ext cx="2377440" cy="812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2700" lIns="12700" spcFirstLastPara="1" rIns="12700" wrap="square" tIns="12700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Calibri"/>
                  <a:buNone/>
                </a:pPr>
                <a:r>
                  <a:rPr lang="es-ES" sz="1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Nivel 3 – Definido: 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350"/>
                  </a:spcBef>
                  <a:spcAft>
                    <a:spcPts val="0"/>
                  </a:spcAft>
                  <a:buClr>
                    <a:schemeClr val="lt1"/>
                  </a:buClr>
                  <a:buSzPts val="1000"/>
                  <a:buFont typeface="Calibri"/>
                  <a:buNone/>
                </a:pPr>
                <a:r>
                  <a:rPr lang="es-ES" sz="10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Estándares institucionalizados y aplicados de manera consistente.</a:t>
                </a:r>
                <a:endParaRPr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58" name="Google Shape;258;p15"/>
              <p:cNvSpPr/>
              <p:nvPr/>
            </p:nvSpPr>
            <p:spPr>
              <a:xfrm>
                <a:off x="609600" y="2438399"/>
                <a:ext cx="4876800" cy="812799"/>
              </a:xfrm>
              <a:prstGeom prst="trapezoid">
                <a:avLst>
                  <a:gd fmla="val 75000" name="adj"/>
                </a:avLst>
              </a:prstGeom>
              <a:solidFill>
                <a:srgbClr val="7150A0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9" name="Google Shape;259;p15"/>
              <p:cNvSpPr txBox="1"/>
              <p:nvPr/>
            </p:nvSpPr>
            <p:spPr>
              <a:xfrm>
                <a:off x="1463039" y="2438399"/>
                <a:ext cx="3169920" cy="812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5225" lIns="15225" spcFirstLastPara="1" rIns="15225" wrap="square" tIns="15225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Calibri"/>
                  <a:buNone/>
                </a:pPr>
                <a:r>
                  <a:rPr lang="es-ES" sz="12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Nivel 2 – Gestionado: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420"/>
                  </a:spcBef>
                  <a:spcAft>
                    <a:spcPts val="0"/>
                  </a:spcAft>
                  <a:buClr>
                    <a:schemeClr val="lt1"/>
                  </a:buClr>
                  <a:buSzPts val="1200"/>
                  <a:buFont typeface="Calibri"/>
                  <a:buNone/>
                </a:pPr>
                <a:r>
                  <a:rPr lang="es-ES" sz="12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Procesos definidos parcialmente, control básico.</a:t>
                </a:r>
                <a:endParaRPr/>
              </a:p>
            </p:txBody>
          </p:sp>
          <p:sp>
            <p:nvSpPr>
              <p:cNvPr id="260" name="Google Shape;260;p15"/>
              <p:cNvSpPr/>
              <p:nvPr/>
            </p:nvSpPr>
            <p:spPr>
              <a:xfrm>
                <a:off x="0" y="3251199"/>
                <a:ext cx="6096000" cy="812799"/>
              </a:xfrm>
              <a:prstGeom prst="trapezoid">
                <a:avLst>
                  <a:gd fmla="val 75000" name="adj"/>
                </a:avLst>
              </a:prstGeom>
              <a:solidFill>
                <a:srgbClr val="7150A0"/>
              </a:solidFill>
              <a:ln cap="flat" cmpd="sng" w="38100">
                <a:solidFill>
                  <a:schemeClr val="lt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5"/>
              <p:cNvSpPr txBox="1"/>
              <p:nvPr/>
            </p:nvSpPr>
            <p:spPr>
              <a:xfrm>
                <a:off x="1066799" y="3251199"/>
                <a:ext cx="3962400" cy="8127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17775" lIns="17775" spcFirstLastPara="1" rIns="17775" wrap="square" tIns="17775">
                <a:noAutofit/>
              </a:bodyPr>
              <a:lstStyle/>
              <a:p>
                <a:pPr indent="0" lvl="0" marL="0" marR="0" rtl="0" algn="ctr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r>
                  <a:rPr lang="es-ES" sz="1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Nivel 1 – Inicial:</a:t>
                </a:r>
                <a:endParaRPr/>
              </a:p>
              <a:p>
                <a:pPr indent="0" lvl="0" marL="0" marR="0" rtl="0" algn="ctr">
                  <a:lnSpc>
                    <a:spcPct val="90000"/>
                  </a:lnSpc>
                  <a:spcBef>
                    <a:spcPts val="490"/>
                  </a:spcBef>
                  <a:spcAft>
                    <a:spcPts val="0"/>
                  </a:spcAft>
                  <a:buClr>
                    <a:schemeClr val="lt1"/>
                  </a:buClr>
                  <a:buSzPts val="1400"/>
                  <a:buFont typeface="Calibri"/>
                  <a:buNone/>
                </a:pPr>
                <a:r>
                  <a:rPr lang="es-ES" sz="1400">
                    <a:solidFill>
                      <a:schemeClr val="lt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Prácticas informales, reactivas y dependientes de personas.</a:t>
                </a:r>
                <a:endParaRPr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262" name="Google Shape;262;p15"/>
            <p:cNvSpPr txBox="1"/>
            <p:nvPr/>
          </p:nvSpPr>
          <p:spPr>
            <a:xfrm>
              <a:off x="6629400" y="4047573"/>
              <a:ext cx="676655" cy="70788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4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🥑</a:t>
              </a:r>
              <a:endParaRPr/>
            </a:p>
          </p:txBody>
        </p:sp>
        <p:sp>
          <p:nvSpPr>
            <p:cNvPr id="263" name="Google Shape;263;p15"/>
            <p:cNvSpPr txBox="1"/>
            <p:nvPr/>
          </p:nvSpPr>
          <p:spPr>
            <a:xfrm>
              <a:off x="5522978" y="763455"/>
              <a:ext cx="859536" cy="86177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50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🔐</a:t>
              </a:r>
              <a:endParaRPr/>
            </a:p>
          </p:txBody>
        </p:sp>
      </p:grpSp>
      <p:sp>
        <p:nvSpPr>
          <p:cNvPr id="264" name="Google Shape;264;p15"/>
          <p:cNvSpPr txBox="1"/>
          <p:nvPr/>
        </p:nvSpPr>
        <p:spPr>
          <a:xfrm>
            <a:off x="536294" y="1370091"/>
            <a:ext cx="3631093" cy="16004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madurez arquitectónica refleja el grado de institucionalización y control de la arquitectura en la organización.</a:t>
            </a:r>
            <a:endParaRPr/>
          </a:p>
          <a:p>
            <a:pPr indent="-82550" lvl="0" marL="1714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1450" lvl="0" marL="171450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Cada nivel implica mayor coherencia, medición y alineamiento estratégico en la toma de decisiones</a:t>
            </a:r>
            <a:r>
              <a:rPr lang="es-ES" sz="1100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6"/>
          <p:cNvSpPr/>
          <p:nvPr/>
        </p:nvSpPr>
        <p:spPr>
          <a:xfrm rot="-5400000">
            <a:off x="-541338" y="1957388"/>
            <a:ext cx="4321178" cy="2232024"/>
          </a:xfrm>
          <a:prstGeom prst="round2SameRect">
            <a:avLst>
              <a:gd fmla="val 5364" name="adj1"/>
              <a:gd fmla="val 0" name="adj2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16"/>
          <p:cNvSpPr txBox="1"/>
          <p:nvPr/>
        </p:nvSpPr>
        <p:spPr>
          <a:xfrm>
            <a:off x="727177" y="2280330"/>
            <a:ext cx="1858626" cy="15850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FDC212"/>
                </a:solidFill>
                <a:latin typeface="Calibri"/>
                <a:ea typeface="Calibri"/>
                <a:cs typeface="Calibri"/>
                <a:sym typeface="Calibri"/>
              </a:rPr>
              <a:t>CMMI significa: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Capability Maturity Model Integration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 español: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Modelo Integrado de Madurez de Capacidades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2" name="Google Shape;27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177" y="2023267"/>
            <a:ext cx="157605" cy="157605"/>
          </a:xfrm>
          <a:prstGeom prst="rect">
            <a:avLst/>
          </a:prstGeom>
          <a:noFill/>
          <a:ln>
            <a:noFill/>
          </a:ln>
        </p:spPr>
      </p:pic>
      <p:sp>
        <p:nvSpPr>
          <p:cNvPr id="273" name="Google Shape;273;p16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4" name="Google Shape;274;p16"/>
          <p:cNvPicPr preferRelativeResize="0"/>
          <p:nvPr/>
        </p:nvPicPr>
        <p:blipFill rotWithShape="1">
          <a:blip r:embed="rId4">
            <a:alphaModFix/>
          </a:blip>
          <a:srcRect b="27128" l="0" r="0" t="13328"/>
          <a:stretch/>
        </p:blipFill>
        <p:spPr>
          <a:xfrm>
            <a:off x="2735264" y="912811"/>
            <a:ext cx="5938282" cy="43211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 txBox="1"/>
          <p:nvPr/>
        </p:nvSpPr>
        <p:spPr>
          <a:xfrm>
            <a:off x="657904" y="1272450"/>
            <a:ext cx="3914097" cy="255454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SIGNIFICA REALMENTE?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un modelo que permite evaluar </a:t>
            </a: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qué tan maduros, controlados y optimizados están los procesos de una organización</a:t>
            </a:r>
            <a:r>
              <a:rPr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mide tecnología.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mide talento individual.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Mide disciplina organizacional.</a:t>
            </a:r>
            <a:endParaRPr/>
          </a:p>
        </p:txBody>
      </p:sp>
      <p:pic>
        <p:nvPicPr>
          <p:cNvPr descr="A close-up of a drawing&#10;&#10;Description automatically generated" id="281" name="Google Shape;28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09664" y="0"/>
            <a:ext cx="4134336" cy="5715000"/>
          </a:xfrm>
          <a:prstGeom prst="rect">
            <a:avLst/>
          </a:prstGeom>
          <a:solidFill>
            <a:srgbClr val="DDE1E4"/>
          </a:solidFill>
          <a:ln>
            <a:noFill/>
          </a:ln>
        </p:spPr>
      </p:pic>
      <p:sp>
        <p:nvSpPr>
          <p:cNvPr id="282" name="Google Shape;282;p17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8"/>
          <p:cNvSpPr/>
          <p:nvPr/>
        </p:nvSpPr>
        <p:spPr>
          <a:xfrm>
            <a:off x="936447" y="1516215"/>
            <a:ext cx="4186619" cy="331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el nivel de formalización de procesos.</a:t>
            </a:r>
            <a:endParaRPr/>
          </a:p>
        </p:txBody>
      </p:sp>
      <p:cxnSp>
        <p:nvCxnSpPr>
          <p:cNvPr id="289" name="Google Shape;289;p18"/>
          <p:cNvCxnSpPr/>
          <p:nvPr/>
        </p:nvCxnSpPr>
        <p:spPr>
          <a:xfrm flipH="1">
            <a:off x="722045" y="1774170"/>
            <a:ext cx="1" cy="569270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0" name="Google Shape;290;p18"/>
          <p:cNvSpPr/>
          <p:nvPr/>
        </p:nvSpPr>
        <p:spPr>
          <a:xfrm>
            <a:off x="936446" y="2299372"/>
            <a:ext cx="4186619" cy="331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brechas de control y repetibilidad.</a:t>
            </a:r>
            <a:endParaRPr/>
          </a:p>
        </p:txBody>
      </p:sp>
      <p:sp>
        <p:nvSpPr>
          <p:cNvPr id="291" name="Google Shape;291;p18"/>
          <p:cNvSpPr/>
          <p:nvPr/>
        </p:nvSpPr>
        <p:spPr>
          <a:xfrm>
            <a:off x="936446" y="2944204"/>
            <a:ext cx="4186619" cy="3311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Diseñar planes de mejora estructurados</a:t>
            </a:r>
            <a:endParaRPr/>
          </a:p>
        </p:txBody>
      </p:sp>
      <p:sp>
        <p:nvSpPr>
          <p:cNvPr id="292" name="Google Shape;292;p18"/>
          <p:cNvSpPr/>
          <p:nvPr/>
        </p:nvSpPr>
        <p:spPr>
          <a:xfrm>
            <a:off x="645704" y="823414"/>
            <a:ext cx="7296705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¿PARA QUÉ SIRVE?</a:t>
            </a:r>
            <a:endParaRPr/>
          </a:p>
        </p:txBody>
      </p:sp>
      <p:sp>
        <p:nvSpPr>
          <p:cNvPr id="293" name="Google Shape;293;p18"/>
          <p:cNvSpPr/>
          <p:nvPr/>
        </p:nvSpPr>
        <p:spPr>
          <a:xfrm>
            <a:off x="645704" y="155903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94" name="Google Shape;294;p18"/>
          <p:cNvCxnSpPr/>
          <p:nvPr/>
        </p:nvCxnSpPr>
        <p:spPr>
          <a:xfrm flipH="1">
            <a:off x="722045" y="2612196"/>
            <a:ext cx="1" cy="431161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5" name="Google Shape;295;p18"/>
          <p:cNvSpPr/>
          <p:nvPr/>
        </p:nvSpPr>
        <p:spPr>
          <a:xfrm>
            <a:off x="645704" y="2429447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8"/>
          <p:cNvSpPr/>
          <p:nvPr/>
        </p:nvSpPr>
        <p:spPr>
          <a:xfrm>
            <a:off x="645704" y="310224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8"/>
          <p:cNvSpPr/>
          <p:nvPr/>
        </p:nvSpPr>
        <p:spPr>
          <a:xfrm>
            <a:off x="936446" y="3600053"/>
            <a:ext cx="4186619" cy="7004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Evolucionar desde prácticas reactivas hacia mejora continua</a:t>
            </a:r>
            <a:endParaRPr/>
          </a:p>
        </p:txBody>
      </p:sp>
      <p:cxnSp>
        <p:nvCxnSpPr>
          <p:cNvPr id="298" name="Google Shape;298;p18"/>
          <p:cNvCxnSpPr/>
          <p:nvPr/>
        </p:nvCxnSpPr>
        <p:spPr>
          <a:xfrm flipH="1">
            <a:off x="722045" y="3254931"/>
            <a:ext cx="791" cy="416587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99" name="Google Shape;299;p18"/>
          <p:cNvSpPr/>
          <p:nvPr/>
        </p:nvSpPr>
        <p:spPr>
          <a:xfrm>
            <a:off x="646493" y="3733936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8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1" name="Google Shape;301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20659" y="1183860"/>
            <a:ext cx="3075265" cy="33472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9"/>
          <p:cNvSpPr/>
          <p:nvPr/>
        </p:nvSpPr>
        <p:spPr>
          <a:xfrm>
            <a:off x="503238" y="3620469"/>
            <a:ext cx="3473852" cy="1149063"/>
          </a:xfrm>
          <a:prstGeom prst="roundRect">
            <a:avLst>
              <a:gd fmla="val 2748" name="adj"/>
            </a:avLst>
          </a:prstGeom>
          <a:solidFill>
            <a:srgbClr val="D9CFE7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0" lvl="0" marL="95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9"/>
          <p:cNvSpPr txBox="1"/>
          <p:nvPr/>
        </p:nvSpPr>
        <p:spPr>
          <a:xfrm>
            <a:off x="503238" y="1528270"/>
            <a:ext cx="3312047" cy="18774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CMMI no pregunta: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“¿Lo haces bien?”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Pregunta: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“¿Lo haces de manera repetible, medible y sostenible?”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0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19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19"/>
          <p:cNvSpPr txBox="1"/>
          <p:nvPr/>
        </p:nvSpPr>
        <p:spPr>
          <a:xfrm>
            <a:off x="536526" y="1067287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IDEA CLAVE</a:t>
            </a:r>
            <a:endParaRPr/>
          </a:p>
        </p:txBody>
      </p:sp>
      <p:sp>
        <p:nvSpPr>
          <p:cNvPr id="311" name="Google Shape;311;p19"/>
          <p:cNvSpPr/>
          <p:nvPr/>
        </p:nvSpPr>
        <p:spPr>
          <a:xfrm>
            <a:off x="665042" y="3902612"/>
            <a:ext cx="3150243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Esa es la diferencia entre capacidad y dependencia de personas.</a:t>
            </a:r>
            <a:endParaRPr/>
          </a:p>
        </p:txBody>
      </p:sp>
      <p:pic>
        <p:nvPicPr>
          <p:cNvPr id="312" name="Google Shape;312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67669" y="1465034"/>
            <a:ext cx="4311289" cy="31826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20"/>
          <p:cNvSpPr/>
          <p:nvPr/>
        </p:nvSpPr>
        <p:spPr>
          <a:xfrm>
            <a:off x="4676455" y="1219769"/>
            <a:ext cx="3175640" cy="501005"/>
          </a:xfrm>
          <a:prstGeom prst="roundRect">
            <a:avLst>
              <a:gd fmla="val 1832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 que evalúa</a:t>
            </a:r>
            <a:endParaRPr/>
          </a:p>
        </p:txBody>
      </p:sp>
      <p:sp>
        <p:nvSpPr>
          <p:cNvPr id="319" name="Google Shape;319;p20"/>
          <p:cNvSpPr/>
          <p:nvPr/>
        </p:nvSpPr>
        <p:spPr>
          <a:xfrm>
            <a:off x="4676455" y="1794321"/>
            <a:ext cx="3175640" cy="2028288"/>
          </a:xfrm>
          <a:prstGeom prst="roundRect">
            <a:avLst>
              <a:gd fmla="val 2748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Formalización de procesos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Repetibilidad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Medición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 estadístico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 progresiva</a:t>
            </a:r>
            <a:endParaRPr/>
          </a:p>
          <a:p>
            <a:pPr indent="-460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0" name="Google Shape;320;p20"/>
          <p:cNvGrpSpPr/>
          <p:nvPr/>
        </p:nvGrpSpPr>
        <p:grpSpPr>
          <a:xfrm>
            <a:off x="4460689" y="1268398"/>
            <a:ext cx="459474" cy="403823"/>
            <a:chOff x="5892512" y="2805541"/>
            <a:chExt cx="459474" cy="403823"/>
          </a:xfrm>
        </p:grpSpPr>
        <p:sp>
          <p:nvSpPr>
            <p:cNvPr id="321" name="Google Shape;321;p20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B82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2" name="Google Shape;322;p20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3" name="Google Shape;323;p20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24" name="Google Shape;324;p20"/>
          <p:cNvSpPr/>
          <p:nvPr/>
        </p:nvSpPr>
        <p:spPr>
          <a:xfrm>
            <a:off x="1290849" y="1219769"/>
            <a:ext cx="3175640" cy="501005"/>
          </a:xfrm>
          <a:prstGeom prst="roundRect">
            <a:avLst>
              <a:gd fmla="val 18326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Enfoque central</a:t>
            </a:r>
            <a:endParaRPr/>
          </a:p>
        </p:txBody>
      </p:sp>
      <p:sp>
        <p:nvSpPr>
          <p:cNvPr id="325" name="Google Shape;325;p20"/>
          <p:cNvSpPr/>
          <p:nvPr/>
        </p:nvSpPr>
        <p:spPr>
          <a:xfrm>
            <a:off x="1290849" y="1794320"/>
            <a:ext cx="3175640" cy="2028288"/>
          </a:xfrm>
          <a:prstGeom prst="roundRect">
            <a:avLst>
              <a:gd fmla="val 2748" name="adj"/>
            </a:avLst>
          </a:prstGeom>
          <a:solidFill>
            <a:srgbClr val="FFD8D4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CMMI nace en ingeniería de procesos, pero su lógica es altamente aplicable a arquitectura empresarial.</a:t>
            </a:r>
            <a:endParaRPr/>
          </a:p>
          <a:p>
            <a:pPr indent="-873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Disciplina de procesos y mejora continua.</a:t>
            </a:r>
            <a:endParaRPr/>
          </a:p>
          <a:p>
            <a:pPr indent="-39687" lvl="0" marL="1381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26" name="Google Shape;326;p20"/>
          <p:cNvGrpSpPr/>
          <p:nvPr/>
        </p:nvGrpSpPr>
        <p:grpSpPr>
          <a:xfrm>
            <a:off x="1075934" y="1268398"/>
            <a:ext cx="459474" cy="403823"/>
            <a:chOff x="5892512" y="2805541"/>
            <a:chExt cx="459474" cy="403823"/>
          </a:xfrm>
        </p:grpSpPr>
        <p:sp>
          <p:nvSpPr>
            <p:cNvPr id="327" name="Google Shape;327;p20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B7362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8" name="Google Shape;328;p20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9" name="Google Shape;329;p20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30" name="Google Shape;330;p20"/>
          <p:cNvSpPr txBox="1"/>
          <p:nvPr/>
        </p:nvSpPr>
        <p:spPr>
          <a:xfrm>
            <a:off x="594678" y="729696"/>
            <a:ext cx="7005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CMMI APLICADO A ARQUITECTURA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20"/>
          <p:cNvSpPr/>
          <p:nvPr/>
        </p:nvSpPr>
        <p:spPr>
          <a:xfrm>
            <a:off x="842791" y="3998712"/>
            <a:ext cx="7502486" cy="1162451"/>
          </a:xfrm>
          <a:prstGeom prst="roundRect">
            <a:avLst>
              <a:gd fmla="val 23879" name="adj"/>
            </a:avLst>
          </a:prstGeom>
          <a:solidFill>
            <a:srgbClr val="EDE8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Fortaleza: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Estructura rigurosa para institucionalizar prácticas.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Limitación: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Puede enfocarse demasiado en procesos y menos en alineamiento estratégico.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s-ES" sz="14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 sz="14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20"/>
          <p:cNvSpPr txBox="1"/>
          <p:nvPr/>
        </p:nvSpPr>
        <p:spPr>
          <a:xfrm rot="2542203">
            <a:off x="7235005" y="4149050"/>
            <a:ext cx="1184553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333" name="Google Shape;333;p20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21"/>
          <p:cNvSpPr/>
          <p:nvPr/>
        </p:nvSpPr>
        <p:spPr>
          <a:xfrm>
            <a:off x="4676455" y="1285871"/>
            <a:ext cx="3175640" cy="501005"/>
          </a:xfrm>
          <a:prstGeom prst="roundRect">
            <a:avLst>
              <a:gd fmla="val 1832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 que evalúa</a:t>
            </a:r>
            <a:endParaRPr/>
          </a:p>
        </p:txBody>
      </p:sp>
      <p:sp>
        <p:nvSpPr>
          <p:cNvPr id="340" name="Google Shape;340;p21"/>
          <p:cNvSpPr/>
          <p:nvPr/>
        </p:nvSpPr>
        <p:spPr>
          <a:xfrm>
            <a:off x="4676455" y="1860423"/>
            <a:ext cx="3175640" cy="1850137"/>
          </a:xfrm>
          <a:prstGeom prst="roundRect">
            <a:avLst>
              <a:gd fmla="val 2748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Gobierno arquitectónico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con estrategia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de repositorio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Participación en portafolio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Medición de valor</a:t>
            </a:r>
            <a:endParaRPr/>
          </a:p>
          <a:p>
            <a:pPr indent="-460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1" name="Google Shape;341;p21"/>
          <p:cNvGrpSpPr/>
          <p:nvPr/>
        </p:nvGrpSpPr>
        <p:grpSpPr>
          <a:xfrm>
            <a:off x="4460689" y="1334500"/>
            <a:ext cx="459474" cy="403823"/>
            <a:chOff x="5892512" y="2805541"/>
            <a:chExt cx="459474" cy="403823"/>
          </a:xfrm>
        </p:grpSpPr>
        <p:sp>
          <p:nvSpPr>
            <p:cNvPr id="342" name="Google Shape;342;p21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B82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3" name="Google Shape;343;p21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4" name="Google Shape;344;p21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45" name="Google Shape;345;p21"/>
          <p:cNvSpPr/>
          <p:nvPr/>
        </p:nvSpPr>
        <p:spPr>
          <a:xfrm>
            <a:off x="1290849" y="1285871"/>
            <a:ext cx="3175640" cy="501005"/>
          </a:xfrm>
          <a:prstGeom prst="roundRect">
            <a:avLst>
              <a:gd fmla="val 18326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Enfoque central</a:t>
            </a:r>
            <a:endParaRPr/>
          </a:p>
        </p:txBody>
      </p:sp>
      <p:sp>
        <p:nvSpPr>
          <p:cNvPr id="346" name="Google Shape;346;p21"/>
          <p:cNvSpPr/>
          <p:nvPr/>
        </p:nvSpPr>
        <p:spPr>
          <a:xfrm>
            <a:off x="1290849" y="1860422"/>
            <a:ext cx="3175640" cy="1850137"/>
          </a:xfrm>
          <a:prstGeom prst="roundRect">
            <a:avLst>
              <a:gd fmla="val 2748" name="adj"/>
            </a:avLst>
          </a:prstGeom>
          <a:solidFill>
            <a:srgbClr val="FFD8D4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arquitectónica como función organizacional. </a:t>
            </a:r>
            <a:endParaRPr/>
          </a:p>
          <a:p>
            <a:pPr indent="-39687" lvl="0" marL="1381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47" name="Google Shape;347;p21"/>
          <p:cNvGrpSpPr/>
          <p:nvPr/>
        </p:nvGrpSpPr>
        <p:grpSpPr>
          <a:xfrm>
            <a:off x="1075934" y="1334500"/>
            <a:ext cx="459474" cy="403823"/>
            <a:chOff x="5892512" y="2805541"/>
            <a:chExt cx="459474" cy="403823"/>
          </a:xfrm>
        </p:grpSpPr>
        <p:sp>
          <p:nvSpPr>
            <p:cNvPr id="348" name="Google Shape;348;p21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B7362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9" name="Google Shape;349;p21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0" name="Google Shape;350;p21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51" name="Google Shape;351;p21"/>
          <p:cNvSpPr txBox="1"/>
          <p:nvPr/>
        </p:nvSpPr>
        <p:spPr>
          <a:xfrm>
            <a:off x="594678" y="729696"/>
            <a:ext cx="7005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TOGAF CAPABILITY MATURITY MODEL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21"/>
          <p:cNvSpPr/>
          <p:nvPr/>
        </p:nvSpPr>
        <p:spPr>
          <a:xfrm>
            <a:off x="820757" y="3819036"/>
            <a:ext cx="7502486" cy="1438230"/>
          </a:xfrm>
          <a:prstGeom prst="roundRect">
            <a:avLst>
              <a:gd fmla="val 23879" name="adj"/>
            </a:avLst>
          </a:prstGeom>
          <a:solidFill>
            <a:srgbClr val="EDE8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Fortaleza: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Más alineado a arquitectura empresarial que a ingeniería de procesos.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Diferencia clave con CMMI: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CMMI mide disciplina operativa.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TOGAF mide capacidad arquitectónica estratégica.</a:t>
            </a:r>
            <a:endParaRPr/>
          </a:p>
        </p:txBody>
      </p:sp>
      <p:sp>
        <p:nvSpPr>
          <p:cNvPr id="353" name="Google Shape;353;p21"/>
          <p:cNvSpPr txBox="1"/>
          <p:nvPr/>
        </p:nvSpPr>
        <p:spPr>
          <a:xfrm rot="2542203">
            <a:off x="6937570" y="3992059"/>
            <a:ext cx="101078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6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354" name="Google Shape;354;p21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2"/>
          <p:cNvSpPr/>
          <p:nvPr/>
        </p:nvSpPr>
        <p:spPr>
          <a:xfrm>
            <a:off x="4676455" y="1285871"/>
            <a:ext cx="3175640" cy="501005"/>
          </a:xfrm>
          <a:prstGeom prst="roundRect">
            <a:avLst>
              <a:gd fmla="val 18326" name="adj"/>
            </a:avLst>
          </a:prstGeom>
          <a:solidFill>
            <a:srgbClr val="00B1C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Lo que evalúa</a:t>
            </a:r>
            <a:endParaRPr/>
          </a:p>
        </p:txBody>
      </p:sp>
      <p:sp>
        <p:nvSpPr>
          <p:cNvPr id="361" name="Google Shape;361;p22"/>
          <p:cNvSpPr/>
          <p:nvPr/>
        </p:nvSpPr>
        <p:spPr>
          <a:xfrm>
            <a:off x="4676455" y="1860423"/>
            <a:ext cx="3175640" cy="1850137"/>
          </a:xfrm>
          <a:prstGeom prst="roundRect">
            <a:avLst>
              <a:gd fmla="val 2748" name="adj"/>
            </a:avLst>
          </a:prstGeom>
          <a:solidFill>
            <a:srgbClr val="D1EFF4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Influencia estratégica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Integración transversal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Impacto en decisiones de inversión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Capacidad de transformación digital</a:t>
            </a:r>
            <a:endParaRPr/>
          </a:p>
          <a:p>
            <a:pPr indent="-46038" lvl="0" marL="222250" marR="0" rtl="0" algn="l">
              <a:spcBef>
                <a:spcPts val="0"/>
              </a:spcBef>
              <a:spcAft>
                <a:spcPts val="0"/>
              </a:spcAft>
              <a:buClr>
                <a:srgbClr val="00B1C2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2" name="Google Shape;362;p22"/>
          <p:cNvGrpSpPr/>
          <p:nvPr/>
        </p:nvGrpSpPr>
        <p:grpSpPr>
          <a:xfrm>
            <a:off x="4460689" y="1334500"/>
            <a:ext cx="459474" cy="403823"/>
            <a:chOff x="5892512" y="2805541"/>
            <a:chExt cx="459474" cy="403823"/>
          </a:xfrm>
        </p:grpSpPr>
        <p:sp>
          <p:nvSpPr>
            <p:cNvPr id="363" name="Google Shape;363;p22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0B828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4" name="Google Shape;364;p22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5" name="Google Shape;365;p22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66" name="Google Shape;366;p22"/>
          <p:cNvSpPr/>
          <p:nvPr/>
        </p:nvSpPr>
        <p:spPr>
          <a:xfrm>
            <a:off x="1290849" y="1285871"/>
            <a:ext cx="3175640" cy="501005"/>
          </a:xfrm>
          <a:prstGeom prst="roundRect">
            <a:avLst>
              <a:gd fmla="val 18326" name="adj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1143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Enfoque central</a:t>
            </a:r>
            <a:endParaRPr/>
          </a:p>
        </p:txBody>
      </p:sp>
      <p:sp>
        <p:nvSpPr>
          <p:cNvPr id="367" name="Google Shape;367;p22"/>
          <p:cNvSpPr/>
          <p:nvPr/>
        </p:nvSpPr>
        <p:spPr>
          <a:xfrm>
            <a:off x="1290849" y="1860422"/>
            <a:ext cx="3175640" cy="1850137"/>
          </a:xfrm>
          <a:prstGeom prst="roundRect">
            <a:avLst>
              <a:gd fmla="val 2748" name="adj"/>
            </a:avLst>
          </a:prstGeom>
          <a:solidFill>
            <a:srgbClr val="FFD8D4"/>
          </a:solidFill>
          <a:ln>
            <a:noFill/>
          </a:ln>
        </p:spPr>
        <p:txBody>
          <a:bodyPr anchorCtr="0" anchor="t" bIns="45700" lIns="108000" spcFirstLastPara="1" rIns="108000" wrap="square" tIns="108000">
            <a:noAutofit/>
          </a:bodyPr>
          <a:lstStyle/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Char char="•"/>
            </a:pPr>
            <a:r>
              <a:rPr lang="es-ES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como habilitador de negocio.</a:t>
            </a:r>
            <a:endParaRPr/>
          </a:p>
          <a:p>
            <a:pPr indent="-39687" lvl="0" marL="1381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400"/>
              <a:buFont typeface="Arial"/>
              <a:buNone/>
            </a:pPr>
            <a:r>
              <a:t/>
            </a:r>
            <a:endParaRPr sz="1400">
              <a:solidFill>
                <a:srgbClr val="26262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68" name="Google Shape;368;p22"/>
          <p:cNvGrpSpPr/>
          <p:nvPr/>
        </p:nvGrpSpPr>
        <p:grpSpPr>
          <a:xfrm>
            <a:off x="1075934" y="1334500"/>
            <a:ext cx="459474" cy="403823"/>
            <a:chOff x="5892512" y="2805541"/>
            <a:chExt cx="459474" cy="403823"/>
          </a:xfrm>
        </p:grpSpPr>
        <p:sp>
          <p:nvSpPr>
            <p:cNvPr id="369" name="Google Shape;369;p22"/>
            <p:cNvSpPr/>
            <p:nvPr/>
          </p:nvSpPr>
          <p:spPr>
            <a:xfrm>
              <a:off x="5956277" y="2824919"/>
              <a:ext cx="395709" cy="376075"/>
            </a:xfrm>
            <a:prstGeom prst="ellipse">
              <a:avLst/>
            </a:prstGeom>
            <a:solidFill>
              <a:srgbClr val="B7362B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0" name="Google Shape;370;p22"/>
            <p:cNvSpPr/>
            <p:nvPr/>
          </p:nvSpPr>
          <p:spPr>
            <a:xfrm>
              <a:off x="5892512" y="2805541"/>
              <a:ext cx="424906" cy="403823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1" name="Google Shape;371;p22"/>
            <p:cNvSpPr/>
            <p:nvPr/>
          </p:nvSpPr>
          <p:spPr>
            <a:xfrm rot="5400000">
              <a:off x="6076285" y="2946262"/>
              <a:ext cx="186870" cy="122381"/>
            </a:xfrm>
            <a:prstGeom prst="triangle">
              <a:avLst>
                <a:gd fmla="val 50000" name="adj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3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72" name="Google Shape;372;p22"/>
          <p:cNvSpPr txBox="1"/>
          <p:nvPr/>
        </p:nvSpPr>
        <p:spPr>
          <a:xfrm>
            <a:off x="594678" y="729696"/>
            <a:ext cx="7005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MODELOS TIPO GARTNER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22"/>
          <p:cNvSpPr/>
          <p:nvPr/>
        </p:nvSpPr>
        <p:spPr>
          <a:xfrm>
            <a:off x="1658036" y="3877936"/>
            <a:ext cx="5778347" cy="1026789"/>
          </a:xfrm>
          <a:prstGeom prst="roundRect">
            <a:avLst>
              <a:gd fmla="val 23879" name="adj"/>
            </a:avLst>
          </a:prstGeom>
          <a:solidFill>
            <a:srgbClr val="EDE8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Aquí la madurez no es técnica.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 capacidad de influir en la estrategia corporativa</a:t>
            </a:r>
            <a:r>
              <a:rPr i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</a:t>
            </a:r>
            <a:endParaRPr/>
          </a:p>
        </p:txBody>
      </p:sp>
      <p:sp>
        <p:nvSpPr>
          <p:cNvPr id="374" name="Google Shape;374;p22"/>
          <p:cNvSpPr txBox="1"/>
          <p:nvPr/>
        </p:nvSpPr>
        <p:spPr>
          <a:xfrm rot="2542203">
            <a:off x="6267217" y="3960443"/>
            <a:ext cx="1010789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sp>
        <p:nvSpPr>
          <p:cNvPr id="375" name="Google Shape;375;p22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3"/>
          <p:cNvSpPr txBox="1"/>
          <p:nvPr/>
        </p:nvSpPr>
        <p:spPr>
          <a:xfrm>
            <a:off x="503238" y="927756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00D4D6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382" name="Google Shape;382;p23"/>
          <p:cNvSpPr txBox="1"/>
          <p:nvPr/>
        </p:nvSpPr>
        <p:spPr>
          <a:xfrm>
            <a:off x="1193029" y="1462401"/>
            <a:ext cx="6919150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madurez no es cumplir un modelo; es institucionalizar disciplina en la toma de decisiones.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modelo de madurez revela brechas estructurales que normalmente están ocultas en la operación diaria.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todos los modelos miden lo mismo: algunos evalúan procesos, otros capacidad estratégica e influencia organizacional.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verdadera madurez arquitectónica combina tres dimensiones: control de procesos, gobierno formal y alineamiento estratégico.</a:t>
            </a:r>
            <a:endParaRPr/>
          </a:p>
        </p:txBody>
      </p:sp>
      <p:sp>
        <p:nvSpPr>
          <p:cNvPr id="383" name="Google Shape;383;p23"/>
          <p:cNvSpPr/>
          <p:nvPr/>
        </p:nvSpPr>
        <p:spPr>
          <a:xfrm>
            <a:off x="475796" y="1453273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84" name="Google Shape;384;p23"/>
          <p:cNvCxnSpPr>
            <a:stCxn id="385" idx="0"/>
            <a:endCxn id="386" idx="4"/>
          </p:cNvCxnSpPr>
          <p:nvPr/>
        </p:nvCxnSpPr>
        <p:spPr>
          <a:xfrm>
            <a:off x="1031821" y="1557312"/>
            <a:ext cx="0" cy="2354700"/>
          </a:xfrm>
          <a:prstGeom prst="straightConnector1">
            <a:avLst/>
          </a:prstGeom>
          <a:noFill/>
          <a:ln cap="flat" cmpd="sng" w="12700">
            <a:solidFill>
              <a:srgbClr val="01B1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87" name="Google Shape;387;p23"/>
          <p:cNvSpPr/>
          <p:nvPr/>
        </p:nvSpPr>
        <p:spPr>
          <a:xfrm>
            <a:off x="475796" y="2220454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23"/>
          <p:cNvSpPr/>
          <p:nvPr/>
        </p:nvSpPr>
        <p:spPr>
          <a:xfrm>
            <a:off x="475796" y="2964797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89" name="Google Shape;389;p23"/>
          <p:cNvGrpSpPr/>
          <p:nvPr/>
        </p:nvGrpSpPr>
        <p:grpSpPr>
          <a:xfrm>
            <a:off x="961425" y="1557312"/>
            <a:ext cx="140792" cy="140258"/>
            <a:chOff x="3427964" y="2244682"/>
            <a:chExt cx="225891" cy="225034"/>
          </a:xfrm>
        </p:grpSpPr>
        <p:sp>
          <p:nvSpPr>
            <p:cNvPr id="385" name="Google Shape;385;p2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0" name="Google Shape;390;p2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391" name="Google Shape;391;p23"/>
          <p:cNvSpPr/>
          <p:nvPr/>
        </p:nvSpPr>
        <p:spPr>
          <a:xfrm>
            <a:off x="478123" y="3638082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92" name="Google Shape;392;p23"/>
          <p:cNvGrpSpPr/>
          <p:nvPr/>
        </p:nvGrpSpPr>
        <p:grpSpPr>
          <a:xfrm>
            <a:off x="961425" y="2321548"/>
            <a:ext cx="140792" cy="140258"/>
            <a:chOff x="3427964" y="2244682"/>
            <a:chExt cx="225891" cy="225034"/>
          </a:xfrm>
        </p:grpSpPr>
        <p:sp>
          <p:nvSpPr>
            <p:cNvPr id="393" name="Google Shape;393;p2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4" name="Google Shape;394;p2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5" name="Google Shape;395;p23"/>
          <p:cNvGrpSpPr/>
          <p:nvPr/>
        </p:nvGrpSpPr>
        <p:grpSpPr>
          <a:xfrm>
            <a:off x="961425" y="3055542"/>
            <a:ext cx="140792" cy="140258"/>
            <a:chOff x="3427964" y="2244682"/>
            <a:chExt cx="225891" cy="225034"/>
          </a:xfrm>
        </p:grpSpPr>
        <p:sp>
          <p:nvSpPr>
            <p:cNvPr id="396" name="Google Shape;396;p2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7" name="Google Shape;397;p2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398" name="Google Shape;398;p23"/>
          <p:cNvGrpSpPr/>
          <p:nvPr/>
        </p:nvGrpSpPr>
        <p:grpSpPr>
          <a:xfrm>
            <a:off x="961425" y="3771690"/>
            <a:ext cx="140792" cy="140258"/>
            <a:chOff x="3427964" y="2244682"/>
            <a:chExt cx="225891" cy="225034"/>
          </a:xfrm>
        </p:grpSpPr>
        <p:sp>
          <p:nvSpPr>
            <p:cNvPr id="386" name="Google Shape;386;p23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9" name="Google Shape;399;p23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400" name="Google Shape;400;p23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MODELOS DE MADUREZ (CMMI Y OTROS)</a:t>
            </a:r>
            <a:endParaRPr sz="10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2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24"/>
          <p:cNvSpPr txBox="1"/>
          <p:nvPr/>
        </p:nvSpPr>
        <p:spPr>
          <a:xfrm>
            <a:off x="1008061" y="3169972"/>
            <a:ext cx="3960546" cy="6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DIAGNÓSTICO DE        </a:t>
            </a:r>
            <a:r>
              <a:rPr b="1"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MADUREZ ARQUITECTÓNICA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08" name="Google Shape;4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5"/>
          <p:cNvSpPr/>
          <p:nvPr/>
        </p:nvSpPr>
        <p:spPr>
          <a:xfrm>
            <a:off x="503239" y="4040885"/>
            <a:ext cx="5049262" cy="1162451"/>
          </a:xfrm>
          <a:prstGeom prst="roundRect">
            <a:avLst>
              <a:gd fmla="val 23879" name="adj"/>
            </a:avLst>
          </a:prstGeom>
          <a:solidFill>
            <a:srgbClr val="EDE8F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25"/>
          <p:cNvSpPr txBox="1"/>
          <p:nvPr/>
        </p:nvSpPr>
        <p:spPr>
          <a:xfrm>
            <a:off x="420624" y="830104"/>
            <a:ext cx="548608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ES REALMENTE UN DIAGNÓSTICO DE MADUREZ?</a:t>
            </a:r>
            <a:endParaRPr/>
          </a:p>
        </p:txBody>
      </p:sp>
      <p:sp>
        <p:nvSpPr>
          <p:cNvPr descr="Google (Noto Color Emoji 16.0)" id="416" name="Google Shape;416;p25"/>
          <p:cNvSpPr/>
          <p:nvPr/>
        </p:nvSpPr>
        <p:spPr>
          <a:xfrm>
            <a:off x="4419600" y="27051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25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DIAGNÓSTICO DE MADUREZ ARQUITECTÓNICA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25"/>
          <p:cNvSpPr txBox="1"/>
          <p:nvPr/>
        </p:nvSpPr>
        <p:spPr>
          <a:xfrm>
            <a:off x="503238" y="1389054"/>
            <a:ext cx="4388251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diagnóstico no es una auditoría documental. Es una radiografía estructural de cómo se toman decisiones arquitectónicas.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Evalúa comportamiento real, no discurso formal.</a:t>
            </a:r>
            <a:endParaRPr/>
          </a:p>
          <a:p>
            <a:pPr indent="-1762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 brechas entre intención estratégica y ejecución.</a:t>
            </a:r>
            <a:endParaRPr/>
          </a:p>
          <a:p>
            <a:pPr indent="-1762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Mide disciplina, gobierno y trazabilidad.</a:t>
            </a:r>
            <a:endParaRPr/>
          </a:p>
          <a:p>
            <a:pPr indent="-176213" lvl="0" marL="176213" marR="0" rtl="0" algn="just"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Determina el nivel de institucionalización de la arquitectura.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rgbClr val="5D647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oogle (Noto Color Emoji 16.0)" id="419" name="Google Shape;41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95721" y="1389054"/>
            <a:ext cx="2777214" cy="277721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20" name="Google Shape;420;p25"/>
          <p:cNvGrpSpPr/>
          <p:nvPr/>
        </p:nvGrpSpPr>
        <p:grpSpPr>
          <a:xfrm>
            <a:off x="668989" y="4163993"/>
            <a:ext cx="4874285" cy="830997"/>
            <a:chOff x="341578" y="4274989"/>
            <a:chExt cx="4874285" cy="979246"/>
          </a:xfrm>
        </p:grpSpPr>
        <p:sp>
          <p:nvSpPr>
            <p:cNvPr id="421" name="Google Shape;421;p25"/>
            <p:cNvSpPr txBox="1"/>
            <p:nvPr/>
          </p:nvSpPr>
          <p:spPr>
            <a:xfrm>
              <a:off x="341578" y="4420064"/>
              <a:ext cx="4508939" cy="68909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diagnóstico serio revela cómo decide la organización cuando nadie la está observando.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22" name="Google Shape;422;p25"/>
            <p:cNvSpPr txBox="1"/>
            <p:nvPr/>
          </p:nvSpPr>
          <p:spPr>
            <a:xfrm>
              <a:off x="4230512" y="4274989"/>
              <a:ext cx="985351" cy="979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4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💡</a:t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6"/>
          <p:cNvSpPr txBox="1"/>
          <p:nvPr/>
        </p:nvSpPr>
        <p:spPr>
          <a:xfrm>
            <a:off x="420624" y="772501"/>
            <a:ext cx="548608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¿QUÉ DIMENSIONES SE EVALÚAN?</a:t>
            </a:r>
            <a:endParaRPr/>
          </a:p>
        </p:txBody>
      </p:sp>
      <p:sp>
        <p:nvSpPr>
          <p:cNvPr descr="Google (Noto Color Emoji 16.0)" id="429" name="Google Shape;429;p26"/>
          <p:cNvSpPr/>
          <p:nvPr/>
        </p:nvSpPr>
        <p:spPr>
          <a:xfrm>
            <a:off x="4419600" y="27051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30" name="Google Shape;430;p26"/>
          <p:cNvSpPr txBox="1"/>
          <p:nvPr/>
        </p:nvSpPr>
        <p:spPr>
          <a:xfrm>
            <a:off x="503238" y="1346643"/>
            <a:ext cx="5486082" cy="33781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Idea clave: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se evalúa solo TI. Se evalúa coherencia organizacional.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diagnóstico completo analiza al menos cinco dimensiones críticas: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Gobierno arquitectónico (roles, comités, decisiones formales).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Portafolio y priorización (cómo se aprueban iniciativas).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Procesos y estándares (nivel de formalización).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Métricas y control (uso de indicadores reales).</a:t>
            </a:r>
            <a:endParaRPr/>
          </a:p>
          <a:p>
            <a:pPr indent="-176213" lvl="0" marL="176213" marR="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7150A0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Alineamiento estratégico (conexión con objetivos de negocio).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26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DIAGNÓSTICO DE MADUREZ ARQUITECTÓNICA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2" name="Google Shape;432;p26"/>
          <p:cNvSpPr txBox="1"/>
          <p:nvPr/>
        </p:nvSpPr>
        <p:spPr>
          <a:xfrm rot="5242623">
            <a:off x="5936759" y="1687947"/>
            <a:ext cx="3072384" cy="25853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4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📐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p27"/>
          <p:cNvSpPr txBox="1"/>
          <p:nvPr/>
        </p:nvSpPr>
        <p:spPr>
          <a:xfrm>
            <a:off x="506796" y="918372"/>
            <a:ext cx="3885817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11725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METODOLOGÍA PRÁCTICA DE DIAGNÓSTICO</a:t>
            </a:r>
            <a:endParaRPr/>
          </a:p>
        </p:txBody>
      </p:sp>
      <p:sp>
        <p:nvSpPr>
          <p:cNvPr id="439" name="Google Shape;439;p27"/>
          <p:cNvSpPr/>
          <p:nvPr/>
        </p:nvSpPr>
        <p:spPr>
          <a:xfrm>
            <a:off x="2324424" y="2116038"/>
            <a:ext cx="843086" cy="29670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4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27"/>
          <p:cNvSpPr/>
          <p:nvPr/>
        </p:nvSpPr>
        <p:spPr>
          <a:xfrm>
            <a:off x="885844" y="1342393"/>
            <a:ext cx="2518544" cy="1821316"/>
          </a:xfrm>
          <a:prstGeom prst="roundRect">
            <a:avLst>
              <a:gd fmla="val 6572" name="adj"/>
            </a:avLst>
          </a:prstGeom>
          <a:solidFill>
            <a:schemeClr val="lt1"/>
          </a:solidFill>
          <a:ln cap="flat" cmpd="sng" w="38100">
            <a:solidFill>
              <a:srgbClr val="FF772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8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Revisión documental                  estructurada</a:t>
            </a:r>
            <a:endParaRPr/>
          </a:p>
        </p:txBody>
      </p:sp>
      <p:sp>
        <p:nvSpPr>
          <p:cNvPr id="441" name="Google Shape;441;p27"/>
          <p:cNvSpPr/>
          <p:nvPr/>
        </p:nvSpPr>
        <p:spPr>
          <a:xfrm>
            <a:off x="877897" y="2708890"/>
            <a:ext cx="2538511" cy="454384"/>
          </a:xfrm>
          <a:prstGeom prst="roundRect">
            <a:avLst>
              <a:gd fmla="val 23854" name="adj"/>
            </a:avLst>
          </a:prstGeom>
          <a:solidFill>
            <a:srgbClr val="FF77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INSPECCIÓN</a:t>
            </a:r>
            <a:endParaRPr b="1"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27"/>
          <p:cNvSpPr/>
          <p:nvPr/>
        </p:nvSpPr>
        <p:spPr>
          <a:xfrm>
            <a:off x="877897" y="2674296"/>
            <a:ext cx="2538511" cy="162841"/>
          </a:xfrm>
          <a:prstGeom prst="rect">
            <a:avLst/>
          </a:prstGeom>
          <a:solidFill>
            <a:srgbClr val="FF772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27"/>
          <p:cNvSpPr/>
          <p:nvPr/>
        </p:nvSpPr>
        <p:spPr>
          <a:xfrm>
            <a:off x="2330434" y="4067983"/>
            <a:ext cx="843086" cy="29670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4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27"/>
          <p:cNvSpPr/>
          <p:nvPr/>
        </p:nvSpPr>
        <p:spPr>
          <a:xfrm>
            <a:off x="891854" y="3294338"/>
            <a:ext cx="2518544" cy="1821316"/>
          </a:xfrm>
          <a:prstGeom prst="roundRect">
            <a:avLst>
              <a:gd fmla="val 6397" name="adj"/>
            </a:avLst>
          </a:prstGeom>
          <a:solidFill>
            <a:schemeClr val="lt1"/>
          </a:solidFill>
          <a:ln cap="flat" cmpd="sng" w="38100">
            <a:solidFill>
              <a:srgbClr val="00B1C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8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decisiones                             recientes</a:t>
            </a:r>
            <a:endParaRPr/>
          </a:p>
        </p:txBody>
      </p:sp>
      <p:sp>
        <p:nvSpPr>
          <p:cNvPr id="445" name="Google Shape;445;p27"/>
          <p:cNvSpPr/>
          <p:nvPr/>
        </p:nvSpPr>
        <p:spPr>
          <a:xfrm>
            <a:off x="883908" y="4660835"/>
            <a:ext cx="2522182" cy="454384"/>
          </a:xfrm>
          <a:prstGeom prst="roundRect">
            <a:avLst>
              <a:gd fmla="val 25650" name="adj"/>
            </a:avLst>
          </a:prstGeom>
          <a:solidFill>
            <a:srgbClr val="00B2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CONTRASTE</a:t>
            </a:r>
            <a:endParaRPr/>
          </a:p>
        </p:txBody>
      </p:sp>
      <p:sp>
        <p:nvSpPr>
          <p:cNvPr id="446" name="Google Shape;446;p27"/>
          <p:cNvSpPr/>
          <p:nvPr/>
        </p:nvSpPr>
        <p:spPr>
          <a:xfrm>
            <a:off x="883907" y="4626241"/>
            <a:ext cx="2521027" cy="121339"/>
          </a:xfrm>
          <a:prstGeom prst="rect">
            <a:avLst/>
          </a:prstGeom>
          <a:solidFill>
            <a:srgbClr val="00B2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27"/>
          <p:cNvSpPr/>
          <p:nvPr/>
        </p:nvSpPr>
        <p:spPr>
          <a:xfrm>
            <a:off x="5070898" y="2116038"/>
            <a:ext cx="843086" cy="29670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4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8" name="Google Shape;448;p27"/>
          <p:cNvSpPr/>
          <p:nvPr/>
        </p:nvSpPr>
        <p:spPr>
          <a:xfrm>
            <a:off x="3632318" y="1342393"/>
            <a:ext cx="2518544" cy="1821316"/>
          </a:xfrm>
          <a:prstGeom prst="roundRect">
            <a:avLst>
              <a:gd fmla="val 6397" name="adj"/>
            </a:avLst>
          </a:prstGeom>
          <a:solidFill>
            <a:schemeClr val="lt1"/>
          </a:solidFill>
          <a:ln cap="flat" cmpd="sng" w="38100">
            <a:solidFill>
              <a:srgbClr val="8EC54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8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Entrevista a líderes                arquitectónicos</a:t>
            </a:r>
            <a:endParaRPr/>
          </a:p>
        </p:txBody>
      </p:sp>
      <p:sp>
        <p:nvSpPr>
          <p:cNvPr id="449" name="Google Shape;449;p27"/>
          <p:cNvSpPr/>
          <p:nvPr/>
        </p:nvSpPr>
        <p:spPr>
          <a:xfrm>
            <a:off x="3629466" y="2708890"/>
            <a:ext cx="2511227" cy="454384"/>
          </a:xfrm>
          <a:prstGeom prst="roundRect">
            <a:avLst>
              <a:gd fmla="val 22057" name="adj"/>
            </a:avLst>
          </a:prstGeom>
          <a:solidFill>
            <a:srgbClr val="8EC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FUENTES CONFIABLES</a:t>
            </a:r>
            <a:endParaRPr/>
          </a:p>
        </p:txBody>
      </p:sp>
      <p:sp>
        <p:nvSpPr>
          <p:cNvPr id="450" name="Google Shape;450;p27"/>
          <p:cNvSpPr/>
          <p:nvPr/>
        </p:nvSpPr>
        <p:spPr>
          <a:xfrm>
            <a:off x="3624371" y="2674296"/>
            <a:ext cx="2516321" cy="146513"/>
          </a:xfrm>
          <a:prstGeom prst="rect">
            <a:avLst/>
          </a:prstGeom>
          <a:solidFill>
            <a:srgbClr val="8EC54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1" name="Google Shape;451;p27"/>
          <p:cNvSpPr/>
          <p:nvPr/>
        </p:nvSpPr>
        <p:spPr>
          <a:xfrm>
            <a:off x="5070898" y="4067983"/>
            <a:ext cx="843086" cy="296706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DB423B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2" name="Google Shape;452;p27"/>
          <p:cNvSpPr/>
          <p:nvPr/>
        </p:nvSpPr>
        <p:spPr>
          <a:xfrm>
            <a:off x="3632318" y="3294338"/>
            <a:ext cx="2518544" cy="1821316"/>
          </a:xfrm>
          <a:prstGeom prst="roundRect">
            <a:avLst>
              <a:gd fmla="val 6746" name="adj"/>
            </a:avLst>
          </a:prstGeom>
          <a:solidFill>
            <a:schemeClr val="lt1"/>
          </a:solidFill>
          <a:ln cap="flat" cmpd="sng" w="38100">
            <a:solidFill>
              <a:srgbClr val="EE453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288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Evaluación de evidencias          (repositorios, métricas, actas) </a:t>
            </a:r>
            <a:endParaRPr/>
          </a:p>
        </p:txBody>
      </p:sp>
      <p:sp>
        <p:nvSpPr>
          <p:cNvPr id="453" name="Google Shape;453;p27"/>
          <p:cNvSpPr/>
          <p:nvPr/>
        </p:nvSpPr>
        <p:spPr>
          <a:xfrm>
            <a:off x="3624371" y="4626241"/>
            <a:ext cx="2516321" cy="145832"/>
          </a:xfrm>
          <a:prstGeom prst="rect">
            <a:avLst/>
          </a:prstGeom>
          <a:solidFill>
            <a:srgbClr val="EE45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27"/>
          <p:cNvSpPr/>
          <p:nvPr/>
        </p:nvSpPr>
        <p:spPr>
          <a:xfrm>
            <a:off x="3624371" y="4660835"/>
            <a:ext cx="2516321" cy="454384"/>
          </a:xfrm>
          <a:prstGeom prst="roundRect">
            <a:avLst>
              <a:gd fmla="val 23855" name="adj"/>
            </a:avLst>
          </a:prstGeom>
          <a:solidFill>
            <a:srgbClr val="EE45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REVISAR</a:t>
            </a:r>
            <a:endParaRPr/>
          </a:p>
        </p:txBody>
      </p:sp>
      <p:sp>
        <p:nvSpPr>
          <p:cNvPr id="455" name="Google Shape;455;p27"/>
          <p:cNvSpPr txBox="1"/>
          <p:nvPr/>
        </p:nvSpPr>
        <p:spPr>
          <a:xfrm>
            <a:off x="6477917" y="2428135"/>
            <a:ext cx="2225647" cy="10772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Regla de oro: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Sin evidencia, no hay madurez. Solo percepción.</a:t>
            </a:r>
            <a:endParaRPr/>
          </a:p>
        </p:txBody>
      </p:sp>
      <p:sp>
        <p:nvSpPr>
          <p:cNvPr id="456" name="Google Shape;456;p27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DIAGNÓSTICO DE MADUREZ ARQUITECTÓNICA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7" name="Google Shape;457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12100" y="3443227"/>
            <a:ext cx="657356" cy="657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8" name="Google Shape;458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833144" y="3477753"/>
            <a:ext cx="657356" cy="657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553853" y="1536735"/>
            <a:ext cx="657356" cy="657356"/>
          </a:xfrm>
          <a:prstGeom prst="rect">
            <a:avLst/>
          </a:prstGeom>
          <a:noFill/>
          <a:ln>
            <a:noFill/>
          </a:ln>
        </p:spPr>
      </p:pic>
      <p:pic>
        <p:nvPicPr>
          <p:cNvPr id="460" name="Google Shape;460;p2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793708" y="1522339"/>
            <a:ext cx="657356" cy="6573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p28"/>
          <p:cNvSpPr txBox="1"/>
          <p:nvPr/>
        </p:nvSpPr>
        <p:spPr>
          <a:xfrm>
            <a:off x="503238" y="839690"/>
            <a:ext cx="603504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ERRORES COMUNES EN EL DIAGNÓSTICO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28"/>
          <p:cNvSpPr txBox="1"/>
          <p:nvPr/>
        </p:nvSpPr>
        <p:spPr>
          <a:xfrm>
            <a:off x="914818" y="1409017"/>
            <a:ext cx="4342680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Evaluar solo documentos y no comportamiento real.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Confundir digitalización con madurez.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Sobreestimar el nivel por cultura optimista.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diferenciar entre áreas con distintos niveles.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Hacer el diagnóstico sin plan de mejora posterior.</a:t>
            </a:r>
            <a:endParaRPr/>
          </a:p>
        </p:txBody>
      </p:sp>
      <p:cxnSp>
        <p:nvCxnSpPr>
          <p:cNvPr id="468" name="Google Shape;468;p28"/>
          <p:cNvCxnSpPr/>
          <p:nvPr/>
        </p:nvCxnSpPr>
        <p:spPr>
          <a:xfrm>
            <a:off x="722046" y="1684223"/>
            <a:ext cx="0" cy="405834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69" name="Google Shape;469;p28"/>
          <p:cNvSpPr/>
          <p:nvPr/>
        </p:nvSpPr>
        <p:spPr>
          <a:xfrm>
            <a:off x="645704" y="1491125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28"/>
          <p:cNvSpPr/>
          <p:nvPr/>
        </p:nvSpPr>
        <p:spPr>
          <a:xfrm>
            <a:off x="645704" y="2249921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28"/>
          <p:cNvSpPr/>
          <p:nvPr/>
        </p:nvSpPr>
        <p:spPr>
          <a:xfrm>
            <a:off x="645704" y="2751535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472" name="Google Shape;472;p28"/>
          <p:cNvCxnSpPr/>
          <p:nvPr/>
        </p:nvCxnSpPr>
        <p:spPr>
          <a:xfrm>
            <a:off x="723723" y="2451144"/>
            <a:ext cx="0" cy="2149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3" name="Google Shape;473;p28"/>
          <p:cNvSpPr/>
          <p:nvPr/>
        </p:nvSpPr>
        <p:spPr>
          <a:xfrm>
            <a:off x="637331" y="3207271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28"/>
          <p:cNvSpPr/>
          <p:nvPr/>
        </p:nvSpPr>
        <p:spPr>
          <a:xfrm>
            <a:off x="637331" y="3697870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75" name="Google Shape;47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3929" y="694778"/>
            <a:ext cx="3037975" cy="432544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76" name="Google Shape;476;p28"/>
          <p:cNvCxnSpPr/>
          <p:nvPr/>
        </p:nvCxnSpPr>
        <p:spPr>
          <a:xfrm>
            <a:off x="710868" y="2934050"/>
            <a:ext cx="0" cy="2149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77" name="Google Shape;477;p28"/>
          <p:cNvCxnSpPr/>
          <p:nvPr/>
        </p:nvCxnSpPr>
        <p:spPr>
          <a:xfrm>
            <a:off x="709030" y="3427974"/>
            <a:ext cx="0" cy="2149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78" name="Google Shape;478;p28"/>
          <p:cNvSpPr/>
          <p:nvPr/>
        </p:nvSpPr>
        <p:spPr>
          <a:xfrm>
            <a:off x="503238" y="380615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DIAGNÓSTICO DE MADUREZ ARQUITECTÓNICA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28"/>
          <p:cNvSpPr/>
          <p:nvPr/>
        </p:nvSpPr>
        <p:spPr>
          <a:xfrm>
            <a:off x="503239" y="4040885"/>
            <a:ext cx="5049262" cy="1162451"/>
          </a:xfrm>
          <a:prstGeom prst="roundRect">
            <a:avLst>
              <a:gd fmla="val 23879" name="adj"/>
            </a:avLst>
          </a:prstGeom>
          <a:solidFill>
            <a:srgbClr val="FCDB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480" name="Google Shape;480;p28"/>
          <p:cNvGrpSpPr/>
          <p:nvPr/>
        </p:nvGrpSpPr>
        <p:grpSpPr>
          <a:xfrm>
            <a:off x="668989" y="4163993"/>
            <a:ext cx="4874285" cy="830997"/>
            <a:chOff x="341578" y="4274989"/>
            <a:chExt cx="4874285" cy="979246"/>
          </a:xfrm>
        </p:grpSpPr>
        <p:sp>
          <p:nvSpPr>
            <p:cNvPr id="481" name="Google Shape;481;p28"/>
            <p:cNvSpPr txBox="1"/>
            <p:nvPr/>
          </p:nvSpPr>
          <p:spPr>
            <a:xfrm>
              <a:off x="341578" y="4420064"/>
              <a:ext cx="4509000" cy="689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Un diagnóstico </a:t>
              </a: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sin</a:t>
              </a: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 plan de acción es solo un ejercicio académico.</a:t>
              </a:r>
              <a:endParaRPr sz="16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2" name="Google Shape;482;p28"/>
            <p:cNvSpPr txBox="1"/>
            <p:nvPr/>
          </p:nvSpPr>
          <p:spPr>
            <a:xfrm>
              <a:off x="4230512" y="4274989"/>
              <a:ext cx="985351" cy="97924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48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💡</a:t>
              </a:r>
              <a:endParaRPr/>
            </a:p>
          </p:txBody>
        </p:sp>
      </p:grp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8" name="Google Shape;488;p29"/>
          <p:cNvGrpSpPr/>
          <p:nvPr/>
        </p:nvGrpSpPr>
        <p:grpSpPr>
          <a:xfrm>
            <a:off x="617297" y="821462"/>
            <a:ext cx="7909405" cy="4072076"/>
            <a:chOff x="813390" y="597960"/>
            <a:chExt cx="7909405" cy="4072076"/>
          </a:xfrm>
        </p:grpSpPr>
        <p:sp>
          <p:nvSpPr>
            <p:cNvPr id="489" name="Google Shape;489;p29"/>
            <p:cNvSpPr txBox="1"/>
            <p:nvPr/>
          </p:nvSpPr>
          <p:spPr>
            <a:xfrm>
              <a:off x="3713714" y="597960"/>
              <a:ext cx="4012966" cy="24622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RESULTADO ESPERADO DEL DIAGNÓSTICO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0" name="Google Shape;490;p29"/>
            <p:cNvSpPr/>
            <p:nvPr/>
          </p:nvSpPr>
          <p:spPr>
            <a:xfrm>
              <a:off x="813390" y="2702560"/>
              <a:ext cx="1572824" cy="4924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El diagnóstico debe producir:</a:t>
              </a:r>
              <a:endParaRPr/>
            </a:p>
          </p:txBody>
        </p:sp>
        <p:sp>
          <p:nvSpPr>
            <p:cNvPr id="491" name="Google Shape;491;p29"/>
            <p:cNvSpPr/>
            <p:nvPr/>
          </p:nvSpPr>
          <p:spPr>
            <a:xfrm>
              <a:off x="2569520" y="1236211"/>
              <a:ext cx="230820" cy="3433824"/>
            </a:xfrm>
            <a:prstGeom prst="leftBrace">
              <a:avLst>
                <a:gd fmla="val 0" name="adj1"/>
                <a:gd fmla="val 50283" name="adj2"/>
              </a:avLst>
            </a:prstGeom>
            <a:noFill/>
            <a:ln cap="flat" cmpd="sng" w="19050">
              <a:solidFill>
                <a:srgbClr val="80879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2" name="Google Shape;492;p29"/>
            <p:cNvSpPr/>
            <p:nvPr/>
          </p:nvSpPr>
          <p:spPr>
            <a:xfrm>
              <a:off x="3015054" y="3833884"/>
              <a:ext cx="1748970" cy="836152"/>
            </a:xfrm>
            <a:prstGeom prst="roundRect">
              <a:avLst>
                <a:gd fmla="val 23879" name="adj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Riesgos asociados al nivel actual.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3" name="Google Shape;493;p29"/>
            <p:cNvSpPr/>
            <p:nvPr/>
          </p:nvSpPr>
          <p:spPr>
            <a:xfrm>
              <a:off x="4955183" y="3833884"/>
              <a:ext cx="1764670" cy="836151"/>
            </a:xfrm>
            <a:prstGeom prst="roundRect">
              <a:avLst>
                <a:gd fmla="val 23879" name="adj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Mapa de capacidades afectadas.</a:t>
              </a:r>
              <a:endParaRPr/>
            </a:p>
          </p:txBody>
        </p:sp>
        <p:sp>
          <p:nvSpPr>
            <p:cNvPr id="494" name="Google Shape;494;p29"/>
            <p:cNvSpPr/>
            <p:nvPr/>
          </p:nvSpPr>
          <p:spPr>
            <a:xfrm>
              <a:off x="6926717" y="3815596"/>
              <a:ext cx="1748970" cy="836152"/>
            </a:xfrm>
            <a:prstGeom prst="roundRect">
              <a:avLst>
                <a:gd fmla="val 23001" name="adj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Indicadores base para medir la evolución futura.</a:t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5" name="Google Shape;495;p29"/>
            <p:cNvSpPr/>
            <p:nvPr/>
          </p:nvSpPr>
          <p:spPr>
            <a:xfrm>
              <a:off x="2983646" y="2808681"/>
              <a:ext cx="1748970" cy="836152"/>
            </a:xfrm>
            <a:prstGeom prst="roundRect">
              <a:avLst>
                <a:gd fmla="val 27681" name="adj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Brechas estructurales identificadas.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6" name="Google Shape;496;p29"/>
            <p:cNvSpPr/>
            <p:nvPr/>
          </p:nvSpPr>
          <p:spPr>
            <a:xfrm>
              <a:off x="4955183" y="2808681"/>
              <a:ext cx="1764671" cy="836151"/>
            </a:xfrm>
            <a:prstGeom prst="roundRect">
              <a:avLst>
                <a:gd fmla="val 23245" name="adj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Hoja de ruta inicial de evolución.</a:t>
              </a:r>
              <a:endParaRPr sz="105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7" name="Google Shape;497;p29"/>
            <p:cNvSpPr/>
            <p:nvPr/>
          </p:nvSpPr>
          <p:spPr>
            <a:xfrm>
              <a:off x="6926717" y="2808681"/>
              <a:ext cx="1748970" cy="836152"/>
            </a:xfrm>
            <a:prstGeom prst="roundRect">
              <a:avLst>
                <a:gd fmla="val 22221" name="adj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Evaluación del grado de institucionalización (dependencia de personas vs procesos).</a:t>
              </a:r>
              <a:endParaRPr/>
            </a:p>
          </p:txBody>
        </p:sp>
        <p:sp>
          <p:nvSpPr>
            <p:cNvPr id="498" name="Google Shape;498;p29"/>
            <p:cNvSpPr/>
            <p:nvPr/>
          </p:nvSpPr>
          <p:spPr>
            <a:xfrm>
              <a:off x="3007203" y="1866408"/>
              <a:ext cx="1764672" cy="836152"/>
            </a:xfrm>
            <a:prstGeom prst="roundRect">
              <a:avLst>
                <a:gd fmla="val 24513" name="adj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Nivel actual por dimensión.</a:t>
              </a:r>
              <a:endParaRPr/>
            </a:p>
          </p:txBody>
        </p:sp>
        <p:sp>
          <p:nvSpPr>
            <p:cNvPr id="499" name="Google Shape;499;p29"/>
            <p:cNvSpPr/>
            <p:nvPr/>
          </p:nvSpPr>
          <p:spPr>
            <a:xfrm>
              <a:off x="4955181" y="1866408"/>
              <a:ext cx="1764672" cy="836152"/>
            </a:xfrm>
            <a:prstGeom prst="roundRect">
              <a:avLst>
                <a:gd fmla="val 23879" name="adj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2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Priorización de mejoras.</a:t>
              </a:r>
              <a:endParaRPr sz="12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0" name="Google Shape;500;p29"/>
            <p:cNvSpPr/>
            <p:nvPr/>
          </p:nvSpPr>
          <p:spPr>
            <a:xfrm>
              <a:off x="6926717" y="1866408"/>
              <a:ext cx="1748970" cy="836152"/>
            </a:xfrm>
            <a:prstGeom prst="roundRect">
              <a:avLst>
                <a:gd fmla="val 24561" name="adj"/>
              </a:avLst>
            </a:prstGeom>
            <a:solidFill>
              <a:srgbClr val="714F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05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Nivel de alineamiento con la estrategia corporativa.</a:t>
              </a:r>
              <a:endParaRPr/>
            </a:p>
          </p:txBody>
        </p:sp>
        <p:sp>
          <p:nvSpPr>
            <p:cNvPr id="501" name="Google Shape;501;p29"/>
            <p:cNvSpPr/>
            <p:nvPr/>
          </p:nvSpPr>
          <p:spPr>
            <a:xfrm>
              <a:off x="7005234" y="1199979"/>
              <a:ext cx="1717561" cy="501005"/>
            </a:xfrm>
            <a:prstGeom prst="roundRect">
              <a:avLst>
                <a:gd fmla="val 24513" name="adj"/>
              </a:avLst>
            </a:prstGeom>
            <a:solidFill>
              <a:srgbClr val="FE78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PLAN Y CONTROL</a:t>
              </a:r>
              <a:endParaRPr/>
            </a:p>
          </p:txBody>
        </p:sp>
        <p:sp>
          <p:nvSpPr>
            <p:cNvPr id="502" name="Google Shape;502;p29"/>
            <p:cNvSpPr/>
            <p:nvPr/>
          </p:nvSpPr>
          <p:spPr>
            <a:xfrm>
              <a:off x="2999350" y="1236211"/>
              <a:ext cx="1717561" cy="501005"/>
            </a:xfrm>
            <a:prstGeom prst="roundRect">
              <a:avLst>
                <a:gd fmla="val 23879" name="adj"/>
              </a:avLst>
            </a:prstGeom>
            <a:solidFill>
              <a:srgbClr val="FE78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SITUACIÓN ACTUAL</a:t>
              </a:r>
              <a:endParaRPr/>
            </a:p>
          </p:txBody>
        </p:sp>
        <p:sp>
          <p:nvSpPr>
            <p:cNvPr id="503" name="Google Shape;503;p29"/>
            <p:cNvSpPr/>
            <p:nvPr/>
          </p:nvSpPr>
          <p:spPr>
            <a:xfrm>
              <a:off x="5002292" y="1210643"/>
              <a:ext cx="1717561" cy="501005"/>
            </a:xfrm>
            <a:prstGeom prst="roundRect">
              <a:avLst>
                <a:gd fmla="val 23001" name="adj"/>
              </a:avLst>
            </a:prstGeom>
            <a:solidFill>
              <a:srgbClr val="FE7828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4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 BRECHAS Y RIESGOS</a:t>
              </a:r>
              <a:endParaRPr/>
            </a:p>
          </p:txBody>
        </p:sp>
      </p:grpSp>
      <p:sp>
        <p:nvSpPr>
          <p:cNvPr id="504" name="Google Shape;504;p29"/>
          <p:cNvSpPr/>
          <p:nvPr/>
        </p:nvSpPr>
        <p:spPr>
          <a:xfrm>
            <a:off x="617297" y="416528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DIAGNÓSTICO DE MADUREZ ARQUITECTÓNICA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0"/>
          <p:cNvSpPr txBox="1"/>
          <p:nvPr/>
        </p:nvSpPr>
        <p:spPr>
          <a:xfrm>
            <a:off x="503238" y="927756"/>
            <a:ext cx="7777668" cy="2462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00D4D6"/>
                </a:solidFill>
                <a:latin typeface="Calibri"/>
                <a:ea typeface="Calibri"/>
                <a:cs typeface="Calibri"/>
                <a:sym typeface="Calibri"/>
              </a:rPr>
              <a:t>ALGUNAS CONCLUSIONES</a:t>
            </a:r>
            <a:endParaRPr/>
          </a:p>
        </p:txBody>
      </p:sp>
      <p:sp>
        <p:nvSpPr>
          <p:cNvPr id="511" name="Google Shape;511;p30"/>
          <p:cNvSpPr txBox="1"/>
          <p:nvPr/>
        </p:nvSpPr>
        <p:spPr>
          <a:xfrm>
            <a:off x="1193029" y="1462401"/>
            <a:ext cx="6919150" cy="280076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diagnóstico serio convierte percepciones en evidencia estructurada.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madurez no se asume; se mide por disciplina, coherencia y trazabilidad.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Identificar brechas sin priorizarlas estratégicamente no genera transformación.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verdadero valor del diagnóstico no es el nivel obtenido, sino la capacidad de evolucionar de manera sostenida.</a:t>
            </a:r>
            <a:endParaRPr/>
          </a:p>
        </p:txBody>
      </p:sp>
      <p:sp>
        <p:nvSpPr>
          <p:cNvPr id="512" name="Google Shape;512;p30"/>
          <p:cNvSpPr/>
          <p:nvPr/>
        </p:nvSpPr>
        <p:spPr>
          <a:xfrm>
            <a:off x="475796" y="1453273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01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13" name="Google Shape;513;p30"/>
          <p:cNvCxnSpPr>
            <a:stCxn id="514" idx="0"/>
            <a:endCxn id="515" idx="4"/>
          </p:cNvCxnSpPr>
          <p:nvPr/>
        </p:nvCxnSpPr>
        <p:spPr>
          <a:xfrm>
            <a:off x="1031821" y="1557312"/>
            <a:ext cx="0" cy="2354700"/>
          </a:xfrm>
          <a:prstGeom prst="straightConnector1">
            <a:avLst/>
          </a:prstGeom>
          <a:noFill/>
          <a:ln cap="flat" cmpd="sng" w="12700">
            <a:solidFill>
              <a:srgbClr val="01B1C3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16" name="Google Shape;516;p30"/>
          <p:cNvSpPr/>
          <p:nvPr/>
        </p:nvSpPr>
        <p:spPr>
          <a:xfrm>
            <a:off x="475796" y="2220454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02</a:t>
            </a:r>
            <a:endParaRPr b="1" sz="24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7" name="Google Shape;517;p30"/>
          <p:cNvSpPr/>
          <p:nvPr/>
        </p:nvSpPr>
        <p:spPr>
          <a:xfrm>
            <a:off x="475796" y="2964797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03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18" name="Google Shape;518;p30"/>
          <p:cNvGrpSpPr/>
          <p:nvPr/>
        </p:nvGrpSpPr>
        <p:grpSpPr>
          <a:xfrm>
            <a:off x="961425" y="1557312"/>
            <a:ext cx="140792" cy="140258"/>
            <a:chOff x="3427964" y="2244682"/>
            <a:chExt cx="225891" cy="225034"/>
          </a:xfrm>
        </p:grpSpPr>
        <p:sp>
          <p:nvSpPr>
            <p:cNvPr id="514" name="Google Shape;514;p30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30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0" name="Google Shape;520;p30"/>
          <p:cNvSpPr/>
          <p:nvPr/>
        </p:nvSpPr>
        <p:spPr>
          <a:xfrm>
            <a:off x="478123" y="3638082"/>
            <a:ext cx="4008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2400">
                <a:solidFill>
                  <a:srgbClr val="01B1C3"/>
                </a:solidFill>
                <a:latin typeface="Calibri"/>
                <a:ea typeface="Calibri"/>
                <a:cs typeface="Calibri"/>
                <a:sym typeface="Calibri"/>
              </a:rPr>
              <a:t>04</a:t>
            </a:r>
            <a:endParaRPr b="1" sz="2800">
              <a:solidFill>
                <a:srgbClr val="01B1C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21" name="Google Shape;521;p30"/>
          <p:cNvGrpSpPr/>
          <p:nvPr/>
        </p:nvGrpSpPr>
        <p:grpSpPr>
          <a:xfrm>
            <a:off x="961425" y="2321548"/>
            <a:ext cx="140792" cy="140258"/>
            <a:chOff x="3427964" y="2244682"/>
            <a:chExt cx="225891" cy="225034"/>
          </a:xfrm>
        </p:grpSpPr>
        <p:sp>
          <p:nvSpPr>
            <p:cNvPr id="522" name="Google Shape;522;p30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3" name="Google Shape;523;p30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4" name="Google Shape;524;p30"/>
          <p:cNvGrpSpPr/>
          <p:nvPr/>
        </p:nvGrpSpPr>
        <p:grpSpPr>
          <a:xfrm>
            <a:off x="961425" y="3055542"/>
            <a:ext cx="140792" cy="140258"/>
            <a:chOff x="3427964" y="2244682"/>
            <a:chExt cx="225891" cy="225034"/>
          </a:xfrm>
        </p:grpSpPr>
        <p:sp>
          <p:nvSpPr>
            <p:cNvPr id="525" name="Google Shape;525;p30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6" name="Google Shape;526;p30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27" name="Google Shape;527;p30"/>
          <p:cNvGrpSpPr/>
          <p:nvPr/>
        </p:nvGrpSpPr>
        <p:grpSpPr>
          <a:xfrm>
            <a:off x="961425" y="3771690"/>
            <a:ext cx="140792" cy="140258"/>
            <a:chOff x="3427964" y="2244682"/>
            <a:chExt cx="225891" cy="225034"/>
          </a:xfrm>
        </p:grpSpPr>
        <p:sp>
          <p:nvSpPr>
            <p:cNvPr id="515" name="Google Shape;515;p30"/>
            <p:cNvSpPr/>
            <p:nvPr/>
          </p:nvSpPr>
          <p:spPr>
            <a:xfrm>
              <a:off x="3427964" y="2244682"/>
              <a:ext cx="225891" cy="225034"/>
            </a:xfrm>
            <a:prstGeom prst="ellipse">
              <a:avLst/>
            </a:prstGeom>
            <a:solidFill>
              <a:schemeClr val="lt1"/>
            </a:solidFill>
            <a:ln cap="flat" cmpd="sng" w="19050">
              <a:solidFill>
                <a:srgbClr val="01B1C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8" name="Google Shape;528;p30"/>
            <p:cNvSpPr/>
            <p:nvPr/>
          </p:nvSpPr>
          <p:spPr>
            <a:xfrm>
              <a:off x="3482167" y="2298680"/>
              <a:ext cx="117483" cy="117037"/>
            </a:xfrm>
            <a:prstGeom prst="ellipse">
              <a:avLst/>
            </a:prstGeom>
            <a:solidFill>
              <a:srgbClr val="01B1C3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29" name="Google Shape;529;p30"/>
          <p:cNvSpPr/>
          <p:nvPr/>
        </p:nvSpPr>
        <p:spPr>
          <a:xfrm>
            <a:off x="617297" y="416528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DIAGNÓSTICO DE MADUREZ ARQUITECTÓNICA</a:t>
            </a:r>
            <a:endParaRPr sz="1000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31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31"/>
          <p:cNvSpPr txBox="1"/>
          <p:nvPr/>
        </p:nvSpPr>
        <p:spPr>
          <a:xfrm>
            <a:off x="1008064" y="3160828"/>
            <a:ext cx="3453768" cy="6647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PLAN DE MEJORA </a:t>
            </a:r>
            <a:r>
              <a:rPr b="1" lang="es-ES" sz="24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ARQUITECTÓNICA</a:t>
            </a:r>
            <a:endParaRPr b="1" sz="14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37" name="Google Shape;537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8063" y="2869612"/>
            <a:ext cx="195423" cy="201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2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3" name="Google Shape;543;p32"/>
          <p:cNvSpPr/>
          <p:nvPr/>
        </p:nvSpPr>
        <p:spPr>
          <a:xfrm rot="-5400000">
            <a:off x="-541338" y="1957388"/>
            <a:ext cx="4321178" cy="2232024"/>
          </a:xfrm>
          <a:prstGeom prst="round2SameRect">
            <a:avLst>
              <a:gd fmla="val 5364" name="adj1"/>
              <a:gd fmla="val 0" name="adj2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4" name="Google Shape;544;p32"/>
          <p:cNvSpPr txBox="1"/>
          <p:nvPr/>
        </p:nvSpPr>
        <p:spPr>
          <a:xfrm>
            <a:off x="727177" y="2280330"/>
            <a:ext cx="1858626" cy="180049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400">
                <a:solidFill>
                  <a:srgbClr val="FDC212"/>
                </a:solidFill>
                <a:latin typeface="Calibri"/>
                <a:ea typeface="Calibri"/>
                <a:cs typeface="Calibri"/>
                <a:sym typeface="Calibri"/>
              </a:rPr>
              <a:t>Concepto Estratégico: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s-ES" sz="14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Según TOGAF (The Open Group), la mejora arquitectónica debe gestionarse como una capacidad organizacional continua, no como un proyecto aislado.</a:t>
            </a: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45" name="Google Shape;545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7177" y="2023267"/>
            <a:ext cx="157605" cy="157605"/>
          </a:xfrm>
          <a:prstGeom prst="rect">
            <a:avLst/>
          </a:prstGeom>
          <a:noFill/>
          <a:ln>
            <a:noFill/>
          </a:ln>
        </p:spPr>
      </p:pic>
      <p:sp>
        <p:nvSpPr>
          <p:cNvPr id="546" name="Google Shape;546;p32"/>
          <p:cNvSpPr/>
          <p:nvPr/>
        </p:nvSpPr>
        <p:spPr>
          <a:xfrm>
            <a:off x="668720" y="461280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PLAN DE MEJORA ARQUITECTÓNICA</a:t>
            </a:r>
            <a:endParaRPr/>
          </a:p>
        </p:txBody>
      </p:sp>
      <p:pic>
        <p:nvPicPr>
          <p:cNvPr id="547" name="Google Shape;547;p32"/>
          <p:cNvPicPr preferRelativeResize="0"/>
          <p:nvPr/>
        </p:nvPicPr>
        <p:blipFill rotWithShape="1">
          <a:blip r:embed="rId4">
            <a:alphaModFix/>
          </a:blip>
          <a:srcRect b="0" l="4754" r="2918" t="0"/>
          <a:stretch/>
        </p:blipFill>
        <p:spPr>
          <a:xfrm>
            <a:off x="2735264" y="912810"/>
            <a:ext cx="5938283" cy="43211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p33"/>
          <p:cNvSpPr/>
          <p:nvPr/>
        </p:nvSpPr>
        <p:spPr>
          <a:xfrm>
            <a:off x="1362631" y="1882588"/>
            <a:ext cx="6615957" cy="1874532"/>
          </a:xfrm>
          <a:prstGeom prst="roundRect">
            <a:avLst>
              <a:gd fmla="val 5987" name="adj"/>
            </a:avLst>
          </a:prstGeom>
          <a:solidFill>
            <a:srgbClr val="00B1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3" name="Google Shape;553;p33"/>
          <p:cNvPicPr preferRelativeResize="0"/>
          <p:nvPr/>
        </p:nvPicPr>
        <p:blipFill rotWithShape="1">
          <a:blip r:embed="rId3">
            <a:alphaModFix/>
          </a:blip>
          <a:srcRect b="47890" l="30026" r="24147" t="0"/>
          <a:stretch/>
        </p:blipFill>
        <p:spPr>
          <a:xfrm>
            <a:off x="1640542" y="1410107"/>
            <a:ext cx="546847" cy="920717"/>
          </a:xfrm>
          <a:prstGeom prst="rect">
            <a:avLst/>
          </a:prstGeom>
          <a:noFill/>
          <a:ln>
            <a:noFill/>
          </a:ln>
        </p:spPr>
      </p:pic>
      <p:sp>
        <p:nvSpPr>
          <p:cNvPr id="554" name="Google Shape;554;p33"/>
          <p:cNvSpPr txBox="1"/>
          <p:nvPr/>
        </p:nvSpPr>
        <p:spPr>
          <a:xfrm>
            <a:off x="1754368" y="2402902"/>
            <a:ext cx="5811844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“La arquitectura empresarial no es sobre tecnología; es sobre disciplina organizacional.”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Jeanne Ross (MIT CISR)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5" name="Google Shape;555;p33"/>
          <p:cNvSpPr/>
          <p:nvPr/>
        </p:nvSpPr>
        <p:spPr>
          <a:xfrm>
            <a:off x="668720" y="461280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PLAN DE MEJORA ARQUITECTÓNICA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34"/>
          <p:cNvSpPr/>
          <p:nvPr/>
        </p:nvSpPr>
        <p:spPr>
          <a:xfrm>
            <a:off x="1905112" y="4081443"/>
            <a:ext cx="5049262" cy="869304"/>
          </a:xfrm>
          <a:prstGeom prst="roundRect">
            <a:avLst>
              <a:gd fmla="val 23879" name="adj"/>
            </a:avLst>
          </a:prstGeom>
          <a:solidFill>
            <a:srgbClr val="FCDB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4"/>
          <p:cNvSpPr txBox="1"/>
          <p:nvPr/>
        </p:nvSpPr>
        <p:spPr>
          <a:xfrm>
            <a:off x="569568" y="868496"/>
            <a:ext cx="60347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 PLAN DE MEJORA ARQUITECTÓNICA: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563" name="Google Shape;563;p34"/>
          <p:cNvGrpSpPr/>
          <p:nvPr/>
        </p:nvGrpSpPr>
        <p:grpSpPr>
          <a:xfrm>
            <a:off x="1858776" y="4010219"/>
            <a:ext cx="5095598" cy="1117337"/>
            <a:chOff x="3925806" y="3826518"/>
            <a:chExt cx="4066050" cy="1117337"/>
          </a:xfrm>
        </p:grpSpPr>
        <p:sp>
          <p:nvSpPr>
            <p:cNvPr id="564" name="Google Shape;564;p34"/>
            <p:cNvSpPr txBox="1"/>
            <p:nvPr/>
          </p:nvSpPr>
          <p:spPr>
            <a:xfrm rot="1704098">
              <a:off x="4053062" y="4000466"/>
              <a:ext cx="926123" cy="76944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4400">
                  <a:solidFill>
                    <a:schemeClr val="dk1"/>
                  </a:solidFill>
                  <a:latin typeface="Arial"/>
                  <a:ea typeface="Arial"/>
                  <a:cs typeface="Arial"/>
                  <a:sym typeface="Arial"/>
                </a:rPr>
                <a:t>💡</a:t>
              </a:r>
              <a:endParaRPr/>
            </a:p>
          </p:txBody>
        </p:sp>
        <p:sp>
          <p:nvSpPr>
            <p:cNvPr id="565" name="Google Shape;565;p34"/>
            <p:cNvSpPr txBox="1"/>
            <p:nvPr/>
          </p:nvSpPr>
          <p:spPr>
            <a:xfrm>
              <a:off x="4822763" y="4163117"/>
              <a:ext cx="3169093" cy="3385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mejora no es técnica; es organizacional.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6" name="Google Shape;566;p34"/>
          <p:cNvGrpSpPr/>
          <p:nvPr/>
        </p:nvGrpSpPr>
        <p:grpSpPr>
          <a:xfrm>
            <a:off x="919652" y="996493"/>
            <a:ext cx="7838783" cy="2919495"/>
            <a:chOff x="2537840" y="966830"/>
            <a:chExt cx="7838783" cy="2919495"/>
          </a:xfrm>
        </p:grpSpPr>
        <p:sp>
          <p:nvSpPr>
            <p:cNvPr id="567" name="Google Shape;567;p34"/>
            <p:cNvSpPr txBox="1"/>
            <p:nvPr/>
          </p:nvSpPr>
          <p:spPr>
            <a:xfrm>
              <a:off x="2537840" y="1448890"/>
              <a:ext cx="6034722" cy="230832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Traduce el diagnóstico en evolución estructurada.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Integra gobierno, procesos y capacidades.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Define metas de madurez progresiva.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Asegura alineamiento con estrategia corporativa.</a:t>
              </a:r>
              <a:endParaRPr/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 mejora no es técnica; es organizacional.</a:t>
              </a:r>
              <a:endParaRPr/>
            </a:p>
          </p:txBody>
        </p:sp>
        <p:pic>
          <p:nvPicPr>
            <p:cNvPr descr="Microsoft - Fluent Emoji (Color)" id="568" name="Google Shape;568;p34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7457128" y="966830"/>
              <a:ext cx="2919495" cy="291949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569" name="Google Shape;569;p34"/>
          <p:cNvSpPr/>
          <p:nvPr/>
        </p:nvSpPr>
        <p:spPr>
          <a:xfrm>
            <a:off x="668720" y="461280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PLAN DE MEJORA ARQUITECTÓNICA</a:t>
            </a:r>
            <a:endParaRPr/>
          </a:p>
        </p:txBody>
      </p:sp>
      <p:cxnSp>
        <p:nvCxnSpPr>
          <p:cNvPr id="570" name="Google Shape;570;p34"/>
          <p:cNvCxnSpPr/>
          <p:nvPr/>
        </p:nvCxnSpPr>
        <p:spPr>
          <a:xfrm>
            <a:off x="722046" y="1740663"/>
            <a:ext cx="0" cy="173122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1" name="Google Shape;571;p34"/>
          <p:cNvSpPr/>
          <p:nvPr/>
        </p:nvSpPr>
        <p:spPr>
          <a:xfrm>
            <a:off x="645704" y="151315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2" name="Google Shape;572;p34"/>
          <p:cNvSpPr/>
          <p:nvPr/>
        </p:nvSpPr>
        <p:spPr>
          <a:xfrm>
            <a:off x="645704" y="204059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3" name="Google Shape;573;p34"/>
          <p:cNvSpPr/>
          <p:nvPr/>
        </p:nvSpPr>
        <p:spPr>
          <a:xfrm>
            <a:off x="645704" y="254221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4" name="Google Shape;574;p34"/>
          <p:cNvCxnSpPr/>
          <p:nvPr/>
        </p:nvCxnSpPr>
        <p:spPr>
          <a:xfrm>
            <a:off x="723723" y="2241821"/>
            <a:ext cx="0" cy="2149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75" name="Google Shape;575;p34"/>
          <p:cNvSpPr/>
          <p:nvPr/>
        </p:nvSpPr>
        <p:spPr>
          <a:xfrm>
            <a:off x="637331" y="299794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6" name="Google Shape;576;p34"/>
          <p:cNvSpPr/>
          <p:nvPr/>
        </p:nvSpPr>
        <p:spPr>
          <a:xfrm>
            <a:off x="637331" y="3488547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77" name="Google Shape;577;p34"/>
          <p:cNvCxnSpPr/>
          <p:nvPr/>
        </p:nvCxnSpPr>
        <p:spPr>
          <a:xfrm>
            <a:off x="710868" y="2724727"/>
            <a:ext cx="0" cy="2149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78" name="Google Shape;578;p34"/>
          <p:cNvCxnSpPr/>
          <p:nvPr/>
        </p:nvCxnSpPr>
        <p:spPr>
          <a:xfrm>
            <a:off x="709030" y="3218651"/>
            <a:ext cx="0" cy="2149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3" name="Shape 5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4" name="Google Shape;584;p35"/>
          <p:cNvSpPr txBox="1"/>
          <p:nvPr/>
        </p:nvSpPr>
        <p:spPr>
          <a:xfrm>
            <a:off x="503238" y="914424"/>
            <a:ext cx="4572000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ENFOQUE BASADO EN CAPABILITY EVOLUTION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5" name="Google Shape;585;p35"/>
          <p:cNvSpPr txBox="1"/>
          <p:nvPr/>
        </p:nvSpPr>
        <p:spPr>
          <a:xfrm>
            <a:off x="3191256" y="1580227"/>
            <a:ext cx="5312664" cy="25545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Gartner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</a:t>
            </a: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sostiene que la madurez arquitectónica evoluciona cuando la función pasa de ser reactiva a influir en decisiones de inversión.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EE4639"/>
                </a:solidFill>
                <a:latin typeface="Calibri"/>
                <a:ea typeface="Calibri"/>
                <a:cs typeface="Calibri"/>
                <a:sym typeface="Calibri"/>
              </a:rPr>
              <a:t>Por ello, un plan debe: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Definir estado objetivo por dimensión.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Establecer hitos medibles.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Integrarse al portafolio estratégico.</a:t>
            </a:r>
            <a:endParaRPr/>
          </a:p>
          <a:p>
            <a:pPr indent="-176213" lvl="0" marL="176213" marR="0" rtl="0" algn="l"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Contar con patrocinio ejecutivo.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Google (Noto Color Emoji 16.0)" id="586" name="Google Shape;586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8720" y="1714499"/>
            <a:ext cx="2286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35"/>
          <p:cNvSpPr/>
          <p:nvPr/>
        </p:nvSpPr>
        <p:spPr>
          <a:xfrm>
            <a:off x="668720" y="461280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PLAN DE MEJORA ARQUITECTÓNICA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36"/>
          <p:cNvSpPr/>
          <p:nvPr/>
        </p:nvSpPr>
        <p:spPr>
          <a:xfrm>
            <a:off x="1362631" y="1882588"/>
            <a:ext cx="6615957" cy="1874532"/>
          </a:xfrm>
          <a:prstGeom prst="roundRect">
            <a:avLst>
              <a:gd fmla="val 5987" name="adj"/>
            </a:avLst>
          </a:prstGeom>
          <a:solidFill>
            <a:srgbClr val="00B1C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93" name="Google Shape;593;p36"/>
          <p:cNvPicPr preferRelativeResize="0"/>
          <p:nvPr/>
        </p:nvPicPr>
        <p:blipFill rotWithShape="1">
          <a:blip r:embed="rId3">
            <a:alphaModFix/>
          </a:blip>
          <a:srcRect b="47890" l="30026" r="24147" t="0"/>
          <a:stretch/>
        </p:blipFill>
        <p:spPr>
          <a:xfrm>
            <a:off x="1640542" y="1410107"/>
            <a:ext cx="546847" cy="920717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36"/>
          <p:cNvSpPr txBox="1"/>
          <p:nvPr/>
        </p:nvSpPr>
        <p:spPr>
          <a:xfrm>
            <a:off x="1754368" y="2402902"/>
            <a:ext cx="5811844" cy="135421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“La gobernanza efectiva es el mecanismo que convierte estrategia en ejecución disciplinada.”</a:t>
            </a:r>
            <a:endParaRPr b="1"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rgbClr val="F2F2F2"/>
                </a:solidFill>
                <a:latin typeface="Calibri"/>
                <a:ea typeface="Calibri"/>
                <a:cs typeface="Calibri"/>
                <a:sym typeface="Calibri"/>
              </a:rPr>
              <a:t>Peter Weill (MIT Sloan)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5" name="Google Shape;595;p36"/>
          <p:cNvSpPr/>
          <p:nvPr/>
        </p:nvSpPr>
        <p:spPr>
          <a:xfrm>
            <a:off x="668720" y="461280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PLAN DE MEJORA ARQUITECTÓNICA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0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01" name="Google Shape;601;p37"/>
          <p:cNvGrpSpPr/>
          <p:nvPr/>
        </p:nvGrpSpPr>
        <p:grpSpPr>
          <a:xfrm>
            <a:off x="1342031" y="1386300"/>
            <a:ext cx="6459937" cy="3321739"/>
            <a:chOff x="976707" y="1285751"/>
            <a:chExt cx="6459937" cy="3321739"/>
          </a:xfrm>
        </p:grpSpPr>
        <p:sp>
          <p:nvSpPr>
            <p:cNvPr id="602" name="Google Shape;602;p37"/>
            <p:cNvSpPr/>
            <p:nvPr/>
          </p:nvSpPr>
          <p:spPr>
            <a:xfrm>
              <a:off x="976707" y="1285751"/>
              <a:ext cx="3176196" cy="1599273"/>
            </a:xfrm>
            <a:prstGeom prst="roundRect">
              <a:avLst>
                <a:gd fmla="val 4231" name="adj"/>
              </a:avLst>
            </a:prstGeom>
            <a:solidFill>
              <a:srgbClr val="FFD7C1"/>
            </a:solidFill>
            <a:ln cap="flat" cmpd="sng" w="38100">
              <a:solidFill>
                <a:srgbClr val="FE7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500">
                  <a:solidFill>
                    <a:srgbClr val="FE7828"/>
                  </a:solidFill>
                  <a:latin typeface="Calibri"/>
                  <a:ea typeface="Calibri"/>
                  <a:cs typeface="Calibri"/>
                  <a:sym typeface="Calibri"/>
                </a:rPr>
                <a:t>RIESGO                      ORGANIZACIONAL </a:t>
              </a:r>
              <a:endParaRPr sz="1500">
                <a:solidFill>
                  <a:srgbClr val="FE782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7"/>
            <p:cNvSpPr/>
            <p:nvPr/>
          </p:nvSpPr>
          <p:spPr>
            <a:xfrm>
              <a:off x="976707" y="3008217"/>
              <a:ext cx="3176196" cy="1599273"/>
            </a:xfrm>
            <a:prstGeom prst="roundRect">
              <a:avLst>
                <a:gd fmla="val 4231" name="adj"/>
              </a:avLst>
            </a:prstGeom>
            <a:solidFill>
              <a:srgbClr val="FFD7C1"/>
            </a:solidFill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500">
                  <a:solidFill>
                    <a:schemeClr val="accent4"/>
                  </a:solidFill>
                  <a:latin typeface="Calibri"/>
                  <a:ea typeface="Calibri"/>
                  <a:cs typeface="Calibri"/>
                  <a:sym typeface="Calibri"/>
                </a:rPr>
                <a:t>REPITIBILIDAD                                     DE PROCESOS</a:t>
              </a:r>
              <a:endParaRPr sz="1500">
                <a:solidFill>
                  <a:schemeClr val="accent6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7"/>
            <p:cNvSpPr/>
            <p:nvPr/>
          </p:nvSpPr>
          <p:spPr>
            <a:xfrm>
              <a:off x="4260448" y="1285751"/>
              <a:ext cx="3176196" cy="1599273"/>
            </a:xfrm>
            <a:prstGeom prst="roundRect">
              <a:avLst>
                <a:gd fmla="val 4231" name="adj"/>
              </a:avLst>
            </a:prstGeom>
            <a:solidFill>
              <a:srgbClr val="FFD7C1"/>
            </a:solidFill>
            <a:ln cap="flat" cmpd="sng" w="38100">
              <a:solidFill>
                <a:srgbClr val="FE7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500">
                  <a:solidFill>
                    <a:srgbClr val="FE7828"/>
                  </a:solidFill>
                  <a:latin typeface="Calibri"/>
                  <a:ea typeface="Calibri"/>
                  <a:cs typeface="Calibri"/>
                  <a:sym typeface="Calibri"/>
                </a:rPr>
                <a:t>IMPACTO EN LA                     CAPACIDAD OPERATIVA</a:t>
              </a:r>
              <a:endParaRPr sz="1500">
                <a:solidFill>
                  <a:srgbClr val="FE7828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5" name="Google Shape;605;p37"/>
            <p:cNvSpPr/>
            <p:nvPr/>
          </p:nvSpPr>
          <p:spPr>
            <a:xfrm>
              <a:off x="4260448" y="3008217"/>
              <a:ext cx="3176196" cy="1599273"/>
            </a:xfrm>
            <a:prstGeom prst="roundRect">
              <a:avLst>
                <a:gd fmla="val 4231" name="adj"/>
              </a:avLst>
            </a:prstGeom>
            <a:solidFill>
              <a:srgbClr val="FFD7C1"/>
            </a:solidFill>
            <a:ln cap="flat" cmpd="sng" w="38100">
              <a:solidFill>
                <a:srgbClr val="FE782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45700" lIns="180000" spcFirstLastPara="1" rIns="36000" wrap="square" tIns="1800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1500">
                  <a:solidFill>
                    <a:srgbClr val="FE7828"/>
                  </a:solidFill>
                  <a:latin typeface="Calibri"/>
                  <a:ea typeface="Calibri"/>
                  <a:cs typeface="Calibri"/>
                  <a:sym typeface="Calibri"/>
                </a:rPr>
                <a:t>CONTROL                                                 Y MEDICIÓN </a:t>
              </a:r>
              <a:endParaRPr sz="1500">
                <a:solidFill>
                  <a:srgbClr val="FE7828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6350" marR="0" rtl="0" algn="l">
                <a:spcBef>
                  <a:spcPts val="120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-85725" lvl="0" marL="180975" marR="0" rtl="0" algn="l">
                <a:spcBef>
                  <a:spcPts val="600"/>
                </a:spcBef>
                <a:spcAft>
                  <a:spcPts val="0"/>
                </a:spcAft>
                <a:buClr>
                  <a:schemeClr val="accent3"/>
                </a:buClr>
                <a:buSzPts val="1400"/>
                <a:buFont typeface="Arial"/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descr="Astronaut female with solid fill" id="606" name="Google Shape;606;p37"/>
          <p:cNvSpPr/>
          <p:nvPr/>
        </p:nvSpPr>
        <p:spPr>
          <a:xfrm>
            <a:off x="2616650" y="2102990"/>
            <a:ext cx="781910" cy="781910"/>
          </a:xfrm>
          <a:prstGeom prst="ellipse">
            <a:avLst/>
          </a:prstGeom>
          <a:blipFill rotWithShape="1">
            <a:blip r:embed="rId3">
              <a:alphaModFix/>
            </a:blip>
            <a:stretch>
              <a:fillRect b="-25001" l="0" r="0" t="-25001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Anger Symbol with solid fill" id="607" name="Google Shape;607;p37"/>
          <p:cNvSpPr/>
          <p:nvPr/>
        </p:nvSpPr>
        <p:spPr>
          <a:xfrm>
            <a:off x="5822915" y="2102990"/>
            <a:ext cx="781910" cy="781910"/>
          </a:xfrm>
          <a:prstGeom prst="ellipse">
            <a:avLst/>
          </a:pr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Cancer with solid fill" id="608" name="Google Shape;608;p37"/>
          <p:cNvSpPr/>
          <p:nvPr/>
        </p:nvSpPr>
        <p:spPr>
          <a:xfrm>
            <a:off x="2615338" y="3732560"/>
            <a:ext cx="781910" cy="781910"/>
          </a:xfrm>
          <a:prstGeom prst="ellipse">
            <a:avLst/>
          </a:pr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descr="Lock with solid fill" id="609" name="Google Shape;609;p37"/>
          <p:cNvSpPr/>
          <p:nvPr/>
        </p:nvSpPr>
        <p:spPr>
          <a:xfrm>
            <a:off x="5822915" y="3732560"/>
            <a:ext cx="781910" cy="781910"/>
          </a:xfrm>
          <a:prstGeom prst="ellipse">
            <a:avLst/>
          </a:pr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37"/>
          <p:cNvSpPr/>
          <p:nvPr/>
        </p:nvSpPr>
        <p:spPr>
          <a:xfrm>
            <a:off x="503238" y="4826079"/>
            <a:ext cx="8475509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Aquí la clave es mover la organización desde dependencia de individuos hacia institucionalización.</a:t>
            </a:r>
            <a:endParaRPr/>
          </a:p>
        </p:txBody>
      </p:sp>
      <p:sp>
        <p:nvSpPr>
          <p:cNvPr id="611" name="Google Shape;611;p37"/>
          <p:cNvSpPr txBox="1"/>
          <p:nvPr/>
        </p:nvSpPr>
        <p:spPr>
          <a:xfrm>
            <a:off x="476738" y="741678"/>
            <a:ext cx="8082978" cy="7694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Priorización 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técnica</a:t>
            </a: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de Iniciativas: 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todas las mejoras generan el mismo valor.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solidFill>
                <a:srgbClr val="7F7F7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2" name="Google Shape;612;p37"/>
          <p:cNvSpPr/>
          <p:nvPr/>
        </p:nvSpPr>
        <p:spPr>
          <a:xfrm>
            <a:off x="668720" y="461280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5D6474"/>
                </a:solidFill>
                <a:latin typeface="Calibri"/>
                <a:ea typeface="Calibri"/>
                <a:cs typeface="Calibri"/>
                <a:sym typeface="Calibri"/>
              </a:rPr>
              <a:t>+ PLAN DE MEJORA ARQUITECTÓNICA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7" name="Shape 6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8" name="Google Shape;618;p38"/>
          <p:cNvSpPr txBox="1"/>
          <p:nvPr/>
        </p:nvSpPr>
        <p:spPr>
          <a:xfrm>
            <a:off x="598080" y="858245"/>
            <a:ext cx="7005987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ARQUITECTURA COMO FUNCIÓN ESTRATÉGICA</a:t>
            </a:r>
            <a:endParaRPr b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9" name="Google Shape;619;p38"/>
          <p:cNvSpPr/>
          <p:nvPr/>
        </p:nvSpPr>
        <p:spPr>
          <a:xfrm>
            <a:off x="668720" y="461280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PLAN DE MEJORA ARQUITECTÓNICA</a:t>
            </a:r>
            <a:endParaRPr/>
          </a:p>
        </p:txBody>
      </p:sp>
      <p:sp>
        <p:nvSpPr>
          <p:cNvPr id="620" name="Google Shape;620;p38"/>
          <p:cNvSpPr/>
          <p:nvPr/>
        </p:nvSpPr>
        <p:spPr>
          <a:xfrm>
            <a:off x="598080" y="1499333"/>
            <a:ext cx="4572000" cy="15314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Formalizar mecanismos de gobierno.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Reducir decisiones ad hoc.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Aumentar trazabilidad y evidencia.</a:t>
            </a:r>
            <a:endParaRPr/>
          </a:p>
          <a:p>
            <a:pPr indent="-176213" lvl="0" marL="176213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E4639"/>
              </a:buClr>
              <a:buSzPts val="1600"/>
              <a:buFont typeface="Arial"/>
              <a:buChar char="•"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Integrar arquitectura en decisiones de inversión.</a:t>
            </a:r>
            <a:endParaRPr/>
          </a:p>
        </p:txBody>
      </p:sp>
      <p:sp>
        <p:nvSpPr>
          <p:cNvPr id="621" name="Google Shape;621;p38"/>
          <p:cNvSpPr/>
          <p:nvPr/>
        </p:nvSpPr>
        <p:spPr>
          <a:xfrm>
            <a:off x="1312481" y="3673797"/>
            <a:ext cx="6344242" cy="869304"/>
          </a:xfrm>
          <a:prstGeom prst="roundRect">
            <a:avLst>
              <a:gd fmla="val 23879" name="adj"/>
            </a:avLst>
          </a:prstGeom>
          <a:solidFill>
            <a:srgbClr val="FCDB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2" name="Google Shape;622;p38"/>
          <p:cNvSpPr txBox="1"/>
          <p:nvPr/>
        </p:nvSpPr>
        <p:spPr>
          <a:xfrm>
            <a:off x="1402289" y="3816061"/>
            <a:ext cx="4869646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mejora arquitectónica no busca sofisticación técnica, sino coherencia estructural.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3" name="Google Shape;623;p38"/>
          <p:cNvSpPr txBox="1"/>
          <p:nvPr/>
        </p:nvSpPr>
        <p:spPr>
          <a:xfrm rot="2542203">
            <a:off x="6331108" y="3969950"/>
            <a:ext cx="1770414" cy="86177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5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💡</a:t>
            </a:r>
            <a:endParaRPr/>
          </a:p>
        </p:txBody>
      </p:sp>
      <p:pic>
        <p:nvPicPr>
          <p:cNvPr id="624" name="Google Shape;624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170080" y="954000"/>
            <a:ext cx="3365520" cy="239828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9" name="Shape 6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0" name="Google Shape;630;p39"/>
          <p:cNvSpPr/>
          <p:nvPr/>
        </p:nvSpPr>
        <p:spPr>
          <a:xfrm>
            <a:off x="1156771" y="4180596"/>
            <a:ext cx="6691519" cy="869304"/>
          </a:xfrm>
          <a:prstGeom prst="roundRect">
            <a:avLst>
              <a:gd fmla="val 23879" name="adj"/>
            </a:avLst>
          </a:prstGeom>
          <a:solidFill>
            <a:srgbClr val="FCDBD8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1"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1" name="Google Shape;631;p39"/>
          <p:cNvSpPr txBox="1"/>
          <p:nvPr/>
        </p:nvSpPr>
        <p:spPr>
          <a:xfrm>
            <a:off x="569568" y="868496"/>
            <a:ext cx="6034722" cy="33855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INDICADORES DE EVOLUCIÓN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2" name="Google Shape;632;p39"/>
          <p:cNvSpPr txBox="1"/>
          <p:nvPr/>
        </p:nvSpPr>
        <p:spPr>
          <a:xfrm>
            <a:off x="1295710" y="4315081"/>
            <a:ext cx="648893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verdadera madurez no es tener mejores arquitectos; es tener mejores decisiones organizacionales sistemáticamente respaldadas por arquitectura.</a:t>
            </a:r>
            <a:endParaRPr/>
          </a:p>
        </p:txBody>
      </p:sp>
      <p:sp>
        <p:nvSpPr>
          <p:cNvPr id="633" name="Google Shape;633;p39"/>
          <p:cNvSpPr txBox="1"/>
          <p:nvPr/>
        </p:nvSpPr>
        <p:spPr>
          <a:xfrm>
            <a:off x="996771" y="1430514"/>
            <a:ext cx="6034722" cy="23083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Nivel de institucionalización.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Uso formal de estándares.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Participación en portafolio.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Reducción de excepciones.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Evidencia de métricas y control</a:t>
            </a:r>
            <a:endParaRPr/>
          </a:p>
        </p:txBody>
      </p:sp>
      <p:sp>
        <p:nvSpPr>
          <p:cNvPr id="634" name="Google Shape;634;p39"/>
          <p:cNvSpPr/>
          <p:nvPr/>
        </p:nvSpPr>
        <p:spPr>
          <a:xfrm>
            <a:off x="668720" y="461280"/>
            <a:ext cx="3631100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PLAN DE MEJORA ARQUITECTÓNICA</a:t>
            </a:r>
            <a:endParaRPr/>
          </a:p>
        </p:txBody>
      </p:sp>
      <p:cxnSp>
        <p:nvCxnSpPr>
          <p:cNvPr id="635" name="Google Shape;635;p39"/>
          <p:cNvCxnSpPr/>
          <p:nvPr/>
        </p:nvCxnSpPr>
        <p:spPr>
          <a:xfrm>
            <a:off x="722046" y="1740663"/>
            <a:ext cx="0" cy="173122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36" name="Google Shape;636;p39"/>
          <p:cNvSpPr/>
          <p:nvPr/>
        </p:nvSpPr>
        <p:spPr>
          <a:xfrm>
            <a:off x="645704" y="1513159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7" name="Google Shape;637;p39"/>
          <p:cNvSpPr/>
          <p:nvPr/>
        </p:nvSpPr>
        <p:spPr>
          <a:xfrm>
            <a:off x="645704" y="204059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8" name="Google Shape;638;p39"/>
          <p:cNvSpPr/>
          <p:nvPr/>
        </p:nvSpPr>
        <p:spPr>
          <a:xfrm>
            <a:off x="645704" y="2542212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" name="Google Shape;639;p39"/>
          <p:cNvCxnSpPr/>
          <p:nvPr/>
        </p:nvCxnSpPr>
        <p:spPr>
          <a:xfrm>
            <a:off x="723723" y="2241821"/>
            <a:ext cx="0" cy="2149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0" name="Google Shape;640;p39"/>
          <p:cNvSpPr/>
          <p:nvPr/>
        </p:nvSpPr>
        <p:spPr>
          <a:xfrm>
            <a:off x="637331" y="2997948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1" name="Google Shape;641;p39"/>
          <p:cNvSpPr/>
          <p:nvPr/>
        </p:nvSpPr>
        <p:spPr>
          <a:xfrm>
            <a:off x="637331" y="3488547"/>
            <a:ext cx="152683" cy="152683"/>
          </a:xfrm>
          <a:prstGeom prst="mathPlus">
            <a:avLst>
              <a:gd fmla="val 15202" name="adj1"/>
            </a:avLst>
          </a:prstGeom>
          <a:solidFill>
            <a:srgbClr val="EE463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42" name="Google Shape;642;p39"/>
          <p:cNvCxnSpPr/>
          <p:nvPr/>
        </p:nvCxnSpPr>
        <p:spPr>
          <a:xfrm>
            <a:off x="710868" y="2724727"/>
            <a:ext cx="0" cy="2149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3" name="Google Shape;643;p39"/>
          <p:cNvCxnSpPr/>
          <p:nvPr/>
        </p:nvCxnSpPr>
        <p:spPr>
          <a:xfrm>
            <a:off x="709030" y="3218651"/>
            <a:ext cx="0" cy="214938"/>
          </a:xfrm>
          <a:prstGeom prst="straightConnector1">
            <a:avLst/>
          </a:prstGeom>
          <a:noFill/>
          <a:ln cap="flat" cmpd="sng" w="12700">
            <a:solidFill>
              <a:srgbClr val="EE463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44" name="Google Shape;644;p39"/>
          <p:cNvSpPr txBox="1"/>
          <p:nvPr/>
        </p:nvSpPr>
        <p:spPr>
          <a:xfrm>
            <a:off x="4968611" y="1111051"/>
            <a:ext cx="2816034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ES" sz="18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🌱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8" name="Shape 6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erson with her finger on her chin&#10;&#10;Description automatically generated" id="649" name="Google Shape;649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-190500"/>
            <a:ext cx="9144000" cy="59055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0"/>
          <p:cNvSpPr txBox="1"/>
          <p:nvPr/>
        </p:nvSpPr>
        <p:spPr>
          <a:xfrm>
            <a:off x="373824" y="668155"/>
            <a:ext cx="35991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¿Y AHORA</a:t>
            </a:r>
            <a:br>
              <a:rPr b="1" lang="es-ES" sz="3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lang="es-ES" sz="3600">
                <a:solidFill>
                  <a:srgbClr val="7150A0"/>
                </a:solidFill>
                <a:latin typeface="Calibri"/>
                <a:ea typeface="Calibri"/>
                <a:cs typeface="Calibri"/>
                <a:sym typeface="Calibri"/>
              </a:rPr>
              <a:t>QUÉ OPINAS...?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5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p41"/>
          <p:cNvSpPr txBox="1"/>
          <p:nvPr/>
        </p:nvSpPr>
        <p:spPr>
          <a:xfrm>
            <a:off x="2375452" y="1844784"/>
            <a:ext cx="4393096" cy="1421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3200">
                <a:solidFill>
                  <a:srgbClr val="7150A0"/>
                </a:solidFill>
                <a:latin typeface="Arial"/>
                <a:ea typeface="Arial"/>
                <a:cs typeface="Arial"/>
                <a:sym typeface="Arial"/>
              </a:rPr>
              <a:t>Comparte tus dudas 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Podemos resolverlo </a:t>
            </a:r>
            <a:r>
              <a:rPr b="1" lang="es-ES" sz="3200">
                <a:solidFill>
                  <a:srgbClr val="7150A0"/>
                </a:solidFill>
                <a:latin typeface="Arial"/>
                <a:ea typeface="Arial"/>
                <a:cs typeface="Arial"/>
                <a:sym typeface="Arial"/>
              </a:rPr>
              <a:t>juntos como equipo</a:t>
            </a:r>
            <a:endParaRPr/>
          </a:p>
        </p:txBody>
      </p:sp>
      <p:sp>
        <p:nvSpPr>
          <p:cNvPr id="657" name="Google Shape;657;p41"/>
          <p:cNvSpPr/>
          <p:nvPr/>
        </p:nvSpPr>
        <p:spPr>
          <a:xfrm>
            <a:off x="1854127" y="1951326"/>
            <a:ext cx="425980" cy="425980"/>
          </a:xfrm>
          <a:prstGeom prst="ellipse">
            <a:avLst/>
          </a:prstGeom>
          <a:solidFill>
            <a:srgbClr val="7150A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7150A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58" name="Google Shape;658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949472" y="2043160"/>
            <a:ext cx="235290" cy="2423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2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3" name="Google Shape;663;p42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654E97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664" name="Google Shape;664;p42"/>
          <p:cNvGrpSpPr/>
          <p:nvPr/>
        </p:nvGrpSpPr>
        <p:grpSpPr>
          <a:xfrm>
            <a:off x="2506315" y="2194222"/>
            <a:ext cx="4581728" cy="1326557"/>
            <a:chOff x="2403187" y="2211377"/>
            <a:chExt cx="4581728" cy="1326557"/>
          </a:xfrm>
        </p:grpSpPr>
        <p:sp>
          <p:nvSpPr>
            <p:cNvPr id="665" name="Google Shape;665;p42"/>
            <p:cNvSpPr txBox="1"/>
            <p:nvPr/>
          </p:nvSpPr>
          <p:spPr>
            <a:xfrm>
              <a:off x="2403187" y="2540738"/>
              <a:ext cx="4581728" cy="99719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-E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  <a:t>CONCLUSIONES</a:t>
              </a:r>
              <a:br>
                <a:rPr lang="es-ES" sz="3600">
                  <a:solidFill>
                    <a:schemeClr val="lt1"/>
                  </a:solidFill>
                  <a:latin typeface="Arial"/>
                  <a:ea typeface="Arial"/>
                  <a:cs typeface="Arial"/>
                  <a:sym typeface="Arial"/>
                </a:rPr>
              </a:br>
              <a:endParaRPr b="1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pic>
          <p:nvPicPr>
            <p:cNvPr id="666" name="Google Shape;666;p4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425491" y="2211377"/>
              <a:ext cx="202176" cy="208211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667" name="Google Shape;667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-1253" y="946969"/>
            <a:ext cx="2072214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2" name="Shape 6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3" name="Google Shape;673;p43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4" name="Google Shape;674;p43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5" name="Google Shape;675;p43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CONCLUSIONES </a:t>
            </a:r>
            <a:endParaRPr/>
          </a:p>
        </p:txBody>
      </p:sp>
      <p:grpSp>
        <p:nvGrpSpPr>
          <p:cNvPr id="676" name="Google Shape;676;p43"/>
          <p:cNvGrpSpPr/>
          <p:nvPr/>
        </p:nvGrpSpPr>
        <p:grpSpPr>
          <a:xfrm>
            <a:off x="1371503" y="1133951"/>
            <a:ext cx="6163153" cy="3016210"/>
            <a:chOff x="1371503" y="1018957"/>
            <a:chExt cx="6400993" cy="3016210"/>
          </a:xfrm>
        </p:grpSpPr>
        <p:grpSp>
          <p:nvGrpSpPr>
            <p:cNvPr id="677" name="Google Shape;677;p43"/>
            <p:cNvGrpSpPr/>
            <p:nvPr/>
          </p:nvGrpSpPr>
          <p:grpSpPr>
            <a:xfrm>
              <a:off x="1371503" y="1018957"/>
              <a:ext cx="6400993" cy="3016210"/>
              <a:chOff x="1011259" y="833479"/>
              <a:chExt cx="6617963" cy="3016210"/>
            </a:xfrm>
          </p:grpSpPr>
          <p:sp>
            <p:nvSpPr>
              <p:cNvPr id="678" name="Google Shape;678;p43"/>
              <p:cNvSpPr txBox="1"/>
              <p:nvPr/>
            </p:nvSpPr>
            <p:spPr>
              <a:xfrm>
                <a:off x="1353339" y="833479"/>
                <a:ext cx="6275883" cy="30162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t" bIns="0" lIns="0" spcFirstLastPara="1" rIns="0" wrap="square" tIns="0">
                <a:spAutoFit/>
              </a:bodyPr>
              <a:lstStyle/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La madurez arquitectónica no depende de herramientas, sino del nivel de institucionalización del gobierno y la disciplina organizacional.</a:t>
                </a:r>
                <a:endParaRPr/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Los modelos de madurez permiten objetivar la evaluación y transformar percepciones en diagnósticos estructurados.</a:t>
                </a:r>
                <a:endParaRPr/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Un diagnóstico riguroso revela brechas críticas que impactan directamente en riesgo, eficiencia y alineamiento estratégico.</a:t>
                </a:r>
                <a:endParaRPr/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El plan de mejora arquitectónica convierte el análisis en evolución progresiva, priorizada y medible.</a:t>
                </a:r>
                <a:endParaRPr/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  <a:p>
                <a:pPr indent="0" lvl="0" marL="0" marR="0" rtl="0" algn="just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s-ES" sz="1400">
                    <a:solidFill>
                      <a:schemeClr val="dk1"/>
                    </a:solidFill>
                    <a:latin typeface="Calibri"/>
                    <a:ea typeface="Calibri"/>
                    <a:cs typeface="Calibri"/>
                    <a:sym typeface="Calibri"/>
                  </a:rPr>
                  <a:t>Gobierno, diagnóstico y mejora continua consolidan la arquitectura empresarial como una capacidad estratégica sostenible.</a:t>
                </a:r>
                <a:endParaRPr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pic>
            <p:nvPicPr>
              <p:cNvPr id="679" name="Google Shape;679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1260" y="909941"/>
                <a:ext cx="114138" cy="1175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0" name="Google Shape;680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1259" y="1543145"/>
                <a:ext cx="114138" cy="1175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1" name="Google Shape;681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1259" y="2173734"/>
                <a:ext cx="114138" cy="117546"/>
              </a:xfrm>
              <a:prstGeom prst="rect">
                <a:avLst/>
              </a:prstGeom>
              <a:noFill/>
              <a:ln>
                <a:noFill/>
              </a:ln>
            </p:spPr>
          </p:pic>
          <p:pic>
            <p:nvPicPr>
              <p:cNvPr id="682" name="Google Shape;682;p43"/>
              <p:cNvPicPr preferRelativeResize="0"/>
              <p:nvPr/>
            </p:nvPicPr>
            <p:blipFill rotWithShape="1">
              <a:blip r:embed="rId3">
                <a:alphaModFix/>
              </a:blip>
              <a:srcRect b="0" l="0" r="0" t="0"/>
              <a:stretch/>
            </p:blipFill>
            <p:spPr>
              <a:xfrm>
                <a:off x="1011259" y="2810239"/>
                <a:ext cx="114138" cy="117546"/>
              </a:xfrm>
              <a:prstGeom prst="rect">
                <a:avLst/>
              </a:prstGeom>
              <a:noFill/>
              <a:ln>
                <a:noFill/>
              </a:ln>
            </p:spPr>
          </p:pic>
        </p:grpSp>
        <p:pic>
          <p:nvPicPr>
            <p:cNvPr id="683" name="Google Shape;683;p4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371503" y="3654256"/>
              <a:ext cx="113261" cy="11754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7" name="Shape 6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8" name="Google Shape;688;p44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DCB6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9" name="Google Shape;689;p44"/>
          <p:cNvSpPr txBox="1"/>
          <p:nvPr/>
        </p:nvSpPr>
        <p:spPr>
          <a:xfrm>
            <a:off x="2519363" y="2540738"/>
            <a:ext cx="4581728" cy="9971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BIBLIOGRAFÍA</a:t>
            </a:r>
            <a:br>
              <a:rPr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lang="es-ES"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MÁS REFERENCIAS</a:t>
            </a:r>
            <a:endParaRPr/>
          </a:p>
        </p:txBody>
      </p:sp>
      <p:pic>
        <p:nvPicPr>
          <p:cNvPr id="690" name="Google Shape;690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28619" y="2194222"/>
            <a:ext cx="202176" cy="208211"/>
          </a:xfrm>
          <a:prstGeom prst="rect">
            <a:avLst/>
          </a:prstGeom>
          <a:noFill/>
          <a:ln>
            <a:noFill/>
          </a:ln>
        </p:spPr>
      </p:pic>
      <p:pic>
        <p:nvPicPr>
          <p:cNvPr id="691" name="Google Shape;691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946970"/>
            <a:ext cx="2072061" cy="38980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5" name="Shape 6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" name="Google Shape;696;p45"/>
          <p:cNvSpPr/>
          <p:nvPr/>
        </p:nvSpPr>
        <p:spPr>
          <a:xfrm>
            <a:off x="301556" y="5321030"/>
            <a:ext cx="8453337" cy="29183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97" name="Google Shape;697;p45"/>
          <p:cNvSpPr/>
          <p:nvPr/>
        </p:nvSpPr>
        <p:spPr>
          <a:xfrm>
            <a:off x="8133347" y="163629"/>
            <a:ext cx="808522" cy="754744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8" name="Google Shape;698;p45"/>
          <p:cNvPicPr preferRelativeResize="0"/>
          <p:nvPr/>
        </p:nvPicPr>
        <p:blipFill rotWithShape="1">
          <a:blip r:embed="rId3">
            <a:alphaModFix amt="42000"/>
          </a:blip>
          <a:srcRect b="0" l="0" r="0" t="0"/>
          <a:stretch/>
        </p:blipFill>
        <p:spPr>
          <a:xfrm>
            <a:off x="7527507" y="3816088"/>
            <a:ext cx="1262300" cy="1640397"/>
          </a:xfrm>
          <a:prstGeom prst="rect">
            <a:avLst/>
          </a:prstGeom>
          <a:noFill/>
          <a:ln>
            <a:noFill/>
          </a:ln>
        </p:spPr>
      </p:pic>
      <p:sp>
        <p:nvSpPr>
          <p:cNvPr id="699" name="Google Shape;699;p45"/>
          <p:cNvSpPr/>
          <p:nvPr/>
        </p:nvSpPr>
        <p:spPr>
          <a:xfrm>
            <a:off x="503238" y="376836"/>
            <a:ext cx="2430462" cy="1384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-ES" sz="1000">
                <a:solidFill>
                  <a:srgbClr val="7F7F7F"/>
                </a:solidFill>
                <a:latin typeface="Calibri"/>
                <a:ea typeface="Calibri"/>
                <a:cs typeface="Calibri"/>
                <a:sym typeface="Calibri"/>
              </a:rPr>
              <a:t>+ </a:t>
            </a:r>
            <a:r>
              <a:rPr lang="es-ES" sz="1000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BIBLIOGRAFÍA</a:t>
            </a:r>
            <a:endParaRPr/>
          </a:p>
        </p:txBody>
      </p:sp>
      <p:grpSp>
        <p:nvGrpSpPr>
          <p:cNvPr id="700" name="Google Shape;700;p45"/>
          <p:cNvGrpSpPr/>
          <p:nvPr/>
        </p:nvGrpSpPr>
        <p:grpSpPr>
          <a:xfrm>
            <a:off x="1007632" y="917823"/>
            <a:ext cx="7151025" cy="3877985"/>
            <a:chOff x="1007632" y="917823"/>
            <a:chExt cx="7151025" cy="3877985"/>
          </a:xfrm>
        </p:grpSpPr>
        <p:sp>
          <p:nvSpPr>
            <p:cNvPr id="701" name="Google Shape;701;p45"/>
            <p:cNvSpPr txBox="1"/>
            <p:nvPr/>
          </p:nvSpPr>
          <p:spPr>
            <a:xfrm>
              <a:off x="1279009" y="917823"/>
              <a:ext cx="6879648" cy="387798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The Open Group. (2011). TOGAF® Version 9.1. The Open Group Standard.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Lankhorst, M. (Ed.). (2017). Enterprise Architecture at Work: Modelling, Communication and Analysis (4th ed.). Springer.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Profundiza en vistas, capas, modelado, análisis de impacto y comunicación arquitectónica.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 Management Group (OMG). (2014). Business Process Model and Notation (BPMN) Version 2.0.2.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Estándar para modelar procesos de negocio y flujos operativos.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Object Management Group (OMG). (2017). Unified Modeling Language (UML) Version 2.5.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Lenguaje para diseño lógico y técnico de soluciones de software.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ISO/IEC 42010. (2011). Systems and Software Engineering – Architecture Description.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Estándar para la descripción de arquitecturas, stakeholders, vistas y concerns.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Gartner. (varios autores). Enterprise Architecture Practice and Capability-Based Planning.</a:t>
              </a:r>
              <a:endParaRPr/>
            </a:p>
            <a:p>
              <a:pPr indent="0" lvl="0" marL="0" marR="0" rtl="0" algn="just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-ES" sz="14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Aporte práctico sobre capability maps, roadmaps arquitectónicos y priorización por valor.</a:t>
              </a:r>
              <a:endParaRPr/>
            </a:p>
          </p:txBody>
        </p:sp>
        <p:pic>
          <p:nvPicPr>
            <p:cNvPr id="702" name="Google Shape;702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8064" y="959114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3" name="Google Shape;703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8064" y="1414181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4" name="Google Shape;704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9422" y="2258546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5" name="Google Shape;705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7633" y="3102911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6" name="Google Shape;706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10564" y="3776711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707" name="Google Shape;707;p4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1007632" y="4397027"/>
              <a:ext cx="103867" cy="10696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6"/>
          <p:cNvSpPr/>
          <p:nvPr/>
        </p:nvSpPr>
        <p:spPr>
          <a:xfrm>
            <a:off x="0" y="0"/>
            <a:ext cx="9144000" cy="5715000"/>
          </a:xfrm>
          <a:prstGeom prst="rect">
            <a:avLst/>
          </a:prstGeom>
          <a:solidFill>
            <a:srgbClr val="80879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13" name="Google Shape;713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24199" y="2666298"/>
            <a:ext cx="1295601" cy="3868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1_Diseño predeterminado">
  <a:themeElements>
    <a:clrScheme name="Personalizados 4 ISIL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FDC212"/>
      </a:accent1>
      <a:accent2>
        <a:srgbClr val="EE4638"/>
      </a:accent2>
      <a:accent3>
        <a:srgbClr val="92C14E"/>
      </a:accent3>
      <a:accent4>
        <a:srgbClr val="FE7828"/>
      </a:accent4>
      <a:accent5>
        <a:srgbClr val="00B1C2"/>
      </a:accent5>
      <a:accent6>
        <a:srgbClr val="808799"/>
      </a:accent6>
      <a:hlink>
        <a:srgbClr val="7150A0"/>
      </a:hlink>
      <a:folHlink>
        <a:srgbClr val="00B1C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2006-06-01T21:36:52Z</dcterms:created>
  <dc:creator>Isil</dc:creator>
</cp:coreProperties>
</file>