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43" roundtripDataSignature="AMtx7mixBrAecuEzI2lZpTxfAlD0bZy8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43" Type="http://customschemas.google.com/relationships/presentationmetadata" Target="meta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Zachman es una </a:t>
            </a:r>
            <a:r>
              <a:rPr b="1" lang="es-ES"/>
              <a:t>taxonomía</a:t>
            </a:r>
            <a:r>
              <a:rPr lang="es-ES"/>
              <a:t>, no un método: sirve para </a:t>
            </a:r>
            <a:r>
              <a:rPr b="1" lang="es-ES"/>
              <a:t>ordenar artefactos</a:t>
            </a:r>
            <a:r>
              <a:rPr lang="es-ES"/>
              <a:t> y evitar vacíos.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La matriz se lee así: </a:t>
            </a:r>
            <a:r>
              <a:rPr b="1" lang="es-ES"/>
              <a:t>filas = perspectivas</a:t>
            </a:r>
            <a:r>
              <a:rPr lang="es-ES"/>
              <a:t> (de ejecutivo a implementación) y </a:t>
            </a:r>
            <a:r>
              <a:rPr b="1" lang="es-ES"/>
              <a:t>columnas = preguntas</a:t>
            </a:r>
            <a:r>
              <a:rPr lang="es-ES"/>
              <a:t> clave.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Columnas: </a:t>
            </a:r>
            <a:r>
              <a:rPr b="1" lang="es-ES"/>
              <a:t>Qué</a:t>
            </a:r>
            <a:r>
              <a:rPr lang="es-ES"/>
              <a:t> (datos/cosas), </a:t>
            </a:r>
            <a:r>
              <a:rPr b="1" lang="es-ES"/>
              <a:t>Cómo</a:t>
            </a:r>
            <a:r>
              <a:rPr lang="es-ES"/>
              <a:t> (procesos), </a:t>
            </a:r>
            <a:r>
              <a:rPr b="1" lang="es-ES"/>
              <a:t>Dónde</a:t>
            </a:r>
            <a:r>
              <a:rPr lang="es-ES"/>
              <a:t> (ubicación/red), </a:t>
            </a:r>
            <a:r>
              <a:rPr b="1" lang="es-ES"/>
              <a:t>Quién</a:t>
            </a:r>
            <a:r>
              <a:rPr lang="es-ES"/>
              <a:t> (roles), </a:t>
            </a:r>
            <a:r>
              <a:rPr b="1" lang="es-ES"/>
              <a:t>Cuándo</a:t>
            </a:r>
            <a:r>
              <a:rPr lang="es-ES"/>
              <a:t> (tiempo/eventos), </a:t>
            </a:r>
            <a:r>
              <a:rPr b="1" lang="es-ES"/>
              <a:t>Por qué</a:t>
            </a:r>
            <a:r>
              <a:rPr lang="es-ES"/>
              <a:t> (estrategia/motivación).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Idea central: cada celda representa “lo que debería existir”; si falta, hay riesgo de decisiones sin información.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Mini ejemplo rápido: para “afiliación”, menciono 1 elemento por columna (dato, proceso, canal, rol, SLA, KPI).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136" name="Google Shape;136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“Hoy vemos TOGAF como un marco práctico: cubre dominios clave y nos ayuda a tomar decisiones coherentes entre negocio y TI, con una lógica de construcción y gobierno.”</a:t>
            </a:r>
            <a:endParaRPr/>
          </a:p>
        </p:txBody>
      </p:sp>
      <p:sp>
        <p:nvSpPr>
          <p:cNvPr id="152" name="Google Shape;15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“Piensen en TOGAF como un sistema de trabajo: ADM define el ‘cómo’, el Continuum ordena el ‘qué puedo reutilizar’, y el Repositorio guarda la evidencia y asegura consistencia.”</a:t>
            </a:r>
            <a:endParaRPr/>
          </a:p>
        </p:txBody>
      </p:sp>
      <p:sp>
        <p:nvSpPr>
          <p:cNvPr id="161" name="Google Shape;161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“Piensen en TOGAF como un sistema de trabajo: ADM define el ‘cómo’, el Continuum ordena el ‘qué puedo reutilizar’, y el Repositorio guarda la evidencia y asegura consistencia.”</a:t>
            </a:r>
            <a:endParaRPr/>
          </a:p>
        </p:txBody>
      </p:sp>
      <p:sp>
        <p:nvSpPr>
          <p:cNvPr id="184" name="Google Shape;18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“Si ADM es el camino, Continuum es el mapa de reutilización y el Repositorio es la memoria institucional. Sin repositorio, la arquitectura se vuelve ‘presentación bonita’ y no gestión real.”</a:t>
            </a:r>
            <a:endParaRPr/>
          </a:p>
        </p:txBody>
      </p:sp>
      <p:sp>
        <p:nvSpPr>
          <p:cNvPr id="218" name="Google Shape;218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232" name="Google Shape;232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“Zachman no es un paso a paso: es una matriz 6x6 para clasificar artefactos.”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“Sirve para asegurar cobertura y consistencia: que todas las áreas hablen el mismo mapa.”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“Framework organiza; método ejecuta. Por eso Zachman suele complementarse con TOGAF.”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267" name="Google Shape;267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Qué (What): datos, cosas, inventario de información.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Cómo (How): procesos, funciones, transformación del negocio.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Dónde (Where): ubicaciones, red, flujos y conectividad.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Quién, Cuándo, Por qué: roles/responsabilidades, eventos/tiempo, reglas/estrategia y motivación.</a:t>
            </a:r>
            <a:endParaRPr/>
          </a:p>
        </p:txBody>
      </p:sp>
      <p:sp>
        <p:nvSpPr>
          <p:cNvPr id="284" name="Google Shape;28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“TOGAF te dice cómo caminar; Zachman revisa que el mapa esté completo antes de salir.”</a:t>
            </a:r>
            <a:endParaRPr/>
          </a:p>
        </p:txBody>
      </p:sp>
      <p:sp>
        <p:nvSpPr>
          <p:cNvPr id="315" name="Google Shape;315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TOGAF posiciona la AE como una práctica organizacional formal: método + contenido + repositorio + capacidad de gobierno.</a:t>
            </a:r>
            <a:endParaRPr/>
          </a:p>
        </p:txBody>
      </p:sp>
      <p:sp>
        <p:nvSpPr>
          <p:cNvPr id="324" name="Google Shape;324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/>
              <a:t>Comentario:</a:t>
            </a:r>
            <a:r>
              <a:rPr lang="es-ES"/>
              <a:t> “si ya existe un patrón de integración/API y un estándar de datos, un nuevo canal digital se implementa con menos fricción”.</a:t>
            </a:r>
            <a:endParaRPr/>
          </a:p>
        </p:txBody>
      </p:sp>
      <p:sp>
        <p:nvSpPr>
          <p:cNvPr id="370" name="Google Shape;37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39"/>
          <p:cNvSpPr txBox="1"/>
          <p:nvPr/>
        </p:nvSpPr>
        <p:spPr>
          <a:xfrm>
            <a:off x="876300" y="5343295"/>
            <a:ext cx="196239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  •  TEMA 02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39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3">
          <p15:clr>
            <a:srgbClr val="F26B43"/>
          </p15:clr>
        </p15:guide>
        <p15:guide id="2" pos="2880">
          <p15:clr>
            <a:srgbClr val="F26B43"/>
          </p15:clr>
        </p15:guide>
        <p15:guide id="3" pos="2993">
          <p15:clr>
            <a:srgbClr val="F26B43"/>
          </p15:clr>
        </p15:guide>
        <p15:guide id="4" pos="2767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575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31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11" Type="http://schemas.openxmlformats.org/officeDocument/2006/relationships/image" Target="../media/image5.png"/><Relationship Id="rId10" Type="http://schemas.openxmlformats.org/officeDocument/2006/relationships/image" Target="../media/image2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23.png"/><Relationship Id="rId7" Type="http://schemas.openxmlformats.org/officeDocument/2006/relationships/image" Target="../media/image1.pn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8.png"/><Relationship Id="rId5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3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Relationship Id="rId4" Type="http://schemas.openxmlformats.org/officeDocument/2006/relationships/image" Target="../media/image41.png"/><Relationship Id="rId5" Type="http://schemas.openxmlformats.org/officeDocument/2006/relationships/image" Target="../media/image2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jp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4.png"/><Relationship Id="rId4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4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Relationship Id="rId4" Type="http://schemas.openxmlformats.org/officeDocument/2006/relationships/image" Target="../media/image2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3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743325" y="2200"/>
            <a:ext cx="5400675" cy="5715000"/>
          </a:xfrm>
          <a:prstGeom prst="rect">
            <a:avLst/>
          </a:prstGeom>
          <a:solidFill>
            <a:srgbClr val="ACD14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endParaRPr/>
          </a:p>
        </p:txBody>
      </p:sp>
      <p:pic>
        <p:nvPicPr>
          <p:cNvPr id="25" name="Google Shape;25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7912730" y="3083101"/>
            <a:ext cx="330754" cy="210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7509203" y="1095185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1"/>
          <p:cNvPicPr preferRelativeResize="0"/>
          <p:nvPr/>
        </p:nvPicPr>
        <p:blipFill rotWithShape="1">
          <a:blip r:embed="rId5">
            <a:alphaModFix amt="35000"/>
          </a:blip>
          <a:srcRect b="0" l="0" r="0" t="0"/>
          <a:stretch/>
        </p:blipFill>
        <p:spPr>
          <a:xfrm>
            <a:off x="4487845" y="2266121"/>
            <a:ext cx="317533" cy="19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8111944" y="1223486"/>
            <a:ext cx="263080" cy="167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5576266" y="2378873"/>
            <a:ext cx="114521" cy="114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"/>
          <p:cNvPicPr preferRelativeResize="0"/>
          <p:nvPr/>
        </p:nvPicPr>
        <p:blipFill rotWithShape="1">
          <a:blip r:embed="rId3">
            <a:alphaModFix amt="35000"/>
          </a:blip>
          <a:srcRect b="0" l="0" r="0" t="0"/>
          <a:stretch/>
        </p:blipFill>
        <p:spPr>
          <a:xfrm flipH="1">
            <a:off x="5887997" y="1698053"/>
            <a:ext cx="272736" cy="173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"/>
          <p:cNvPicPr preferRelativeResize="0"/>
          <p:nvPr/>
        </p:nvPicPr>
        <p:blipFill rotWithShape="1">
          <a:blip r:embed="rId4">
            <a:alphaModFix amt="35000"/>
          </a:blip>
          <a:srcRect b="0" l="0" r="0" t="0"/>
          <a:stretch/>
        </p:blipFill>
        <p:spPr>
          <a:xfrm>
            <a:off x="8505456" y="2569985"/>
            <a:ext cx="76092" cy="76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6">
            <a:alphaModFix amt="35000"/>
          </a:blip>
          <a:srcRect b="0" l="0" r="0" t="0"/>
          <a:stretch/>
        </p:blipFill>
        <p:spPr>
          <a:xfrm>
            <a:off x="6200774" y="560161"/>
            <a:ext cx="635554" cy="6355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1"/>
          <p:cNvPicPr preferRelativeResize="0"/>
          <p:nvPr/>
        </p:nvPicPr>
        <p:blipFill rotWithShape="1">
          <a:blip r:embed="rId7">
            <a:alphaModFix amt="41000"/>
          </a:blip>
          <a:srcRect b="0" l="0" r="0" t="0"/>
          <a:stretch/>
        </p:blipFill>
        <p:spPr>
          <a:xfrm>
            <a:off x="7641486" y="1778879"/>
            <a:ext cx="660479" cy="735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"/>
          <p:cNvPicPr preferRelativeResize="0"/>
          <p:nvPr/>
        </p:nvPicPr>
        <p:blipFill rotWithShape="1">
          <a:blip r:embed="rId8">
            <a:alphaModFix amt="41000"/>
          </a:blip>
          <a:srcRect b="0" l="0" r="0" t="0"/>
          <a:stretch/>
        </p:blipFill>
        <p:spPr>
          <a:xfrm>
            <a:off x="5061550" y="1439333"/>
            <a:ext cx="400659" cy="560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"/>
          <p:cNvPicPr preferRelativeResize="0"/>
          <p:nvPr/>
        </p:nvPicPr>
        <p:blipFill rotWithShape="1">
          <a:blip r:embed="rId9">
            <a:alphaModFix amt="41000"/>
          </a:blip>
          <a:srcRect b="0" l="0" r="0" t="0"/>
          <a:stretch/>
        </p:blipFill>
        <p:spPr>
          <a:xfrm>
            <a:off x="4790427" y="2946166"/>
            <a:ext cx="541333" cy="45111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/>
          <p:nvPr/>
        </p:nvSpPr>
        <p:spPr>
          <a:xfrm>
            <a:off x="562452" y="2096096"/>
            <a:ext cx="2978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</a:rPr>
              <a:t>MARCOS</a:t>
            </a: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ES" sz="2800">
                <a:solidFill>
                  <a:schemeClr val="dk1"/>
                </a:solidFill>
              </a:rPr>
              <a:t>D</a:t>
            </a: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1"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REFERENCIA</a:t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41629" y="3350387"/>
            <a:ext cx="2833384" cy="1314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Visión general de los marcos de referencia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general TOGAF (The Open Group Architecture Framework)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 matricial Zachman Framework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CD144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Comparativa y selección de marcos según contexto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752192" y="1605906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ACD144"/>
                </a:solidFill>
                <a:latin typeface="Calibri"/>
                <a:ea typeface="Calibri"/>
                <a:cs typeface="Calibri"/>
                <a:sym typeface="Calibri"/>
              </a:rPr>
              <a:t>TEMA 02</a:t>
            </a:r>
            <a:endParaRPr/>
          </a:p>
        </p:txBody>
      </p:sp>
      <p:pic>
        <p:nvPicPr>
          <p:cNvPr id="39" name="Google Shape;3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855457" y="809726"/>
            <a:ext cx="4820231" cy="4820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15754" y="1669931"/>
            <a:ext cx="166865" cy="170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49" name="Google Shape;49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6986661" y="3052731"/>
            <a:ext cx="1689027" cy="2181257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grpSp>
        <p:nvGrpSpPr>
          <p:cNvPr id="61" name="Google Shape;61;p3"/>
          <p:cNvGrpSpPr/>
          <p:nvPr/>
        </p:nvGrpSpPr>
        <p:grpSpPr>
          <a:xfrm>
            <a:off x="1081708" y="1046442"/>
            <a:ext cx="6324932" cy="3231654"/>
            <a:chOff x="1017700" y="864134"/>
            <a:chExt cx="6324932" cy="3231654"/>
          </a:xfrm>
        </p:grpSpPr>
        <p:sp>
          <p:nvSpPr>
            <p:cNvPr id="62" name="Google Shape;62;p3"/>
            <p:cNvSpPr txBox="1"/>
            <p:nvPr/>
          </p:nvSpPr>
          <p:spPr>
            <a:xfrm>
              <a:off x="1288550" y="864134"/>
              <a:ext cx="6054082" cy="3231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framework de AE provee lenguaje común, estructura, roles y artefactos, reduciendo ambigüedad y asegurando consistencia en cómo se diseña y documenta la arquitectura.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todas las organizaciones tienen el mismo nivel de madurez, regulación, complejidad o urgencia. Por eso, los marcos difieren en enfoque: algunos priorizan método de implementación, otros clasificación y cobertura.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TOGAF destaca por su método (ADM) para construir arquitectura objetivo y gestionar la transición. Zachman destaca por su estructura matricial para ordenar y validar que la descripción de la empresa esté completa.</a:t>
              </a:r>
              <a:endParaRPr/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1270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Revisaremos una visión general de frameworks, la estructura de TOGAF y Zachman, y cerraremos con una comparativa práctica para orientar la selección del marco según el contexto organizacional.</a:t>
              </a:r>
              <a:endParaRPr sz="14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3" name="Google Shape;6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6301" y="912101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7700" y="1756096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36301" y="2631943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44575" y="3475939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1008062" y="3169972"/>
            <a:ext cx="3938512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VISIÓN GENERAL DE LOS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MARCOS DE REFERENCIA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503238" y="741769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VISIÓN GENERAL: </a:t>
            </a:r>
            <a:r>
              <a:rPr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¿PARA QUÉ SIRVEN LOS MARCOS DE REFERENCIA?</a:t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503238" y="1210646"/>
            <a:ext cx="407405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organizaciones son “colosos” complejos: procesos, sistemas y datos pueden volverse inmanejables si no se estructuran. 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marco ayuda a descomponer la empresa para describir y manejar procesos de forma rigurosa y ordenada. 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Permiten un lenguaje común: componentes + relaciones + ambiente, con principios que gobiernan el diseño y evolución. 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 práctico: menos duplicidad, menos riesgo y decisiones más coherentes al transformar.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reating a Gantt Chart: All basics and Stackfield tips" id="83" name="Google Shape;83;p5"/>
          <p:cNvPicPr preferRelativeResize="0"/>
          <p:nvPr/>
        </p:nvPicPr>
        <p:blipFill rotWithShape="1">
          <a:blip r:embed="rId3">
            <a:alphaModFix/>
          </a:blip>
          <a:srcRect b="11210" l="15118" r="14657" t="10157"/>
          <a:stretch/>
        </p:blipFill>
        <p:spPr>
          <a:xfrm>
            <a:off x="4892039" y="1577340"/>
            <a:ext cx="3845621" cy="256032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/>
        </p:nvSpPr>
        <p:spPr>
          <a:xfrm>
            <a:off x="503238" y="829905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¿QUÉ ES UN FRAMEWORK DE AE?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4262536" y="1426339"/>
            <a:ext cx="4140800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</a:t>
            </a: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“kit de herramientas” </a:t>
            </a: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desarrollar múltiples arquitecturas. </a:t>
            </a:r>
            <a:endParaRPr/>
          </a:p>
          <a:p>
            <a:pPr indent="-19050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 incluir método para diseñar sistemas en bloques de construcción y hacer visible cómo se relacionan. </a:t>
            </a:r>
            <a:endParaRPr/>
          </a:p>
          <a:p>
            <a:pPr indent="-19050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 incluir una lista de estándares a usar en la construcción de esos bloques. </a:t>
            </a:r>
            <a:endParaRPr/>
          </a:p>
          <a:p>
            <a:pPr indent="-19050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síntesis: método + bloques + estándares = consistencia y reutilización (no “inventar de cero” cada solución).</a:t>
            </a:r>
            <a:endParaRPr/>
          </a:p>
          <a:p>
            <a:pPr indent="-85725" lvl="0" marL="180975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é es Lego Serious Play y cómo funciona en una empresa? • ENTER.CO"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909" y="1210645"/>
            <a:ext cx="3816429" cy="2862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/>
        </p:nvSpPr>
        <p:spPr>
          <a:xfrm>
            <a:off x="503238" y="929058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ENFOQUE 1: TOGAF 9.1 (MÉTODO PARA CONSTRUIR ARQUITECTURA)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03237" y="1906623"/>
            <a:ext cx="2257841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b="1" lang="es-ES" sz="1600">
                <a:solidFill>
                  <a:srgbClr val="8087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TOGAF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3235" y="3152401"/>
            <a:ext cx="2087562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Aplicación práctica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087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2590800" y="2638392"/>
            <a:ext cx="302843" cy="1286920"/>
          </a:xfrm>
          <a:prstGeom prst="leftBrace">
            <a:avLst>
              <a:gd fmla="val 338" name="adj1"/>
              <a:gd fmla="val 50283" name="adj2"/>
            </a:avLst>
          </a:prstGeom>
          <a:noFill/>
          <a:ln cap="flat" cmpd="sng" w="19050">
            <a:solidFill>
              <a:srgbClr val="8087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2893643" y="3592080"/>
            <a:ext cx="1838973" cy="501005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produce:</a:t>
            </a:r>
            <a:r>
              <a:rPr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Entregables y decisiones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865180" y="3592080"/>
            <a:ext cx="1838973" cy="501005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produce: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Soluciones estandarizadas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836714" y="3592080"/>
            <a:ext cx="1838973" cy="501005"/>
          </a:xfrm>
          <a:prstGeom prst="roundRect">
            <a:avLst>
              <a:gd fmla="val 2300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produce: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Trazabilidad y control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2893643" y="2984953"/>
            <a:ext cx="1838973" cy="501005"/>
          </a:xfrm>
          <a:prstGeom prst="roundRect">
            <a:avLst>
              <a:gd fmla="val 2768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Para qué sirve:</a:t>
            </a:r>
            <a:r>
              <a:rPr lang="es-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Construir As-Is → To-Be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865180" y="2984953"/>
            <a:ext cx="1838973" cy="501005"/>
          </a:xfrm>
          <a:prstGeom prst="roundRect">
            <a:avLst>
              <a:gd fmla="val 23245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qué sirve: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Reusar patrones/activos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836714" y="2984953"/>
            <a:ext cx="1838973" cy="501005"/>
          </a:xfrm>
          <a:prstGeom prst="roundRect">
            <a:avLst>
              <a:gd fmla="val 2222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Para qué sirve: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Alinear y gobernar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2893643" y="2377826"/>
            <a:ext cx="1838973" cy="501005"/>
          </a:xfrm>
          <a:prstGeom prst="roundRect">
            <a:avLst>
              <a:gd fmla="val 24513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Qué es:</a:t>
            </a: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Método iterativo (ciclo)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4865180" y="2377826"/>
            <a:ext cx="1838973" cy="501005"/>
          </a:xfrm>
          <a:prstGeom prst="roundRect">
            <a:avLst>
              <a:gd fmla="val 23879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es: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genérico a específico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836714" y="2377826"/>
            <a:ext cx="1838973" cy="501005"/>
          </a:xfrm>
          <a:prstGeom prst="roundRect">
            <a:avLst>
              <a:gd fmla="val 24561" name="adj"/>
            </a:avLst>
          </a:prstGeom>
          <a:solidFill>
            <a:srgbClr val="714F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Qué es:</a:t>
            </a:r>
            <a:r>
              <a:rPr lang="es-ES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Biblioteca de artefactos</a:t>
            </a: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2893643" y="1779232"/>
            <a:ext cx="1838973" cy="501005"/>
          </a:xfrm>
          <a:prstGeom prst="roundRect">
            <a:avLst>
              <a:gd fmla="val 24513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865180" y="1779232"/>
            <a:ext cx="1838973" cy="501005"/>
          </a:xfrm>
          <a:prstGeom prst="roundRect">
            <a:avLst>
              <a:gd fmla="val 23879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ENTERPRISE CONTINUUM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836714" y="1779232"/>
            <a:ext cx="1838973" cy="501005"/>
          </a:xfrm>
          <a:prstGeom prst="roundRect">
            <a:avLst>
              <a:gd fmla="val 23001" name="adj"/>
            </a:avLst>
          </a:prstGeom>
          <a:solidFill>
            <a:srgbClr val="FE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REPOSITORIO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503238" y="741769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ENFOQUE 2: ZACHMAN (TAXONOMÍA) EN 1 IDEA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348904" y="1210645"/>
            <a:ext cx="4579712" cy="329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es: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marco de clasificación (no un método) para ordenar los artefactos de arquitectura empresarial: modelos, documentos, especificaciones y descripciones.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qué sirve: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Asegurar que la organización esté descrita sin vacíos, evitando “zonas ciegas” entre negocio y TI (lo que se define, lo que se diseña y lo que se construye).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garantiza: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completa mediante 36 celdas que obligan a responder “qué falta” para tener una visión integral.</a:t>
            </a:r>
            <a:endParaRPr/>
          </a:p>
        </p:txBody>
      </p:sp>
      <p:pic>
        <p:nvPicPr>
          <p:cNvPr id="123" name="Google Shape;12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8911" y="1014849"/>
            <a:ext cx="3484745" cy="3484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503238" y="851016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ENFOQUE 2: COMO SE ESTRUCTURA EL 6X6</a:t>
            </a:r>
            <a:endParaRPr sz="16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 txBox="1"/>
          <p:nvPr/>
        </p:nvSpPr>
        <p:spPr>
          <a:xfrm>
            <a:off x="348904" y="1418836"/>
            <a:ext cx="3180680" cy="26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Filas = perspectivas (desde la visión ejecutiva hasta la implementación): planeación, propietario, diseñador, constructor, etc.</a:t>
            </a:r>
            <a:endParaRPr/>
          </a:p>
          <a:p>
            <a:pPr indent="-8572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500"/>
              <a:buFont typeface="Arial"/>
              <a:buChar char="•"/>
            </a:pPr>
            <a:r>
              <a:rPr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Columnas = preguntas clave: Qué (datos/cosas), Cómo (procesos), Dónde (ubicación/red), Quién (personas/roles), Cuándo (tiempo/eventos), Por qué (motivación/estrategia).</a:t>
            </a:r>
            <a:endParaRPr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0832" y="1640861"/>
            <a:ext cx="5224264" cy="2187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/>
        </p:nvSpPr>
        <p:spPr>
          <a:xfrm>
            <a:off x="565760" y="741894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139" name="Google Shape;139;p10"/>
          <p:cNvSpPr txBox="1"/>
          <p:nvPr/>
        </p:nvSpPr>
        <p:spPr>
          <a:xfrm>
            <a:off x="845572" y="1187454"/>
            <a:ext cx="721804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marcos de referencia de AE existen para ordenar la complejidad (procesos, datos, aplicaciones y tecnología), reducir duplicidad, inconsistencias y riesgos.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framework es un “kit” práctico: aporta lenguaje común, bloques de construcción, estándares y, según el caso, método para diseñar y evolucionar la arquitectura.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9.1 se enfoca en cómo construir arquitectura (ADM + repositorio + continuum) con gobernanza y trazabilidad.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se enfoca en cómo clasificar y asegurar cobertura (matriz 6x6) para no dejar vacíos en modelos y entregables.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la práctica, se complementan: TOGAF guía el camino de transformación y Zachman ayuda a verificar que el mapa esté completo.</a:t>
            </a:r>
            <a:endParaRPr/>
          </a:p>
        </p:txBody>
      </p:sp>
      <p:sp>
        <p:nvSpPr>
          <p:cNvPr id="140" name="Google Shape;140;p10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 txBox="1"/>
          <p:nvPr/>
        </p:nvSpPr>
        <p:spPr>
          <a:xfrm>
            <a:off x="1008061" y="3169972"/>
            <a:ext cx="5062233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 GENERAL TOGAF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(THE OPEN GROUP ARCHITECTURE FRAMEWORK)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/>
        </p:nvSpPr>
        <p:spPr>
          <a:xfrm>
            <a:off x="503238" y="1133950"/>
            <a:ext cx="4213670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es un marco de referencia para desarrollar y gobernar Arquitectura Empresarial de forma consistente.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Trabaja sobre 4 dominios: negocio, datos, aplicaciones y tecnología.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Enfoca la organización como un sistema: conecta estrategia, capacidades, procesos y tecnología.</a:t>
            </a:r>
            <a:endParaRPr/>
          </a:p>
          <a:p>
            <a:pPr indent="-793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“impone” un único tipo de modelo, pero ordena el proceso para construir arquitectura de manera controlada.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503238" y="446717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GENERAL TOGAF (THE OPEN GROUP ARCHITECTURE FRAMEWORK)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OGAF® Standard, 10th Edition - iPMOGuide" id="156" name="Google Shape;156;p12"/>
          <p:cNvPicPr preferRelativeResize="0"/>
          <p:nvPr/>
        </p:nvPicPr>
        <p:blipFill rotWithShape="1">
          <a:blip r:embed="rId3">
            <a:alphaModFix/>
          </a:blip>
          <a:srcRect b="24355" l="22600" r="27799" t="17577"/>
          <a:stretch/>
        </p:blipFill>
        <p:spPr>
          <a:xfrm>
            <a:off x="5115539" y="928116"/>
            <a:ext cx="3680671" cy="16413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ablemos de TOGAF" id="157" name="Google Shape;1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3760" y="2912364"/>
            <a:ext cx="1824228" cy="1824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/>
          <p:nvPr/>
        </p:nvSpPr>
        <p:spPr>
          <a:xfrm>
            <a:off x="503238" y="863603"/>
            <a:ext cx="72783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rPr>
              <a:t>LOS 3 COMPONENTES QUE LO SOSTIENEN</a:t>
            </a:r>
            <a:endParaRPr b="1" sz="1600">
              <a:solidFill>
                <a:srgbClr val="11B7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13"/>
          <p:cNvGrpSpPr/>
          <p:nvPr/>
        </p:nvGrpSpPr>
        <p:grpSpPr>
          <a:xfrm>
            <a:off x="524998" y="1019840"/>
            <a:ext cx="7812699" cy="4231152"/>
            <a:chOff x="21760" y="48773"/>
            <a:chExt cx="7812699" cy="4231152"/>
          </a:xfrm>
        </p:grpSpPr>
        <p:sp>
          <p:nvSpPr>
            <p:cNvPr id="165" name="Google Shape;165;p13"/>
            <p:cNvSpPr/>
            <p:nvPr/>
          </p:nvSpPr>
          <p:spPr>
            <a:xfrm>
              <a:off x="5447051" y="539143"/>
              <a:ext cx="2387408" cy="2387849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5526321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3"/>
            <p:cNvSpPr txBox="1"/>
            <p:nvPr/>
          </p:nvSpPr>
          <p:spPr>
            <a:xfrm>
              <a:off x="5844953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2100"/>
                <a:buFont typeface="Calibri"/>
                <a:buNone/>
              </a:pPr>
              <a:r>
                <a:rPr b="1" lang="es-ES" sz="21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Repositorio de Arquitectura: 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552632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3"/>
            <p:cNvSpPr txBox="1"/>
            <p:nvPr/>
          </p:nvSpPr>
          <p:spPr>
            <a:xfrm>
              <a:off x="552632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Almacén gobernado de artefactos para alinear stakeholders y mantener trazabilidad.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3"/>
            <p:cNvSpPr/>
            <p:nvPr/>
          </p:nvSpPr>
          <p:spPr>
            <a:xfrm rot="2700000">
              <a:off x="2982472" y="542030"/>
              <a:ext cx="2381657" cy="2381657"/>
            </a:xfrm>
            <a:prstGeom prst="teardrop">
              <a:avLst>
                <a:gd fmla="val 100000" name="adj"/>
              </a:avLst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3"/>
            <p:cNvSpPr/>
            <p:nvPr/>
          </p:nvSpPr>
          <p:spPr>
            <a:xfrm>
              <a:off x="3058866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3"/>
            <p:cNvSpPr txBox="1"/>
            <p:nvPr/>
          </p:nvSpPr>
          <p:spPr>
            <a:xfrm>
              <a:off x="3377498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2100"/>
                <a:buFont typeface="Calibri"/>
                <a:buNone/>
              </a:pPr>
              <a:r>
                <a:rPr b="1" lang="es-ES" sz="21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Enterprise Continuum: 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3"/>
            <p:cNvSpPr/>
            <p:nvPr/>
          </p:nvSpPr>
          <p:spPr>
            <a:xfrm>
              <a:off x="3058866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3"/>
            <p:cNvSpPr txBox="1"/>
            <p:nvPr/>
          </p:nvSpPr>
          <p:spPr>
            <a:xfrm>
              <a:off x="3058866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Guía para clasificar y reutilizar activos (de lo genérico a lo específico).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3"/>
            <p:cNvSpPr/>
            <p:nvPr/>
          </p:nvSpPr>
          <p:spPr>
            <a:xfrm rot="2700000">
              <a:off x="515017" y="542030"/>
              <a:ext cx="2381657" cy="2381657"/>
            </a:xfrm>
            <a:prstGeom prst="teardrop">
              <a:avLst>
                <a:gd fmla="val 100000" name="adj"/>
              </a:avLst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>
              <a:off x="591411" y="618752"/>
              <a:ext cx="2228869" cy="2228631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cap="flat" cmpd="sng" w="38100">
              <a:solidFill>
                <a:srgbClr val="FDC21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3"/>
            <p:cNvSpPr txBox="1"/>
            <p:nvPr/>
          </p:nvSpPr>
          <p:spPr>
            <a:xfrm>
              <a:off x="910043" y="937188"/>
              <a:ext cx="1591605" cy="1591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6650" lIns="26650" spcFirstLastPara="1" rIns="26650" wrap="square" tIns="266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1B7C8"/>
                </a:buClr>
                <a:buSzPts val="2100"/>
                <a:buFont typeface="Calibri"/>
                <a:buNone/>
              </a:pPr>
              <a:r>
                <a:rPr b="1" lang="es-ES" sz="21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ADM (Architecture Development Method): </a:t>
              </a:r>
              <a:endParaRPr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59141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3"/>
            <p:cNvSpPr txBox="1"/>
            <p:nvPr/>
          </p:nvSpPr>
          <p:spPr>
            <a:xfrm>
              <a:off x="591411" y="2970987"/>
              <a:ext cx="2228869" cy="1308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950" lIns="60950" spcFirstLastPara="1" rIns="60950" wrap="square" tIns="60950">
              <a:noAutofit/>
            </a:bodyPr>
            <a:lstStyle/>
            <a:p>
              <a:pPr indent="-171450" lvl="1" marL="17145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Char char="•"/>
              </a:pPr>
              <a:r>
                <a:rPr b="0" i="0" lang="es-E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método central, repetible e iterativo para construir arquitectura.</a:t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" name="Google Shape;180;p13"/>
          <p:cNvSpPr/>
          <p:nvPr/>
        </p:nvSpPr>
        <p:spPr>
          <a:xfrm>
            <a:off x="503238" y="446717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GENERAL TOGAF (THE OPEN GROUP ARCHITECTURE FRAMEWORK)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"/>
          <p:cNvSpPr txBox="1"/>
          <p:nvPr/>
        </p:nvSpPr>
        <p:spPr>
          <a:xfrm>
            <a:off x="503238" y="776310"/>
            <a:ext cx="727830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rPr>
              <a:t>ADM: EL NÚCLEO OPERATIVO </a:t>
            </a:r>
            <a:endParaRPr b="1" sz="1600">
              <a:solidFill>
                <a:srgbClr val="11B7C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0852" y="620486"/>
            <a:ext cx="3343694" cy="447450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 txBox="1"/>
          <p:nvPr/>
        </p:nvSpPr>
        <p:spPr>
          <a:xfrm>
            <a:off x="1299990" y="1305221"/>
            <a:ext cx="3839572" cy="3570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Preliminar: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preparar la capacidad de arquitectura (principios, alcance, gobierno).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visión de arquitectura (qué se busca y por qué).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B-C-D: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negocio, sistemas de información (datos/aplicaciones) y tecnología.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E-F: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oportunidades/soluciones y planeamiento de migración (ruta To-Be).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G-H: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gobernanza de implementación y gestión del cambio.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de requerimientos: </a:t>
            </a: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atraviesa todo el ciclo</a:t>
            </a:r>
            <a:r>
              <a:rPr lang="es-ES" sz="16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503238" y="446717"/>
            <a:ext cx="5294058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ESTRUCTURA</a:t>
            </a: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GENERAL TOGAF (THE OPEN GROUP ARCHITECTURE FRAMEWORK)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526251" y="127610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14"/>
          <p:cNvCxnSpPr/>
          <p:nvPr/>
        </p:nvCxnSpPr>
        <p:spPr>
          <a:xfrm>
            <a:off x="1082276" y="1402019"/>
            <a:ext cx="0" cy="3083622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14"/>
          <p:cNvSpPr/>
          <p:nvPr/>
        </p:nvSpPr>
        <p:spPr>
          <a:xfrm>
            <a:off x="526251" y="188748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526251" y="236590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" name="Google Shape;194;p14"/>
          <p:cNvGrpSpPr/>
          <p:nvPr/>
        </p:nvGrpSpPr>
        <p:grpSpPr>
          <a:xfrm>
            <a:off x="1011880" y="1380142"/>
            <a:ext cx="140792" cy="140258"/>
            <a:chOff x="3427964" y="2244682"/>
            <a:chExt cx="225891" cy="225034"/>
          </a:xfrm>
        </p:grpSpPr>
        <p:sp>
          <p:nvSpPr>
            <p:cNvPr id="195" name="Google Shape;195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14"/>
          <p:cNvSpPr/>
          <p:nvPr/>
        </p:nvSpPr>
        <p:spPr>
          <a:xfrm>
            <a:off x="528578" y="2982598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523076" y="363547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p14"/>
          <p:cNvGrpSpPr/>
          <p:nvPr/>
        </p:nvGrpSpPr>
        <p:grpSpPr>
          <a:xfrm>
            <a:off x="1011880" y="2016857"/>
            <a:ext cx="140792" cy="140258"/>
            <a:chOff x="3427964" y="2244682"/>
            <a:chExt cx="225891" cy="225034"/>
          </a:xfrm>
        </p:grpSpPr>
        <p:sp>
          <p:nvSpPr>
            <p:cNvPr id="200" name="Google Shape;200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4"/>
          <p:cNvGrpSpPr/>
          <p:nvPr/>
        </p:nvGrpSpPr>
        <p:grpSpPr>
          <a:xfrm>
            <a:off x="1011880" y="2456648"/>
            <a:ext cx="140792" cy="140258"/>
            <a:chOff x="3427964" y="2244682"/>
            <a:chExt cx="225891" cy="225034"/>
          </a:xfrm>
        </p:grpSpPr>
        <p:sp>
          <p:nvSpPr>
            <p:cNvPr id="203" name="Google Shape;203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14"/>
          <p:cNvGrpSpPr/>
          <p:nvPr/>
        </p:nvGrpSpPr>
        <p:grpSpPr>
          <a:xfrm>
            <a:off x="1011880" y="3086062"/>
            <a:ext cx="140792" cy="140258"/>
            <a:chOff x="3427964" y="2244682"/>
            <a:chExt cx="225891" cy="225034"/>
          </a:xfrm>
        </p:grpSpPr>
        <p:sp>
          <p:nvSpPr>
            <p:cNvPr id="206" name="Google Shape;206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4"/>
          <p:cNvGrpSpPr/>
          <p:nvPr/>
        </p:nvGrpSpPr>
        <p:grpSpPr>
          <a:xfrm>
            <a:off x="1011880" y="3737309"/>
            <a:ext cx="140792" cy="140258"/>
            <a:chOff x="3427964" y="2244682"/>
            <a:chExt cx="225891" cy="225034"/>
          </a:xfrm>
        </p:grpSpPr>
        <p:sp>
          <p:nvSpPr>
            <p:cNvPr id="209" name="Google Shape;209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1" name="Google Shape;211;p14"/>
          <p:cNvSpPr/>
          <p:nvPr/>
        </p:nvSpPr>
        <p:spPr>
          <a:xfrm>
            <a:off x="524644" y="4278067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2" name="Google Shape;212;p14"/>
          <p:cNvGrpSpPr/>
          <p:nvPr/>
        </p:nvGrpSpPr>
        <p:grpSpPr>
          <a:xfrm>
            <a:off x="1013448" y="4379904"/>
            <a:ext cx="140792" cy="140258"/>
            <a:chOff x="3427964" y="2244682"/>
            <a:chExt cx="225891" cy="225034"/>
          </a:xfrm>
        </p:grpSpPr>
        <p:sp>
          <p:nvSpPr>
            <p:cNvPr id="213" name="Google Shape;213;p14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"/>
          <p:cNvSpPr/>
          <p:nvPr/>
        </p:nvSpPr>
        <p:spPr>
          <a:xfrm>
            <a:off x="506796" y="413673"/>
            <a:ext cx="3255962" cy="40523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PROPÓSITO DE LA ARQUITECTURA EMPRESARIAL (AE)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506796" y="1087779"/>
            <a:ext cx="78051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rPr>
              <a:t>ENTERPRISE CONTINUUM + REPOSITORIO:</a:t>
            </a:r>
            <a:endParaRPr/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Enterprise Continuum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explica cómo una solución parte genérica se especializa hasta ser propia de la organización.</a:t>
            </a:r>
            <a:endParaRPr/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reutilizar patrones y acelerar diseño sin “reinventar la rueda”.</a:t>
            </a:r>
            <a:endParaRPr/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Repositorio guarda outputs del ADM a distintos niveles de abstracción (modelos, estándares, decisiones).</a:t>
            </a:r>
            <a:endParaRPr/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57188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Funciona como “punto común” para que negocio, tecnología y gobierno hablen el mismo idioma.</a:t>
            </a:r>
            <a:endParaRPr/>
          </a:p>
        </p:txBody>
      </p:sp>
      <p:cxnSp>
        <p:nvCxnSpPr>
          <p:cNvPr id="222" name="Google Shape;222;p15"/>
          <p:cNvCxnSpPr/>
          <p:nvPr/>
        </p:nvCxnSpPr>
        <p:spPr>
          <a:xfrm>
            <a:off x="722046" y="1890040"/>
            <a:ext cx="0" cy="474788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15"/>
          <p:cNvSpPr/>
          <p:nvPr/>
        </p:nvSpPr>
        <p:spPr>
          <a:xfrm>
            <a:off x="645704" y="169694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4" name="Google Shape;224;p15"/>
          <p:cNvCxnSpPr/>
          <p:nvPr/>
        </p:nvCxnSpPr>
        <p:spPr>
          <a:xfrm>
            <a:off x="722046" y="2591056"/>
            <a:ext cx="0" cy="266444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5" name="Google Shape;225;p15"/>
          <p:cNvSpPr/>
          <p:nvPr/>
        </p:nvSpPr>
        <p:spPr>
          <a:xfrm>
            <a:off x="645704" y="240830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645704" y="291509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7" name="Google Shape;227;p15"/>
          <p:cNvCxnSpPr/>
          <p:nvPr/>
        </p:nvCxnSpPr>
        <p:spPr>
          <a:xfrm>
            <a:off x="727303" y="3093471"/>
            <a:ext cx="0" cy="474788"/>
          </a:xfrm>
          <a:prstGeom prst="straightConnector1">
            <a:avLst/>
          </a:prstGeom>
          <a:noFill/>
          <a:ln cap="flat" cmpd="sng" w="12700">
            <a:solidFill>
              <a:srgbClr val="11B7C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15"/>
          <p:cNvSpPr/>
          <p:nvPr/>
        </p:nvSpPr>
        <p:spPr>
          <a:xfrm>
            <a:off x="650961" y="361173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11B7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6"/>
          <p:cNvSpPr txBox="1"/>
          <p:nvPr/>
        </p:nvSpPr>
        <p:spPr>
          <a:xfrm>
            <a:off x="565760" y="741894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1041471" y="1319332"/>
            <a:ext cx="6826244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9.1 presenta una estructura completa y reutilizable para desarrollar Arquitectura Empresarial, no solo como documentación, sino como disciplina de gestión.</a:t>
            </a:r>
            <a:endParaRPr/>
          </a:p>
          <a:p>
            <a:pPr indent="-1968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 núcleo es el ADM, un método iterativo y repetible que guía la evolución As-Is → To-Be, manteniendo control, gobernanza y trazabilidad de decisiones.</a:t>
            </a:r>
            <a:endParaRPr/>
          </a:p>
          <a:p>
            <a:pPr indent="-1968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se organiza por dominios (negocio, datos, aplicaciones y tecnología), lo que permite diseñar la empresa de manera integral y evitar soluciones aisladas por área.</a:t>
            </a:r>
            <a:endParaRPr/>
          </a:p>
          <a:p>
            <a:pPr indent="-1968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Enterprise Continuum ayuda a clasificar y reutilizar activos (de lo genérico a lo específico), acelerando soluciones y reduciendo reinvención.</a:t>
            </a:r>
            <a:endParaRPr/>
          </a:p>
          <a:p>
            <a:pPr indent="-1968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Repositorio de Arquitectura centraliza artefactos, estándares y entregables, facilitando alineamiento entre stakeholders, consistencia y versionado a distintos niveles de abstracción.</a:t>
            </a:r>
            <a:endParaRPr/>
          </a:p>
        </p:txBody>
      </p:sp>
      <p:sp>
        <p:nvSpPr>
          <p:cNvPr id="236" name="Google Shape;236;p1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VISIÓN GENERAL DE LOS MARCOS DE REFERENCIA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6"/>
          <p:cNvSpPr txBox="1"/>
          <p:nvPr/>
        </p:nvSpPr>
        <p:spPr>
          <a:xfrm>
            <a:off x="7404654" y="410677"/>
            <a:ext cx="9261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7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1008062" y="3169972"/>
            <a:ext cx="4278642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ESTRUCTURA MATRICIAL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ZACHMAN FRAMEWORK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8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396206" y="1155557"/>
            <a:ext cx="835158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es una taxonomía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describir una empresa como sistema complejo, sin dejar “huecos” en los modelos.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un método: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te dice “paso a paso”; te dice qué tipos de descripciones necesitas tener ordenadas.</a:t>
            </a:r>
            <a:endParaRPr/>
          </a:p>
        </p:txBody>
      </p:sp>
      <p:pic>
        <p:nvPicPr>
          <p:cNvPr descr="Matrix PowerPoint Diagram Template" id="253" name="Google Shape;253;p18"/>
          <p:cNvPicPr preferRelativeResize="0"/>
          <p:nvPr/>
        </p:nvPicPr>
        <p:blipFill rotWithShape="1">
          <a:blip r:embed="rId3">
            <a:alphaModFix/>
          </a:blip>
          <a:srcRect b="4237" l="0" r="0" t="0"/>
          <a:stretch/>
        </p:blipFill>
        <p:spPr>
          <a:xfrm>
            <a:off x="2896013" y="2467040"/>
            <a:ext cx="5060325" cy="272581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503238" y="77013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ZACHMAN: ¿QUÉ ES Y QUÉ RESUELVE?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/>
        </p:nvSpPr>
        <p:spPr>
          <a:xfrm>
            <a:off x="503238" y="916440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rPr>
              <a:t>ZACHMAN: ¿QUÉ ES Y QUÉ RESUELVE?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503238" y="1852349"/>
            <a:ext cx="3595796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 artefactos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(modelos, documentos, especificaciones) en una matriz 6x6 = 36 categorías.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7828"/>
              </a:buClr>
              <a:buSzPts val="1600"/>
              <a:buFont typeface="Arial"/>
              <a:buChar char="•"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cobertura completa + consistencia entre áreas (negocio, TI, datos, operación) al hablar del mismo “mapa”.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nterprise Architecture Frameworks, Methods, and Methodologies" id="263" name="Google Shape;2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3076" y="1548749"/>
            <a:ext cx="4127686" cy="2751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20"/>
          <p:cNvGrpSpPr/>
          <p:nvPr/>
        </p:nvGrpSpPr>
        <p:grpSpPr>
          <a:xfrm>
            <a:off x="1524000" y="825500"/>
            <a:ext cx="6096000" cy="4064000"/>
            <a:chOff x="0" y="0"/>
            <a:chExt cx="6096000" cy="4064000"/>
          </a:xfrm>
        </p:grpSpPr>
        <p:sp>
          <p:nvSpPr>
            <p:cNvPr id="271" name="Google Shape;271;p20"/>
            <p:cNvSpPr/>
            <p:nvPr/>
          </p:nvSpPr>
          <p:spPr>
            <a:xfrm rot="-5400000">
              <a:off x="508000" y="-508000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B2B6C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0"/>
            <p:cNvSpPr txBox="1"/>
            <p:nvPr/>
          </p:nvSpPr>
          <p:spPr>
            <a:xfrm>
              <a:off x="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lang="es-ES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 matriz se lee por niveles de abstracción: de la visión ejecutiva a la implementación.</a:t>
              </a:r>
              <a:endPara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/>
            <p:nvPr/>
          </p:nvSpPr>
          <p:spPr>
            <a:xfrm>
              <a:off x="3048000" y="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D9DBE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0"/>
            <p:cNvSpPr txBox="1"/>
            <p:nvPr/>
          </p:nvSpPr>
          <p:spPr>
            <a:xfrm>
              <a:off x="3048000" y="0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Cada fila es una “vista completa” desde un rol distinto (ej.: planeación, propietario, diseñador, constructor).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0"/>
            <p:cNvSpPr/>
            <p:nvPr/>
          </p:nvSpPr>
          <p:spPr>
            <a:xfrm rot="10800000">
              <a:off x="0" y="2032000"/>
              <a:ext cx="3048000" cy="2032000"/>
            </a:xfrm>
            <a:prstGeom prst="round1Rect">
              <a:avLst>
                <a:gd fmla="val 16667" name="adj"/>
              </a:avLst>
            </a:prstGeom>
            <a:solidFill>
              <a:srgbClr val="5D6474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0"/>
            <p:cNvSpPr txBox="1"/>
            <p:nvPr/>
          </p:nvSpPr>
          <p:spPr>
            <a:xfrm>
              <a:off x="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000" lIns="128000" spcFirstLastPara="1" rIns="128000" wrap="square" tIns="128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r>
                <a:rPr lang="es-E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 importante: cada perspectiva no reemplaza a la otra, son distintas en naturaleza y se complementan.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5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Arial"/>
                <a:buNone/>
              </a:pPr>
              <a:r>
                <a:t/>
              </a:r>
              <a:endParaRPr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0"/>
            <p:cNvSpPr/>
            <p:nvPr/>
          </p:nvSpPr>
          <p:spPr>
            <a:xfrm rot="5400000">
              <a:off x="3556000" y="1523999"/>
              <a:ext cx="2032000" cy="3048000"/>
            </a:xfrm>
            <a:prstGeom prst="round1Rect">
              <a:avLst>
                <a:gd fmla="val 16667" name="adj"/>
              </a:avLst>
            </a:prstGeom>
            <a:solidFill>
              <a:srgbClr val="E5E6EA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0"/>
            <p:cNvSpPr txBox="1"/>
            <p:nvPr/>
          </p:nvSpPr>
          <p:spPr>
            <a:xfrm>
              <a:off x="3048000" y="2539999"/>
              <a:ext cx="30480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3775" lIns="113775" spcFirstLastPara="1" rIns="113775" wrap="square" tIns="1137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idea base viene de que, en proyectos complejos, siempre aparecen representaciones diferentes según el participante (dueño, diseñador, constructor, etc.).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Arial"/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0"/>
            <p:cNvSpPr/>
            <p:nvPr/>
          </p:nvSpPr>
          <p:spPr>
            <a:xfrm>
              <a:off x="2133600" y="1513494"/>
              <a:ext cx="1828800" cy="1016000"/>
            </a:xfrm>
            <a:prstGeom prst="roundRect">
              <a:avLst>
                <a:gd fmla="val 16667" name="adj"/>
              </a:avLst>
            </a:prstGeom>
            <a:solidFill>
              <a:srgbClr val="7F7F7F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0"/>
            <p:cNvSpPr txBox="1"/>
            <p:nvPr/>
          </p:nvSpPr>
          <p:spPr>
            <a:xfrm>
              <a:off x="2183197" y="1563091"/>
              <a:ext cx="1729606" cy="916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Calibri"/>
                <a:buNone/>
              </a:pPr>
              <a:r>
                <a:rPr b="1" lang="es-ES" sz="2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de Framework </a:t>
              </a:r>
              <a:endParaRPr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1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7" name="Google Shape;287;p21"/>
          <p:cNvGrpSpPr/>
          <p:nvPr/>
        </p:nvGrpSpPr>
        <p:grpSpPr>
          <a:xfrm>
            <a:off x="905257" y="567941"/>
            <a:ext cx="5785094" cy="4535423"/>
            <a:chOff x="789433" y="0"/>
            <a:chExt cx="5785094" cy="4535423"/>
          </a:xfrm>
        </p:grpSpPr>
        <p:sp>
          <p:nvSpPr>
            <p:cNvPr id="288" name="Google Shape;288;p21"/>
            <p:cNvSpPr/>
            <p:nvPr/>
          </p:nvSpPr>
          <p:spPr>
            <a:xfrm>
              <a:off x="789433" y="1133855"/>
              <a:ext cx="3401568" cy="3401568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1275573" y="1619996"/>
              <a:ext cx="2429286" cy="2429286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1761431" y="2105854"/>
              <a:ext cx="1457571" cy="1457571"/>
            </a:xfrm>
            <a:prstGeom prst="ellipse">
              <a:avLst/>
            </a:prstGeom>
            <a:solidFill>
              <a:srgbClr val="FFF2CE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2247288" y="2591711"/>
              <a:ext cx="485857" cy="485857"/>
            </a:xfrm>
            <a:prstGeom prst="ellipse">
              <a:avLst/>
            </a:prstGeom>
            <a:solidFill>
              <a:srgbClr val="EE4639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4757929" y="0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4757929" y="0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99550" spcFirstLastPara="1" rIns="17775" wrap="square" tIns="17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Qué (What)</a:t>
              </a:r>
              <a:endParaRPr/>
            </a:p>
          </p:txBody>
        </p:sp>
        <p:cxnSp>
          <p:nvCxnSpPr>
            <p:cNvPr id="294" name="Google Shape;294;p21"/>
            <p:cNvCxnSpPr/>
            <p:nvPr/>
          </p:nvCxnSpPr>
          <p:spPr>
            <a:xfrm>
              <a:off x="4332733" y="406770"/>
              <a:ext cx="425196" cy="0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F7828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5" name="Google Shape;295;p21"/>
            <p:cNvCxnSpPr/>
            <p:nvPr/>
          </p:nvCxnSpPr>
          <p:spPr>
            <a:xfrm rot="5400000">
              <a:off x="2195414" y="674644"/>
              <a:ext cx="2403774" cy="1870862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6" name="Google Shape;296;p21"/>
            <p:cNvSpPr/>
            <p:nvPr/>
          </p:nvSpPr>
          <p:spPr>
            <a:xfrm>
              <a:off x="4757929" y="813541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 txBox="1"/>
            <p:nvPr/>
          </p:nvSpPr>
          <p:spPr>
            <a:xfrm>
              <a:off x="4757929" y="813541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99550" spcFirstLastPara="1" rIns="17775" wrap="square" tIns="17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Cómo (How)</a:t>
              </a:r>
              <a:endParaRPr/>
            </a:p>
          </p:txBody>
        </p:sp>
        <p:cxnSp>
          <p:nvCxnSpPr>
            <p:cNvPr id="298" name="Google Shape;298;p21"/>
            <p:cNvCxnSpPr/>
            <p:nvPr/>
          </p:nvCxnSpPr>
          <p:spPr>
            <a:xfrm>
              <a:off x="4332733" y="1220312"/>
              <a:ext cx="425196" cy="0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21"/>
            <p:cNvCxnSpPr/>
            <p:nvPr/>
          </p:nvCxnSpPr>
          <p:spPr>
            <a:xfrm rot="5400000">
              <a:off x="2611539" y="1474863"/>
              <a:ext cx="1974043" cy="1465508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p21"/>
            <p:cNvSpPr/>
            <p:nvPr/>
          </p:nvSpPr>
          <p:spPr>
            <a:xfrm>
              <a:off x="4757929" y="1627083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4757929" y="1627083"/>
              <a:ext cx="1700784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99550" spcFirstLastPara="1" rIns="17775" wrap="square" tIns="17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Dónde (Where)</a:t>
              </a:r>
              <a:endParaRPr/>
            </a:p>
          </p:txBody>
        </p:sp>
        <p:cxnSp>
          <p:nvCxnSpPr>
            <p:cNvPr id="302" name="Google Shape;302;p21"/>
            <p:cNvCxnSpPr/>
            <p:nvPr/>
          </p:nvCxnSpPr>
          <p:spPr>
            <a:xfrm>
              <a:off x="4332733" y="2033854"/>
              <a:ext cx="425196" cy="0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 rot="5400000">
              <a:off x="3014342" y="2220656"/>
              <a:ext cx="1505760" cy="1131021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21"/>
            <p:cNvSpPr/>
            <p:nvPr/>
          </p:nvSpPr>
          <p:spPr>
            <a:xfrm>
              <a:off x="4824982" y="2486891"/>
              <a:ext cx="1749545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4824982" y="2486891"/>
              <a:ext cx="1749545" cy="8135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775" lIns="99550" spcFirstLastPara="1" rIns="17775" wrap="square" tIns="177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Quién, Cuándo,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s-ES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Por qué</a:t>
              </a:r>
              <a:endParaRPr/>
            </a:p>
          </p:txBody>
        </p:sp>
        <p:cxnSp>
          <p:nvCxnSpPr>
            <p:cNvPr id="306" name="Google Shape;306;p21"/>
            <p:cNvCxnSpPr/>
            <p:nvPr/>
          </p:nvCxnSpPr>
          <p:spPr>
            <a:xfrm>
              <a:off x="4332733" y="2847395"/>
              <a:ext cx="425196" cy="0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 rot="5400000">
              <a:off x="3418108" y="2969398"/>
              <a:ext cx="1034983" cy="790297"/>
            </a:xfrm>
            <a:prstGeom prst="straightConnector1">
              <a:avLst/>
            </a:prstGeom>
            <a:solidFill>
              <a:srgbClr val="FDC211"/>
            </a:solidFill>
            <a:ln cap="flat" cmpd="sng" w="38100">
              <a:solidFill>
                <a:srgbClr val="FEE3B7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8" name="Google Shape;308;p21"/>
          <p:cNvSpPr txBox="1"/>
          <p:nvPr/>
        </p:nvSpPr>
        <p:spPr>
          <a:xfrm>
            <a:off x="6437370" y="765177"/>
            <a:ext cx="24658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Datos, cosas, inventario de información.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6437370" y="1552851"/>
            <a:ext cx="24658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Procesos, funciones, transformación del negocio.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6437371" y="2373988"/>
            <a:ext cx="246583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Bicaciones, red, flujos y conectividad.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437371" y="3193924"/>
            <a:ext cx="228600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Roles/responsabilidades, eventos/tiempo, reglas/estrategia y motivación.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503238" y="805060"/>
            <a:ext cx="457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¿CÓMO SE USA EN LA PRÁCTICA?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503238" y="1234083"/>
            <a:ext cx="7836408" cy="35394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se usa como checklist de cobertura: qué modelos existen y cuáles faltan.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Ayuda a organizar entregables: cada documento/modelo “vive” en una celda (según perspectiva + pregunta).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detectar riesgos típicos: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definidos sin datos claros.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Aplicaciones sin dueño/roles.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Cambios sin eventos/tiempos.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 sin “por qué” estratégico.</a:t>
            </a:r>
            <a:endParaRPr/>
          </a:p>
        </p:txBody>
      </p:sp>
      <p:pic>
        <p:nvPicPr>
          <p:cNvPr descr="Matrix PowerPoint Diagram Template" id="320" name="Google Shape;320;p22"/>
          <p:cNvPicPr preferRelativeResize="0"/>
          <p:nvPr/>
        </p:nvPicPr>
        <p:blipFill rotWithShape="1">
          <a:blip r:embed="rId3">
            <a:alphaModFix/>
          </a:blip>
          <a:srcRect b="4237" l="0" r="0" t="0"/>
          <a:stretch/>
        </p:blipFill>
        <p:spPr>
          <a:xfrm>
            <a:off x="4297044" y="2286675"/>
            <a:ext cx="4343718" cy="2339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3"/>
          <p:cNvSpPr txBox="1"/>
          <p:nvPr/>
        </p:nvSpPr>
        <p:spPr>
          <a:xfrm>
            <a:off x="565759" y="723883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327" name="Google Shape;327;p23"/>
          <p:cNvSpPr txBox="1"/>
          <p:nvPr/>
        </p:nvSpPr>
        <p:spPr>
          <a:xfrm>
            <a:off x="845571" y="1170950"/>
            <a:ext cx="7218043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organiza la arquitectura como una matriz 6x6 (36 celdas) para clasificar todos los artefactos de la empresa sin dejar vacíos.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columnas responden las 6 preguntas clave (qué, cómo, dónde, quién, cuándo, por qué), asegurando cobertura de datos, procesos, ubicación/red, roles, tiempo y motivación/estrategia.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filas representan perspectivas (de lo ejecutivo a lo constructivo), alineando la visión del negocio con el diseño y la implementación sin mezclar niveles.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no es un método, es una taxonomía: no define “pasos”, pero sí exige orden, consistencia y trazabilidad entre modelos, documentos y especificaciones.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 práctico: reduce duplicidad y contradicciones. Mejora la comunicación entre áreas al trabajar sobre el mismo “mapa”.</a:t>
            </a:r>
            <a:endParaRPr/>
          </a:p>
        </p:txBody>
      </p:sp>
      <p:sp>
        <p:nvSpPr>
          <p:cNvPr id="328" name="Google Shape;328;p23"/>
          <p:cNvSpPr/>
          <p:nvPr/>
        </p:nvSpPr>
        <p:spPr>
          <a:xfrm>
            <a:off x="503238" y="391853"/>
            <a:ext cx="349269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ESTRUCTURA MATRICIAL ZACHMAN FRAMEWORK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 txBox="1"/>
          <p:nvPr/>
        </p:nvSpPr>
        <p:spPr>
          <a:xfrm>
            <a:off x="1008061" y="3169972"/>
            <a:ext cx="4720077" cy="7755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COMPARATIVA Y SELECCIÓN DE </a:t>
            </a:r>
            <a:r>
              <a:rPr b="1" lang="es-E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MARCOS SEGÚN CONTEXTO</a:t>
            </a:r>
            <a:endParaRPr b="1"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6" name="Google Shape;3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" name="Google Shape;341;p25"/>
          <p:cNvGrpSpPr/>
          <p:nvPr/>
        </p:nvGrpSpPr>
        <p:grpSpPr>
          <a:xfrm>
            <a:off x="158166" y="1465697"/>
            <a:ext cx="2924569" cy="1722587"/>
            <a:chOff x="158166" y="1465697"/>
            <a:chExt cx="2924569" cy="1722587"/>
          </a:xfrm>
        </p:grpSpPr>
        <p:sp>
          <p:nvSpPr>
            <p:cNvPr id="342" name="Google Shape;342;p25"/>
            <p:cNvSpPr/>
            <p:nvPr/>
          </p:nvSpPr>
          <p:spPr>
            <a:xfrm>
              <a:off x="547515" y="1465697"/>
              <a:ext cx="2535220" cy="1722587"/>
            </a:xfrm>
            <a:prstGeom prst="roundRect">
              <a:avLst>
                <a:gd fmla="val 6762" name="adj"/>
              </a:avLst>
            </a:prstGeom>
            <a:solidFill>
              <a:srgbClr val="CCEFF2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00B1C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763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PROPÓSITO</a:t>
              </a:r>
              <a:r>
                <a:rPr b="1" lang="es-ES" sz="130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 REAL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¿Necesito</a:t>
              </a: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método para ejecutar o estructura para ordenar?</a:t>
              </a:r>
              <a:endParaRPr/>
            </a:p>
          </p:txBody>
        </p:sp>
        <p:sp>
          <p:nvSpPr>
            <p:cNvPr id="343" name="Google Shape;343;p25"/>
            <p:cNvSpPr/>
            <p:nvPr/>
          </p:nvSpPr>
          <p:spPr>
            <a:xfrm rot="-9000000">
              <a:off x="276723" y="2017867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00B1C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5"/>
            <p:cNvSpPr txBox="1"/>
            <p:nvPr/>
          </p:nvSpPr>
          <p:spPr>
            <a:xfrm>
              <a:off x="479524" y="200382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grpSp>
        <p:nvGrpSpPr>
          <p:cNvPr id="345" name="Google Shape;345;p25"/>
          <p:cNvGrpSpPr/>
          <p:nvPr/>
        </p:nvGrpSpPr>
        <p:grpSpPr>
          <a:xfrm>
            <a:off x="2935706" y="1465697"/>
            <a:ext cx="2924569" cy="1722587"/>
            <a:chOff x="2935706" y="1481981"/>
            <a:chExt cx="2924569" cy="1722587"/>
          </a:xfrm>
        </p:grpSpPr>
        <p:sp>
          <p:nvSpPr>
            <p:cNvPr id="346" name="Google Shape;346;p25"/>
            <p:cNvSpPr/>
            <p:nvPr/>
          </p:nvSpPr>
          <p:spPr>
            <a:xfrm>
              <a:off x="3325055" y="1481981"/>
              <a:ext cx="2535220" cy="1722587"/>
            </a:xfrm>
            <a:prstGeom prst="roundRect">
              <a:avLst>
                <a:gd fmla="val 7758" name="adj"/>
              </a:avLst>
            </a:prstGeom>
            <a:solidFill>
              <a:srgbClr val="E6F3D6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8EC540"/>
                  </a:solidFill>
                  <a:latin typeface="Calibri"/>
                  <a:ea typeface="Calibri"/>
                  <a:cs typeface="Calibri"/>
                  <a:sym typeface="Calibri"/>
                </a:rPr>
                <a:t>LENGUAJE COMÚN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arquitectura existe para describir un sistema con sus componentes, relaciones y entorno, alineando stakeholders y preocupaciones.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5"/>
            <p:cNvSpPr/>
            <p:nvPr/>
          </p:nvSpPr>
          <p:spPr>
            <a:xfrm rot="-9000000">
              <a:off x="3054263" y="20158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5"/>
            <p:cNvSpPr txBox="1"/>
            <p:nvPr/>
          </p:nvSpPr>
          <p:spPr>
            <a:xfrm>
              <a:off x="3257063" y="2020109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349" name="Google Shape;349;p25"/>
          <p:cNvGrpSpPr/>
          <p:nvPr/>
        </p:nvGrpSpPr>
        <p:grpSpPr>
          <a:xfrm>
            <a:off x="5713245" y="1465697"/>
            <a:ext cx="2924570" cy="1722587"/>
            <a:chOff x="5713245" y="1491617"/>
            <a:chExt cx="2924570" cy="1722587"/>
          </a:xfrm>
        </p:grpSpPr>
        <p:sp>
          <p:nvSpPr>
            <p:cNvPr id="350" name="Google Shape;350;p25"/>
            <p:cNvSpPr/>
            <p:nvPr/>
          </p:nvSpPr>
          <p:spPr>
            <a:xfrm>
              <a:off x="6102595" y="1491617"/>
              <a:ext cx="2535220" cy="1722587"/>
            </a:xfrm>
            <a:prstGeom prst="roundRect">
              <a:avLst>
                <a:gd fmla="val 6512" name="adj"/>
              </a:avLst>
            </a:prstGeom>
            <a:solidFill>
              <a:srgbClr val="FCD7D5"/>
            </a:solidFill>
            <a:ln cap="flat" cmpd="sng" w="38100">
              <a:solidFill>
                <a:srgbClr val="EE46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NIVEL DE DECISIÓN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Estrategia (negocio) vs diseño (arquitectura) vs construcción (TI).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5"/>
            <p:cNvSpPr/>
            <p:nvPr/>
          </p:nvSpPr>
          <p:spPr>
            <a:xfrm rot="-9000000">
              <a:off x="5831802" y="2025499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EE46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5"/>
            <p:cNvSpPr txBox="1"/>
            <p:nvPr/>
          </p:nvSpPr>
          <p:spPr>
            <a:xfrm>
              <a:off x="6034603" y="202974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grpSp>
        <p:nvGrpSpPr>
          <p:cNvPr id="353" name="Google Shape;353;p25"/>
          <p:cNvGrpSpPr/>
          <p:nvPr/>
        </p:nvGrpSpPr>
        <p:grpSpPr>
          <a:xfrm>
            <a:off x="158166" y="3476337"/>
            <a:ext cx="2924569" cy="1722587"/>
            <a:chOff x="158166" y="3467193"/>
            <a:chExt cx="2924569" cy="1722587"/>
          </a:xfrm>
        </p:grpSpPr>
        <p:sp>
          <p:nvSpPr>
            <p:cNvPr id="354" name="Google Shape;354;p25"/>
            <p:cNvSpPr/>
            <p:nvPr/>
          </p:nvSpPr>
          <p:spPr>
            <a:xfrm>
              <a:off x="547515" y="3467193"/>
              <a:ext cx="2535220" cy="1722587"/>
            </a:xfrm>
            <a:prstGeom prst="roundRect">
              <a:avLst>
                <a:gd fmla="val 6762" name="adj"/>
              </a:avLst>
            </a:prstGeom>
            <a:solidFill>
              <a:srgbClr val="FFE2D2"/>
            </a:solidFill>
            <a:ln cap="flat" cmpd="sng" w="38100">
              <a:solidFill>
                <a:srgbClr val="FF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782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F7828"/>
                  </a:solidFill>
                  <a:latin typeface="Calibri"/>
                  <a:ea typeface="Calibri"/>
                  <a:cs typeface="Calibri"/>
                  <a:sym typeface="Calibri"/>
                </a:rPr>
                <a:t>REUSO Y  ESTANDARIZACIÓN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¿Promueve</a:t>
              </a: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patrones y “no reinventar la rueda”?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5"/>
            <p:cNvSpPr/>
            <p:nvPr/>
          </p:nvSpPr>
          <p:spPr>
            <a:xfrm rot="-9000000">
              <a:off x="276723" y="4019363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F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5"/>
            <p:cNvSpPr txBox="1"/>
            <p:nvPr/>
          </p:nvSpPr>
          <p:spPr>
            <a:xfrm>
              <a:off x="479524" y="4005321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grpSp>
        <p:nvGrpSpPr>
          <p:cNvPr id="357" name="Google Shape;357;p25"/>
          <p:cNvGrpSpPr/>
          <p:nvPr/>
        </p:nvGrpSpPr>
        <p:grpSpPr>
          <a:xfrm>
            <a:off x="2935706" y="3476337"/>
            <a:ext cx="2924569" cy="1722587"/>
            <a:chOff x="2935706" y="3483477"/>
            <a:chExt cx="2924569" cy="1722587"/>
          </a:xfrm>
        </p:grpSpPr>
        <p:sp>
          <p:nvSpPr>
            <p:cNvPr id="358" name="Google Shape;358;p25"/>
            <p:cNvSpPr/>
            <p:nvPr/>
          </p:nvSpPr>
          <p:spPr>
            <a:xfrm>
              <a:off x="3325055" y="3483477"/>
              <a:ext cx="2535220" cy="1722587"/>
            </a:xfrm>
            <a:prstGeom prst="roundRect">
              <a:avLst>
                <a:gd fmla="val 8008" name="adj"/>
              </a:avLst>
            </a:prstGeom>
            <a:solidFill>
              <a:srgbClr val="FFF2D1"/>
            </a:solidFill>
            <a:ln cap="flat" cmpd="sng" w="38100">
              <a:solidFill>
                <a:srgbClr val="FEC2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EC212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FEC212"/>
                  </a:solidFill>
                  <a:latin typeface="Calibri"/>
                  <a:ea typeface="Calibri"/>
                  <a:cs typeface="Calibri"/>
                  <a:sym typeface="Calibri"/>
                </a:rPr>
                <a:t>COBERTURA Y CONSISTENCIA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¿Evita</a:t>
              </a: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vacíos entre áreas y entregables?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5"/>
            <p:cNvSpPr/>
            <p:nvPr/>
          </p:nvSpPr>
          <p:spPr>
            <a:xfrm rot="-9000000">
              <a:off x="3054263" y="4017359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FEC21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5"/>
            <p:cNvSpPr txBox="1"/>
            <p:nvPr/>
          </p:nvSpPr>
          <p:spPr>
            <a:xfrm>
              <a:off x="3257063" y="4021605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</p:grpSp>
      <p:grpSp>
        <p:nvGrpSpPr>
          <p:cNvPr id="361" name="Google Shape;361;p25"/>
          <p:cNvGrpSpPr/>
          <p:nvPr/>
        </p:nvGrpSpPr>
        <p:grpSpPr>
          <a:xfrm>
            <a:off x="5713245" y="3476337"/>
            <a:ext cx="2924570" cy="1722587"/>
            <a:chOff x="5713245" y="3493113"/>
            <a:chExt cx="2924570" cy="1722587"/>
          </a:xfrm>
        </p:grpSpPr>
        <p:sp>
          <p:nvSpPr>
            <p:cNvPr id="362" name="Google Shape;362;p25"/>
            <p:cNvSpPr/>
            <p:nvPr/>
          </p:nvSpPr>
          <p:spPr>
            <a:xfrm>
              <a:off x="6102595" y="3493113"/>
              <a:ext cx="2535220" cy="1722587"/>
            </a:xfrm>
            <a:prstGeom prst="roundRect">
              <a:avLst>
                <a:gd fmla="val 6512" name="adj"/>
              </a:avLst>
            </a:prstGeom>
            <a:solidFill>
              <a:srgbClr val="E0D9EB"/>
            </a:solidFill>
            <a:ln cap="flat" cmpd="sng" w="38100">
              <a:solidFill>
                <a:srgbClr val="714F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468000" spcFirstLastPara="1" rIns="36000" wrap="square" tIns="1800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714FA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300">
                  <a:solidFill>
                    <a:srgbClr val="714FA0"/>
                  </a:solidFill>
                  <a:latin typeface="Calibri"/>
                  <a:ea typeface="Calibri"/>
                  <a:cs typeface="Calibri"/>
                  <a:sym typeface="Calibri"/>
                </a:rPr>
                <a:t>GOBERNANZA Y TRAZABILIDAD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¿Permite</a:t>
              </a:r>
              <a:r>
                <a:rPr lang="es-ES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justificar decisiones contra objetivos  y riesgo?</a:t>
              </a:r>
              <a:endParaRPr/>
            </a:p>
          </p:txBody>
        </p:sp>
        <p:sp>
          <p:nvSpPr>
            <p:cNvPr id="363" name="Google Shape;363;p25"/>
            <p:cNvSpPr/>
            <p:nvPr/>
          </p:nvSpPr>
          <p:spPr>
            <a:xfrm rot="-9000000">
              <a:off x="5831802" y="4026995"/>
              <a:ext cx="673990" cy="654822"/>
            </a:xfrm>
            <a:prstGeom prst="chord">
              <a:avLst>
                <a:gd fmla="val 2700000" name="adj1"/>
                <a:gd fmla="val 15233344" name="adj2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5"/>
            <p:cNvSpPr txBox="1"/>
            <p:nvPr/>
          </p:nvSpPr>
          <p:spPr>
            <a:xfrm>
              <a:off x="6034603" y="4031241"/>
              <a:ext cx="37068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sp>
        <p:nvSpPr>
          <p:cNvPr id="365" name="Google Shape;365;p25"/>
          <p:cNvSpPr/>
          <p:nvPr/>
        </p:nvSpPr>
        <p:spPr>
          <a:xfrm>
            <a:off x="479523" y="716617"/>
            <a:ext cx="815829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marcos de referencia de AE ayudan a elegir cómo ordenar y cómo ejecutar la transformación sin perder coherencia.</a:t>
            </a:r>
            <a:b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503238" y="374773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6"/>
          <p:cNvSpPr/>
          <p:nvPr/>
        </p:nvSpPr>
        <p:spPr>
          <a:xfrm>
            <a:off x="3340428" y="3288063"/>
            <a:ext cx="4340812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 estandarizar entregables y decisiones, se reduce el retrabajo y se acelera el delivery.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práctica para roadmap, portafolio de cambios y decisiones trazables.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 txBox="1"/>
          <p:nvPr/>
        </p:nvSpPr>
        <p:spPr>
          <a:xfrm>
            <a:off x="886126" y="797513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Beneficio: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Construir arquitectura con método, consistencia y trazabilidad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4" name="Google Shape;374;p26"/>
          <p:cNvGrpSpPr/>
          <p:nvPr/>
        </p:nvGrpSpPr>
        <p:grpSpPr>
          <a:xfrm>
            <a:off x="698747" y="1543039"/>
            <a:ext cx="7530853" cy="1107997"/>
            <a:chOff x="684213" y="1597025"/>
            <a:chExt cx="7530853" cy="1107997"/>
          </a:xfrm>
        </p:grpSpPr>
        <p:grpSp>
          <p:nvGrpSpPr>
            <p:cNvPr id="375" name="Google Shape;375;p26"/>
            <p:cNvGrpSpPr/>
            <p:nvPr/>
          </p:nvGrpSpPr>
          <p:grpSpPr>
            <a:xfrm>
              <a:off x="4654594" y="1597025"/>
              <a:ext cx="1107997" cy="1107997"/>
              <a:chOff x="4751388" y="948615"/>
              <a:chExt cx="1170848" cy="1170848"/>
            </a:xfrm>
          </p:grpSpPr>
          <p:sp>
            <p:nvSpPr>
              <p:cNvPr id="376" name="Google Shape;376;p26"/>
              <p:cNvSpPr/>
              <p:nvPr/>
            </p:nvSpPr>
            <p:spPr>
              <a:xfrm>
                <a:off x="4751388" y="948615"/>
                <a:ext cx="1170848" cy="1170848"/>
              </a:xfrm>
              <a:prstGeom prst="roundRect">
                <a:avLst>
                  <a:gd fmla="val 11306" name="adj"/>
                </a:avLst>
              </a:prstGeom>
              <a:solidFill>
                <a:srgbClr val="00B1C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7" name="Google Shape;377;p2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885184" y="1105390"/>
                <a:ext cx="903256" cy="8572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78" name="Google Shape;378;p26"/>
            <p:cNvSpPr/>
            <p:nvPr/>
          </p:nvSpPr>
          <p:spPr>
            <a:xfrm>
              <a:off x="6042599" y="1706148"/>
              <a:ext cx="2172467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(END-TO-END)</a:t>
              </a:r>
              <a:b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Negocio, Datos, Aplicaciones y Tecnología + bloques reutilizables</a:t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6"/>
            <p:cNvSpPr/>
            <p:nvPr/>
          </p:nvSpPr>
          <p:spPr>
            <a:xfrm>
              <a:off x="1918823" y="1705326"/>
              <a:ext cx="2455763" cy="7755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ADM COMO NÚCLEO </a:t>
              </a:r>
              <a:b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Ciclo iterativo por fases para pasar de As-Is a To-Be con disciplina y control.</a:t>
              </a:r>
              <a:endParaRPr b="1" sz="1400">
                <a:solidFill>
                  <a:srgbClr val="11B7C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6"/>
            <p:cNvSpPr/>
            <p:nvPr/>
          </p:nvSpPr>
          <p:spPr>
            <a:xfrm>
              <a:off x="684213" y="1597025"/>
              <a:ext cx="1107996" cy="1107996"/>
            </a:xfrm>
            <a:prstGeom prst="roundRect">
              <a:avLst>
                <a:gd fmla="val 10564" name="adj"/>
              </a:avLst>
            </a:prstGeom>
            <a:solidFill>
              <a:srgbClr val="00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ecycle outline" id="381" name="Google Shape;381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81011" y="16754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2" name="Google Shape;382;p26"/>
          <p:cNvSpPr txBox="1"/>
          <p:nvPr/>
        </p:nvSpPr>
        <p:spPr>
          <a:xfrm rot="2542203">
            <a:off x="1302931" y="2825149"/>
            <a:ext cx="1903462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83" name="Google Shape;383;p26"/>
          <p:cNvSpPr/>
          <p:nvPr/>
        </p:nvSpPr>
        <p:spPr>
          <a:xfrm>
            <a:off x="503238" y="374773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8"/>
          <p:cNvSpPr/>
          <p:nvPr/>
        </p:nvSpPr>
        <p:spPr>
          <a:xfrm>
            <a:off x="503238" y="282125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503238" y="790610"/>
            <a:ext cx="700598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BENEFICIO: COBERTURA TOTAL SIN VACÍOS DE GESTIÓN NI METODOLOGÍA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8087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1" name="Google Shape;391;p28"/>
          <p:cNvGrpSpPr/>
          <p:nvPr/>
        </p:nvGrpSpPr>
        <p:grpSpPr>
          <a:xfrm>
            <a:off x="786375" y="1452621"/>
            <a:ext cx="7646258" cy="3015362"/>
            <a:chOff x="848519" y="1381126"/>
            <a:chExt cx="7646258" cy="3015362"/>
          </a:xfrm>
        </p:grpSpPr>
        <p:sp>
          <p:nvSpPr>
            <p:cNvPr id="392" name="Google Shape;392;p28"/>
            <p:cNvSpPr/>
            <p:nvPr/>
          </p:nvSpPr>
          <p:spPr>
            <a:xfrm>
              <a:off x="848519" y="1387134"/>
              <a:ext cx="7646257" cy="923356"/>
            </a:xfrm>
            <a:prstGeom prst="roundRect">
              <a:avLst>
                <a:gd fmla="val 16667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ZACHMAN FRAMEWORK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Taxonomía para clasificar y organizar lo que debe describirse en una empresa, asegurando cobertura completa.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8"/>
            <p:cNvSpPr/>
            <p:nvPr/>
          </p:nvSpPr>
          <p:spPr>
            <a:xfrm rot="-5400000">
              <a:off x="766028" y="1463617"/>
              <a:ext cx="929364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848520" y="2411263"/>
              <a:ext cx="7646257" cy="923356"/>
            </a:xfrm>
            <a:prstGeom prst="roundRect">
              <a:avLst>
                <a:gd fmla="val 16667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00B2C4"/>
                  </a:solidFill>
                  <a:latin typeface="Calibri"/>
                  <a:ea typeface="Calibri"/>
                  <a:cs typeface="Calibri"/>
                  <a:sym typeface="Calibri"/>
                </a:rPr>
                <a:t>MATRIZ 6X6 (QUÉ SE ORDENA)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Columnas = preguntas clave: Qué, Cómo, Dónde, Quién, Cuándo, Por qué.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Filas = perspectivas: de visión ejecutiva/negocio a diseño y construcción.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8"/>
            <p:cNvSpPr/>
            <p:nvPr/>
          </p:nvSpPr>
          <p:spPr>
            <a:xfrm rot="-5400000">
              <a:off x="766029" y="2487746"/>
              <a:ext cx="929364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848520" y="3473132"/>
              <a:ext cx="7646257" cy="923356"/>
            </a:xfrm>
            <a:prstGeom prst="roundRect">
              <a:avLst>
                <a:gd fmla="val 11518" name="adj"/>
              </a:avLst>
            </a:prstGeom>
            <a:solidFill>
              <a:srgbClr val="D1EFF4"/>
            </a:solidFill>
            <a:ln>
              <a:noFill/>
            </a:ln>
          </p:spPr>
          <p:txBody>
            <a:bodyPr anchorCtr="0" anchor="ctr" bIns="0" lIns="86400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VALOR CLAVE: CONSISTENCIA Y CONTROL DE “AGUJEROS”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Alinea modelos, documentos y especificaciones entre áreas, evitando vacíos típicos en programas grandes (fusiones, regulación, modernizaciones).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8"/>
            <p:cNvSpPr/>
            <p:nvPr/>
          </p:nvSpPr>
          <p:spPr>
            <a:xfrm rot="-5400000">
              <a:off x="769035" y="3546611"/>
              <a:ext cx="923355" cy="764381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00B2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Books on shelf outline" id="398" name="Google Shape;398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76380" y="2515606"/>
              <a:ext cx="708660" cy="7086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Map with pin outline" id="399" name="Google Shape;3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936" y="1578696"/>
            <a:ext cx="663260" cy="6632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ipboard Badge outline" id="400" name="Google Shape;40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875" y="3661891"/>
            <a:ext cx="721382" cy="721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/>
          <p:nvPr/>
        </p:nvSpPr>
        <p:spPr>
          <a:xfrm>
            <a:off x="4405313" y="806450"/>
            <a:ext cx="482600" cy="165100"/>
          </a:xfrm>
          <a:custGeom>
            <a:rect b="b" l="l" r="r" t="t"/>
            <a:pathLst>
              <a:path extrusionOk="0" h="52" w="151">
                <a:moveTo>
                  <a:pt x="46" y="52"/>
                </a:moveTo>
                <a:cubicBezTo>
                  <a:pt x="105" y="52"/>
                  <a:pt x="105" y="52"/>
                  <a:pt x="105" y="52"/>
                </a:cubicBezTo>
                <a:cubicBezTo>
                  <a:pt x="107" y="52"/>
                  <a:pt x="108" y="51"/>
                  <a:pt x="108" y="49"/>
                </a:cubicBezTo>
                <a:cubicBezTo>
                  <a:pt x="108" y="43"/>
                  <a:pt x="108" y="43"/>
                  <a:pt x="108" y="43"/>
                </a:cubicBezTo>
                <a:cubicBezTo>
                  <a:pt x="149" y="43"/>
                  <a:pt x="149" y="43"/>
                  <a:pt x="149" y="43"/>
                </a:cubicBezTo>
                <a:cubicBezTo>
                  <a:pt x="150" y="43"/>
                  <a:pt x="151" y="42"/>
                  <a:pt x="151" y="41"/>
                </a:cubicBezTo>
                <a:cubicBezTo>
                  <a:pt x="151" y="24"/>
                  <a:pt x="151" y="24"/>
                  <a:pt x="151" y="24"/>
                </a:cubicBezTo>
                <a:cubicBezTo>
                  <a:pt x="151" y="14"/>
                  <a:pt x="144" y="6"/>
                  <a:pt x="134" y="5"/>
                </a:cubicBezTo>
                <a:cubicBezTo>
                  <a:pt x="133" y="5"/>
                  <a:pt x="132" y="6"/>
                  <a:pt x="131" y="6"/>
                </a:cubicBezTo>
                <a:cubicBezTo>
                  <a:pt x="129" y="9"/>
                  <a:pt x="126" y="11"/>
                  <a:pt x="123" y="11"/>
                </a:cubicBezTo>
                <a:cubicBezTo>
                  <a:pt x="119" y="11"/>
                  <a:pt x="116" y="9"/>
                  <a:pt x="114" y="6"/>
                </a:cubicBezTo>
                <a:cubicBezTo>
                  <a:pt x="113" y="5"/>
                  <a:pt x="113" y="5"/>
                  <a:pt x="112" y="5"/>
                </a:cubicBezTo>
                <a:cubicBezTo>
                  <a:pt x="109" y="5"/>
                  <a:pt x="106" y="6"/>
                  <a:pt x="103" y="8"/>
                </a:cubicBezTo>
                <a:cubicBezTo>
                  <a:pt x="99" y="3"/>
                  <a:pt x="94" y="1"/>
                  <a:pt x="89" y="0"/>
                </a:cubicBezTo>
                <a:cubicBezTo>
                  <a:pt x="87" y="0"/>
                  <a:pt x="87" y="1"/>
                  <a:pt x="86" y="2"/>
                </a:cubicBezTo>
                <a:cubicBezTo>
                  <a:pt x="83" y="5"/>
                  <a:pt x="80" y="7"/>
                  <a:pt x="76" y="7"/>
                </a:cubicBezTo>
                <a:cubicBezTo>
                  <a:pt x="72" y="7"/>
                  <a:pt x="68" y="5"/>
                  <a:pt x="65" y="1"/>
                </a:cubicBezTo>
                <a:cubicBezTo>
                  <a:pt x="65" y="1"/>
                  <a:pt x="64" y="0"/>
                  <a:pt x="63" y="0"/>
                </a:cubicBezTo>
                <a:cubicBezTo>
                  <a:pt x="58" y="0"/>
                  <a:pt x="53" y="3"/>
                  <a:pt x="49" y="7"/>
                </a:cubicBezTo>
                <a:cubicBezTo>
                  <a:pt x="49" y="7"/>
                  <a:pt x="49" y="7"/>
                  <a:pt x="48" y="8"/>
                </a:cubicBezTo>
                <a:cubicBezTo>
                  <a:pt x="46" y="6"/>
                  <a:pt x="43" y="5"/>
                  <a:pt x="40" y="5"/>
                </a:cubicBezTo>
                <a:cubicBezTo>
                  <a:pt x="39" y="5"/>
                  <a:pt x="38" y="6"/>
                  <a:pt x="37" y="6"/>
                </a:cubicBezTo>
                <a:cubicBezTo>
                  <a:pt x="35" y="9"/>
                  <a:pt x="32" y="11"/>
                  <a:pt x="29" y="11"/>
                </a:cubicBezTo>
                <a:cubicBezTo>
                  <a:pt x="25" y="11"/>
                  <a:pt x="22" y="9"/>
                  <a:pt x="20" y="6"/>
                </a:cubicBezTo>
                <a:cubicBezTo>
                  <a:pt x="19" y="5"/>
                  <a:pt x="19" y="5"/>
                  <a:pt x="18" y="5"/>
                </a:cubicBezTo>
                <a:cubicBezTo>
                  <a:pt x="8" y="5"/>
                  <a:pt x="0" y="14"/>
                  <a:pt x="0" y="24"/>
                </a:cubicBezTo>
                <a:cubicBezTo>
                  <a:pt x="0" y="41"/>
                  <a:pt x="0" y="41"/>
                  <a:pt x="0" y="41"/>
                </a:cubicBezTo>
                <a:cubicBezTo>
                  <a:pt x="0" y="42"/>
                  <a:pt x="1" y="43"/>
                  <a:pt x="2" y="43"/>
                </a:cubicBezTo>
                <a:cubicBezTo>
                  <a:pt x="43" y="43"/>
                  <a:pt x="43" y="43"/>
                  <a:pt x="43" y="43"/>
                </a:cubicBezTo>
                <a:cubicBezTo>
                  <a:pt x="43" y="49"/>
                  <a:pt x="43" y="49"/>
                  <a:pt x="43" y="49"/>
                </a:cubicBezTo>
                <a:cubicBezTo>
                  <a:pt x="43" y="51"/>
                  <a:pt x="44" y="52"/>
                  <a:pt x="46" y="52"/>
                </a:cubicBezTo>
                <a:close/>
                <a:moveTo>
                  <a:pt x="111" y="10"/>
                </a:moveTo>
                <a:cubicBezTo>
                  <a:pt x="114" y="14"/>
                  <a:pt x="118" y="16"/>
                  <a:pt x="123" y="16"/>
                </a:cubicBezTo>
                <a:cubicBezTo>
                  <a:pt x="127" y="16"/>
                  <a:pt x="132" y="14"/>
                  <a:pt x="135" y="10"/>
                </a:cubicBezTo>
                <a:cubicBezTo>
                  <a:pt x="141" y="11"/>
                  <a:pt x="146" y="17"/>
                  <a:pt x="146" y="24"/>
                </a:cubicBezTo>
                <a:cubicBezTo>
                  <a:pt x="146" y="38"/>
                  <a:pt x="146" y="38"/>
                  <a:pt x="146" y="38"/>
                </a:cubicBezTo>
                <a:cubicBezTo>
                  <a:pt x="108" y="38"/>
                  <a:pt x="108" y="38"/>
                  <a:pt x="108" y="38"/>
                </a:cubicBezTo>
                <a:cubicBezTo>
                  <a:pt x="108" y="22"/>
                  <a:pt x="108" y="22"/>
                  <a:pt x="108" y="22"/>
                </a:cubicBezTo>
                <a:cubicBezTo>
                  <a:pt x="108" y="18"/>
                  <a:pt x="107" y="15"/>
                  <a:pt x="106" y="12"/>
                </a:cubicBezTo>
                <a:cubicBezTo>
                  <a:pt x="107" y="11"/>
                  <a:pt x="109" y="10"/>
                  <a:pt x="111" y="10"/>
                </a:cubicBezTo>
                <a:close/>
                <a:moveTo>
                  <a:pt x="62" y="5"/>
                </a:moveTo>
                <a:cubicBezTo>
                  <a:pt x="66" y="10"/>
                  <a:pt x="71" y="12"/>
                  <a:pt x="76" y="12"/>
                </a:cubicBezTo>
                <a:cubicBezTo>
                  <a:pt x="81" y="12"/>
                  <a:pt x="86" y="10"/>
                  <a:pt x="89" y="6"/>
                </a:cubicBezTo>
                <a:cubicBezTo>
                  <a:pt x="97" y="7"/>
                  <a:pt x="103" y="14"/>
                  <a:pt x="103" y="22"/>
                </a:cubicBezTo>
                <a:cubicBezTo>
                  <a:pt x="103" y="47"/>
                  <a:pt x="103" y="47"/>
                  <a:pt x="103" y="47"/>
                </a:cubicBezTo>
                <a:cubicBezTo>
                  <a:pt x="48" y="47"/>
                  <a:pt x="48" y="47"/>
                  <a:pt x="48" y="47"/>
                </a:cubicBezTo>
                <a:cubicBezTo>
                  <a:pt x="48" y="22"/>
                  <a:pt x="48" y="22"/>
                  <a:pt x="48" y="22"/>
                </a:cubicBezTo>
                <a:cubicBezTo>
                  <a:pt x="48" y="13"/>
                  <a:pt x="54" y="6"/>
                  <a:pt x="62" y="5"/>
                </a:cubicBezTo>
                <a:close/>
                <a:moveTo>
                  <a:pt x="5" y="38"/>
                </a:moveTo>
                <a:cubicBezTo>
                  <a:pt x="5" y="24"/>
                  <a:pt x="5" y="24"/>
                  <a:pt x="5" y="24"/>
                </a:cubicBezTo>
                <a:cubicBezTo>
                  <a:pt x="5" y="17"/>
                  <a:pt x="10" y="11"/>
                  <a:pt x="17" y="10"/>
                </a:cubicBezTo>
                <a:cubicBezTo>
                  <a:pt x="20" y="14"/>
                  <a:pt x="24" y="16"/>
                  <a:pt x="29" y="16"/>
                </a:cubicBezTo>
                <a:cubicBezTo>
                  <a:pt x="33" y="16"/>
                  <a:pt x="38" y="14"/>
                  <a:pt x="41" y="10"/>
                </a:cubicBezTo>
                <a:cubicBezTo>
                  <a:pt x="42" y="11"/>
                  <a:pt x="44" y="11"/>
                  <a:pt x="46" y="12"/>
                </a:cubicBezTo>
                <a:cubicBezTo>
                  <a:pt x="44" y="15"/>
                  <a:pt x="43" y="18"/>
                  <a:pt x="43" y="22"/>
                </a:cubicBezTo>
                <a:cubicBezTo>
                  <a:pt x="43" y="38"/>
                  <a:pt x="43" y="38"/>
                  <a:pt x="43" y="38"/>
                </a:cubicBezTo>
                <a:lnTo>
                  <a:pt x="5" y="38"/>
                </a:lnTo>
                <a:close/>
                <a:moveTo>
                  <a:pt x="5" y="38"/>
                </a:moveTo>
                <a:cubicBezTo>
                  <a:pt x="5" y="38"/>
                  <a:pt x="5" y="38"/>
                  <a:pt x="5" y="38"/>
                </a:cubicBezTo>
              </a:path>
            </a:pathLst>
          </a:cu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29"/>
          <p:cNvGrpSpPr/>
          <p:nvPr/>
        </p:nvGrpSpPr>
        <p:grpSpPr>
          <a:xfrm>
            <a:off x="612959" y="1316025"/>
            <a:ext cx="6792590" cy="3671523"/>
            <a:chOff x="576383" y="952159"/>
            <a:chExt cx="6792590" cy="3671523"/>
          </a:xfrm>
        </p:grpSpPr>
        <p:sp>
          <p:nvSpPr>
            <p:cNvPr id="408" name="Google Shape;408;p29"/>
            <p:cNvSpPr/>
            <p:nvPr/>
          </p:nvSpPr>
          <p:spPr>
            <a:xfrm>
              <a:off x="1633931" y="952159"/>
              <a:ext cx="5324654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PARTE DEL OBJETIVO (NO DEL FRAMEWORK)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¿Buscas ejecutar transformación con pasos y gobernanza, o ordenar/asegurar cobertura de todo lo que debes modelar?</a:t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1633934" y="1912971"/>
              <a:ext cx="53246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DEFINE EL ALCANCE Y LA GRANULARIDAD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¿Arquitectura enterprise, segmento o capacidad? El marco debe calzar con el nivel donde tomarás decisiones y construirás el roadmap.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1633929" y="2912341"/>
              <a:ext cx="5470957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PRIORIZA GOBERNANZA Y TRAZABILIDAD SI EL ENTORNO ES CRÍTICO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 hay muchos equipos, regulación o riesgo, elige lo que te </a:t>
              </a:r>
              <a:r>
                <a:rPr lang="es-E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dé:</a:t>
              </a: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método + repositorio + estándares para decisiones justificables.</a:t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1543913" y="3977351"/>
              <a:ext cx="5825060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rgbClr val="11B7C8"/>
                  </a:solidFill>
                  <a:latin typeface="Calibri"/>
                  <a:ea typeface="Calibri"/>
                  <a:cs typeface="Calibri"/>
                  <a:sym typeface="Calibri"/>
                </a:rPr>
                <a:t>Regla práctica que funciona en empresas reales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TOGAF para “la ruta” (cómo avanzar) + Zachman para “el mapa” (no dejar vacíos). Complemento, no pelea.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2" name="Google Shape;412;p29"/>
            <p:cNvGrpSpPr/>
            <p:nvPr/>
          </p:nvGrpSpPr>
          <p:grpSpPr>
            <a:xfrm>
              <a:off x="576383" y="971550"/>
              <a:ext cx="850081" cy="3509010"/>
              <a:chOff x="576383" y="1378792"/>
              <a:chExt cx="834095" cy="2593973"/>
            </a:xfrm>
          </p:grpSpPr>
          <p:sp>
            <p:nvSpPr>
              <p:cNvPr id="413" name="Google Shape;413;p29"/>
              <p:cNvSpPr/>
              <p:nvPr/>
            </p:nvSpPr>
            <p:spPr>
              <a:xfrm>
                <a:off x="576383" y="1378792"/>
                <a:ext cx="533700" cy="371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ES" sz="2400">
                    <a:solidFill>
                      <a:srgbClr val="01B1C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</a:t>
                </a:r>
                <a:endParaRPr b="1" sz="2400">
                  <a:solidFill>
                    <a:srgbClr val="01B1C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14" name="Google Shape;414;p29"/>
              <p:cNvCxnSpPr>
                <a:endCxn id="415" idx="4"/>
              </p:cNvCxnSpPr>
              <p:nvPr/>
            </p:nvCxnSpPr>
            <p:spPr>
              <a:xfrm>
                <a:off x="1316744" y="1505652"/>
                <a:ext cx="0" cy="2340600"/>
              </a:xfrm>
              <a:prstGeom prst="straightConnector1">
                <a:avLst/>
              </a:prstGeom>
              <a:noFill/>
              <a:ln cap="flat" cmpd="sng" w="12700">
                <a:solidFill>
                  <a:srgbClr val="01B1C3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16" name="Google Shape;416;p29"/>
              <p:cNvSpPr/>
              <p:nvPr/>
            </p:nvSpPr>
            <p:spPr>
              <a:xfrm>
                <a:off x="576383" y="2070527"/>
                <a:ext cx="533700" cy="371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ES" sz="2400">
                    <a:solidFill>
                      <a:srgbClr val="01B1C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02</a:t>
                </a:r>
                <a:endParaRPr b="1" sz="2400">
                  <a:solidFill>
                    <a:srgbClr val="01B1C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576383" y="2941668"/>
                <a:ext cx="533700" cy="371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ES" sz="2400">
                    <a:solidFill>
                      <a:srgbClr val="01B1C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03</a:t>
                </a:r>
                <a:endParaRPr b="1" sz="2800">
                  <a:solidFill>
                    <a:srgbClr val="01B1C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8" name="Google Shape;418;p29"/>
              <p:cNvGrpSpPr/>
              <p:nvPr/>
            </p:nvGrpSpPr>
            <p:grpSpPr>
              <a:xfrm>
                <a:off x="1223010" y="1483579"/>
                <a:ext cx="187468" cy="141267"/>
                <a:chOff x="3427964" y="2244682"/>
                <a:chExt cx="225891" cy="225034"/>
              </a:xfrm>
            </p:grpSpPr>
            <p:sp>
              <p:nvSpPr>
                <p:cNvPr id="419" name="Google Shape;419;p29"/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1B1C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29"/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01B1C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1" name="Google Shape;421;p29"/>
              <p:cNvSpPr/>
              <p:nvPr/>
            </p:nvSpPr>
            <p:spPr>
              <a:xfrm>
                <a:off x="579481" y="3600777"/>
                <a:ext cx="533700" cy="3719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s-ES" sz="2400">
                    <a:solidFill>
                      <a:srgbClr val="01B1C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04</a:t>
                </a:r>
                <a:endParaRPr b="1" sz="2800">
                  <a:solidFill>
                    <a:srgbClr val="01B1C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22" name="Google Shape;422;p29"/>
              <p:cNvGrpSpPr/>
              <p:nvPr/>
            </p:nvGrpSpPr>
            <p:grpSpPr>
              <a:xfrm>
                <a:off x="1223010" y="2172348"/>
                <a:ext cx="187468" cy="141267"/>
                <a:chOff x="3427964" y="2244682"/>
                <a:chExt cx="225891" cy="225034"/>
              </a:xfrm>
            </p:grpSpPr>
            <p:sp>
              <p:nvSpPr>
                <p:cNvPr id="423" name="Google Shape;423;p29"/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1B1C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29"/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01B1C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5" name="Google Shape;425;p29"/>
              <p:cNvGrpSpPr/>
              <p:nvPr/>
            </p:nvGrpSpPr>
            <p:grpSpPr>
              <a:xfrm>
                <a:off x="1223010" y="3033065"/>
                <a:ext cx="187468" cy="141267"/>
                <a:chOff x="3427964" y="2244682"/>
                <a:chExt cx="225891" cy="225034"/>
              </a:xfrm>
            </p:grpSpPr>
            <p:sp>
              <p:nvSpPr>
                <p:cNvPr id="426" name="Google Shape;426;p29"/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1B1C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29"/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01B1C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28" name="Google Shape;428;p29"/>
              <p:cNvGrpSpPr/>
              <p:nvPr/>
            </p:nvGrpSpPr>
            <p:grpSpPr>
              <a:xfrm>
                <a:off x="1223010" y="3704985"/>
                <a:ext cx="187468" cy="141267"/>
                <a:chOff x="3427964" y="2244682"/>
                <a:chExt cx="225891" cy="225034"/>
              </a:xfrm>
            </p:grpSpPr>
            <p:sp>
              <p:nvSpPr>
                <p:cNvPr id="415" name="Google Shape;415;p29"/>
                <p:cNvSpPr/>
                <p:nvPr/>
              </p:nvSpPr>
              <p:spPr>
                <a:xfrm>
                  <a:off x="3427964" y="2244682"/>
                  <a:ext cx="225891" cy="225034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9050">
                  <a:solidFill>
                    <a:srgbClr val="01B1C3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29"/>
                <p:cNvSpPr/>
                <p:nvPr/>
              </p:nvSpPr>
              <p:spPr>
                <a:xfrm>
                  <a:off x="3482167" y="2298680"/>
                  <a:ext cx="117483" cy="117037"/>
                </a:xfrm>
                <a:prstGeom prst="ellipse">
                  <a:avLst/>
                </a:prstGeom>
                <a:solidFill>
                  <a:srgbClr val="01B1C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30" name="Google Shape;430;p29"/>
          <p:cNvSpPr txBox="1"/>
          <p:nvPr/>
        </p:nvSpPr>
        <p:spPr>
          <a:xfrm>
            <a:off x="496665" y="705148"/>
            <a:ext cx="39834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EXPERTOS RECOMIENDAN </a:t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503238" y="282125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0"/>
          <p:cNvSpPr txBox="1"/>
          <p:nvPr/>
        </p:nvSpPr>
        <p:spPr>
          <a:xfrm>
            <a:off x="503238" y="789758"/>
            <a:ext cx="583355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APORTES RELEVANTES DE LA COMPARATIVA DE MÉTODOS </a:t>
            </a:r>
            <a:endParaRPr/>
          </a:p>
        </p:txBody>
      </p:sp>
      <p:grpSp>
        <p:nvGrpSpPr>
          <p:cNvPr id="438" name="Google Shape;438;p30"/>
          <p:cNvGrpSpPr/>
          <p:nvPr/>
        </p:nvGrpSpPr>
        <p:grpSpPr>
          <a:xfrm>
            <a:off x="1747413" y="1282400"/>
            <a:ext cx="5283283" cy="3773261"/>
            <a:chOff x="1807261" y="1333691"/>
            <a:chExt cx="5283283" cy="3773261"/>
          </a:xfrm>
        </p:grpSpPr>
        <p:sp>
          <p:nvSpPr>
            <p:cNvPr id="439" name="Google Shape;439;p30"/>
            <p:cNvSpPr/>
            <p:nvPr/>
          </p:nvSpPr>
          <p:spPr>
            <a:xfrm>
              <a:off x="3264106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0"/>
            <p:cNvSpPr/>
            <p:nvPr/>
          </p:nvSpPr>
          <p:spPr>
            <a:xfrm>
              <a:off x="1825526" y="1333691"/>
              <a:ext cx="2518544" cy="1821316"/>
            </a:xfrm>
            <a:prstGeom prst="roundRect">
              <a:avLst>
                <a:gd fmla="val 6572" name="adj"/>
              </a:avLst>
            </a:prstGeom>
            <a:solidFill>
              <a:schemeClr val="lt1"/>
            </a:solidFill>
            <a:ln cap="flat" cmpd="sng" w="38100">
              <a:solidFill>
                <a:srgbClr val="FF77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Meta-modelo común (catálogos, matrices, diagramas).</a:t>
              </a:r>
              <a:endParaRPr/>
            </a:p>
          </p:txBody>
        </p:sp>
        <p:sp>
          <p:nvSpPr>
            <p:cNvPr id="441" name="Google Shape;441;p30"/>
            <p:cNvSpPr/>
            <p:nvPr/>
          </p:nvSpPr>
          <p:spPr>
            <a:xfrm>
              <a:off x="1817579" y="2682242"/>
              <a:ext cx="2538511" cy="472329"/>
            </a:xfrm>
            <a:prstGeom prst="roundRect">
              <a:avLst>
                <a:gd fmla="val 23854" name="adj"/>
              </a:avLst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CONSISTENCIA </a:t>
              </a:r>
              <a:endPara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0"/>
            <p:cNvSpPr/>
            <p:nvPr/>
          </p:nvSpPr>
          <p:spPr>
            <a:xfrm>
              <a:off x="3270116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0"/>
            <p:cNvSpPr/>
            <p:nvPr/>
          </p:nvSpPr>
          <p:spPr>
            <a:xfrm>
              <a:off x="1831536" y="3285636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00B1C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ABBs/SBBs reutilizables con interfaces definidas.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0"/>
            <p:cNvSpPr/>
            <p:nvPr/>
          </p:nvSpPr>
          <p:spPr>
            <a:xfrm>
              <a:off x="1823590" y="4652133"/>
              <a:ext cx="2522182" cy="454384"/>
            </a:xfrm>
            <a:prstGeom prst="roundRect">
              <a:avLst>
                <a:gd fmla="val 25650" name="adj"/>
              </a:avLst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REUTILIZACIÓN</a:t>
              </a:r>
              <a:endParaRPr/>
            </a:p>
          </p:txBody>
        </p:sp>
        <p:sp>
          <p:nvSpPr>
            <p:cNvPr id="445" name="Google Shape;445;p30"/>
            <p:cNvSpPr/>
            <p:nvPr/>
          </p:nvSpPr>
          <p:spPr>
            <a:xfrm>
              <a:off x="1823589" y="4617539"/>
              <a:ext cx="2521027" cy="121339"/>
            </a:xfrm>
            <a:prstGeom prst="rect">
              <a:avLst/>
            </a:prstGeom>
            <a:solidFill>
              <a:srgbClr val="00B2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6010580" y="2107336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4572000" y="1333691"/>
              <a:ext cx="2518544" cy="1821316"/>
            </a:xfrm>
            <a:prstGeom prst="roundRect">
              <a:avLst>
                <a:gd fmla="val 6397" name="adj"/>
              </a:avLst>
            </a:prstGeom>
            <a:solidFill>
              <a:schemeClr val="lt1"/>
            </a:solidFill>
            <a:ln cap="flat" cmpd="sng" w="38100">
              <a:solidFill>
                <a:srgbClr val="8EC5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Artefactos y entregables ligados a requerimientos.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0"/>
            <p:cNvSpPr/>
            <p:nvPr/>
          </p:nvSpPr>
          <p:spPr>
            <a:xfrm>
              <a:off x="4569148" y="2700188"/>
              <a:ext cx="2511227" cy="454384"/>
            </a:xfrm>
            <a:prstGeom prst="roundRect">
              <a:avLst>
                <a:gd fmla="val 22057" name="adj"/>
              </a:avLst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TRAZABILIDAD</a:t>
              </a:r>
              <a:endParaRPr/>
            </a:p>
          </p:txBody>
        </p:sp>
        <p:sp>
          <p:nvSpPr>
            <p:cNvPr id="449" name="Google Shape;449;p30"/>
            <p:cNvSpPr/>
            <p:nvPr/>
          </p:nvSpPr>
          <p:spPr>
            <a:xfrm>
              <a:off x="4564053" y="2665594"/>
              <a:ext cx="2516321" cy="146513"/>
            </a:xfrm>
            <a:prstGeom prst="rect">
              <a:avLst/>
            </a:prstGeom>
            <a:solidFill>
              <a:srgbClr val="8EC54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6010580" y="4059281"/>
              <a:ext cx="843086" cy="296706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DB42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4572000" y="3285636"/>
              <a:ext cx="2518544" cy="1821316"/>
            </a:xfrm>
            <a:prstGeom prst="roundRect">
              <a:avLst>
                <a:gd fmla="val 6746" name="adj"/>
              </a:avLst>
            </a:prstGeom>
            <a:solidFill>
              <a:schemeClr val="lt1"/>
            </a:solidFill>
            <a:ln cap="flat" cmpd="sng" w="38100">
              <a:solidFill>
                <a:srgbClr val="EE453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28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Repositorio + capacidad arquitectónica para control del cambio.</a:t>
              </a: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4564053" y="4617539"/>
              <a:ext cx="2516321" cy="145832"/>
            </a:xfrm>
            <a:prstGeom prst="rect">
              <a:avLst/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0"/>
            <p:cNvSpPr/>
            <p:nvPr/>
          </p:nvSpPr>
          <p:spPr>
            <a:xfrm>
              <a:off x="4564053" y="4652133"/>
              <a:ext cx="2516321" cy="454384"/>
            </a:xfrm>
            <a:prstGeom prst="roundRect">
              <a:avLst>
                <a:gd fmla="val 23855" name="adj"/>
              </a:avLst>
            </a:prstGeom>
            <a:solidFill>
              <a:srgbClr val="EE453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GOBERNANZA</a:t>
              </a:r>
              <a:endParaRPr/>
            </a:p>
          </p:txBody>
        </p:sp>
        <p:sp>
          <p:nvSpPr>
            <p:cNvPr id="454" name="Google Shape;454;p30"/>
            <p:cNvSpPr/>
            <p:nvPr/>
          </p:nvSpPr>
          <p:spPr>
            <a:xfrm>
              <a:off x="1807261" y="2665594"/>
              <a:ext cx="2538511" cy="162841"/>
            </a:xfrm>
            <a:prstGeom prst="rect">
              <a:avLst/>
            </a:prstGeom>
            <a:solidFill>
              <a:srgbClr val="FF77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Recycle outline" id="455" name="Google Shape;455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633608" y="3335500"/>
              <a:ext cx="914400" cy="9144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6" name="Google Shape;456;p30"/>
          <p:cNvSpPr/>
          <p:nvPr/>
        </p:nvSpPr>
        <p:spPr>
          <a:xfrm>
            <a:off x="503238" y="282125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4715" y="1367050"/>
            <a:ext cx="743905" cy="74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70938" y="1407361"/>
            <a:ext cx="668713" cy="66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99471" y="3303598"/>
            <a:ext cx="743905" cy="74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1"/>
          <p:cNvSpPr txBox="1"/>
          <p:nvPr/>
        </p:nvSpPr>
        <p:spPr>
          <a:xfrm>
            <a:off x="600077" y="1325529"/>
            <a:ext cx="7709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 “el mejor” framework: se elige según el problema real (ejecutar transformación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vs.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ordenar/asegurar cobertura).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necesitas método y gobernanza: TOGAF aporta ADM + roadmap + repositorio, ideal para mover As-Is → To-Be con control.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necesitas cobertura total y orden documental: Zachman aporta matriz 6x6 para clasificar artefactos y evitar vacíos entre áreas.</a:t>
            </a:r>
            <a:endParaRPr/>
          </a:p>
          <a:p>
            <a:pPr indent="-1841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combinación madura: TOGAF marca la ruta de cambio; Zachman valida que el mapa esté completo (sin huecos en modelos/entregables).</a:t>
            </a:r>
            <a:endParaRPr/>
          </a:p>
        </p:txBody>
      </p:sp>
      <p:sp>
        <p:nvSpPr>
          <p:cNvPr id="466" name="Google Shape;466;p31"/>
          <p:cNvSpPr/>
          <p:nvPr/>
        </p:nvSpPr>
        <p:spPr>
          <a:xfrm>
            <a:off x="503238" y="282125"/>
            <a:ext cx="40687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COMPARATIVA Y SELECCIÓN DE MARCOS SEGÚN CONTEXTO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1"/>
          <p:cNvSpPr txBox="1"/>
          <p:nvPr/>
        </p:nvSpPr>
        <p:spPr>
          <a:xfrm>
            <a:off x="565759" y="723883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32"/>
          <p:cNvPicPr preferRelativeResize="0"/>
          <p:nvPr/>
        </p:nvPicPr>
        <p:blipFill rotWithShape="1">
          <a:blip r:embed="rId3">
            <a:alphaModFix/>
          </a:blip>
          <a:srcRect b="0" l="27208" r="27730" t="0"/>
          <a:stretch/>
        </p:blipFill>
        <p:spPr>
          <a:xfrm flipH="1">
            <a:off x="6006351" y="912813"/>
            <a:ext cx="2596200" cy="43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2"/>
          <p:cNvSpPr txBox="1"/>
          <p:nvPr/>
        </p:nvSpPr>
        <p:spPr>
          <a:xfrm>
            <a:off x="2211768" y="2277499"/>
            <a:ext cx="3599053" cy="886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¿Y AHORA</a:t>
            </a:r>
            <a:b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rgbClr val="8EC540"/>
                </a:solidFill>
                <a:latin typeface="Arial"/>
                <a:ea typeface="Arial"/>
                <a:cs typeface="Arial"/>
                <a:sym typeface="Arial"/>
              </a:rPr>
              <a:t>QUÉ OPINAS…?</a:t>
            </a:r>
            <a:endParaRPr/>
          </a:p>
        </p:txBody>
      </p:sp>
      <p:pic>
        <p:nvPicPr>
          <p:cNvPr id="474" name="Google Shape;4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1076" y="2441396"/>
            <a:ext cx="329184" cy="541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891" y="2149609"/>
            <a:ext cx="1222115" cy="120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 txBox="1"/>
          <p:nvPr/>
        </p:nvSpPr>
        <p:spPr>
          <a:xfrm>
            <a:off x="2375452" y="1735056"/>
            <a:ext cx="439309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FF7828"/>
                </a:solidFill>
                <a:latin typeface="Arial"/>
                <a:ea typeface="Arial"/>
                <a:cs typeface="Arial"/>
                <a:sym typeface="Arial"/>
              </a:rPr>
              <a:t>Comparte tus dudas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FF7828"/>
                </a:solidFill>
                <a:latin typeface="Arial"/>
                <a:ea typeface="Arial"/>
                <a:cs typeface="Arial"/>
                <a:sym typeface="Arial"/>
              </a:rPr>
              <a:t>Podemos resolverlo juntos como equipo</a:t>
            </a:r>
            <a:endParaRPr/>
          </a:p>
        </p:txBody>
      </p:sp>
      <p:sp>
        <p:nvSpPr>
          <p:cNvPr id="482" name="Google Shape;482;p33"/>
          <p:cNvSpPr/>
          <p:nvPr/>
        </p:nvSpPr>
        <p:spPr>
          <a:xfrm>
            <a:off x="1854127" y="1841598"/>
            <a:ext cx="425980" cy="425980"/>
          </a:xfrm>
          <a:prstGeom prst="ellipse">
            <a:avLst/>
          </a:prstGeom>
          <a:solidFill>
            <a:srgbClr val="FF78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7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3" name="Google Shape;48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472" y="1933432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3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9" name="Google Shape;489;p34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490" name="Google Shape;490;p34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491" name="Google Shape;491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92" name="Google Shape;49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5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35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287395" y="3366155"/>
            <a:ext cx="1690689" cy="21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grpSp>
        <p:nvGrpSpPr>
          <p:cNvPr id="502" name="Google Shape;502;p35"/>
          <p:cNvGrpSpPr/>
          <p:nvPr/>
        </p:nvGrpSpPr>
        <p:grpSpPr>
          <a:xfrm>
            <a:off x="1029549" y="751183"/>
            <a:ext cx="6514252" cy="3231654"/>
            <a:chOff x="1011260" y="833479"/>
            <a:chExt cx="6564707" cy="3231654"/>
          </a:xfrm>
        </p:grpSpPr>
        <p:sp>
          <p:nvSpPr>
            <p:cNvPr id="503" name="Google Shape;503;p35"/>
            <p:cNvSpPr txBox="1"/>
            <p:nvPr/>
          </p:nvSpPr>
          <p:spPr>
            <a:xfrm>
              <a:off x="1300084" y="833479"/>
              <a:ext cx="6275883" cy="32316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Los marcos de referencia son “lentes” para ordenar la complejidad: crean lenguaje común, reducen duplicidad y hacen más consistente la transformación entre negocio y TI.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TOGAF 9.1 aporta el “cómo”: ADM como método repetible + continuum y repositorio para reuso, trazabilidad y gobernanza de entregables.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Zachman aporta el “qué debe estar cubierto”: matriz 6x6 para clasificar artefactos y evitar vacíos entre perspectivas (ejecutiva, negocio, diseño, construcción) y preguntas clave (qué, cómo, dónde, quién, cuándo, por qué).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Selección según contexto: si necesitas ejecutar cambio con disciplina, rutas y control, prioriza TOGAF; si necesitas cobertura y orden de modelos/entregables, prioriza Zachman. En programas grandes, lo óptimo es combinarlos (TOGAF marca el camino, Zachman verifica el mapa).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4" name="Google Shape;50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909941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5" name="Google Shape;505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1717006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6" name="Google Shape;50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2374025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1260" y="3221570"/>
              <a:ext cx="114138" cy="1175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514" name="Google Shape;51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7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7"/>
          <p:cNvSpPr txBox="1"/>
          <p:nvPr/>
        </p:nvSpPr>
        <p:spPr>
          <a:xfrm>
            <a:off x="1279009" y="917823"/>
            <a:ext cx="6879648" cy="3877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Open Group. (2011). TOGAF® Version 9.1. The Open Group Standard.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Zachman, J. A. (1987). A Framework for Information Systems Architecture. IBM Systems Journal.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Zachman International. (2008). The Zachman Framework™ for Enterprise Architecture. Zachman International.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Ross, J. W., Weill, P., &amp; Robertson, D. C. (2006). Enterprise Architecture as Strategy: Creating a Foundation for Business Execution. Harvard Business School Press.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Bernard, S. A. (2012). An Introduction to Enterprise Architecture (EA3) (3rd ed.). AuthorHouse.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Roszczyk, M. (2016). Enterprise Architecture as a System Engineering Discipline. Synthetic Systems.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ISO/IEC. (2007). ISO/IEC 42010:2007 Systems and Software Engineering — Recommended Practice for Architectural Description of Software-Intensive Systems. ISO/IEC.</a:t>
            </a:r>
            <a:endParaRPr/>
          </a:p>
        </p:txBody>
      </p:sp>
      <p:pic>
        <p:nvPicPr>
          <p:cNvPr id="522" name="Google Shape;52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959114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" name="Google Shape;52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1414181"/>
            <a:ext cx="103867" cy="106967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7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5" name="Google Shape;525;p37"/>
          <p:cNvPicPr preferRelativeResize="0"/>
          <p:nvPr/>
        </p:nvPicPr>
        <p:blipFill rotWithShape="1">
          <a:blip r:embed="rId4">
            <a:alphaModFix amt="42000"/>
          </a:blip>
          <a:srcRect b="0" l="0" r="0" t="0"/>
          <a:stretch/>
        </p:blipFill>
        <p:spPr>
          <a:xfrm>
            <a:off x="6985000" y="3036889"/>
            <a:ext cx="1690688" cy="21971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7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pic>
        <p:nvPicPr>
          <p:cNvPr id="527" name="Google Shape;52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4" y="2104722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795263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3346009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2" y="3789788"/>
            <a:ext cx="103867" cy="106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3629" y="4426845"/>
            <a:ext cx="103867" cy="1069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7" name="Google Shape;53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2006-06-01T21:36:52Z</dcterms:created>
  <dc:creator>Isil</dc:creator>
</cp:coreProperties>
</file>