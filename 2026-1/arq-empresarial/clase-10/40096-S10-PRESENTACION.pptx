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2" roundtripDataSignature="AMtx7milGIMjf3R9GCqOJ5sfXx3lA7oa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29E104-3B3B-425C-9CA9-1C08A1D21EA0}">
  <a:tblStyle styleId="{0829E104-3B3B-425C-9CA9-1C08A1D21EA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>
  <p:cSld name="Título y objeto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A">
  <p:cSld name="Subtema - 1 Imagen A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7379148" y="5371562"/>
            <a:ext cx="13692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</a:t>
            </a:r>
            <a:endParaRPr/>
          </a:p>
        </p:txBody>
      </p:sp>
      <p:sp>
        <p:nvSpPr>
          <p:cNvPr id="11" name="Google Shape;11;p36"/>
          <p:cNvSpPr txBox="1"/>
          <p:nvPr/>
        </p:nvSpPr>
        <p:spPr>
          <a:xfrm>
            <a:off x="876300" y="5343300"/>
            <a:ext cx="303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</a:t>
            </a:r>
            <a:r>
              <a:rPr b="0" i="0" lang="es-ES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 •  TEMA 10</a:t>
            </a:r>
            <a:endParaRPr sz="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6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3">
          <p15:clr>
            <a:srgbClr val="F26B43"/>
          </p15:clr>
        </p15:guide>
        <p15:guide id="2" pos="2880">
          <p15:clr>
            <a:srgbClr val="F26B43"/>
          </p15:clr>
        </p15:guide>
        <p15:guide id="3" pos="2993">
          <p15:clr>
            <a:srgbClr val="F26B43"/>
          </p15:clr>
        </p15:guide>
        <p15:guide id="4" pos="2767">
          <p15:clr>
            <a:srgbClr val="F26B43"/>
          </p15:clr>
        </p15:guide>
        <p15:guide id="5" pos="5465">
          <p15:clr>
            <a:srgbClr val="F26B43"/>
          </p15:clr>
        </p15:guide>
        <p15:guide id="6" orient="horz" pos="575">
          <p15:clr>
            <a:srgbClr val="F26B43"/>
          </p15:clr>
        </p15:guide>
        <p15:guide id="7" orient="horz" pos="3297">
          <p15:clr>
            <a:srgbClr val="F26B43"/>
          </p15:clr>
        </p15:guide>
        <p15:guide id="8" pos="31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</a:t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84989" y="2946166"/>
            <a:ext cx="3114953" cy="1545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Relación entre aplicaciones y procesos del negocio.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Portafolio de aplicaciones y su categorización.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tecnológica: interoperabilidad, plataformas, servicios.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de brechas tecnológicas</a:t>
            </a:r>
            <a:endParaRPr/>
          </a:p>
          <a:p>
            <a:pPr indent="-889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726355" y="1431137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D4D6"/>
                </a:solidFill>
                <a:latin typeface="Calibri"/>
                <a:ea typeface="Calibri"/>
                <a:cs typeface="Calibri"/>
                <a:sym typeface="Calibri"/>
              </a:rPr>
              <a:t>TEMA 10</a:t>
            </a:r>
            <a:endParaRPr/>
          </a:p>
        </p:txBody>
      </p:sp>
      <p:pic>
        <p:nvPicPr>
          <p:cNvPr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17" y="1495162"/>
            <a:ext cx="166865" cy="17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087" y="0"/>
            <a:ext cx="5395913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"/>
          <p:cNvSpPr/>
          <p:nvPr/>
        </p:nvSpPr>
        <p:spPr>
          <a:xfrm>
            <a:off x="540060" y="1938284"/>
            <a:ext cx="2804809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 </a:t>
            </a:r>
            <a:r>
              <a:rPr b="1"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DEAPLICACIONES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38" name="Google Shape;38;p2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3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7577904" y="3292700"/>
            <a:ext cx="1363134" cy="176038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12382" y="487645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990147" y="1071306"/>
            <a:ext cx="6587757" cy="2800767"/>
            <a:chOff x="1173461" y="797438"/>
            <a:chExt cx="6301717" cy="2800767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173461" y="797438"/>
              <a:ext cx="6301717" cy="2800767"/>
              <a:chOff x="1036301" y="784946"/>
              <a:chExt cx="6301717" cy="2800767"/>
            </a:xfrm>
          </p:grpSpPr>
          <p:sp>
            <p:nvSpPr>
              <p:cNvPr id="52" name="Google Shape;52;p3"/>
              <p:cNvSpPr txBox="1"/>
              <p:nvPr/>
            </p:nvSpPr>
            <p:spPr>
              <a:xfrm>
                <a:off x="1283936" y="784946"/>
                <a:ext cx="6054082" cy="28007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 Arquitectura de Aplicaciones analiza cómo los sistemas de información soportan los procesos del negocio y habilitan la ejecución de las capacidades estratégicas. No se limita a inventariar software, sino que modela la estructura lógica de las aplicaciones, sus servicios, dependencias e integración con datos y plataformas.</a:t>
                </a:r>
                <a:endParaRPr/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 un enfoque arquitectónico formal, las aplicaciones representan la capa intermedia entre el negocio y la tecnología, actuando como mecanismo de automatización, control y escalabilidad de los procesos organizacionales.</a:t>
                </a:r>
                <a:endParaRPr/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Este tema aborda la relación estructural entre procesos y servicios de aplicación, la gestión del portafolio tecnológico, los mecanismos de integración e interoperabilidad y el análisis de brechas entre la arquitectura actual y la arquitectura objetivo, permitiendo alinear tecnología con estrategia y desempeño organizacional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6301" y="853109"/>
                <a:ext cx="117851" cy="1213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4" name="Google Shape;54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44636" y="1917174"/>
                <a:ext cx="117851" cy="1213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5" name="Google Shape;5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79427" y="2787436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1008061" y="3169972"/>
            <a:ext cx="4006391" cy="986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RELACIÓN ENTRE APLICACIONES </a:t>
            </a:r>
            <a:r>
              <a:rPr b="1"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 PROCESOS DEL NEGOCIO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/>
        </p:nvSpPr>
        <p:spPr>
          <a:xfrm>
            <a:off x="503238" y="1016584"/>
            <a:ext cx="574540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FUNDAMENTO ESTRUCTURAL: DE CAPACIDAD A APLICACIÓN</a:t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 rot="2231874">
            <a:off x="6595164" y="1534062"/>
            <a:ext cx="812437" cy="26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1936954" y="4584988"/>
            <a:ext cx="635163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Sin esta trazabilidad no existe alineamiento arquitectónico.</a:t>
            </a:r>
            <a:endParaRPr/>
          </a:p>
        </p:txBody>
      </p:sp>
      <p:graphicFrame>
        <p:nvGraphicFramePr>
          <p:cNvPr id="72" name="Google Shape;72;p5"/>
          <p:cNvGraphicFramePr/>
          <p:nvPr/>
        </p:nvGraphicFramePr>
        <p:xfrm>
          <a:off x="503238" y="15091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{0829E104-3B3B-425C-9CA9-1C08A1D21EA0}</a:tableStyleId>
              </a:tblPr>
              <a:tblGrid>
                <a:gridCol w="3888825"/>
                <a:gridCol w="3888825"/>
              </a:tblGrid>
              <a:tr h="44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600" u="none" cap="none" strike="noStrike">
                          <a:solidFill>
                            <a:srgbClr val="7150A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Principios clave: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 u="none" cap="none" strike="noStrike">
                        <a:solidFill>
                          <a:srgbClr val="7150A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3" name="Google Shape;73;p5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RELACIÓN ENTRE APLICACIONES Y PROCESOS DEL NEGOCIO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03238" y="1999665"/>
            <a:ext cx="4609536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capacidades representan lo que la organización debe saber hacer.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procesos operacionalizan las capacidades.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servicios de aplicación automatizan actividades del proceso.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componentes implementan los servicios.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/>
          <p:nvPr/>
        </p:nvSpPr>
        <p:spPr>
          <a:xfrm>
            <a:off x="503238" y="801065"/>
            <a:ext cx="574540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 DE APLICACIÓN: DEFINICIÓN TÉCNICA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RELACIÓN ENTRE APLICACIONES Y PROCESOS DEL NEGOCIO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676455" y="1263837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 estructural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676455" y="1838388"/>
            <a:ext cx="3175640" cy="2104814"/>
          </a:xfrm>
          <a:prstGeom prst="roundRect">
            <a:avLst>
              <a:gd fmla="val 2748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809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Proceso: Evaluación de crédito.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9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Actividad: Calcular riesgo.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9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Servicio de aplicación: Motor de scoring.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9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Componente: Sistema Core Crediticio</a:t>
            </a: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4460689" y="1312466"/>
            <a:ext cx="459474" cy="403823"/>
            <a:chOff x="5892512" y="2805541"/>
            <a:chExt cx="459474" cy="403823"/>
          </a:xfrm>
        </p:grpSpPr>
        <p:sp>
          <p:nvSpPr>
            <p:cNvPr id="85" name="Google Shape;85;p6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6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" name="Google Shape;88;p6"/>
          <p:cNvSpPr/>
          <p:nvPr/>
        </p:nvSpPr>
        <p:spPr>
          <a:xfrm>
            <a:off x="1290849" y="1263837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Debe cumplir</a:t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290849" y="1838387"/>
            <a:ext cx="3175640" cy="2104813"/>
          </a:xfrm>
          <a:prstGeom prst="roundRect">
            <a:avLst>
              <a:gd fmla="val 2748" name="adj"/>
            </a:avLst>
          </a:prstGeom>
          <a:solidFill>
            <a:srgbClr val="FFD8D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809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Tener interfaz definida</a:t>
            </a:r>
            <a:endParaRPr/>
          </a:p>
          <a:p>
            <a:pPr indent="-920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Exponer funcionalidad reutilizable.</a:t>
            </a:r>
            <a:endParaRPr/>
          </a:p>
          <a:p>
            <a:pPr indent="-920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 datos específicos</a:t>
            </a:r>
            <a:endParaRPr/>
          </a:p>
          <a:p>
            <a:pPr indent="-920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invocable por otros componentes.</a:t>
            </a:r>
            <a:endParaRPr/>
          </a:p>
          <a:p>
            <a:pPr indent="-920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5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" name="Google Shape;90;p6"/>
          <p:cNvGrpSpPr/>
          <p:nvPr/>
        </p:nvGrpSpPr>
        <p:grpSpPr>
          <a:xfrm>
            <a:off x="1075934" y="1312466"/>
            <a:ext cx="459474" cy="403823"/>
            <a:chOff x="5892512" y="2805541"/>
            <a:chExt cx="459474" cy="403823"/>
          </a:xfrm>
        </p:grpSpPr>
        <p:sp>
          <p:nvSpPr>
            <p:cNvPr id="91" name="Google Shape;91;p6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B7362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6"/>
          <p:cNvSpPr/>
          <p:nvPr/>
        </p:nvSpPr>
        <p:spPr>
          <a:xfrm>
            <a:off x="1753378" y="4129156"/>
            <a:ext cx="5637244" cy="930336"/>
          </a:xfrm>
          <a:prstGeom prst="roundRect">
            <a:avLst>
              <a:gd fmla="val 23879" name="adj"/>
            </a:avLst>
          </a:prstGeom>
          <a:solidFill>
            <a:srgbClr val="EDE8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servicio de aplicación es una funcionalidad lógica expuesta por un sistema que soporta una o más actividades de negocio.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1362631" y="1882588"/>
            <a:ext cx="6615957" cy="1501589"/>
          </a:xfrm>
          <a:prstGeom prst="roundRect">
            <a:avLst>
              <a:gd fmla="val 5987" name="adj"/>
            </a:avLst>
          </a:prstGeom>
          <a:solidFill>
            <a:srgbClr val="00B1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7"/>
          <p:cNvPicPr preferRelativeResize="0"/>
          <p:nvPr/>
        </p:nvPicPr>
        <p:blipFill rotWithShape="1">
          <a:blip r:embed="rId3">
            <a:alphaModFix/>
          </a:blip>
          <a:srcRect b="47890" l="30026" r="24147" t="0"/>
          <a:stretch/>
        </p:blipFill>
        <p:spPr>
          <a:xfrm>
            <a:off x="1640542" y="1410107"/>
            <a:ext cx="546847" cy="92071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7"/>
          <p:cNvSpPr txBox="1"/>
          <p:nvPr/>
        </p:nvSpPr>
        <p:spPr>
          <a:xfrm>
            <a:off x="1754368" y="2402902"/>
            <a:ext cx="58118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“Sin trazabilidad entre capacidad, proceso y servicio de aplicación, no existe alineamiento arquitectónico real.”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RELACIÓN ENTRE APLICACIONES Y PROCESOS DEL NEGOCIO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8"/>
          <p:cNvGrpSpPr/>
          <p:nvPr/>
        </p:nvGrpSpPr>
        <p:grpSpPr>
          <a:xfrm>
            <a:off x="1342032" y="1688291"/>
            <a:ext cx="6459936" cy="2563976"/>
            <a:chOff x="976707" y="1599801"/>
            <a:chExt cx="6459936" cy="2563976"/>
          </a:xfrm>
        </p:grpSpPr>
        <p:sp>
          <p:nvSpPr>
            <p:cNvPr id="109" name="Google Shape;109;p8"/>
            <p:cNvSpPr/>
            <p:nvPr/>
          </p:nvSpPr>
          <p:spPr>
            <a:xfrm>
              <a:off x="976707" y="1610216"/>
              <a:ext cx="3176196" cy="1211709"/>
            </a:xfrm>
            <a:prstGeom prst="roundRect">
              <a:avLst>
                <a:gd fmla="val 4231" name="adj"/>
              </a:avLst>
            </a:prstGeom>
            <a:solidFill>
              <a:srgbClr val="FCC7C4">
                <a:alpha val="80000"/>
              </a:srgbClr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Diagrama de Procesos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(BPMN nivel 1 o 2)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Identifica actividades automatizadas.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ED463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976707" y="2952068"/>
              <a:ext cx="3176196" cy="1211709"/>
            </a:xfrm>
            <a:prstGeom prst="roundRect">
              <a:avLst>
                <a:gd fmla="val 4231" name="adj"/>
              </a:avLst>
            </a:prstGeom>
            <a:solidFill>
              <a:srgbClr val="FFD7C1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Matriz de trazabilidad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Proceso | Actividad | Servicio | Aplicación | Dato crítico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4260447" y="1599801"/>
              <a:ext cx="3176196" cy="1211709"/>
            </a:xfrm>
            <a:prstGeom prst="roundRect">
              <a:avLst>
                <a:gd fmla="val 4231" name="adj"/>
              </a:avLst>
            </a:prstGeom>
            <a:solidFill>
              <a:srgbClr val="D1EFF4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Diagrama de Componentes (UML)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Representa aplicaciones y servicios.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4260447" y="2952068"/>
              <a:ext cx="3176196" cy="1211709"/>
            </a:xfrm>
            <a:prstGeom prst="roundRect">
              <a:avLst>
                <a:gd fmla="val 4231" name="adj"/>
              </a:avLst>
            </a:prstGeom>
            <a:solidFill>
              <a:srgbClr val="DDEEC7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Vista por capas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Negocio ↔ Aplicación ↔ Datos ↔ Tecnología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5725" lvl="0" marL="180975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3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5725" lvl="0" marL="180975" marR="0" rtl="0" algn="l">
                <a:spcBef>
                  <a:spcPts val="600"/>
                </a:spcBef>
                <a:spcAft>
                  <a:spcPts val="0"/>
                </a:spcAft>
                <a:buClr>
                  <a:schemeClr val="accent3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" name="Google Shape;113;p8"/>
          <p:cNvSpPr txBox="1"/>
          <p:nvPr/>
        </p:nvSpPr>
        <p:spPr>
          <a:xfrm>
            <a:off x="511341" y="841082"/>
            <a:ext cx="729062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FORMAL DE LA RELACIÓN: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relación proceso–aplicación debe modelarse mediante artefactos formales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2052484" y="4601308"/>
            <a:ext cx="503903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no se puede modelar, no se puede 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analizar el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impacto.</a:t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RELACIÓN ENTRE APLICACIONES Y PROCESOS DEL NEGOCIO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/>
        </p:nvSpPr>
        <p:spPr>
          <a:xfrm>
            <a:off x="655205" y="704886"/>
            <a:ext cx="6958266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RELACIÓN ESTRUCTURAL</a:t>
            </a:r>
            <a:endParaRPr/>
          </a:p>
        </p:txBody>
      </p:sp>
      <p:sp>
        <p:nvSpPr>
          <p:cNvPr id="122" name="Google Shape;122;p9"/>
          <p:cNvSpPr txBox="1"/>
          <p:nvPr/>
        </p:nvSpPr>
        <p:spPr>
          <a:xfrm>
            <a:off x="655206" y="1619783"/>
            <a:ext cx="413310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1" lang="es-ES" sz="14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SOPORTE DIRECTO: </a:t>
            </a:r>
            <a:b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aplicación soporta completamente un proceso.</a:t>
            </a:r>
            <a:endParaRPr/>
          </a:p>
          <a:p>
            <a:pPr indent="-873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1" lang="es-ES" sz="14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SOPORTE FRAGMENTADO: </a:t>
            </a:r>
            <a:b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Múltiples aplicaciones soportan distintas actividades del mismo proceso.</a:t>
            </a:r>
            <a:endParaRPr/>
          </a:p>
          <a:p>
            <a:pPr indent="-873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1" lang="es-ES" sz="14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REDUNDANCIA FUNCIONAL: </a:t>
            </a:r>
            <a:b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o más aplicaciones soportan la misma actividad.</a:t>
            </a:r>
            <a:endParaRPr/>
          </a:p>
          <a:p>
            <a:pPr indent="-873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1" lang="es-ES" sz="14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SOPORTE MANUAL: </a:t>
            </a:r>
            <a:b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Actividades críticas sin automatización.</a:t>
            </a:r>
            <a:endParaRPr/>
          </a:p>
        </p:txBody>
      </p:sp>
      <p:sp>
        <p:nvSpPr>
          <p:cNvPr id="123" name="Google Shape;123;p9"/>
          <p:cNvSpPr txBox="1"/>
          <p:nvPr/>
        </p:nvSpPr>
        <p:spPr>
          <a:xfrm>
            <a:off x="581894" y="1116168"/>
            <a:ext cx="457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cuatro patrones principales:</a:t>
            </a:r>
            <a:endParaRPr/>
          </a:p>
        </p:txBody>
      </p:sp>
      <p:sp>
        <p:nvSpPr>
          <p:cNvPr id="124" name="Google Shape;124;p9"/>
          <p:cNvSpPr txBox="1"/>
          <p:nvPr/>
        </p:nvSpPr>
        <p:spPr>
          <a:xfrm>
            <a:off x="1543665" y="4581395"/>
            <a:ext cx="624348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Cada patrón implica diferente nivel de riesgo y complejidad operativa.</a:t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RELACIÓN ENTRE APLICACIONES Y PROCESOS DEL NEGOCIO</a:t>
            </a:r>
            <a:endParaRPr/>
          </a:p>
        </p:txBody>
      </p:sp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3894" y="951107"/>
            <a:ext cx="3182375" cy="3228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/>
        </p:nvSpPr>
        <p:spPr>
          <a:xfrm>
            <a:off x="503237" y="801065"/>
            <a:ext cx="7706697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MODELADO FORMAL DE LA RELACIÓN: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relación proceso–aplicación debe modelarse mediante artefactos formales:</a:t>
            </a:r>
            <a:endParaRPr/>
          </a:p>
        </p:txBody>
      </p:sp>
      <p:sp>
        <p:nvSpPr>
          <p:cNvPr id="133" name="Google Shape;133;p10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RELACIÓN ENTRE APLICACIONES Y PROCESOS DEL NEGOCIO</a:t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4676455" y="1480147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Impacto estructural</a:t>
            </a:r>
            <a:endParaRPr/>
          </a:p>
        </p:txBody>
      </p:sp>
      <p:sp>
        <p:nvSpPr>
          <p:cNvPr id="135" name="Google Shape;135;p10"/>
          <p:cNvSpPr/>
          <p:nvPr/>
        </p:nvSpPr>
        <p:spPr>
          <a:xfrm>
            <a:off x="4676455" y="2054697"/>
            <a:ext cx="3175640" cy="2281005"/>
          </a:xfrm>
          <a:prstGeom prst="roundRect">
            <a:avLst>
              <a:gd fmla="val 2748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809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Incremento de riesgo operativo.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9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Baja flexibilidad estratégica.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9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 de modernización.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49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Elevado costo de mantenimiento.</a:t>
            </a:r>
            <a:endParaRPr/>
          </a:p>
        </p:txBody>
      </p:sp>
      <p:grpSp>
        <p:nvGrpSpPr>
          <p:cNvPr id="136" name="Google Shape;136;p10"/>
          <p:cNvGrpSpPr/>
          <p:nvPr/>
        </p:nvGrpSpPr>
        <p:grpSpPr>
          <a:xfrm>
            <a:off x="4460689" y="1528776"/>
            <a:ext cx="459474" cy="403823"/>
            <a:chOff x="5892512" y="2805541"/>
            <a:chExt cx="459474" cy="403823"/>
          </a:xfrm>
        </p:grpSpPr>
        <p:sp>
          <p:nvSpPr>
            <p:cNvPr id="137" name="Google Shape;137;p10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0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0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10"/>
          <p:cNvSpPr/>
          <p:nvPr/>
        </p:nvSpPr>
        <p:spPr>
          <a:xfrm>
            <a:off x="1290849" y="1480147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Desalineaciones frecuentes</a:t>
            </a:r>
            <a:endParaRPr/>
          </a:p>
        </p:txBody>
      </p:sp>
      <p:sp>
        <p:nvSpPr>
          <p:cNvPr id="141" name="Google Shape;141;p10"/>
          <p:cNvSpPr/>
          <p:nvPr/>
        </p:nvSpPr>
        <p:spPr>
          <a:xfrm>
            <a:off x="1290849" y="2054696"/>
            <a:ext cx="3175640" cy="2281007"/>
          </a:xfrm>
          <a:prstGeom prst="roundRect">
            <a:avLst>
              <a:gd fmla="val 2748" name="adj"/>
            </a:avLst>
          </a:prstGeom>
          <a:solidFill>
            <a:srgbClr val="FFD8D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 crítico soportado por sistema legacy no escalable.</a:t>
            </a:r>
            <a:endParaRPr/>
          </a:p>
          <a:p>
            <a:pPr indent="-873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dependencia punto a punto entre aplicaciones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20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Integraciones no documentadas.</a:t>
            </a:r>
            <a:endParaRPr/>
          </a:p>
          <a:p>
            <a:pPr indent="-920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responsable funcional del servicio.</a:t>
            </a:r>
            <a:endParaRPr/>
          </a:p>
          <a:p>
            <a:pPr indent="-92075" lvl="0" marL="1809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5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2" name="Google Shape;142;p10"/>
          <p:cNvGrpSpPr/>
          <p:nvPr/>
        </p:nvGrpSpPr>
        <p:grpSpPr>
          <a:xfrm>
            <a:off x="1075934" y="1528776"/>
            <a:ext cx="459474" cy="403823"/>
            <a:chOff x="5892512" y="2805541"/>
            <a:chExt cx="459474" cy="403823"/>
          </a:xfrm>
        </p:grpSpPr>
        <p:sp>
          <p:nvSpPr>
            <p:cNvPr id="143" name="Google Shape;143;p10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B7362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0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0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10"/>
          <p:cNvSpPr/>
          <p:nvPr/>
        </p:nvSpPr>
        <p:spPr>
          <a:xfrm>
            <a:off x="876689" y="4444180"/>
            <a:ext cx="7390622" cy="780213"/>
          </a:xfrm>
          <a:prstGeom prst="roundRect">
            <a:avLst>
              <a:gd fmla="val 23879" name="adj"/>
            </a:avLst>
          </a:prstGeom>
          <a:solidFill>
            <a:srgbClr val="EDE8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arquitectura de aplicaciones debe diseñarse en función del negocio, no al revés.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análisis estructural permite construir un roadmap tecnológico coherente con capacidades estratégicas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/>
        </p:nvSpPr>
        <p:spPr>
          <a:xfrm>
            <a:off x="503238" y="927756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00D4D6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153" name="Google Shape;153;p11"/>
          <p:cNvSpPr txBox="1"/>
          <p:nvPr/>
        </p:nvSpPr>
        <p:spPr>
          <a:xfrm>
            <a:off x="1193029" y="1305084"/>
            <a:ext cx="691915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arquitectura de aplicaciones establece la trazabilidad formal entre capacidades estratégicas, procesos de negocio y servicios tecnológicos, asegurando coherencia estructural en la ejecución.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servicio de aplicación representa la materialización lógica de actividades del proceso, y debe diseñarse con interfaces definidas, reutilización y desacoplamiento funcional.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modelado formal mediante vistas por capas y artefactos como BPMN y UML permite analizar dependencias, redundancias y riesgos tecnológicos con precisión arquitectónica.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ausencia de alineamiento entre procesos críticos y soporte tecnológico genera fragmentación operativa, dependencia legacy y limitaciones para la evolución estratégica.</a:t>
            </a:r>
            <a:endParaRPr/>
          </a:p>
        </p:txBody>
      </p:sp>
      <p:sp>
        <p:nvSpPr>
          <p:cNvPr id="154" name="Google Shape;154;p11"/>
          <p:cNvSpPr/>
          <p:nvPr/>
        </p:nvSpPr>
        <p:spPr>
          <a:xfrm>
            <a:off x="475796" y="1295956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1"/>
          <p:cNvCxnSpPr/>
          <p:nvPr/>
        </p:nvCxnSpPr>
        <p:spPr>
          <a:xfrm>
            <a:off x="1031821" y="1429492"/>
            <a:ext cx="0" cy="3072394"/>
          </a:xfrm>
          <a:prstGeom prst="straightConnector1">
            <a:avLst/>
          </a:prstGeom>
          <a:noFill/>
          <a:ln cap="flat" cmpd="sng" w="12700">
            <a:solidFill>
              <a:srgbClr val="01B1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1"/>
          <p:cNvSpPr/>
          <p:nvPr/>
        </p:nvSpPr>
        <p:spPr>
          <a:xfrm>
            <a:off x="475796" y="2308944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475796" y="3299095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p11"/>
          <p:cNvGrpSpPr/>
          <p:nvPr/>
        </p:nvGrpSpPr>
        <p:grpSpPr>
          <a:xfrm>
            <a:off x="961425" y="1399995"/>
            <a:ext cx="140792" cy="140258"/>
            <a:chOff x="3427964" y="2244682"/>
            <a:chExt cx="225891" cy="225034"/>
          </a:xfrm>
        </p:grpSpPr>
        <p:sp>
          <p:nvSpPr>
            <p:cNvPr id="159" name="Google Shape;159;p1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1"/>
          <p:cNvSpPr/>
          <p:nvPr/>
        </p:nvSpPr>
        <p:spPr>
          <a:xfrm>
            <a:off x="478123" y="4198523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p11"/>
          <p:cNvGrpSpPr/>
          <p:nvPr/>
        </p:nvGrpSpPr>
        <p:grpSpPr>
          <a:xfrm>
            <a:off x="961425" y="2410038"/>
            <a:ext cx="140792" cy="140258"/>
            <a:chOff x="3427964" y="2244682"/>
            <a:chExt cx="225891" cy="225034"/>
          </a:xfrm>
        </p:grpSpPr>
        <p:sp>
          <p:nvSpPr>
            <p:cNvPr id="163" name="Google Shape;163;p1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1"/>
          <p:cNvGrpSpPr/>
          <p:nvPr/>
        </p:nvGrpSpPr>
        <p:grpSpPr>
          <a:xfrm>
            <a:off x="961425" y="3389840"/>
            <a:ext cx="140792" cy="140258"/>
            <a:chOff x="3427964" y="2244682"/>
            <a:chExt cx="225891" cy="225034"/>
          </a:xfrm>
        </p:grpSpPr>
        <p:sp>
          <p:nvSpPr>
            <p:cNvPr id="166" name="Google Shape;166;p1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1"/>
          <p:cNvGrpSpPr/>
          <p:nvPr/>
        </p:nvGrpSpPr>
        <p:grpSpPr>
          <a:xfrm>
            <a:off x="961425" y="4332131"/>
            <a:ext cx="140792" cy="140258"/>
            <a:chOff x="3427964" y="2244682"/>
            <a:chExt cx="225891" cy="225034"/>
          </a:xfrm>
        </p:grpSpPr>
        <p:sp>
          <p:nvSpPr>
            <p:cNvPr id="169" name="Google Shape;169;p11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" name="Google Shape;171;p11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RELACIÓN ENTRE APLICACIONES Y PROCESOS DEL NEGOCIO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 txBox="1"/>
          <p:nvPr/>
        </p:nvSpPr>
        <p:spPr>
          <a:xfrm>
            <a:off x="1203486" y="3160828"/>
            <a:ext cx="4027275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PORTAFOLIO DE APLICACIONES </a:t>
            </a:r>
            <a:r>
              <a:rPr b="1"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 SU CATEGORIZACIÓN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/>
        </p:nvSpPr>
        <p:spPr>
          <a:xfrm>
            <a:off x="506796" y="918372"/>
            <a:ext cx="3560379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EL PORTAFOLIO DE APLICACIONES?</a:t>
            </a:r>
            <a:endParaRPr/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portafolio de aplicaciones es el inventario estructurado y clasificado de todos los sistemas que soportan las capacidades y procesos del negocio.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No es una lista de software.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655205" y="326785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PORTAFOLIO DE APLICACIONES Y SU CATEGORIZACIÓN</a:t>
            </a:r>
            <a:endParaRPr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4811" y="918372"/>
            <a:ext cx="4079758" cy="3754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/>
          <p:nvPr/>
        </p:nvSpPr>
        <p:spPr>
          <a:xfrm>
            <a:off x="4272168" y="3755924"/>
            <a:ext cx="4114747" cy="973393"/>
          </a:xfrm>
          <a:prstGeom prst="roundRect">
            <a:avLst>
              <a:gd fmla="val 2748" name="adj"/>
            </a:avLst>
          </a:prstGeom>
          <a:solidFill>
            <a:srgbClr val="D9CFE7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0" lvl="0" marL="95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14"/>
          <p:cNvGrpSpPr/>
          <p:nvPr/>
        </p:nvGrpSpPr>
        <p:grpSpPr>
          <a:xfrm>
            <a:off x="735584" y="0"/>
            <a:ext cx="8225536" cy="5140960"/>
            <a:chOff x="949964" y="0"/>
            <a:chExt cx="8225536" cy="5140960"/>
          </a:xfrm>
        </p:grpSpPr>
        <p:sp>
          <p:nvSpPr>
            <p:cNvPr id="195" name="Google Shape;195;p14"/>
            <p:cNvSpPr/>
            <p:nvPr/>
          </p:nvSpPr>
          <p:spPr>
            <a:xfrm>
              <a:off x="949964" y="0"/>
              <a:ext cx="8225536" cy="514096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20000" y="40000"/>
                    <a:pt x="101250" y="15000"/>
                  </a:quadBezTo>
                  <a:lnTo>
                    <a:pt x="100194" y="0"/>
                  </a:lnTo>
                  <a:lnTo>
                    <a:pt x="120000" y="24000"/>
                  </a:lnTo>
                  <a:lnTo>
                    <a:pt x="104419" y="60000"/>
                  </a:lnTo>
                  <a:lnTo>
                    <a:pt x="103363" y="45000"/>
                  </a:lnTo>
                  <a:quadBezTo>
                    <a:pt x="30000" y="55000"/>
                    <a:pt x="0" y="120000"/>
                  </a:quadBezTo>
                  <a:close/>
                </a:path>
              </a:pathLst>
            </a:custGeom>
            <a:solidFill>
              <a:srgbClr val="7150A0">
                <a:alpha val="1882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1813518" y="3772017"/>
              <a:ext cx="189187" cy="189187"/>
            </a:xfrm>
            <a:prstGeom prst="ellipse">
              <a:avLst/>
            </a:prstGeom>
            <a:solidFill>
              <a:srgbClr val="7150A0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1379790" y="3917411"/>
              <a:ext cx="1077545" cy="1223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 txBox="1"/>
            <p:nvPr/>
          </p:nvSpPr>
          <p:spPr>
            <a:xfrm>
              <a:off x="1379790" y="3917411"/>
              <a:ext cx="1077545" cy="1223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00225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b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Analizar alineamiento estratégico</a:t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3029891" y="2709439"/>
              <a:ext cx="296119" cy="296119"/>
            </a:xfrm>
            <a:prstGeom prst="ellipse">
              <a:avLst/>
            </a:prstGeom>
            <a:solidFill>
              <a:srgbClr val="7150A0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2457336" y="2986897"/>
              <a:ext cx="1365438" cy="2154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 txBox="1"/>
            <p:nvPr/>
          </p:nvSpPr>
          <p:spPr>
            <a:xfrm>
              <a:off x="2457336" y="2986897"/>
              <a:ext cx="1365438" cy="2154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5690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b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Identificar redundancias</a:t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4468642" y="1840967"/>
              <a:ext cx="394825" cy="394825"/>
            </a:xfrm>
            <a:prstGeom prst="ellipse">
              <a:avLst/>
            </a:prstGeom>
            <a:solidFill>
              <a:srgbClr val="7150A0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3822775" y="2251740"/>
              <a:ext cx="1587528" cy="2889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 txBox="1"/>
            <p:nvPr/>
          </p:nvSpPr>
          <p:spPr>
            <a:xfrm>
              <a:off x="3822775" y="2251740"/>
              <a:ext cx="1587528" cy="28892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0920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b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Detectar obsolescencia</a:t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6046777" y="1320307"/>
              <a:ext cx="509983" cy="509983"/>
            </a:xfrm>
            <a:prstGeom prst="ellipse">
              <a:avLst/>
            </a:prstGeom>
            <a:solidFill>
              <a:srgbClr val="7150A0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5294965" y="1696516"/>
              <a:ext cx="1645107" cy="3444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 txBox="1"/>
            <p:nvPr/>
          </p:nvSpPr>
          <p:spPr>
            <a:xfrm>
              <a:off x="5294965" y="1696516"/>
              <a:ext cx="1645107" cy="3444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70225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b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Evaluar riesgo tecnológico</a:t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7634735" y="879903"/>
              <a:ext cx="649817" cy="649817"/>
            </a:xfrm>
            <a:prstGeom prst="ellipse">
              <a:avLst/>
            </a:prstGeom>
            <a:solidFill>
              <a:srgbClr val="7150A0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6941339" y="1265760"/>
              <a:ext cx="1645107" cy="3783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4"/>
            <p:cNvSpPr txBox="1"/>
            <p:nvPr/>
          </p:nvSpPr>
          <p:spPr>
            <a:xfrm>
              <a:off x="6941339" y="1265760"/>
              <a:ext cx="1645107" cy="3783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344325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br>
                <a:rPr b="1" lang="es-E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br>
                <a:rPr b="1" lang="es-E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s-E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Priorizar modernización</a:t>
              </a:r>
              <a:endPara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14"/>
          <p:cNvSpPr txBox="1"/>
          <p:nvPr/>
        </p:nvSpPr>
        <p:spPr>
          <a:xfrm>
            <a:off x="655205" y="736850"/>
            <a:ext cx="45926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ACTIVO ARQUITECTÓNICO QUE PERMITE: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655205" y="326785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PORTAFOLIO DE APLICACIONES Y SU CATEGORIZACIÓN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4465320" y="3921586"/>
            <a:ext cx="37541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 estar vinculado a capacidades y procesos críticos.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/>
        </p:nvSpPr>
        <p:spPr>
          <a:xfrm>
            <a:off x="947221" y="1411376"/>
            <a:ext cx="7249558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 estratégico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/ Estratégica / Soporte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Criticidad operativa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Alta / Media / Baja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 de integración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Aislada / Parcial / Integrada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tecnológico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Moderna / En transición / Legacy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arquitectónico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Monolítica / Modular / Orientada a servicios / API-based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543878" y="570918"/>
            <a:ext cx="70059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DIMENSIONES DE CLASIFICACIÓN ARQUITECTÓNICA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portafolio maduro se clasifica en múltiples dimensiones: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655205" y="326785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PORTAFOLIO DE APLICACIONES Y SU CATEGORIZACIÓN</a:t>
            </a:r>
            <a:endParaRPr/>
          </a:p>
        </p:txBody>
      </p:sp>
      <p:cxnSp>
        <p:nvCxnSpPr>
          <p:cNvPr id="222" name="Google Shape;222;p15"/>
          <p:cNvCxnSpPr/>
          <p:nvPr/>
        </p:nvCxnSpPr>
        <p:spPr>
          <a:xfrm flipH="1">
            <a:off x="820368" y="1676797"/>
            <a:ext cx="1" cy="569270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5"/>
          <p:cNvSpPr/>
          <p:nvPr/>
        </p:nvSpPr>
        <p:spPr>
          <a:xfrm>
            <a:off x="744027" y="1461665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5"/>
          <p:cNvCxnSpPr/>
          <p:nvPr/>
        </p:nvCxnSpPr>
        <p:spPr>
          <a:xfrm flipH="1">
            <a:off x="820368" y="2514823"/>
            <a:ext cx="1" cy="43116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5"/>
          <p:cNvSpPr/>
          <p:nvPr/>
        </p:nvSpPr>
        <p:spPr>
          <a:xfrm>
            <a:off x="744027" y="2332074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744027" y="3004875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5"/>
          <p:cNvCxnSpPr/>
          <p:nvPr/>
        </p:nvCxnSpPr>
        <p:spPr>
          <a:xfrm flipH="1">
            <a:off x="820368" y="3157558"/>
            <a:ext cx="791" cy="416587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15"/>
          <p:cNvCxnSpPr/>
          <p:nvPr/>
        </p:nvCxnSpPr>
        <p:spPr>
          <a:xfrm flipH="1">
            <a:off x="821157" y="3819312"/>
            <a:ext cx="1" cy="43116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15"/>
          <p:cNvSpPr/>
          <p:nvPr/>
        </p:nvSpPr>
        <p:spPr>
          <a:xfrm>
            <a:off x="744816" y="3636563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744816" y="4309364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5544" y="1052598"/>
            <a:ext cx="2954578" cy="4041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 txBox="1"/>
          <p:nvPr/>
        </p:nvSpPr>
        <p:spPr>
          <a:xfrm>
            <a:off x="553710" y="777395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ESTRATÉGICA DEL PORTAFOLIO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655205" y="326785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PORTAFOLIO DE APLICACIONES Y SU CATEGORIZACIÓN</a:t>
            </a:r>
            <a:endParaRPr/>
          </a:p>
        </p:txBody>
      </p:sp>
      <p:sp>
        <p:nvSpPr>
          <p:cNvPr id="239" name="Google Shape;239;p16"/>
          <p:cNvSpPr/>
          <p:nvPr/>
        </p:nvSpPr>
        <p:spPr>
          <a:xfrm>
            <a:off x="600177" y="1355058"/>
            <a:ext cx="4572000" cy="1160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Modelo recomendado de análisis: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 X: Valor estratégico (bajo → alto)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 Y: Riesgo tecnológico (bajo → alto)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600177" y="2754678"/>
            <a:ext cx="5106498" cy="1900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 valor / Bajo riesgo → Mantener y potenciar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Alto valor / Alto riesgo → Modernizar prioritariamente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Bajo valor / Alto riesgo → Retirar o reemplazar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Bajo valor / Bajo riesgo → Mantener mínimo soporte</a:t>
            </a:r>
            <a:endParaRPr/>
          </a:p>
        </p:txBody>
      </p:sp>
      <p:pic>
        <p:nvPicPr>
          <p:cNvPr id="241" name="Google Shape;241;p16"/>
          <p:cNvPicPr preferRelativeResize="0"/>
          <p:nvPr/>
        </p:nvPicPr>
        <p:blipFill rotWithShape="1">
          <a:blip r:embed="rId3">
            <a:alphaModFix/>
          </a:blip>
          <a:srcRect b="0" l="4545" r="7807" t="0"/>
          <a:stretch/>
        </p:blipFill>
        <p:spPr>
          <a:xfrm>
            <a:off x="5534168" y="1428060"/>
            <a:ext cx="2911742" cy="3031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/>
        </p:nvSpPr>
        <p:spPr>
          <a:xfrm>
            <a:off x="553710" y="777395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IDENTIFICACIÓN DE 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REDUNDANCIA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FUNCIONAL</a:t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655205" y="326785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PORTAFOLIO DE APLICACIONES Y SU CATEGORIZACIÓN</a:t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600176" y="1355058"/>
            <a:ext cx="4964881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La redundancia</a:t>
            </a: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 ocurre cuando: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sistemas realizan la misma función.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registran datos duplicados en múltiples aplicaciones.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ejecutan procesos similares en herramientas distintas.</a:t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600176" y="2913392"/>
            <a:ext cx="5106498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Impacto: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Incremento de costo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Inconsistencia de datos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complejidad de integración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 para modernizar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Eliminar redundancia mejora gobernanza tecnológica.</a:t>
            </a:r>
            <a:endParaRPr b="1" sz="16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7"/>
          <p:cNvPicPr preferRelativeResize="0"/>
          <p:nvPr/>
        </p:nvPicPr>
        <p:blipFill rotWithShape="1">
          <a:blip r:embed="rId3">
            <a:alphaModFix/>
          </a:blip>
          <a:srcRect b="0" l="4545" r="7807" t="0"/>
          <a:stretch/>
        </p:blipFill>
        <p:spPr>
          <a:xfrm>
            <a:off x="5534168" y="1428060"/>
            <a:ext cx="2911742" cy="3031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8"/>
          <p:cNvSpPr txBox="1"/>
          <p:nvPr/>
        </p:nvSpPr>
        <p:spPr>
          <a:xfrm>
            <a:off x="503238" y="927756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00D4D6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1193029" y="1305084"/>
            <a:ext cx="691915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gestión del portafolio de aplicaciones permite identificar qué sistemas realmente soportan capacidades estratégicas, cuáles generan redundancia o riesgo y cuáles requieren modernización, convirtiendo la arquitectura tecnológica en un instrumento de decisión empresarial.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categorización multidimensional —por valor estratégico, criticidad operativa, integración y estado tecnológico— transforma el inventario de sistemas en un mapa estructural que orienta inversión, consolidación o retiro de aplicaciones.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análisis del portafolio, apoyado en métricas técnicas y evaluación de dependencias, revela brechas entre la arquitectura actual y la arquitectura objetivo, habilitando una modernización planificada y alineada al negocio.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portafolio gestionado arquitectónicamente reduce complejidad, evita duplicidades funcionales, mejora gobernanza tecnológica y fortalece la capacidad de la organización para evolucionar estratégicamente.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475796" y="1295956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18"/>
          <p:cNvCxnSpPr>
            <a:endCxn id="261" idx="4"/>
          </p:cNvCxnSpPr>
          <p:nvPr/>
        </p:nvCxnSpPr>
        <p:spPr>
          <a:xfrm>
            <a:off x="1031821" y="1429603"/>
            <a:ext cx="0" cy="2895300"/>
          </a:xfrm>
          <a:prstGeom prst="straightConnector1">
            <a:avLst/>
          </a:prstGeom>
          <a:noFill/>
          <a:ln cap="flat" cmpd="sng" w="12700">
            <a:solidFill>
              <a:srgbClr val="01B1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8"/>
          <p:cNvSpPr/>
          <p:nvPr/>
        </p:nvSpPr>
        <p:spPr>
          <a:xfrm>
            <a:off x="475796" y="2358104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475796" y="3220433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p18"/>
          <p:cNvGrpSpPr/>
          <p:nvPr/>
        </p:nvGrpSpPr>
        <p:grpSpPr>
          <a:xfrm>
            <a:off x="961425" y="1399995"/>
            <a:ext cx="140792" cy="140258"/>
            <a:chOff x="3427964" y="2244682"/>
            <a:chExt cx="225891" cy="225034"/>
          </a:xfrm>
        </p:grpSpPr>
        <p:sp>
          <p:nvSpPr>
            <p:cNvPr id="265" name="Google Shape;265;p18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8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18"/>
          <p:cNvSpPr/>
          <p:nvPr/>
        </p:nvSpPr>
        <p:spPr>
          <a:xfrm>
            <a:off x="478123" y="4051037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18"/>
          <p:cNvGrpSpPr/>
          <p:nvPr/>
        </p:nvGrpSpPr>
        <p:grpSpPr>
          <a:xfrm>
            <a:off x="961425" y="2459198"/>
            <a:ext cx="140792" cy="140258"/>
            <a:chOff x="3427964" y="2244682"/>
            <a:chExt cx="225891" cy="225034"/>
          </a:xfrm>
        </p:grpSpPr>
        <p:sp>
          <p:nvSpPr>
            <p:cNvPr id="269" name="Google Shape;269;p18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8"/>
          <p:cNvGrpSpPr/>
          <p:nvPr/>
        </p:nvGrpSpPr>
        <p:grpSpPr>
          <a:xfrm>
            <a:off x="961425" y="3311178"/>
            <a:ext cx="140792" cy="140258"/>
            <a:chOff x="3427964" y="2244682"/>
            <a:chExt cx="225891" cy="225034"/>
          </a:xfrm>
        </p:grpSpPr>
        <p:sp>
          <p:nvSpPr>
            <p:cNvPr id="272" name="Google Shape;272;p18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18"/>
          <p:cNvGrpSpPr/>
          <p:nvPr/>
        </p:nvGrpSpPr>
        <p:grpSpPr>
          <a:xfrm>
            <a:off x="961425" y="4184645"/>
            <a:ext cx="140792" cy="140258"/>
            <a:chOff x="3427964" y="2244682"/>
            <a:chExt cx="225891" cy="225034"/>
          </a:xfrm>
        </p:grpSpPr>
        <p:sp>
          <p:nvSpPr>
            <p:cNvPr id="261" name="Google Shape;261;p18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18"/>
          <p:cNvSpPr/>
          <p:nvPr/>
        </p:nvSpPr>
        <p:spPr>
          <a:xfrm>
            <a:off x="655205" y="326785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PORTAFOLIO DE APLICACIONES Y SU CATEGORIZACIÓN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1331502" y="3029685"/>
            <a:ext cx="6285450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INTEGRACIÓN TECNOLÓGICA: </a:t>
            </a:r>
            <a:r>
              <a:rPr b="1"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INTEROPERABILIDAD, PLATAFORMAS, SERVICIOS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3092004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"/>
          <p:cNvSpPr/>
          <p:nvPr/>
        </p:nvSpPr>
        <p:spPr>
          <a:xfrm>
            <a:off x="936446" y="2168522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Minimizar acoplamiento.</a:t>
            </a:r>
            <a:endParaRPr/>
          </a:p>
        </p:txBody>
      </p:sp>
      <p:sp>
        <p:nvSpPr>
          <p:cNvPr id="291" name="Google Shape;291;p20"/>
          <p:cNvSpPr/>
          <p:nvPr/>
        </p:nvSpPr>
        <p:spPr>
          <a:xfrm>
            <a:off x="936446" y="2683430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Garantizar interoperabilidad.</a:t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936446" y="3198338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Asegurar consistencia de datos.</a:t>
            </a:r>
            <a:endParaRPr/>
          </a:p>
        </p:txBody>
      </p:sp>
      <p:sp>
        <p:nvSpPr>
          <p:cNvPr id="293" name="Google Shape;293;p20"/>
          <p:cNvSpPr/>
          <p:nvPr/>
        </p:nvSpPr>
        <p:spPr>
          <a:xfrm>
            <a:off x="645704" y="823414"/>
            <a:ext cx="7296705" cy="1061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TECNÓLOGICA</a:t>
            </a:r>
            <a:endParaRPr/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cómo las aplicaciones intercambian información, coordinan funcionalidades y soportan procesos de negocio dentro del ecosistema empresarial. Desde arquitectura la integración debe: </a:t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645704" y="221875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20"/>
          <p:cNvCxnSpPr/>
          <p:nvPr/>
        </p:nvCxnSpPr>
        <p:spPr>
          <a:xfrm flipH="1">
            <a:off x="722045" y="2428165"/>
            <a:ext cx="1" cy="24804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20"/>
          <p:cNvSpPr/>
          <p:nvPr/>
        </p:nvSpPr>
        <p:spPr>
          <a:xfrm>
            <a:off x="645704" y="2725366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645704" y="3240851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936446" y="3713246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Facilitar escalabilidad.</a:t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936446" y="4224186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dependencia punto a punto,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646493" y="378404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646493" y="428970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2" name="Google Shape;302;p20"/>
          <p:cNvCxnSpPr/>
          <p:nvPr/>
        </p:nvCxnSpPr>
        <p:spPr>
          <a:xfrm flipH="1">
            <a:off x="722044" y="2926377"/>
            <a:ext cx="1" cy="24804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20"/>
          <p:cNvCxnSpPr/>
          <p:nvPr/>
        </p:nvCxnSpPr>
        <p:spPr>
          <a:xfrm flipH="1">
            <a:off x="717128" y="3462233"/>
            <a:ext cx="1" cy="24804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20"/>
          <p:cNvCxnSpPr/>
          <p:nvPr/>
        </p:nvCxnSpPr>
        <p:spPr>
          <a:xfrm flipH="1">
            <a:off x="722042" y="3988259"/>
            <a:ext cx="1" cy="24804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20"/>
          <p:cNvSpPr/>
          <p:nvPr/>
        </p:nvSpPr>
        <p:spPr>
          <a:xfrm>
            <a:off x="1428135" y="4833446"/>
            <a:ext cx="628772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La integración determina la flexibilidad estructural de la organización.</a:t>
            </a:r>
            <a:endParaRPr/>
          </a:p>
        </p:txBody>
      </p:sp>
      <p:sp>
        <p:nvSpPr>
          <p:cNvPr id="306" name="Google Shape;306;p20"/>
          <p:cNvSpPr/>
          <p:nvPr/>
        </p:nvSpPr>
        <p:spPr>
          <a:xfrm>
            <a:off x="655205" y="326785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INTEGRACIÓN TECNOLÓGICA: INTEROPERABILIDAD, PLATAFORMAS, SERVICIOS</a:t>
            </a:r>
            <a:endParaRPr/>
          </a:p>
        </p:txBody>
      </p:sp>
      <p:pic>
        <p:nvPicPr>
          <p:cNvPr id="307" name="Google Shape;3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0499" y="1879531"/>
            <a:ext cx="3080545" cy="283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 txBox="1"/>
          <p:nvPr/>
        </p:nvSpPr>
        <p:spPr>
          <a:xfrm>
            <a:off x="655205" y="898707"/>
            <a:ext cx="38586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¿LA ESTRUCTURA ORGANIZACIONAL SOPORTA LAS CAPACIDADES ESTRATÉGICAS?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60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estructura debe facilitar el desarrollo de capacidades críticas.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capacidades estratégicas requieren responsables claros.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coordinación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interáreas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debe ser formalizada.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modelo operativo define nivel de integración y autonomía.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655205" y="326785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INTEGRACIÓN TECNOLÓGICA: INTEROPERABILIDAD, PLATAFORMAS, SERVICIOS</a:t>
            </a:r>
            <a:endParaRPr/>
          </a:p>
        </p:txBody>
      </p:sp>
      <p:pic>
        <p:nvPicPr>
          <p:cNvPr id="315" name="Google Shape;3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8645" y="1240572"/>
            <a:ext cx="3720150" cy="3163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2"/>
          <p:cNvGrpSpPr/>
          <p:nvPr/>
        </p:nvGrpSpPr>
        <p:grpSpPr>
          <a:xfrm>
            <a:off x="1342032" y="1285751"/>
            <a:ext cx="6459937" cy="3477729"/>
            <a:chOff x="976707" y="1285751"/>
            <a:chExt cx="6459937" cy="3477729"/>
          </a:xfrm>
        </p:grpSpPr>
        <p:sp>
          <p:nvSpPr>
            <p:cNvPr id="322" name="Google Shape;322;p22"/>
            <p:cNvSpPr/>
            <p:nvPr/>
          </p:nvSpPr>
          <p:spPr>
            <a:xfrm>
              <a:off x="976707" y="1285751"/>
              <a:ext cx="3176196" cy="1683591"/>
            </a:xfrm>
            <a:prstGeom prst="roundRect">
              <a:avLst>
                <a:gd fmla="val 4231" name="adj"/>
              </a:avLst>
            </a:prstGeom>
            <a:solidFill>
              <a:srgbClr val="FCC7C4">
                <a:alpha val="80000"/>
              </a:srgbClr>
            </a:solidFill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50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PUNTO A PUNTO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6213" lvl="0" marL="176213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Conexiones directas entre sistemas.</a:t>
              </a:r>
              <a:endParaRPr/>
            </a:p>
            <a:p>
              <a:pPr indent="-176213" lvl="0" marL="176213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Alto acoplamiento y difícil escalabilidad.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976707" y="3079889"/>
              <a:ext cx="3176196" cy="1683591"/>
            </a:xfrm>
            <a:prstGeom prst="roundRect">
              <a:avLst>
                <a:gd fmla="val 4231" name="adj"/>
              </a:avLst>
            </a:prstGeom>
            <a:solidFill>
              <a:srgbClr val="FFD7C1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5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ORIENTADA A SERVICIOS (SOA / APIs)</a:t>
              </a:r>
              <a:endParaRPr sz="15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6213" lvl="0" marL="176213" marR="0" rtl="0" algn="l">
                <a:spcBef>
                  <a:spcPts val="1200"/>
                </a:spcBef>
                <a:spcAft>
                  <a:spcPts val="0"/>
                </a:spcAft>
                <a:buClr>
                  <a:schemeClr val="accent4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Servicios reutilizables desacoplados.</a:t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4260448" y="1285751"/>
              <a:ext cx="3176196" cy="1683591"/>
            </a:xfrm>
            <a:prstGeom prst="roundRect">
              <a:avLst>
                <a:gd fmla="val 4231" name="adj"/>
              </a:avLst>
            </a:prstGeom>
            <a:solidFill>
              <a:srgbClr val="D1EFF4"/>
            </a:solidFill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500">
                  <a:solidFill>
                    <a:schemeClr val="accent5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CENTRALIZADA    (HUB O ESB)</a:t>
              </a:r>
              <a:endParaRPr sz="15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6213" lvl="0" marL="176213" marR="0" rtl="0" algn="l">
                <a:spcBef>
                  <a:spcPts val="1200"/>
                </a:spcBef>
                <a:spcAft>
                  <a:spcPts val="0"/>
                </a:spcAft>
                <a:buClr>
                  <a:schemeClr val="accent5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Sector Middleware intermedio que orquesta comunicaciones.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4260448" y="3079889"/>
              <a:ext cx="3176196" cy="1683591"/>
            </a:xfrm>
            <a:prstGeom prst="roundRect">
              <a:avLst>
                <a:gd fmla="val 4231" name="adj"/>
              </a:avLst>
            </a:prstGeom>
            <a:solidFill>
              <a:srgbClr val="DDEEC7"/>
            </a:solidFill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50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BASADA EN EVENTOS</a:t>
              </a:r>
              <a:endParaRPr sz="15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4625" lvl="0" marL="180975" marR="0" rtl="0" algn="l">
                <a:spcBef>
                  <a:spcPts val="1200"/>
                </a:spcBef>
                <a:spcAft>
                  <a:spcPts val="0"/>
                </a:spcAft>
                <a:buClr>
                  <a:schemeClr val="accent3"/>
                </a:buClr>
                <a:buSzPts val="1400"/>
                <a:buFont typeface="Arial"/>
                <a:buChar char="•"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Comunicación asincrónica orientada a eventos.</a:t>
              </a:r>
              <a:endParaRPr/>
            </a:p>
            <a:p>
              <a:pPr indent="-85725" lvl="0" marL="180975" marR="0" rtl="0" algn="l">
                <a:spcBef>
                  <a:spcPts val="600"/>
                </a:spcBef>
                <a:spcAft>
                  <a:spcPts val="0"/>
                </a:spcAft>
                <a:buClr>
                  <a:schemeClr val="accent3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5725" lvl="0" marL="180975" marR="0" rtl="0" algn="l">
                <a:spcBef>
                  <a:spcPts val="600"/>
                </a:spcBef>
                <a:spcAft>
                  <a:spcPts val="0"/>
                </a:spcAft>
                <a:buClr>
                  <a:schemeClr val="accent3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p22"/>
          <p:cNvSpPr txBox="1"/>
          <p:nvPr/>
        </p:nvSpPr>
        <p:spPr>
          <a:xfrm>
            <a:off x="511341" y="791920"/>
            <a:ext cx="793456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 DE INTEGRACIÓN ESTRUCTURAL: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cuatro patrones principales </a:t>
            </a:r>
            <a:endParaRPr/>
          </a:p>
        </p:txBody>
      </p:sp>
      <p:sp>
        <p:nvSpPr>
          <p:cNvPr id="327" name="Google Shape;327;p22"/>
          <p:cNvSpPr/>
          <p:nvPr/>
        </p:nvSpPr>
        <p:spPr>
          <a:xfrm>
            <a:off x="511341" y="349981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INTEGRACIÓN TECNOLÓGICA: INTEROPERABILIDAD, PLATAFORMAS, SERVICIOS</a:t>
            </a:r>
            <a:endParaRPr/>
          </a:p>
        </p:txBody>
      </p:sp>
      <p:sp>
        <p:nvSpPr>
          <p:cNvPr id="328" name="Google Shape;328;p22"/>
          <p:cNvSpPr/>
          <p:nvPr/>
        </p:nvSpPr>
        <p:spPr>
          <a:xfrm>
            <a:off x="1067069" y="4874027"/>
            <a:ext cx="69023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Arquitecturas maduras privilegian servicios desacoplados y APIs.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 txBox="1"/>
          <p:nvPr/>
        </p:nvSpPr>
        <p:spPr>
          <a:xfrm>
            <a:off x="493516" y="722066"/>
            <a:ext cx="70059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ACTUAL (AS-IS)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análisis As-Is describe el estado real del ecosistema tecnológico: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1076504" y="4427067"/>
            <a:ext cx="66024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El modelo operativo conecta estructura y ejecución estratégica.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532880" y="1561679"/>
            <a:ext cx="2992541" cy="1997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existentes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Dependencias entre sistemas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Integraciones manuales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Interfaces no documentadas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legacy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de escalabilidad</a:t>
            </a:r>
            <a:endParaRPr/>
          </a:p>
        </p:txBody>
      </p:sp>
      <p:sp>
        <p:nvSpPr>
          <p:cNvPr id="337" name="Google Shape;337;p23"/>
          <p:cNvSpPr/>
          <p:nvPr/>
        </p:nvSpPr>
        <p:spPr>
          <a:xfrm>
            <a:off x="5028002" y="1679922"/>
            <a:ext cx="1521495" cy="735748"/>
          </a:xfrm>
          <a:prstGeom prst="roundRect">
            <a:avLst>
              <a:gd fmla="val 16033" name="adj"/>
            </a:avLst>
          </a:prstGeom>
          <a:solidFill>
            <a:srgbClr val="FE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DEBE REPRESENTARSE MEDIANTE: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4668303" y="3190536"/>
            <a:ext cx="311884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rgbClr val="FE7828"/>
              </a:buClr>
              <a:buSzPts val="1400"/>
              <a:buFont typeface="Calibri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componentes</a:t>
            </a:r>
            <a:endParaRPr/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rgbClr val="FE7828"/>
              </a:buClr>
              <a:buSzPts val="1400"/>
              <a:buFont typeface="Calibri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Mapa de integraciones</a:t>
            </a:r>
            <a:endParaRPr/>
          </a:p>
          <a:p>
            <a:pPr indent="-179388" lvl="0" marL="179388" marR="0" rtl="0" algn="l">
              <a:spcBef>
                <a:spcPts val="0"/>
              </a:spcBef>
              <a:spcAft>
                <a:spcPts val="0"/>
              </a:spcAft>
              <a:buClr>
                <a:srgbClr val="FE7828"/>
              </a:buClr>
              <a:buSzPts val="1400"/>
              <a:buFont typeface="Calibri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 de dependencias</a:t>
            </a:r>
            <a:endParaRPr/>
          </a:p>
        </p:txBody>
      </p:sp>
      <p:sp>
        <p:nvSpPr>
          <p:cNvPr id="339" name="Google Shape;339;p23"/>
          <p:cNvSpPr/>
          <p:nvPr/>
        </p:nvSpPr>
        <p:spPr>
          <a:xfrm rot="5400000">
            <a:off x="5497107" y="2630462"/>
            <a:ext cx="583284" cy="3403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511341" y="349981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INTEGRACIÓN TECNOLÓGICA: INTEROPERABILIDAD, PLATAFORMAS, SERVICIOS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/>
        </p:nvSpPr>
        <p:spPr>
          <a:xfrm>
            <a:off x="490613" y="844292"/>
            <a:ext cx="5084277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OBJETIVO (TO-BE)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arquitectura To-Be define el estado tecnológico deseado: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7" name="Google Shape;347;p24"/>
          <p:cNvCxnSpPr/>
          <p:nvPr/>
        </p:nvCxnSpPr>
        <p:spPr>
          <a:xfrm>
            <a:off x="2386769" y="3682505"/>
            <a:ext cx="508946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" name="Google Shape;348;p24"/>
          <p:cNvSpPr/>
          <p:nvPr/>
        </p:nvSpPr>
        <p:spPr>
          <a:xfrm>
            <a:off x="1009714" y="3214662"/>
            <a:ext cx="1377055" cy="980233"/>
          </a:xfrm>
          <a:prstGeom prst="roundRect">
            <a:avLst>
              <a:gd fmla="val 16896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DE INTEGRACIÓN BASADO EN SERVICIOS</a:t>
            </a:r>
            <a:endParaRPr/>
          </a:p>
        </p:txBody>
      </p:sp>
      <p:sp>
        <p:nvSpPr>
          <p:cNvPr id="349" name="Google Shape;349;p24"/>
          <p:cNvSpPr/>
          <p:nvPr/>
        </p:nvSpPr>
        <p:spPr>
          <a:xfrm>
            <a:off x="3123040" y="4194895"/>
            <a:ext cx="1481220" cy="735748"/>
          </a:xfrm>
          <a:prstGeom prst="roundRect">
            <a:avLst>
              <a:gd fmla="val 16464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Estandarización de datos</a:t>
            </a:r>
            <a:endParaRPr/>
          </a:p>
        </p:txBody>
      </p:sp>
      <p:sp>
        <p:nvSpPr>
          <p:cNvPr id="350" name="Google Shape;350;p24"/>
          <p:cNvSpPr/>
          <p:nvPr/>
        </p:nvSpPr>
        <p:spPr>
          <a:xfrm>
            <a:off x="3106392" y="2355524"/>
            <a:ext cx="1497868" cy="735748"/>
          </a:xfrm>
          <a:prstGeom prst="roundRect">
            <a:avLst>
              <a:gd fmla="val 17327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Eliminación de redundancia</a:t>
            </a:r>
            <a:endParaRPr/>
          </a:p>
        </p:txBody>
      </p:sp>
      <p:cxnSp>
        <p:nvCxnSpPr>
          <p:cNvPr id="351" name="Google Shape;351;p24"/>
          <p:cNvCxnSpPr/>
          <p:nvPr/>
        </p:nvCxnSpPr>
        <p:spPr>
          <a:xfrm rot="5400000">
            <a:off x="2193142" y="3636748"/>
            <a:ext cx="1839300" cy="12600"/>
          </a:xfrm>
          <a:prstGeom prst="bentConnector3">
            <a:avLst>
              <a:gd fmla="val 0" name="adj1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52" name="Google Shape;352;p24"/>
          <p:cNvCxnSpPr/>
          <p:nvPr/>
        </p:nvCxnSpPr>
        <p:spPr>
          <a:xfrm>
            <a:off x="4613781" y="2723856"/>
            <a:ext cx="508946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" name="Google Shape;353;p24"/>
          <p:cNvSpPr/>
          <p:nvPr/>
        </p:nvSpPr>
        <p:spPr>
          <a:xfrm>
            <a:off x="5350052" y="3049432"/>
            <a:ext cx="1481220" cy="735748"/>
          </a:xfrm>
          <a:prstGeom prst="roundRect">
            <a:avLst>
              <a:gd fmla="val 16464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Reducción de acoplamiento</a:t>
            </a:r>
            <a:endParaRPr/>
          </a:p>
        </p:txBody>
      </p:sp>
      <p:sp>
        <p:nvSpPr>
          <p:cNvPr id="354" name="Google Shape;354;p24"/>
          <p:cNvSpPr/>
          <p:nvPr/>
        </p:nvSpPr>
        <p:spPr>
          <a:xfrm>
            <a:off x="5333404" y="1691844"/>
            <a:ext cx="1497868" cy="735748"/>
          </a:xfrm>
          <a:prstGeom prst="roundRect">
            <a:avLst>
              <a:gd fmla="val 17327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Plataforma de APIs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4"/>
          <p:cNvCxnSpPr>
            <a:stCxn id="354" idx="1"/>
          </p:cNvCxnSpPr>
          <p:nvPr/>
        </p:nvCxnSpPr>
        <p:spPr>
          <a:xfrm flipH="1">
            <a:off x="5320804" y="2059718"/>
            <a:ext cx="12600" cy="1382700"/>
          </a:xfrm>
          <a:prstGeom prst="bentConnector4">
            <a:avLst>
              <a:gd fmla="val 1674476" name="adj1"/>
              <a:gd fmla="val 99571" name="adj2"/>
            </a:avLst>
          </a:prstGeom>
          <a:noFill/>
          <a:ln cap="flat" cmpd="sng" w="19050">
            <a:solidFill>
              <a:srgbClr val="7F7F7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56" name="Google Shape;356;p24"/>
          <p:cNvSpPr/>
          <p:nvPr/>
        </p:nvSpPr>
        <p:spPr>
          <a:xfrm>
            <a:off x="5364320" y="4194895"/>
            <a:ext cx="1481220" cy="735748"/>
          </a:xfrm>
          <a:prstGeom prst="roundRect">
            <a:avLst>
              <a:gd fmla="val 16464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Mejora de seguridad y gobernanza</a:t>
            </a:r>
            <a:endParaRPr/>
          </a:p>
        </p:txBody>
      </p:sp>
      <p:cxnSp>
        <p:nvCxnSpPr>
          <p:cNvPr id="357" name="Google Shape;357;p24"/>
          <p:cNvCxnSpPr>
            <a:endCxn id="356" idx="1"/>
          </p:cNvCxnSpPr>
          <p:nvPr/>
        </p:nvCxnSpPr>
        <p:spPr>
          <a:xfrm flipH="1" rot="10800000">
            <a:off x="4604120" y="4562769"/>
            <a:ext cx="760200" cy="3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p24"/>
          <p:cNvSpPr/>
          <p:nvPr/>
        </p:nvSpPr>
        <p:spPr>
          <a:xfrm>
            <a:off x="511341" y="349981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INTEGRACIÓN TECNOLÓGICA: INTEROPERABILIDAD, PLATAFORMAS, SERVICIOS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"/>
          <p:cNvSpPr/>
          <p:nvPr/>
        </p:nvSpPr>
        <p:spPr>
          <a:xfrm>
            <a:off x="1362631" y="1882588"/>
            <a:ext cx="6615957" cy="2050315"/>
          </a:xfrm>
          <a:prstGeom prst="roundRect">
            <a:avLst>
              <a:gd fmla="val 5987" name="adj"/>
            </a:avLst>
          </a:prstGeom>
          <a:solidFill>
            <a:srgbClr val="00B1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25"/>
          <p:cNvPicPr preferRelativeResize="0"/>
          <p:nvPr/>
        </p:nvPicPr>
        <p:blipFill rotWithShape="1">
          <a:blip r:embed="rId3">
            <a:alphaModFix/>
          </a:blip>
          <a:srcRect b="47890" l="30026" r="24147" t="0"/>
          <a:stretch/>
        </p:blipFill>
        <p:spPr>
          <a:xfrm>
            <a:off x="1640542" y="1410107"/>
            <a:ext cx="546847" cy="920717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5"/>
          <p:cNvSpPr txBox="1"/>
          <p:nvPr/>
        </p:nvSpPr>
        <p:spPr>
          <a:xfrm>
            <a:off x="1754368" y="2402902"/>
            <a:ext cx="5811844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Debe alinearse con: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Capacidades estratégicas futuras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Procesos críticos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operativo objetivo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511341" y="349981"/>
            <a:ext cx="442537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INTEGRACIÓN TECNOLÓGICA: INTEROPERABILIDAD, PLATAFORMAS, SERVICIOS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1331502" y="3029685"/>
            <a:ext cx="4154898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DE BRECHAS </a:t>
            </a:r>
            <a:r>
              <a:rPr b="1"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TECNOLÓGICAS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3092004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/>
        </p:nvSpPr>
        <p:spPr>
          <a:xfrm>
            <a:off x="511340" y="1029130"/>
            <a:ext cx="441069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IDENTIFICACIÓN DE BRECHAS ARQUITECTÓNICAS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brecha surge cuando: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críticos dependen de sistemas obsoletos.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integración impide escalabilidad.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Existen dependencias rígidas.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tiempo de cambio tecnológico es elevado.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arquitectura no soporta nuevas capacidades estratégicas.</a:t>
            </a:r>
            <a:endParaRPr/>
          </a:p>
        </p:txBody>
      </p:sp>
      <p:sp>
        <p:nvSpPr>
          <p:cNvPr descr="Google (Noto Color Emoji 16.0)" id="381" name="Google Shape;381;p27"/>
          <p:cNvSpPr/>
          <p:nvPr/>
        </p:nvSpPr>
        <p:spPr>
          <a:xfrm>
            <a:off x="4419600" y="27051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511340" y="349981"/>
            <a:ext cx="4827575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ANÁLISIS DE BRECHAS TECNOLÓGICAS</a:t>
            </a:r>
            <a:endParaRPr/>
          </a:p>
        </p:txBody>
      </p:sp>
      <p:pic>
        <p:nvPicPr>
          <p:cNvPr id="383" name="Google Shape;3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942" y="1481229"/>
            <a:ext cx="3402884" cy="3241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8"/>
          <p:cNvSpPr/>
          <p:nvPr/>
        </p:nvSpPr>
        <p:spPr>
          <a:xfrm>
            <a:off x="1362631" y="1577787"/>
            <a:ext cx="6615957" cy="2492990"/>
          </a:xfrm>
          <a:prstGeom prst="roundRect">
            <a:avLst>
              <a:gd fmla="val 5987" name="adj"/>
            </a:avLst>
          </a:prstGeom>
          <a:solidFill>
            <a:srgbClr val="00B1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28"/>
          <p:cNvPicPr preferRelativeResize="0"/>
          <p:nvPr/>
        </p:nvPicPr>
        <p:blipFill rotWithShape="1">
          <a:blip r:embed="rId3">
            <a:alphaModFix/>
          </a:blip>
          <a:srcRect b="47890" l="30026" r="24147" t="0"/>
          <a:stretch/>
        </p:blipFill>
        <p:spPr>
          <a:xfrm>
            <a:off x="1640542" y="1105306"/>
            <a:ext cx="546847" cy="920717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8"/>
          <p:cNvSpPr txBox="1"/>
          <p:nvPr/>
        </p:nvSpPr>
        <p:spPr>
          <a:xfrm>
            <a:off x="1754368" y="2098101"/>
            <a:ext cx="5811844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 documenta mediante: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Componente | Estado actual | Estado objetivo | Impacto | Prioridad | Riesgo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brecha no es técnica solamente, es estratégica.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511340" y="349981"/>
            <a:ext cx="4827575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ANÁLISIS DE BRECHAS TECNOLÓGICAS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030A0">
            <a:alpha val="54901"/>
          </a:srgbClr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ico Pensando Joven - Imagen gratis en Pixabay" id="396" name="Google Shape;3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75470" y="-329184"/>
            <a:ext cx="8968897" cy="604418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9"/>
          <p:cNvSpPr txBox="1"/>
          <p:nvPr/>
        </p:nvSpPr>
        <p:spPr>
          <a:xfrm>
            <a:off x="4572000" y="1243211"/>
            <a:ext cx="3599053" cy="897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¿Y AHORA</a:t>
            </a:r>
            <a:br>
              <a:rPr b="1" lang="es-E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OPINAS...?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0"/>
          <p:cNvSpPr txBox="1"/>
          <p:nvPr/>
        </p:nvSpPr>
        <p:spPr>
          <a:xfrm>
            <a:off x="2375452" y="1844784"/>
            <a:ext cx="4393096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7150A0"/>
                </a:solidFill>
                <a:latin typeface="Arial"/>
                <a:ea typeface="Arial"/>
                <a:cs typeface="Arial"/>
                <a:sym typeface="Arial"/>
              </a:rPr>
              <a:t>Comparte tus dudas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resolverlo </a:t>
            </a:r>
            <a:r>
              <a:rPr b="1" lang="es-ES" sz="3200">
                <a:solidFill>
                  <a:srgbClr val="7150A0"/>
                </a:solidFill>
                <a:latin typeface="Arial"/>
                <a:ea typeface="Arial"/>
                <a:cs typeface="Arial"/>
                <a:sym typeface="Arial"/>
              </a:rPr>
              <a:t>juntos como equipo</a:t>
            </a:r>
            <a:endParaRPr/>
          </a:p>
        </p:txBody>
      </p:sp>
      <p:sp>
        <p:nvSpPr>
          <p:cNvPr id="404" name="Google Shape;404;p30"/>
          <p:cNvSpPr/>
          <p:nvPr/>
        </p:nvSpPr>
        <p:spPr>
          <a:xfrm>
            <a:off x="1854127" y="1951326"/>
            <a:ext cx="425980" cy="425980"/>
          </a:xfrm>
          <a:prstGeom prst="ellipse">
            <a:avLst/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5" name="Google Shape;4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472" y="2043160"/>
            <a:ext cx="235290" cy="24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1" name="Google Shape;411;p31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12" name="Google Shape;412;p31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3" name="Google Shape;413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4" name="Google Shape;41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grpSp>
        <p:nvGrpSpPr>
          <p:cNvPr id="423" name="Google Shape;423;p32"/>
          <p:cNvGrpSpPr/>
          <p:nvPr/>
        </p:nvGrpSpPr>
        <p:grpSpPr>
          <a:xfrm>
            <a:off x="994479" y="882567"/>
            <a:ext cx="7067490" cy="4093428"/>
            <a:chOff x="1365980" y="1018957"/>
            <a:chExt cx="6406516" cy="3496645"/>
          </a:xfrm>
        </p:grpSpPr>
        <p:grpSp>
          <p:nvGrpSpPr>
            <p:cNvPr id="424" name="Google Shape;424;p32"/>
            <p:cNvGrpSpPr/>
            <p:nvPr/>
          </p:nvGrpSpPr>
          <p:grpSpPr>
            <a:xfrm>
              <a:off x="1365980" y="1018957"/>
              <a:ext cx="6406516" cy="3496645"/>
              <a:chOff x="1005549" y="833479"/>
              <a:chExt cx="6623673" cy="3496645"/>
            </a:xfrm>
          </p:grpSpPr>
          <p:sp>
            <p:nvSpPr>
              <p:cNvPr id="425" name="Google Shape;425;p32"/>
              <p:cNvSpPr txBox="1"/>
              <p:nvPr/>
            </p:nvSpPr>
            <p:spPr>
              <a:xfrm>
                <a:off x="1353339" y="833479"/>
                <a:ext cx="6275883" cy="3496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 arquitectura de aplicaciones establece la trazabilidad estructural entre capacidades estratégicas, procesos de negocio y servicios tecnológicos, garantizando que la tecnología esté diseñada para habilitar la ejecución organizacional.</a:t>
                </a:r>
                <a:endParaRPr/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 análisis formal de la relación proceso–aplicación permite identificar dependencias, redundancias y vacíos de soporte tecnológico que impactan directamente en eficiencia operativa y riesgo estructural.</a:t>
                </a:r>
                <a:endParaRPr/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 gestión y categorización del portafolio de aplicaciones transforma el inventario tecnológico en un instrumento de decisión estratégica, permitiendo priorizar modernización, consolidación o retiro de sistemas.</a:t>
                </a:r>
                <a:endParaRPr/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 integración tecnológica determina el nivel de acoplamiento y flexibilidad del ecosistema digital, siendo un factor crítico para la escalabilidad, interoperabilidad y evolución organizacional.</a:t>
                </a:r>
                <a:endParaRPr/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 análisis de brechas entre la arquitectura actual y la arquitectura objetivo convierte el diagnóstico tecnológico en un roadmap estructurado de transformación, alineado a capacidades estratégicas y reducción de riesgo operativo.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26" name="Google Shape;426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1260" y="909941"/>
                <a:ext cx="114138" cy="1175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7" name="Google Shape;427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2740" y="1593113"/>
                <a:ext cx="114138" cy="1175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8" name="Google Shape;428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4222" y="2150251"/>
                <a:ext cx="114138" cy="1175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9" name="Google Shape;429;p3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05549" y="2869706"/>
                <a:ext cx="114138" cy="1175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0" name="Google Shape;430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1503" y="3860790"/>
              <a:ext cx="113261" cy="1175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b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REFERENCIAS</a:t>
            </a:r>
            <a:endParaRPr/>
          </a:p>
        </p:txBody>
      </p:sp>
      <p:pic>
        <p:nvPicPr>
          <p:cNvPr id="437" name="Google Shape;43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4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34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7527507" y="3816088"/>
            <a:ext cx="1262300" cy="1640397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4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grpSp>
        <p:nvGrpSpPr>
          <p:cNvPr id="447" name="Google Shape;447;p34"/>
          <p:cNvGrpSpPr/>
          <p:nvPr/>
        </p:nvGrpSpPr>
        <p:grpSpPr>
          <a:xfrm>
            <a:off x="1007632" y="917823"/>
            <a:ext cx="7151025" cy="3877985"/>
            <a:chOff x="1007632" y="917823"/>
            <a:chExt cx="7151025" cy="3877985"/>
          </a:xfrm>
        </p:grpSpPr>
        <p:sp>
          <p:nvSpPr>
            <p:cNvPr id="448" name="Google Shape;448;p34"/>
            <p:cNvSpPr txBox="1"/>
            <p:nvPr/>
          </p:nvSpPr>
          <p:spPr>
            <a:xfrm>
              <a:off x="1279009" y="917823"/>
              <a:ext cx="6879648" cy="38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Open Group. (2011). TOGAF® Version 9.1. The Open Group Standard.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Lankhorst, M. (Ed.). (2017). Enterprise Architecture at Work: Modelling, Communication and Analysis (4th ed.). Springer.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Profundiza en vistas, capas, modelado, análisis de impacto y comunicación arquitectónica.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 Management Group (OMG). (2014). Business Process Model and Notation (BPMN) Version 2.0.2.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Estándar para modelar procesos de negocio y flujos operativos.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 Management Group (OMG). (2017). Unified Modeling Language (UML) Version 2.5.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Lenguaje para diseño lógico y técnico de soluciones de software.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ISO/IEC 42010. (2011). Systems and Software Engineering – Architecture Description.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Estándar para la descripción de arquitecturas, stakeholders, vistas y concerns.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Gartner. (varios autores). Enterprise Architecture Practice and Capability-Based Planning.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Aporte práctico sobre capability maps, roadmaps arquitectónicos y priorización por valor.</a:t>
              </a:r>
              <a:endParaRPr/>
            </a:p>
          </p:txBody>
        </p:sp>
        <p:pic>
          <p:nvPicPr>
            <p:cNvPr id="449" name="Google Shape;4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064" y="959114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0" name="Google Shape;450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064" y="1414181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1" name="Google Shape;451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9422" y="2258546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2" name="Google Shape;452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7633" y="3102911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3" name="Google Shape;453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0564" y="3776711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7632" y="4397027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5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2006-06-01T21:36:52Z</dcterms:created>
  <dc:creator>Isil</dc:creator>
</cp:coreProperties>
</file>