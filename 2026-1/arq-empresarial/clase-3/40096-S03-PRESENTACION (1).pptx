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47" roundtripDataSignature="AMtx7mjRJONmZAao7xb488q2mifXizbl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“Esta lámina conecta arquitectura con ejecución: Q1 a Q4 es nuestro roadmap.”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“Arriba está el ‘por qué’ (negocio/KPIs), abajo el ‘cómo’ (habilitadores y aplicaciones).”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“Las barras muestran qué capa se mueve y cuándo: seguridad, UX, eficiencia, etc.”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“La idea es trazabilidad: cada entrega técnica debe justificar un KPI o deadline.”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“Si algo no mejora un objetivo o reduce riesgo, probablemente es ruido, no arquitectura.”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“Esta lámina conecta arquitectura con ejecución: Q1 a Q4 es nuestro roadmap.”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“Arriba está el ‘por qué’ (negocio/KPIs), abajo el ‘cómo’ (habilitadores y aplicaciones).”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“Las barras muestran qué capa se mueve y cuándo: seguridad, UX, eficiencia, etc.”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“La idea es trazabilidad: cada entrega técnica debe justificar un KPI o deadline.”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“Si algo no mejora un objetivo o reduce riesgo, probablemente es ruido, no arquitectura.”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&lt;a href="https://www.flaticon.es/iconos-gratis/brecha" title="brecha iconos"&gt;Brecha iconos creados por Smashicons - Flaticon&lt;/a&gt;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&lt;a href="https://www.flaticon.es/iconos-gratis/dependencia" title="dependencia iconos"&gt;Dependencia iconos creados por orvipixel - Flaticon&lt;/a&gt;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*EA </a:t>
            </a:r>
            <a:endParaRPr/>
          </a:p>
        </p:txBody>
      </p:sp>
      <p:sp>
        <p:nvSpPr>
          <p:cNvPr id="506" name="Google Shape;506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&lt;a href="https://www.flaticon.es/iconos-gratis/objetivo" title="objetivo iconos"&gt;Objetivo iconos creados por Canticons - Flaticon&lt;/a&gt;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&lt;a href="https://www.flaticon.es/iconos-gratis/idea" title="idea iconos"&gt;Idea iconos creados por Freepik - Flaticon&lt;/a&gt;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&lt;a href="https://www.flaticon.es/iconos-gratis/buscar" title="buscar iconos"&gt;Buscar iconos creados por Freepik - Flaticon&lt;/a&gt;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&lt;a href="https://www.flaticon.es/iconos-gratis/lista" title="lista iconos"&gt;Lista iconos creados por Kiranshastry - Flaticon&lt;/a&gt;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&lt;a href="https://www.flaticon.es/iconos-gratis/hora" title="hora iconos"&gt;Hora iconos creados por Freepik - Flaticon&lt;/a&gt;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&lt;a href="https://www.flaticon.es/iconos-gratis/regreso" title="regreso iconos"&gt;Regreso iconos creados por Vitaly Gorbachev - Flaticon&lt;/a&gt;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TOGAF posiciona la AE como una práctica organizacional formal: método + contenido + repositorio + capacidad de gobierno.</a:t>
            </a:r>
            <a:endParaRPr/>
          </a:p>
        </p:txBody>
      </p:sp>
      <p:sp>
        <p:nvSpPr>
          <p:cNvPr id="541" name="Google Shape;541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4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4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80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>
  <p:cSld name="Título y objeto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>
  <p:cSld name="1_Título y objeto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/>
          <p:nvPr/>
        </p:nvSpPr>
        <p:spPr>
          <a:xfrm>
            <a:off x="7379148" y="5371562"/>
            <a:ext cx="136928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© ISIL. Todos los derechos reservados</a:t>
            </a:r>
            <a:endParaRPr/>
          </a:p>
        </p:txBody>
      </p:sp>
      <p:sp>
        <p:nvSpPr>
          <p:cNvPr id="11" name="Google Shape;11;p42"/>
          <p:cNvSpPr txBox="1"/>
          <p:nvPr/>
        </p:nvSpPr>
        <p:spPr>
          <a:xfrm>
            <a:off x="876300" y="5343295"/>
            <a:ext cx="196239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ARQUITECTURA EMPRESARIAL  •  TEMA 03</a:t>
            </a:r>
            <a:endParaRPr sz="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42"/>
          <p:cNvPicPr preferRelativeResize="0"/>
          <p:nvPr/>
        </p:nvPicPr>
        <p:blipFill rotWithShape="1">
          <a:blip r:embed="rId1">
            <a:alphaModFix amt="20000"/>
          </a:blip>
          <a:srcRect b="0" l="0" r="0" t="0"/>
          <a:stretch/>
        </p:blipFill>
        <p:spPr>
          <a:xfrm>
            <a:off x="506316" y="5349405"/>
            <a:ext cx="369984" cy="20682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03">
          <p15:clr>
            <a:srgbClr val="F26B43"/>
          </p15:clr>
        </p15:guide>
        <p15:guide id="2" pos="2880">
          <p15:clr>
            <a:srgbClr val="F26B43"/>
          </p15:clr>
        </p15:guide>
        <p15:guide id="3" pos="2993">
          <p15:clr>
            <a:srgbClr val="F26B43"/>
          </p15:clr>
        </p15:guide>
        <p15:guide id="4" pos="2767">
          <p15:clr>
            <a:srgbClr val="F26B43"/>
          </p15:clr>
        </p15:guide>
        <p15:guide id="5" pos="5465">
          <p15:clr>
            <a:srgbClr val="F26B43"/>
          </p15:clr>
        </p15:guide>
        <p15:guide id="6" orient="horz" pos="575">
          <p15:clr>
            <a:srgbClr val="F26B43"/>
          </p15:clr>
        </p15:guide>
        <p15:guide id="7" orient="horz" pos="3297">
          <p15:clr>
            <a:srgbClr val="F26B43"/>
          </p15:clr>
        </p15:guide>
        <p15:guide id="8" pos="31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11" Type="http://schemas.openxmlformats.org/officeDocument/2006/relationships/image" Target="../media/image7.png"/><Relationship Id="rId10" Type="http://schemas.openxmlformats.org/officeDocument/2006/relationships/image" Target="../media/image4.png"/><Relationship Id="rId9" Type="http://schemas.openxmlformats.org/officeDocument/2006/relationships/image" Target="../media/image8.png"/><Relationship Id="rId5" Type="http://schemas.openxmlformats.org/officeDocument/2006/relationships/image" Target="../media/image37.png"/><Relationship Id="rId6" Type="http://schemas.openxmlformats.org/officeDocument/2006/relationships/image" Target="../media/image26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11.png"/><Relationship Id="rId5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9.png"/><Relationship Id="rId5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50.png"/><Relationship Id="rId5" Type="http://schemas.openxmlformats.org/officeDocument/2006/relationships/image" Target="../media/image19.png"/><Relationship Id="rId6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35.png"/><Relationship Id="rId6" Type="http://schemas.openxmlformats.org/officeDocument/2006/relationships/image" Target="../media/image30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9.jpg"/><Relationship Id="rId4" Type="http://schemas.openxmlformats.org/officeDocument/2006/relationships/image" Target="../media/image32.png"/><Relationship Id="rId5" Type="http://schemas.openxmlformats.org/officeDocument/2006/relationships/image" Target="../media/image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Relationship Id="rId4" Type="http://schemas.openxmlformats.org/officeDocument/2006/relationships/image" Target="../media/image4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8.png"/><Relationship Id="rId4" Type="http://schemas.openxmlformats.org/officeDocument/2006/relationships/image" Target="../media/image47.png"/><Relationship Id="rId5" Type="http://schemas.openxmlformats.org/officeDocument/2006/relationships/image" Target="../media/image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png"/><Relationship Id="rId4" Type="http://schemas.openxmlformats.org/officeDocument/2006/relationships/image" Target="../media/image4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3.png"/><Relationship Id="rId4" Type="http://schemas.openxmlformats.org/officeDocument/2006/relationships/image" Target="../media/image3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743325" y="2200"/>
            <a:ext cx="5400675" cy="5715000"/>
          </a:xfrm>
          <a:prstGeom prst="rect">
            <a:avLst/>
          </a:prstGeom>
          <a:solidFill>
            <a:srgbClr val="ACD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ARQUITECTURA EMPRESARIAL</a:t>
            </a:r>
            <a:endParaRPr/>
          </a:p>
        </p:txBody>
      </p:sp>
      <p:pic>
        <p:nvPicPr>
          <p:cNvPr id="25" name="Google Shape;25;p1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 flipH="1">
            <a:off x="7912730" y="3083101"/>
            <a:ext cx="330754" cy="210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7509203" y="1095185"/>
            <a:ext cx="114521" cy="114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"/>
          <p:cNvPicPr preferRelativeResize="0"/>
          <p:nvPr/>
        </p:nvPicPr>
        <p:blipFill rotWithShape="1">
          <a:blip r:embed="rId5">
            <a:alphaModFix amt="35000"/>
          </a:blip>
          <a:srcRect b="0" l="0" r="0" t="0"/>
          <a:stretch/>
        </p:blipFill>
        <p:spPr>
          <a:xfrm>
            <a:off x="4487845" y="2266121"/>
            <a:ext cx="317533" cy="19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 flipH="1">
            <a:off x="8111944" y="1223486"/>
            <a:ext cx="263080" cy="167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5576266" y="2378873"/>
            <a:ext cx="114521" cy="114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 flipH="1">
            <a:off x="5887997" y="1698053"/>
            <a:ext cx="272736" cy="173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8505456" y="2569985"/>
            <a:ext cx="76092" cy="7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"/>
          <p:cNvPicPr preferRelativeResize="0"/>
          <p:nvPr/>
        </p:nvPicPr>
        <p:blipFill rotWithShape="1">
          <a:blip r:embed="rId6">
            <a:alphaModFix amt="35000"/>
          </a:blip>
          <a:srcRect b="0" l="0" r="0" t="0"/>
          <a:stretch/>
        </p:blipFill>
        <p:spPr>
          <a:xfrm>
            <a:off x="6200774" y="560161"/>
            <a:ext cx="635554" cy="635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"/>
          <p:cNvPicPr preferRelativeResize="0"/>
          <p:nvPr/>
        </p:nvPicPr>
        <p:blipFill rotWithShape="1">
          <a:blip r:embed="rId7">
            <a:alphaModFix amt="41000"/>
          </a:blip>
          <a:srcRect b="0" l="0" r="0" t="0"/>
          <a:stretch/>
        </p:blipFill>
        <p:spPr>
          <a:xfrm>
            <a:off x="7641486" y="1778879"/>
            <a:ext cx="660479" cy="73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1"/>
          <p:cNvPicPr preferRelativeResize="0"/>
          <p:nvPr/>
        </p:nvPicPr>
        <p:blipFill rotWithShape="1">
          <a:blip r:embed="rId8">
            <a:alphaModFix amt="41000"/>
          </a:blip>
          <a:srcRect b="0" l="0" r="0" t="0"/>
          <a:stretch/>
        </p:blipFill>
        <p:spPr>
          <a:xfrm>
            <a:off x="5061550" y="1439333"/>
            <a:ext cx="400659" cy="560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"/>
          <p:cNvPicPr preferRelativeResize="0"/>
          <p:nvPr/>
        </p:nvPicPr>
        <p:blipFill rotWithShape="1">
          <a:blip r:embed="rId9">
            <a:alphaModFix amt="41000"/>
          </a:blip>
          <a:srcRect b="0" l="0" r="0" t="0"/>
          <a:stretch/>
        </p:blipFill>
        <p:spPr>
          <a:xfrm>
            <a:off x="4790427" y="2946166"/>
            <a:ext cx="541333" cy="45111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560768" y="2048334"/>
            <a:ext cx="3156189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MODELADO </a:t>
            </a:r>
            <a:r>
              <a:rPr b="1" lang="es-E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ARQUITECTÓNICO</a:t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546410" y="3227128"/>
            <a:ext cx="2833384" cy="871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CD144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Vistas, capas y niveles de abstracción</a:t>
            </a:r>
            <a:endParaRPr/>
          </a:p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CD144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Mapas de capacidades y hojas de ruta arquitectónicas</a:t>
            </a:r>
            <a:endParaRPr/>
          </a:p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CD144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Lenguajes y herramientas de modelado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752192" y="1605906"/>
            <a:ext cx="145764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ACD144"/>
                </a:solidFill>
                <a:latin typeface="Calibri"/>
                <a:ea typeface="Calibri"/>
                <a:cs typeface="Calibri"/>
                <a:sym typeface="Calibri"/>
              </a:rPr>
              <a:t>TEMA 03</a:t>
            </a:r>
            <a:endParaRPr/>
          </a:p>
        </p:txBody>
      </p:sp>
      <p:pic>
        <p:nvPicPr>
          <p:cNvPr id="39" name="Google Shape;39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55457" y="809726"/>
            <a:ext cx="4820231" cy="482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15754" y="1669931"/>
            <a:ext cx="166865" cy="170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946969"/>
            <a:ext cx="2072213" cy="3898064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LA SESIÓN</a:t>
            </a:r>
            <a:endParaRPr/>
          </a:p>
        </p:txBody>
      </p:sp>
      <p:pic>
        <p:nvPicPr>
          <p:cNvPr id="49" name="Google Shape;49;p2"/>
          <p:cNvPicPr preferRelativeResize="0"/>
          <p:nvPr/>
        </p:nvPicPr>
        <p:blipFill rotWithShape="1">
          <a:blip r:embed="rId4">
            <a:alphaModFix amt="16000"/>
          </a:blip>
          <a:srcRect b="0" l="0" r="0" t="0"/>
          <a:stretch/>
        </p:blipFill>
        <p:spPr>
          <a:xfrm>
            <a:off x="334433" y="3817749"/>
            <a:ext cx="809264" cy="80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3"/>
          <p:cNvPicPr preferRelativeResize="0"/>
          <p:nvPr/>
        </p:nvPicPr>
        <p:blipFill rotWithShape="1">
          <a:blip r:embed="rId3">
            <a:alphaModFix amt="42000"/>
          </a:blip>
          <a:srcRect b="0" l="0" r="0" t="0"/>
          <a:stretch/>
        </p:blipFill>
        <p:spPr>
          <a:xfrm>
            <a:off x="6986661" y="3052731"/>
            <a:ext cx="1689027" cy="218125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/>
          </a:p>
        </p:txBody>
      </p:sp>
      <p:grpSp>
        <p:nvGrpSpPr>
          <p:cNvPr id="61" name="Google Shape;61;p3"/>
          <p:cNvGrpSpPr/>
          <p:nvPr/>
        </p:nvGrpSpPr>
        <p:grpSpPr>
          <a:xfrm>
            <a:off x="1081708" y="1046442"/>
            <a:ext cx="6324932" cy="3231654"/>
            <a:chOff x="1017700" y="864134"/>
            <a:chExt cx="6324932" cy="3231654"/>
          </a:xfrm>
        </p:grpSpPr>
        <p:sp>
          <p:nvSpPr>
            <p:cNvPr id="62" name="Google Shape;62;p3"/>
            <p:cNvSpPr txBox="1"/>
            <p:nvPr/>
          </p:nvSpPr>
          <p:spPr>
            <a:xfrm>
              <a:off x="1288550" y="864134"/>
              <a:ext cx="6054082" cy="3231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El modelado arquitectónico traduce la estrategia en representaciones claras (vistas, capas y modelos) para alinear negocio y TI en una misma “imagen” de solución.</a:t>
              </a:r>
              <a:endParaRPr/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Modelar no es dibujar por dibujar: permite decidir con evidencia, reducir ambigüedad entre equipos y asegurar consistencia entre lo que se diseña y lo que se implementa.</a:t>
              </a:r>
              <a:endParaRPr/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Usaremos tres ejes para construir modelos útiles: vistas, capas y niveles de abstracción (qué mostrar y a qué detalle), mapas de capacidades y hojas de ruta (qué cambiar y en qué secuencia) y lenguajes/herramientas (cómo documentarlo de forma estándar).</a:t>
              </a:r>
              <a:endParaRPr/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 esta sesión aprenderemos a seleccionar el modelo correcto según el objetivo (comunicar, analizar, decidir o gobernar) y a representar soluciones que estén trazadas a los resultados estratégicos de la organización.</a:t>
              </a:r>
              <a:endParaRPr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3" name="Google Shape;63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6301" y="912101"/>
              <a:ext cx="117851" cy="121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7700" y="1557790"/>
              <a:ext cx="117851" cy="121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6301" y="2433637"/>
              <a:ext cx="117851" cy="121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44575" y="3475939"/>
              <a:ext cx="117851" cy="12136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1008061" y="3169972"/>
            <a:ext cx="5556823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VISTAS, CAPAS Y                                              </a:t>
            </a:r>
            <a:r>
              <a:rPr b="1"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NIVELES DE ABSTRACCIÓN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/>
        </p:nvSpPr>
        <p:spPr>
          <a:xfrm>
            <a:off x="503238" y="741769"/>
            <a:ext cx="84772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VISIÓN GENERAL: ORGANIZACIONES, HABILITACIÓN, MARCO REFERENCIAL </a:t>
            </a:r>
            <a:endParaRPr sz="1600">
              <a:solidFill>
                <a:srgbClr val="FF7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VISTAS, CAPAS Y NIVELES DE ABSTRACCIÓN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503237" y="1300213"/>
            <a:ext cx="7506025" cy="3524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975" lvl="0" marL="180975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organizaciones son “sistemas socio-técnicos” complejos: múltiples capacidades, procesos, datos y aplicaciones interactúan y generan dependencias difíciles de gobernar sin modelos.</a:t>
            </a:r>
            <a:endParaRPr/>
          </a:p>
          <a:p>
            <a:pPr indent="-79375" lvl="0" marL="180975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marco de referencia permite descomponer la empresa por vistas y niveles de abstracción (qué se quiere ver, con qué detalle y para quién), evitando diagnósticos parciales o contradictorios.</a:t>
            </a:r>
            <a:endParaRPr/>
          </a:p>
          <a:p>
            <a:pPr indent="-79375" lvl="0" marL="180975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Habilita un lenguaje común: define componentes, relaciones y límites (scope) para alinear estrategia, operación y tecnología bajo principios y estándares compartidos.</a:t>
            </a:r>
            <a:endParaRPr/>
          </a:p>
          <a:p>
            <a:pPr indent="-79375" lvl="0" marL="180975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 práctico: menor duplicidad y retrabajo, menor riesgo por decisiones no trazables, y mayor coherencia al diseñar To-Be y planificar la transición (roadmap).</a:t>
            </a:r>
            <a:endParaRPr/>
          </a:p>
          <a:p>
            <a:pPr indent="-85725" lvl="0" marL="18097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8087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/>
        </p:nvSpPr>
        <p:spPr>
          <a:xfrm>
            <a:off x="5953062" y="972455"/>
            <a:ext cx="200221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¿Qué está mostrando?</a:t>
            </a:r>
            <a:endParaRPr sz="1600">
              <a:solidFill>
                <a:srgbClr val="FF7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VISTAS, CAPAS Y NIVELES DE ABSTRACCIÓN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nterprise Architecture Roadmap PowerPoint &amp; Google Slides Template" id="90" name="Google Shape;90;p6"/>
          <p:cNvPicPr preferRelativeResize="0"/>
          <p:nvPr/>
        </p:nvPicPr>
        <p:blipFill rotWithShape="1">
          <a:blip r:embed="rId3">
            <a:alphaModFix/>
          </a:blip>
          <a:srcRect b="0" l="4230" r="3891" t="14049"/>
          <a:stretch/>
        </p:blipFill>
        <p:spPr>
          <a:xfrm>
            <a:off x="4572000" y="1490472"/>
            <a:ext cx="4351298" cy="3128962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"/>
          <p:cNvSpPr txBox="1"/>
          <p:nvPr/>
        </p:nvSpPr>
        <p:spPr>
          <a:xfrm>
            <a:off x="334436" y="1596439"/>
            <a:ext cx="3968704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808799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 horizontal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(Q1–Q4): el tiempo. Indica cuándo se implementa o madura cada iniciativa.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Barras por color: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distintas capas/vistas de la arquitectura (negocio, procesos/operación, datos/seguridad, aplicaciones).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/>
        </p:nvSpPr>
        <p:spPr>
          <a:xfrm>
            <a:off x="5953062" y="972455"/>
            <a:ext cx="200221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¿Qué está mostrando?</a:t>
            </a:r>
            <a:endParaRPr sz="1600">
              <a:solidFill>
                <a:srgbClr val="FF7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VISTAS, CAPAS Y NIVELES DE ABSTRACCIÓN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nterprise Architecture Roadmap PowerPoint &amp; Google Slides Template" id="99" name="Google Shape;99;p7"/>
          <p:cNvPicPr preferRelativeResize="0"/>
          <p:nvPr/>
        </p:nvPicPr>
        <p:blipFill rotWithShape="1">
          <a:blip r:embed="rId3">
            <a:alphaModFix/>
          </a:blip>
          <a:srcRect b="0" l="4230" r="3891" t="14049"/>
          <a:stretch/>
        </p:blipFill>
        <p:spPr>
          <a:xfrm>
            <a:off x="4572000" y="1490472"/>
            <a:ext cx="4351298" cy="312896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"/>
          <p:cNvSpPr txBox="1"/>
          <p:nvPr/>
        </p:nvSpPr>
        <p:spPr>
          <a:xfrm>
            <a:off x="393976" y="626120"/>
            <a:ext cx="4023788" cy="4462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808799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sz="1400">
              <a:solidFill>
                <a:srgbClr val="8087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Columna izquierda (categorías):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15963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Achievements, Deadlines (qué resultados y fechas manda el negocio).</a:t>
            </a:r>
            <a:endParaRPr/>
          </a:p>
          <a:p>
            <a:pPr indent="0" lvl="0" marL="715963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KPI: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Goals (métricas objetivo que gobiernan decisiones).</a:t>
            </a:r>
            <a:endParaRPr/>
          </a:p>
          <a:p>
            <a:pPr indent="0" lvl="0" marL="715963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Strategy: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or Die, Efficiency (prioridades estratégicas: “sí o sí” y eficiencia).</a:t>
            </a:r>
            <a:endParaRPr/>
          </a:p>
          <a:p>
            <a:pPr indent="0" lvl="0" marL="715963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Product/System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Efficiency, Security, UX/UI Development (habilitadores: eficiencia operativa, controles, experiencia).</a:t>
            </a:r>
            <a:endParaRPr/>
          </a:p>
          <a:p>
            <a:pPr indent="0" lvl="0" marL="715963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or Die, Efficiency (entregables de aplicaciones alineados a prioridades).</a:t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415102" y="1306812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 sz="24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7"/>
          <p:cNvCxnSpPr/>
          <p:nvPr/>
        </p:nvCxnSpPr>
        <p:spPr>
          <a:xfrm>
            <a:off x="971127" y="1432728"/>
            <a:ext cx="0" cy="2930436"/>
          </a:xfrm>
          <a:prstGeom prst="straightConnector1">
            <a:avLst/>
          </a:prstGeom>
          <a:noFill/>
          <a:ln cap="flat" cmpd="sng" w="12700">
            <a:solidFill>
              <a:srgbClr val="01B1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7"/>
          <p:cNvSpPr/>
          <p:nvPr/>
        </p:nvSpPr>
        <p:spPr>
          <a:xfrm>
            <a:off x="415102" y="2015641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1" sz="24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15102" y="2539035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" name="Google Shape;105;p7"/>
          <p:cNvGrpSpPr/>
          <p:nvPr/>
        </p:nvGrpSpPr>
        <p:grpSpPr>
          <a:xfrm>
            <a:off x="900731" y="1410851"/>
            <a:ext cx="140792" cy="140258"/>
            <a:chOff x="3427964" y="2244682"/>
            <a:chExt cx="225891" cy="225034"/>
          </a:xfrm>
        </p:grpSpPr>
        <p:sp>
          <p:nvSpPr>
            <p:cNvPr id="106" name="Google Shape;106;p7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7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7"/>
          <p:cNvSpPr/>
          <p:nvPr/>
        </p:nvSpPr>
        <p:spPr>
          <a:xfrm>
            <a:off x="417429" y="3259539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11927" y="4209872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" name="Google Shape;110;p7"/>
          <p:cNvGrpSpPr/>
          <p:nvPr/>
        </p:nvGrpSpPr>
        <p:grpSpPr>
          <a:xfrm>
            <a:off x="900731" y="2127752"/>
            <a:ext cx="140792" cy="140258"/>
            <a:chOff x="3427964" y="2244682"/>
            <a:chExt cx="225891" cy="225034"/>
          </a:xfrm>
        </p:grpSpPr>
        <p:sp>
          <p:nvSpPr>
            <p:cNvPr id="111" name="Google Shape;111;p7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7"/>
          <p:cNvGrpSpPr/>
          <p:nvPr/>
        </p:nvGrpSpPr>
        <p:grpSpPr>
          <a:xfrm>
            <a:off x="900731" y="2640797"/>
            <a:ext cx="140792" cy="140258"/>
            <a:chOff x="3427964" y="2244682"/>
            <a:chExt cx="225891" cy="225034"/>
          </a:xfrm>
        </p:grpSpPr>
        <p:sp>
          <p:nvSpPr>
            <p:cNvPr id="114" name="Google Shape;114;p7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7"/>
          <p:cNvGrpSpPr/>
          <p:nvPr/>
        </p:nvGrpSpPr>
        <p:grpSpPr>
          <a:xfrm>
            <a:off x="900731" y="3363003"/>
            <a:ext cx="140792" cy="140258"/>
            <a:chOff x="3427964" y="2244682"/>
            <a:chExt cx="225891" cy="225034"/>
          </a:xfrm>
        </p:grpSpPr>
        <p:sp>
          <p:nvSpPr>
            <p:cNvPr id="117" name="Google Shape;117;p7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7"/>
          <p:cNvGrpSpPr/>
          <p:nvPr/>
        </p:nvGrpSpPr>
        <p:grpSpPr>
          <a:xfrm>
            <a:off x="900731" y="4333743"/>
            <a:ext cx="140792" cy="140258"/>
            <a:chOff x="3427964" y="2244682"/>
            <a:chExt cx="225891" cy="225034"/>
          </a:xfrm>
        </p:grpSpPr>
        <p:sp>
          <p:nvSpPr>
            <p:cNvPr id="120" name="Google Shape;120;p7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/>
        </p:nvSpPr>
        <p:spPr>
          <a:xfrm>
            <a:off x="503238" y="741769"/>
            <a:ext cx="84772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PROPÓSITO DEL MODELADO ARQUITECTÓNICO (POR QUÉ MODELAMOS)</a:t>
            </a:r>
            <a:endParaRPr sz="1600">
              <a:solidFill>
                <a:srgbClr val="FF7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4399378" y="1309798"/>
            <a:ext cx="41409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975" lvl="0" marL="18097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Convertir la estrategia en modelos verificables: </a:t>
            </a:r>
            <a:r>
              <a:rPr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traducir objetivos en capacidades, decisiones de diseño y criterios de implementación.</a:t>
            </a:r>
            <a:endParaRPr/>
          </a:p>
          <a:p>
            <a:pPr indent="-85725" lvl="0" marL="18097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ambigüedad: </a:t>
            </a:r>
            <a:r>
              <a:rPr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formal entre negocio, TI y gobierno (artefactos comparables, no opiniones).</a:t>
            </a:r>
            <a:endParaRPr/>
          </a:p>
          <a:p>
            <a:pPr indent="-85725" lvl="0" marL="18097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Controlar complejidad: </a:t>
            </a:r>
            <a:r>
              <a:rPr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descomponer en vistas/capas y gestionar dependencias end-to-end.</a:t>
            </a:r>
            <a:endParaRPr/>
          </a:p>
          <a:p>
            <a:pPr indent="-85725" lvl="0" marL="18097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1"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Habilitar decisiones: </a:t>
            </a:r>
            <a:r>
              <a:rPr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priorizar inversiones, secuenciar iniciativas y justificar trade-offs (costo, riesgo, time-to-value).</a:t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VISTAS, CAPAS Y NIVELES DE ABSTRACCIÓN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hat is Enterprise Architecture?"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38" y="1585041"/>
            <a:ext cx="3631100" cy="2963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7304" y="912810"/>
            <a:ext cx="6056242" cy="432117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9"/>
          <p:cNvSpPr/>
          <p:nvPr/>
        </p:nvSpPr>
        <p:spPr>
          <a:xfrm>
            <a:off x="503238" y="376836"/>
            <a:ext cx="455909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NOMBRE DEL SUBTEMA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 rot="-5400000">
            <a:off x="-377625" y="1793675"/>
            <a:ext cx="4321178" cy="2559450"/>
          </a:xfrm>
          <a:prstGeom prst="round2SameRect">
            <a:avLst>
              <a:gd fmla="val 5364" name="adj1"/>
              <a:gd fmla="val 0" name="adj2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727177" y="1888492"/>
            <a:ext cx="2148225" cy="2877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rgbClr val="FDC212"/>
                </a:solidFill>
                <a:latin typeface="Calibri"/>
                <a:ea typeface="Calibri"/>
                <a:cs typeface="Calibri"/>
                <a:sym typeface="Calibri"/>
              </a:rPr>
              <a:t>MAPA EMPRESARIAL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Cuando juegas sin mapa</a:t>
            </a: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sin entender el entorno, avanzas por intuición, reaccionando. A veces ganas, muchas veces repites el nivel.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arquitectura empresarial </a:t>
            </a: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cumple exactamente el rol del mapa del juego.</a:t>
            </a:r>
            <a:b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Nos permite ver el escenario completo: los niveles, las rutas, las dependencias y los riesgos.</a:t>
            </a:r>
            <a:endParaRPr/>
          </a:p>
        </p:txBody>
      </p:sp>
      <p:pic>
        <p:nvPicPr>
          <p:cNvPr id="140" name="Google Shape;14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177" y="1648693"/>
            <a:ext cx="157605" cy="157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s mejores videojuegos para PC" id="141" name="Google Shape;141;p9"/>
          <p:cNvPicPr preferRelativeResize="0"/>
          <p:nvPr/>
        </p:nvPicPr>
        <p:blipFill rotWithShape="1">
          <a:blip r:embed="rId5">
            <a:alphaModFix/>
          </a:blip>
          <a:srcRect b="0" l="10171" r="4911" t="0"/>
          <a:stretch/>
        </p:blipFill>
        <p:spPr>
          <a:xfrm>
            <a:off x="3062690" y="912809"/>
            <a:ext cx="5610856" cy="4321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/>
        </p:nvSpPr>
        <p:spPr>
          <a:xfrm>
            <a:off x="503238" y="937926"/>
            <a:ext cx="396961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ESTRUCTURA APLICACIÓN PRÁCTICA</a:t>
            </a:r>
            <a:endParaRPr sz="1600">
              <a:solidFill>
                <a:srgbClr val="FF7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413235" y="1873571"/>
            <a:ext cx="225784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Componentes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413235" y="3229519"/>
            <a:ext cx="2087562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Aplicación práctica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808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2590800" y="2715510"/>
            <a:ext cx="302843" cy="1286920"/>
          </a:xfrm>
          <a:prstGeom prst="leftBrace">
            <a:avLst>
              <a:gd fmla="val 338" name="adj1"/>
              <a:gd fmla="val 50283" name="adj2"/>
            </a:avLst>
          </a:prstGeom>
          <a:noFill/>
          <a:ln cap="flat" cmpd="sng" w="19050">
            <a:solidFill>
              <a:srgbClr val="808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2893643" y="3735300"/>
            <a:ext cx="1838973" cy="593798"/>
          </a:xfrm>
          <a:prstGeom prst="roundRect">
            <a:avLst>
              <a:gd fmla="val 23879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Qué produce: </a:t>
            </a: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vista ejecutiva / operativa / sistemas / tecnología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4865180" y="3735300"/>
            <a:ext cx="1838973" cy="593798"/>
          </a:xfrm>
          <a:prstGeom prst="roundRect">
            <a:avLst>
              <a:gd fmla="val 23879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Qué produce:</a:t>
            </a: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negocio / datos / aplicaciones / tecnología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6836714" y="3735300"/>
            <a:ext cx="1838973" cy="593798"/>
          </a:xfrm>
          <a:prstGeom prst="roundRect">
            <a:avLst>
              <a:gd fmla="val 23001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Qué produce:</a:t>
            </a: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contexto / conceptual / lógico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2893643" y="3062071"/>
            <a:ext cx="1838973" cy="593798"/>
          </a:xfrm>
          <a:prstGeom prst="roundRect">
            <a:avLst>
              <a:gd fmla="val 27681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 qué sirve: </a:t>
            </a: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alinear objetivos, operación y TI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4865180" y="3062071"/>
            <a:ext cx="1838973" cy="593798"/>
          </a:xfrm>
          <a:prstGeom prst="roundRect">
            <a:avLst>
              <a:gd fmla="val 23245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 qué sirve:</a:t>
            </a: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evitar mezclas y vacíos entre dominios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6836714" y="3062071"/>
            <a:ext cx="1838973" cy="593798"/>
          </a:xfrm>
          <a:prstGeom prst="roundRect">
            <a:avLst>
              <a:gd fmla="val 22221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 qué sirve:</a:t>
            </a: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bajar de estrategia a diseño controlado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2893643" y="2388842"/>
            <a:ext cx="1838973" cy="593798"/>
          </a:xfrm>
          <a:prstGeom prst="roundRect">
            <a:avLst>
              <a:gd fmla="val 24513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Qué es: vistas por stakeholder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865178" y="2388841"/>
            <a:ext cx="1838973" cy="593798"/>
          </a:xfrm>
          <a:prstGeom prst="roundRect">
            <a:avLst>
              <a:gd fmla="val 23879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Qué es:</a:t>
            </a: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dominios separados para trazabilidad end-to-end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6836714" y="2388842"/>
            <a:ext cx="1838973" cy="593798"/>
          </a:xfrm>
          <a:prstGeom prst="roundRect">
            <a:avLst>
              <a:gd fmla="val 24561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Qué es:</a:t>
            </a: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“zoom” de la arquitectura (del por qué al cómo)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2893643" y="1746180"/>
            <a:ext cx="1838973" cy="501005"/>
          </a:xfrm>
          <a:prstGeom prst="roundRect">
            <a:avLst>
              <a:gd fmla="val 24513" name="adj"/>
            </a:avLst>
          </a:prstGeom>
          <a:solidFill>
            <a:srgbClr val="FE7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VISTAS</a:t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4865180" y="1746180"/>
            <a:ext cx="1838973" cy="501005"/>
          </a:xfrm>
          <a:prstGeom prst="roundRect">
            <a:avLst>
              <a:gd fmla="val 23879" name="adj"/>
            </a:avLst>
          </a:prstGeom>
          <a:solidFill>
            <a:srgbClr val="FE7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CAPAS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6836714" y="1746180"/>
            <a:ext cx="1838973" cy="501005"/>
          </a:xfrm>
          <a:prstGeom prst="roundRect">
            <a:avLst>
              <a:gd fmla="val 23001" name="adj"/>
            </a:avLst>
          </a:prstGeom>
          <a:solidFill>
            <a:srgbClr val="FE7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NIVELES</a:t>
            </a:r>
            <a:endParaRPr b="1"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VISTAS, CAPAS Y NIVELES DE ABSTRACCIÓN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11"/>
          <p:cNvGrpSpPr/>
          <p:nvPr/>
        </p:nvGrpSpPr>
        <p:grpSpPr>
          <a:xfrm>
            <a:off x="1524000" y="1111939"/>
            <a:ext cx="6096000" cy="4064000"/>
            <a:chOff x="0" y="0"/>
            <a:chExt cx="6096000" cy="4064000"/>
          </a:xfrm>
        </p:grpSpPr>
        <p:sp>
          <p:nvSpPr>
            <p:cNvPr id="170" name="Google Shape;170;p11"/>
            <p:cNvSpPr/>
            <p:nvPr/>
          </p:nvSpPr>
          <p:spPr>
            <a:xfrm rot="-5400000">
              <a:off x="508000" y="-508000"/>
              <a:ext cx="2032000" cy="3048000"/>
            </a:xfrm>
            <a:prstGeom prst="round1Rect">
              <a:avLst>
                <a:gd fmla="val 16667" name="adj"/>
              </a:avLst>
            </a:prstGeom>
            <a:solidFill>
              <a:srgbClr val="B2B6C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1"/>
            <p:cNvSpPr txBox="1"/>
            <p:nvPr/>
          </p:nvSpPr>
          <p:spPr>
            <a:xfrm>
              <a:off x="0" y="0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225" lIns="142225" spcFirstLastPara="1" rIns="142225" wrap="square" tIns="142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Ejecutiva: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drivers, objetivos, restricciones, resultados esperados</a:t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3048000" y="0"/>
              <a:ext cx="3048000" cy="2032000"/>
            </a:xfrm>
            <a:prstGeom prst="round1Rect">
              <a:avLst>
                <a:gd fmla="val 16667" name="adj"/>
              </a:avLst>
            </a:prstGeom>
            <a:solidFill>
              <a:srgbClr val="D9DBE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1"/>
            <p:cNvSpPr txBox="1"/>
            <p:nvPr/>
          </p:nvSpPr>
          <p:spPr>
            <a:xfrm>
              <a:off x="3048000" y="0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000" lIns="128000" spcFirstLastPara="1" rIns="128000" wrap="square" tIns="1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lang="es-E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Operativa: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s-E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capacidades, procesos, roles, servicios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1"/>
            <p:cNvSpPr/>
            <p:nvPr/>
          </p:nvSpPr>
          <p:spPr>
            <a:xfrm rot="10800000">
              <a:off x="0" y="2032000"/>
              <a:ext cx="3048000" cy="2032000"/>
            </a:xfrm>
            <a:prstGeom prst="round1Rect">
              <a:avLst>
                <a:gd fmla="val 16667" name="adj"/>
              </a:avLst>
            </a:prstGeom>
            <a:solidFill>
              <a:srgbClr val="5D6474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1"/>
            <p:cNvSpPr txBox="1"/>
            <p:nvPr/>
          </p:nvSpPr>
          <p:spPr>
            <a:xfrm>
              <a:off x="0" y="2539999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000" lIns="128000" spcFirstLastPara="1" rIns="128000" wrap="square" tIns="1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lang="es-E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Sistemas: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s-E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aplicaciones, integraciones, datos y flujos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1"/>
            <p:cNvSpPr/>
            <p:nvPr/>
          </p:nvSpPr>
          <p:spPr>
            <a:xfrm rot="5400000">
              <a:off x="3556000" y="1523999"/>
              <a:ext cx="2032000" cy="3048000"/>
            </a:xfrm>
            <a:prstGeom prst="round1Rect">
              <a:avLst>
                <a:gd fmla="val 16667" name="adj"/>
              </a:avLst>
            </a:prstGeom>
            <a:solidFill>
              <a:srgbClr val="E5E6EA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1"/>
            <p:cNvSpPr txBox="1"/>
            <p:nvPr/>
          </p:nvSpPr>
          <p:spPr>
            <a:xfrm>
              <a:off x="3048000" y="2539999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225" lIns="142225" spcFirstLastPara="1" rIns="142225" wrap="square" tIns="142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lang="es-E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Tecnológica: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s-E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infraestructura, plataformas, seguridad, estándares</a:t>
              </a:r>
              <a:endParaRPr sz="2000">
                <a:solidFill>
                  <a:srgbClr val="8087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2133600" y="1523999"/>
              <a:ext cx="1828800" cy="1016000"/>
            </a:xfrm>
            <a:prstGeom prst="roundRect">
              <a:avLst>
                <a:gd fmla="val 16667" name="adj"/>
              </a:avLst>
            </a:prstGeom>
            <a:solidFill>
              <a:srgbClr val="7F7F7F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1"/>
            <p:cNvSpPr txBox="1"/>
            <p:nvPr/>
          </p:nvSpPr>
          <p:spPr>
            <a:xfrm>
              <a:off x="2183197" y="1573596"/>
              <a:ext cx="1729606" cy="9168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1" lang="es-E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Vistas </a:t>
              </a:r>
              <a:r>
                <a:rPr b="0" lang="es-ES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(views)</a:t>
              </a:r>
              <a:endParaRPr b="0" sz="2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11"/>
          <p:cNvSpPr txBox="1"/>
          <p:nvPr/>
        </p:nvSpPr>
        <p:spPr>
          <a:xfrm>
            <a:off x="503253" y="725475"/>
            <a:ext cx="3981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ESTRUCTURA - APLICACIÓN PRÁCTICA</a:t>
            </a:r>
            <a:endParaRPr sz="1600">
              <a:solidFill>
                <a:srgbClr val="FF7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VISTAS, CAPAS Y NIVELES DE ABSTRACCIÓN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12"/>
          <p:cNvGrpSpPr/>
          <p:nvPr/>
        </p:nvGrpSpPr>
        <p:grpSpPr>
          <a:xfrm>
            <a:off x="1524000" y="1131886"/>
            <a:ext cx="6096000" cy="4064000"/>
            <a:chOff x="0" y="0"/>
            <a:chExt cx="6096000" cy="4064000"/>
          </a:xfrm>
        </p:grpSpPr>
        <p:sp>
          <p:nvSpPr>
            <p:cNvPr id="188" name="Google Shape;188;p12"/>
            <p:cNvSpPr/>
            <p:nvPr/>
          </p:nvSpPr>
          <p:spPr>
            <a:xfrm rot="-5400000">
              <a:off x="508000" y="-508000"/>
              <a:ext cx="2032000" cy="3048000"/>
            </a:xfrm>
            <a:prstGeom prst="round1Rect">
              <a:avLst>
                <a:gd fmla="val 16667" name="adj"/>
              </a:avLst>
            </a:prstGeom>
            <a:solidFill>
              <a:srgbClr val="B9561A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2"/>
            <p:cNvSpPr txBox="1"/>
            <p:nvPr/>
          </p:nvSpPr>
          <p:spPr>
            <a:xfrm>
              <a:off x="0" y="0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225" lIns="142225" spcFirstLastPara="1" rIns="142225" wrap="square" tIns="142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Negocio: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capacidades, procesos, estructura, modelo operativo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2"/>
            <p:cNvSpPr/>
            <p:nvPr/>
          </p:nvSpPr>
          <p:spPr>
            <a:xfrm>
              <a:off x="3048000" y="0"/>
              <a:ext cx="3048000" cy="2032000"/>
            </a:xfrm>
            <a:prstGeom prst="round1Rect">
              <a:avLst>
                <a:gd fmla="val 16667" name="adj"/>
              </a:avLst>
            </a:prstGeom>
            <a:solidFill>
              <a:srgbClr val="F1805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2"/>
            <p:cNvSpPr txBox="1"/>
            <p:nvPr/>
          </p:nvSpPr>
          <p:spPr>
            <a:xfrm>
              <a:off x="3048000" y="0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000" lIns="128000" spcFirstLastPara="1" rIns="128000" wrap="square" tIns="1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Datos: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entidades, flujos, calidad, gobierno de datos</a:t>
              </a:r>
              <a:endParaRPr b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2"/>
            <p:cNvSpPr/>
            <p:nvPr/>
          </p:nvSpPr>
          <p:spPr>
            <a:xfrm rot="10800000">
              <a:off x="0" y="2032000"/>
              <a:ext cx="3048000" cy="2032000"/>
            </a:xfrm>
            <a:prstGeom prst="round1Rect">
              <a:avLst>
                <a:gd fmla="val 16667" name="adj"/>
              </a:avLst>
            </a:prstGeom>
            <a:solidFill>
              <a:srgbClr val="FDC3B4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2"/>
            <p:cNvSpPr txBox="1"/>
            <p:nvPr/>
          </p:nvSpPr>
          <p:spPr>
            <a:xfrm>
              <a:off x="0" y="2539999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000" lIns="128000" spcFirstLastPara="1" rIns="128000" wrap="square" tIns="1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DB5201"/>
                </a:buClr>
                <a:buSzPts val="1800"/>
                <a:buFont typeface="Arial"/>
                <a:buNone/>
              </a:pPr>
              <a:r>
                <a:rPr b="1" lang="es-ES" sz="1800">
                  <a:solidFill>
                    <a:srgbClr val="DB5201"/>
                  </a:solidFill>
                  <a:latin typeface="Calibri"/>
                  <a:ea typeface="Calibri"/>
                  <a:cs typeface="Calibri"/>
                  <a:sym typeface="Calibri"/>
                </a:rPr>
                <a:t>Aplicaciones: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rgbClr val="DB5201"/>
                </a:buClr>
                <a:buSzPts val="1800"/>
                <a:buFont typeface="Arial"/>
                <a:buNone/>
              </a:pPr>
              <a:r>
                <a:rPr b="1" lang="es-ES" sz="1800">
                  <a:solidFill>
                    <a:srgbClr val="DB5201"/>
                  </a:solidFill>
                  <a:latin typeface="Calibri"/>
                  <a:ea typeface="Calibri"/>
                  <a:cs typeface="Calibri"/>
                  <a:sym typeface="Calibri"/>
                </a:rPr>
                <a:t>componentes, servicios, APIS, interoperabilidad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2"/>
            <p:cNvSpPr/>
            <p:nvPr/>
          </p:nvSpPr>
          <p:spPr>
            <a:xfrm rot="5400000">
              <a:off x="3556000" y="1523999"/>
              <a:ext cx="2032000" cy="3048000"/>
            </a:xfrm>
            <a:prstGeom prst="round1Rect">
              <a:avLst>
                <a:gd fmla="val 16667" name="adj"/>
              </a:avLst>
            </a:prstGeom>
            <a:solidFill>
              <a:srgbClr val="F1805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2"/>
            <p:cNvSpPr txBox="1"/>
            <p:nvPr/>
          </p:nvSpPr>
          <p:spPr>
            <a:xfrm>
              <a:off x="3048000" y="2539999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225" lIns="142225" spcFirstLastPara="1" rIns="142225" wrap="square" tIns="142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Tecnológica: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plataformas, redes, seguridad, operación.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2133600" y="1523999"/>
              <a:ext cx="1828800" cy="1016000"/>
            </a:xfrm>
            <a:prstGeom prst="roundRect">
              <a:avLst>
                <a:gd fmla="val 16667" name="adj"/>
              </a:avLst>
            </a:prstGeom>
            <a:solidFill>
              <a:srgbClr val="FCC3B2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2"/>
            <p:cNvSpPr txBox="1"/>
            <p:nvPr/>
          </p:nvSpPr>
          <p:spPr>
            <a:xfrm>
              <a:off x="2183197" y="1573596"/>
              <a:ext cx="1729606" cy="9168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b="1" lang="es-E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Capas (layers)</a:t>
              </a:r>
              <a:endParaRPr b="0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" name="Google Shape;198;p12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VISTAS, CAPAS Y NIVELES DE ABSTRACCIÓN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503254" y="725475"/>
            <a:ext cx="413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ESTRUCTURA - APLICACIÓN PRÁCTICA</a:t>
            </a:r>
            <a:endParaRPr sz="1600">
              <a:solidFill>
                <a:srgbClr val="FF7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13"/>
          <p:cNvGrpSpPr/>
          <p:nvPr/>
        </p:nvGrpSpPr>
        <p:grpSpPr>
          <a:xfrm>
            <a:off x="1524000" y="1131886"/>
            <a:ext cx="6096000" cy="4064000"/>
            <a:chOff x="0" y="0"/>
            <a:chExt cx="6096000" cy="4064000"/>
          </a:xfrm>
        </p:grpSpPr>
        <p:sp>
          <p:nvSpPr>
            <p:cNvPr id="206" name="Google Shape;206;p13"/>
            <p:cNvSpPr/>
            <p:nvPr/>
          </p:nvSpPr>
          <p:spPr>
            <a:xfrm rot="-5400000">
              <a:off x="508000" y="-508000"/>
              <a:ext cx="2032000" cy="3048000"/>
            </a:xfrm>
            <a:prstGeom prst="round1Rect">
              <a:avLst>
                <a:gd fmla="val 16667" name="adj"/>
              </a:avLst>
            </a:prstGeom>
            <a:solidFill>
              <a:schemeClr val="accent5">
                <a:alpha val="89803"/>
              </a:scheme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3"/>
            <p:cNvSpPr txBox="1"/>
            <p:nvPr/>
          </p:nvSpPr>
          <p:spPr>
            <a:xfrm>
              <a:off x="0" y="0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225" lIns="142225" spcFirstLastPara="1" rIns="142225" wrap="square" tIns="142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Contexto: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problema, alcance y propósito</a:t>
              </a:r>
              <a:endParaRPr b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3048000" y="0"/>
              <a:ext cx="3048000" cy="2032000"/>
            </a:xfrm>
            <a:prstGeom prst="round1Rect">
              <a:avLst>
                <a:gd fmla="val 16667" name="adj"/>
              </a:avLst>
            </a:prstGeom>
            <a:solidFill>
              <a:schemeClr val="accent5">
                <a:alpha val="76862"/>
              </a:scheme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3"/>
            <p:cNvSpPr txBox="1"/>
            <p:nvPr/>
          </p:nvSpPr>
          <p:spPr>
            <a:xfrm>
              <a:off x="3048000" y="0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000" lIns="128000" spcFirstLastPara="1" rIns="128000" wrap="square" tIns="1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Conceptual: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componentes y relaciones clave</a:t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3"/>
            <p:cNvSpPr/>
            <p:nvPr/>
          </p:nvSpPr>
          <p:spPr>
            <a:xfrm rot="10800000">
              <a:off x="0" y="2032000"/>
              <a:ext cx="3048000" cy="2032000"/>
            </a:xfrm>
            <a:prstGeom prst="round1Rect">
              <a:avLst>
                <a:gd fmla="val 16667" name="adj"/>
              </a:avLst>
            </a:prstGeom>
            <a:solidFill>
              <a:schemeClr val="accent5">
                <a:alpha val="63137"/>
              </a:scheme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3"/>
            <p:cNvSpPr txBox="1"/>
            <p:nvPr/>
          </p:nvSpPr>
          <p:spPr>
            <a:xfrm>
              <a:off x="0" y="2539999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225" lIns="142225" spcFirstLastPara="1" rIns="142225" wrap="square" tIns="142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Lógico: 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reglas, estructuras, contratos e interfaces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t/>
              </a:r>
              <a:endParaRPr b="0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3"/>
            <p:cNvSpPr/>
            <p:nvPr/>
          </p:nvSpPr>
          <p:spPr>
            <a:xfrm rot="5400000">
              <a:off x="3556000" y="1523999"/>
              <a:ext cx="2032000" cy="3048000"/>
            </a:xfrm>
            <a:prstGeom prst="round1Rect">
              <a:avLst>
                <a:gd fmla="val 16667" name="adj"/>
              </a:avLst>
            </a:prstGeom>
            <a:solidFill>
              <a:schemeClr val="accent5">
                <a:alpha val="49803"/>
              </a:scheme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3"/>
            <p:cNvSpPr txBox="1"/>
            <p:nvPr/>
          </p:nvSpPr>
          <p:spPr>
            <a:xfrm>
              <a:off x="3048000" y="2539999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000" lIns="128000" spcFirstLastPara="1" rIns="128000" wrap="square" tIns="1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lang="es-E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Tecnológica: </a:t>
              </a:r>
              <a:br>
                <a:rPr b="1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componentes físicos/lógicos, operación, monitoreo y continuidad</a:t>
              </a:r>
              <a:r>
                <a:rPr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2133600" y="1523999"/>
              <a:ext cx="1828800" cy="1016000"/>
            </a:xfrm>
            <a:prstGeom prst="roundRect">
              <a:avLst>
                <a:gd fmla="val 16667" name="adj"/>
              </a:avLst>
            </a:prstGeom>
            <a:solidFill>
              <a:srgbClr val="CAE3E8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3"/>
            <p:cNvSpPr txBox="1"/>
            <p:nvPr/>
          </p:nvSpPr>
          <p:spPr>
            <a:xfrm>
              <a:off x="2183197" y="1573596"/>
              <a:ext cx="1729606" cy="9168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b="1" lang="es-ES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Niveles de abstracción</a:t>
              </a:r>
              <a:endParaRPr b="0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6" name="Google Shape;216;p13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VISTAS, CAPAS Y NIVELES DE ABSTRACCIÓN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 txBox="1"/>
          <p:nvPr/>
        </p:nvSpPr>
        <p:spPr>
          <a:xfrm>
            <a:off x="503253" y="725475"/>
            <a:ext cx="3993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ESTRUCTURA - APLICACIÓN PRÁCTICA</a:t>
            </a:r>
            <a:endParaRPr sz="1600">
              <a:solidFill>
                <a:srgbClr val="FF7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/>
          <p:nvPr/>
        </p:nvSpPr>
        <p:spPr>
          <a:xfrm>
            <a:off x="565760" y="741894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ALGUNAS CONCLUSIONES</a:t>
            </a:r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565760" y="1210895"/>
            <a:ext cx="7218043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Modelar con vistas evita discusiones por “opiniones”: cada stakeholder ve lo que necesita para decidir (dirección, negocio, TI).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Separar por capas (negocio, datos, aplicaciones, tecnología) asegura trazabilidad end-to-end y reduce duplicidad de soluciones.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el nivel de abstracción correcto (conceptual, lógico, físico/tecnológico) evita el error típico de mezclar estrategia con implementación.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buen modelo no es el más grande: es el que reduce ambigüedad, hace visibles dependencias y permite priorizar inversión con criterio (costo, riesgo, time-to-value).</a:t>
            </a: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VISTAS, CAPAS Y NIVELES DE ABSTRACCIÓN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 txBox="1"/>
          <p:nvPr/>
        </p:nvSpPr>
        <p:spPr>
          <a:xfrm>
            <a:off x="1008061" y="3169972"/>
            <a:ext cx="5556823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MAPAS DE CAPACIDADES Y                       </a:t>
            </a:r>
            <a:r>
              <a:rPr b="1"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HOJAS DE RUTA ARQUITECTÓNICAS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"/>
          <p:cNvSpPr txBox="1"/>
          <p:nvPr/>
        </p:nvSpPr>
        <p:spPr>
          <a:xfrm>
            <a:off x="411798" y="1380741"/>
            <a:ext cx="4160202" cy="320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0975" lvl="0" marL="180975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Qué es: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inventario estructurado de lo que la organización debe ser capaz de hacer para ejecutar su estrategia.</a:t>
            </a:r>
            <a:endParaRPr/>
          </a:p>
          <a:p>
            <a:pPr indent="-79375" lvl="0" marL="180975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8087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Qué NO es: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organigrama, lista de áreas, ni catálogo de sistemas.</a:t>
            </a:r>
            <a:endParaRPr/>
          </a:p>
          <a:p>
            <a:pPr indent="-79375" lvl="0" marL="180975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8087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Por qué es potente: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mantiene estable aunque cambien procesos, personas o tecnología.</a:t>
            </a:r>
            <a:endParaRPr/>
          </a:p>
          <a:p>
            <a:pPr indent="-79375" lvl="0" marL="180975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8087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Resultado: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“lenguaje de negocio” para priorizar inversión sin pelear por nombres de sistemas.</a:t>
            </a:r>
            <a:endParaRPr/>
          </a:p>
        </p:txBody>
      </p:sp>
      <p:sp>
        <p:nvSpPr>
          <p:cNvPr id="240" name="Google Shape;240;p16"/>
          <p:cNvSpPr/>
          <p:nvPr/>
        </p:nvSpPr>
        <p:spPr>
          <a:xfrm>
            <a:off x="503238" y="501582"/>
            <a:ext cx="529405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MAPAS DE CAPACIDADES Y HOJAS DE RUTA ARQUITECTÓNICAS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 txBox="1"/>
          <p:nvPr/>
        </p:nvSpPr>
        <p:spPr>
          <a:xfrm>
            <a:off x="503238" y="856238"/>
            <a:ext cx="41602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MAPA DE CAPACIDADES: ¿QUÉ ES Y QUÉ NO ES?</a:t>
            </a:r>
            <a:endParaRPr b="1" sz="1400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usiness Capability Model | QualiWare Center of Excellence" id="242" name="Google Shape;2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3362" y="1380742"/>
            <a:ext cx="4038030" cy="320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 txBox="1"/>
          <p:nvPr/>
        </p:nvSpPr>
        <p:spPr>
          <a:xfrm>
            <a:off x="503238" y="541492"/>
            <a:ext cx="72783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rgbClr val="11B7C8"/>
                </a:solidFill>
                <a:latin typeface="Calibri"/>
                <a:ea typeface="Calibri"/>
                <a:cs typeface="Calibri"/>
                <a:sym typeface="Calibri"/>
              </a:rPr>
              <a:t>CÓMO CONSTRUIR UN CAPABILITY MAP (PASOS 1–3)</a:t>
            </a:r>
            <a:endParaRPr b="1" sz="1400">
              <a:solidFill>
                <a:srgbClr val="11B7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" name="Google Shape;249;p17"/>
          <p:cNvGrpSpPr/>
          <p:nvPr/>
        </p:nvGrpSpPr>
        <p:grpSpPr>
          <a:xfrm>
            <a:off x="665650" y="501719"/>
            <a:ext cx="7812699" cy="4231152"/>
            <a:chOff x="21760" y="48773"/>
            <a:chExt cx="7812699" cy="4231152"/>
          </a:xfrm>
        </p:grpSpPr>
        <p:sp>
          <p:nvSpPr>
            <p:cNvPr id="250" name="Google Shape;250;p17"/>
            <p:cNvSpPr/>
            <p:nvPr/>
          </p:nvSpPr>
          <p:spPr>
            <a:xfrm>
              <a:off x="5447051" y="539143"/>
              <a:ext cx="2387408" cy="2387849"/>
            </a:xfrm>
            <a:prstGeom prst="ellipse">
              <a:avLst/>
            </a:prstGeom>
            <a:solidFill>
              <a:srgbClr val="FDC21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5526321" y="618752"/>
              <a:ext cx="2228869" cy="2228631"/>
            </a:xfrm>
            <a:prstGeom prst="ellipse">
              <a:avLst/>
            </a:prstGeom>
            <a:solidFill>
              <a:schemeClr val="lt1">
                <a:alpha val="89803"/>
              </a:schemeClr>
            </a:solidFill>
            <a:ln cap="flat" cmpd="sng" w="38100">
              <a:solidFill>
                <a:srgbClr val="FDC2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7"/>
            <p:cNvSpPr txBox="1"/>
            <p:nvPr/>
          </p:nvSpPr>
          <p:spPr>
            <a:xfrm>
              <a:off x="5844953" y="937188"/>
              <a:ext cx="1591605" cy="159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300" lIns="20300" spcFirstLastPara="1" rIns="20300" wrap="square" tIns="20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B7C8"/>
                </a:buClr>
                <a:buSzPts val="1600"/>
                <a:buFont typeface="Calibri"/>
                <a:buNone/>
              </a:pPr>
              <a:r>
                <a:rPr b="1" lang="es-ES" sz="16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PASO 3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11B7C8"/>
                </a:buClr>
                <a:buSzPts val="1600"/>
                <a:buFont typeface="Calibri"/>
                <a:buNone/>
              </a:pPr>
              <a:r>
                <a:rPr b="1" lang="es-ES" sz="16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OWNER + KPI + MADUREZ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7"/>
            <p:cNvSpPr/>
            <p:nvPr/>
          </p:nvSpPr>
          <p:spPr>
            <a:xfrm>
              <a:off x="5526321" y="2970987"/>
              <a:ext cx="2228869" cy="1308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7"/>
            <p:cNvSpPr txBox="1"/>
            <p:nvPr/>
          </p:nvSpPr>
          <p:spPr>
            <a:xfrm>
              <a:off x="5526321" y="2970987"/>
              <a:ext cx="2228869" cy="1308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Dueño por capacidad (accountability)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1–2 KPI + dolor/madurez (1–5)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9850" lvl="1" marL="17145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7"/>
            <p:cNvSpPr/>
            <p:nvPr/>
          </p:nvSpPr>
          <p:spPr>
            <a:xfrm rot="2700000">
              <a:off x="2982472" y="542030"/>
              <a:ext cx="2381657" cy="2381657"/>
            </a:xfrm>
            <a:prstGeom prst="teardrop">
              <a:avLst>
                <a:gd fmla="val 100000" name="adj"/>
              </a:avLst>
            </a:prstGeom>
            <a:solidFill>
              <a:srgbClr val="FDC21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7"/>
            <p:cNvSpPr/>
            <p:nvPr/>
          </p:nvSpPr>
          <p:spPr>
            <a:xfrm>
              <a:off x="3058866" y="618752"/>
              <a:ext cx="2228869" cy="2228631"/>
            </a:xfrm>
            <a:prstGeom prst="ellipse">
              <a:avLst/>
            </a:prstGeom>
            <a:solidFill>
              <a:schemeClr val="lt1">
                <a:alpha val="89803"/>
              </a:schemeClr>
            </a:solidFill>
            <a:ln cap="flat" cmpd="sng" w="38100">
              <a:solidFill>
                <a:srgbClr val="FDC2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7"/>
            <p:cNvSpPr txBox="1"/>
            <p:nvPr/>
          </p:nvSpPr>
          <p:spPr>
            <a:xfrm>
              <a:off x="3377498" y="937188"/>
              <a:ext cx="1591605" cy="159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300" lIns="20300" spcFirstLastPara="1" rIns="20300" wrap="square" tIns="20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B7C8"/>
                </a:buClr>
                <a:buSzPts val="1600"/>
                <a:buFont typeface="Calibri"/>
                <a:buNone/>
              </a:pPr>
              <a:r>
                <a:rPr b="1" lang="es-ES" sz="16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PASO 2 (L2)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11B7C8"/>
                </a:buClr>
                <a:buSzPts val="1600"/>
                <a:buFont typeface="Calibri"/>
                <a:buNone/>
              </a:pPr>
              <a:r>
                <a:rPr b="1" lang="es-ES" sz="16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SUBCAPACIDADES POR L1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7"/>
            <p:cNvSpPr/>
            <p:nvPr/>
          </p:nvSpPr>
          <p:spPr>
            <a:xfrm>
              <a:off x="3058866" y="2970987"/>
              <a:ext cx="2228869" cy="1308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7"/>
            <p:cNvSpPr txBox="1"/>
            <p:nvPr/>
          </p:nvSpPr>
          <p:spPr>
            <a:xfrm>
              <a:off x="3058866" y="2970987"/>
              <a:ext cx="2228869" cy="1308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2–5 subcapacidades por macro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Sin entrar a procesos ni organigramas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69850" lvl="1" marL="17145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7"/>
            <p:cNvSpPr/>
            <p:nvPr/>
          </p:nvSpPr>
          <p:spPr>
            <a:xfrm rot="2700000">
              <a:off x="515017" y="542030"/>
              <a:ext cx="2381657" cy="2381657"/>
            </a:xfrm>
            <a:prstGeom prst="teardrop">
              <a:avLst>
                <a:gd fmla="val 100000" name="adj"/>
              </a:avLst>
            </a:prstGeom>
            <a:solidFill>
              <a:srgbClr val="FDC21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7"/>
            <p:cNvSpPr/>
            <p:nvPr/>
          </p:nvSpPr>
          <p:spPr>
            <a:xfrm>
              <a:off x="591411" y="618752"/>
              <a:ext cx="2228869" cy="2228631"/>
            </a:xfrm>
            <a:prstGeom prst="ellipse">
              <a:avLst/>
            </a:prstGeom>
            <a:solidFill>
              <a:schemeClr val="lt1">
                <a:alpha val="89803"/>
              </a:schemeClr>
            </a:solidFill>
            <a:ln cap="flat" cmpd="sng" w="38100">
              <a:solidFill>
                <a:srgbClr val="FDC2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7"/>
            <p:cNvSpPr txBox="1"/>
            <p:nvPr/>
          </p:nvSpPr>
          <p:spPr>
            <a:xfrm>
              <a:off x="910043" y="937188"/>
              <a:ext cx="1591605" cy="159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300" lIns="20300" spcFirstLastPara="1" rIns="20300" wrap="square" tIns="203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B7C8"/>
                </a:buClr>
                <a:buSzPts val="1600"/>
                <a:buFont typeface="Calibri"/>
                <a:buNone/>
              </a:pPr>
              <a:r>
                <a:rPr b="1" lang="es-ES" sz="16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PASO 1 (L1)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11B7C8"/>
                </a:buClr>
                <a:buSzPts val="1600"/>
                <a:buFont typeface="Calibri"/>
                <a:buNone/>
              </a:pPr>
              <a:r>
                <a:rPr b="1" lang="es-ES" sz="16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CAPACIDADES MACRO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7"/>
            <p:cNvSpPr/>
            <p:nvPr/>
          </p:nvSpPr>
          <p:spPr>
            <a:xfrm>
              <a:off x="591411" y="2970987"/>
              <a:ext cx="2228869" cy="1308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7"/>
            <p:cNvSpPr txBox="1"/>
            <p:nvPr/>
          </p:nvSpPr>
          <p:spPr>
            <a:xfrm>
              <a:off x="591411" y="2970987"/>
              <a:ext cx="2228869" cy="1308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325" lIns="53325" spcFirstLastPara="1" rIns="53325" wrap="square" tIns="5332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8–12 capacidades (verbo + objeto)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 lenguaje de negocio (estable y medible)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17"/>
          <p:cNvSpPr txBox="1"/>
          <p:nvPr/>
        </p:nvSpPr>
        <p:spPr>
          <a:xfrm>
            <a:off x="1143000" y="4558628"/>
            <a:ext cx="17446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L1: “QUÉ DEBE PODER HACER LA EMPRESA”</a:t>
            </a:r>
            <a:endParaRPr/>
          </a:p>
        </p:txBody>
      </p:sp>
      <p:sp>
        <p:nvSpPr>
          <p:cNvPr id="266" name="Google Shape;266;p17"/>
          <p:cNvSpPr txBox="1"/>
          <p:nvPr/>
        </p:nvSpPr>
        <p:spPr>
          <a:xfrm>
            <a:off x="3472560" y="4554722"/>
            <a:ext cx="233537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L2: “DESCOMPOSICIÓN CONTROLADA (SIN RUIDO OPERATIVO)”</a:t>
            </a:r>
            <a:endParaRPr b="1" sz="1200">
              <a:solidFill>
                <a:srgbClr val="FF7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 txBox="1"/>
          <p:nvPr/>
        </p:nvSpPr>
        <p:spPr>
          <a:xfrm>
            <a:off x="6224529" y="4554722"/>
            <a:ext cx="21984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PASO 3: “MEDIBLE Y GOBERNABLE DESDE EL DÍA 1”</a:t>
            </a:r>
            <a:endParaRPr b="1" sz="1200">
              <a:solidFill>
                <a:srgbClr val="FF7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534480" y="270174"/>
            <a:ext cx="529405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MAPAS DE CAPACIDADES Y HOJAS DE RUTA ARQUITECTÓNICAS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"/>
          <p:cNvSpPr/>
          <p:nvPr/>
        </p:nvSpPr>
        <p:spPr>
          <a:xfrm>
            <a:off x="3614951" y="3708165"/>
            <a:ext cx="415338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BACKLOG PRIORIZABLE + ROADMAP TRAZABLE (OBJETIVO → CAPACIDAD → INICIATIVA)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 txBox="1"/>
          <p:nvPr/>
        </p:nvSpPr>
        <p:spPr>
          <a:xfrm>
            <a:off x="419782" y="703861"/>
            <a:ext cx="70059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DEL MAPA A LA DECISIÓN: </a:t>
            </a:r>
            <a:r>
              <a:rPr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BRECHAS Y DEPENDENCIAS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18"/>
          <p:cNvGrpSpPr/>
          <p:nvPr/>
        </p:nvGrpSpPr>
        <p:grpSpPr>
          <a:xfrm>
            <a:off x="739879" y="1327785"/>
            <a:ext cx="7843496" cy="1812315"/>
            <a:chOff x="684213" y="1597025"/>
            <a:chExt cx="7843496" cy="1812315"/>
          </a:xfrm>
        </p:grpSpPr>
        <p:sp>
          <p:nvSpPr>
            <p:cNvPr id="277" name="Google Shape;277;p18"/>
            <p:cNvSpPr/>
            <p:nvPr/>
          </p:nvSpPr>
          <p:spPr>
            <a:xfrm>
              <a:off x="4654594" y="1597025"/>
              <a:ext cx="1107997" cy="1107997"/>
            </a:xfrm>
            <a:prstGeom prst="roundRect">
              <a:avLst>
                <a:gd fmla="val 11306" name="adj"/>
              </a:avLst>
            </a:prstGeom>
            <a:solidFill>
              <a:srgbClr val="00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5889209" y="1664240"/>
              <a:ext cx="2638500" cy="174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DEPENDENCIAS (QUÉ HABILITA  A QUÉ)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rgbClr val="11B7C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5750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B7C8"/>
                </a:buClr>
                <a:buSzPts val="1400"/>
                <a:buFont typeface="Arial"/>
                <a:buChar char="•"/>
              </a:pPr>
              <a:r>
                <a:rPr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Marca capacidades habilitadoras vs. dependientes</a:t>
              </a:r>
              <a:endParaRPr/>
            </a:p>
            <a:p>
              <a:pPr indent="-196850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rgbClr val="11B7C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5750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B7C8"/>
                </a:buClr>
                <a:buSzPts val="1400"/>
                <a:buFont typeface="Arial"/>
                <a:buChar char="•"/>
              </a:pPr>
              <a:r>
                <a:rPr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Evita roadmap “bonito” pero imposible (orden lógico de ejecución)</a:t>
              </a:r>
              <a:endParaRPr b="1" sz="1400">
                <a:solidFill>
                  <a:srgbClr val="11B7C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1918823" y="1705326"/>
              <a:ext cx="2638643" cy="1551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BRECHAS AS-IS vs. TO-BE</a:t>
              </a:r>
              <a:br>
                <a:rPr b="1"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b="1" sz="1400">
                <a:solidFill>
                  <a:srgbClr val="11B7C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5750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B7C8"/>
                </a:buClr>
                <a:buSzPts val="1400"/>
                <a:buFont typeface="Arial"/>
                <a:buChar char="•"/>
              </a:pPr>
              <a:r>
                <a:rPr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Identifica lo que falta para soportar la estrategia</a:t>
              </a:r>
              <a:endParaRPr/>
            </a:p>
            <a:p>
              <a:pPr indent="-196850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rgbClr val="11B7C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5750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B7C8"/>
                </a:buClr>
                <a:buSzPts val="1400"/>
                <a:buFont typeface="Arial"/>
                <a:buChar char="•"/>
              </a:pPr>
              <a:r>
                <a:rPr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Define “gap” como capacidad: personas, proceso, dato, app o tecnología</a:t>
              </a:r>
              <a:endParaRPr b="1" sz="1400">
                <a:solidFill>
                  <a:srgbClr val="11B7C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684213" y="1597025"/>
              <a:ext cx="1107996" cy="1107996"/>
            </a:xfrm>
            <a:prstGeom prst="roundRect">
              <a:avLst>
                <a:gd fmla="val 10564" name="adj"/>
              </a:avLst>
            </a:prstGeom>
            <a:solidFill>
              <a:srgbClr val="00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1" name="Google Shape;281;p18"/>
          <p:cNvSpPr txBox="1"/>
          <p:nvPr/>
        </p:nvSpPr>
        <p:spPr>
          <a:xfrm rot="2542203">
            <a:off x="1422666" y="3180652"/>
            <a:ext cx="2001628" cy="186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>
            <a:off x="524199" y="354553"/>
            <a:ext cx="529405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MAPAS DE CAPACIDADES Y HOJAS DE RUTA ARQUITECTÓNICAS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6942" y="1498328"/>
            <a:ext cx="772231" cy="772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2910" y="1508376"/>
            <a:ext cx="772231" cy="772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"/>
          <p:cNvSpPr txBox="1"/>
          <p:nvPr/>
        </p:nvSpPr>
        <p:spPr>
          <a:xfrm>
            <a:off x="589218" y="706941"/>
            <a:ext cx="58335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CALIDAD DEL CAPABILITY MAP (Para ser muy efectivo)</a:t>
            </a:r>
            <a:endParaRPr/>
          </a:p>
        </p:txBody>
      </p:sp>
      <p:grpSp>
        <p:nvGrpSpPr>
          <p:cNvPr id="291" name="Google Shape;291;p19"/>
          <p:cNvGrpSpPr/>
          <p:nvPr/>
        </p:nvGrpSpPr>
        <p:grpSpPr>
          <a:xfrm>
            <a:off x="1820565" y="1234798"/>
            <a:ext cx="5283283" cy="3773261"/>
            <a:chOff x="1807261" y="1333691"/>
            <a:chExt cx="5283283" cy="3773261"/>
          </a:xfrm>
        </p:grpSpPr>
        <p:sp>
          <p:nvSpPr>
            <p:cNvPr id="292" name="Google Shape;292;p19"/>
            <p:cNvSpPr/>
            <p:nvPr/>
          </p:nvSpPr>
          <p:spPr>
            <a:xfrm>
              <a:off x="3264106" y="2107336"/>
              <a:ext cx="843086" cy="296706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DB42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1825526" y="1333691"/>
              <a:ext cx="2518544" cy="1821316"/>
            </a:xfrm>
            <a:prstGeom prst="roundRect">
              <a:avLst>
                <a:gd fmla="val 6572" name="adj"/>
              </a:avLst>
            </a:prstGeom>
            <a:solidFill>
              <a:schemeClr val="lt1"/>
            </a:solidFill>
            <a:ln cap="flat" cmpd="sng" w="38100">
              <a:solidFill>
                <a:srgbClr val="FF77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288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Nombres estándar (verbo + objeto)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L1/L2 sin duplicidad</a:t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1817579" y="2682242"/>
              <a:ext cx="2538511" cy="472329"/>
            </a:xfrm>
            <a:prstGeom prst="roundRect">
              <a:avLst>
                <a:gd fmla="val 23854" name="adj"/>
              </a:avLst>
            </a:prstGeom>
            <a:solidFill>
              <a:srgbClr val="FF77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CONSISTENCIA </a:t>
              </a:r>
              <a:endParaRPr b="1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3270116" y="4059281"/>
              <a:ext cx="843086" cy="296706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DB42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1831536" y="3285636"/>
              <a:ext cx="2518544" cy="1821316"/>
            </a:xfrm>
            <a:prstGeom prst="roundRect">
              <a:avLst>
                <a:gd fmla="val 6397" name="adj"/>
              </a:avLst>
            </a:prstGeom>
            <a:solidFill>
              <a:schemeClr val="lt1"/>
            </a:solidFill>
            <a:ln cap="flat" cmpd="sng" w="38100">
              <a:solidFill>
                <a:srgbClr val="00B1C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288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Capacidades comunes entre áreas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Plantilla replicable por unidades</a:t>
              </a:r>
              <a:endParaRPr/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1823590" y="4652133"/>
              <a:ext cx="2522182" cy="454384"/>
            </a:xfrm>
            <a:prstGeom prst="roundRect">
              <a:avLst>
                <a:gd fmla="val 25650" name="adj"/>
              </a:avLst>
            </a:prstGeom>
            <a:solidFill>
              <a:srgbClr val="00B2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REUTILIZACIÓN</a:t>
              </a:r>
              <a:endParaRPr/>
            </a:p>
          </p:txBody>
        </p:sp>
        <p:sp>
          <p:nvSpPr>
            <p:cNvPr id="298" name="Google Shape;298;p19"/>
            <p:cNvSpPr/>
            <p:nvPr/>
          </p:nvSpPr>
          <p:spPr>
            <a:xfrm>
              <a:off x="1823589" y="4617539"/>
              <a:ext cx="2521027" cy="121339"/>
            </a:xfrm>
            <a:prstGeom prst="rect">
              <a:avLst/>
            </a:prstGeom>
            <a:solidFill>
              <a:srgbClr val="00B2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6010580" y="2107336"/>
              <a:ext cx="843086" cy="296706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DB42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4572000" y="1333691"/>
              <a:ext cx="2518544" cy="1821316"/>
            </a:xfrm>
            <a:prstGeom prst="roundRect">
              <a:avLst>
                <a:gd fmla="val 6397" name="adj"/>
              </a:avLst>
            </a:prstGeom>
            <a:solidFill>
              <a:schemeClr val="lt1"/>
            </a:solidFill>
            <a:ln cap="flat" cmpd="sng" w="38100">
              <a:solidFill>
                <a:srgbClr val="8EC5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288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Objetivo → capacidad → KPI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Brecha registrada (As-Is/To-Be)</a:t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4569148" y="2700188"/>
              <a:ext cx="2511227" cy="454384"/>
            </a:xfrm>
            <a:prstGeom prst="roundRect">
              <a:avLst>
                <a:gd fmla="val 22057" name="adj"/>
              </a:avLst>
            </a:prstGeom>
            <a:solidFill>
              <a:srgbClr val="8EC54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TRAZABILIDAD</a:t>
              </a:r>
              <a:endParaRPr/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4564053" y="2665594"/>
              <a:ext cx="2516321" cy="146513"/>
            </a:xfrm>
            <a:prstGeom prst="rect">
              <a:avLst/>
            </a:prstGeom>
            <a:solidFill>
              <a:srgbClr val="8EC54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6010580" y="4059281"/>
              <a:ext cx="843086" cy="296706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DB42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4572000" y="3285636"/>
              <a:ext cx="2518544" cy="1821316"/>
            </a:xfrm>
            <a:prstGeom prst="roundRect">
              <a:avLst>
                <a:gd fmla="val 6746" name="adj"/>
              </a:avLst>
            </a:prstGeom>
            <a:solidFill>
              <a:schemeClr val="lt1"/>
            </a:solidFill>
            <a:ln cap="flat" cmpd="sng" w="38100">
              <a:solidFill>
                <a:srgbClr val="EE453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288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Owner definido + cadencia de revisión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Reglas de cambio y versionado</a:t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4564053" y="4617539"/>
              <a:ext cx="2516321" cy="145832"/>
            </a:xfrm>
            <a:prstGeom prst="rect">
              <a:avLst/>
            </a:prstGeom>
            <a:solidFill>
              <a:srgbClr val="EE45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4564053" y="4652133"/>
              <a:ext cx="2516321" cy="454384"/>
            </a:xfrm>
            <a:prstGeom prst="roundRect">
              <a:avLst>
                <a:gd fmla="val 23855" name="adj"/>
              </a:avLst>
            </a:prstGeom>
            <a:solidFill>
              <a:srgbClr val="EE45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GOBERNANZA</a:t>
              </a:r>
              <a:endParaRPr/>
            </a:p>
          </p:txBody>
        </p:sp>
        <p:pic>
          <p:nvPicPr>
            <p:cNvPr id="307" name="Google Shape;307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42630" y="1481329"/>
              <a:ext cx="609600" cy="60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8" name="Google Shape;308;p19"/>
            <p:cNvSpPr/>
            <p:nvPr/>
          </p:nvSpPr>
          <p:spPr>
            <a:xfrm>
              <a:off x="1807261" y="2665594"/>
              <a:ext cx="2538511" cy="162841"/>
            </a:xfrm>
            <a:prstGeom prst="rect">
              <a:avLst/>
            </a:prstGeom>
            <a:solidFill>
              <a:srgbClr val="FF77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ecycle outline" id="309" name="Google Shape;309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633608" y="3335500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0" name="Google Shape;310;p19"/>
          <p:cNvSpPr/>
          <p:nvPr/>
        </p:nvSpPr>
        <p:spPr>
          <a:xfrm>
            <a:off x="557229" y="255920"/>
            <a:ext cx="529405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MAPAS DE CAPACIDADES Y HOJAS DE RUTA ARQUITECTÓNICAS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70938" y="1407361"/>
            <a:ext cx="668713" cy="668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99471" y="3303598"/>
            <a:ext cx="743905" cy="743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"/>
          <p:cNvSpPr txBox="1"/>
          <p:nvPr/>
        </p:nvSpPr>
        <p:spPr>
          <a:xfrm>
            <a:off x="475250" y="667052"/>
            <a:ext cx="43721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11B7C8"/>
                </a:solidFill>
                <a:latin typeface="Calibri"/>
                <a:ea typeface="Calibri"/>
                <a:cs typeface="Calibri"/>
                <a:sym typeface="Calibri"/>
              </a:rPr>
              <a:t>PRIORIZACIÓN RÁPIDA (IMPACTO VS. ESFUERZO)</a:t>
            </a:r>
            <a:endParaRPr b="1" sz="1600">
              <a:solidFill>
                <a:srgbClr val="11B7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0"/>
          <p:cNvSpPr txBox="1"/>
          <p:nvPr/>
        </p:nvSpPr>
        <p:spPr>
          <a:xfrm>
            <a:off x="870333" y="1147437"/>
            <a:ext cx="3563634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Alto impacto / bajo esfuerzo: quick wins (credibilidad + tracción).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Alto impacto / alto esfuerzo: core initiatives (transformación real).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Bajo impacto / bajo esfuerzo: “higiene” (solo si habilita algo mayor).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Bajo impacto / alto esfuerzo: candidatos a descartar o rediseñar.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Regla práctica: prioriza por valor + riesgo + dependencia, no por “quién grita más”.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p20"/>
          <p:cNvPicPr preferRelativeResize="0"/>
          <p:nvPr/>
        </p:nvPicPr>
        <p:blipFill rotWithShape="1">
          <a:blip r:embed="rId3">
            <a:alphaModFix/>
          </a:blip>
          <a:srcRect b="0" l="9799" r="0" t="0"/>
          <a:stretch/>
        </p:blipFill>
        <p:spPr>
          <a:xfrm>
            <a:off x="5204716" y="1028133"/>
            <a:ext cx="3244340" cy="3658734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0"/>
          <p:cNvSpPr/>
          <p:nvPr/>
        </p:nvSpPr>
        <p:spPr>
          <a:xfrm>
            <a:off x="639525" y="325168"/>
            <a:ext cx="529405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MAPAS DE CAPACIDADES Y HOJAS DE RUTA ARQUITECTÓNICAS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20"/>
          <p:cNvCxnSpPr/>
          <p:nvPr/>
        </p:nvCxnSpPr>
        <p:spPr>
          <a:xfrm>
            <a:off x="711029" y="1421633"/>
            <a:ext cx="0" cy="495302"/>
          </a:xfrm>
          <a:prstGeom prst="straightConnector1">
            <a:avLst/>
          </a:prstGeom>
          <a:noFill/>
          <a:ln cap="flat" cmpd="sng" w="12700">
            <a:solidFill>
              <a:srgbClr val="11B7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20"/>
          <p:cNvSpPr/>
          <p:nvPr/>
        </p:nvSpPr>
        <p:spPr>
          <a:xfrm>
            <a:off x="634687" y="1228535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11B7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634687" y="1999793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11B7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634687" y="2694628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11B7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p20"/>
          <p:cNvCxnSpPr/>
          <p:nvPr/>
        </p:nvCxnSpPr>
        <p:spPr>
          <a:xfrm>
            <a:off x="711029" y="2152476"/>
            <a:ext cx="0" cy="495302"/>
          </a:xfrm>
          <a:prstGeom prst="straightConnector1">
            <a:avLst/>
          </a:prstGeom>
          <a:noFill/>
          <a:ln cap="flat" cmpd="sng" w="12700">
            <a:solidFill>
              <a:srgbClr val="11B7C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20"/>
          <p:cNvCxnSpPr/>
          <p:nvPr/>
        </p:nvCxnSpPr>
        <p:spPr>
          <a:xfrm>
            <a:off x="711029" y="2894161"/>
            <a:ext cx="0" cy="495302"/>
          </a:xfrm>
          <a:prstGeom prst="straightConnector1">
            <a:avLst/>
          </a:prstGeom>
          <a:noFill/>
          <a:ln cap="flat" cmpd="sng" w="12700">
            <a:solidFill>
              <a:srgbClr val="11B7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20"/>
          <p:cNvSpPr/>
          <p:nvPr/>
        </p:nvSpPr>
        <p:spPr>
          <a:xfrm>
            <a:off x="634687" y="3450287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11B7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634687" y="4178173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11B7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20"/>
          <p:cNvCxnSpPr/>
          <p:nvPr/>
        </p:nvCxnSpPr>
        <p:spPr>
          <a:xfrm>
            <a:off x="711029" y="3636021"/>
            <a:ext cx="0" cy="495302"/>
          </a:xfrm>
          <a:prstGeom prst="straightConnector1">
            <a:avLst/>
          </a:prstGeom>
          <a:noFill/>
          <a:ln cap="flat" cmpd="sng" w="12700">
            <a:solidFill>
              <a:srgbClr val="11B7C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"/>
          <p:cNvSpPr txBox="1"/>
          <p:nvPr/>
        </p:nvSpPr>
        <p:spPr>
          <a:xfrm>
            <a:off x="558102" y="904064"/>
            <a:ext cx="78051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HOJA DE RUTA ARQUITECTÓNICA (ROADMAP): ESTRUCTURA MÍNIMA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672576" y="1683015"/>
            <a:ext cx="4718978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7159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BASELINE (AS-IS): </a:t>
            </a:r>
            <a:endParaRPr/>
          </a:p>
          <a:p>
            <a:pPr indent="0" lvl="0" marL="7159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Estado actual (capacidades, integraciones, pain points).</a:t>
            </a:r>
            <a:endParaRPr/>
          </a:p>
          <a:p>
            <a:pPr indent="0" lvl="0" marL="7159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159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TARGET (TO-BE): </a:t>
            </a:r>
            <a:endParaRPr/>
          </a:p>
          <a:p>
            <a:pPr indent="0" lvl="0" marL="7159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Estado objetivo (qué capacidades deben operar y con qué estándar).</a:t>
            </a:r>
            <a:endParaRPr/>
          </a:p>
          <a:p>
            <a:pPr indent="0" lvl="0" marL="7159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159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GAPS: </a:t>
            </a:r>
            <a:endParaRPr/>
          </a:p>
          <a:p>
            <a:pPr indent="0" lvl="0" marL="7159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Brechas entre As-Is y To-Be.</a:t>
            </a:r>
            <a:endParaRPr/>
          </a:p>
          <a:p>
            <a:pPr indent="0" lvl="0" marL="2651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639525" y="325168"/>
            <a:ext cx="529405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MAPAS DE CAPACIDADES Y HOJAS DE RUTA ARQUITECTÓNICAS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629347" y="1660540"/>
            <a:ext cx="40081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 sz="2800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" name="Google Shape;340;p21"/>
          <p:cNvCxnSpPr>
            <a:endCxn id="341" idx="0"/>
          </p:cNvCxnSpPr>
          <p:nvPr/>
        </p:nvCxnSpPr>
        <p:spPr>
          <a:xfrm flipH="1">
            <a:off x="1219511" y="1860987"/>
            <a:ext cx="14400" cy="1885200"/>
          </a:xfrm>
          <a:prstGeom prst="straightConnector1">
            <a:avLst/>
          </a:prstGeom>
          <a:noFill/>
          <a:ln cap="flat" cmpd="sng" w="12700">
            <a:solidFill>
              <a:srgbClr val="715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21"/>
          <p:cNvSpPr/>
          <p:nvPr/>
        </p:nvSpPr>
        <p:spPr>
          <a:xfrm>
            <a:off x="629347" y="2622929"/>
            <a:ext cx="40081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1" sz="2800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629347" y="3604294"/>
            <a:ext cx="40081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sz="2800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4" name="Google Shape;344;p21"/>
          <p:cNvGrpSpPr/>
          <p:nvPr/>
        </p:nvGrpSpPr>
        <p:grpSpPr>
          <a:xfrm>
            <a:off x="1149115" y="2753805"/>
            <a:ext cx="140792" cy="140258"/>
            <a:chOff x="3427964" y="2244682"/>
            <a:chExt cx="225891" cy="225034"/>
          </a:xfrm>
        </p:grpSpPr>
        <p:sp>
          <p:nvSpPr>
            <p:cNvPr id="345" name="Google Shape;345;p21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714F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1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" name="Google Shape;347;p21"/>
          <p:cNvGrpSpPr/>
          <p:nvPr/>
        </p:nvGrpSpPr>
        <p:grpSpPr>
          <a:xfrm>
            <a:off x="1149115" y="3746187"/>
            <a:ext cx="140792" cy="140258"/>
            <a:chOff x="3427964" y="2244682"/>
            <a:chExt cx="225891" cy="225034"/>
          </a:xfrm>
        </p:grpSpPr>
        <p:sp>
          <p:nvSpPr>
            <p:cNvPr id="341" name="Google Shape;341;p21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714F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1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9" name="Google Shape;349;p21"/>
          <p:cNvGrpSpPr/>
          <p:nvPr/>
        </p:nvGrpSpPr>
        <p:grpSpPr>
          <a:xfrm>
            <a:off x="1149115" y="1775731"/>
            <a:ext cx="140792" cy="140258"/>
            <a:chOff x="3427964" y="2244682"/>
            <a:chExt cx="225891" cy="225034"/>
          </a:xfrm>
        </p:grpSpPr>
        <p:sp>
          <p:nvSpPr>
            <p:cNvPr id="350" name="Google Shape;350;p21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714F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1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52" name="Google Shape;352;p21"/>
          <p:cNvPicPr preferRelativeResize="0"/>
          <p:nvPr/>
        </p:nvPicPr>
        <p:blipFill rotWithShape="1">
          <a:blip r:embed="rId3">
            <a:alphaModFix/>
          </a:blip>
          <a:srcRect b="8027" l="0" r="0" t="0"/>
          <a:stretch/>
        </p:blipFill>
        <p:spPr>
          <a:xfrm>
            <a:off x="5580899" y="1446962"/>
            <a:ext cx="2487630" cy="3496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"/>
          <p:cNvSpPr txBox="1"/>
          <p:nvPr/>
        </p:nvSpPr>
        <p:spPr>
          <a:xfrm>
            <a:off x="558102" y="832262"/>
            <a:ext cx="78051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HOJA DE RUTA ARQUITECTÓNICA (ROADMAP): ESTRUCTURA MÍNIMA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558102" y="1370569"/>
            <a:ext cx="4718978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651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048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INICIATIVAS: </a:t>
            </a:r>
            <a:endParaRPr/>
          </a:p>
          <a:p>
            <a:pPr indent="0" lvl="0" marL="8048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Paquetes de trabajo que cierran gaps (con entregables medibles).</a:t>
            </a:r>
            <a:endParaRPr/>
          </a:p>
          <a:p>
            <a:pPr indent="0" lvl="0" marL="8048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048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OLAS / RELEASES: </a:t>
            </a:r>
            <a:endParaRPr/>
          </a:p>
          <a:p>
            <a:pPr indent="0" lvl="0" marL="8048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Secuencia de ejecución (qué va primero, qué depende de qué).</a:t>
            </a:r>
            <a:endParaRPr/>
          </a:p>
          <a:p>
            <a:pPr indent="0" lvl="0" marL="8048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048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TRAZABILIDAD: </a:t>
            </a:r>
            <a:endParaRPr/>
          </a:p>
          <a:p>
            <a:pPr indent="0" lvl="0" marL="8048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ola debe responder “por qué este orden” (costo, riesgo, time-to-value).</a:t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639525" y="325168"/>
            <a:ext cx="529405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MAPAS DE CAPACIDADES Y HOJAS DE RUTA ARQUITECTÓNICAS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629347" y="1605455"/>
            <a:ext cx="40081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sz="2800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" name="Google Shape;362;p22"/>
          <p:cNvCxnSpPr>
            <a:endCxn id="363" idx="0"/>
          </p:cNvCxnSpPr>
          <p:nvPr/>
        </p:nvCxnSpPr>
        <p:spPr>
          <a:xfrm flipH="1">
            <a:off x="1219511" y="1805902"/>
            <a:ext cx="14400" cy="1885200"/>
          </a:xfrm>
          <a:prstGeom prst="straightConnector1">
            <a:avLst/>
          </a:prstGeom>
          <a:noFill/>
          <a:ln cap="flat" cmpd="sng" w="12700">
            <a:solidFill>
              <a:srgbClr val="7150A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22"/>
          <p:cNvSpPr/>
          <p:nvPr/>
        </p:nvSpPr>
        <p:spPr>
          <a:xfrm>
            <a:off x="629347" y="2567844"/>
            <a:ext cx="40081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1" sz="2800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629347" y="3549209"/>
            <a:ext cx="40081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1" sz="2800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6" name="Google Shape;366;p22"/>
          <p:cNvGrpSpPr/>
          <p:nvPr/>
        </p:nvGrpSpPr>
        <p:grpSpPr>
          <a:xfrm>
            <a:off x="1149115" y="2698720"/>
            <a:ext cx="140792" cy="140258"/>
            <a:chOff x="3427964" y="2244682"/>
            <a:chExt cx="225891" cy="225034"/>
          </a:xfrm>
        </p:grpSpPr>
        <p:sp>
          <p:nvSpPr>
            <p:cNvPr id="367" name="Google Shape;367;p22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714F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22"/>
          <p:cNvGrpSpPr/>
          <p:nvPr/>
        </p:nvGrpSpPr>
        <p:grpSpPr>
          <a:xfrm>
            <a:off x="1149115" y="3691102"/>
            <a:ext cx="140792" cy="140258"/>
            <a:chOff x="3427964" y="2244682"/>
            <a:chExt cx="225891" cy="225034"/>
          </a:xfrm>
        </p:grpSpPr>
        <p:sp>
          <p:nvSpPr>
            <p:cNvPr id="363" name="Google Shape;363;p22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714F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1" name="Google Shape;371;p22"/>
          <p:cNvGrpSpPr/>
          <p:nvPr/>
        </p:nvGrpSpPr>
        <p:grpSpPr>
          <a:xfrm>
            <a:off x="1149115" y="1720646"/>
            <a:ext cx="140792" cy="140258"/>
            <a:chOff x="3427964" y="2244682"/>
            <a:chExt cx="225891" cy="225034"/>
          </a:xfrm>
        </p:grpSpPr>
        <p:sp>
          <p:nvSpPr>
            <p:cNvPr id="372" name="Google Shape;372;p22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714F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4" name="Google Shape;374;p22"/>
          <p:cNvPicPr preferRelativeResize="0"/>
          <p:nvPr/>
        </p:nvPicPr>
        <p:blipFill rotWithShape="1">
          <a:blip r:embed="rId3">
            <a:alphaModFix/>
          </a:blip>
          <a:srcRect b="8027" l="0" r="0" t="0"/>
          <a:stretch/>
        </p:blipFill>
        <p:spPr>
          <a:xfrm>
            <a:off x="5580899" y="1446962"/>
            <a:ext cx="2487630" cy="3496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23"/>
          <p:cNvPicPr preferRelativeResize="0"/>
          <p:nvPr/>
        </p:nvPicPr>
        <p:blipFill rotWithShape="1">
          <a:blip r:embed="rId3">
            <a:alphaModFix/>
          </a:blip>
          <a:srcRect b="11326" l="0" r="0" t="0"/>
          <a:stretch/>
        </p:blipFill>
        <p:spPr>
          <a:xfrm>
            <a:off x="285750" y="0"/>
            <a:ext cx="8572500" cy="5067759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3"/>
          <p:cNvSpPr txBox="1"/>
          <p:nvPr/>
        </p:nvSpPr>
        <p:spPr>
          <a:xfrm>
            <a:off x="7404654" y="410677"/>
            <a:ext cx="92612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503238" y="501582"/>
            <a:ext cx="529405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MAPAS DE CAPACIDADES Y HOJAS DE RUTA ARQUITECTÓNICAS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4"/>
          <p:cNvSpPr txBox="1"/>
          <p:nvPr/>
        </p:nvSpPr>
        <p:spPr>
          <a:xfrm>
            <a:off x="503238" y="837895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ALGUNAS CONCLUSIONES</a:t>
            </a:r>
            <a:endParaRPr/>
          </a:p>
        </p:txBody>
      </p:sp>
      <p:sp>
        <p:nvSpPr>
          <p:cNvPr id="389" name="Google Shape;389;p24"/>
          <p:cNvSpPr txBox="1"/>
          <p:nvPr/>
        </p:nvSpPr>
        <p:spPr>
          <a:xfrm>
            <a:off x="503239" y="1281931"/>
            <a:ext cx="7340772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mapa de capacidades traduce la estrategia a “lo que la organización debe saber hacer”, en un lenguaje de negocio que evita discusiones por nombres de áreas o sistemas.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capacidades son relativamente estables en el tiempo: pueden cambiar personas, procesos o tecnología, pero la necesidad de capacidades clave se mantiene, lo que facilita planificar sin reinventar.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buen mapa de capacidades permite priorizar inversión con criterio (valor, riesgo y dependencias), identificando quick wins, iniciativas core y elementos a descartar o rediseñar.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hoja de ruta arquitectónica conecta el As-Is con el To-Be de forma trazable: define brechas (gaps), iniciativas medibles y olas/releases con un orden justificado (costo, riesgo, time-to-value).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503238" y="501582"/>
            <a:ext cx="529405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MAPAS DE CAPACIDADES Y HOJAS DE RUTA ARQUITECTÓNICAS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5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5"/>
          <p:cNvSpPr txBox="1"/>
          <p:nvPr/>
        </p:nvSpPr>
        <p:spPr>
          <a:xfrm>
            <a:off x="1008062" y="3169972"/>
            <a:ext cx="4500372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LENGUAJES Y HERRAMIENTAS </a:t>
            </a:r>
            <a:r>
              <a:rPr b="1"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MODELADO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8" name="Google Shape;39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6"/>
          <p:cNvSpPr txBox="1"/>
          <p:nvPr/>
        </p:nvSpPr>
        <p:spPr>
          <a:xfrm>
            <a:off x="1335978" y="2146536"/>
            <a:ext cx="7774968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7150A0"/>
                </a:solidFill>
                <a:latin typeface="Arial"/>
                <a:ea typeface="Arial"/>
                <a:cs typeface="Arial"/>
                <a:sym typeface="Arial"/>
              </a:rPr>
              <a:t>EL LENGUAJE ASEGURA CONSISTENCIA;</a:t>
            </a:r>
            <a:br>
              <a:rPr b="1" lang="es-E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E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HERRAMIENTA ASEGURA DISCIPLINA,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7150A0"/>
                </a:solidFill>
                <a:latin typeface="Arial"/>
                <a:ea typeface="Arial"/>
                <a:cs typeface="Arial"/>
                <a:sym typeface="Arial"/>
              </a:rPr>
              <a:t>CONTROL Y TRAZABILIDAD</a:t>
            </a:r>
            <a:endParaRPr/>
          </a:p>
        </p:txBody>
      </p:sp>
      <p:sp>
        <p:nvSpPr>
          <p:cNvPr id="405" name="Google Shape;405;p26"/>
          <p:cNvSpPr/>
          <p:nvPr/>
        </p:nvSpPr>
        <p:spPr>
          <a:xfrm>
            <a:off x="761717" y="2253078"/>
            <a:ext cx="425980" cy="425980"/>
          </a:xfrm>
          <a:prstGeom prst="ellipse">
            <a:avLst/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062" y="2344912"/>
            <a:ext cx="235290" cy="242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7"/>
          <p:cNvSpPr/>
          <p:nvPr/>
        </p:nvSpPr>
        <p:spPr>
          <a:xfrm>
            <a:off x="977039" y="1375812"/>
            <a:ext cx="6955104" cy="2854665"/>
          </a:xfrm>
          <a:prstGeom prst="roundRect">
            <a:avLst>
              <a:gd fmla="val 5987" name="adj"/>
            </a:avLst>
          </a:prstGeom>
          <a:solidFill>
            <a:srgbClr val="00B1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2" name="Google Shape;412;p27"/>
          <p:cNvPicPr preferRelativeResize="0"/>
          <p:nvPr/>
        </p:nvPicPr>
        <p:blipFill rotWithShape="1">
          <a:blip r:embed="rId3">
            <a:alphaModFix/>
          </a:blip>
          <a:srcRect b="47889" l="30025" r="24147" t="0"/>
          <a:stretch/>
        </p:blipFill>
        <p:spPr>
          <a:xfrm>
            <a:off x="1254950" y="903331"/>
            <a:ext cx="546847" cy="920717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7"/>
          <p:cNvSpPr txBox="1"/>
          <p:nvPr/>
        </p:nvSpPr>
        <p:spPr>
          <a:xfrm>
            <a:off x="1368776" y="1896126"/>
            <a:ext cx="62658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LENGUAJES DE MODELADO: ¿CUÁL USAR SEGÚN EL PROBLEMA?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arquitectura empresarial no existe un lenguaje único.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lenguaje responde a una decisión específica y a una audiencia concreta.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Criterio clave: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</a:t>
            </a: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decisión quiero soportar y para quién?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7"/>
          <p:cNvSpPr/>
          <p:nvPr/>
        </p:nvSpPr>
        <p:spPr>
          <a:xfrm>
            <a:off x="503238" y="380615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NOMBRE DEL SUBTEMA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6702668" y="1387703"/>
            <a:ext cx="1973019" cy="2721590"/>
          </a:xfrm>
          <a:prstGeom prst="roundRect">
            <a:avLst>
              <a:gd fmla="val 7402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MODELOS DE DATOS (ERD)</a:t>
            </a:r>
            <a:endParaRPr/>
          </a:p>
          <a:p>
            <a:pPr indent="-133350" lvl="0" marL="138113" marR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Estructura y gobierno del dato.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Clave para integración y calidad de información.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secuenciación por olas reduce complejidad.</a:t>
            </a: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6548855" y="2571612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6485090" y="2557738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6668862" y="2698459"/>
            <a:ext cx="186870" cy="122381"/>
          </a:xfrm>
          <a:prstGeom prst="triangle">
            <a:avLst>
              <a:gd fmla="val 50000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8"/>
          <p:cNvSpPr/>
          <p:nvPr/>
        </p:nvSpPr>
        <p:spPr>
          <a:xfrm>
            <a:off x="4640984" y="1387703"/>
            <a:ext cx="1973019" cy="2721590"/>
          </a:xfrm>
          <a:prstGeom prst="roundRect">
            <a:avLst>
              <a:gd fmla="val 7402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UML</a:t>
            </a:r>
            <a:endParaRPr/>
          </a:p>
          <a:p>
            <a:pPr indent="-133350" lvl="0" marL="138113" marR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Diseño técnico de soluciones (componentes, clases, secuencias).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usa cuando la arquitectura ya está definida.</a:t>
            </a: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4491556" y="2571612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8"/>
          <p:cNvSpPr/>
          <p:nvPr/>
        </p:nvSpPr>
        <p:spPr>
          <a:xfrm>
            <a:off x="4427790" y="2557738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8"/>
          <p:cNvSpPr/>
          <p:nvPr/>
        </p:nvSpPr>
        <p:spPr>
          <a:xfrm rot="5400000">
            <a:off x="4611563" y="2698459"/>
            <a:ext cx="186870" cy="122381"/>
          </a:xfrm>
          <a:prstGeom prst="triangle">
            <a:avLst>
              <a:gd fmla="val 50000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8"/>
          <p:cNvSpPr/>
          <p:nvPr/>
        </p:nvSpPr>
        <p:spPr>
          <a:xfrm>
            <a:off x="2579301" y="1387703"/>
            <a:ext cx="1973019" cy="2721590"/>
          </a:xfrm>
          <a:prstGeom prst="roundRect">
            <a:avLst>
              <a:gd fmla="val 7402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BPMN</a:t>
            </a:r>
            <a:endParaRPr/>
          </a:p>
          <a:p>
            <a:pPr indent="-133350" lvl="0" marL="138113" marR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Flujo de procesos (actividades, roles, eventos)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Foco operativo: eficiencia y automatización.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representa la arquitectura completa.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8"/>
          <p:cNvSpPr/>
          <p:nvPr/>
        </p:nvSpPr>
        <p:spPr>
          <a:xfrm>
            <a:off x="2419625" y="2571612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8"/>
          <p:cNvSpPr/>
          <p:nvPr/>
        </p:nvSpPr>
        <p:spPr>
          <a:xfrm>
            <a:off x="2355860" y="2557738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8"/>
          <p:cNvSpPr/>
          <p:nvPr/>
        </p:nvSpPr>
        <p:spPr>
          <a:xfrm rot="5400000">
            <a:off x="2539633" y="2698459"/>
            <a:ext cx="186870" cy="122381"/>
          </a:xfrm>
          <a:prstGeom prst="triangle">
            <a:avLst>
              <a:gd fmla="val 50000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8"/>
          <p:cNvSpPr/>
          <p:nvPr/>
        </p:nvSpPr>
        <p:spPr>
          <a:xfrm>
            <a:off x="517617" y="1387702"/>
            <a:ext cx="1973019" cy="2721591"/>
          </a:xfrm>
          <a:prstGeom prst="roundRect">
            <a:avLst>
              <a:gd fmla="val 7402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ARCHIMATE</a:t>
            </a:r>
            <a:endParaRPr/>
          </a:p>
          <a:p>
            <a:pPr indent="-136525" lvl="0" marL="136525" marR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end-to-end (negocio, aplicaciones, </a:t>
            </a:r>
            <a:r>
              <a:rPr lang="es-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datos,</a:t>
            </a: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tecnología)</a:t>
            </a:r>
            <a:endParaRPr/>
          </a:p>
          <a:p>
            <a:pPr indent="-136525" lvl="0" marL="136525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Útil para vistas ejecutivas, análisis de impacto y roadmaps.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8"/>
          <p:cNvSpPr/>
          <p:nvPr/>
        </p:nvSpPr>
        <p:spPr>
          <a:xfrm>
            <a:off x="365364" y="2571612"/>
            <a:ext cx="395709" cy="376075"/>
          </a:xfrm>
          <a:prstGeom prst="ellipse">
            <a:avLst/>
          </a:prstGeom>
          <a:solidFill>
            <a:srgbClr val="5E4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8"/>
          <p:cNvSpPr/>
          <p:nvPr/>
        </p:nvSpPr>
        <p:spPr>
          <a:xfrm>
            <a:off x="301599" y="2557738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8"/>
          <p:cNvSpPr/>
          <p:nvPr/>
        </p:nvSpPr>
        <p:spPr>
          <a:xfrm rot="5400000">
            <a:off x="485372" y="2698459"/>
            <a:ext cx="186870" cy="122381"/>
          </a:xfrm>
          <a:prstGeom prst="triangle">
            <a:avLst>
              <a:gd fmla="val 50000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8"/>
          <p:cNvSpPr/>
          <p:nvPr/>
        </p:nvSpPr>
        <p:spPr>
          <a:xfrm>
            <a:off x="503238" y="380615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NOMBRE DEL SUBTEMA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9"/>
          <p:cNvSpPr/>
          <p:nvPr/>
        </p:nvSpPr>
        <p:spPr>
          <a:xfrm>
            <a:off x="6702668" y="1387703"/>
            <a:ext cx="1973019" cy="2721590"/>
          </a:xfrm>
          <a:prstGeom prst="roundRect">
            <a:avLst>
              <a:gd fmla="val 7402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MODELOS DE DATOS (ERD)</a:t>
            </a:r>
            <a:endParaRPr/>
          </a:p>
          <a:p>
            <a:pPr indent="-133350" lvl="0" marL="138113" marR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Estructura y gobierno del dato.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Clave para integración y calidad de información.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secuenciación por olas reduce complejidad.</a:t>
            </a:r>
            <a:endParaRPr/>
          </a:p>
        </p:txBody>
      </p:sp>
      <p:sp>
        <p:nvSpPr>
          <p:cNvPr id="443" name="Google Shape;443;p29"/>
          <p:cNvSpPr/>
          <p:nvPr/>
        </p:nvSpPr>
        <p:spPr>
          <a:xfrm>
            <a:off x="6548855" y="2571612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9"/>
          <p:cNvSpPr/>
          <p:nvPr/>
        </p:nvSpPr>
        <p:spPr>
          <a:xfrm>
            <a:off x="6485090" y="2557738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9"/>
          <p:cNvSpPr/>
          <p:nvPr/>
        </p:nvSpPr>
        <p:spPr>
          <a:xfrm rot="5400000">
            <a:off x="6668862" y="2698459"/>
            <a:ext cx="186870" cy="122381"/>
          </a:xfrm>
          <a:prstGeom prst="triangle">
            <a:avLst>
              <a:gd fmla="val 50000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9"/>
          <p:cNvSpPr/>
          <p:nvPr/>
        </p:nvSpPr>
        <p:spPr>
          <a:xfrm>
            <a:off x="4640984" y="1387703"/>
            <a:ext cx="1973019" cy="2721590"/>
          </a:xfrm>
          <a:prstGeom prst="roundRect">
            <a:avLst>
              <a:gd fmla="val 7402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UML</a:t>
            </a:r>
            <a:endParaRPr/>
          </a:p>
          <a:p>
            <a:pPr indent="-133350" lvl="0" marL="138113" marR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Diseño técnico de soluciones (componentes, clases, secuencias).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usa cuando la arquitectura ya está definida.</a:t>
            </a:r>
            <a:endParaRPr/>
          </a:p>
        </p:txBody>
      </p:sp>
      <p:sp>
        <p:nvSpPr>
          <p:cNvPr id="447" name="Google Shape;447;p29"/>
          <p:cNvSpPr/>
          <p:nvPr/>
        </p:nvSpPr>
        <p:spPr>
          <a:xfrm>
            <a:off x="4491556" y="2571612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9"/>
          <p:cNvSpPr/>
          <p:nvPr/>
        </p:nvSpPr>
        <p:spPr>
          <a:xfrm>
            <a:off x="4427790" y="2557738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9"/>
          <p:cNvSpPr/>
          <p:nvPr/>
        </p:nvSpPr>
        <p:spPr>
          <a:xfrm rot="5400000">
            <a:off x="4611563" y="2698459"/>
            <a:ext cx="186870" cy="122381"/>
          </a:xfrm>
          <a:prstGeom prst="triangle">
            <a:avLst>
              <a:gd fmla="val 50000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9"/>
          <p:cNvSpPr/>
          <p:nvPr/>
        </p:nvSpPr>
        <p:spPr>
          <a:xfrm>
            <a:off x="2579301" y="1387703"/>
            <a:ext cx="1973019" cy="2721590"/>
          </a:xfrm>
          <a:prstGeom prst="roundRect">
            <a:avLst>
              <a:gd fmla="val 7402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BPMN</a:t>
            </a:r>
            <a:endParaRPr/>
          </a:p>
          <a:p>
            <a:pPr indent="-133350" lvl="0" marL="138113" marR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Flujo de procesos (actividades, roles, eventos)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Foco operativo: eficiencia y automatización.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representa la arquitectura completa.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9"/>
          <p:cNvSpPr/>
          <p:nvPr/>
        </p:nvSpPr>
        <p:spPr>
          <a:xfrm>
            <a:off x="2419625" y="2571612"/>
            <a:ext cx="395709" cy="376075"/>
          </a:xfrm>
          <a:prstGeom prst="ellipse">
            <a:avLst/>
          </a:prstGeom>
          <a:solidFill>
            <a:srgbClr val="6446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9"/>
          <p:cNvSpPr/>
          <p:nvPr/>
        </p:nvSpPr>
        <p:spPr>
          <a:xfrm>
            <a:off x="2355860" y="2557738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9"/>
          <p:cNvSpPr/>
          <p:nvPr/>
        </p:nvSpPr>
        <p:spPr>
          <a:xfrm rot="5400000">
            <a:off x="2539633" y="2698459"/>
            <a:ext cx="186870" cy="122381"/>
          </a:xfrm>
          <a:prstGeom prst="triangle">
            <a:avLst>
              <a:gd fmla="val 50000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9"/>
          <p:cNvSpPr/>
          <p:nvPr/>
        </p:nvSpPr>
        <p:spPr>
          <a:xfrm>
            <a:off x="517617" y="1387702"/>
            <a:ext cx="1973019" cy="2721591"/>
          </a:xfrm>
          <a:prstGeom prst="roundRect">
            <a:avLst>
              <a:gd fmla="val 7402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ARCHIMATE</a:t>
            </a:r>
            <a:endParaRPr/>
          </a:p>
          <a:p>
            <a:pPr indent="-136525" lvl="0" marL="136525" marR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end-to-end (negocio, aplicaciones, </a:t>
            </a:r>
            <a:r>
              <a:rPr lang="es-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datos,</a:t>
            </a: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tecnología)</a:t>
            </a:r>
            <a:endParaRPr/>
          </a:p>
          <a:p>
            <a:pPr indent="-136525" lvl="0" marL="136525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Útil para vistas ejecutivas, análisis de impacto y roadmaps.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9"/>
          <p:cNvSpPr/>
          <p:nvPr/>
        </p:nvSpPr>
        <p:spPr>
          <a:xfrm>
            <a:off x="365364" y="2571612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9"/>
          <p:cNvSpPr/>
          <p:nvPr/>
        </p:nvSpPr>
        <p:spPr>
          <a:xfrm>
            <a:off x="301599" y="2557738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9"/>
          <p:cNvSpPr/>
          <p:nvPr/>
        </p:nvSpPr>
        <p:spPr>
          <a:xfrm rot="5400000">
            <a:off x="485372" y="2698459"/>
            <a:ext cx="186870" cy="122381"/>
          </a:xfrm>
          <a:prstGeom prst="triangle">
            <a:avLst>
              <a:gd fmla="val 50000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9"/>
          <p:cNvSpPr/>
          <p:nvPr/>
        </p:nvSpPr>
        <p:spPr>
          <a:xfrm>
            <a:off x="503238" y="380615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NOMBRE DEL SUBTEMA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0"/>
          <p:cNvSpPr/>
          <p:nvPr/>
        </p:nvSpPr>
        <p:spPr>
          <a:xfrm>
            <a:off x="6702668" y="1387703"/>
            <a:ext cx="1973019" cy="2721590"/>
          </a:xfrm>
          <a:prstGeom prst="roundRect">
            <a:avLst>
              <a:gd fmla="val 7402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MODELOS DE DATOS (ERD)</a:t>
            </a:r>
            <a:endParaRPr/>
          </a:p>
          <a:p>
            <a:pPr indent="-133350" lvl="0" marL="138113" marR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Estructura y gobierno del dato.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Clave para integración y calidad de información.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secuenciación por olas reduce complejidad.</a:t>
            </a:r>
            <a:endParaRPr/>
          </a:p>
        </p:txBody>
      </p:sp>
      <p:sp>
        <p:nvSpPr>
          <p:cNvPr id="465" name="Google Shape;465;p30"/>
          <p:cNvSpPr/>
          <p:nvPr/>
        </p:nvSpPr>
        <p:spPr>
          <a:xfrm>
            <a:off x="6548855" y="2571612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0"/>
          <p:cNvSpPr/>
          <p:nvPr/>
        </p:nvSpPr>
        <p:spPr>
          <a:xfrm>
            <a:off x="6485090" y="2557738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0"/>
          <p:cNvSpPr/>
          <p:nvPr/>
        </p:nvSpPr>
        <p:spPr>
          <a:xfrm rot="5400000">
            <a:off x="6668862" y="2698459"/>
            <a:ext cx="186870" cy="122381"/>
          </a:xfrm>
          <a:prstGeom prst="triangle">
            <a:avLst>
              <a:gd fmla="val 50000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0"/>
          <p:cNvSpPr/>
          <p:nvPr/>
        </p:nvSpPr>
        <p:spPr>
          <a:xfrm>
            <a:off x="4640984" y="1387703"/>
            <a:ext cx="1973019" cy="2721590"/>
          </a:xfrm>
          <a:prstGeom prst="roundRect">
            <a:avLst>
              <a:gd fmla="val 7402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UML</a:t>
            </a:r>
            <a:endParaRPr/>
          </a:p>
          <a:p>
            <a:pPr indent="-133350" lvl="0" marL="138113" marR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Diseño técnico de soluciones (componentes, clases, secuencias).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usa cuando la arquitectura ya está definida.</a:t>
            </a:r>
            <a:endParaRPr/>
          </a:p>
        </p:txBody>
      </p:sp>
      <p:sp>
        <p:nvSpPr>
          <p:cNvPr id="469" name="Google Shape;469;p30"/>
          <p:cNvSpPr/>
          <p:nvPr/>
        </p:nvSpPr>
        <p:spPr>
          <a:xfrm>
            <a:off x="4491556" y="2571612"/>
            <a:ext cx="395709" cy="376075"/>
          </a:xfrm>
          <a:prstGeom prst="ellipse">
            <a:avLst/>
          </a:prstGeom>
          <a:solidFill>
            <a:srgbClr val="6446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0"/>
          <p:cNvSpPr/>
          <p:nvPr/>
        </p:nvSpPr>
        <p:spPr>
          <a:xfrm>
            <a:off x="4427790" y="2557738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0"/>
          <p:cNvSpPr/>
          <p:nvPr/>
        </p:nvSpPr>
        <p:spPr>
          <a:xfrm rot="5400000">
            <a:off x="4611563" y="2698459"/>
            <a:ext cx="186870" cy="122381"/>
          </a:xfrm>
          <a:prstGeom prst="triangle">
            <a:avLst>
              <a:gd fmla="val 50000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0"/>
          <p:cNvSpPr/>
          <p:nvPr/>
        </p:nvSpPr>
        <p:spPr>
          <a:xfrm>
            <a:off x="2579301" y="1387703"/>
            <a:ext cx="1973019" cy="2721590"/>
          </a:xfrm>
          <a:prstGeom prst="roundRect">
            <a:avLst>
              <a:gd fmla="val 7402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BPMN</a:t>
            </a:r>
            <a:endParaRPr/>
          </a:p>
          <a:p>
            <a:pPr indent="-133350" lvl="0" marL="138113" marR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Flujo de procesos (actividades, roles, eventos)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Foco operativo: eficiencia y automatización.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representa la arquitectura completa.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0"/>
          <p:cNvSpPr/>
          <p:nvPr/>
        </p:nvSpPr>
        <p:spPr>
          <a:xfrm>
            <a:off x="2419625" y="2571612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0"/>
          <p:cNvSpPr/>
          <p:nvPr/>
        </p:nvSpPr>
        <p:spPr>
          <a:xfrm>
            <a:off x="2355860" y="2557738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0"/>
          <p:cNvSpPr/>
          <p:nvPr/>
        </p:nvSpPr>
        <p:spPr>
          <a:xfrm rot="5400000">
            <a:off x="2539633" y="2698459"/>
            <a:ext cx="186870" cy="122381"/>
          </a:xfrm>
          <a:prstGeom prst="triangle">
            <a:avLst>
              <a:gd fmla="val 50000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0"/>
          <p:cNvSpPr/>
          <p:nvPr/>
        </p:nvSpPr>
        <p:spPr>
          <a:xfrm>
            <a:off x="503238" y="380615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NOMBRE DEL SUBTEMA</a:t>
            </a:r>
            <a:endParaRPr/>
          </a:p>
        </p:txBody>
      </p:sp>
      <p:sp>
        <p:nvSpPr>
          <p:cNvPr id="477" name="Google Shape;477;p30"/>
          <p:cNvSpPr/>
          <p:nvPr/>
        </p:nvSpPr>
        <p:spPr>
          <a:xfrm>
            <a:off x="517617" y="1387702"/>
            <a:ext cx="1973019" cy="2721591"/>
          </a:xfrm>
          <a:prstGeom prst="roundRect">
            <a:avLst>
              <a:gd fmla="val 7402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ARCHIMATE</a:t>
            </a:r>
            <a:endParaRPr/>
          </a:p>
          <a:p>
            <a:pPr indent="-136525" lvl="0" marL="136525" marR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end-to-end (negocio, aplicaciones, </a:t>
            </a:r>
            <a:r>
              <a:rPr lang="es-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datos,</a:t>
            </a: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tecnología)</a:t>
            </a:r>
            <a:endParaRPr/>
          </a:p>
          <a:p>
            <a:pPr indent="-136525" lvl="0" marL="136525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Útil para vistas ejecutivas, análisis de impacto y roadmaps.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0"/>
          <p:cNvSpPr/>
          <p:nvPr/>
        </p:nvSpPr>
        <p:spPr>
          <a:xfrm>
            <a:off x="365364" y="2571612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0"/>
          <p:cNvSpPr/>
          <p:nvPr/>
        </p:nvSpPr>
        <p:spPr>
          <a:xfrm>
            <a:off x="301599" y="2557738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0"/>
          <p:cNvSpPr/>
          <p:nvPr/>
        </p:nvSpPr>
        <p:spPr>
          <a:xfrm rot="5400000">
            <a:off x="485372" y="2698459"/>
            <a:ext cx="186870" cy="122381"/>
          </a:xfrm>
          <a:prstGeom prst="triangle">
            <a:avLst>
              <a:gd fmla="val 50000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1"/>
          <p:cNvSpPr/>
          <p:nvPr/>
        </p:nvSpPr>
        <p:spPr>
          <a:xfrm>
            <a:off x="6702668" y="1387703"/>
            <a:ext cx="1973019" cy="2721590"/>
          </a:xfrm>
          <a:prstGeom prst="roundRect">
            <a:avLst>
              <a:gd fmla="val 7402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MODELOS DE DATOS (ERD)</a:t>
            </a:r>
            <a:endParaRPr/>
          </a:p>
          <a:p>
            <a:pPr indent="-133350" lvl="0" marL="138113" marR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Estructura y gobierno del dato.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Clave para integración y calidad de información.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secuenciación por olas reduce complejidad.</a:t>
            </a:r>
            <a:endParaRPr/>
          </a:p>
        </p:txBody>
      </p:sp>
      <p:sp>
        <p:nvSpPr>
          <p:cNvPr id="487" name="Google Shape;487;p31"/>
          <p:cNvSpPr/>
          <p:nvPr/>
        </p:nvSpPr>
        <p:spPr>
          <a:xfrm>
            <a:off x="6548855" y="2571612"/>
            <a:ext cx="395709" cy="376075"/>
          </a:xfrm>
          <a:prstGeom prst="ellipse">
            <a:avLst/>
          </a:prstGeom>
          <a:solidFill>
            <a:srgbClr val="5E428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1"/>
          <p:cNvSpPr/>
          <p:nvPr/>
        </p:nvSpPr>
        <p:spPr>
          <a:xfrm>
            <a:off x="6485090" y="2557738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1"/>
          <p:cNvSpPr/>
          <p:nvPr/>
        </p:nvSpPr>
        <p:spPr>
          <a:xfrm rot="5400000">
            <a:off x="6668862" y="2698459"/>
            <a:ext cx="186870" cy="122381"/>
          </a:xfrm>
          <a:prstGeom prst="triangle">
            <a:avLst>
              <a:gd fmla="val 50000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1"/>
          <p:cNvSpPr/>
          <p:nvPr/>
        </p:nvSpPr>
        <p:spPr>
          <a:xfrm>
            <a:off x="4640984" y="1387703"/>
            <a:ext cx="1973019" cy="2721590"/>
          </a:xfrm>
          <a:prstGeom prst="roundRect">
            <a:avLst>
              <a:gd fmla="val 7402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UML</a:t>
            </a:r>
            <a:endParaRPr/>
          </a:p>
          <a:p>
            <a:pPr indent="-133350" lvl="0" marL="138113" marR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Diseño técnico de soluciones (componentes, clases, secuencias).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usa cuando la arquitectura ya está definida.</a:t>
            </a:r>
            <a:endParaRPr/>
          </a:p>
        </p:txBody>
      </p:sp>
      <p:sp>
        <p:nvSpPr>
          <p:cNvPr id="491" name="Google Shape;491;p31"/>
          <p:cNvSpPr/>
          <p:nvPr/>
        </p:nvSpPr>
        <p:spPr>
          <a:xfrm>
            <a:off x="4491556" y="2571612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1"/>
          <p:cNvSpPr/>
          <p:nvPr/>
        </p:nvSpPr>
        <p:spPr>
          <a:xfrm>
            <a:off x="4427790" y="2557738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1"/>
          <p:cNvSpPr/>
          <p:nvPr/>
        </p:nvSpPr>
        <p:spPr>
          <a:xfrm rot="5400000">
            <a:off x="4611563" y="2698459"/>
            <a:ext cx="186870" cy="122381"/>
          </a:xfrm>
          <a:prstGeom prst="triangle">
            <a:avLst>
              <a:gd fmla="val 50000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1"/>
          <p:cNvSpPr/>
          <p:nvPr/>
        </p:nvSpPr>
        <p:spPr>
          <a:xfrm>
            <a:off x="2579301" y="1387703"/>
            <a:ext cx="1973019" cy="2721590"/>
          </a:xfrm>
          <a:prstGeom prst="roundRect">
            <a:avLst>
              <a:gd fmla="val 7402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BPMN</a:t>
            </a:r>
            <a:endParaRPr/>
          </a:p>
          <a:p>
            <a:pPr indent="-133350" lvl="0" marL="138113" marR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Flujo de procesos (actividades, roles, eventos)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Foco operativo: eficiencia y automatización.</a:t>
            </a:r>
            <a:endParaRPr/>
          </a:p>
          <a:p>
            <a:pPr indent="-133350" lvl="0" marL="1381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representa la arquitectura completa.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1"/>
          <p:cNvSpPr/>
          <p:nvPr/>
        </p:nvSpPr>
        <p:spPr>
          <a:xfrm>
            <a:off x="2419625" y="2571612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1"/>
          <p:cNvSpPr/>
          <p:nvPr/>
        </p:nvSpPr>
        <p:spPr>
          <a:xfrm>
            <a:off x="2355860" y="2557738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1"/>
          <p:cNvSpPr/>
          <p:nvPr/>
        </p:nvSpPr>
        <p:spPr>
          <a:xfrm rot="5400000">
            <a:off x="2539633" y="2698459"/>
            <a:ext cx="186870" cy="122381"/>
          </a:xfrm>
          <a:prstGeom prst="triangle">
            <a:avLst>
              <a:gd fmla="val 50000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1"/>
          <p:cNvSpPr/>
          <p:nvPr/>
        </p:nvSpPr>
        <p:spPr>
          <a:xfrm>
            <a:off x="503238" y="380615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NOMBRE DEL SUBTEMA</a:t>
            </a:r>
            <a:endParaRPr/>
          </a:p>
        </p:txBody>
      </p:sp>
      <p:sp>
        <p:nvSpPr>
          <p:cNvPr id="499" name="Google Shape;499;p31"/>
          <p:cNvSpPr/>
          <p:nvPr/>
        </p:nvSpPr>
        <p:spPr>
          <a:xfrm>
            <a:off x="517617" y="1387702"/>
            <a:ext cx="1973019" cy="2721591"/>
          </a:xfrm>
          <a:prstGeom prst="roundRect">
            <a:avLst>
              <a:gd fmla="val 7402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ARCHIMATE</a:t>
            </a:r>
            <a:endParaRPr/>
          </a:p>
          <a:p>
            <a:pPr indent="-136525" lvl="0" marL="136525" marR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end-to-end (negocio, aplicaciones, </a:t>
            </a:r>
            <a:r>
              <a:rPr lang="es-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datos,</a:t>
            </a: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tecnología)</a:t>
            </a:r>
            <a:endParaRPr/>
          </a:p>
          <a:p>
            <a:pPr indent="-136525" lvl="0" marL="136525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Útil para vistas ejecutivas, análisis de impacto y roadmaps.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1"/>
          <p:cNvSpPr/>
          <p:nvPr/>
        </p:nvSpPr>
        <p:spPr>
          <a:xfrm>
            <a:off x="365364" y="2571612"/>
            <a:ext cx="395709" cy="376075"/>
          </a:xfrm>
          <a:prstGeom prst="ellipse">
            <a:avLst/>
          </a:prstGeom>
          <a:solidFill>
            <a:srgbClr val="C73A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1"/>
          <p:cNvSpPr/>
          <p:nvPr/>
        </p:nvSpPr>
        <p:spPr>
          <a:xfrm>
            <a:off x="301599" y="2557738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1"/>
          <p:cNvSpPr/>
          <p:nvPr/>
        </p:nvSpPr>
        <p:spPr>
          <a:xfrm rot="5400000">
            <a:off x="485372" y="2698459"/>
            <a:ext cx="186870" cy="122381"/>
          </a:xfrm>
          <a:prstGeom prst="triangle">
            <a:avLst>
              <a:gd fmla="val 50000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32"/>
          <p:cNvPicPr preferRelativeResize="0"/>
          <p:nvPr/>
        </p:nvPicPr>
        <p:blipFill rotWithShape="1">
          <a:blip r:embed="rId3">
            <a:alphaModFix/>
          </a:blip>
          <a:srcRect b="0" l="6266" r="5839" t="22240"/>
          <a:stretch/>
        </p:blipFill>
        <p:spPr>
          <a:xfrm>
            <a:off x="896112" y="777812"/>
            <a:ext cx="7534656" cy="4443984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2"/>
          <p:cNvSpPr/>
          <p:nvPr/>
        </p:nvSpPr>
        <p:spPr>
          <a:xfrm>
            <a:off x="503238" y="391853"/>
            <a:ext cx="349269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LENGUAJES Y HERRAMIENTAS DE MODELADO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2"/>
          <p:cNvSpPr txBox="1"/>
          <p:nvPr/>
        </p:nvSpPr>
        <p:spPr>
          <a:xfrm rot="773883">
            <a:off x="2678994" y="3737689"/>
            <a:ext cx="1589161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🚀</a:t>
            </a:r>
            <a:endParaRPr/>
          </a:p>
        </p:txBody>
      </p:sp>
      <p:sp>
        <p:nvSpPr>
          <p:cNvPr id="511" name="Google Shape;511;p32"/>
          <p:cNvSpPr txBox="1"/>
          <p:nvPr/>
        </p:nvSpPr>
        <p:spPr>
          <a:xfrm>
            <a:off x="896112" y="3822328"/>
            <a:ext cx="17369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3. Herramientas EA = herramientas de Arquitectura Empresarial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3"/>
          <p:cNvSpPr/>
          <p:nvPr/>
        </p:nvSpPr>
        <p:spPr>
          <a:xfrm>
            <a:off x="503238" y="391853"/>
            <a:ext cx="349269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LENGUAJES Y HERRAMIENTAS DE MODELADO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3"/>
          <p:cNvSpPr/>
          <p:nvPr/>
        </p:nvSpPr>
        <p:spPr>
          <a:xfrm>
            <a:off x="1773936" y="1144761"/>
            <a:ext cx="6323462" cy="621615"/>
          </a:xfrm>
          <a:prstGeom prst="roundRect">
            <a:avLst>
              <a:gd fmla="val 16667" name="adj"/>
            </a:avLst>
          </a:prstGeom>
          <a:solidFill>
            <a:srgbClr val="D1EFF4"/>
          </a:solidFill>
          <a:ln>
            <a:noFill/>
          </a:ln>
        </p:spPr>
        <p:txBody>
          <a:bodyPr anchorCtr="0" anchor="ctr" bIns="0" lIns="864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rgbClr val="00B2C4"/>
                </a:solidFill>
                <a:latin typeface="Calibri"/>
                <a:ea typeface="Calibri"/>
                <a:cs typeface="Calibri"/>
                <a:sym typeface="Calibri"/>
              </a:rPr>
              <a:t>¿QUIÉN </a:t>
            </a:r>
            <a:r>
              <a:rPr b="1" lang="es-ES">
                <a:solidFill>
                  <a:srgbClr val="00B2C4"/>
                </a:solidFill>
                <a:latin typeface="Calibri"/>
                <a:ea typeface="Calibri"/>
                <a:cs typeface="Calibri"/>
                <a:sym typeface="Calibri"/>
              </a:rPr>
              <a:t>CONSUME</a:t>
            </a:r>
            <a:r>
              <a:rPr b="1" lang="es-ES" sz="1400">
                <a:solidFill>
                  <a:srgbClr val="00B2C4"/>
                </a:solidFill>
                <a:latin typeface="Calibri"/>
                <a:ea typeface="Calibri"/>
                <a:cs typeface="Calibri"/>
                <a:sym typeface="Calibri"/>
              </a:rPr>
              <a:t> EL MODELO (DIRECCIÓN, NEGOCIO, TI)?</a:t>
            </a:r>
            <a:endParaRPr/>
          </a:p>
        </p:txBody>
      </p:sp>
      <p:sp>
        <p:nvSpPr>
          <p:cNvPr id="519" name="Google Shape;519;p33"/>
          <p:cNvSpPr/>
          <p:nvPr/>
        </p:nvSpPr>
        <p:spPr>
          <a:xfrm rot="-5400000">
            <a:off x="1845319" y="1067370"/>
            <a:ext cx="621616" cy="764381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B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3"/>
          <p:cNvSpPr/>
          <p:nvPr/>
        </p:nvSpPr>
        <p:spPr>
          <a:xfrm>
            <a:off x="1773937" y="1827366"/>
            <a:ext cx="6323462" cy="621615"/>
          </a:xfrm>
          <a:prstGeom prst="roundRect">
            <a:avLst>
              <a:gd fmla="val 16667" name="adj"/>
            </a:avLst>
          </a:prstGeom>
          <a:solidFill>
            <a:srgbClr val="D1EFF4"/>
          </a:solidFill>
          <a:ln>
            <a:noFill/>
          </a:ln>
        </p:spPr>
        <p:txBody>
          <a:bodyPr anchorCtr="0" anchor="ctr" bIns="0" lIns="864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rgbClr val="00B2C4"/>
                </a:solidFill>
                <a:latin typeface="Calibri"/>
                <a:ea typeface="Calibri"/>
                <a:cs typeface="Calibri"/>
                <a:sym typeface="Calibri"/>
              </a:rPr>
              <a:t>¿QUÉ DECISIÓN DEBE HABILITAR (PRIORIZAR, DISEÑAR, GOBERNAR)? </a:t>
            </a:r>
            <a:endParaRPr/>
          </a:p>
        </p:txBody>
      </p:sp>
      <p:sp>
        <p:nvSpPr>
          <p:cNvPr id="521" name="Google Shape;521;p33"/>
          <p:cNvSpPr/>
          <p:nvPr/>
        </p:nvSpPr>
        <p:spPr>
          <a:xfrm rot="-5400000">
            <a:off x="1845320" y="1749975"/>
            <a:ext cx="621616" cy="764381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B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3"/>
          <p:cNvSpPr/>
          <p:nvPr/>
        </p:nvSpPr>
        <p:spPr>
          <a:xfrm>
            <a:off x="1773935" y="2509971"/>
            <a:ext cx="6323462" cy="621615"/>
          </a:xfrm>
          <a:prstGeom prst="roundRect">
            <a:avLst>
              <a:gd fmla="val 16667" name="adj"/>
            </a:avLst>
          </a:prstGeom>
          <a:solidFill>
            <a:srgbClr val="D1EFF4"/>
          </a:solidFill>
          <a:ln>
            <a:noFill/>
          </a:ln>
        </p:spPr>
        <p:txBody>
          <a:bodyPr anchorCtr="0" anchor="ctr" bIns="0" lIns="864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rgbClr val="00B2C4"/>
                </a:solidFill>
                <a:latin typeface="Calibri"/>
                <a:ea typeface="Calibri"/>
                <a:cs typeface="Calibri"/>
                <a:sym typeface="Calibri"/>
              </a:rPr>
              <a:t>¿SE REQUIERE TRAZABILIDAD Y EVIDENCIA? </a:t>
            </a:r>
            <a:endParaRPr/>
          </a:p>
        </p:txBody>
      </p:sp>
      <p:sp>
        <p:nvSpPr>
          <p:cNvPr id="523" name="Google Shape;523;p33"/>
          <p:cNvSpPr/>
          <p:nvPr/>
        </p:nvSpPr>
        <p:spPr>
          <a:xfrm rot="-5400000">
            <a:off x="1845318" y="2432580"/>
            <a:ext cx="621616" cy="764381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B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3"/>
          <p:cNvSpPr/>
          <p:nvPr/>
        </p:nvSpPr>
        <p:spPr>
          <a:xfrm>
            <a:off x="1773936" y="3192576"/>
            <a:ext cx="6323462" cy="621615"/>
          </a:xfrm>
          <a:prstGeom prst="roundRect">
            <a:avLst>
              <a:gd fmla="val 16667" name="adj"/>
            </a:avLst>
          </a:prstGeom>
          <a:solidFill>
            <a:srgbClr val="D1EFF4"/>
          </a:solidFill>
          <a:ln>
            <a:noFill/>
          </a:ln>
        </p:spPr>
        <p:txBody>
          <a:bodyPr anchorCtr="0" anchor="ctr" bIns="0" lIns="864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rgbClr val="00B2C4"/>
                </a:solidFill>
                <a:latin typeface="Calibri"/>
                <a:ea typeface="Calibri"/>
                <a:cs typeface="Calibri"/>
                <a:sym typeface="Calibri"/>
              </a:rPr>
              <a:t>¿NECESITA REVISIÓN/APROBACIÓN FORMAL?</a:t>
            </a:r>
            <a:endParaRPr/>
          </a:p>
        </p:txBody>
      </p:sp>
      <p:sp>
        <p:nvSpPr>
          <p:cNvPr id="525" name="Google Shape;525;p33"/>
          <p:cNvSpPr/>
          <p:nvPr/>
        </p:nvSpPr>
        <p:spPr>
          <a:xfrm rot="-5400000">
            <a:off x="1845319" y="3115185"/>
            <a:ext cx="621616" cy="764381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B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3"/>
          <p:cNvSpPr/>
          <p:nvPr/>
        </p:nvSpPr>
        <p:spPr>
          <a:xfrm>
            <a:off x="1773934" y="3875181"/>
            <a:ext cx="6323463" cy="621615"/>
          </a:xfrm>
          <a:prstGeom prst="roundRect">
            <a:avLst>
              <a:gd fmla="val 16667" name="adj"/>
            </a:avLst>
          </a:prstGeom>
          <a:solidFill>
            <a:srgbClr val="D1EFF4"/>
          </a:solidFill>
          <a:ln>
            <a:noFill/>
          </a:ln>
        </p:spPr>
        <p:txBody>
          <a:bodyPr anchorCtr="0" anchor="ctr" bIns="0" lIns="864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rgbClr val="00B2C4"/>
                </a:solidFill>
                <a:latin typeface="Calibri"/>
                <a:ea typeface="Calibri"/>
                <a:cs typeface="Calibri"/>
                <a:sym typeface="Calibri"/>
              </a:rPr>
              <a:t>¿DEBE MANTENERSE VIVO EN EL TIEMPO (NO SOLO EN EL PROYECTO)? </a:t>
            </a:r>
            <a:endParaRPr/>
          </a:p>
        </p:txBody>
      </p:sp>
      <p:sp>
        <p:nvSpPr>
          <p:cNvPr id="527" name="Google Shape;527;p33"/>
          <p:cNvSpPr/>
          <p:nvPr/>
        </p:nvSpPr>
        <p:spPr>
          <a:xfrm rot="-5400000">
            <a:off x="1845318" y="3797790"/>
            <a:ext cx="621616" cy="764381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B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3"/>
          <p:cNvSpPr/>
          <p:nvPr/>
        </p:nvSpPr>
        <p:spPr>
          <a:xfrm>
            <a:off x="1773936" y="4557786"/>
            <a:ext cx="6323462" cy="621615"/>
          </a:xfrm>
          <a:prstGeom prst="roundRect">
            <a:avLst>
              <a:gd fmla="val 16667" name="adj"/>
            </a:avLst>
          </a:prstGeom>
          <a:solidFill>
            <a:srgbClr val="D1EFF4"/>
          </a:solidFill>
          <a:ln>
            <a:noFill/>
          </a:ln>
        </p:spPr>
        <p:txBody>
          <a:bodyPr anchorCtr="0" anchor="ctr" bIns="0" lIns="86400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rgbClr val="00B2C4"/>
                </a:solidFill>
                <a:latin typeface="Calibri"/>
                <a:ea typeface="Calibri"/>
                <a:cs typeface="Calibri"/>
                <a:sym typeface="Calibri"/>
              </a:rPr>
              <a:t>¿SE REUTILIZA EN FUTUROS PROYECTOS Y EQUIPOS?</a:t>
            </a:r>
            <a:endParaRPr/>
          </a:p>
        </p:txBody>
      </p:sp>
      <p:sp>
        <p:nvSpPr>
          <p:cNvPr id="529" name="Google Shape;529;p33"/>
          <p:cNvSpPr/>
          <p:nvPr/>
        </p:nvSpPr>
        <p:spPr>
          <a:xfrm rot="-5400000">
            <a:off x="1845319" y="4480395"/>
            <a:ext cx="621616" cy="764381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0B2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3"/>
          <p:cNvSpPr txBox="1"/>
          <p:nvPr/>
        </p:nvSpPr>
        <p:spPr>
          <a:xfrm>
            <a:off x="503238" y="695841"/>
            <a:ext cx="63002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Criterios para elegir herramienta (no tecnológicos) </a:t>
            </a:r>
            <a:endParaRPr/>
          </a:p>
        </p:txBody>
      </p:sp>
      <p:sp>
        <p:nvSpPr>
          <p:cNvPr id="531" name="Google Shape;531;p33"/>
          <p:cNvSpPr txBox="1"/>
          <p:nvPr/>
        </p:nvSpPr>
        <p:spPr>
          <a:xfrm>
            <a:off x="411254" y="2503962"/>
            <a:ext cx="127069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Antes de seleccionar,  responder:</a:t>
            </a:r>
            <a:endParaRPr/>
          </a:p>
        </p:txBody>
      </p:sp>
      <p:pic>
        <p:nvPicPr>
          <p:cNvPr id="532" name="Google Shape;53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9578" y="4666037"/>
            <a:ext cx="393096" cy="393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9578" y="3964387"/>
            <a:ext cx="453033" cy="453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59578" y="3271734"/>
            <a:ext cx="453033" cy="453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9770" y="2589129"/>
            <a:ext cx="412841" cy="412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23518" y="1878680"/>
            <a:ext cx="465215" cy="465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53486" y="1224665"/>
            <a:ext cx="465215" cy="465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4"/>
          <p:cNvSpPr txBox="1"/>
          <p:nvPr/>
        </p:nvSpPr>
        <p:spPr>
          <a:xfrm>
            <a:off x="565760" y="845742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ALGUNAS CONCLUSIONES</a:t>
            </a:r>
            <a:endParaRPr/>
          </a:p>
        </p:txBody>
      </p:sp>
      <p:sp>
        <p:nvSpPr>
          <p:cNvPr id="544" name="Google Shape;544;p34"/>
          <p:cNvSpPr txBox="1"/>
          <p:nvPr/>
        </p:nvSpPr>
        <p:spPr>
          <a:xfrm>
            <a:off x="503238" y="1234263"/>
            <a:ext cx="7048558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5E4287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arquitectura empresarial, el lenguaje da coherencia y la herramienta impone disciplina, control y trazabilidad; ambos son complementarios y necesarios.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5E4287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5E4287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existe un lenguaje único: cada uno responde a una decisión y audiencia específica. El criterio de selección es estratégico, no técnico.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5E4287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5E4287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Lenguajes como ArchiMate, BPMN, UML y modelos de datos se integran para construir una visión end-to-end que conecta negocio, procesos, sistemas, datos y tecnología.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5E4287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5E4287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herramientas cumplen roles distintos: comunicación rápida, colaboración o gobierno arquitectónico con repositorio y versionado.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5E4287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5E4287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Cuando se requiere gobierno, continuidad y reutilización, el repositorio deja de ser opcional y se vuelve un habilitador clave.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4"/>
          <p:cNvSpPr/>
          <p:nvPr/>
        </p:nvSpPr>
        <p:spPr>
          <a:xfrm>
            <a:off x="503238" y="501582"/>
            <a:ext cx="529405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MAPAS DE CAPACIDADES Y HOJAS DE RUTA ARQUITECTÓNICAS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35"/>
          <p:cNvPicPr preferRelativeResize="0"/>
          <p:nvPr/>
        </p:nvPicPr>
        <p:blipFill rotWithShape="1">
          <a:blip r:embed="rId3">
            <a:alphaModFix/>
          </a:blip>
          <a:srcRect b="0" l="27208" r="27730" t="0"/>
          <a:stretch/>
        </p:blipFill>
        <p:spPr>
          <a:xfrm flipH="1">
            <a:off x="6006351" y="912813"/>
            <a:ext cx="2596200" cy="43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35"/>
          <p:cNvSpPr txBox="1"/>
          <p:nvPr/>
        </p:nvSpPr>
        <p:spPr>
          <a:xfrm>
            <a:off x="2211768" y="2277499"/>
            <a:ext cx="3599053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¿Y AHORA</a:t>
            </a:r>
            <a:br>
              <a:rPr b="1" lang="es-ES" sz="3600">
                <a:solidFill>
                  <a:srgbClr val="8EC5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ES" sz="3600">
                <a:solidFill>
                  <a:srgbClr val="8EC540"/>
                </a:solidFill>
                <a:latin typeface="Arial"/>
                <a:ea typeface="Arial"/>
                <a:cs typeface="Arial"/>
                <a:sym typeface="Arial"/>
              </a:rPr>
              <a:t>QUÉ OPINAS…?</a:t>
            </a:r>
            <a:endParaRPr/>
          </a:p>
        </p:txBody>
      </p:sp>
      <p:pic>
        <p:nvPicPr>
          <p:cNvPr id="552" name="Google Shape;55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1076" y="2441396"/>
            <a:ext cx="329184" cy="541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891" y="2149609"/>
            <a:ext cx="1222115" cy="120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6"/>
          <p:cNvSpPr txBox="1"/>
          <p:nvPr/>
        </p:nvSpPr>
        <p:spPr>
          <a:xfrm>
            <a:off x="2375452" y="1844784"/>
            <a:ext cx="4393096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Comparte tus dudas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Podemos resolverlo juntos como equipo</a:t>
            </a:r>
            <a:endParaRPr/>
          </a:p>
        </p:txBody>
      </p:sp>
      <p:sp>
        <p:nvSpPr>
          <p:cNvPr id="560" name="Google Shape;560;p36"/>
          <p:cNvSpPr/>
          <p:nvPr/>
        </p:nvSpPr>
        <p:spPr>
          <a:xfrm>
            <a:off x="1854127" y="1951326"/>
            <a:ext cx="425980" cy="425980"/>
          </a:xfrm>
          <a:prstGeom prst="ellipse">
            <a:avLst/>
          </a:prstGeom>
          <a:solidFill>
            <a:srgbClr val="92C2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1" name="Google Shape;56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9472" y="2043160"/>
            <a:ext cx="235290" cy="242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7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7" name="Google Shape;567;p37"/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568" name="Google Shape;568;p37"/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CONCLUSIONES</a:t>
              </a:r>
              <a:br>
                <a:rPr lang="es-E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9" name="Google Shape;5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70" name="Google Shape;57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53" y="946969"/>
            <a:ext cx="2072214" cy="38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8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8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8" name="Google Shape;578;p38"/>
          <p:cNvPicPr preferRelativeResize="0"/>
          <p:nvPr/>
        </p:nvPicPr>
        <p:blipFill rotWithShape="1">
          <a:blip r:embed="rId3">
            <a:alphaModFix amt="42000"/>
          </a:blip>
          <a:srcRect b="0" l="0" r="0" t="0"/>
          <a:stretch/>
        </p:blipFill>
        <p:spPr>
          <a:xfrm>
            <a:off x="7781721" y="4005071"/>
            <a:ext cx="1196363" cy="1546299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38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/>
          </a:p>
        </p:txBody>
      </p:sp>
      <p:grpSp>
        <p:nvGrpSpPr>
          <p:cNvPr id="580" name="Google Shape;580;p38"/>
          <p:cNvGrpSpPr/>
          <p:nvPr/>
        </p:nvGrpSpPr>
        <p:grpSpPr>
          <a:xfrm>
            <a:off x="1314874" y="840864"/>
            <a:ext cx="6514252" cy="4093428"/>
            <a:chOff x="1011260" y="833479"/>
            <a:chExt cx="6564707" cy="4093428"/>
          </a:xfrm>
        </p:grpSpPr>
        <p:sp>
          <p:nvSpPr>
            <p:cNvPr id="581" name="Google Shape;581;p38"/>
            <p:cNvSpPr txBox="1"/>
            <p:nvPr/>
          </p:nvSpPr>
          <p:spPr>
            <a:xfrm>
              <a:off x="1300084" y="833479"/>
              <a:ext cx="6275883" cy="4093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Modelar arquitectura empresarial es convertir estrategia en diseño verificable: objetivos → capacidades → iniciativas → soluciones, evitando decisiones “por intuición”.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Vistas, capas y niveles de abstracción son el control de calidad del modelado: separan audiencias, evitan mezclar estrategia con tecnología y permiten trazabilidad end-to-end.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El mapa de capacidades estabiliza el lenguaje del negocio: describe “lo que la empresa debe poder hacer” y se mantiene aunque cambien procesos, organigrama o sistemas.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hoja de ruta arquitectónica ordena el cambio: conecta As-Is → To-Be, brechas → iniciativas, dependencias y olas, justificando el secuenciamiento por valor, riesgo y esfuerzo.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Lenguajes y herramientas se complementan: el lenguaje asegura consistencia (ArchiMate/BPMN/UML/datos) y la herramienta habilita gobierno (repositorio, versionado, aprobación y decisiones auditables).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82" name="Google Shape;582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1260" y="909941"/>
              <a:ext cx="114138" cy="117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3" name="Google Shape;58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1260" y="1762972"/>
              <a:ext cx="114138" cy="117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4" name="Google Shape;584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1260" y="2604109"/>
              <a:ext cx="114138" cy="117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5" name="Google Shape;585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1260" y="3466600"/>
              <a:ext cx="114138" cy="11754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86" name="Google Shape;58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13036" y="4342482"/>
            <a:ext cx="113261" cy="117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9"/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br>
              <a:rPr lang="es-E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E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MÁS REFERENCIAS</a:t>
            </a:r>
            <a:endParaRPr/>
          </a:p>
        </p:txBody>
      </p:sp>
      <p:pic>
        <p:nvPicPr>
          <p:cNvPr id="593" name="Google Shape;59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46970"/>
            <a:ext cx="2072061" cy="38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0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40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1" name="Google Shape;601;p40"/>
          <p:cNvPicPr preferRelativeResize="0"/>
          <p:nvPr/>
        </p:nvPicPr>
        <p:blipFill rotWithShape="1">
          <a:blip r:embed="rId3">
            <a:alphaModFix amt="42000"/>
          </a:blip>
          <a:srcRect b="0" l="0" r="0" t="0"/>
          <a:stretch/>
        </p:blipFill>
        <p:spPr>
          <a:xfrm>
            <a:off x="7527507" y="3816088"/>
            <a:ext cx="1262300" cy="1640397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0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  <p:grpSp>
        <p:nvGrpSpPr>
          <p:cNvPr id="603" name="Google Shape;603;p40"/>
          <p:cNvGrpSpPr/>
          <p:nvPr/>
        </p:nvGrpSpPr>
        <p:grpSpPr>
          <a:xfrm>
            <a:off x="1007632" y="917823"/>
            <a:ext cx="7151025" cy="3877985"/>
            <a:chOff x="1007632" y="917823"/>
            <a:chExt cx="7151025" cy="3877985"/>
          </a:xfrm>
        </p:grpSpPr>
        <p:sp>
          <p:nvSpPr>
            <p:cNvPr id="604" name="Google Shape;604;p40"/>
            <p:cNvSpPr txBox="1"/>
            <p:nvPr/>
          </p:nvSpPr>
          <p:spPr>
            <a:xfrm>
              <a:off x="1279009" y="917823"/>
              <a:ext cx="6879648" cy="38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Open Group. (2011). TOGAF® Version 9.1. The Open Group Standard.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Lankhorst, M. (Ed.). (2017). Enterprise Architecture at Work: Modelling, Communication and Analysis (4th ed.). Springer.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Profundiza en vistas, capas, modelado, análisis de impacto y comunicación arquitectónica.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Object Management Group (OMG). (2014). Business Process Model and Notation (BPMN) Version 2.0.2.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Estándar para modelar procesos de negocio y flujos operativos.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Object Management Group (OMG). (2017). Unified Modeling Language (UML) Version 2.5.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Lenguaje para diseño lógico y técnico de soluciones de software.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ISO/IEC 42010. (2011). Systems and Software Engineering – Architecture Description.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Estándar para la descripción de arquitecturas, stakeholders, vistas y concerns.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Gartner. (varios autores). Enterprise Architecture Practice and Capability-Based Planning.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Aporte práctico sobre capability maps, roadmaps arquitectónicos y priorización por valor.</a:t>
              </a:r>
              <a:endParaRPr/>
            </a:p>
          </p:txBody>
        </p:sp>
        <p:pic>
          <p:nvPicPr>
            <p:cNvPr id="605" name="Google Shape;605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8064" y="959114"/>
              <a:ext cx="103867" cy="10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6" name="Google Shape;606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8064" y="1414181"/>
              <a:ext cx="103867" cy="10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7" name="Google Shape;607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9422" y="2258546"/>
              <a:ext cx="103867" cy="10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8" name="Google Shape;608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7633" y="3102911"/>
              <a:ext cx="103867" cy="10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9" name="Google Shape;609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0564" y="3756615"/>
              <a:ext cx="103867" cy="10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0" name="Google Shape;61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7632" y="4397027"/>
              <a:ext cx="103867" cy="10696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6" name="Google Shape;61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4199" y="2666298"/>
            <a:ext cx="1295601" cy="386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Diseño predeterminado">
  <a:themeElements>
    <a:clrScheme name="Personalizados 4 ISI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DC212"/>
      </a:accent1>
      <a:accent2>
        <a:srgbClr val="EE4638"/>
      </a:accent2>
      <a:accent3>
        <a:srgbClr val="92C14E"/>
      </a:accent3>
      <a:accent4>
        <a:srgbClr val="FE7828"/>
      </a:accent4>
      <a:accent5>
        <a:srgbClr val="00B1C2"/>
      </a:accent5>
      <a:accent6>
        <a:srgbClr val="808799"/>
      </a:accent6>
      <a:hlink>
        <a:srgbClr val="7150A0"/>
      </a:hlink>
      <a:folHlink>
        <a:srgbClr val="00B1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2006-06-01T21:36:52Z</dcterms:created>
  <dc:creator>Isil</dc:creator>
</cp:coreProperties>
</file>