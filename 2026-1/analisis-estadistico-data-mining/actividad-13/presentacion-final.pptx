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731520" y="878839"/>
            <a:ext cx="7680960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El Efecto del seniority y el trabajo remoto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31520" y="2089980"/>
            <a:ext cx="768096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en el Mercado Laboral de Ingenieros de Software en EE.UU.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31520" y="3072700"/>
            <a:ext cx="76809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Análisis Estadístico y Data Mining — Proyecto Integrador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731520" y="3343078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Carlos Gil Carrillo  |  ISIL, 2026-1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731520" y="46989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¿Qué problema queremos resolver?</a:t>
            </a:r>
          </a:p>
        </p:txBody>
      </p:sp>
      <p:sp>
        <p:nvSpPr>
          <p:cNvPr id="27" name="Shape 1"/>
          <p:cNvSpPr/>
          <p:nvPr/>
        </p:nvSpPr>
        <p:spPr>
          <a:xfrm>
            <a:off x="731519" y="1280160"/>
            <a:ext cx="237744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" name="Text 2"/>
          <p:cNvSpPr txBox="1"/>
          <p:nvPr/>
        </p:nvSpPr>
        <p:spPr>
          <a:xfrm>
            <a:off x="731519" y="1443989"/>
            <a:ext cx="237744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065A82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58,433</a:t>
            </a:r>
          </a:p>
        </p:txBody>
      </p:sp>
      <p:sp>
        <p:nvSpPr>
          <p:cNvPr id="29" name="Text 3"/>
          <p:cNvSpPr txBox="1"/>
          <p:nvPr/>
        </p:nvSpPr>
        <p:spPr>
          <a:xfrm>
            <a:off x="731519" y="1965960"/>
            <a:ext cx="2377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Ofertas analizadas</a:t>
            </a:r>
          </a:p>
        </p:txBody>
      </p:sp>
      <p:sp>
        <p:nvSpPr>
          <p:cNvPr id="30" name="Shape 4"/>
          <p:cNvSpPr/>
          <p:nvPr/>
        </p:nvSpPr>
        <p:spPr>
          <a:xfrm>
            <a:off x="3474720" y="1280160"/>
            <a:ext cx="237744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" name="Text 5"/>
          <p:cNvSpPr txBox="1"/>
          <p:nvPr/>
        </p:nvSpPr>
        <p:spPr>
          <a:xfrm>
            <a:off x="3474720" y="1443989"/>
            <a:ext cx="237744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1C729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31%</a:t>
            </a:r>
          </a:p>
        </p:txBody>
      </p:sp>
      <p:sp>
        <p:nvSpPr>
          <p:cNvPr id="32" name="Text 6"/>
          <p:cNvSpPr txBox="1"/>
          <p:nvPr/>
        </p:nvSpPr>
        <p:spPr>
          <a:xfrm>
            <a:off x="3474720" y="1965960"/>
            <a:ext cx="2377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Con salario conocido</a:t>
            </a:r>
          </a:p>
        </p:txBody>
      </p:sp>
      <p:sp>
        <p:nvSpPr>
          <p:cNvPr id="33" name="Shape 7"/>
          <p:cNvSpPr/>
          <p:nvPr/>
        </p:nvSpPr>
        <p:spPr>
          <a:xfrm>
            <a:off x="6217920" y="1280160"/>
            <a:ext cx="237744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" name="Text 8"/>
          <p:cNvSpPr txBox="1"/>
          <p:nvPr/>
        </p:nvSpPr>
        <p:spPr>
          <a:xfrm>
            <a:off x="6217920" y="1443989"/>
            <a:ext cx="237744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$130K</a:t>
            </a:r>
          </a:p>
        </p:txBody>
      </p:sp>
      <p:sp>
        <p:nvSpPr>
          <p:cNvPr id="35" name="Text 9"/>
          <p:cNvSpPr txBox="1"/>
          <p:nvPr/>
        </p:nvSpPr>
        <p:spPr>
          <a:xfrm>
            <a:off x="6217920" y="1965960"/>
            <a:ext cx="2377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Salario mediano</a:t>
            </a:r>
          </a:p>
        </p:txBody>
      </p:sp>
      <p:sp>
        <p:nvSpPr>
          <p:cNvPr id="36" name="Shape 10"/>
          <p:cNvSpPr/>
          <p:nvPr/>
        </p:nvSpPr>
        <p:spPr>
          <a:xfrm>
            <a:off x="731520" y="2926079"/>
            <a:ext cx="7680960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" name="Text 11"/>
          <p:cNvSpPr txBox="1"/>
          <p:nvPr/>
        </p:nvSpPr>
        <p:spPr>
          <a:xfrm>
            <a:off x="1005839" y="3244019"/>
            <a:ext cx="713232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</a:defRPr>
            </a:lvl1pPr>
          </a:lstStyle>
          <a:p>
            <a:pPr/>
            <a:r>
              <a:t>Pregunta Guía</a:t>
            </a:r>
          </a:p>
        </p:txBody>
      </p:sp>
      <p:sp>
        <p:nvSpPr>
          <p:cNvPr id="38" name="Text 12"/>
          <p:cNvSpPr txBox="1"/>
          <p:nvPr/>
        </p:nvSpPr>
        <p:spPr>
          <a:xfrm>
            <a:off x="1005839" y="3510279"/>
            <a:ext cx="713232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334155"/>
                </a:solidFill>
              </a:defRPr>
            </a:lvl1pPr>
          </a:lstStyle>
          <a:p>
            <a:pPr/>
            <a:r>
              <a:t>¿Cómo influyen el nivel de experiencia y el trabajo remoto en el salario de los ingenieros de software en EE.UU.?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¿Qué hace cada posición?</a:t>
            </a:r>
          </a:p>
        </p:txBody>
      </p:sp>
      <p:sp>
        <p:nvSpPr>
          <p:cNvPr id="41" name="Shape 1"/>
          <p:cNvSpPr/>
          <p:nvPr/>
        </p:nvSpPr>
        <p:spPr>
          <a:xfrm>
            <a:off x="731520" y="1097280"/>
            <a:ext cx="7680960" cy="54864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"/>
          <p:cNvSpPr txBox="1"/>
          <p:nvPr/>
        </p:nvSpPr>
        <p:spPr>
          <a:xfrm>
            <a:off x="914400" y="1263650"/>
            <a:ext cx="10972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Junior</a:t>
            </a:r>
          </a:p>
        </p:txBody>
      </p:sp>
      <p:sp>
        <p:nvSpPr>
          <p:cNvPr id="43" name="Text 3"/>
          <p:cNvSpPr txBox="1"/>
          <p:nvPr/>
        </p:nvSpPr>
        <p:spPr>
          <a:xfrm>
            <a:off x="2103120" y="1282700"/>
            <a:ext cx="914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~$60K</a:t>
            </a:r>
          </a:p>
        </p:txBody>
      </p:sp>
      <p:sp>
        <p:nvSpPr>
          <p:cNvPr id="44" name="Text 4"/>
          <p:cNvSpPr txBox="1"/>
          <p:nvPr/>
        </p:nvSpPr>
        <p:spPr>
          <a:xfrm>
            <a:off x="3200400" y="1221916"/>
            <a:ext cx="502920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Recién egresado o con 0-2 años. Aprende, hace tareas simples, necesita supervisión constante.</a:t>
            </a:r>
          </a:p>
        </p:txBody>
      </p:sp>
      <p:sp>
        <p:nvSpPr>
          <p:cNvPr id="45" name="Shape 5"/>
          <p:cNvSpPr/>
          <p:nvPr/>
        </p:nvSpPr>
        <p:spPr>
          <a:xfrm>
            <a:off x="731520" y="1737360"/>
            <a:ext cx="7680960" cy="548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6"/>
          <p:cNvSpPr txBox="1"/>
          <p:nvPr/>
        </p:nvSpPr>
        <p:spPr>
          <a:xfrm>
            <a:off x="914400" y="1903730"/>
            <a:ext cx="10972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Mid</a:t>
            </a:r>
          </a:p>
        </p:txBody>
      </p:sp>
      <p:sp>
        <p:nvSpPr>
          <p:cNvPr id="47" name="Text 7"/>
          <p:cNvSpPr txBox="1"/>
          <p:nvPr/>
        </p:nvSpPr>
        <p:spPr>
          <a:xfrm>
            <a:off x="2103120" y="1922780"/>
            <a:ext cx="914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~$114K</a:t>
            </a:r>
          </a:p>
        </p:txBody>
      </p:sp>
      <p:sp>
        <p:nvSpPr>
          <p:cNvPr id="48" name="Text 8"/>
          <p:cNvSpPr txBox="1"/>
          <p:nvPr/>
        </p:nvSpPr>
        <p:spPr>
          <a:xfrm>
            <a:off x="3200400" y="1861996"/>
            <a:ext cx="502920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Con 2-5 años. Trabaja solo, resuelve problemas complejos, ya no necesita supervisión directa.</a:t>
            </a:r>
          </a:p>
        </p:txBody>
      </p:sp>
      <p:sp>
        <p:nvSpPr>
          <p:cNvPr id="49" name="Shape 9"/>
          <p:cNvSpPr/>
          <p:nvPr/>
        </p:nvSpPr>
        <p:spPr>
          <a:xfrm>
            <a:off x="731520" y="2377439"/>
            <a:ext cx="7680960" cy="54864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0"/>
          <p:cNvSpPr txBox="1"/>
          <p:nvPr/>
        </p:nvSpPr>
        <p:spPr>
          <a:xfrm>
            <a:off x="914400" y="2543810"/>
            <a:ext cx="10972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Senior</a:t>
            </a:r>
          </a:p>
        </p:txBody>
      </p:sp>
      <p:sp>
        <p:nvSpPr>
          <p:cNvPr id="51" name="Text 11"/>
          <p:cNvSpPr txBox="1"/>
          <p:nvPr/>
        </p:nvSpPr>
        <p:spPr>
          <a:xfrm>
            <a:off x="2103120" y="2562860"/>
            <a:ext cx="914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~$130K</a:t>
            </a:r>
          </a:p>
        </p:txBody>
      </p:sp>
      <p:sp>
        <p:nvSpPr>
          <p:cNvPr id="52" name="Text 12"/>
          <p:cNvSpPr txBox="1"/>
          <p:nvPr/>
        </p:nvSpPr>
        <p:spPr>
          <a:xfrm>
            <a:off x="3200400" y="2584626"/>
            <a:ext cx="5029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Con 5-8 años. Diseña sistemas, guía a Juniors, toma decisiones técnicas importantes.</a:t>
            </a:r>
          </a:p>
        </p:txBody>
      </p:sp>
      <p:sp>
        <p:nvSpPr>
          <p:cNvPr id="53" name="Shape 13"/>
          <p:cNvSpPr/>
          <p:nvPr/>
        </p:nvSpPr>
        <p:spPr>
          <a:xfrm>
            <a:off x="731520" y="3017520"/>
            <a:ext cx="7680960" cy="548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4"/>
          <p:cNvSpPr txBox="1"/>
          <p:nvPr/>
        </p:nvSpPr>
        <p:spPr>
          <a:xfrm>
            <a:off x="914400" y="3183890"/>
            <a:ext cx="10972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Lead</a:t>
            </a:r>
          </a:p>
        </p:txBody>
      </p:sp>
      <p:sp>
        <p:nvSpPr>
          <p:cNvPr id="55" name="Text 15"/>
          <p:cNvSpPr txBox="1"/>
          <p:nvPr/>
        </p:nvSpPr>
        <p:spPr>
          <a:xfrm>
            <a:off x="2103120" y="3202940"/>
            <a:ext cx="914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~$121K</a:t>
            </a:r>
          </a:p>
        </p:txBody>
      </p:sp>
      <p:sp>
        <p:nvSpPr>
          <p:cNvPr id="56" name="Text 16"/>
          <p:cNvSpPr txBox="1"/>
          <p:nvPr/>
        </p:nvSpPr>
        <p:spPr>
          <a:xfrm>
            <a:off x="3200400" y="3224706"/>
            <a:ext cx="50292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Lidera equipos técnicos. Coordina projectos, revisa código, reporta a gerencia.</a:t>
            </a:r>
          </a:p>
        </p:txBody>
      </p:sp>
      <p:sp>
        <p:nvSpPr>
          <p:cNvPr id="57" name="Shape 17"/>
          <p:cNvSpPr/>
          <p:nvPr/>
        </p:nvSpPr>
        <p:spPr>
          <a:xfrm>
            <a:off x="731520" y="3657600"/>
            <a:ext cx="7680960" cy="54864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18"/>
          <p:cNvSpPr txBox="1"/>
          <p:nvPr/>
        </p:nvSpPr>
        <p:spPr>
          <a:xfrm>
            <a:off x="914400" y="3823970"/>
            <a:ext cx="10972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Staff</a:t>
            </a:r>
          </a:p>
        </p:txBody>
      </p:sp>
      <p:sp>
        <p:nvSpPr>
          <p:cNvPr id="59" name="Text 19"/>
          <p:cNvSpPr txBox="1"/>
          <p:nvPr/>
        </p:nvSpPr>
        <p:spPr>
          <a:xfrm>
            <a:off x="2103120" y="3843020"/>
            <a:ext cx="914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~$162K</a:t>
            </a:r>
          </a:p>
        </p:txBody>
      </p:sp>
      <p:sp>
        <p:nvSpPr>
          <p:cNvPr id="60" name="Text 20"/>
          <p:cNvSpPr txBox="1"/>
          <p:nvPr/>
        </p:nvSpPr>
        <p:spPr>
          <a:xfrm>
            <a:off x="3200400" y="3864786"/>
            <a:ext cx="5029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Experto técnico de alto nivel. Resuelve problemas que nadie más puede resolver.</a:t>
            </a:r>
          </a:p>
        </p:txBody>
      </p:sp>
      <p:sp>
        <p:nvSpPr>
          <p:cNvPr id="61" name="Shape 21"/>
          <p:cNvSpPr/>
          <p:nvPr/>
        </p:nvSpPr>
        <p:spPr>
          <a:xfrm>
            <a:off x="731520" y="4297679"/>
            <a:ext cx="7680960" cy="548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22"/>
          <p:cNvSpPr txBox="1"/>
          <p:nvPr/>
        </p:nvSpPr>
        <p:spPr>
          <a:xfrm>
            <a:off x="914400" y="4464050"/>
            <a:ext cx="10972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Principal</a:t>
            </a:r>
          </a:p>
        </p:txBody>
      </p:sp>
      <p:sp>
        <p:nvSpPr>
          <p:cNvPr id="63" name="Text 23"/>
          <p:cNvSpPr txBox="1"/>
          <p:nvPr/>
        </p:nvSpPr>
        <p:spPr>
          <a:xfrm>
            <a:off x="2103120" y="4483100"/>
            <a:ext cx="914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~$137K</a:t>
            </a:r>
          </a:p>
        </p:txBody>
      </p:sp>
      <p:sp>
        <p:nvSpPr>
          <p:cNvPr id="64" name="Text 24"/>
          <p:cNvSpPr txBox="1"/>
          <p:nvPr/>
        </p:nvSpPr>
        <p:spPr>
          <a:xfrm>
            <a:off x="3200400" y="4504866"/>
            <a:ext cx="5029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Visión estratégica de tecnología. Define la dirección técnica de toda la empresa.</a:t>
            </a:r>
          </a:p>
        </p:txBody>
      </p:sp>
      <p:sp>
        <p:nvSpPr>
          <p:cNvPr id="65" name="Shape 25"/>
          <p:cNvSpPr/>
          <p:nvPr/>
        </p:nvSpPr>
        <p:spPr>
          <a:xfrm>
            <a:off x="731520" y="4107179"/>
            <a:ext cx="7680960" cy="289561"/>
          </a:xfrm>
          <a:prstGeom prst="rect">
            <a:avLst/>
          </a:prstGeom>
          <a:solidFill>
            <a:schemeClr val="accent1">
              <a:satOff val="-3547"/>
              <a:lumOff val="-10352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26"/>
          <p:cNvSpPr txBox="1"/>
          <p:nvPr/>
        </p:nvSpPr>
        <p:spPr>
          <a:xfrm>
            <a:off x="916940" y="4197525"/>
            <a:ext cx="71323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Staff gana más porque es más difícil de encontrar: pocos ingenieros tienen ese nivel de especialización.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 txBox="1"/>
          <p:nvPr/>
        </p:nvSpPr>
        <p:spPr>
          <a:xfrm>
            <a:off x="731520" y="351790"/>
            <a:ext cx="76809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Glosario: ¿Qué significan estos términos?</a:t>
            </a:r>
          </a:p>
        </p:txBody>
      </p:sp>
      <p:sp>
        <p:nvSpPr>
          <p:cNvPr id="69" name="Shape 1"/>
          <p:cNvSpPr/>
          <p:nvPr/>
        </p:nvSpPr>
        <p:spPr>
          <a:xfrm>
            <a:off x="731520" y="878839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2"/>
          <p:cNvSpPr txBox="1"/>
          <p:nvPr/>
        </p:nvSpPr>
        <p:spPr>
          <a:xfrm>
            <a:off x="868680" y="1042714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K-Means</a:t>
            </a:r>
          </a:p>
        </p:txBody>
      </p:sp>
      <p:sp>
        <p:nvSpPr>
          <p:cNvPr id="71" name="Text 3"/>
          <p:cNvSpPr txBox="1"/>
          <p:nvPr/>
        </p:nvSpPr>
        <p:spPr>
          <a:xfrm>
            <a:off x="868680" y="1281474"/>
            <a:ext cx="35661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Agrupa datos en K grupos según similitud. Como separar frutas por tamaño y color.</a:t>
            </a:r>
          </a:p>
        </p:txBody>
      </p:sp>
      <p:sp>
        <p:nvSpPr>
          <p:cNvPr id="72" name="Shape 4"/>
          <p:cNvSpPr/>
          <p:nvPr/>
        </p:nvSpPr>
        <p:spPr>
          <a:xfrm>
            <a:off x="731520" y="1884679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5"/>
          <p:cNvSpPr txBox="1"/>
          <p:nvPr/>
        </p:nvSpPr>
        <p:spPr>
          <a:xfrm>
            <a:off x="868680" y="2044087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Silhouette Score</a:t>
            </a:r>
          </a:p>
        </p:txBody>
      </p:sp>
      <p:sp>
        <p:nvSpPr>
          <p:cNvPr id="74" name="Text 6"/>
          <p:cNvSpPr txBox="1"/>
          <p:nvPr/>
        </p:nvSpPr>
        <p:spPr>
          <a:xfrm>
            <a:off x="868680" y="2282847"/>
            <a:ext cx="356616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Mide qué tan bien está cada punto en su grupo (0-1). &gt;0.4 = buen agrupamiento.</a:t>
            </a:r>
          </a:p>
        </p:txBody>
      </p:sp>
      <p:sp>
        <p:nvSpPr>
          <p:cNvPr id="75" name="Shape 7"/>
          <p:cNvSpPr/>
          <p:nvPr/>
        </p:nvSpPr>
        <p:spPr>
          <a:xfrm>
            <a:off x="731520" y="2890520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8"/>
          <p:cNvSpPr txBox="1"/>
          <p:nvPr/>
        </p:nvSpPr>
        <p:spPr>
          <a:xfrm>
            <a:off x="868680" y="3058862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Árbol de Decisión</a:t>
            </a:r>
          </a:p>
        </p:txBody>
      </p:sp>
      <p:sp>
        <p:nvSpPr>
          <p:cNvPr id="77" name="Text 9"/>
          <p:cNvSpPr txBox="1"/>
          <p:nvPr/>
        </p:nvSpPr>
        <p:spPr>
          <a:xfrm>
            <a:off x="868680" y="3297621"/>
            <a:ext cx="35661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Modelo que hace preguntas sí/no para clasificar. Fácil de entender y explicar.</a:t>
            </a:r>
          </a:p>
        </p:txBody>
      </p:sp>
      <p:sp>
        <p:nvSpPr>
          <p:cNvPr id="78" name="Shape 10"/>
          <p:cNvSpPr/>
          <p:nvPr/>
        </p:nvSpPr>
        <p:spPr>
          <a:xfrm>
            <a:off x="731520" y="3896359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1"/>
          <p:cNvSpPr txBox="1"/>
          <p:nvPr/>
        </p:nvSpPr>
        <p:spPr>
          <a:xfrm>
            <a:off x="868680" y="4072934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IQR</a:t>
            </a:r>
          </a:p>
        </p:txBody>
      </p:sp>
      <p:sp>
        <p:nvSpPr>
          <p:cNvPr id="80" name="Text 12"/>
          <p:cNvSpPr txBox="1"/>
          <p:nvPr/>
        </p:nvSpPr>
        <p:spPr>
          <a:xfrm>
            <a:off x="868680" y="4311694"/>
            <a:ext cx="35661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Método para encontrar valores raros. Elimina extremos que no tienen sentido.</a:t>
            </a:r>
          </a:p>
        </p:txBody>
      </p:sp>
      <p:sp>
        <p:nvSpPr>
          <p:cNvPr id="81" name="Shape 13"/>
          <p:cNvSpPr/>
          <p:nvPr/>
        </p:nvSpPr>
        <p:spPr>
          <a:xfrm>
            <a:off x="4846320" y="878839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4"/>
          <p:cNvSpPr txBox="1"/>
          <p:nvPr/>
        </p:nvSpPr>
        <p:spPr>
          <a:xfrm>
            <a:off x="4983479" y="1042714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Outlier</a:t>
            </a:r>
          </a:p>
        </p:txBody>
      </p:sp>
      <p:sp>
        <p:nvSpPr>
          <p:cNvPr id="83" name="Text 15"/>
          <p:cNvSpPr txBox="1"/>
          <p:nvPr/>
        </p:nvSpPr>
        <p:spPr>
          <a:xfrm>
            <a:off x="4983479" y="1281474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Dato muy diferente a los demás. Ej: un salario de $200 o $400,000.</a:t>
            </a:r>
          </a:p>
        </p:txBody>
      </p:sp>
      <p:sp>
        <p:nvSpPr>
          <p:cNvPr id="84" name="Shape 16"/>
          <p:cNvSpPr/>
          <p:nvPr/>
        </p:nvSpPr>
        <p:spPr>
          <a:xfrm>
            <a:off x="4846320" y="1884679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7"/>
          <p:cNvSpPr txBox="1"/>
          <p:nvPr/>
        </p:nvSpPr>
        <p:spPr>
          <a:xfrm>
            <a:off x="4983479" y="2044087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Feature Importance</a:t>
            </a:r>
          </a:p>
        </p:txBody>
      </p:sp>
      <p:sp>
        <p:nvSpPr>
          <p:cNvPr id="86" name="Text 18"/>
          <p:cNvSpPr txBox="1"/>
          <p:nvPr/>
        </p:nvSpPr>
        <p:spPr>
          <a:xfrm>
            <a:off x="4983479" y="2282847"/>
            <a:ext cx="356616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Qué variable influye más en la predicción. 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Seniority es la más importante.</a:t>
            </a:r>
          </a:p>
        </p:txBody>
      </p:sp>
      <p:sp>
        <p:nvSpPr>
          <p:cNvPr id="87" name="Shape 19"/>
          <p:cNvSpPr/>
          <p:nvPr/>
        </p:nvSpPr>
        <p:spPr>
          <a:xfrm>
            <a:off x="4846320" y="2890520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0"/>
          <p:cNvSpPr txBox="1"/>
          <p:nvPr/>
        </p:nvSpPr>
        <p:spPr>
          <a:xfrm>
            <a:off x="4983479" y="3058862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Prueba T</a:t>
            </a:r>
          </a:p>
        </p:txBody>
      </p:sp>
      <p:sp>
        <p:nvSpPr>
          <p:cNvPr id="89" name="Text 21"/>
          <p:cNvSpPr txBox="1"/>
          <p:nvPr/>
        </p:nvSpPr>
        <p:spPr>
          <a:xfrm>
            <a:off x="4983479" y="3297621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Compara dos grupos para ver si la diferencia es real o por azar.</a:t>
            </a:r>
          </a:p>
        </p:txBody>
      </p:sp>
      <p:sp>
        <p:nvSpPr>
          <p:cNvPr id="90" name="Shape 22"/>
          <p:cNvSpPr/>
          <p:nvPr/>
        </p:nvSpPr>
        <p:spPr>
          <a:xfrm>
            <a:off x="4846320" y="3896359"/>
            <a:ext cx="3840480" cy="8686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23"/>
          <p:cNvSpPr txBox="1"/>
          <p:nvPr/>
        </p:nvSpPr>
        <p:spPr>
          <a:xfrm>
            <a:off x="4983479" y="4047534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Matriz de Confusión</a:t>
            </a:r>
          </a:p>
        </p:txBody>
      </p:sp>
      <p:sp>
        <p:nvSpPr>
          <p:cNvPr id="92" name="Text 24"/>
          <p:cNvSpPr txBox="1"/>
          <p:nvPr/>
        </p:nvSpPr>
        <p:spPr>
          <a:xfrm>
            <a:off x="4983479" y="4286294"/>
            <a:ext cx="35661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Tabla que muestra aciertos y errores del modelo. Cuántas veces acierta vs falla.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731520" y="443229"/>
            <a:ext cx="76809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Limpiamos los datos antes de analizar</a:t>
            </a:r>
          </a:p>
        </p:txBody>
      </p:sp>
      <p:pic>
        <p:nvPicPr>
          <p:cNvPr id="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97280"/>
            <a:ext cx="4114801" cy="2057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54879" y="1097280"/>
            <a:ext cx="4114801" cy="2057401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"/>
          <p:cNvSpPr txBox="1"/>
          <p:nvPr/>
        </p:nvSpPr>
        <p:spPr>
          <a:xfrm>
            <a:off x="274320" y="984426"/>
            <a:ext cx="4114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EF4444"/>
                </a:solidFill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4754879" y="984426"/>
            <a:ext cx="4114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0B981"/>
                </a:solidFill>
              </a:defRPr>
            </a:lvl1pPr>
          </a:lstStyle>
          <a:p>
            <a:pPr/>
            <a:r>
              <a:t>DESPUÉS</a:t>
            </a:r>
          </a:p>
        </p:txBody>
      </p:sp>
      <p:sp>
        <p:nvSpPr>
          <p:cNvPr id="99" name="Shape 3"/>
          <p:cNvSpPr/>
          <p:nvPr/>
        </p:nvSpPr>
        <p:spPr>
          <a:xfrm>
            <a:off x="731520" y="3383279"/>
            <a:ext cx="7680960" cy="146304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4"/>
          <p:cNvSpPr txBox="1"/>
          <p:nvPr/>
        </p:nvSpPr>
        <p:spPr>
          <a:xfrm>
            <a:off x="1005839" y="3520440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334155"/>
                </a:solidFill>
              </a:defRPr>
            </a:lvl1pPr>
          </a:lstStyle>
          <a:p>
            <a:pPr/>
            <a:r>
              <a:t>Había valores raros: salarios de $200 o $400,000 que no tienen sentido. Los corregimos usando el método IQR, que reemplaza los extremos por la mediana real de cada nivel.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¿Cuánto gana cada nivel?</a:t>
            </a:r>
          </a:p>
        </p:txBody>
      </p:sp>
      <p:pic>
        <p:nvPicPr>
          <p:cNvPr id="10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97280"/>
            <a:ext cx="4572001" cy="228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7759" y="1097280"/>
            <a:ext cx="3931921" cy="228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Shape 1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2"/>
          <p:cNvSpPr txBox="1"/>
          <p:nvPr/>
        </p:nvSpPr>
        <p:spPr>
          <a:xfrm>
            <a:off x="1005840" y="4042980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0EA5E9"/>
                </a:solidFill>
              </a:defRPr>
            </a:pPr>
            <a:r>
              <a:t>Dato sorprendente: </a:t>
            </a:r>
            <a:r>
              <a:rPr b="0">
                <a:solidFill>
                  <a:srgbClr val="334155"/>
                </a:solidFill>
              </a:rPr>
              <a:t>Los Staff ganan MÁS que los Principal ($162K vs $137K). Un Junior gana ~$60K y un Senior ~$130K. El mayor salto es al pasar de Junior a Mid (+$54K).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¿El remoto paga más?</a:t>
            </a:r>
          </a:p>
        </p:txBody>
      </p:sp>
      <p:pic>
        <p:nvPicPr>
          <p:cNvPr id="1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97280"/>
            <a:ext cx="3931921" cy="246888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1"/>
          <p:cNvSpPr txBox="1"/>
          <p:nvPr/>
        </p:nvSpPr>
        <p:spPr>
          <a:xfrm>
            <a:off x="4754879" y="1209039"/>
            <a:ext cx="18288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$132,500</a:t>
            </a:r>
          </a:p>
        </p:txBody>
      </p:sp>
      <p:sp>
        <p:nvSpPr>
          <p:cNvPr id="111" name="Text 2"/>
          <p:cNvSpPr txBox="1"/>
          <p:nvPr/>
        </p:nvSpPr>
        <p:spPr>
          <a:xfrm>
            <a:off x="6583680" y="1270307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Remoto permanente</a:t>
            </a:r>
          </a:p>
        </p:txBody>
      </p:sp>
      <p:sp>
        <p:nvSpPr>
          <p:cNvPr id="112" name="Text 3"/>
          <p:cNvSpPr txBox="1"/>
          <p:nvPr/>
        </p:nvSpPr>
        <p:spPr>
          <a:xfrm>
            <a:off x="4754879" y="1849120"/>
            <a:ext cx="18288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$122,500</a:t>
            </a:r>
          </a:p>
        </p:txBody>
      </p:sp>
      <p:sp>
        <p:nvSpPr>
          <p:cNvPr id="113" name="Text 4"/>
          <p:cNvSpPr txBox="1"/>
          <p:nvPr/>
        </p:nvSpPr>
        <p:spPr>
          <a:xfrm>
            <a:off x="6583680" y="1910387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Remoto temporal</a:t>
            </a:r>
          </a:p>
        </p:txBody>
      </p:sp>
      <p:sp>
        <p:nvSpPr>
          <p:cNvPr id="114" name="Text 5"/>
          <p:cNvSpPr txBox="1"/>
          <p:nvPr/>
        </p:nvSpPr>
        <p:spPr>
          <a:xfrm>
            <a:off x="4754879" y="2489200"/>
            <a:ext cx="18288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+$10,000</a:t>
            </a:r>
          </a:p>
        </p:txBody>
      </p:sp>
      <p:sp>
        <p:nvSpPr>
          <p:cNvPr id="115" name="Text 6"/>
          <p:cNvSpPr txBox="1"/>
          <p:nvPr/>
        </p:nvSpPr>
        <p:spPr>
          <a:xfrm>
            <a:off x="6583680" y="2550467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Diferencia real</a:t>
            </a:r>
          </a:p>
        </p:txBody>
      </p:sp>
      <p:sp>
        <p:nvSpPr>
          <p:cNvPr id="116" name="Text 7"/>
          <p:cNvSpPr txBox="1"/>
          <p:nvPr/>
        </p:nvSpPr>
        <p:spPr>
          <a:xfrm>
            <a:off x="4754879" y="3129279"/>
            <a:ext cx="18288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77%</a:t>
            </a:r>
          </a:p>
        </p:txBody>
      </p:sp>
      <p:sp>
        <p:nvSpPr>
          <p:cNvPr id="117" name="Text 8"/>
          <p:cNvSpPr txBox="1"/>
          <p:nvPr/>
        </p:nvSpPr>
        <p:spPr>
          <a:xfrm>
            <a:off x="6583680" y="3190547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Ya son remoto permanente</a:t>
            </a:r>
          </a:p>
        </p:txBody>
      </p:sp>
      <p:sp>
        <p:nvSpPr>
          <p:cNvPr id="118" name="Shape 9"/>
          <p:cNvSpPr/>
          <p:nvPr/>
        </p:nvSpPr>
        <p:spPr>
          <a:xfrm>
            <a:off x="731520" y="3749040"/>
            <a:ext cx="7680960" cy="10972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0"/>
          <p:cNvSpPr txBox="1"/>
          <p:nvPr/>
        </p:nvSpPr>
        <p:spPr>
          <a:xfrm>
            <a:off x="1005840" y="4088700"/>
            <a:ext cx="6069898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34155"/>
                </a:solidFill>
              </a:defRPr>
            </a:pPr>
            <a:r>
              <a:t>Sí, y no es por azar. </a:t>
            </a:r>
            <a:r>
              <a:rPr b="0"/>
              <a:t>La prueba estadística confirma que la diferencia de $10K es real (p = 0.000127). El remoto permanente paga consistentemente más.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¿El remoto paga igual para todos?</a:t>
            </a:r>
          </a:p>
        </p:txBody>
      </p:sp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005839"/>
            <a:ext cx="4389122" cy="23774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63440" y="1005839"/>
            <a:ext cx="4297681" cy="2377441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Shape 1"/>
          <p:cNvSpPr/>
          <p:nvPr/>
        </p:nvSpPr>
        <p:spPr>
          <a:xfrm>
            <a:off x="731520" y="3566159"/>
            <a:ext cx="7680960" cy="128016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"/>
          <p:cNvSpPr txBox="1"/>
          <p:nvPr/>
        </p:nvSpPr>
        <p:spPr>
          <a:xfrm>
            <a:off x="1005840" y="3997260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0EA5E9"/>
                </a:solidFill>
              </a:defRPr>
            </a:pPr>
            <a:r>
              <a:t>No. </a:t>
            </a:r>
            <a:r>
              <a:rPr b="0">
                <a:solidFill>
                  <a:srgbClr val="334155"/>
                </a:solidFill>
              </a:rPr>
              <a:t>El remoto paga más en todos los niveles, pero la ventaja crece con la experiencia. Un Staff remoto gana mucho más que uno presencial. Para Junior, la diferencia es menor.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731520" y="246379"/>
            <a:ext cx="7680960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¿Dónde están las ofertas y qué tan buenas son?</a:t>
            </a:r>
          </a:p>
        </p:txBody>
      </p:sp>
      <p:pic>
        <p:nvPicPr>
          <p:cNvPr id="1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005839"/>
            <a:ext cx="4389122" cy="23774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63440" y="1005839"/>
            <a:ext cx="4297681" cy="237744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Shape 1"/>
          <p:cNvSpPr/>
          <p:nvPr/>
        </p:nvSpPr>
        <p:spPr>
          <a:xfrm>
            <a:off x="731520" y="3566159"/>
            <a:ext cx="7680960" cy="128016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2"/>
          <p:cNvSpPr txBox="1"/>
          <p:nvPr/>
        </p:nvSpPr>
        <p:spPr>
          <a:xfrm>
            <a:off x="1005839" y="3882960"/>
            <a:ext cx="7132320" cy="64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34155"/>
                </a:solidFill>
              </a:defRPr>
            </a:pPr>
            <a:r>
              <a:t>Remoto supera a todas las ciudades. </a:t>
            </a:r>
            <a:r>
              <a:rPr b="0"/>
              <a:t>Las empresas que buscan Staff/Principal tienen mejor reputación (rating 3.4-3.5) que las que buscan Junior (rating 2.0). Las mejores empresas quieren perfiles senior.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¿Quiénes contratan urgentemente?</a:t>
            </a:r>
          </a:p>
        </p:txBody>
      </p:sp>
      <p:pic>
        <p:nvPicPr>
          <p:cNvPr id="1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97280"/>
            <a:ext cx="4572000" cy="2560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1"/>
          <p:cNvSpPr txBox="1"/>
          <p:nvPr/>
        </p:nvSpPr>
        <p:spPr>
          <a:xfrm>
            <a:off x="5303520" y="1287780"/>
            <a:ext cx="1371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14.9%</a:t>
            </a:r>
          </a:p>
        </p:txBody>
      </p:sp>
      <p:sp>
        <p:nvSpPr>
          <p:cNvPr id="136" name="Text 2"/>
          <p:cNvSpPr txBox="1"/>
          <p:nvPr/>
        </p:nvSpPr>
        <p:spPr>
          <a:xfrm>
            <a:off x="6675119" y="1361747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4155"/>
                </a:solidFill>
              </a:defRPr>
            </a:lvl1pPr>
          </a:lstStyle>
          <a:p>
            <a:pPr/>
            <a:r>
              <a:t>Senior — más urgencia</a:t>
            </a:r>
          </a:p>
        </p:txBody>
      </p:sp>
      <p:sp>
        <p:nvSpPr>
          <p:cNvPr id="137" name="Text 3"/>
          <p:cNvSpPr txBox="1"/>
          <p:nvPr/>
        </p:nvSpPr>
        <p:spPr>
          <a:xfrm>
            <a:off x="5303520" y="1973580"/>
            <a:ext cx="1371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C729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13.8%</a:t>
            </a:r>
          </a:p>
        </p:txBody>
      </p:sp>
      <p:sp>
        <p:nvSpPr>
          <p:cNvPr id="138" name="Text 4"/>
          <p:cNvSpPr txBox="1"/>
          <p:nvPr/>
        </p:nvSpPr>
        <p:spPr>
          <a:xfrm>
            <a:off x="6675119" y="2047547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4155"/>
                </a:solidFill>
              </a:defRPr>
            </a:lvl1pPr>
          </a:lstStyle>
          <a:p>
            <a:pPr/>
            <a:r>
              <a:t>Lead — alta demanda</a:t>
            </a:r>
          </a:p>
        </p:txBody>
      </p:sp>
      <p:sp>
        <p:nvSpPr>
          <p:cNvPr id="139" name="Text 5"/>
          <p:cNvSpPr txBox="1"/>
          <p:nvPr/>
        </p:nvSpPr>
        <p:spPr>
          <a:xfrm>
            <a:off x="5303520" y="2659380"/>
            <a:ext cx="1371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64748B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3.3%</a:t>
            </a:r>
          </a:p>
        </p:txBody>
      </p:sp>
      <p:sp>
        <p:nvSpPr>
          <p:cNvPr id="140" name="Text 6"/>
          <p:cNvSpPr txBox="1"/>
          <p:nvPr/>
        </p:nvSpPr>
        <p:spPr>
          <a:xfrm>
            <a:off x="6675119" y="2733347"/>
            <a:ext cx="21945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334155"/>
                </a:solidFill>
              </a:defRPr>
            </a:lvl1pPr>
          </a:lstStyle>
          <a:p>
            <a:pPr/>
            <a:r>
              <a:t>Staff — sin prisa</a:t>
            </a:r>
          </a:p>
        </p:txBody>
      </p:sp>
      <p:sp>
        <p:nvSpPr>
          <p:cNvPr id="141" name="Shape 7"/>
          <p:cNvSpPr/>
          <p:nvPr/>
        </p:nvSpPr>
        <p:spPr>
          <a:xfrm>
            <a:off x="731520" y="4023359"/>
            <a:ext cx="7680960" cy="82296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8"/>
          <p:cNvSpPr txBox="1"/>
          <p:nvPr/>
        </p:nvSpPr>
        <p:spPr>
          <a:xfrm>
            <a:off x="1005839" y="4225860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334155"/>
                </a:solidFill>
              </a:defRPr>
            </a:lvl1pPr>
          </a:lstStyle>
          <a:p>
            <a:pPr/>
            <a:r>
              <a:t>Senior y Lead son los más urgentes. Las empresas necesitan gente con experiencia YA. Staff y Principal son roles estratégicos que se llenan con calma.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 txBox="1"/>
          <p:nvPr/>
        </p:nvSpPr>
        <p:spPr>
          <a:xfrm>
            <a:off x="731520" y="443229"/>
            <a:ext cx="76809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Agrupamos las ofertas en 4 tipos de mercado</a:t>
            </a:r>
          </a:p>
        </p:txBody>
      </p:sp>
      <p:pic>
        <p:nvPicPr>
          <p:cNvPr id="14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05839"/>
            <a:ext cx="5029200" cy="2377441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Shape 1"/>
          <p:cNvSpPr/>
          <p:nvPr/>
        </p:nvSpPr>
        <p:spPr>
          <a:xfrm>
            <a:off x="5760720" y="1005839"/>
            <a:ext cx="3200401" cy="237744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"/>
          <p:cNvSpPr txBox="1"/>
          <p:nvPr/>
        </p:nvSpPr>
        <p:spPr>
          <a:xfrm>
            <a:off x="5943600" y="1185480"/>
            <a:ext cx="28346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</a:defRPr>
            </a:lvl1pPr>
          </a:lstStyle>
          <a:p>
            <a:pPr/>
            <a:r>
              <a:t>Validación de K=4</a:t>
            </a:r>
          </a:p>
        </p:txBody>
      </p:sp>
      <p:sp>
        <p:nvSpPr>
          <p:cNvPr id="148" name="Text 3"/>
          <p:cNvSpPr txBox="1"/>
          <p:nvPr/>
        </p:nvSpPr>
        <p:spPr>
          <a:xfrm>
            <a:off x="5943600" y="1583689"/>
            <a:ext cx="2743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0B981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9" name="Text 4"/>
          <p:cNvSpPr txBox="1"/>
          <p:nvPr/>
        </p:nvSpPr>
        <p:spPr>
          <a:xfrm>
            <a:off x="6217920" y="1624506"/>
            <a:ext cx="1645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334155"/>
                </a:solidFill>
              </a:defRPr>
            </a:lvl1pPr>
          </a:lstStyle>
          <a:p>
            <a:pPr/>
            <a:r>
              <a:t>Silhouette Score</a:t>
            </a:r>
          </a:p>
        </p:txBody>
      </p:sp>
      <p:sp>
        <p:nvSpPr>
          <p:cNvPr id="150" name="Text 5"/>
          <p:cNvSpPr txBox="1"/>
          <p:nvPr/>
        </p:nvSpPr>
        <p:spPr>
          <a:xfrm>
            <a:off x="7863840" y="1583689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0.42</a:t>
            </a:r>
          </a:p>
        </p:txBody>
      </p:sp>
      <p:sp>
        <p:nvSpPr>
          <p:cNvPr id="151" name="Text 6"/>
          <p:cNvSpPr txBox="1"/>
          <p:nvPr/>
        </p:nvSpPr>
        <p:spPr>
          <a:xfrm>
            <a:off x="5943600" y="2132330"/>
            <a:ext cx="2743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0B981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2" name="Text 7"/>
          <p:cNvSpPr txBox="1"/>
          <p:nvPr/>
        </p:nvSpPr>
        <p:spPr>
          <a:xfrm>
            <a:off x="6217920" y="2173146"/>
            <a:ext cx="16459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334155"/>
                </a:solidFill>
              </a:defRPr>
            </a:lvl1pPr>
          </a:lstStyle>
          <a:p>
            <a:pPr/>
            <a:r>
              <a:t>Davies-Bouldin</a:t>
            </a:r>
          </a:p>
        </p:txBody>
      </p:sp>
      <p:sp>
        <p:nvSpPr>
          <p:cNvPr id="153" name="Text 8"/>
          <p:cNvSpPr txBox="1"/>
          <p:nvPr/>
        </p:nvSpPr>
        <p:spPr>
          <a:xfrm>
            <a:off x="7863840" y="2132330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0.65</a:t>
            </a:r>
          </a:p>
        </p:txBody>
      </p:sp>
      <p:sp>
        <p:nvSpPr>
          <p:cNvPr id="154" name="Text 9"/>
          <p:cNvSpPr txBox="1"/>
          <p:nvPr/>
        </p:nvSpPr>
        <p:spPr>
          <a:xfrm>
            <a:off x="5943600" y="2680970"/>
            <a:ext cx="2743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0B981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5" name="Text 10"/>
          <p:cNvSpPr txBox="1"/>
          <p:nvPr/>
        </p:nvSpPr>
        <p:spPr>
          <a:xfrm>
            <a:off x="6217920" y="2721786"/>
            <a:ext cx="1645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334155"/>
                </a:solidFill>
              </a:defRPr>
            </a:lvl1pPr>
          </a:lstStyle>
          <a:p>
            <a:pPr/>
            <a:r>
              <a:t>Calinski-Harabasz</a:t>
            </a:r>
          </a:p>
        </p:txBody>
      </p:sp>
      <p:sp>
        <p:nvSpPr>
          <p:cNvPr id="156" name="Text 11"/>
          <p:cNvSpPr txBox="1"/>
          <p:nvPr/>
        </p:nvSpPr>
        <p:spPr>
          <a:xfrm>
            <a:off x="7863840" y="2680970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548.1</a:t>
            </a:r>
          </a:p>
        </p:txBody>
      </p:sp>
      <p:sp>
        <p:nvSpPr>
          <p:cNvPr id="157" name="Text 12"/>
          <p:cNvSpPr txBox="1"/>
          <p:nvPr/>
        </p:nvSpPr>
        <p:spPr>
          <a:xfrm>
            <a:off x="5943600" y="3086144"/>
            <a:ext cx="2834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10B981"/>
                </a:solidFill>
              </a:defRPr>
            </a:lvl1pPr>
          </a:lstStyle>
          <a:p>
            <a:pPr/>
            <a:r>
              <a:t>K=4 es óptimo según 3 criterios</a:t>
            </a:r>
          </a:p>
        </p:txBody>
      </p:sp>
      <p:sp>
        <p:nvSpPr>
          <p:cNvPr id="158" name="Shape 13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4"/>
          <p:cNvSpPr txBox="1"/>
          <p:nvPr/>
        </p:nvSpPr>
        <p:spPr>
          <a:xfrm>
            <a:off x="1005840" y="4001946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334155"/>
                </a:solidFill>
              </a:defRPr>
            </a:lvl1pPr>
          </a:lstStyle>
          <a:p>
            <a:pPr/>
            <a:r>
              <a:t>Usamos K-Means para agrupar las ofertas. El resultado: 4 tiers de mercado — Premium (pocos, bien pagados), Enterprise (empresas grandes), Growth (en crecimiento) y Entry (principiantes).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Los 4 tipos de mercado identificados</a:t>
            </a:r>
          </a:p>
        </p:txBody>
      </p:sp>
      <p:pic>
        <p:nvPicPr>
          <p:cNvPr id="16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05839"/>
            <a:ext cx="5658530" cy="329223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hape 1"/>
          <p:cNvSpPr/>
          <p:nvPr/>
        </p:nvSpPr>
        <p:spPr>
          <a:xfrm>
            <a:off x="6252890" y="1383030"/>
            <a:ext cx="137161" cy="457201"/>
          </a:xfrm>
          <a:prstGeom prst="rect">
            <a:avLst/>
          </a:prstGeom>
          <a:solidFill>
            <a:srgbClr val="0EA5E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2"/>
          <p:cNvSpPr txBox="1"/>
          <p:nvPr/>
        </p:nvSpPr>
        <p:spPr>
          <a:xfrm>
            <a:off x="6527210" y="141394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1295C"/>
                </a:solidFill>
              </a:defRPr>
            </a:lvl1pPr>
          </a:lstStyle>
          <a:p>
            <a:pPr/>
            <a:r>
              <a:t>Tier Premium</a:t>
            </a:r>
          </a:p>
        </p:txBody>
      </p:sp>
      <p:sp>
        <p:nvSpPr>
          <p:cNvPr id="165" name="Text 3"/>
          <p:cNvSpPr txBox="1"/>
          <p:nvPr/>
        </p:nvSpPr>
        <p:spPr>
          <a:xfrm>
            <a:off x="6527210" y="1658796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Senior/Staff, remoto, &gt;$150K</a:t>
            </a:r>
          </a:p>
        </p:txBody>
      </p:sp>
      <p:sp>
        <p:nvSpPr>
          <p:cNvPr id="166" name="Shape 4"/>
          <p:cNvSpPr/>
          <p:nvPr/>
        </p:nvSpPr>
        <p:spPr>
          <a:xfrm>
            <a:off x="6252890" y="2023110"/>
            <a:ext cx="137161" cy="457201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5"/>
          <p:cNvSpPr txBox="1"/>
          <p:nvPr/>
        </p:nvSpPr>
        <p:spPr>
          <a:xfrm>
            <a:off x="6527210" y="205402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1295C"/>
                </a:solidFill>
              </a:defRPr>
            </a:lvl1pPr>
          </a:lstStyle>
          <a:p>
            <a:pPr/>
            <a:r>
              <a:t>Tier Enterprise</a:t>
            </a:r>
          </a:p>
        </p:txBody>
      </p:sp>
      <p:sp>
        <p:nvSpPr>
          <p:cNvPr id="168" name="Text 6"/>
          <p:cNvSpPr txBox="1"/>
          <p:nvPr/>
        </p:nvSpPr>
        <p:spPr>
          <a:xfrm>
            <a:off x="6527210" y="2298876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Senior/Lead, presencial, $120-150K</a:t>
            </a:r>
          </a:p>
        </p:txBody>
      </p:sp>
      <p:sp>
        <p:nvSpPr>
          <p:cNvPr id="169" name="Shape 7"/>
          <p:cNvSpPr/>
          <p:nvPr/>
        </p:nvSpPr>
        <p:spPr>
          <a:xfrm>
            <a:off x="6252890" y="2663189"/>
            <a:ext cx="137161" cy="45720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8"/>
          <p:cNvSpPr txBox="1"/>
          <p:nvPr/>
        </p:nvSpPr>
        <p:spPr>
          <a:xfrm>
            <a:off x="6527210" y="269410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1295C"/>
                </a:solidFill>
              </a:defRPr>
            </a:lvl1pPr>
          </a:lstStyle>
          <a:p>
            <a:pPr/>
            <a:r>
              <a:t>Tier Growth</a:t>
            </a:r>
          </a:p>
        </p:txBody>
      </p:sp>
      <p:sp>
        <p:nvSpPr>
          <p:cNvPr id="171" name="Text 9"/>
          <p:cNvSpPr txBox="1"/>
          <p:nvPr/>
        </p:nvSpPr>
        <p:spPr>
          <a:xfrm>
            <a:off x="6527210" y="2938956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Mid-level, mixto, $90-120K</a:t>
            </a:r>
          </a:p>
        </p:txBody>
      </p:sp>
      <p:sp>
        <p:nvSpPr>
          <p:cNvPr id="172" name="Shape 10"/>
          <p:cNvSpPr/>
          <p:nvPr/>
        </p:nvSpPr>
        <p:spPr>
          <a:xfrm>
            <a:off x="6252890" y="3303270"/>
            <a:ext cx="137161" cy="457201"/>
          </a:xfrm>
          <a:prstGeom prst="rect">
            <a:avLst/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1"/>
          <p:cNvSpPr txBox="1"/>
          <p:nvPr/>
        </p:nvSpPr>
        <p:spPr>
          <a:xfrm>
            <a:off x="6527210" y="3334189"/>
            <a:ext cx="2743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1295C"/>
                </a:solidFill>
              </a:defRPr>
            </a:lvl1pPr>
          </a:lstStyle>
          <a:p>
            <a:pPr/>
            <a:r>
              <a:t>Tier Entry</a:t>
            </a:r>
          </a:p>
        </p:txBody>
      </p:sp>
      <p:sp>
        <p:nvSpPr>
          <p:cNvPr id="174" name="Text 12"/>
          <p:cNvSpPr txBox="1"/>
          <p:nvPr/>
        </p:nvSpPr>
        <p:spPr>
          <a:xfrm>
            <a:off x="6527210" y="3579035"/>
            <a:ext cx="2743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Junior/Mid, &lt;$90K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 txBox="1"/>
          <p:nvPr/>
        </p:nvSpPr>
        <p:spPr>
          <a:xfrm>
            <a:off x="731520" y="37845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¿Puedo predecir cuánto gana alguien?</a:t>
            </a:r>
          </a:p>
        </p:txBody>
      </p:sp>
      <p:pic>
        <p:nvPicPr>
          <p:cNvPr id="1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914400"/>
            <a:ext cx="4114801" cy="2560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914400"/>
            <a:ext cx="4389121" cy="256032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Shape 1"/>
          <p:cNvSpPr/>
          <p:nvPr/>
        </p:nvSpPr>
        <p:spPr>
          <a:xfrm>
            <a:off x="731520" y="3749040"/>
            <a:ext cx="7680960" cy="10972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"/>
          <p:cNvSpPr txBox="1"/>
          <p:nvPr/>
        </p:nvSpPr>
        <p:spPr>
          <a:xfrm>
            <a:off x="1005840" y="4088700"/>
            <a:ext cx="6041937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334155"/>
                </a:solidFill>
              </a:defRPr>
            </a:lvl1pPr>
          </a:lstStyle>
          <a:p>
            <a:pPr/>
            <a:r>
              <a:t>Sí, con ~62% de precisión. Funciona mejor con Mid y Senior (hay muchos datos). Falla con Junior y Staff (pocos ejemplos).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¿Qué importa más para el salario?</a:t>
            </a:r>
          </a:p>
        </p:txBody>
      </p:sp>
      <p:pic>
        <p:nvPicPr>
          <p:cNvPr id="1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05839"/>
            <a:ext cx="8229600" cy="292608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Shape 1"/>
          <p:cNvSpPr/>
          <p:nvPr/>
        </p:nvSpPr>
        <p:spPr>
          <a:xfrm>
            <a:off x="731520" y="3749040"/>
            <a:ext cx="7680960" cy="109728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2"/>
          <p:cNvSpPr txBox="1"/>
          <p:nvPr/>
        </p:nvSpPr>
        <p:spPr>
          <a:xfrm>
            <a:off x="1005839" y="4081779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34155"/>
                </a:solidFill>
              </a:defRPr>
            </a:pPr>
            <a:r>
              <a:t>El seniority es lo más importante. </a:t>
            </a:r>
            <a:r>
              <a:rPr b="0"/>
              <a:t>Le siguen el rating de la empresa y si trabaja remoto. La ubicación importa menos de lo que se cree.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¿Qué tan predecible es el salario?</a:t>
            </a:r>
          </a:p>
        </p:txBody>
      </p:sp>
      <p:pic>
        <p:nvPicPr>
          <p:cNvPr id="18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97280"/>
            <a:ext cx="8229600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1"/>
          <p:cNvSpPr/>
          <p:nvPr/>
        </p:nvSpPr>
        <p:spPr>
          <a:xfrm>
            <a:off x="731520" y="3840479"/>
            <a:ext cx="7680960" cy="1005840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2"/>
          <p:cNvSpPr txBox="1"/>
          <p:nvPr/>
        </p:nvSpPr>
        <p:spPr>
          <a:xfrm>
            <a:off x="1005839" y="3931920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334155"/>
                </a:solidFill>
              </a:defRPr>
            </a:lvl1pPr>
          </a:lstStyle>
          <a:p>
            <a:pPr/>
            <a:r>
              <a:t>Staff y Principal tienen los salarios más estables. Mid tiene la mayor incertidumbre — el rango es muy amplio para ese nivel.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 txBox="1"/>
          <p:nvPr/>
        </p:nvSpPr>
        <p:spPr>
          <a:xfrm>
            <a:off x="731520" y="424179"/>
            <a:ext cx="768096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Validación del modelo</a:t>
            </a:r>
          </a:p>
        </p:txBody>
      </p:sp>
      <p:pic>
        <p:nvPicPr>
          <p:cNvPr id="19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97280"/>
            <a:ext cx="4572000" cy="228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hape 1"/>
          <p:cNvSpPr/>
          <p:nvPr/>
        </p:nvSpPr>
        <p:spPr>
          <a:xfrm>
            <a:off x="5303520" y="1097280"/>
            <a:ext cx="3566160" cy="228600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2"/>
          <p:cNvSpPr txBox="1"/>
          <p:nvPr/>
        </p:nvSpPr>
        <p:spPr>
          <a:xfrm>
            <a:off x="5486400" y="1242499"/>
            <a:ext cx="32004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1295C"/>
                </a:solidFill>
              </a:defRPr>
            </a:lvl1pPr>
          </a:lstStyle>
          <a:p>
            <a:pPr/>
            <a:r>
              <a:t>Accuracy por Seniority</a:t>
            </a:r>
          </a:p>
        </p:txBody>
      </p:sp>
      <p:sp>
        <p:nvSpPr>
          <p:cNvPr id="196" name="Text 3"/>
          <p:cNvSpPr txBox="1"/>
          <p:nvPr/>
        </p:nvSpPr>
        <p:spPr>
          <a:xfrm>
            <a:off x="5486400" y="1624506"/>
            <a:ext cx="1097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Mid</a:t>
            </a:r>
          </a:p>
        </p:txBody>
      </p:sp>
      <p:sp>
        <p:nvSpPr>
          <p:cNvPr id="197" name="Text 4"/>
          <p:cNvSpPr txBox="1"/>
          <p:nvPr/>
        </p:nvSpPr>
        <p:spPr>
          <a:xfrm>
            <a:off x="6583680" y="1590039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0B981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68%</a:t>
            </a:r>
          </a:p>
        </p:txBody>
      </p:sp>
      <p:sp>
        <p:nvSpPr>
          <p:cNvPr id="198" name="Text 5"/>
          <p:cNvSpPr txBox="1"/>
          <p:nvPr/>
        </p:nvSpPr>
        <p:spPr>
          <a:xfrm>
            <a:off x="7498080" y="1609089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10B981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9" name="Text 6"/>
          <p:cNvSpPr txBox="1"/>
          <p:nvPr/>
        </p:nvSpPr>
        <p:spPr>
          <a:xfrm>
            <a:off x="5486400" y="1971978"/>
            <a:ext cx="1097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Senior</a:t>
            </a:r>
          </a:p>
        </p:txBody>
      </p:sp>
      <p:sp>
        <p:nvSpPr>
          <p:cNvPr id="200" name="Text 7"/>
          <p:cNvSpPr txBox="1"/>
          <p:nvPr/>
        </p:nvSpPr>
        <p:spPr>
          <a:xfrm>
            <a:off x="6583680" y="1937511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0B981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67%</a:t>
            </a:r>
          </a:p>
        </p:txBody>
      </p:sp>
      <p:sp>
        <p:nvSpPr>
          <p:cNvPr id="201" name="Text 8"/>
          <p:cNvSpPr txBox="1"/>
          <p:nvPr/>
        </p:nvSpPr>
        <p:spPr>
          <a:xfrm>
            <a:off x="7498080" y="1956561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10B981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2" name="Text 9"/>
          <p:cNvSpPr txBox="1"/>
          <p:nvPr/>
        </p:nvSpPr>
        <p:spPr>
          <a:xfrm>
            <a:off x="5486400" y="2319450"/>
            <a:ext cx="1097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Lead</a:t>
            </a:r>
          </a:p>
        </p:txBody>
      </p:sp>
      <p:sp>
        <p:nvSpPr>
          <p:cNvPr id="203" name="Text 10"/>
          <p:cNvSpPr txBox="1"/>
          <p:nvPr/>
        </p:nvSpPr>
        <p:spPr>
          <a:xfrm>
            <a:off x="6583680" y="2284983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63%</a:t>
            </a:r>
          </a:p>
        </p:txBody>
      </p:sp>
      <p:sp>
        <p:nvSpPr>
          <p:cNvPr id="204" name="Text 11"/>
          <p:cNvSpPr txBox="1"/>
          <p:nvPr/>
        </p:nvSpPr>
        <p:spPr>
          <a:xfrm>
            <a:off x="7498080" y="2319450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97316"/>
                </a:solidFill>
              </a:defRPr>
            </a:lvl1pPr>
          </a:lstStyle>
          <a:p>
            <a:pPr/>
            <a:r>
              <a:t>~</a:t>
            </a:r>
          </a:p>
        </p:txBody>
      </p:sp>
      <p:sp>
        <p:nvSpPr>
          <p:cNvPr id="205" name="Text 12"/>
          <p:cNvSpPr txBox="1"/>
          <p:nvPr/>
        </p:nvSpPr>
        <p:spPr>
          <a:xfrm>
            <a:off x="5486400" y="2666922"/>
            <a:ext cx="1097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Staff</a:t>
            </a:r>
          </a:p>
        </p:txBody>
      </p:sp>
      <p:sp>
        <p:nvSpPr>
          <p:cNvPr id="206" name="Text 13"/>
          <p:cNvSpPr txBox="1"/>
          <p:nvPr/>
        </p:nvSpPr>
        <p:spPr>
          <a:xfrm>
            <a:off x="6583680" y="2632455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EF4444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58%</a:t>
            </a:r>
          </a:p>
        </p:txBody>
      </p:sp>
      <p:sp>
        <p:nvSpPr>
          <p:cNvPr id="207" name="Text 14"/>
          <p:cNvSpPr txBox="1"/>
          <p:nvPr/>
        </p:nvSpPr>
        <p:spPr>
          <a:xfrm>
            <a:off x="7498080" y="2666922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EF4444"/>
                </a:solidFill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208" name="Text 15"/>
          <p:cNvSpPr txBox="1"/>
          <p:nvPr/>
        </p:nvSpPr>
        <p:spPr>
          <a:xfrm>
            <a:off x="5486400" y="3014394"/>
            <a:ext cx="1097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Junior</a:t>
            </a:r>
          </a:p>
        </p:txBody>
      </p:sp>
      <p:sp>
        <p:nvSpPr>
          <p:cNvPr id="209" name="Text 16"/>
          <p:cNvSpPr txBox="1"/>
          <p:nvPr/>
        </p:nvSpPr>
        <p:spPr>
          <a:xfrm>
            <a:off x="6583680" y="2979927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EF4444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54%</a:t>
            </a:r>
          </a:p>
        </p:txBody>
      </p:sp>
      <p:sp>
        <p:nvSpPr>
          <p:cNvPr id="210" name="Text 17"/>
          <p:cNvSpPr txBox="1"/>
          <p:nvPr/>
        </p:nvSpPr>
        <p:spPr>
          <a:xfrm>
            <a:off x="7498080" y="3014394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EF4444"/>
                </a:solidFill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211" name="Shape 18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19"/>
          <p:cNvSpPr txBox="1"/>
          <p:nvPr/>
        </p:nvSpPr>
        <p:spPr>
          <a:xfrm>
            <a:off x="1005839" y="4018788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Las clases están balanceadas. El modelo acierta más del 60% en los niveles con más datos.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Para niveles con pocos ejemplos, usa reglas simples.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 txBox="1"/>
          <p:nvPr/>
        </p:nvSpPr>
        <p:spPr>
          <a:xfrm>
            <a:off x="731520" y="443229"/>
            <a:ext cx="76809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21295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¿Por qué Staff gana más que Principal?</a:t>
            </a:r>
          </a:p>
        </p:txBody>
      </p:sp>
      <p:sp>
        <p:nvSpPr>
          <p:cNvPr id="215" name="Shape 1"/>
          <p:cNvSpPr/>
          <p:nvPr/>
        </p:nvSpPr>
        <p:spPr>
          <a:xfrm>
            <a:off x="731519" y="1097280"/>
            <a:ext cx="3657601" cy="274320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2"/>
          <p:cNvSpPr txBox="1"/>
          <p:nvPr/>
        </p:nvSpPr>
        <p:spPr>
          <a:xfrm>
            <a:off x="731519" y="1245869"/>
            <a:ext cx="3657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STAFF</a:t>
            </a:r>
          </a:p>
        </p:txBody>
      </p:sp>
      <p:sp>
        <p:nvSpPr>
          <p:cNvPr id="217" name="Text 3"/>
          <p:cNvSpPr txBox="1"/>
          <p:nvPr/>
        </p:nvSpPr>
        <p:spPr>
          <a:xfrm>
            <a:off x="914400" y="1807386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Salario mediano</a:t>
            </a:r>
          </a:p>
        </p:txBody>
      </p:sp>
      <p:sp>
        <p:nvSpPr>
          <p:cNvPr id="218" name="Text 4"/>
          <p:cNvSpPr txBox="1"/>
          <p:nvPr/>
        </p:nvSpPr>
        <p:spPr>
          <a:xfrm>
            <a:off x="2743200" y="1772920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$162,000</a:t>
            </a:r>
          </a:p>
        </p:txBody>
      </p:sp>
      <p:sp>
        <p:nvSpPr>
          <p:cNvPr id="219" name="Text 5"/>
          <p:cNvSpPr txBox="1"/>
          <p:nvPr/>
        </p:nvSpPr>
        <p:spPr>
          <a:xfrm>
            <a:off x="914400" y="2191434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Rating empresa</a:t>
            </a:r>
          </a:p>
        </p:txBody>
      </p:sp>
      <p:sp>
        <p:nvSpPr>
          <p:cNvPr id="220" name="Text 6"/>
          <p:cNvSpPr txBox="1"/>
          <p:nvPr/>
        </p:nvSpPr>
        <p:spPr>
          <a:xfrm>
            <a:off x="2743200" y="2156967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3.48</a:t>
            </a:r>
          </a:p>
        </p:txBody>
      </p:sp>
      <p:sp>
        <p:nvSpPr>
          <p:cNvPr id="221" name="Text 7"/>
          <p:cNvSpPr txBox="1"/>
          <p:nvPr/>
        </p:nvSpPr>
        <p:spPr>
          <a:xfrm>
            <a:off x="914400" y="2575482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Review count</a:t>
            </a:r>
          </a:p>
        </p:txBody>
      </p:sp>
      <p:sp>
        <p:nvSpPr>
          <p:cNvPr id="222" name="Text 8"/>
          <p:cNvSpPr txBox="1"/>
          <p:nvPr/>
        </p:nvSpPr>
        <p:spPr>
          <a:xfrm>
            <a:off x="2743200" y="2541016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10,476</a:t>
            </a:r>
          </a:p>
        </p:txBody>
      </p:sp>
      <p:sp>
        <p:nvSpPr>
          <p:cNvPr id="223" name="Text 9"/>
          <p:cNvSpPr txBox="1"/>
          <p:nvPr/>
        </p:nvSpPr>
        <p:spPr>
          <a:xfrm>
            <a:off x="914400" y="2959530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Desv. estándar</a:t>
            </a:r>
          </a:p>
        </p:txBody>
      </p:sp>
      <p:sp>
        <p:nvSpPr>
          <p:cNvPr id="224" name="Text 10"/>
          <p:cNvSpPr txBox="1"/>
          <p:nvPr/>
        </p:nvSpPr>
        <p:spPr>
          <a:xfrm>
            <a:off x="2743200" y="2925064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$42,000</a:t>
            </a:r>
          </a:p>
        </p:txBody>
      </p:sp>
      <p:sp>
        <p:nvSpPr>
          <p:cNvPr id="225" name="Text 11"/>
          <p:cNvSpPr txBox="1"/>
          <p:nvPr/>
        </p:nvSpPr>
        <p:spPr>
          <a:xfrm>
            <a:off x="914400" y="3343578"/>
            <a:ext cx="1828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CV</a:t>
            </a:r>
          </a:p>
        </p:txBody>
      </p:sp>
      <p:sp>
        <p:nvSpPr>
          <p:cNvPr id="226" name="Text 12"/>
          <p:cNvSpPr txBox="1"/>
          <p:nvPr/>
        </p:nvSpPr>
        <p:spPr>
          <a:xfrm>
            <a:off x="2743200" y="3309111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26%</a:t>
            </a:r>
          </a:p>
        </p:txBody>
      </p:sp>
      <p:sp>
        <p:nvSpPr>
          <p:cNvPr id="227" name="Shape 13"/>
          <p:cNvSpPr/>
          <p:nvPr/>
        </p:nvSpPr>
        <p:spPr>
          <a:xfrm>
            <a:off x="4754879" y="1097280"/>
            <a:ext cx="3657601" cy="2743201"/>
          </a:xfrm>
          <a:prstGeom prst="rect">
            <a:avLst/>
          </a:prstGeom>
          <a:solidFill>
            <a:srgbClr val="E8F0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4"/>
          <p:cNvSpPr txBox="1"/>
          <p:nvPr/>
        </p:nvSpPr>
        <p:spPr>
          <a:xfrm>
            <a:off x="4754879" y="1245869"/>
            <a:ext cx="3657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PRINCIPAL</a:t>
            </a:r>
          </a:p>
        </p:txBody>
      </p:sp>
      <p:sp>
        <p:nvSpPr>
          <p:cNvPr id="229" name="Text 15"/>
          <p:cNvSpPr txBox="1"/>
          <p:nvPr/>
        </p:nvSpPr>
        <p:spPr>
          <a:xfrm>
            <a:off x="4937759" y="1807386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Salario mediano</a:t>
            </a:r>
          </a:p>
        </p:txBody>
      </p:sp>
      <p:sp>
        <p:nvSpPr>
          <p:cNvPr id="230" name="Text 16"/>
          <p:cNvSpPr txBox="1"/>
          <p:nvPr/>
        </p:nvSpPr>
        <p:spPr>
          <a:xfrm>
            <a:off x="6766559" y="1772920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$137,000</a:t>
            </a:r>
          </a:p>
        </p:txBody>
      </p:sp>
      <p:sp>
        <p:nvSpPr>
          <p:cNvPr id="231" name="Text 17"/>
          <p:cNvSpPr txBox="1"/>
          <p:nvPr/>
        </p:nvSpPr>
        <p:spPr>
          <a:xfrm>
            <a:off x="4937759" y="2191434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Rating empresa</a:t>
            </a:r>
          </a:p>
        </p:txBody>
      </p:sp>
      <p:sp>
        <p:nvSpPr>
          <p:cNvPr id="232" name="Text 18"/>
          <p:cNvSpPr txBox="1"/>
          <p:nvPr/>
        </p:nvSpPr>
        <p:spPr>
          <a:xfrm>
            <a:off x="6766559" y="2156967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3.32</a:t>
            </a:r>
          </a:p>
        </p:txBody>
      </p:sp>
      <p:sp>
        <p:nvSpPr>
          <p:cNvPr id="233" name="Text 19"/>
          <p:cNvSpPr txBox="1"/>
          <p:nvPr/>
        </p:nvSpPr>
        <p:spPr>
          <a:xfrm>
            <a:off x="4937759" y="2575482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Review count</a:t>
            </a:r>
          </a:p>
        </p:txBody>
      </p:sp>
      <p:sp>
        <p:nvSpPr>
          <p:cNvPr id="234" name="Text 20"/>
          <p:cNvSpPr txBox="1"/>
          <p:nvPr/>
        </p:nvSpPr>
        <p:spPr>
          <a:xfrm>
            <a:off x="6766559" y="2541016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9,234</a:t>
            </a:r>
          </a:p>
        </p:txBody>
      </p:sp>
      <p:sp>
        <p:nvSpPr>
          <p:cNvPr id="235" name="Text 21"/>
          <p:cNvSpPr txBox="1"/>
          <p:nvPr/>
        </p:nvSpPr>
        <p:spPr>
          <a:xfrm>
            <a:off x="4937759" y="2959530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Desv. estándar</a:t>
            </a:r>
          </a:p>
        </p:txBody>
      </p:sp>
      <p:sp>
        <p:nvSpPr>
          <p:cNvPr id="236" name="Text 22"/>
          <p:cNvSpPr txBox="1"/>
          <p:nvPr/>
        </p:nvSpPr>
        <p:spPr>
          <a:xfrm>
            <a:off x="6766559" y="2925064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$48,000</a:t>
            </a:r>
          </a:p>
        </p:txBody>
      </p:sp>
      <p:sp>
        <p:nvSpPr>
          <p:cNvPr id="237" name="Text 23"/>
          <p:cNvSpPr txBox="1"/>
          <p:nvPr/>
        </p:nvSpPr>
        <p:spPr>
          <a:xfrm>
            <a:off x="4937759" y="3343578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CV</a:t>
            </a:r>
          </a:p>
        </p:txBody>
      </p:sp>
      <p:sp>
        <p:nvSpPr>
          <p:cNvPr id="238" name="Text 24"/>
          <p:cNvSpPr txBox="1"/>
          <p:nvPr/>
        </p:nvSpPr>
        <p:spPr>
          <a:xfrm>
            <a:off x="6766559" y="3309111"/>
            <a:ext cx="1463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F97316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35%</a:t>
            </a:r>
          </a:p>
        </p:txBody>
      </p:sp>
      <p:sp>
        <p:nvSpPr>
          <p:cNvPr id="239" name="Shape 25"/>
          <p:cNvSpPr/>
          <p:nvPr/>
        </p:nvSpPr>
        <p:spPr>
          <a:xfrm>
            <a:off x="731520" y="4114800"/>
            <a:ext cx="7680960" cy="731521"/>
          </a:xfrm>
          <a:prstGeom prst="rect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26"/>
          <p:cNvSpPr txBox="1"/>
          <p:nvPr/>
        </p:nvSpPr>
        <p:spPr>
          <a:xfrm>
            <a:off x="1005839" y="4271580"/>
            <a:ext cx="713232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Staff es más selectivo y especializado. Solo grandes empresas lo contratan. Principal es más amplio y aparece en empresas variadas. Por eso Staff paga más.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1"/>
          <p:cNvSpPr txBox="1"/>
          <p:nvPr/>
        </p:nvSpPr>
        <p:spPr>
          <a:xfrm>
            <a:off x="731520" y="346709"/>
            <a:ext cx="768096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Conclusiones Clave</a:t>
            </a:r>
          </a:p>
        </p:txBody>
      </p:sp>
      <p:sp>
        <p:nvSpPr>
          <p:cNvPr id="244" name="Text 2"/>
          <p:cNvSpPr txBox="1"/>
          <p:nvPr/>
        </p:nvSpPr>
        <p:spPr>
          <a:xfrm>
            <a:off x="731519" y="1201419"/>
            <a:ext cx="54864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5" name="Text 3"/>
          <p:cNvSpPr txBox="1"/>
          <p:nvPr/>
        </p:nvSpPr>
        <p:spPr>
          <a:xfrm>
            <a:off x="1371599" y="1227916"/>
            <a:ext cx="70408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La experiencia vale $70,000</a:t>
            </a:r>
          </a:p>
        </p:txBody>
      </p:sp>
      <p:sp>
        <p:nvSpPr>
          <p:cNvPr id="246" name="Text 4"/>
          <p:cNvSpPr txBox="1"/>
          <p:nvPr/>
        </p:nvSpPr>
        <p:spPr>
          <a:xfrm>
            <a:off x="1371599" y="1585399"/>
            <a:ext cx="70408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C4D8"/>
                </a:solidFill>
              </a:defRPr>
            </a:lvl1pPr>
          </a:lstStyle>
          <a:p>
            <a:pPr/>
            <a:r>
              <a:t>Junior ~$60K → Senior ~$130K. El mayor salto es Junior → Mid.</a:t>
            </a:r>
          </a:p>
        </p:txBody>
      </p:sp>
      <p:sp>
        <p:nvSpPr>
          <p:cNvPr id="247" name="Text 5"/>
          <p:cNvSpPr txBox="1"/>
          <p:nvPr/>
        </p:nvSpPr>
        <p:spPr>
          <a:xfrm>
            <a:off x="731519" y="2070100"/>
            <a:ext cx="54864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48" name="Text 6"/>
          <p:cNvSpPr txBox="1"/>
          <p:nvPr/>
        </p:nvSpPr>
        <p:spPr>
          <a:xfrm>
            <a:off x="1371599" y="2096596"/>
            <a:ext cx="70408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El remoto permanente paga $10K más</a:t>
            </a:r>
          </a:p>
        </p:txBody>
      </p:sp>
      <p:sp>
        <p:nvSpPr>
          <p:cNvPr id="249" name="Text 7"/>
          <p:cNvSpPr txBox="1"/>
          <p:nvPr/>
        </p:nvSpPr>
        <p:spPr>
          <a:xfrm>
            <a:off x="1371599" y="2454079"/>
            <a:ext cx="70408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C4D8"/>
                </a:solidFill>
              </a:defRPr>
            </a:lvl1pPr>
          </a:lstStyle>
          <a:p>
            <a:pPr/>
            <a:r>
              <a:t>No es suerte: la prueba estadística lo confirma.</a:t>
            </a:r>
          </a:p>
        </p:txBody>
      </p:sp>
      <p:sp>
        <p:nvSpPr>
          <p:cNvPr id="250" name="Text 8"/>
          <p:cNvSpPr txBox="1"/>
          <p:nvPr/>
        </p:nvSpPr>
        <p:spPr>
          <a:xfrm>
            <a:off x="731519" y="2938779"/>
            <a:ext cx="54864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51" name="Text 9"/>
          <p:cNvSpPr txBox="1"/>
          <p:nvPr/>
        </p:nvSpPr>
        <p:spPr>
          <a:xfrm>
            <a:off x="1371599" y="2965276"/>
            <a:ext cx="70408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Staff gana más que Principal</a:t>
            </a:r>
          </a:p>
        </p:txBody>
      </p:sp>
      <p:sp>
        <p:nvSpPr>
          <p:cNvPr id="252" name="Text 10"/>
          <p:cNvSpPr txBox="1"/>
          <p:nvPr/>
        </p:nvSpPr>
        <p:spPr>
          <a:xfrm>
            <a:off x="1371599" y="3322759"/>
            <a:ext cx="70408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C4D8"/>
                </a:solidFill>
              </a:defRPr>
            </a:lvl1pPr>
          </a:lstStyle>
          <a:p>
            <a:pPr/>
            <a:r>
              <a:t>$162K vs $137K. Staff es más selectivo y especializado.</a:t>
            </a:r>
          </a:p>
        </p:txBody>
      </p:sp>
      <p:sp>
        <p:nvSpPr>
          <p:cNvPr id="253" name="Text 11"/>
          <p:cNvSpPr txBox="1"/>
          <p:nvPr/>
        </p:nvSpPr>
        <p:spPr>
          <a:xfrm>
            <a:off x="731519" y="3807459"/>
            <a:ext cx="54864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EA5E9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54" name="Text 12"/>
          <p:cNvSpPr txBox="1"/>
          <p:nvPr/>
        </p:nvSpPr>
        <p:spPr>
          <a:xfrm>
            <a:off x="1371599" y="3833956"/>
            <a:ext cx="70408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Hay 4 tipos de mercado</a:t>
            </a:r>
          </a:p>
        </p:txBody>
      </p:sp>
      <p:sp>
        <p:nvSpPr>
          <p:cNvPr id="255" name="Text 13"/>
          <p:cNvSpPr txBox="1"/>
          <p:nvPr/>
        </p:nvSpPr>
        <p:spPr>
          <a:xfrm>
            <a:off x="1371599" y="4191439"/>
            <a:ext cx="70408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C4D8"/>
                </a:solidFill>
              </a:defRPr>
            </a:lvl1pPr>
          </a:lstStyle>
          <a:p>
            <a:pPr/>
            <a:r>
              <a:t>Premium, Enterprise, Growth y Entry — cada uno con perfil claro.</a:t>
            </a:r>
          </a:p>
        </p:txBody>
      </p:sp>
      <p:sp>
        <p:nvSpPr>
          <p:cNvPr id="256" name="Text 14"/>
          <p:cNvSpPr txBox="1"/>
          <p:nvPr/>
        </p:nvSpPr>
        <p:spPr>
          <a:xfrm>
            <a:off x="731520" y="4732064"/>
            <a:ext cx="76809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A0B4C8"/>
                </a:solidFill>
              </a:defRPr>
            </a:lvl1pPr>
          </a:lstStyle>
          <a:p>
            <a:pPr/>
            <a:r>
              <a:t>Carlos Gil Carrillo  |  ISIL, 2026-1  |  Análisis Estadístico y Data Mining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