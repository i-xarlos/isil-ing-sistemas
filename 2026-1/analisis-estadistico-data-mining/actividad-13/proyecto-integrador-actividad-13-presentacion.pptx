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 Efecto del Seniority y el Remoto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 el Mercado Laboral de Ingenieros de Software en EE.UU.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Estadístico y Data Mining — Proyecto Integrador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Gil Carrillo  |  ISIL, 2026-1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Contexto del Problema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3774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58,433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analizadas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280160"/>
            <a:ext cx="23774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salario conocido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3774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$130K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21792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mediano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017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Guía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3832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relacionan el nivel de seniority (Junior → Principal) y la modalidad de trabajo (remoto vs presencial) con el salario y la calidad percibida de las empresas que contratan ingenieros de software en EE.UU.?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Limpieza de Datos: Tratamiento de Outliers Salariales</a:t>
            </a:r>
            <a:endParaRPr lang="en-US" sz="2600" dirty="0"/>
          </a:p>
        </p:txBody>
      </p:sp>
      <p:pic>
        <p:nvPicPr>
          <p:cNvPr id="3" name="Image 0" descr="/Users/carlosgil/isil/2026-1/analisis-estadistico-data-mining/actividad-13/01-salary-boxplot-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4114800" cy="2057400"/>
          </a:xfrm>
          <a:prstGeom prst="rect">
            <a:avLst/>
          </a:prstGeom>
        </p:spPr>
      </p:pic>
      <p:pic>
        <p:nvPicPr>
          <p:cNvPr id="4" name="Image 1" descr="/Users/carlosgil/isil/2026-1/analisis-estadistico-data-mining/actividad-13/02-salary-boxplot-despu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114800" cy="2057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31520" y="3383280"/>
            <a:ext cx="7680960" cy="146304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8" name="Text 4"/>
          <p:cNvSpPr/>
          <p:nvPr/>
        </p:nvSpPr>
        <p:spPr>
          <a:xfrm>
            <a:off x="1005840" y="352044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limpiar, hay valores raros: salarios de $200 o $400,000 que no tienen sentido para un ingeniero. Usamos el método IQR para identificar y corregir estos casos, reemplazándolos por la mediana real de su nivel de experiencia.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Distribución Salarial por Nivel de Seniority</a:t>
            </a:r>
            <a:endParaRPr lang="en-US" sz="2600" dirty="0"/>
          </a:p>
        </p:txBody>
      </p:sp>
      <p:pic>
        <p:nvPicPr>
          <p:cNvPr id="3" name="Image 0" descr="/Users/carlosgil/isil/2026-1/analisis-estadistico-data-mining/actividad-13/03-salary-by-seniority-box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4572000" cy="2286000"/>
          </a:xfrm>
          <a:prstGeom prst="rect">
            <a:avLst/>
          </a:prstGeom>
        </p:spPr>
      </p:pic>
      <p:pic>
        <p:nvPicPr>
          <p:cNvPr id="4" name="Image 1" descr="/Users/carlosgil/isil/2026-1/analisis-estadistico-data-mining/actividad-13/04-salary-median-by-senio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931920" cy="2286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31520" y="3657600"/>
            <a:ext cx="7680960" cy="118872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6" name="Text 2"/>
          <p:cNvSpPr/>
          <p:nvPr/>
        </p:nvSpPr>
        <p:spPr>
          <a:xfrm>
            <a:off x="1005840" y="37490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sorprendente: 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ingenieros Staff ganan MÁS que los Principal ($162K vs $137K). La brecha entre Junior y Senior es de $70,000 — el mayor salto ocurre al pasar de Junior a Mid (+$54K).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 Efecto del Trabajo Remoto en Salarios</a:t>
            </a:r>
            <a:endParaRPr lang="en-US" sz="2600" dirty="0"/>
          </a:p>
        </p:txBody>
      </p:sp>
      <p:pic>
        <p:nvPicPr>
          <p:cNvPr id="3" name="Image 0" descr="/Users/carlosgil/isil/2026-1/analisis-estadistico-data-mining/actividad-13/05-salary-by-remote-box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931920" cy="2468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$132,500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58368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Remoto permanente (mediana)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5488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$122,500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836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Remoto temporal (mediana)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5488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+$10,000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68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del remoto permanente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77%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8368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son remoto permanente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3749040"/>
            <a:ext cx="7680960" cy="109728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8404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T confirma: 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de $10,000 NO es por azar (p = 0.000127). El remoto permanente paga consistentemente más que el temporal. El 77% de los puestos con modalidad conocida ya son remoto permanente.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Interacción: Seniority × Modalidad Remota</a:t>
            </a:r>
            <a:endParaRPr lang="en-US" sz="2600" dirty="0"/>
          </a:p>
        </p:txBody>
      </p:sp>
      <p:pic>
        <p:nvPicPr>
          <p:cNvPr id="3" name="Image 0" descr="/Users/carlosgil/isil/2026-1/analisis-estadistico-data-mining/actividad-13/06-salary-seniority-remote-inter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4389120" cy="2377440"/>
          </a:xfrm>
          <a:prstGeom prst="rect">
            <a:avLst/>
          </a:prstGeom>
        </p:spPr>
      </p:pic>
      <p:pic>
        <p:nvPicPr>
          <p:cNvPr id="4" name="Image 1" descr="/Users/carlosgil/isil/2026-1/analisis-estadistico-data-mining/actividad-13/07-salary-seniority-remote-barpl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297680" cy="23774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31520" y="3566160"/>
            <a:ext cx="7680960" cy="128016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6" name="Text 2"/>
          <p:cNvSpPr/>
          <p:nvPr/>
        </p:nvSpPr>
        <p:spPr>
          <a:xfrm>
            <a:off x="1005840" y="36576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remoto paga más en TODOS los niveles. 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la ventaja crece con la experiencia: un Staff remoto gana significativamente más que uno presencial. Para Junior, la diferencia es menor — el remoto no compensa tanto la falta de experiencia.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Ubicaciones y Calidad de Empresa</a:t>
            </a:r>
            <a:endParaRPr lang="en-US" sz="2600" dirty="0"/>
          </a:p>
        </p:txBody>
      </p:sp>
      <p:pic>
        <p:nvPicPr>
          <p:cNvPr id="3" name="Image 0" descr="/Users/carlosgil/isil/2026-1/analisis-estadistico-data-mining/actividad-13/08-top-lo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4389120" cy="2377440"/>
          </a:xfrm>
          <a:prstGeom prst="rect">
            <a:avLst/>
          </a:prstGeom>
        </p:spPr>
      </p:pic>
      <p:pic>
        <p:nvPicPr>
          <p:cNvPr id="4" name="Image 1" descr="/Users/carlosgil/isil/2026-1/analisis-estadistico-data-mining/actividad-13/09-rating-by-senio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297680" cy="23774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31520" y="3566160"/>
            <a:ext cx="7680960" cy="128016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6" name="Text 2"/>
          <p:cNvSpPr/>
          <p:nvPr/>
        </p:nvSpPr>
        <p:spPr>
          <a:xfrm>
            <a:off x="1005840" y="36576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Remoto supera a todas las ciudades 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ubicación más popular. Las empresas que buscan Staff y Principal tienen mejor reputación (rating 3.4-3.5) que las que buscan Junior (rating 2.0-2.5). Las mejores empresas quieren perfiles senior.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Urgencia de Contratación por Seniority</a:t>
            </a:r>
            <a:endParaRPr lang="en-US" sz="2600" dirty="0"/>
          </a:p>
        </p:txBody>
      </p:sp>
      <p:pic>
        <p:nvPicPr>
          <p:cNvPr id="3" name="Image 0" descr="/Users/carlosgil/isil/2026-1/analisis-estadistico-data-mining/actividad-13/10-urgency-by-senio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2560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14.9%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67512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— mayor urgencia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30352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13.8%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67512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— alta demanda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0352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3.3%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67512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— menor urgencia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035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5.6%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0" y="3337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— posiciones estratégicas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41148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puestos Senior y Lead son los más urgentes (14.9% y 13.8%). Las empresas necesitan gente con experiencia YA. En cambio, Staff y Principal tienen poca urgencia — son roles estratégicos que se llenan con calma.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Segmentación del Mercado: K-Means Clustering</a:t>
            </a:r>
            <a:endParaRPr lang="en-US" sz="2600" dirty="0"/>
          </a:p>
        </p:txBody>
      </p:sp>
      <p:pic>
        <p:nvPicPr>
          <p:cNvPr id="3" name="Image 0" descr="/Users/carlosgil/isil/2026-1/analisis-estadistico-data-mining/actividad-13/11-elbow-silhouet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029200" cy="2377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1005840"/>
            <a:ext cx="3200400" cy="237744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5" name="Text 2"/>
          <p:cNvSpPr/>
          <p:nvPr/>
        </p:nvSpPr>
        <p:spPr>
          <a:xfrm>
            <a:off x="5943600" y="1097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K=4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63840" y="1554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6384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0.65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1792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6384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548.1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943600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es óptimo según 3 criterios independientes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1520" y="3657600"/>
            <a:ext cx="7680960" cy="118872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37490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agrupó las 58,000 ofertas en 4 tipos de mercado: Premium (pocos pero bien pagados), Enterprise (empresas grandes), Growth (en crecimiento) y Entry (principiantes). Cada tier tiene características claras de salario, seniority y modalidad.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Segmentación: Seniority vs Salario por Cluster</a:t>
            </a:r>
            <a:endParaRPr lang="en-US" sz="2600" dirty="0"/>
          </a:p>
        </p:txBody>
      </p:sp>
      <p:pic>
        <p:nvPicPr>
          <p:cNvPr id="3" name="Image 0" descr="/Users/carlosgil/isil/2026-1/analisis-estadistico-data-mining/actividad-13/12-clusters-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02920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1188720"/>
            <a:ext cx="13716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2"/>
          <p:cNvSpPr/>
          <p:nvPr/>
        </p:nvSpPr>
        <p:spPr>
          <a:xfrm>
            <a:off x="603504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Premium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3504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Senior/Staff, remoto, &gt;$150K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760720" y="1828800"/>
            <a:ext cx="1371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Enterprise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3504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Senior/Lead, presencial, $120-150K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2468880"/>
            <a:ext cx="1371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2468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Growth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35040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Mid-level, modalidad mixta, $90-120K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3108960"/>
            <a:ext cx="13716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3108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Entry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3504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Junior/Mid, &lt;$90K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Predicción del Nivel Salarial</a:t>
            </a:r>
            <a:endParaRPr lang="en-US" sz="2600" dirty="0"/>
          </a:p>
        </p:txBody>
      </p:sp>
      <p:pic>
        <p:nvPicPr>
          <p:cNvPr id="3" name="Image 0" descr="/Users/carlosgil/isil/2026-1/analisis-estadistico-data-mining/actividad-13/13-confusion-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4114800" cy="2560320"/>
          </a:xfrm>
          <a:prstGeom prst="rect">
            <a:avLst/>
          </a:prstGeom>
        </p:spPr>
      </p:pic>
      <p:pic>
        <p:nvPicPr>
          <p:cNvPr id="4" name="Image 1" descr="/Users/carlosgil/isil/2026-1/analisis-estadistico-data-mining/actividad-13/13b-confusion-matrix-normaliz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4389120" cy="25603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31520" y="3749040"/>
            <a:ext cx="7680960" cy="109728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6" name="Text 2"/>
          <p:cNvSpPr/>
          <p:nvPr/>
        </p:nvSpPr>
        <p:spPr>
          <a:xfrm>
            <a:off x="1005840" y="38404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acierta más del 60% de las veces. Funciona mejor con Mid y Senior (muchos datos para aprender). Falla con Junior y Staff (pocos ejemplos). Para pocos datos, es mejor usar reglas simples.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¿Qué Variables Predicen el Salario?</a:t>
            </a:r>
            <a:endParaRPr lang="en-US" sz="2600" dirty="0"/>
          </a:p>
        </p:txBody>
      </p:sp>
      <p:pic>
        <p:nvPicPr>
          <p:cNvPr id="3" name="Image 0" descr="/Users/carlosgil/isil/2026-1/analisis-estadistico-data-mining/actividad-13/14-feature-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 Variables en la Predicción del Nivel Salarial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3749040"/>
            <a:ext cx="7680960" cy="109728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8404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de seniority es lo MÁS importante 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predecir cuánto gana alguien. Le siguen el rating de la empresa y si trabaja remoto. La ubicación importa menos de lo que se espera.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Coeficiente de Variación: Predicibilidad Salarial</a:t>
            </a:r>
            <a:endParaRPr lang="en-US" sz="2600" dirty="0"/>
          </a:p>
        </p:txBody>
      </p:sp>
      <p:pic>
        <p:nvPicPr>
          <p:cNvPr id="3" name="Image 0" descr="/Users/carlosgil/isil/2026-1/analisis-estadistico-data-mining/actividad-13/16-coefficient-vari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39319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coeficiente de variación mide qué tan predecible es el salario. Staff y Principal tienen los salarios más estables (baja variabilidad). Mid tiene la mayor incertidumbre — el rango salarial es muy amplio para ese nivel.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Validación del Modelo: Balanceo y Distribución</a:t>
            </a:r>
            <a:endParaRPr lang="en-US" sz="2600" dirty="0"/>
          </a:p>
        </p:txBody>
      </p:sp>
      <p:pic>
        <p:nvPicPr>
          <p:cNvPr id="3" name="Image 0" descr="/Users/carlosgil/isil/2026-1/analisis-estadistico-data-mining/actividad-13/17-class-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2286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0" y="1097280"/>
            <a:ext cx="3566160" cy="228600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por Seniority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0" y="1554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68%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0" y="1901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1901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67%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8080" y="1901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0" y="22494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0" y="22494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63%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98080" y="22494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0" y="2596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83680" y="25968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58%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498080" y="2596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0" y="2944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83680" y="29443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54%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498080" y="2944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" y="3657600"/>
            <a:ext cx="7680960" cy="118872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37490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categorías salariales (Bajo, Medio, Alto) están bien balanceadas — el modelo no tiene preferencia por ninguna. El accuracy supera el 60% en los niveles con más datos. Para niveles con pocos ejemplos, el modelo no es confiable.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¿Por Qué Staff Gana Más Que Principal?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274320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STAFF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mediano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$162,000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empresa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3.48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count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5054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10,476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estándar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889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$42,000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657600" cy="274320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PRINCIPAL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mediano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$137,000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empresa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3.32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count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25054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9,234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estándar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889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$48,000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1605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es un rol técnico muy selectivo que solo grandes empresas de alto rating contratan. Principal es más amplio y aparece en empresas variadas, incluyendo pequeñas. Por eso Staff paga más: es más difícil de conseguir y más especializado.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Conclusiones y Recomendaciones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experiencia vale $70,000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Junior gana ~$60K, un Senior gana ~$130K. El mayor salto es al pasar de Junior a Mid.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remoto permanente paga $10K más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suerte: la prueba estadística confirma que la diferencia es real y consistente.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29260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gana más que Principal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461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$162K vs $137K. Staff es más selectivo y especializado. Principal es más heterogéneo.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7947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4 tipos de mercado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1148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Enterprise, Growth y Entry — cada uno con perfil claro de salario y empresa.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Gil Carrillo  |  ISIL, 2026-1  |  Análisis Estadístico y Data Mining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Efecto del Seniority y el Remoto en el Mercado Laboral de Ingenieros de Software en EE.UU.</dc:title>
  <dc:subject>PptxGenJS Presentation</dc:subject>
  <dc:creator>Carlos Gil Carrillo</dc:creator>
  <cp:lastModifiedBy>Carlos Gil Carrillo</cp:lastModifiedBy>
  <cp:revision>1</cp:revision>
  <dcterms:created xsi:type="dcterms:W3CDTF">2026-07-11T12:24:15Z</dcterms:created>
  <dcterms:modified xsi:type="dcterms:W3CDTF">2026-07-11T12:24:15Z</dcterms:modified>
</cp:coreProperties>
</file>