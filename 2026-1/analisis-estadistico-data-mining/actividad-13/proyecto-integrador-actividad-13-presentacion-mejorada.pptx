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El Efecto del Seniority y el Remoto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 el Mercado Laboral de Ingenieros de Software en EE.UU.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 y Data Mining — Proyecto Integrador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Gil Carrillo  |  ISIL, 2026-1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¿Qué problema queremos resolver?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58,433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analizadas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28016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salario conocido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$130K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mediano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Guía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influyen el nivel de experiencia y el trabajo remoto en el salario de los ingenieros de software en EE.UU.?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¿Qué hace cada posición?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Junior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097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~$60K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097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Recién egresado o con 0-2 años. Aprende, hace tareas simples, necesita supervisión constante.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737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~$114K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737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2-5 años. Trabaja solo, resuelve problemas complejos, ya no necesita supervisión directa.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Senior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~$130K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5-8 años. Diseña sistemas, guía a Juniors, toma decisiones técnicas importantes.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17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017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~$121K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017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equipos técnicos. Coordina projetos, revisa código, reporta a gerencia.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3657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~$162K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657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 técnico de alto nivel. Resuelve problemas que nadie más puede resolver.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Principal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~$137K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4297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estratégica de tecnología. Define la dirección técnica de toda la empresa.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572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gana más porque es más difícil de encontrar: pocos ingenieros tienen ese nivel de especialización.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Glosario: ¿Qué significan estos términos?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840480" cy="8686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K-Means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datos en K grupos según similitud. Como separar frutas por tamaño y color.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840480" cy="8686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Silhouette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bien está cada punto en su grupo (0-1). &gt;0.4 = buen agrupamiento.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840480" cy="8686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Árbol de Decisión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que hace preguntas sí/no para clasificar. Fácil de entender y explicar.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3840480" cy="8686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IQR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343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para encontrar valores raros. Elimina extremos que no tienen sentido.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840480" cy="8686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Outlier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325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muy diferente a los demás. Ej: un salario de $200 o $400,000.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011680"/>
            <a:ext cx="3840480" cy="8686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variable influye más en la predicción. Seniority es la más importante.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3840480" cy="8686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Prueba 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337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dos grupos para ver si la diferencia es real o por azar.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4023360"/>
            <a:ext cx="3840480" cy="8686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Matriz de Confusión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4343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que muestra aciertos y errores del modelo. Cuántas veces acierta vs falla.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Limpiamos los datos antes de analizar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01-salary-boxplot-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114800" cy="205740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02-salary-boxplot-despu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2057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31520" y="3383280"/>
            <a:ext cx="7680960" cy="14630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8" name="Text 4"/>
          <p:cNvSpPr/>
          <p:nvPr/>
        </p:nvSpPr>
        <p:spPr>
          <a:xfrm>
            <a:off x="1005840" y="352044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Había valores raros: salarios de $200 o $400,000 que no tienen sentido. Los corregimos usando el método IQR, que reemplaza los extremos por la mediana real de cada nivel.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¿Cuánto gana cada nivel?</a:t>
            </a:r>
            <a:endParaRPr lang="en-US" sz="2800" dirty="0"/>
          </a:p>
        </p:txBody>
      </p:sp>
      <p:pic>
        <p:nvPicPr>
          <p:cNvPr id="3" name="Image 0" descr="/Users/carlosgil/isil/2026-1/analisis-estadistico-data-mining/actividad-13/03-salary-by-seniority-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572000" cy="228600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04-salary-median-by-senio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931920" cy="2286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2"/>
          <p:cNvSpPr/>
          <p:nvPr/>
        </p:nvSpPr>
        <p:spPr>
          <a:xfrm>
            <a:off x="1005840" y="3749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sorprendente: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Staff ganan MÁS que los Principal ($162K vs $137K). Un Junior gana ~$60K y un Senior ~$130K. El mayor salto es al pasar de Junior a Mid (+$54K).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¿El remoto paga más?</a:t>
            </a:r>
            <a:endParaRPr lang="en-US" sz="2800" dirty="0"/>
          </a:p>
        </p:txBody>
      </p:sp>
      <p:pic>
        <p:nvPicPr>
          <p:cNvPr id="3" name="Image 0" descr="/Users/carlosgil/isil/2026-1/analisis-estadistico-data-mining/actividad-13/05-salary-by-remote-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31920" cy="246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$132,500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5836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 permanente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548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$122,500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 temporal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5488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+$10,000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real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77%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son remoto permanente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8404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y no es por azar.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estadística confirma que la diferencia de $10K es real (p = 0.000127). El remoto permanente paga consistentemente más.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¿El remoto paga igual para todos?</a:t>
            </a:r>
            <a:endParaRPr lang="en-US" sz="2800" dirty="0"/>
          </a:p>
        </p:txBody>
      </p:sp>
      <p:pic>
        <p:nvPicPr>
          <p:cNvPr id="3" name="Image 0" descr="/Users/carlosgil/isil/2026-1/analisis-estadistico-data-mining/actividad-13/06-salary-seniority-remote-inte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4389120" cy="237744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07-salary-seniority-remote-bar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97680" cy="23774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2"/>
          <p:cNvSpPr/>
          <p:nvPr/>
        </p:nvSpPr>
        <p:spPr>
          <a:xfrm>
            <a:off x="1005840" y="3657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remoto paga más en todos los niveles, pero la ventaja crece con la experiencia. Un Staff remoto gana mucho más que uno presencial. Para Junior, la diferencia es menor.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¿Dónde están las ofertas y qué tan buenas son?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08-top-lo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4389120" cy="237744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09-rating-by-senio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97680" cy="23774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2"/>
          <p:cNvSpPr/>
          <p:nvPr/>
        </p:nvSpPr>
        <p:spPr>
          <a:xfrm>
            <a:off x="1005840" y="3657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 supera a todas las ciudades.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que buscan Staff/Principal tienen mejor reputación (rating 3.4-3.5) que las que buscan Junior (rating 2.0). Las mejores empresas quieren perfiles senior.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¿Quiénes contratan urgentemente?</a:t>
            </a:r>
            <a:endParaRPr lang="en-US" sz="2800" dirty="0"/>
          </a:p>
        </p:txBody>
      </p:sp>
      <p:pic>
        <p:nvPicPr>
          <p:cNvPr id="3" name="Image 0" descr="/Users/carlosgil/isil/2026-1/analisis-estadistico-data-mining/actividad-13/10-urgency-by-senio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280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14.9%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6751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— más urgencia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0352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13.8%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6751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alta demanda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3.3%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67512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sin prisa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y Lead son los más urgentes. Las empresas necesitan gente con experiencia YA. Staff y Principal son roles estratégicos que se llenan con calma.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Agrupamos las ofertas en 4 tipos de mercado</a:t>
            </a:r>
            <a:endParaRPr lang="en-US" sz="2600" dirty="0"/>
          </a:p>
        </p:txBody>
      </p:sp>
      <p:pic>
        <p:nvPicPr>
          <p:cNvPr id="3" name="Image 0" descr="/Users/carlosgil/isil/2026-1/analisis-estadistico-data-mining/actividad-13/11-elbow-silhou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029200" cy="2377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005840"/>
            <a:ext cx="3200400" cy="23774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2"/>
          <p:cNvSpPr/>
          <p:nvPr/>
        </p:nvSpPr>
        <p:spPr>
          <a:xfrm>
            <a:off x="594360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K=4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6384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0.42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0.65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6384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548.1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4360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es óptimo según 3 criterios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749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K-Means para agrupar las ofertas. El resultado: 4 tiers de mercado — Premium (pocos, bien pagados), Enterprise (empresas grandes), Growth (en crecimiento) y Entry (principiantes).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Los 4 tipos de mercado identificados</a:t>
            </a:r>
            <a:endParaRPr lang="en-US" sz="2800" dirty="0"/>
          </a:p>
        </p:txBody>
      </p:sp>
      <p:pic>
        <p:nvPicPr>
          <p:cNvPr id="3" name="Image 0" descr="/Users/carlosgil/isil/2026-1/analisis-estadistico-data-mining/actividad-13/12-clusters-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02920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188720"/>
            <a:ext cx="13716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2"/>
          <p:cNvSpPr/>
          <p:nvPr/>
        </p:nvSpPr>
        <p:spPr>
          <a:xfrm>
            <a:off x="60350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Premium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Senior/Staff, remoto, &gt;$150K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760720" y="1828800"/>
            <a:ext cx="1371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Enterprise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Senior/Lead, presencial, $120-150K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468880"/>
            <a:ext cx="1371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Growth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Mid-level, mixto, $90-120K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3108960"/>
            <a:ext cx="13716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Entry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3504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Junior/Mid, &lt;$90K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¿Puedo predecir cuánto gana alguien?</a:t>
            </a:r>
            <a:endParaRPr lang="en-US" sz="2800" dirty="0"/>
          </a:p>
        </p:txBody>
      </p:sp>
      <p:pic>
        <p:nvPicPr>
          <p:cNvPr id="3" name="Image 0" descr="/Users/carlosgil/isil/2026-1/analisis-estadistico-data-mining/actividad-13/13-confusion-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4114800" cy="2560320"/>
          </a:xfrm>
          <a:prstGeom prst="rect">
            <a:avLst/>
          </a:prstGeom>
        </p:spPr>
      </p:pic>
      <p:pic>
        <p:nvPicPr>
          <p:cNvPr id="4" name="Image 1" descr="/Users/carlosgil/isil/2026-1/analisis-estadistico-data-mining/actividad-13/13b-confusion-matrix-normaliz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389120" cy="25603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2"/>
          <p:cNvSpPr/>
          <p:nvPr/>
        </p:nvSpPr>
        <p:spPr>
          <a:xfrm>
            <a:off x="1005840" y="38404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con ~62% de precisión. Funciona mejor con Mid y Senior (hay muchos datos). Falla con Junior y Staff (pocos ejemplos).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¿Qué importa más para el salario?</a:t>
            </a:r>
            <a:endParaRPr lang="en-US" sz="2800" dirty="0"/>
          </a:p>
        </p:txBody>
      </p:sp>
      <p:pic>
        <p:nvPicPr>
          <p:cNvPr id="3" name="Image 0" descr="/Users/carlosgil/isil/2026-1/analisis-estadistico-data-mining/actividad-13/14-feature-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38404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seniority es lo más importante.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siguen el rating de la empresa y si trabaja remoto. La ubicación importa menos de lo que se cree.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¿Qué tan predecible es el salario?</a:t>
            </a:r>
            <a:endParaRPr lang="en-US" sz="2800" dirty="0"/>
          </a:p>
        </p:txBody>
      </p:sp>
      <p:pic>
        <p:nvPicPr>
          <p:cNvPr id="3" name="Image 0" descr="/Users/carlosgil/isil/2026-1/analisis-estadistico-data-mining/actividad-13/16-coefficient-vari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3931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y Principal tienen los salarios más estables. Mid tiene la mayor incertidumbre — el rango es muy amplio para ese nivel.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Validación del modelo</a:t>
            </a:r>
            <a:endParaRPr lang="en-US" sz="2800" dirty="0"/>
          </a:p>
        </p:txBody>
      </p:sp>
      <p:pic>
        <p:nvPicPr>
          <p:cNvPr id="3" name="Image 0" descr="/Users/carlosgil/isil/2026-1/analisis-estadistico-data-mining/actividad-13/17-class-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0" y="1097280"/>
            <a:ext cx="3566160" cy="228600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por Seniority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8368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68%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901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1901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67%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0" y="1901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2249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22494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63%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98080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25968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58%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98080" y="2596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0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29443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54%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498080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657600"/>
            <a:ext cx="7680960" cy="118872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7490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están balanceadas. El modelo acierta más del 60% en los niveles con más datos. Para niveles con pocos ejemplos, usa reglas simples.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¿Por qué Staff gana más que Principal?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74320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mediano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$162,000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empresa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3.48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505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10,476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889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$42,000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657600" cy="274320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PRINCIPAL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mediano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$137,000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empresa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3.32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505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9,234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889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889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$48,000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160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es más selectivo y especializado. Solo grandes empresas lo contratan. Principal es más amplio y aparece en empresas variadas. Por eso Staff paga más.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Conclusiones Clave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vale $70,000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~$60K → Senior ~$130K. El mayor salto es Junior → Mid.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remoto permanente paga $10K más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suerte: la prueba estadística lo confirma.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gana más que Principal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246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$162K vs $137K. Staff es más selectivo y especializado.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4 tipos de mercado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Enterprise, Growth y Entry — cada uno con perfil claro.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Gil Carrillo  |  ISIL, 2026-1  |  Análisis Estadístico y Data Mining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Efecto del Seniority y el Remoto en el Mercado Laboral de Ingenieros de Software en EE.UU.</dc:title>
  <dc:subject>PptxGenJS Presentation</dc:subject>
  <dc:creator>Carlos Gil Carrillo</dc:creator>
  <cp:lastModifiedBy>Carlos Gil Carrillo</cp:lastModifiedBy>
  <cp:revision>1</cp:revision>
  <dcterms:created xsi:type="dcterms:W3CDTF">2026-07-21T01:56:05Z</dcterms:created>
  <dcterms:modified xsi:type="dcterms:W3CDTF">2026-07-21T01:56:05Z</dcterms:modified>
</cp:coreProperties>
</file>