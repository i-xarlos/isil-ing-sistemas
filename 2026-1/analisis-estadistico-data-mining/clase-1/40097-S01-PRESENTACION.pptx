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tiff" ContentType="image/tiff"/>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3"/>
  </p:notesMasterIdLst>
  <p:sldIdLst>
    <p:sldId id="782" r:id="rId2"/>
    <p:sldId id="783" r:id="rId3"/>
    <p:sldId id="628" r:id="rId4"/>
    <p:sldId id="784" r:id="rId5"/>
    <p:sldId id="630" r:id="rId6"/>
    <p:sldId id="633" r:id="rId7"/>
    <p:sldId id="745" r:id="rId8"/>
    <p:sldId id="746" r:id="rId9"/>
    <p:sldId id="785" r:id="rId10"/>
    <p:sldId id="748" r:id="rId11"/>
    <p:sldId id="749" r:id="rId12"/>
    <p:sldId id="786" r:id="rId13"/>
    <p:sldId id="704" r:id="rId14"/>
    <p:sldId id="751" r:id="rId15"/>
    <p:sldId id="752" r:id="rId16"/>
    <p:sldId id="787" r:id="rId17"/>
    <p:sldId id="754" r:id="rId18"/>
    <p:sldId id="755" r:id="rId19"/>
    <p:sldId id="788" r:id="rId20"/>
    <p:sldId id="759" r:id="rId21"/>
    <p:sldId id="760" r:id="rId22"/>
    <p:sldId id="758" r:id="rId23"/>
    <p:sldId id="789" r:id="rId24"/>
    <p:sldId id="790" r:id="rId25"/>
    <p:sldId id="763" r:id="rId26"/>
    <p:sldId id="791" r:id="rId27"/>
    <p:sldId id="792" r:id="rId28"/>
    <p:sldId id="793" r:id="rId29"/>
    <p:sldId id="765" r:id="rId30"/>
    <p:sldId id="794" r:id="rId31"/>
    <p:sldId id="768" r:id="rId32"/>
    <p:sldId id="770" r:id="rId33"/>
    <p:sldId id="772" r:id="rId34"/>
    <p:sldId id="771" r:id="rId35"/>
    <p:sldId id="773" r:id="rId36"/>
    <p:sldId id="774" r:id="rId37"/>
    <p:sldId id="775" r:id="rId38"/>
    <p:sldId id="795" r:id="rId39"/>
    <p:sldId id="796" r:id="rId40"/>
    <p:sldId id="744" r:id="rId41"/>
    <p:sldId id="769" r:id="rId42"/>
    <p:sldId id="777" r:id="rId43"/>
    <p:sldId id="778" r:id="rId44"/>
    <p:sldId id="779" r:id="rId45"/>
    <p:sldId id="780" r:id="rId46"/>
    <p:sldId id="781" r:id="rId47"/>
    <p:sldId id="797" r:id="rId48"/>
    <p:sldId id="589" r:id="rId49"/>
    <p:sldId id="590" r:id="rId50"/>
    <p:sldId id="591" r:id="rId51"/>
    <p:sldId id="593" r:id="rId52"/>
  </p:sldIdLst>
  <p:sldSz cx="9144000" cy="5715000" type="screen16x10"/>
  <p:notesSz cx="6858000" cy="9144000"/>
  <p:defaultTextStyle>
    <a:defPPr>
      <a:defRPr lang="es-E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C18D2F"/>
    <a:srgbClr val="7150A0"/>
    <a:srgbClr val="C0DB99"/>
    <a:srgbClr val="FCC7C4"/>
    <a:srgbClr val="6F953D"/>
    <a:srgbClr val="92C24E"/>
    <a:srgbClr val="808799"/>
    <a:srgbClr val="EE4639"/>
    <a:srgbClr val="D9DBE1"/>
    <a:srgbClr val="FFD7C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0A1B5D5-9B99-4C35-A422-299274C87663}" styleName="Estilo medio 1 - Énfasis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37CE84F3-28C3-443E-9E96-99CF82512B78}" styleName="Estilo oscuro 1 - Énfasis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929F9F4-4A8F-4326-A1B4-22849713DDAB}" styleName="Estilo oscuro 1 - Énfasis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Estilo oscuro 1 - Énfasis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9DCAF9ED-07DC-4A11-8D7F-57B35C25682E}" styleName="Estilo medio 1 - Énfasis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5DA37D80-6434-44D0-A028-1B22A696006F}" styleName="Estilo claro 3 - Acento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BC89EF96-8CEA-46FF-86C4-4CE0E7609802}" styleName="Estilo claro 3 - Acento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22838BEF-8BB2-4498-84A7-C5851F593DF1}" styleName="Estilo medio 4 - Énfasis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0505E3EF-67EA-436B-97B2-0124C06EBD24}" styleName="Estilo medio 4 - Énfasis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F5AB1C69-6EDB-4FF4-983F-18BD219EF322}" styleName="Estilo medio 2 - Énfasis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D03447BB-5D67-496B-8E87-E561075AD55C}" styleName="Estilo oscuro 1 - Énfasis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916" autoAdjust="0"/>
    <p:restoredTop sz="90855" autoAdjust="0"/>
  </p:normalViewPr>
  <p:slideViewPr>
    <p:cSldViewPr snapToGrid="0">
      <p:cViewPr varScale="1">
        <p:scale>
          <a:sx n="92" d="100"/>
          <a:sy n="92" d="100"/>
        </p:scale>
        <p:origin x="1488" y="90"/>
      </p:cViewPr>
      <p:guideLst/>
    </p:cSldViewPr>
  </p:slideViewPr>
  <p:outlineViewPr>
    <p:cViewPr>
      <p:scale>
        <a:sx n="30" d="100"/>
        <a:sy n="30" d="100"/>
      </p:scale>
      <p:origin x="0" y="0"/>
    </p:cViewPr>
  </p:outlineViewPr>
  <p:notesTextViewPr>
    <p:cViewPr>
      <p:scale>
        <a:sx n="100" d="100"/>
        <a:sy n="100" d="100"/>
      </p:scale>
      <p:origin x="0" y="0"/>
    </p:cViewPr>
  </p:notesTextViewPr>
  <p:sorterViewPr>
    <p:cViewPr>
      <p:scale>
        <a:sx n="77" d="100"/>
        <a:sy n="77" d="100"/>
      </p:scale>
      <p:origin x="0" y="0"/>
    </p:cViewPr>
  </p:sorterViewPr>
  <p:notesViewPr>
    <p:cSldViewPr snapToGrid="0" snapToObjects="1" showGuides="1">
      <p:cViewPr varScale="1">
        <p:scale>
          <a:sx n="68" d="100"/>
          <a:sy n="68" d="100"/>
        </p:scale>
        <p:origin x="3288" y="66"/>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2.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Calibri"/>
              </a:defRPr>
            </a:lvl1pPr>
          </a:lstStyle>
          <a:p>
            <a:endParaRPr lang="es-ES" dirty="0"/>
          </a:p>
        </p:txBody>
      </p:sp>
      <p:sp>
        <p:nvSpPr>
          <p:cNvPr id="3" name="2 Marcador de fecha"/>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Calibri"/>
              </a:defRPr>
            </a:lvl1pPr>
          </a:lstStyle>
          <a:p>
            <a:fld id="{9D357267-F5CB-4939-BF7A-DB6BFA44456E}" type="datetimeFigureOut">
              <a:rPr lang="es-ES" smtClean="0"/>
              <a:pPr/>
              <a:t>13/03/2026</a:t>
            </a:fld>
            <a:endParaRPr lang="es-ES" dirty="0"/>
          </a:p>
        </p:txBody>
      </p:sp>
      <p:sp>
        <p:nvSpPr>
          <p:cNvPr id="4" name="3 Marcador de imagen de diapositiva"/>
          <p:cNvSpPr>
            <a:spLocks noGrp="1" noRot="1" noChangeAspect="1"/>
          </p:cNvSpPr>
          <p:nvPr>
            <p:ph type="sldImg" idx="2"/>
          </p:nvPr>
        </p:nvSpPr>
        <p:spPr>
          <a:xfrm>
            <a:off x="685800" y="685800"/>
            <a:ext cx="5486400" cy="3429000"/>
          </a:xfrm>
          <a:prstGeom prst="rect">
            <a:avLst/>
          </a:prstGeom>
          <a:noFill/>
          <a:ln w="12700">
            <a:solidFill>
              <a:prstClr val="black"/>
            </a:solidFill>
          </a:ln>
        </p:spPr>
        <p:txBody>
          <a:bodyPr vert="horz" lIns="91440" tIns="45720" rIns="91440" bIns="45720" rtlCol="0" anchor="ctr"/>
          <a:lstStyle/>
          <a:p>
            <a:endParaRPr lang="es-ES"/>
          </a:p>
        </p:txBody>
      </p:sp>
      <p:sp>
        <p:nvSpPr>
          <p:cNvPr id="5" name="4 Marcador de notas"/>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Calibri"/>
              </a:defRPr>
            </a:lvl1pPr>
          </a:lstStyle>
          <a:p>
            <a:endParaRPr lang="es-ES" dirty="0"/>
          </a:p>
        </p:txBody>
      </p:sp>
      <p:sp>
        <p:nvSpPr>
          <p:cNvPr id="7" name="6 Marcador de número de diapositiva"/>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atin typeface="Calibri"/>
              </a:defRPr>
            </a:lvl1pPr>
          </a:lstStyle>
          <a:p>
            <a:fld id="{6B7E992D-280B-41DE-9EA7-7D9ADBA98B46}" type="slidenum">
              <a:rPr lang="es-ES" smtClean="0"/>
              <a:pPr/>
              <a:t>‹Nº›</a:t>
            </a:fld>
            <a:endParaRPr lang="es-ES" dirty="0"/>
          </a:p>
        </p:txBody>
      </p:sp>
    </p:spTree>
    <p:extLst>
      <p:ext uri="{BB962C8B-B14F-4D97-AF65-F5344CB8AC3E}">
        <p14:creationId xmlns:p14="http://schemas.microsoft.com/office/powerpoint/2010/main" val="5006820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10"/>
          </p:nvPr>
        </p:nvSpPr>
        <p:spPr/>
        <p:txBody>
          <a:bodyPr/>
          <a:lstStyle/>
          <a:p>
            <a:fld id="{6B7E992D-280B-41DE-9EA7-7D9ADBA98B46}" type="slidenum">
              <a:rPr lang="es-ES" smtClean="0"/>
              <a:pPr/>
              <a:t>1</a:t>
            </a:fld>
            <a:endParaRPr lang="es-ES"/>
          </a:p>
        </p:txBody>
      </p:sp>
    </p:spTree>
    <p:extLst>
      <p:ext uri="{BB962C8B-B14F-4D97-AF65-F5344CB8AC3E}">
        <p14:creationId xmlns:p14="http://schemas.microsoft.com/office/powerpoint/2010/main" val="2078349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10"/>
          </p:nvPr>
        </p:nvSpPr>
        <p:spPr/>
        <p:txBody>
          <a:bodyPr/>
          <a:lstStyle/>
          <a:p>
            <a:fld id="{6B7E992D-280B-41DE-9EA7-7D9ADBA98B46}" type="slidenum">
              <a:rPr lang="es-ES" smtClean="0"/>
              <a:pPr/>
              <a:t>3</a:t>
            </a:fld>
            <a:endParaRPr lang="es-ES" dirty="0"/>
          </a:p>
        </p:txBody>
      </p:sp>
    </p:spTree>
    <p:extLst>
      <p:ext uri="{BB962C8B-B14F-4D97-AF65-F5344CB8AC3E}">
        <p14:creationId xmlns:p14="http://schemas.microsoft.com/office/powerpoint/2010/main" val="19864327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10"/>
          </p:nvPr>
        </p:nvSpPr>
        <p:spPr/>
        <p:txBody>
          <a:bodyPr/>
          <a:lstStyle/>
          <a:p>
            <a:fld id="{6B7E992D-280B-41DE-9EA7-7D9ADBA98B46}" type="slidenum">
              <a:rPr lang="es-ES" smtClean="0"/>
              <a:pPr/>
              <a:t>4</a:t>
            </a:fld>
            <a:endParaRPr lang="es-ES" dirty="0"/>
          </a:p>
        </p:txBody>
      </p:sp>
    </p:spTree>
    <p:extLst>
      <p:ext uri="{BB962C8B-B14F-4D97-AF65-F5344CB8AC3E}">
        <p14:creationId xmlns:p14="http://schemas.microsoft.com/office/powerpoint/2010/main" val="39152677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171450" indent="-171450">
              <a:buFont typeface="Arial" panose="020B0604020202020204" pitchFamily="34" charset="0"/>
              <a:buChar char="•"/>
            </a:pPr>
            <a:r>
              <a:rPr lang="es-ES" dirty="0"/>
              <a:t>En estadística,</a:t>
            </a:r>
            <a:r>
              <a:rPr lang="es-ES" b="1" dirty="0"/>
              <a:t> outliers </a:t>
            </a:r>
            <a:r>
              <a:rPr lang="es-ES" dirty="0"/>
              <a:t>(o valores atípicos) son observaciones que se desvían significativamente del patrón o tendencia general de un conjunto de datos. </a:t>
            </a:r>
          </a:p>
          <a:p>
            <a:pPr marL="171450" indent="-171450">
              <a:buFont typeface="Arial" panose="020B0604020202020204" pitchFamily="34" charset="0"/>
              <a:buChar char="•"/>
            </a:pPr>
            <a:r>
              <a:rPr lang="es-ES" dirty="0"/>
              <a:t>Se caracterizan por estar numéricamente muy alejados del resto de los datos, pudiendo ser el resultado de errores de medición, eventos excepcionales o, en ocasiones, datos genuinos que representan situaciones inusuales. </a:t>
            </a:r>
          </a:p>
          <a:p>
            <a:pPr marL="171450" indent="-171450">
              <a:buFont typeface="Arial" panose="020B0604020202020204" pitchFamily="34" charset="0"/>
              <a:buChar char="•"/>
            </a:pPr>
            <a:r>
              <a:rPr lang="es-ES" dirty="0"/>
              <a:t>Su presencia puede distorsionar los análisis y llevar a conclusiones erróneas si no se identifican y tratan adecuadamente. </a:t>
            </a:r>
            <a:endParaRPr lang="es-ES_tradnl" dirty="0"/>
          </a:p>
        </p:txBody>
      </p:sp>
      <p:sp>
        <p:nvSpPr>
          <p:cNvPr id="4" name="Marcador de número de diapositiva 3"/>
          <p:cNvSpPr>
            <a:spLocks noGrp="1"/>
          </p:cNvSpPr>
          <p:nvPr>
            <p:ph type="sldNum" sz="quarter" idx="10"/>
          </p:nvPr>
        </p:nvSpPr>
        <p:spPr/>
        <p:txBody>
          <a:bodyPr/>
          <a:lstStyle/>
          <a:p>
            <a:fld id="{6B7E992D-280B-41DE-9EA7-7D9ADBA98B46}" type="slidenum">
              <a:rPr lang="es-ES" smtClean="0"/>
              <a:pPr/>
              <a:t>6</a:t>
            </a:fld>
            <a:endParaRPr lang="es-ES" dirty="0"/>
          </a:p>
        </p:txBody>
      </p:sp>
    </p:spTree>
    <p:extLst>
      <p:ext uri="{BB962C8B-B14F-4D97-AF65-F5344CB8AC3E}">
        <p14:creationId xmlns:p14="http://schemas.microsoft.com/office/powerpoint/2010/main" val="13862897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10"/>
          </p:nvPr>
        </p:nvSpPr>
        <p:spPr/>
        <p:txBody>
          <a:bodyPr/>
          <a:lstStyle/>
          <a:p>
            <a:fld id="{6B7E992D-280B-41DE-9EA7-7D9ADBA98B46}" type="slidenum">
              <a:rPr lang="es-ES" smtClean="0"/>
              <a:pPr/>
              <a:t>7</a:t>
            </a:fld>
            <a:endParaRPr lang="es-ES" dirty="0"/>
          </a:p>
        </p:txBody>
      </p:sp>
    </p:spTree>
    <p:extLst>
      <p:ext uri="{BB962C8B-B14F-4D97-AF65-F5344CB8AC3E}">
        <p14:creationId xmlns:p14="http://schemas.microsoft.com/office/powerpoint/2010/main" val="33148933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10"/>
          </p:nvPr>
        </p:nvSpPr>
        <p:spPr/>
        <p:txBody>
          <a:bodyPr/>
          <a:lstStyle/>
          <a:p>
            <a:fld id="{6B7E992D-280B-41DE-9EA7-7D9ADBA98B46}" type="slidenum">
              <a:rPr lang="es-ES" smtClean="0"/>
              <a:pPr/>
              <a:t>8</a:t>
            </a:fld>
            <a:endParaRPr lang="es-ES" dirty="0"/>
          </a:p>
        </p:txBody>
      </p:sp>
    </p:spTree>
    <p:extLst>
      <p:ext uri="{BB962C8B-B14F-4D97-AF65-F5344CB8AC3E}">
        <p14:creationId xmlns:p14="http://schemas.microsoft.com/office/powerpoint/2010/main" val="22174958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10"/>
          </p:nvPr>
        </p:nvSpPr>
        <p:spPr/>
        <p:txBody>
          <a:bodyPr/>
          <a:lstStyle/>
          <a:p>
            <a:fld id="{6B7E992D-280B-41DE-9EA7-7D9ADBA98B46}" type="slidenum">
              <a:rPr lang="es-ES" smtClean="0"/>
              <a:pPr/>
              <a:t>9</a:t>
            </a:fld>
            <a:endParaRPr lang="es-ES" dirty="0"/>
          </a:p>
        </p:txBody>
      </p:sp>
    </p:spTree>
    <p:extLst>
      <p:ext uri="{BB962C8B-B14F-4D97-AF65-F5344CB8AC3E}">
        <p14:creationId xmlns:p14="http://schemas.microsoft.com/office/powerpoint/2010/main" val="7655985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10"/>
          </p:nvPr>
        </p:nvSpPr>
        <p:spPr/>
        <p:txBody>
          <a:bodyPr/>
          <a:lstStyle/>
          <a:p>
            <a:fld id="{6B7E992D-280B-41DE-9EA7-7D9ADBA98B46}" type="slidenum">
              <a:rPr lang="es-ES" smtClean="0"/>
              <a:pPr/>
              <a:t>10</a:t>
            </a:fld>
            <a:endParaRPr lang="es-ES" dirty="0"/>
          </a:p>
        </p:txBody>
      </p:sp>
    </p:spTree>
    <p:extLst>
      <p:ext uri="{BB962C8B-B14F-4D97-AF65-F5344CB8AC3E}">
        <p14:creationId xmlns:p14="http://schemas.microsoft.com/office/powerpoint/2010/main" val="6517159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10"/>
          </p:nvPr>
        </p:nvSpPr>
        <p:spPr/>
        <p:txBody>
          <a:bodyPr/>
          <a:lstStyle/>
          <a:p>
            <a:fld id="{6B7E992D-280B-41DE-9EA7-7D9ADBA98B46}" type="slidenum">
              <a:rPr lang="es-ES" smtClean="0"/>
              <a:pPr/>
              <a:t>11</a:t>
            </a:fld>
            <a:endParaRPr lang="es-ES" dirty="0"/>
          </a:p>
        </p:txBody>
      </p:sp>
    </p:spTree>
    <p:extLst>
      <p:ext uri="{BB962C8B-B14F-4D97-AF65-F5344CB8AC3E}">
        <p14:creationId xmlns:p14="http://schemas.microsoft.com/office/powerpoint/2010/main" val="40156237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10"/>
          </p:nvPr>
        </p:nvSpPr>
        <p:spPr/>
        <p:txBody>
          <a:bodyPr/>
          <a:lstStyle/>
          <a:p>
            <a:fld id="{6B7E992D-280B-41DE-9EA7-7D9ADBA98B46}" type="slidenum">
              <a:rPr lang="es-ES" smtClean="0"/>
              <a:pPr/>
              <a:t>12</a:t>
            </a:fld>
            <a:endParaRPr lang="es-ES" dirty="0"/>
          </a:p>
        </p:txBody>
      </p:sp>
    </p:spTree>
    <p:extLst>
      <p:ext uri="{BB962C8B-B14F-4D97-AF65-F5344CB8AC3E}">
        <p14:creationId xmlns:p14="http://schemas.microsoft.com/office/powerpoint/2010/main" val="22528404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13</a:t>
            </a:fld>
            <a:endParaRPr lang="es-PE"/>
          </a:p>
        </p:txBody>
      </p:sp>
    </p:spTree>
    <p:extLst>
      <p:ext uri="{BB962C8B-B14F-4D97-AF65-F5344CB8AC3E}">
        <p14:creationId xmlns:p14="http://schemas.microsoft.com/office/powerpoint/2010/main" val="33415236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14</a:t>
            </a:fld>
            <a:endParaRPr lang="es-PE"/>
          </a:p>
        </p:txBody>
      </p:sp>
    </p:spTree>
    <p:extLst>
      <p:ext uri="{BB962C8B-B14F-4D97-AF65-F5344CB8AC3E}">
        <p14:creationId xmlns:p14="http://schemas.microsoft.com/office/powerpoint/2010/main" val="19245033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10"/>
          </p:nvPr>
        </p:nvSpPr>
        <p:spPr/>
        <p:txBody>
          <a:bodyPr/>
          <a:lstStyle/>
          <a:p>
            <a:fld id="{6B7E992D-280B-41DE-9EA7-7D9ADBA98B46}" type="slidenum">
              <a:rPr lang="es-ES" smtClean="0"/>
              <a:pPr/>
              <a:t>15</a:t>
            </a:fld>
            <a:endParaRPr lang="es-ES" dirty="0"/>
          </a:p>
        </p:txBody>
      </p:sp>
    </p:spTree>
    <p:extLst>
      <p:ext uri="{BB962C8B-B14F-4D97-AF65-F5344CB8AC3E}">
        <p14:creationId xmlns:p14="http://schemas.microsoft.com/office/powerpoint/2010/main" val="116792606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10"/>
          </p:nvPr>
        </p:nvSpPr>
        <p:spPr/>
        <p:txBody>
          <a:bodyPr/>
          <a:lstStyle/>
          <a:p>
            <a:fld id="{6B7E992D-280B-41DE-9EA7-7D9ADBA98B46}" type="slidenum">
              <a:rPr lang="es-ES" smtClean="0"/>
              <a:pPr/>
              <a:t>16</a:t>
            </a:fld>
            <a:endParaRPr lang="es-ES" dirty="0"/>
          </a:p>
        </p:txBody>
      </p:sp>
    </p:spTree>
    <p:extLst>
      <p:ext uri="{BB962C8B-B14F-4D97-AF65-F5344CB8AC3E}">
        <p14:creationId xmlns:p14="http://schemas.microsoft.com/office/powerpoint/2010/main" val="398532821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10"/>
          </p:nvPr>
        </p:nvSpPr>
        <p:spPr/>
        <p:txBody>
          <a:bodyPr/>
          <a:lstStyle/>
          <a:p>
            <a:fld id="{6B7E992D-280B-41DE-9EA7-7D9ADBA98B46}" type="slidenum">
              <a:rPr lang="es-ES" smtClean="0"/>
              <a:pPr/>
              <a:t>17</a:t>
            </a:fld>
            <a:endParaRPr lang="es-ES" dirty="0"/>
          </a:p>
        </p:txBody>
      </p:sp>
    </p:spTree>
    <p:extLst>
      <p:ext uri="{BB962C8B-B14F-4D97-AF65-F5344CB8AC3E}">
        <p14:creationId xmlns:p14="http://schemas.microsoft.com/office/powerpoint/2010/main" val="351227042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10"/>
          </p:nvPr>
        </p:nvSpPr>
        <p:spPr/>
        <p:txBody>
          <a:bodyPr/>
          <a:lstStyle/>
          <a:p>
            <a:fld id="{6B7E992D-280B-41DE-9EA7-7D9ADBA98B46}" type="slidenum">
              <a:rPr lang="es-ES" smtClean="0"/>
              <a:pPr/>
              <a:t>18</a:t>
            </a:fld>
            <a:endParaRPr lang="es-ES" dirty="0"/>
          </a:p>
        </p:txBody>
      </p:sp>
    </p:spTree>
    <p:extLst>
      <p:ext uri="{BB962C8B-B14F-4D97-AF65-F5344CB8AC3E}">
        <p14:creationId xmlns:p14="http://schemas.microsoft.com/office/powerpoint/2010/main" val="205715371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10"/>
          </p:nvPr>
        </p:nvSpPr>
        <p:spPr/>
        <p:txBody>
          <a:bodyPr/>
          <a:lstStyle/>
          <a:p>
            <a:fld id="{6B7E992D-280B-41DE-9EA7-7D9ADBA98B46}" type="slidenum">
              <a:rPr lang="es-ES" smtClean="0"/>
              <a:pPr/>
              <a:t>19</a:t>
            </a:fld>
            <a:endParaRPr lang="es-ES" dirty="0"/>
          </a:p>
        </p:txBody>
      </p:sp>
    </p:spTree>
    <p:extLst>
      <p:ext uri="{BB962C8B-B14F-4D97-AF65-F5344CB8AC3E}">
        <p14:creationId xmlns:p14="http://schemas.microsoft.com/office/powerpoint/2010/main" val="357771395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10"/>
          </p:nvPr>
        </p:nvSpPr>
        <p:spPr/>
        <p:txBody>
          <a:bodyPr/>
          <a:lstStyle/>
          <a:p>
            <a:fld id="{6B7E992D-280B-41DE-9EA7-7D9ADBA98B46}" type="slidenum">
              <a:rPr lang="es-ES" smtClean="0"/>
              <a:pPr/>
              <a:t>20</a:t>
            </a:fld>
            <a:endParaRPr lang="es-ES" dirty="0"/>
          </a:p>
        </p:txBody>
      </p:sp>
    </p:spTree>
    <p:extLst>
      <p:ext uri="{BB962C8B-B14F-4D97-AF65-F5344CB8AC3E}">
        <p14:creationId xmlns:p14="http://schemas.microsoft.com/office/powerpoint/2010/main" val="285423317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10"/>
          </p:nvPr>
        </p:nvSpPr>
        <p:spPr/>
        <p:txBody>
          <a:bodyPr/>
          <a:lstStyle/>
          <a:p>
            <a:fld id="{6B7E992D-280B-41DE-9EA7-7D9ADBA98B46}" type="slidenum">
              <a:rPr lang="es-ES" smtClean="0"/>
              <a:pPr/>
              <a:t>21</a:t>
            </a:fld>
            <a:endParaRPr lang="es-ES" dirty="0"/>
          </a:p>
        </p:txBody>
      </p:sp>
    </p:spTree>
    <p:extLst>
      <p:ext uri="{BB962C8B-B14F-4D97-AF65-F5344CB8AC3E}">
        <p14:creationId xmlns:p14="http://schemas.microsoft.com/office/powerpoint/2010/main" val="331599466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algn="l"/>
            <a:r>
              <a:rPr lang="es-ES_tradnl" dirty="0"/>
              <a:t>En Excel el proceso es:</a:t>
            </a:r>
          </a:p>
          <a:p>
            <a:pPr marL="171450" indent="-171450" algn="l">
              <a:buFont typeface="Arial" panose="020B0604020202020204" pitchFamily="34" charset="0"/>
              <a:buChar char="•"/>
            </a:pPr>
            <a:r>
              <a:rPr lang="es-ES" dirty="0"/>
              <a:t>Marcar la columna de tiempos. </a:t>
            </a:r>
          </a:p>
          <a:p>
            <a:pPr marL="171450" indent="-171450" algn="l">
              <a:buFont typeface="Arial" panose="020B0604020202020204" pitchFamily="34" charset="0"/>
              <a:buChar char="•"/>
            </a:pPr>
            <a:r>
              <a:rPr lang="es-ES_tradnl" dirty="0"/>
              <a:t>Ir al menú Insertar → Gráficos estadísticos → Histograma. Si no aparece, ir a Insertar → Gráfico de columnas → Elegir “Histograma”.</a:t>
            </a:r>
          </a:p>
          <a:p>
            <a:pPr marL="171450" indent="-171450" algn="l">
              <a:buFont typeface="Arial" panose="020B0604020202020204" pitchFamily="34" charset="0"/>
              <a:buChar char="•"/>
            </a:pPr>
            <a:r>
              <a:rPr lang="es-ES" dirty="0"/>
              <a:t>Hacer clic derecho en el eje horizontal → “Formato de eje”. Elegir un ancho de clase adecuado (por ejemplo, cada 3 minutos). Excel agrupará automáticamente los tiempos en intervalos.</a:t>
            </a:r>
          </a:p>
          <a:p>
            <a:pPr marL="171450" indent="-171450" algn="l">
              <a:buFont typeface="Arial" panose="020B0604020202020204" pitchFamily="34" charset="0"/>
              <a:buChar char="•"/>
            </a:pPr>
            <a:r>
              <a:rPr lang="es-ES" dirty="0"/>
              <a:t>Agregar título: “Distribución de tiempos de atención (minutos)”</a:t>
            </a:r>
          </a:p>
          <a:p>
            <a:pPr marL="171450" indent="-171450" algn="l">
              <a:buFont typeface="Arial" panose="020B0604020202020204" pitchFamily="34" charset="0"/>
              <a:buChar char="•"/>
            </a:pPr>
            <a:r>
              <a:rPr lang="es-ES" dirty="0"/>
              <a:t>Etiquetar los ejes. Eje X: “Tiempo de atención (minutos)”. Eje Y: “Número de clientes”.</a:t>
            </a:r>
            <a:endParaRPr lang="es-ES_tradnl" dirty="0"/>
          </a:p>
          <a:p>
            <a:endParaRPr lang="es-PE" dirty="0"/>
          </a:p>
        </p:txBody>
      </p:sp>
      <p:sp>
        <p:nvSpPr>
          <p:cNvPr id="4" name="Marcador de número de diapositiva 3"/>
          <p:cNvSpPr>
            <a:spLocks noGrp="1"/>
          </p:cNvSpPr>
          <p:nvPr>
            <p:ph type="sldNum" sz="quarter" idx="5"/>
          </p:nvPr>
        </p:nvSpPr>
        <p:spPr/>
        <p:txBody>
          <a:bodyPr/>
          <a:lstStyle/>
          <a:p>
            <a:fld id="{6B7E992D-280B-41DE-9EA7-7D9ADBA98B46}" type="slidenum">
              <a:rPr lang="es-ES" smtClean="0"/>
              <a:pPr/>
              <a:t>23</a:t>
            </a:fld>
            <a:endParaRPr lang="es-ES" dirty="0"/>
          </a:p>
        </p:txBody>
      </p:sp>
    </p:spTree>
    <p:extLst>
      <p:ext uri="{BB962C8B-B14F-4D97-AF65-F5344CB8AC3E}">
        <p14:creationId xmlns:p14="http://schemas.microsoft.com/office/powerpoint/2010/main" val="52680100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p>
        </p:txBody>
      </p:sp>
      <p:sp>
        <p:nvSpPr>
          <p:cNvPr id="4" name="Marcador de número de diapositiva 3"/>
          <p:cNvSpPr>
            <a:spLocks noGrp="1"/>
          </p:cNvSpPr>
          <p:nvPr>
            <p:ph type="sldNum" sz="quarter" idx="5"/>
          </p:nvPr>
        </p:nvSpPr>
        <p:spPr/>
        <p:txBody>
          <a:bodyPr/>
          <a:lstStyle/>
          <a:p>
            <a:fld id="{6B7E992D-280B-41DE-9EA7-7D9ADBA98B46}" type="slidenum">
              <a:rPr lang="es-ES" smtClean="0"/>
              <a:pPr/>
              <a:t>24</a:t>
            </a:fld>
            <a:endParaRPr lang="es-ES" dirty="0"/>
          </a:p>
        </p:txBody>
      </p:sp>
    </p:spTree>
    <p:extLst>
      <p:ext uri="{BB962C8B-B14F-4D97-AF65-F5344CB8AC3E}">
        <p14:creationId xmlns:p14="http://schemas.microsoft.com/office/powerpoint/2010/main" val="279571962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algn="l"/>
            <a:r>
              <a:rPr lang="es-ES_tradnl" dirty="0"/>
              <a:t>En Excel el proceso es:</a:t>
            </a:r>
          </a:p>
          <a:p>
            <a:pPr marL="171450" indent="-171450" algn="l">
              <a:buFont typeface="Arial" panose="020B0604020202020204" pitchFamily="34" charset="0"/>
              <a:buChar char="•"/>
            </a:pPr>
            <a:r>
              <a:rPr lang="es-ES" dirty="0"/>
              <a:t>Coloca en la fila 1 los encabezados: Ventas, Producción, Finanzas.</a:t>
            </a:r>
          </a:p>
          <a:p>
            <a:pPr marL="171450" indent="-171450" algn="l">
              <a:buFont typeface="Arial" panose="020B0604020202020204" pitchFamily="34" charset="0"/>
              <a:buChar char="•"/>
            </a:pPr>
            <a:r>
              <a:rPr lang="es-ES" dirty="0"/>
              <a:t>En las columnas A, B y C, escribe los valores de cada empleado.</a:t>
            </a:r>
          </a:p>
          <a:p>
            <a:pPr marL="171450" indent="-171450" algn="l">
              <a:buFont typeface="Arial" panose="020B0604020202020204" pitchFamily="34" charset="0"/>
              <a:buChar char="•"/>
            </a:pPr>
            <a:r>
              <a:rPr lang="es-ES" dirty="0"/>
              <a:t>Selecciona todo el rango de datos (A1:C11).</a:t>
            </a:r>
          </a:p>
          <a:p>
            <a:pPr marL="171450" indent="-171450" algn="l">
              <a:buFont typeface="Arial" panose="020B0604020202020204" pitchFamily="34" charset="0"/>
              <a:buChar char="•"/>
            </a:pPr>
            <a:r>
              <a:rPr lang="es-ES" dirty="0"/>
              <a:t>Ve al menú Insertar → Gráficos estadísticos → Diagrama de caja y bigotes.</a:t>
            </a:r>
          </a:p>
          <a:p>
            <a:pPr marL="171450" indent="-171450" algn="l">
              <a:buFont typeface="Arial" panose="020B0604020202020204" pitchFamily="34" charset="0"/>
              <a:buChar char="•"/>
            </a:pPr>
            <a:r>
              <a:rPr lang="es-ES" dirty="0"/>
              <a:t>Excel generará automáticamente un </a:t>
            </a:r>
            <a:r>
              <a:rPr lang="es-ES" dirty="0" err="1"/>
              <a:t>boxplot</a:t>
            </a:r>
            <a:r>
              <a:rPr lang="es-ES" dirty="0"/>
              <a:t> comparativo para los tres departamentos.</a:t>
            </a:r>
          </a:p>
          <a:p>
            <a:pPr marL="171450" indent="-171450" algn="l">
              <a:buFont typeface="Arial" panose="020B0604020202020204" pitchFamily="34" charset="0"/>
              <a:buChar char="•"/>
            </a:pPr>
            <a:r>
              <a:rPr lang="es-ES" dirty="0"/>
              <a:t>Personalizar el gráfico.</a:t>
            </a:r>
            <a:endParaRPr lang="es-ES_tradnl" dirty="0"/>
          </a:p>
          <a:p>
            <a:endParaRPr lang="es-PE" dirty="0"/>
          </a:p>
        </p:txBody>
      </p:sp>
      <p:sp>
        <p:nvSpPr>
          <p:cNvPr id="4" name="Marcador de número de diapositiva 3"/>
          <p:cNvSpPr>
            <a:spLocks noGrp="1"/>
          </p:cNvSpPr>
          <p:nvPr>
            <p:ph type="sldNum" sz="quarter" idx="5"/>
          </p:nvPr>
        </p:nvSpPr>
        <p:spPr/>
        <p:txBody>
          <a:bodyPr/>
          <a:lstStyle/>
          <a:p>
            <a:fld id="{6B7E992D-280B-41DE-9EA7-7D9ADBA98B46}" type="slidenum">
              <a:rPr lang="es-ES" smtClean="0"/>
              <a:pPr/>
              <a:t>26</a:t>
            </a:fld>
            <a:endParaRPr lang="es-ES" dirty="0"/>
          </a:p>
        </p:txBody>
      </p:sp>
    </p:spTree>
    <p:extLst>
      <p:ext uri="{BB962C8B-B14F-4D97-AF65-F5344CB8AC3E}">
        <p14:creationId xmlns:p14="http://schemas.microsoft.com/office/powerpoint/2010/main" val="2227709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p>
        </p:txBody>
      </p:sp>
      <p:sp>
        <p:nvSpPr>
          <p:cNvPr id="4" name="Marcador de número de diapositiva 3"/>
          <p:cNvSpPr>
            <a:spLocks noGrp="1"/>
          </p:cNvSpPr>
          <p:nvPr>
            <p:ph type="sldNum" sz="quarter" idx="5"/>
          </p:nvPr>
        </p:nvSpPr>
        <p:spPr/>
        <p:txBody>
          <a:bodyPr/>
          <a:lstStyle/>
          <a:p>
            <a:fld id="{6B7E992D-280B-41DE-9EA7-7D9ADBA98B46}" type="slidenum">
              <a:rPr lang="es-ES" smtClean="0"/>
              <a:pPr/>
              <a:t>27</a:t>
            </a:fld>
            <a:endParaRPr lang="es-ES" dirty="0"/>
          </a:p>
        </p:txBody>
      </p:sp>
    </p:spTree>
    <p:extLst>
      <p:ext uri="{BB962C8B-B14F-4D97-AF65-F5344CB8AC3E}">
        <p14:creationId xmlns:p14="http://schemas.microsoft.com/office/powerpoint/2010/main" val="181154964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p>
        </p:txBody>
      </p:sp>
      <p:sp>
        <p:nvSpPr>
          <p:cNvPr id="4" name="Marcador de número de diapositiva 3"/>
          <p:cNvSpPr>
            <a:spLocks noGrp="1"/>
          </p:cNvSpPr>
          <p:nvPr>
            <p:ph type="sldNum" sz="quarter" idx="5"/>
          </p:nvPr>
        </p:nvSpPr>
        <p:spPr/>
        <p:txBody>
          <a:bodyPr/>
          <a:lstStyle/>
          <a:p>
            <a:fld id="{6B7E992D-280B-41DE-9EA7-7D9ADBA98B46}" type="slidenum">
              <a:rPr lang="es-ES" smtClean="0"/>
              <a:pPr/>
              <a:t>28</a:t>
            </a:fld>
            <a:endParaRPr lang="es-ES" dirty="0"/>
          </a:p>
        </p:txBody>
      </p:sp>
    </p:spTree>
    <p:extLst>
      <p:ext uri="{BB962C8B-B14F-4D97-AF65-F5344CB8AC3E}">
        <p14:creationId xmlns:p14="http://schemas.microsoft.com/office/powerpoint/2010/main" val="266274422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p>
        </p:txBody>
      </p:sp>
      <p:sp>
        <p:nvSpPr>
          <p:cNvPr id="4" name="Marcador de número de diapositiva 3"/>
          <p:cNvSpPr>
            <a:spLocks noGrp="1"/>
          </p:cNvSpPr>
          <p:nvPr>
            <p:ph type="sldNum" sz="quarter" idx="10"/>
          </p:nvPr>
        </p:nvSpPr>
        <p:spPr/>
        <p:txBody>
          <a:bodyPr/>
          <a:lstStyle/>
          <a:p>
            <a:fld id="{6B7E992D-280B-41DE-9EA7-7D9ADBA98B46}" type="slidenum">
              <a:rPr lang="es-ES" smtClean="0"/>
              <a:pPr/>
              <a:t>29</a:t>
            </a:fld>
            <a:endParaRPr lang="es-ES" dirty="0"/>
          </a:p>
        </p:txBody>
      </p:sp>
    </p:spTree>
    <p:extLst>
      <p:ext uri="{BB962C8B-B14F-4D97-AF65-F5344CB8AC3E}">
        <p14:creationId xmlns:p14="http://schemas.microsoft.com/office/powerpoint/2010/main" val="322130575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10"/>
          </p:nvPr>
        </p:nvSpPr>
        <p:spPr/>
        <p:txBody>
          <a:bodyPr/>
          <a:lstStyle/>
          <a:p>
            <a:fld id="{6B7E992D-280B-41DE-9EA7-7D9ADBA98B46}" type="slidenum">
              <a:rPr lang="es-ES" smtClean="0"/>
              <a:pPr/>
              <a:t>30</a:t>
            </a:fld>
            <a:endParaRPr lang="es-ES" dirty="0"/>
          </a:p>
        </p:txBody>
      </p:sp>
    </p:spTree>
    <p:extLst>
      <p:ext uri="{BB962C8B-B14F-4D97-AF65-F5344CB8AC3E}">
        <p14:creationId xmlns:p14="http://schemas.microsoft.com/office/powerpoint/2010/main" val="66921081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200" spc="-10" dirty="0">
                <a:latin typeface="Calibri" charset="0"/>
                <a:ea typeface="Calibri" charset="0"/>
                <a:cs typeface="Calibri" charset="0"/>
              </a:rPr>
              <a:t>En resumen, identificar correctamente el tipo de dato evita errores de interpretación y garantiza resultados estadísticos válidos.</a:t>
            </a:r>
            <a:endParaRPr lang="es-PE" sz="1200" spc="-10" dirty="0">
              <a:latin typeface="Calibri" charset="0"/>
              <a:ea typeface="Calibri" charset="0"/>
              <a:cs typeface="Calibri" charset="0"/>
            </a:endParaRPr>
          </a:p>
          <a:p>
            <a:endParaRPr lang="es-ES_tradnl" dirty="0"/>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31</a:t>
            </a:fld>
            <a:endParaRPr lang="es-PE"/>
          </a:p>
        </p:txBody>
      </p:sp>
    </p:spTree>
    <p:extLst>
      <p:ext uri="{BB962C8B-B14F-4D97-AF65-F5344CB8AC3E}">
        <p14:creationId xmlns:p14="http://schemas.microsoft.com/office/powerpoint/2010/main" val="262920020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32</a:t>
            </a:fld>
            <a:endParaRPr lang="es-PE"/>
          </a:p>
        </p:txBody>
      </p:sp>
    </p:spTree>
    <p:extLst>
      <p:ext uri="{BB962C8B-B14F-4D97-AF65-F5344CB8AC3E}">
        <p14:creationId xmlns:p14="http://schemas.microsoft.com/office/powerpoint/2010/main" val="379078996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10"/>
          </p:nvPr>
        </p:nvSpPr>
        <p:spPr/>
        <p:txBody>
          <a:bodyPr/>
          <a:lstStyle/>
          <a:p>
            <a:fld id="{6B7E992D-280B-41DE-9EA7-7D9ADBA98B46}" type="slidenum">
              <a:rPr lang="es-ES" smtClean="0"/>
              <a:pPr/>
              <a:t>33</a:t>
            </a:fld>
            <a:endParaRPr lang="es-ES" dirty="0"/>
          </a:p>
        </p:txBody>
      </p:sp>
    </p:spTree>
    <p:extLst>
      <p:ext uri="{BB962C8B-B14F-4D97-AF65-F5344CB8AC3E}">
        <p14:creationId xmlns:p14="http://schemas.microsoft.com/office/powerpoint/2010/main" val="170244441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9:notes"/>
          <p:cNvSpPr>
            <a:spLocks noGrp="1" noRot="1" noChangeAspect="1"/>
          </p:cNvSpPr>
          <p:nvPr>
            <p:ph type="sldImg" idx="2"/>
          </p:nvPr>
        </p:nvSpPr>
        <p:spPr>
          <a:xfrm>
            <a:off x="719138" y="1241425"/>
            <a:ext cx="5359400"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 name="Google Shape;98;p9:notes"/>
          <p:cNvSpPr txBox="1">
            <a:spLocks noGrp="1"/>
          </p:cNvSpPr>
          <p:nvPr>
            <p:ph type="body" idx="1"/>
          </p:nvPr>
        </p:nvSpPr>
        <p:spPr>
          <a:xfrm>
            <a:off x="679768" y="4777194"/>
            <a:ext cx="5438140" cy="390861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latin typeface="Calibri" panose="020F0502020204030204" pitchFamily="34" charset="0"/>
              <a:ea typeface="Arial"/>
              <a:cs typeface="Calibri" panose="020F0502020204030204" pitchFamily="34" charset="0"/>
              <a:sym typeface="Arial"/>
            </a:endParaRPr>
          </a:p>
        </p:txBody>
      </p:sp>
      <p:sp>
        <p:nvSpPr>
          <p:cNvPr id="99" name="Google Shape;99;p9:notes"/>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latin typeface="Calibri" panose="020F0502020204030204" pitchFamily="34" charset="0"/>
                <a:cs typeface="Calibri" panose="020F0502020204030204" pitchFamily="34" charset="0"/>
              </a:rPr>
              <a:t>34</a:t>
            </a:fld>
            <a:endParaRPr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03625398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10"/>
          </p:nvPr>
        </p:nvSpPr>
        <p:spPr/>
        <p:txBody>
          <a:bodyPr/>
          <a:lstStyle/>
          <a:p>
            <a:fld id="{6B7E992D-280B-41DE-9EA7-7D9ADBA98B46}" type="slidenum">
              <a:rPr lang="es-ES" smtClean="0"/>
              <a:pPr/>
              <a:t>35</a:t>
            </a:fld>
            <a:endParaRPr lang="es-ES" dirty="0"/>
          </a:p>
        </p:txBody>
      </p:sp>
    </p:spTree>
    <p:extLst>
      <p:ext uri="{BB962C8B-B14F-4D97-AF65-F5344CB8AC3E}">
        <p14:creationId xmlns:p14="http://schemas.microsoft.com/office/powerpoint/2010/main" val="73083950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9:notes"/>
          <p:cNvSpPr>
            <a:spLocks noGrp="1" noRot="1" noChangeAspect="1"/>
          </p:cNvSpPr>
          <p:nvPr>
            <p:ph type="sldImg" idx="2"/>
          </p:nvPr>
        </p:nvSpPr>
        <p:spPr>
          <a:xfrm>
            <a:off x="719138" y="1241425"/>
            <a:ext cx="5359400"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 name="Google Shape;98;p9:notes"/>
          <p:cNvSpPr txBox="1">
            <a:spLocks noGrp="1"/>
          </p:cNvSpPr>
          <p:nvPr>
            <p:ph type="body" idx="1"/>
          </p:nvPr>
        </p:nvSpPr>
        <p:spPr>
          <a:xfrm>
            <a:off x="679768" y="4777194"/>
            <a:ext cx="5438140" cy="390861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latin typeface="Calibri" panose="020F0502020204030204" pitchFamily="34" charset="0"/>
              <a:ea typeface="Arial"/>
              <a:cs typeface="Calibri" panose="020F0502020204030204" pitchFamily="34" charset="0"/>
              <a:sym typeface="Arial"/>
            </a:endParaRPr>
          </a:p>
        </p:txBody>
      </p:sp>
      <p:sp>
        <p:nvSpPr>
          <p:cNvPr id="99" name="Google Shape;99;p9:notes"/>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latin typeface="Calibri" panose="020F0502020204030204" pitchFamily="34" charset="0"/>
                <a:cs typeface="Calibri" panose="020F0502020204030204" pitchFamily="34" charset="0"/>
              </a:rPr>
              <a:t>36</a:t>
            </a:fld>
            <a:endParaRPr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82555535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10"/>
          </p:nvPr>
        </p:nvSpPr>
        <p:spPr/>
        <p:txBody>
          <a:bodyPr/>
          <a:lstStyle/>
          <a:p>
            <a:fld id="{6B7E992D-280B-41DE-9EA7-7D9ADBA98B46}" type="slidenum">
              <a:rPr lang="es-ES" smtClean="0"/>
              <a:pPr/>
              <a:t>38</a:t>
            </a:fld>
            <a:endParaRPr lang="es-ES" dirty="0"/>
          </a:p>
        </p:txBody>
      </p:sp>
    </p:spTree>
    <p:extLst>
      <p:ext uri="{BB962C8B-B14F-4D97-AF65-F5344CB8AC3E}">
        <p14:creationId xmlns:p14="http://schemas.microsoft.com/office/powerpoint/2010/main" val="22387078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10"/>
          </p:nvPr>
        </p:nvSpPr>
        <p:spPr/>
        <p:txBody>
          <a:bodyPr/>
          <a:lstStyle/>
          <a:p>
            <a:fld id="{6B7E992D-280B-41DE-9EA7-7D9ADBA98B46}" type="slidenum">
              <a:rPr lang="es-ES" smtClean="0"/>
              <a:pPr/>
              <a:t>40</a:t>
            </a:fld>
            <a:endParaRPr lang="es-ES" dirty="0"/>
          </a:p>
        </p:txBody>
      </p:sp>
    </p:spTree>
    <p:extLst>
      <p:ext uri="{BB962C8B-B14F-4D97-AF65-F5344CB8AC3E}">
        <p14:creationId xmlns:p14="http://schemas.microsoft.com/office/powerpoint/2010/main" val="396266574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10"/>
          </p:nvPr>
        </p:nvSpPr>
        <p:spPr/>
        <p:txBody>
          <a:bodyPr/>
          <a:lstStyle/>
          <a:p>
            <a:fld id="{F56700CA-E45F-416D-B659-25554F846B43}" type="slidenum">
              <a:rPr lang="es-PE" smtClean="0"/>
              <a:t>41</a:t>
            </a:fld>
            <a:endParaRPr lang="es-PE"/>
          </a:p>
        </p:txBody>
      </p:sp>
    </p:spTree>
    <p:extLst>
      <p:ext uri="{BB962C8B-B14F-4D97-AF65-F5344CB8AC3E}">
        <p14:creationId xmlns:p14="http://schemas.microsoft.com/office/powerpoint/2010/main" val="176689453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10"/>
          </p:nvPr>
        </p:nvSpPr>
        <p:spPr/>
        <p:txBody>
          <a:bodyPr/>
          <a:lstStyle/>
          <a:p>
            <a:fld id="{6B7E992D-280B-41DE-9EA7-7D9ADBA98B46}" type="slidenum">
              <a:rPr lang="es-ES" smtClean="0"/>
              <a:pPr/>
              <a:t>42</a:t>
            </a:fld>
            <a:endParaRPr lang="es-ES" dirty="0"/>
          </a:p>
        </p:txBody>
      </p:sp>
    </p:spTree>
    <p:extLst>
      <p:ext uri="{BB962C8B-B14F-4D97-AF65-F5344CB8AC3E}">
        <p14:creationId xmlns:p14="http://schemas.microsoft.com/office/powerpoint/2010/main" val="370240091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10"/>
          </p:nvPr>
        </p:nvSpPr>
        <p:spPr/>
        <p:txBody>
          <a:bodyPr/>
          <a:lstStyle/>
          <a:p>
            <a:fld id="{F56700CA-E45F-416D-B659-25554F846B43}" type="slidenum">
              <a:rPr lang="es-PE" smtClean="0"/>
              <a:t>43</a:t>
            </a:fld>
            <a:endParaRPr lang="es-PE"/>
          </a:p>
        </p:txBody>
      </p:sp>
    </p:spTree>
    <p:extLst>
      <p:ext uri="{BB962C8B-B14F-4D97-AF65-F5344CB8AC3E}">
        <p14:creationId xmlns:p14="http://schemas.microsoft.com/office/powerpoint/2010/main" val="183272668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10"/>
          </p:nvPr>
        </p:nvSpPr>
        <p:spPr/>
        <p:txBody>
          <a:bodyPr/>
          <a:lstStyle/>
          <a:p>
            <a:fld id="{6B7E992D-280B-41DE-9EA7-7D9ADBA98B46}" type="slidenum">
              <a:rPr lang="es-ES" smtClean="0"/>
              <a:pPr/>
              <a:t>44</a:t>
            </a:fld>
            <a:endParaRPr lang="es-ES" dirty="0"/>
          </a:p>
        </p:txBody>
      </p:sp>
    </p:spTree>
    <p:extLst>
      <p:ext uri="{BB962C8B-B14F-4D97-AF65-F5344CB8AC3E}">
        <p14:creationId xmlns:p14="http://schemas.microsoft.com/office/powerpoint/2010/main" val="220930015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10"/>
          </p:nvPr>
        </p:nvSpPr>
        <p:spPr/>
        <p:txBody>
          <a:bodyPr/>
          <a:lstStyle/>
          <a:p>
            <a:fld id="{F56700CA-E45F-416D-B659-25554F846B43}" type="slidenum">
              <a:rPr lang="es-PE" smtClean="0"/>
              <a:t>45</a:t>
            </a:fld>
            <a:endParaRPr lang="es-PE"/>
          </a:p>
        </p:txBody>
      </p:sp>
    </p:spTree>
    <p:extLst>
      <p:ext uri="{BB962C8B-B14F-4D97-AF65-F5344CB8AC3E}">
        <p14:creationId xmlns:p14="http://schemas.microsoft.com/office/powerpoint/2010/main" val="4179613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10"/>
          </p:nvPr>
        </p:nvSpPr>
        <p:spPr/>
        <p:txBody>
          <a:bodyPr/>
          <a:lstStyle/>
          <a:p>
            <a:fld id="{6B7E992D-280B-41DE-9EA7-7D9ADBA98B46}" type="slidenum">
              <a:rPr lang="es-ES" smtClean="0"/>
              <a:pPr/>
              <a:t>46</a:t>
            </a:fld>
            <a:endParaRPr lang="es-ES" dirty="0"/>
          </a:p>
        </p:txBody>
      </p:sp>
    </p:spTree>
    <p:extLst>
      <p:ext uri="{BB962C8B-B14F-4D97-AF65-F5344CB8AC3E}">
        <p14:creationId xmlns:p14="http://schemas.microsoft.com/office/powerpoint/2010/main" val="43579817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10"/>
          </p:nvPr>
        </p:nvSpPr>
        <p:spPr/>
        <p:txBody>
          <a:bodyPr/>
          <a:lstStyle/>
          <a:p>
            <a:fld id="{6B7E992D-280B-41DE-9EA7-7D9ADBA98B46}" type="slidenum">
              <a:rPr lang="es-ES" smtClean="0"/>
              <a:pPr/>
              <a:t>48</a:t>
            </a:fld>
            <a:endParaRPr lang="es-ES" dirty="0"/>
          </a:p>
        </p:txBody>
      </p:sp>
    </p:spTree>
    <p:extLst>
      <p:ext uri="{BB962C8B-B14F-4D97-AF65-F5344CB8AC3E}">
        <p14:creationId xmlns:p14="http://schemas.microsoft.com/office/powerpoint/2010/main" val="17965716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Diapositiva de título">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ítulo y objetos">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26444479"/>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extLst mod="1">
    <p:ext uri="{DCECCB84-F9BA-43D5-87BE-67443E8EF086}">
      <p15:sldGuideLst xmlns:p15="http://schemas.microsoft.com/office/powerpoint/2012/main">
        <p15:guide id="1" orient="horz" pos="1800" userDrawn="1">
          <p15:clr>
            <a:srgbClr val="FBAE40"/>
          </p15:clr>
        </p15:guide>
        <p15:guide id="2" pos="288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Subtema - Video">
    <p:spTree>
      <p:nvGrpSpPr>
        <p:cNvPr id="1" name=""/>
        <p:cNvGrpSpPr/>
        <p:nvPr/>
      </p:nvGrpSpPr>
      <p:grpSpPr>
        <a:xfrm>
          <a:off x="0" y="0"/>
          <a:ext cx="0" cy="0"/>
          <a:chOff x="0" y="0"/>
          <a:chExt cx="0" cy="0"/>
        </a:xfrm>
      </p:grpSpPr>
    </p:spTree>
    <p:extLst>
      <p:ext uri="{BB962C8B-B14F-4D97-AF65-F5344CB8AC3E}">
        <p14:creationId xmlns:p14="http://schemas.microsoft.com/office/powerpoint/2010/main" val="3008675285"/>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emf"/><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6" name="Rectangle 3">
            <a:extLst>
              <a:ext uri="{FF2B5EF4-FFF2-40B4-BE49-F238E27FC236}">
                <a16:creationId xmlns:a16="http://schemas.microsoft.com/office/drawing/2014/main" id="{E431DC42-303B-F545-9789-3724F9E97760}"/>
              </a:ext>
            </a:extLst>
          </p:cNvPr>
          <p:cNvSpPr/>
          <p:nvPr userDrawn="1"/>
        </p:nvSpPr>
        <p:spPr>
          <a:xfrm>
            <a:off x="7359912" y="5371562"/>
            <a:ext cx="1388522" cy="184666"/>
          </a:xfrm>
          <a:prstGeom prst="rect">
            <a:avLst/>
          </a:prstGeom>
        </p:spPr>
        <p:txBody>
          <a:bodyPr wrap="none">
            <a:spAutoFit/>
          </a:bodyPr>
          <a:lstStyle/>
          <a:p>
            <a:pPr algn="r"/>
            <a:r>
              <a:rPr lang="es-ES_tradnl" sz="600" b="0" i="0" dirty="0">
                <a:solidFill>
                  <a:schemeClr val="bg1">
                    <a:lumMod val="50000"/>
                  </a:schemeClr>
                </a:solidFill>
                <a:latin typeface="Calibri" panose="020F0502020204030204" pitchFamily="34" charset="0"/>
              </a:rPr>
              <a:t>© ISIL. Todos los derechos reservados.</a:t>
            </a:r>
          </a:p>
        </p:txBody>
      </p:sp>
      <p:sp>
        <p:nvSpPr>
          <p:cNvPr id="6" name="TextBox 7">
            <a:extLst>
              <a:ext uri="{FF2B5EF4-FFF2-40B4-BE49-F238E27FC236}">
                <a16:creationId xmlns:a16="http://schemas.microsoft.com/office/drawing/2014/main" id="{9372701D-0A84-0448-9BAF-91437343CCCB}"/>
              </a:ext>
            </a:extLst>
          </p:cNvPr>
          <p:cNvSpPr txBox="1"/>
          <p:nvPr userDrawn="1"/>
        </p:nvSpPr>
        <p:spPr>
          <a:xfrm>
            <a:off x="876299" y="5343295"/>
            <a:ext cx="2566147" cy="215444"/>
          </a:xfrm>
          <a:prstGeom prst="rect">
            <a:avLst/>
          </a:prstGeom>
          <a:noFill/>
        </p:spPr>
        <p:txBody>
          <a:bodyPr wrap="square" rtlCol="0">
            <a:spAutoFit/>
          </a:bodyPr>
          <a:lstStyle/>
          <a:p>
            <a:r>
              <a:rPr lang="en-US" sz="800" kern="1200" dirty="0">
                <a:solidFill>
                  <a:schemeClr val="bg1">
                    <a:lumMod val="50000"/>
                  </a:schemeClr>
                </a:solidFill>
                <a:latin typeface="Calibri"/>
                <a:ea typeface="+mn-ea"/>
                <a:cs typeface="Calibri"/>
                <a:sym typeface="Wingdings"/>
              </a:rPr>
              <a:t>ANÁLISIS ESTADÍSTICO Y DATA MINING </a:t>
            </a:r>
            <a:r>
              <a:rPr lang="en-US" sz="800" dirty="0">
                <a:solidFill>
                  <a:schemeClr val="bg1">
                    <a:lumMod val="50000"/>
                  </a:schemeClr>
                </a:solidFill>
                <a:latin typeface="Calibri"/>
                <a:ea typeface="Wingdings"/>
                <a:cs typeface="Calibri"/>
                <a:sym typeface="Wingdings"/>
              </a:rPr>
              <a:t></a:t>
            </a:r>
            <a:r>
              <a:rPr lang="en-US" sz="800" kern="1200" dirty="0">
                <a:solidFill>
                  <a:schemeClr val="bg1">
                    <a:lumMod val="50000"/>
                  </a:schemeClr>
                </a:solidFill>
                <a:latin typeface="Calibri"/>
                <a:ea typeface="+mn-ea"/>
                <a:cs typeface="Calibri"/>
                <a:sym typeface="Wingdings"/>
              </a:rPr>
              <a:t> TEMA 01</a:t>
            </a:r>
            <a:endParaRPr lang="en-US" sz="800" dirty="0">
              <a:solidFill>
                <a:schemeClr val="bg1">
                  <a:lumMod val="50000"/>
                </a:schemeClr>
              </a:solidFill>
              <a:latin typeface="Calibri"/>
              <a:cs typeface="Calibri"/>
            </a:endParaRPr>
          </a:p>
        </p:txBody>
      </p:sp>
      <p:pic>
        <p:nvPicPr>
          <p:cNvPr id="7" name="Imagen 6">
            <a:extLst>
              <a:ext uri="{FF2B5EF4-FFF2-40B4-BE49-F238E27FC236}">
                <a16:creationId xmlns:a16="http://schemas.microsoft.com/office/drawing/2014/main" id="{7E0D14F7-6E9D-9E40-BFFD-243BDDA808DD}"/>
              </a:ext>
            </a:extLst>
          </p:cNvPr>
          <p:cNvPicPr>
            <a:picLocks noChangeAspect="1"/>
          </p:cNvPicPr>
          <p:nvPr userDrawn="1"/>
        </p:nvPicPr>
        <p:blipFill>
          <a:blip r:embed="rId6" cstate="screen">
            <a:alphaModFix amt="20000"/>
            <a:extLst>
              <a:ext uri="{28A0092B-C50C-407E-A947-70E740481C1C}">
                <a14:useLocalDpi xmlns:a14="http://schemas.microsoft.com/office/drawing/2010/main"/>
              </a:ext>
            </a:extLst>
          </a:blip>
          <a:stretch>
            <a:fillRect/>
          </a:stretch>
        </p:blipFill>
        <p:spPr>
          <a:xfrm>
            <a:off x="506316" y="5349405"/>
            <a:ext cx="369984" cy="206823"/>
          </a:xfrm>
          <a:prstGeom prst="rect">
            <a:avLst/>
          </a:prstGeom>
        </p:spPr>
      </p:pic>
    </p:spTree>
  </p:cSld>
  <p:clrMap bg1="lt1" tx1="dk1" bg2="lt2" tx2="dk2" accent1="accent1" accent2="accent2" accent3="accent3" accent4="accent4" accent5="accent5" accent6="accent6" hlink="hlink" folHlink="folHlink"/>
  <p:sldLayoutIdLst>
    <p:sldLayoutId id="2147483683" r:id="rId1"/>
    <p:sldLayoutId id="2147483673" r:id="rId2"/>
    <p:sldLayoutId id="2147483684" r:id="rId3"/>
    <p:sldLayoutId id="2147483698" r:id="rId4"/>
  </p:sldLayoutIdLst>
  <mc:AlternateContent xmlns:mc="http://schemas.openxmlformats.org/markup-compatibility/2006" xmlns:p14="http://schemas.microsoft.com/office/powerpoint/2010/main">
    <mc:Choice Requires="p14">
      <p:transition p14:dur="10" advClick="0"/>
    </mc:Choice>
    <mc:Fallback xmlns="">
      <p:transition advClick="0"/>
    </mc:Fallback>
  </mc:AlternateContent>
  <p:hf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lang="es-ES" sz="3200" b="0" smtClean="0">
          <a:solidFill>
            <a:schemeClr val="tx1"/>
          </a:solidFill>
          <a:latin typeface="+mn-lt"/>
          <a:ea typeface="+mn-ea"/>
          <a:cs typeface="+mn-cs"/>
        </a:defRPr>
      </a:lvl1pPr>
      <a:lvl2pPr marL="742950" indent="-285750" algn="l" rtl="0" eaLnBrk="0" fontAlgn="base" hangingPunct="0">
        <a:spcBef>
          <a:spcPct val="20000"/>
        </a:spcBef>
        <a:spcAft>
          <a:spcPct val="0"/>
        </a:spcAft>
        <a:buChar char="–"/>
        <a:defRPr lang="es-ES" sz="2800" smtClean="0">
          <a:solidFill>
            <a:schemeClr val="tx1"/>
          </a:solidFill>
          <a:latin typeface="+mn-lt"/>
        </a:defRPr>
      </a:lvl2pPr>
      <a:lvl3pPr marL="1143000" indent="-228600" algn="l" rtl="0" eaLnBrk="0" fontAlgn="base" hangingPunct="0">
        <a:spcBef>
          <a:spcPct val="20000"/>
        </a:spcBef>
        <a:spcAft>
          <a:spcPct val="0"/>
        </a:spcAft>
        <a:buChar char="•"/>
        <a:defRPr lang="es-ES" sz="2400" smtClean="0">
          <a:solidFill>
            <a:schemeClr val="tx1"/>
          </a:solidFill>
          <a:latin typeface="+mn-lt"/>
        </a:defRPr>
      </a:lvl3pPr>
      <a:lvl4pPr marL="1600200" indent="-228600" algn="l" rtl="0" eaLnBrk="0" fontAlgn="base" hangingPunct="0">
        <a:spcBef>
          <a:spcPct val="20000"/>
        </a:spcBef>
        <a:spcAft>
          <a:spcPct val="0"/>
        </a:spcAft>
        <a:buChar char="–"/>
        <a:defRPr lang="es-ES" sz="2000" smtClean="0">
          <a:solidFill>
            <a:schemeClr val="tx1"/>
          </a:solidFill>
          <a:latin typeface="+mn-lt"/>
        </a:defRPr>
      </a:lvl4pPr>
      <a:lvl5pPr marL="2057400" indent="-228600" algn="l" rtl="0" eaLnBrk="0" fontAlgn="base" hangingPunct="0">
        <a:spcBef>
          <a:spcPct val="20000"/>
        </a:spcBef>
        <a:spcAft>
          <a:spcPct val="0"/>
        </a:spcAft>
        <a:buChar char="»"/>
        <a:defRPr lang="es-ES" sz="2000" smtClean="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303" userDrawn="1">
          <p15:clr>
            <a:srgbClr val="F26B43"/>
          </p15:clr>
        </p15:guide>
        <p15:guide id="2" pos="2880" userDrawn="1">
          <p15:clr>
            <a:srgbClr val="F26B43"/>
          </p15:clr>
        </p15:guide>
        <p15:guide id="3" pos="2993" userDrawn="1">
          <p15:clr>
            <a:srgbClr val="F26B43"/>
          </p15:clr>
        </p15:guide>
        <p15:guide id="4" pos="2767" userDrawn="1">
          <p15:clr>
            <a:srgbClr val="F26B43"/>
          </p15:clr>
        </p15:guide>
        <p15:guide id="5" pos="5465" userDrawn="1">
          <p15:clr>
            <a:srgbClr val="F26B43"/>
          </p15:clr>
        </p15:guide>
        <p15:guide id="6" orient="horz" pos="575" userDrawn="1">
          <p15:clr>
            <a:srgbClr val="F26B43"/>
          </p15:clr>
        </p15:guide>
        <p15:guide id="7" orient="horz" pos="3297" userDrawn="1">
          <p15:clr>
            <a:srgbClr val="F26B43"/>
          </p15:clr>
        </p15:guide>
        <p15:guide id="8" pos="317"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6.tiff"/><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emf"/></Relationships>
</file>

<file path=ppt/slides/_rels/slide3.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20.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5.xml"/><Relationship Id="rId1" Type="http://schemas.openxmlformats.org/officeDocument/2006/relationships/slideLayout" Target="../slideLayouts/slideLayout3.xml"/><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3.xml"/><Relationship Id="rId1" Type="http://schemas.openxmlformats.org/officeDocument/2006/relationships/vmlDrawing" Target="../drawings/vmlDrawing1.vml"/><Relationship Id="rId5" Type="http://schemas.openxmlformats.org/officeDocument/2006/relationships/image" Target="../media/image22.emf"/><Relationship Id="rId4" Type="http://schemas.openxmlformats.org/officeDocument/2006/relationships/oleObject" Target="../embeddings/oleObject1.bin"/></Relationships>
</file>

<file path=ppt/slides/_rels/slide2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notesSlide" Target="../notesSlides/notesSlide27.xml"/><Relationship Id="rId1" Type="http://schemas.openxmlformats.org/officeDocument/2006/relationships/slideLayout" Target="../slideLayouts/slideLayout4.xml"/><Relationship Id="rId6" Type="http://schemas.openxmlformats.org/officeDocument/2006/relationships/image" Target="../media/image30.emf"/><Relationship Id="rId5" Type="http://schemas.openxmlformats.org/officeDocument/2006/relationships/image" Target="../media/image29.emf"/><Relationship Id="rId4" Type="http://schemas.openxmlformats.org/officeDocument/2006/relationships/image" Target="../media/image28.emf"/></Relationships>
</file>

<file path=ppt/slides/_rels/slide3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34.emf"/><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image" Target="../media/image36.emf"/><Relationship Id="rId2" Type="http://schemas.openxmlformats.org/officeDocument/2006/relationships/notesSlide" Target="../notesSlides/notesSlide34.xml"/><Relationship Id="rId1" Type="http://schemas.openxmlformats.org/officeDocument/2006/relationships/slideLayout" Target="../slideLayouts/slideLayout3.xml"/><Relationship Id="rId4" Type="http://schemas.openxmlformats.org/officeDocument/2006/relationships/image" Target="../media/image37.png"/></Relationships>
</file>

<file path=ppt/slides/_rels/slide4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5.xml"/><Relationship Id="rId1" Type="http://schemas.openxmlformats.org/officeDocument/2006/relationships/slideLayout" Target="../slideLayouts/slideLayout4.xml"/><Relationship Id="rId4" Type="http://schemas.openxmlformats.org/officeDocument/2006/relationships/image" Target="../media/image39.emf"/></Relationships>
</file>

<file path=ppt/slides/_rels/slide4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0.xml"/><Relationship Id="rId1" Type="http://schemas.openxmlformats.org/officeDocument/2006/relationships/slideLayout" Target="../slideLayouts/slideLayout3.xml"/><Relationship Id="rId4" Type="http://schemas.openxmlformats.org/officeDocument/2006/relationships/image" Target="../media/image43.png"/></Relationships>
</file>

<file path=ppt/slides/_rels/slide4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7.emf"/><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3" Type="http://schemas.openxmlformats.org/officeDocument/2006/relationships/image" Target="../media/image45.emf"/><Relationship Id="rId2" Type="http://schemas.openxmlformats.org/officeDocument/2006/relationships/notesSlide" Target="../notesSlides/notesSlide41.xml"/><Relationship Id="rId1" Type="http://schemas.openxmlformats.org/officeDocument/2006/relationships/slideLayout" Target="../slideLayouts/slideLayout3.xml"/><Relationship Id="rId4" Type="http://schemas.openxmlformats.org/officeDocument/2006/relationships/image" Target="../media/image46.png"/></Relationships>
</file>

<file path=ppt/slides/_rels/slide49.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7.emf"/><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emf"/><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image" Target="../media/image50.emf"/><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Rectángulo 40"/>
          <p:cNvSpPr/>
          <p:nvPr/>
        </p:nvSpPr>
        <p:spPr>
          <a:xfrm>
            <a:off x="182879" y="5120640"/>
            <a:ext cx="4304965" cy="46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sp>
        <p:nvSpPr>
          <p:cNvPr id="23" name="CuadroTexto 22">
            <a:extLst>
              <a:ext uri="{FF2B5EF4-FFF2-40B4-BE49-F238E27FC236}">
                <a16:creationId xmlns:a16="http://schemas.microsoft.com/office/drawing/2014/main" id="{00376003-8003-B944-8B01-9A232A7A385C}"/>
              </a:ext>
            </a:extLst>
          </p:cNvPr>
          <p:cNvSpPr txBox="1"/>
          <p:nvPr/>
        </p:nvSpPr>
        <p:spPr>
          <a:xfrm>
            <a:off x="503238" y="808689"/>
            <a:ext cx="3104743" cy="138499"/>
          </a:xfrm>
          <a:prstGeom prst="rect">
            <a:avLst/>
          </a:prstGeom>
          <a:noFill/>
        </p:spPr>
        <p:txBody>
          <a:bodyPr wrap="square" lIns="0" tIns="0" rIns="0" bIns="0" rtlCol="0">
            <a:spAutoFit/>
          </a:bodyPr>
          <a:lstStyle/>
          <a:p>
            <a:r>
              <a:rPr lang="es-ES_tradnl" sz="900" b="1" dirty="0">
                <a:solidFill>
                  <a:schemeClr val="bg1">
                    <a:lumMod val="50000"/>
                  </a:schemeClr>
                </a:solidFill>
                <a:latin typeface="Calibri" charset="0"/>
                <a:cs typeface="Calibri" charset="0"/>
              </a:rPr>
              <a:t>ANÁLISIS ESTADÍSTICO Y DATA MINING</a:t>
            </a:r>
          </a:p>
        </p:txBody>
      </p:sp>
      <p:sp>
        <p:nvSpPr>
          <p:cNvPr id="25" name="Rectángulo 24"/>
          <p:cNvSpPr/>
          <p:nvPr/>
        </p:nvSpPr>
        <p:spPr>
          <a:xfrm>
            <a:off x="503239" y="2177570"/>
            <a:ext cx="3056852" cy="886397"/>
          </a:xfrm>
          <a:prstGeom prst="rect">
            <a:avLst/>
          </a:prstGeom>
        </p:spPr>
        <p:txBody>
          <a:bodyPr wrap="square" lIns="0" tIns="0" rIns="0" bIns="0">
            <a:spAutoFit/>
          </a:bodyPr>
          <a:lstStyle/>
          <a:p>
            <a:pPr>
              <a:lnSpc>
                <a:spcPct val="90000"/>
              </a:lnSpc>
            </a:pPr>
            <a:r>
              <a:rPr lang="es-PE" sz="3200" dirty="0">
                <a:latin typeface="Graphik-Medium" charset="0"/>
                <a:ea typeface="Graphik-Medium" charset="0"/>
                <a:cs typeface="Graphik-Medium" charset="0"/>
              </a:rPr>
              <a:t>ESTADÍSTICA</a:t>
            </a:r>
          </a:p>
          <a:p>
            <a:pPr>
              <a:lnSpc>
                <a:spcPct val="90000"/>
              </a:lnSpc>
            </a:pPr>
            <a:r>
              <a:rPr lang="es-PE" sz="3200" b="1" dirty="0">
                <a:latin typeface="Graphik Bold" charset="0"/>
                <a:ea typeface="Graphik Bold" charset="0"/>
                <a:cs typeface="Graphik Bold" charset="0"/>
              </a:rPr>
              <a:t>DESCRIPTIVA</a:t>
            </a:r>
          </a:p>
        </p:txBody>
      </p:sp>
      <p:sp>
        <p:nvSpPr>
          <p:cNvPr id="27" name="Rectángulo 26"/>
          <p:cNvSpPr/>
          <p:nvPr/>
        </p:nvSpPr>
        <p:spPr>
          <a:xfrm>
            <a:off x="503238" y="3219842"/>
            <a:ext cx="2845526" cy="2201244"/>
          </a:xfrm>
          <a:prstGeom prst="rect">
            <a:avLst/>
          </a:prstGeom>
        </p:spPr>
        <p:txBody>
          <a:bodyPr wrap="square" lIns="0" tIns="0" rIns="0" bIns="0">
            <a:spAutoFit/>
          </a:bodyPr>
          <a:lstStyle/>
          <a:p>
            <a:pPr marL="177800" indent="-177800">
              <a:lnSpc>
                <a:spcPct val="120000"/>
              </a:lnSpc>
              <a:buClr>
                <a:srgbClr val="C18D2F"/>
              </a:buClr>
              <a:buSzPct val="100000"/>
              <a:buFont typeface="Arial"/>
              <a:buChar char="•"/>
            </a:pPr>
            <a:r>
              <a:rPr lang="es-MX" sz="1200" dirty="0">
                <a:latin typeface="Graphik-Medium" charset="0"/>
                <a:ea typeface="Graphik-Medium" charset="0"/>
                <a:cs typeface="Graphik-Medium" charset="0"/>
              </a:rPr>
              <a:t>Medidas de tendencia central: media, mediana, moda</a:t>
            </a:r>
          </a:p>
          <a:p>
            <a:pPr marL="177800" indent="-177800">
              <a:lnSpc>
                <a:spcPct val="120000"/>
              </a:lnSpc>
              <a:buClr>
                <a:srgbClr val="C18D2F"/>
              </a:buClr>
              <a:buSzPct val="100000"/>
              <a:buFont typeface="Arial"/>
              <a:buChar char="•"/>
            </a:pPr>
            <a:r>
              <a:rPr lang="es-MX" sz="1200" dirty="0">
                <a:latin typeface="Graphik-Medium" charset="0"/>
                <a:ea typeface="Graphik-Medium" charset="0"/>
                <a:cs typeface="Graphik-Medium" charset="0"/>
              </a:rPr>
              <a:t>Medidas de dispersión: varianza, desviación estándar</a:t>
            </a:r>
          </a:p>
          <a:p>
            <a:pPr marL="177800" indent="-177800">
              <a:lnSpc>
                <a:spcPct val="120000"/>
              </a:lnSpc>
              <a:buClr>
                <a:srgbClr val="C18D2F"/>
              </a:buClr>
              <a:buSzPct val="100000"/>
              <a:buFont typeface="Arial"/>
              <a:buChar char="•"/>
            </a:pPr>
            <a:r>
              <a:rPr lang="es-MX" sz="1200" dirty="0">
                <a:latin typeface="Graphik-Medium" charset="0"/>
                <a:ea typeface="Graphik-Medium" charset="0"/>
                <a:cs typeface="Graphik-Medium" charset="0"/>
              </a:rPr>
              <a:t>Representación gráfica: histogramas, diagramas de caja</a:t>
            </a:r>
          </a:p>
          <a:p>
            <a:pPr marL="177800" indent="-177800">
              <a:lnSpc>
                <a:spcPct val="120000"/>
              </a:lnSpc>
              <a:buClr>
                <a:srgbClr val="C18D2F"/>
              </a:buClr>
              <a:buSzPct val="100000"/>
              <a:buFont typeface="Arial"/>
              <a:buChar char="•"/>
            </a:pPr>
            <a:r>
              <a:rPr lang="es-MX" sz="1200" dirty="0">
                <a:latin typeface="Graphik-Medium" charset="0"/>
                <a:ea typeface="Graphik-Medium" charset="0"/>
                <a:cs typeface="Graphik-Medium" charset="0"/>
              </a:rPr>
              <a:t>Tipos de datos: nominales, ordinales, continuos</a:t>
            </a:r>
          </a:p>
          <a:p>
            <a:pPr marL="177800" indent="-177800">
              <a:lnSpc>
                <a:spcPct val="120000"/>
              </a:lnSpc>
              <a:buClr>
                <a:srgbClr val="C18D2F"/>
              </a:buClr>
              <a:buSzPct val="100000"/>
              <a:buFont typeface="Arial"/>
              <a:buChar char="•"/>
            </a:pPr>
            <a:r>
              <a:rPr lang="es-MX" sz="1200" dirty="0">
                <a:latin typeface="Graphik-Medium" charset="0"/>
                <a:ea typeface="Graphik-Medium" charset="0"/>
                <a:cs typeface="Graphik-Medium" charset="0"/>
              </a:rPr>
              <a:t>Distribución de datos: normal, sesgada, </a:t>
            </a:r>
            <a:r>
              <a:rPr lang="es-MX" sz="1200" dirty="0" err="1">
                <a:latin typeface="Graphik-Medium" charset="0"/>
                <a:ea typeface="Graphik-Medium" charset="0"/>
                <a:cs typeface="Graphik-Medium" charset="0"/>
              </a:rPr>
              <a:t>kurtosis</a:t>
            </a:r>
            <a:endParaRPr lang="es-MX" sz="1200" dirty="0">
              <a:latin typeface="Graphik-Medium" charset="0"/>
              <a:ea typeface="Graphik-Medium" charset="0"/>
              <a:cs typeface="Graphik-Medium" charset="0"/>
            </a:endParaRPr>
          </a:p>
        </p:txBody>
      </p:sp>
      <p:sp>
        <p:nvSpPr>
          <p:cNvPr id="28" name="CuadroTexto 27">
            <a:extLst>
              <a:ext uri="{FF2B5EF4-FFF2-40B4-BE49-F238E27FC236}">
                <a16:creationId xmlns:a16="http://schemas.microsoft.com/office/drawing/2014/main" id="{93FC3217-3DCC-0941-BA6B-6CEEC9F1D080}"/>
              </a:ext>
            </a:extLst>
          </p:cNvPr>
          <p:cNvSpPr txBox="1"/>
          <p:nvPr/>
        </p:nvSpPr>
        <p:spPr>
          <a:xfrm>
            <a:off x="743902" y="1819386"/>
            <a:ext cx="1457648" cy="307777"/>
          </a:xfrm>
          <a:prstGeom prst="rect">
            <a:avLst/>
          </a:prstGeom>
          <a:noFill/>
        </p:spPr>
        <p:txBody>
          <a:bodyPr wrap="square" lIns="0" tIns="0" rIns="0" bIns="0" rtlCol="0">
            <a:spAutoFit/>
          </a:bodyPr>
          <a:lstStyle/>
          <a:p>
            <a:r>
              <a:rPr lang="es-ES_tradnl" sz="2000" b="1" dirty="0">
                <a:solidFill>
                  <a:srgbClr val="C18D2F"/>
                </a:solidFill>
                <a:latin typeface="Calibri" charset="0"/>
                <a:ea typeface="Calibri" charset="0"/>
                <a:cs typeface="Calibri" charset="0"/>
              </a:rPr>
              <a:t>TEMA 01</a:t>
            </a:r>
          </a:p>
        </p:txBody>
      </p:sp>
      <p:pic>
        <p:nvPicPr>
          <p:cNvPr id="29" name="Imagen 28"/>
          <p:cNvPicPr>
            <a:picLocks noChangeAspect="1"/>
          </p:cNvPicPr>
          <p:nvPr/>
        </p:nvPicPr>
        <p:blipFill>
          <a:blip r:embed="rId3"/>
          <a:stretch>
            <a:fillRect/>
          </a:stretch>
        </p:blipFill>
        <p:spPr>
          <a:xfrm>
            <a:off x="507464" y="1883411"/>
            <a:ext cx="166865" cy="170453"/>
          </a:xfrm>
          <a:prstGeom prst="rect">
            <a:avLst/>
          </a:prstGeom>
        </p:spPr>
      </p:pic>
      <p:pic>
        <p:nvPicPr>
          <p:cNvPr id="4" name="Imagen 3">
            <a:extLst>
              <a:ext uri="{FF2B5EF4-FFF2-40B4-BE49-F238E27FC236}">
                <a16:creationId xmlns:a16="http://schemas.microsoft.com/office/drawing/2014/main" id="{6D0633E4-6F2A-4BA5-BEE8-C13BD2D68FC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748087" y="0"/>
            <a:ext cx="5395913" cy="5715000"/>
          </a:xfrm>
          <a:prstGeom prst="rect">
            <a:avLst/>
          </a:prstGeom>
        </p:spPr>
      </p:pic>
    </p:spTree>
    <p:extLst>
      <p:ext uri="{BB962C8B-B14F-4D97-AF65-F5344CB8AC3E}">
        <p14:creationId xmlns:p14="http://schemas.microsoft.com/office/powerpoint/2010/main" val="554447332"/>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0" y="1"/>
            <a:ext cx="9144000" cy="5715000"/>
          </a:xfrm>
          <a:prstGeom prst="rect">
            <a:avLst/>
          </a:prstGeom>
          <a:solidFill>
            <a:srgbClr val="ED43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pic>
        <p:nvPicPr>
          <p:cNvPr id="7" name="Imagen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 y="946969"/>
            <a:ext cx="2072213" cy="3898064"/>
          </a:xfrm>
          <a:prstGeom prst="rect">
            <a:avLst/>
          </a:prstGeom>
        </p:spPr>
      </p:pic>
      <p:sp>
        <p:nvSpPr>
          <p:cNvPr id="6" name="Rectángulo 5"/>
          <p:cNvSpPr/>
          <p:nvPr/>
        </p:nvSpPr>
        <p:spPr>
          <a:xfrm>
            <a:off x="149817" y="3724759"/>
            <a:ext cx="1037633" cy="1069383"/>
          </a:xfrm>
          <a:prstGeom prst="rect">
            <a:avLst/>
          </a:prstGeom>
          <a:solidFill>
            <a:srgbClr val="ED43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sp>
        <p:nvSpPr>
          <p:cNvPr id="4" name="CuadroTexto 3"/>
          <p:cNvSpPr txBox="1"/>
          <p:nvPr/>
        </p:nvSpPr>
        <p:spPr>
          <a:xfrm>
            <a:off x="2519363" y="2540738"/>
            <a:ext cx="4581728" cy="812530"/>
          </a:xfrm>
          <a:prstGeom prst="rect">
            <a:avLst/>
          </a:prstGeom>
          <a:noFill/>
        </p:spPr>
        <p:txBody>
          <a:bodyPr wrap="square" lIns="0" tIns="0" rIns="0" bIns="0" rtlCol="0">
            <a:spAutoFit/>
          </a:bodyPr>
          <a:lstStyle/>
          <a:p>
            <a:pPr>
              <a:lnSpc>
                <a:spcPct val="80000"/>
              </a:lnSpc>
            </a:pPr>
            <a:r>
              <a:rPr lang="es-ES_tradnl" sz="3300" dirty="0">
                <a:solidFill>
                  <a:schemeClr val="bg1"/>
                </a:solidFill>
                <a:latin typeface="Graphik Regular" charset="0"/>
                <a:ea typeface="Graphik Regular" charset="0"/>
                <a:cs typeface="Graphik Regular" charset="0"/>
              </a:rPr>
              <a:t>INTRODUCCIÓN</a:t>
            </a:r>
          </a:p>
          <a:p>
            <a:pPr>
              <a:lnSpc>
                <a:spcPct val="80000"/>
              </a:lnSpc>
            </a:pPr>
            <a:r>
              <a:rPr lang="es-ES_tradnl" sz="3300" b="1" dirty="0">
                <a:solidFill>
                  <a:schemeClr val="bg1"/>
                </a:solidFill>
                <a:latin typeface="Graphik Bold" charset="0"/>
                <a:ea typeface="Graphik Bold" charset="0"/>
                <a:cs typeface="Graphik Bold" charset="0"/>
              </a:rPr>
              <a:t>DE LA SESIÓN</a:t>
            </a:r>
          </a:p>
        </p:txBody>
      </p:sp>
      <p:pic>
        <p:nvPicPr>
          <p:cNvPr id="3" name="Imagen 2"/>
          <p:cNvPicPr>
            <a:picLocks noChangeAspect="1"/>
          </p:cNvPicPr>
          <p:nvPr/>
        </p:nvPicPr>
        <p:blipFill>
          <a:blip r:embed="rId3">
            <a:alphaModFix amt="16000"/>
          </a:blip>
          <a:stretch>
            <a:fillRect/>
          </a:stretch>
        </p:blipFill>
        <p:spPr>
          <a:xfrm>
            <a:off x="334433" y="3817749"/>
            <a:ext cx="809264" cy="809264"/>
          </a:xfrm>
          <a:prstGeom prst="rect">
            <a:avLst/>
          </a:prstGeom>
        </p:spPr>
      </p:pic>
      <p:pic>
        <p:nvPicPr>
          <p:cNvPr id="9" name="Imagen 8">
            <a:extLst>
              <a:ext uri="{FF2B5EF4-FFF2-40B4-BE49-F238E27FC236}">
                <a16:creationId xmlns:a16="http://schemas.microsoft.com/office/drawing/2014/main" id="{2CD7628C-6304-5D4B-BA7D-591238143DE2}"/>
              </a:ext>
            </a:extLst>
          </p:cNvPr>
          <p:cNvPicPr>
            <a:picLocks noChangeAspect="1"/>
          </p:cNvPicPr>
          <p:nvPr/>
        </p:nvPicPr>
        <p:blipFill>
          <a:blip r:embed="rId4"/>
          <a:stretch>
            <a:fillRect/>
          </a:stretch>
        </p:blipFill>
        <p:spPr>
          <a:xfrm>
            <a:off x="2528619" y="2194222"/>
            <a:ext cx="202176" cy="208211"/>
          </a:xfrm>
          <a:prstGeom prst="rect">
            <a:avLst/>
          </a:prstGeom>
        </p:spPr>
      </p:pic>
    </p:spTree>
    <p:extLst>
      <p:ext uri="{BB962C8B-B14F-4D97-AF65-F5344CB8AC3E}">
        <p14:creationId xmlns:p14="http://schemas.microsoft.com/office/powerpoint/2010/main" val="2334709396"/>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6918960" y="5364480"/>
            <a:ext cx="2133600" cy="2244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sp>
        <p:nvSpPr>
          <p:cNvPr id="7" name="object 7"/>
          <p:cNvSpPr txBox="1"/>
          <p:nvPr/>
        </p:nvSpPr>
        <p:spPr>
          <a:xfrm>
            <a:off x="1282298" y="918372"/>
            <a:ext cx="5757480" cy="3662541"/>
          </a:xfrm>
          <a:prstGeom prst="rect">
            <a:avLst/>
          </a:prstGeom>
        </p:spPr>
        <p:txBody>
          <a:bodyPr vert="horz" wrap="square" lIns="0" tIns="0" rIns="0" bIns="0" rtlCol="0">
            <a:spAutoFit/>
          </a:bodyPr>
          <a:lstStyle/>
          <a:p>
            <a:pPr marL="12700">
              <a:buClr>
                <a:srgbClr val="EE4639"/>
              </a:buClr>
              <a:tabLst>
                <a:tab pos="120650" algn="l"/>
              </a:tabLst>
            </a:pPr>
            <a:r>
              <a:rPr lang="es-ES" sz="1400" dirty="0">
                <a:latin typeface="Calibri" charset="0"/>
                <a:ea typeface="Calibri" charset="0"/>
                <a:cs typeface="Calibri" charset="0"/>
              </a:rPr>
              <a:t>La estadística descriptiva es la base fundamental del análisis de datos, puesto que permite organizar, resumir e interpretar la información obtenida de observaciones y/o encuestas. Su objetivo principal es transformar los datos en información comprensible para la toma de decisiones.</a:t>
            </a:r>
          </a:p>
          <a:p>
            <a:pPr marL="12700">
              <a:buClr>
                <a:srgbClr val="EE4639"/>
              </a:buClr>
              <a:tabLst>
                <a:tab pos="120650" algn="l"/>
              </a:tabLst>
            </a:pPr>
            <a:endParaRPr lang="en-GB" sz="1400" dirty="0">
              <a:latin typeface="Calibri" charset="0"/>
              <a:ea typeface="Calibri" charset="0"/>
              <a:cs typeface="Calibri" charset="0"/>
            </a:endParaRPr>
          </a:p>
          <a:p>
            <a:pPr marL="12700">
              <a:buClr>
                <a:srgbClr val="EE4639"/>
              </a:buClr>
              <a:tabLst>
                <a:tab pos="120650" algn="l"/>
              </a:tabLst>
            </a:pPr>
            <a:r>
              <a:rPr lang="es-ES" sz="1400" dirty="0">
                <a:latin typeface="Calibri" charset="0"/>
                <a:cs typeface="Calibri" charset="0"/>
              </a:rPr>
              <a:t>En un  entorno empresarial, las herramientas de la estadística descriptiva permiten analizar ventas, ingresos, costos o comportamientos de consumidores, proporcionando una visión clara del rendimiento y las tendencias del negocio.</a:t>
            </a:r>
          </a:p>
          <a:p>
            <a:pPr marL="12700">
              <a:buClr>
                <a:srgbClr val="EE4639"/>
              </a:buClr>
              <a:tabLst>
                <a:tab pos="120650" algn="l"/>
              </a:tabLst>
            </a:pPr>
            <a:endParaRPr lang="en-GB" sz="1400" dirty="0">
              <a:latin typeface="Calibri" charset="0"/>
              <a:ea typeface="Calibri" charset="0"/>
              <a:cs typeface="Calibri" charset="0"/>
            </a:endParaRPr>
          </a:p>
          <a:p>
            <a:pPr marL="12700">
              <a:buClr>
                <a:srgbClr val="EE4639"/>
              </a:buClr>
              <a:tabLst>
                <a:tab pos="120650" algn="l"/>
              </a:tabLst>
            </a:pPr>
            <a:r>
              <a:rPr lang="es-ES" sz="1400" dirty="0">
                <a:latin typeface="Calibri" charset="0"/>
                <a:cs typeface="Calibri" charset="0"/>
              </a:rPr>
              <a:t>A través de indicadores y gráficos estadísticos, se facilita la interpretación visual y cuantitativa de los datos. Estas técnicas ayudan a identificar patrones, valores extremos y distribuciones relevantes.</a:t>
            </a:r>
          </a:p>
          <a:p>
            <a:pPr marL="12700">
              <a:buClr>
                <a:srgbClr val="EE4639"/>
              </a:buClr>
              <a:tabLst>
                <a:tab pos="120650" algn="l"/>
              </a:tabLst>
            </a:pPr>
            <a:endParaRPr lang="en-GB" sz="1400" spc="-10" dirty="0">
              <a:solidFill>
                <a:srgbClr val="262626"/>
              </a:solidFill>
              <a:latin typeface="Calibri" charset="0"/>
              <a:ea typeface="Calibri" charset="0"/>
              <a:cs typeface="Calibri" charset="0"/>
            </a:endParaRPr>
          </a:p>
          <a:p>
            <a:pPr marL="12700">
              <a:buClr>
                <a:srgbClr val="EE4639"/>
              </a:buClr>
              <a:tabLst>
                <a:tab pos="120650" algn="l"/>
              </a:tabLst>
            </a:pPr>
            <a:r>
              <a:rPr lang="es-ES" sz="1400" dirty="0">
                <a:latin typeface="Calibri" charset="0"/>
                <a:cs typeface="Calibri" charset="0"/>
              </a:rPr>
              <a:t>La estadística descriptiva es esencial para todo profesional, ya que constituye el primer paso para aplicar luego métodos analíticos más avanzados como la inferencia estadística o el data mining.</a:t>
            </a:r>
            <a:endParaRPr lang="en-GB" sz="1400" spc="-10" dirty="0">
              <a:solidFill>
                <a:srgbClr val="262626"/>
              </a:solidFill>
              <a:latin typeface="Calibri" charset="0"/>
              <a:ea typeface="Calibri" charset="0"/>
              <a:cs typeface="Calibri" charset="0"/>
            </a:endParaRPr>
          </a:p>
        </p:txBody>
      </p:sp>
      <p:pic>
        <p:nvPicPr>
          <p:cNvPr id="6" name="Imagen 5"/>
          <p:cNvPicPr>
            <a:picLocks noChangeAspect="1"/>
          </p:cNvPicPr>
          <p:nvPr/>
        </p:nvPicPr>
        <p:blipFill>
          <a:blip r:embed="rId3"/>
          <a:stretch>
            <a:fillRect/>
          </a:stretch>
        </p:blipFill>
        <p:spPr>
          <a:xfrm>
            <a:off x="1034629" y="974840"/>
            <a:ext cx="117851" cy="121369"/>
          </a:xfrm>
          <a:prstGeom prst="rect">
            <a:avLst/>
          </a:prstGeom>
        </p:spPr>
      </p:pic>
      <p:pic>
        <p:nvPicPr>
          <p:cNvPr id="14" name="Imagen 13"/>
          <p:cNvPicPr>
            <a:picLocks noChangeAspect="1"/>
          </p:cNvPicPr>
          <p:nvPr/>
        </p:nvPicPr>
        <p:blipFill>
          <a:blip r:embed="rId3"/>
          <a:stretch>
            <a:fillRect/>
          </a:stretch>
        </p:blipFill>
        <p:spPr>
          <a:xfrm>
            <a:off x="1041763" y="2025843"/>
            <a:ext cx="117851" cy="121369"/>
          </a:xfrm>
          <a:prstGeom prst="rect">
            <a:avLst/>
          </a:prstGeom>
        </p:spPr>
      </p:pic>
      <p:sp>
        <p:nvSpPr>
          <p:cNvPr id="2" name="Rectángulo 1"/>
          <p:cNvSpPr/>
          <p:nvPr/>
        </p:nvSpPr>
        <p:spPr>
          <a:xfrm>
            <a:off x="8133347" y="163629"/>
            <a:ext cx="808522" cy="7547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pic>
        <p:nvPicPr>
          <p:cNvPr id="17" name="Imagen 16"/>
          <p:cNvPicPr>
            <a:picLocks noChangeAspect="1"/>
          </p:cNvPicPr>
          <p:nvPr/>
        </p:nvPicPr>
        <p:blipFill>
          <a:blip r:embed="rId4" cstate="print">
            <a:alphaModFix amt="42000"/>
            <a:extLst>
              <a:ext uri="{28A0092B-C50C-407E-A947-70E740481C1C}">
                <a14:useLocalDpi xmlns:a14="http://schemas.microsoft.com/office/drawing/2010/main" val="0"/>
              </a:ext>
            </a:extLst>
          </a:blip>
          <a:stretch>
            <a:fillRect/>
          </a:stretch>
        </p:blipFill>
        <p:spPr>
          <a:xfrm>
            <a:off x="6986661" y="3052731"/>
            <a:ext cx="1689027" cy="2181257"/>
          </a:xfrm>
          <a:prstGeom prst="rect">
            <a:avLst/>
          </a:prstGeom>
        </p:spPr>
      </p:pic>
      <p:pic>
        <p:nvPicPr>
          <p:cNvPr id="10" name="Imagen 9"/>
          <p:cNvPicPr>
            <a:picLocks noChangeAspect="1"/>
          </p:cNvPicPr>
          <p:nvPr/>
        </p:nvPicPr>
        <p:blipFill>
          <a:blip r:embed="rId3"/>
          <a:stretch>
            <a:fillRect/>
          </a:stretch>
        </p:blipFill>
        <p:spPr>
          <a:xfrm>
            <a:off x="1028718" y="3097653"/>
            <a:ext cx="117851" cy="121369"/>
          </a:xfrm>
          <a:prstGeom prst="rect">
            <a:avLst/>
          </a:prstGeom>
        </p:spPr>
      </p:pic>
      <p:sp>
        <p:nvSpPr>
          <p:cNvPr id="9" name="Rectángulo 8"/>
          <p:cNvSpPr/>
          <p:nvPr/>
        </p:nvSpPr>
        <p:spPr>
          <a:xfrm>
            <a:off x="301556" y="5321030"/>
            <a:ext cx="8453337" cy="29183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sp>
        <p:nvSpPr>
          <p:cNvPr id="15" name="Rectangle 5"/>
          <p:cNvSpPr/>
          <p:nvPr/>
        </p:nvSpPr>
        <p:spPr>
          <a:xfrm>
            <a:off x="503238" y="376836"/>
            <a:ext cx="2430462"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charset="0"/>
                <a:ea typeface="Calibri" charset="0"/>
                <a:cs typeface="Calibri" charset="0"/>
              </a:rPr>
              <a:t>INTRODUCCIÓN </a:t>
            </a:r>
          </a:p>
        </p:txBody>
      </p:sp>
      <p:pic>
        <p:nvPicPr>
          <p:cNvPr id="16" name="Imagen 15">
            <a:extLst>
              <a:ext uri="{FF2B5EF4-FFF2-40B4-BE49-F238E27FC236}">
                <a16:creationId xmlns:a16="http://schemas.microsoft.com/office/drawing/2014/main" id="{BFEEE8B2-121F-4480-842A-B02EC951E04B}"/>
              </a:ext>
            </a:extLst>
          </p:cNvPr>
          <p:cNvPicPr>
            <a:picLocks noChangeAspect="1"/>
          </p:cNvPicPr>
          <p:nvPr/>
        </p:nvPicPr>
        <p:blipFill>
          <a:blip r:embed="rId3"/>
          <a:stretch>
            <a:fillRect/>
          </a:stretch>
        </p:blipFill>
        <p:spPr>
          <a:xfrm>
            <a:off x="1024819" y="3945684"/>
            <a:ext cx="117851" cy="121369"/>
          </a:xfrm>
          <a:prstGeom prst="rect">
            <a:avLst/>
          </a:prstGeom>
        </p:spPr>
      </p:pic>
    </p:spTree>
    <p:extLst>
      <p:ext uri="{BB962C8B-B14F-4D97-AF65-F5344CB8AC3E}">
        <p14:creationId xmlns:p14="http://schemas.microsoft.com/office/powerpoint/2010/main" val="783239942"/>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ángulo 9"/>
          <p:cNvSpPr/>
          <p:nvPr/>
        </p:nvSpPr>
        <p:spPr>
          <a:xfrm>
            <a:off x="0" y="0"/>
            <a:ext cx="9144000" cy="5715000"/>
          </a:xfrm>
          <a:prstGeom prst="rect">
            <a:avLst/>
          </a:prstGeom>
          <a:solidFill>
            <a:srgbClr val="8087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sp>
        <p:nvSpPr>
          <p:cNvPr id="18" name="CuadroTexto 17">
            <a:extLst>
              <a:ext uri="{FF2B5EF4-FFF2-40B4-BE49-F238E27FC236}">
                <a16:creationId xmlns:a16="http://schemas.microsoft.com/office/drawing/2014/main" id="{F58EABDC-EE9F-6D4B-8493-73E3A05BE100}"/>
              </a:ext>
            </a:extLst>
          </p:cNvPr>
          <p:cNvSpPr txBox="1"/>
          <p:nvPr/>
        </p:nvSpPr>
        <p:spPr>
          <a:xfrm>
            <a:off x="1008063" y="3169972"/>
            <a:ext cx="5993558" cy="997196"/>
          </a:xfrm>
          <a:prstGeom prst="rect">
            <a:avLst/>
          </a:prstGeom>
          <a:noFill/>
        </p:spPr>
        <p:txBody>
          <a:bodyPr wrap="square" lIns="0" tIns="0" rIns="0" bIns="0" rtlCol="0">
            <a:spAutoFit/>
          </a:bodyPr>
          <a:lstStyle/>
          <a:p>
            <a:pPr>
              <a:lnSpc>
                <a:spcPct val="90000"/>
              </a:lnSpc>
              <a:spcBef>
                <a:spcPts val="1000"/>
              </a:spcBef>
              <a:defRPr/>
            </a:pPr>
            <a:r>
              <a:rPr lang="es-PE" sz="2400" dirty="0">
                <a:solidFill>
                  <a:schemeClr val="bg1"/>
                </a:solidFill>
                <a:latin typeface="Graphik Regular" charset="0"/>
                <a:ea typeface="Graphik Regular" charset="0"/>
                <a:cs typeface="Graphik Regular" charset="0"/>
              </a:rPr>
              <a:t>MEDIDAS DE</a:t>
            </a:r>
            <a:br>
              <a:rPr lang="es-PE" sz="2400" dirty="0">
                <a:solidFill>
                  <a:schemeClr val="bg1"/>
                </a:solidFill>
                <a:latin typeface="Graphik Regular" charset="0"/>
              </a:rPr>
            </a:br>
            <a:r>
              <a:rPr lang="es-PE" sz="2400" b="1" dirty="0">
                <a:solidFill>
                  <a:schemeClr val="bg1"/>
                </a:solidFill>
                <a:latin typeface="Graphik Bold" charset="0"/>
              </a:rPr>
              <a:t>TENDENCIA CENTRAL:</a:t>
            </a:r>
            <a:br>
              <a:rPr lang="es-PE" sz="2400" dirty="0">
                <a:solidFill>
                  <a:schemeClr val="bg1"/>
                </a:solidFill>
                <a:latin typeface="Graphik Regular" charset="0"/>
              </a:rPr>
            </a:br>
            <a:r>
              <a:rPr lang="es-PE" sz="2400" b="1" dirty="0">
                <a:solidFill>
                  <a:schemeClr val="bg1"/>
                </a:solidFill>
                <a:latin typeface="Graphik Bold" charset="0"/>
                <a:ea typeface="Graphik Bold" charset="0"/>
                <a:cs typeface="Graphik Bold" charset="0"/>
              </a:rPr>
              <a:t>MEDIA, MEDIANA, MODA</a:t>
            </a:r>
            <a:endParaRPr lang="es-ES" sz="1400" dirty="0">
              <a:solidFill>
                <a:schemeClr val="bg1"/>
              </a:solidFill>
              <a:latin typeface="Calibri" panose="020F0502020204030204" pitchFamily="34" charset="0"/>
              <a:cs typeface="Calibri"/>
            </a:endParaRPr>
          </a:p>
        </p:txBody>
      </p:sp>
      <p:pic>
        <p:nvPicPr>
          <p:cNvPr id="19" name="Imagen 18">
            <a:extLst>
              <a:ext uri="{FF2B5EF4-FFF2-40B4-BE49-F238E27FC236}">
                <a16:creationId xmlns:a16="http://schemas.microsoft.com/office/drawing/2014/main" id="{2E011318-DF6A-E443-82C0-13421C5F2D5E}"/>
              </a:ext>
            </a:extLst>
          </p:cNvPr>
          <p:cNvPicPr>
            <a:picLocks noChangeAspect="1"/>
          </p:cNvPicPr>
          <p:nvPr/>
        </p:nvPicPr>
        <p:blipFill>
          <a:blip r:embed="rId3"/>
          <a:stretch>
            <a:fillRect/>
          </a:stretch>
        </p:blipFill>
        <p:spPr>
          <a:xfrm>
            <a:off x="1008063" y="2869612"/>
            <a:ext cx="195423" cy="201256"/>
          </a:xfrm>
          <a:prstGeom prst="rect">
            <a:avLst/>
          </a:prstGeom>
        </p:spPr>
      </p:pic>
    </p:spTree>
    <p:extLst>
      <p:ext uri="{BB962C8B-B14F-4D97-AF65-F5344CB8AC3E}">
        <p14:creationId xmlns:p14="http://schemas.microsoft.com/office/powerpoint/2010/main" val="4159334889"/>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7"/>
          <p:cNvSpPr txBox="1"/>
          <p:nvPr/>
        </p:nvSpPr>
        <p:spPr>
          <a:xfrm>
            <a:off x="506795" y="918372"/>
            <a:ext cx="8139627" cy="1477328"/>
          </a:xfrm>
          <a:prstGeom prst="rect">
            <a:avLst/>
          </a:prstGeom>
        </p:spPr>
        <p:txBody>
          <a:bodyPr vert="horz" wrap="square" lIns="0" tIns="0" rIns="0" bIns="0" rtlCol="0">
            <a:spAutoFit/>
          </a:bodyPr>
          <a:lstStyle/>
          <a:p>
            <a:pPr>
              <a:spcAft>
                <a:spcPts val="0"/>
              </a:spcAft>
            </a:pPr>
            <a:r>
              <a:rPr lang="es-ES" sz="1600" b="1" spc="-10" dirty="0">
                <a:solidFill>
                  <a:srgbClr val="262626"/>
                </a:solidFill>
                <a:latin typeface="Calibri" charset="0"/>
                <a:ea typeface="Calibri" charset="0"/>
                <a:cs typeface="Calibri" charset="0"/>
              </a:rPr>
              <a:t>¿QUÉ SON LAS MEDIDAS DE TENDENCIA CENTRAL?</a:t>
            </a:r>
          </a:p>
          <a:p>
            <a:pPr marL="285750" indent="-285750">
              <a:spcAft>
                <a:spcPts val="0"/>
              </a:spcAft>
              <a:buFont typeface="Arial" panose="020B0604020202020204" pitchFamily="34" charset="0"/>
              <a:buChar char="•"/>
            </a:pPr>
            <a:r>
              <a:rPr lang="es-ES" sz="1600" spc="-10" dirty="0">
                <a:solidFill>
                  <a:srgbClr val="262626"/>
                </a:solidFill>
                <a:latin typeface="Calibri" charset="0"/>
                <a:ea typeface="Calibri" charset="0"/>
                <a:cs typeface="Calibri" charset="0"/>
              </a:rPr>
              <a:t>Son valores numéricos que representan el centro o punto típico de un conjunto de datos. Indican hacia dónde tienden a agruparse los valores observados y resumen el comportamiento general de la variable analizada. </a:t>
            </a:r>
          </a:p>
          <a:p>
            <a:pPr marL="285750" indent="-285750">
              <a:spcAft>
                <a:spcPts val="0"/>
              </a:spcAft>
              <a:buFont typeface="Arial" panose="020B0604020202020204" pitchFamily="34" charset="0"/>
              <a:buChar char="•"/>
            </a:pPr>
            <a:endParaRPr lang="es-ES" sz="1600" spc="-10" dirty="0">
              <a:solidFill>
                <a:srgbClr val="262626"/>
              </a:solidFill>
              <a:latin typeface="Calibri" charset="0"/>
              <a:ea typeface="Calibri" charset="0"/>
              <a:cs typeface="Calibri" charset="0"/>
            </a:endParaRPr>
          </a:p>
          <a:p>
            <a:pPr marL="285750" indent="-285750">
              <a:spcAft>
                <a:spcPts val="0"/>
              </a:spcAft>
              <a:buFont typeface="Arial" panose="020B0604020202020204" pitchFamily="34" charset="0"/>
              <a:buChar char="•"/>
            </a:pPr>
            <a:r>
              <a:rPr lang="es-ES" sz="1600" spc="-10" dirty="0">
                <a:solidFill>
                  <a:srgbClr val="262626"/>
                </a:solidFill>
                <a:latin typeface="Calibri" charset="0"/>
                <a:ea typeface="Calibri" charset="0"/>
                <a:cs typeface="Calibri" charset="0"/>
              </a:rPr>
              <a:t>Su propósito es describir un valor representativo del conjunto total de observaciones.</a:t>
            </a:r>
            <a:endParaRPr lang="es-PE" sz="1600" spc="-10" dirty="0">
              <a:solidFill>
                <a:srgbClr val="262626"/>
              </a:solidFill>
              <a:latin typeface="Calibri" charset="0"/>
              <a:ea typeface="Calibri" charset="0"/>
              <a:cs typeface="Calibri" charset="0"/>
            </a:endParaRPr>
          </a:p>
        </p:txBody>
      </p:sp>
      <p:sp>
        <p:nvSpPr>
          <p:cNvPr id="4" name="Rectangle 5">
            <a:extLst>
              <a:ext uri="{FF2B5EF4-FFF2-40B4-BE49-F238E27FC236}">
                <a16:creationId xmlns:a16="http://schemas.microsoft.com/office/drawing/2014/main" id="{F541F2E5-3848-BA8C-7BEF-A3D938A2817E}"/>
              </a:ext>
            </a:extLst>
          </p:cNvPr>
          <p:cNvSpPr/>
          <p:nvPr/>
        </p:nvSpPr>
        <p:spPr>
          <a:xfrm>
            <a:off x="503238" y="380615"/>
            <a:ext cx="3840162"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charset="0"/>
                <a:ea typeface="Calibri" charset="0"/>
                <a:cs typeface="Calibri" charset="0"/>
              </a:rPr>
              <a:t>MEDIDAS DE TENDENCIA CENTRAL: MEDIA, MEDIANA, MODA </a:t>
            </a:r>
          </a:p>
        </p:txBody>
      </p:sp>
      <p:pic>
        <p:nvPicPr>
          <p:cNvPr id="2" name="Imagen 1"/>
          <p:cNvPicPr>
            <a:picLocks noChangeAspect="1"/>
          </p:cNvPicPr>
          <p:nvPr/>
        </p:nvPicPr>
        <p:blipFill rotWithShape="1">
          <a:blip r:embed="rId2"/>
          <a:srcRect b="37198"/>
          <a:stretch/>
        </p:blipFill>
        <p:spPr>
          <a:xfrm>
            <a:off x="506794" y="2584834"/>
            <a:ext cx="8139628" cy="2555912"/>
          </a:xfrm>
          <a:prstGeom prst="rect">
            <a:avLst/>
          </a:prstGeom>
          <a:ln w="6350">
            <a:solidFill>
              <a:schemeClr val="tx1"/>
            </a:solidFill>
          </a:ln>
        </p:spPr>
      </p:pic>
    </p:spTree>
    <p:extLst>
      <p:ext uri="{BB962C8B-B14F-4D97-AF65-F5344CB8AC3E}">
        <p14:creationId xmlns:p14="http://schemas.microsoft.com/office/powerpoint/2010/main" val="108015226"/>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07C5DF96-59D0-450A-9755-EE64D6355F40}"/>
              </a:ext>
            </a:extLst>
          </p:cNvPr>
          <p:cNvSpPr/>
          <p:nvPr/>
        </p:nvSpPr>
        <p:spPr>
          <a:xfrm>
            <a:off x="386633" y="3076575"/>
            <a:ext cx="4020116" cy="2134319"/>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solidFill>
                <a:srgbClr val="7150A0"/>
              </a:solidFill>
            </a:endParaRPr>
          </a:p>
        </p:txBody>
      </p:sp>
      <mc:AlternateContent xmlns:mc="http://schemas.openxmlformats.org/markup-compatibility/2006" xmlns:a14="http://schemas.microsoft.com/office/drawing/2010/main">
        <mc:Choice Requires="a14">
          <p:sp>
            <p:nvSpPr>
              <p:cNvPr id="3" name="object 7"/>
              <p:cNvSpPr txBox="1"/>
              <p:nvPr/>
            </p:nvSpPr>
            <p:spPr>
              <a:xfrm>
                <a:off x="506796" y="918372"/>
                <a:ext cx="3836604" cy="4292522"/>
              </a:xfrm>
              <a:prstGeom prst="rect">
                <a:avLst/>
              </a:prstGeom>
            </p:spPr>
            <p:txBody>
              <a:bodyPr vert="horz" wrap="square" lIns="0" tIns="0" rIns="0" bIns="0" rtlCol="0">
                <a:spAutoFit/>
              </a:bodyPr>
              <a:lstStyle/>
              <a:p>
                <a:pPr marL="11725">
                  <a:spcAft>
                    <a:spcPts val="600"/>
                  </a:spcAft>
                  <a:buSzPct val="100000"/>
                  <a:tabLst>
                    <a:tab pos="121285" algn="l"/>
                  </a:tabLst>
                  <a:defRPr/>
                </a:pPr>
                <a:r>
                  <a:rPr lang="es-PE" sz="1600" b="1" dirty="0">
                    <a:latin typeface="Calibri" charset="0"/>
                    <a:ea typeface="Calibri" charset="0"/>
                    <a:cs typeface="Calibri" charset="0"/>
                  </a:rPr>
                  <a:t>MEDIA (PROMEDIO ARITMÉTICO)</a:t>
                </a:r>
              </a:p>
              <a:p>
                <a:pPr marL="297475" indent="-285750">
                  <a:spcAft>
                    <a:spcPts val="600"/>
                  </a:spcAft>
                  <a:buSzPct val="100000"/>
                  <a:buFont typeface="Arial" panose="020B0604020202020204" pitchFamily="34" charset="0"/>
                  <a:buChar char="•"/>
                  <a:tabLst>
                    <a:tab pos="121285" algn="l"/>
                  </a:tabLst>
                  <a:defRPr/>
                </a:pPr>
                <a:r>
                  <a:rPr lang="es-ES" sz="1600" spc="-10" dirty="0">
                    <a:solidFill>
                      <a:srgbClr val="262626"/>
                    </a:solidFill>
                    <a:latin typeface="Calibri" charset="0"/>
                    <a:ea typeface="Calibri" charset="0"/>
                    <a:cs typeface="Calibri" charset="0"/>
                  </a:rPr>
                  <a:t>La media es el valor que se obtiene al sumar todos los datos y dividir entre el número total de datos. </a:t>
                </a:r>
              </a:p>
              <a:p>
                <a:pPr marL="297475" indent="-285750">
                  <a:spcAft>
                    <a:spcPts val="600"/>
                  </a:spcAft>
                  <a:buSzPct val="100000"/>
                  <a:buFont typeface="Arial" panose="020B0604020202020204" pitchFamily="34" charset="0"/>
                  <a:buChar char="•"/>
                  <a:tabLst>
                    <a:tab pos="121285" algn="l"/>
                  </a:tabLst>
                  <a:defRPr/>
                </a:pPr>
                <a:r>
                  <a:rPr lang="es-ES" sz="1600" spc="-10" dirty="0">
                    <a:solidFill>
                      <a:srgbClr val="262626"/>
                    </a:solidFill>
                    <a:latin typeface="Calibri" charset="0"/>
                    <a:ea typeface="Calibri" charset="0"/>
                    <a:cs typeface="Calibri" charset="0"/>
                  </a:rPr>
                  <a:t>Es la medida más común, de fácil entendimiento y útil cuando los datos son numéricos y no presentan valores extremos (outliers).</a:t>
                </a:r>
              </a:p>
              <a:p>
                <a:pPr marL="11725" algn="just">
                  <a:spcAft>
                    <a:spcPts val="600"/>
                  </a:spcAft>
                  <a:buSzPct val="100000"/>
                  <a:tabLst>
                    <a:tab pos="121285" algn="l"/>
                  </a:tabLst>
                  <a:defRPr/>
                </a:pPr>
                <a:r>
                  <a:rPr lang="es-ES" sz="1600" b="1" spc="-10" dirty="0">
                    <a:solidFill>
                      <a:srgbClr val="7150A0"/>
                    </a:solidFill>
                    <a:latin typeface="Calibri" charset="0"/>
                    <a:ea typeface="Calibri" charset="0"/>
                    <a:cs typeface="Calibri" charset="0"/>
                  </a:rPr>
                  <a:t>Fórmula:</a:t>
                </a:r>
              </a:p>
              <a:p>
                <a:pPr marL="11725" algn="just">
                  <a:spcAft>
                    <a:spcPts val="600"/>
                  </a:spcAft>
                  <a:buSzPct val="100000"/>
                  <a:tabLst>
                    <a:tab pos="121285" algn="l"/>
                  </a:tabLst>
                  <a:defRPr/>
                </a:pPr>
                <a14:m>
                  <m:oMathPara xmlns:m="http://schemas.openxmlformats.org/officeDocument/2006/math">
                    <m:oMathParaPr>
                      <m:jc m:val="centerGroup"/>
                    </m:oMathParaPr>
                    <m:oMath xmlns:m="http://schemas.openxmlformats.org/officeDocument/2006/math">
                      <m:acc>
                        <m:accPr>
                          <m:chr m:val="̅"/>
                          <m:ctrlPr>
                            <a:rPr lang="es-ES" sz="1600" b="1" i="1" spc="-10" smtClean="0">
                              <a:solidFill>
                                <a:srgbClr val="262626"/>
                              </a:solidFill>
                              <a:latin typeface="Cambria Math" panose="02040503050406030204" pitchFamily="18" charset="0"/>
                              <a:cs typeface="Calibri" charset="0"/>
                            </a:rPr>
                          </m:ctrlPr>
                        </m:accPr>
                        <m:e>
                          <m:r>
                            <a:rPr lang="es-PE" sz="1600" b="1" i="1" spc="-10" smtClean="0">
                              <a:solidFill>
                                <a:srgbClr val="262626"/>
                              </a:solidFill>
                              <a:latin typeface="Cambria Math" panose="02040503050406030204" pitchFamily="18" charset="0"/>
                              <a:cs typeface="Calibri" charset="0"/>
                            </a:rPr>
                            <m:t>𝑿</m:t>
                          </m:r>
                        </m:e>
                      </m:acc>
                      <m:r>
                        <a:rPr lang="es-PE" sz="1600" b="1" i="1" spc="-10" smtClean="0">
                          <a:solidFill>
                            <a:srgbClr val="262626"/>
                          </a:solidFill>
                          <a:latin typeface="Cambria Math" panose="02040503050406030204" pitchFamily="18" charset="0"/>
                          <a:cs typeface="Calibri" charset="0"/>
                        </a:rPr>
                        <m:t>= </m:t>
                      </m:r>
                      <m:f>
                        <m:fPr>
                          <m:ctrlPr>
                            <a:rPr lang="es-PE" sz="1600" b="1" i="1" spc="-10" smtClean="0">
                              <a:solidFill>
                                <a:srgbClr val="262626"/>
                              </a:solidFill>
                              <a:latin typeface="Cambria Math" panose="02040503050406030204" pitchFamily="18" charset="0"/>
                              <a:cs typeface="Calibri" charset="0"/>
                            </a:rPr>
                          </m:ctrlPr>
                        </m:fPr>
                        <m:num>
                          <m:nary>
                            <m:naryPr>
                              <m:chr m:val="∑"/>
                              <m:subHide m:val="on"/>
                              <m:supHide m:val="on"/>
                              <m:ctrlPr>
                                <a:rPr lang="es-PE" sz="1600" b="1" i="1" spc="-10" smtClean="0">
                                  <a:solidFill>
                                    <a:srgbClr val="262626"/>
                                  </a:solidFill>
                                  <a:latin typeface="Cambria Math" panose="02040503050406030204" pitchFamily="18" charset="0"/>
                                  <a:cs typeface="Calibri" charset="0"/>
                                </a:rPr>
                              </m:ctrlPr>
                            </m:naryPr>
                            <m:sub/>
                            <m:sup/>
                            <m:e>
                              <m:r>
                                <a:rPr lang="es-PE" sz="1600" b="1" i="1" spc="-10" smtClean="0">
                                  <a:solidFill>
                                    <a:srgbClr val="262626"/>
                                  </a:solidFill>
                                  <a:latin typeface="Cambria Math" panose="02040503050406030204" pitchFamily="18" charset="0"/>
                                  <a:cs typeface="Calibri" charset="0"/>
                                </a:rPr>
                                <m:t>𝑿𝒊</m:t>
                              </m:r>
                            </m:e>
                          </m:nary>
                        </m:num>
                        <m:den>
                          <m:r>
                            <a:rPr lang="es-PE" sz="1600" b="1" i="1" spc="-10" smtClean="0">
                              <a:solidFill>
                                <a:srgbClr val="262626"/>
                              </a:solidFill>
                              <a:latin typeface="Cambria Math" panose="02040503050406030204" pitchFamily="18" charset="0"/>
                              <a:cs typeface="Calibri" charset="0"/>
                            </a:rPr>
                            <m:t>𝒏</m:t>
                          </m:r>
                        </m:den>
                      </m:f>
                    </m:oMath>
                  </m:oMathPara>
                </a14:m>
                <a:endParaRPr lang="es-ES" sz="1600" b="1" spc="-10" dirty="0">
                  <a:solidFill>
                    <a:srgbClr val="262626"/>
                  </a:solidFill>
                  <a:latin typeface="Calibri" charset="0"/>
                  <a:ea typeface="Calibri" charset="0"/>
                  <a:cs typeface="Calibri" charset="0"/>
                </a:endParaRPr>
              </a:p>
              <a:p>
                <a:pPr marL="11725" algn="just">
                  <a:spcAft>
                    <a:spcPts val="600"/>
                  </a:spcAft>
                  <a:buSzPct val="100000"/>
                  <a:tabLst>
                    <a:tab pos="121285" algn="l"/>
                  </a:tabLst>
                  <a:defRPr/>
                </a:pPr>
                <a:r>
                  <a:rPr lang="es-PE" sz="1600" spc="-10" dirty="0">
                    <a:latin typeface="Calibri" charset="0"/>
                    <a:ea typeface="Calibri" charset="0"/>
                    <a:cs typeface="Calibri" charset="0"/>
                  </a:rPr>
                  <a:t>Donde:</a:t>
                </a:r>
              </a:p>
              <a:p>
                <a:pPr marL="11725" algn="just">
                  <a:spcAft>
                    <a:spcPts val="600"/>
                  </a:spcAft>
                  <a:buSzPct val="100000"/>
                  <a:tabLst>
                    <a:tab pos="121285" algn="l"/>
                  </a:tabLst>
                  <a:defRPr/>
                </a:pPr>
                <a14:m>
                  <m:oMathPara xmlns:m="http://schemas.openxmlformats.org/officeDocument/2006/math">
                    <m:oMathParaPr>
                      <m:jc m:val="left"/>
                    </m:oMathParaPr>
                    <m:oMath xmlns:m="http://schemas.openxmlformats.org/officeDocument/2006/math">
                      <m:acc>
                        <m:accPr>
                          <m:chr m:val="̅"/>
                          <m:ctrlPr>
                            <a:rPr lang="es-ES" sz="1600" i="1" spc="-10">
                              <a:solidFill>
                                <a:srgbClr val="262626"/>
                              </a:solidFill>
                              <a:latin typeface="Cambria Math" panose="02040503050406030204" pitchFamily="18" charset="0"/>
                              <a:cs typeface="Calibri" charset="0"/>
                            </a:rPr>
                          </m:ctrlPr>
                        </m:accPr>
                        <m:e>
                          <m:r>
                            <m:rPr>
                              <m:sty m:val="p"/>
                            </m:rPr>
                            <a:rPr lang="es-PE" sz="1600" b="0" i="0" spc="-10">
                              <a:solidFill>
                                <a:srgbClr val="262626"/>
                              </a:solidFill>
                              <a:latin typeface="Cambria Math" panose="02040503050406030204" pitchFamily="18" charset="0"/>
                              <a:cs typeface="Calibri" charset="0"/>
                            </a:rPr>
                            <m:t>X</m:t>
                          </m:r>
                        </m:e>
                      </m:acc>
                      <m:r>
                        <a:rPr lang="es-PE" sz="1600" b="0" i="0" spc="-10">
                          <a:solidFill>
                            <a:srgbClr val="262626"/>
                          </a:solidFill>
                          <a:latin typeface="Cambria Math" panose="02040503050406030204" pitchFamily="18" charset="0"/>
                          <a:cs typeface="Calibri" charset="0"/>
                        </a:rPr>
                        <m:t>=</m:t>
                      </m:r>
                      <m:r>
                        <m:rPr>
                          <m:sty m:val="p"/>
                        </m:rPr>
                        <a:rPr lang="es-MX" sz="1600" b="0" i="0" spc="-10" smtClean="0">
                          <a:solidFill>
                            <a:srgbClr val="262626"/>
                          </a:solidFill>
                          <a:latin typeface="Cambria Math" panose="02040503050406030204" pitchFamily="18" charset="0"/>
                          <a:cs typeface="Calibri" charset="0"/>
                        </a:rPr>
                        <m:t>m</m:t>
                      </m:r>
                      <m:r>
                        <m:rPr>
                          <m:sty m:val="p"/>
                        </m:rPr>
                        <a:rPr lang="es-PE" sz="1600" b="0" i="0" spc="-10" smtClean="0">
                          <a:solidFill>
                            <a:srgbClr val="262626"/>
                          </a:solidFill>
                          <a:latin typeface="Cambria Math" panose="02040503050406030204" pitchFamily="18" charset="0"/>
                          <a:cs typeface="Calibri" charset="0"/>
                        </a:rPr>
                        <m:t>edia</m:t>
                      </m:r>
                    </m:oMath>
                  </m:oMathPara>
                </a14:m>
                <a:endParaRPr lang="es-PE" sz="1600" spc="-10" dirty="0">
                  <a:solidFill>
                    <a:srgbClr val="262626"/>
                  </a:solidFill>
                  <a:latin typeface="Calibri" panose="020F0502020204030204" pitchFamily="34" charset="0"/>
                  <a:cs typeface="Calibri" panose="020F0502020204030204" pitchFamily="34" charset="0"/>
                </a:endParaRPr>
              </a:p>
              <a:p>
                <a:pPr marL="11725" algn="just">
                  <a:spcAft>
                    <a:spcPts val="600"/>
                  </a:spcAft>
                  <a:buSzPct val="100000"/>
                  <a:tabLst>
                    <a:tab pos="121285" algn="l"/>
                  </a:tabLst>
                  <a:defRPr/>
                </a:pPr>
                <a:r>
                  <a:rPr lang="es-PE" sz="1600" spc="-10" dirty="0">
                    <a:solidFill>
                      <a:srgbClr val="262626"/>
                    </a:solidFill>
                    <a:latin typeface="Calibri" panose="020F0502020204030204" pitchFamily="34" charset="0"/>
                    <a:cs typeface="Calibri" panose="020F0502020204030204" pitchFamily="34" charset="0"/>
                  </a:rPr>
                  <a:t>∑xi = suma de todos los datos</a:t>
                </a:r>
              </a:p>
              <a:p>
                <a:pPr marL="11725" algn="just">
                  <a:spcAft>
                    <a:spcPts val="600"/>
                  </a:spcAft>
                  <a:buSzPct val="100000"/>
                  <a:tabLst>
                    <a:tab pos="121285" algn="l"/>
                  </a:tabLst>
                  <a:defRPr/>
                </a:pPr>
                <a:r>
                  <a:rPr lang="es-PE" sz="1600" spc="-10" dirty="0">
                    <a:solidFill>
                      <a:srgbClr val="262626"/>
                    </a:solidFill>
                    <a:latin typeface="Calibri" panose="020F0502020204030204" pitchFamily="34" charset="0"/>
                    <a:cs typeface="Calibri" panose="020F0502020204030204" pitchFamily="34" charset="0"/>
                  </a:rPr>
                  <a:t>n = número total de datos</a:t>
                </a:r>
              </a:p>
            </p:txBody>
          </p:sp>
        </mc:Choice>
        <mc:Fallback xmlns="">
          <p:sp>
            <p:nvSpPr>
              <p:cNvPr id="3" name="object 7"/>
              <p:cNvSpPr txBox="1">
                <a:spLocks noRot="1" noChangeAspect="1" noMove="1" noResize="1" noEditPoints="1" noAdjustHandles="1" noChangeArrowheads="1" noChangeShapeType="1" noTextEdit="1"/>
              </p:cNvSpPr>
              <p:nvPr/>
            </p:nvSpPr>
            <p:spPr>
              <a:xfrm>
                <a:off x="506796" y="918372"/>
                <a:ext cx="3836604" cy="4292522"/>
              </a:xfrm>
              <a:prstGeom prst="rect">
                <a:avLst/>
              </a:prstGeom>
              <a:blipFill>
                <a:blip r:embed="rId3"/>
                <a:stretch>
                  <a:fillRect l="-2857" t="-1563" r="-635" b="-1989"/>
                </a:stretch>
              </a:blipFill>
            </p:spPr>
            <p:txBody>
              <a:bodyPr/>
              <a:lstStyle/>
              <a:p>
                <a:r>
                  <a:rPr lang="es-PE">
                    <a:noFill/>
                  </a:rPr>
                  <a:t> </a:t>
                </a:r>
              </a:p>
            </p:txBody>
          </p:sp>
        </mc:Fallback>
      </mc:AlternateContent>
      <p:pic>
        <p:nvPicPr>
          <p:cNvPr id="6" name="Imagen 5"/>
          <p:cNvPicPr>
            <a:picLocks noChangeAspect="1"/>
          </p:cNvPicPr>
          <p:nvPr/>
        </p:nvPicPr>
        <p:blipFill rotWithShape="1">
          <a:blip r:embed="rId4"/>
          <a:srcRect l="8626" r="13880"/>
          <a:stretch/>
        </p:blipFill>
        <p:spPr>
          <a:xfrm>
            <a:off x="5275376" y="918371"/>
            <a:ext cx="3361828" cy="4359871"/>
          </a:xfrm>
          <a:prstGeom prst="rect">
            <a:avLst/>
          </a:prstGeom>
        </p:spPr>
      </p:pic>
      <p:sp>
        <p:nvSpPr>
          <p:cNvPr id="5" name="Rectangle 5">
            <a:extLst>
              <a:ext uri="{FF2B5EF4-FFF2-40B4-BE49-F238E27FC236}">
                <a16:creationId xmlns:a16="http://schemas.microsoft.com/office/drawing/2014/main" id="{5566BF59-7FED-472A-97D5-BBC62A0FD9A7}"/>
              </a:ext>
            </a:extLst>
          </p:cNvPr>
          <p:cNvSpPr/>
          <p:nvPr/>
        </p:nvSpPr>
        <p:spPr>
          <a:xfrm>
            <a:off x="503238" y="380615"/>
            <a:ext cx="3840162"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charset="0"/>
                <a:ea typeface="Calibri" charset="0"/>
                <a:cs typeface="Calibri" charset="0"/>
              </a:rPr>
              <a:t>MEDIDAS DE TENDENCIA CENTRAL: MEDIA, MEDIANA, MODA </a:t>
            </a:r>
          </a:p>
        </p:txBody>
      </p:sp>
    </p:spTree>
    <p:extLst>
      <p:ext uri="{BB962C8B-B14F-4D97-AF65-F5344CB8AC3E}">
        <p14:creationId xmlns:p14="http://schemas.microsoft.com/office/powerpoint/2010/main" val="552190345"/>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p:cNvPicPr>
            <a:picLocks noChangeAspect="1"/>
          </p:cNvPicPr>
          <p:nvPr/>
        </p:nvPicPr>
        <p:blipFill rotWithShape="1">
          <a:blip r:embed="rId3"/>
          <a:srcRect l="27059" r="21504"/>
          <a:stretch/>
        </p:blipFill>
        <p:spPr>
          <a:xfrm>
            <a:off x="5290441" y="918372"/>
            <a:ext cx="3361828" cy="4359870"/>
          </a:xfrm>
          <a:prstGeom prst="rect">
            <a:avLst/>
          </a:prstGeom>
        </p:spPr>
      </p:pic>
      <p:sp>
        <p:nvSpPr>
          <p:cNvPr id="7" name="Rectángulo 6">
            <a:extLst>
              <a:ext uri="{FF2B5EF4-FFF2-40B4-BE49-F238E27FC236}">
                <a16:creationId xmlns:a16="http://schemas.microsoft.com/office/drawing/2014/main" id="{D762AB20-208D-4F99-B4E0-2A3FAB0D8423}"/>
              </a:ext>
            </a:extLst>
          </p:cNvPr>
          <p:cNvSpPr/>
          <p:nvPr/>
        </p:nvSpPr>
        <p:spPr>
          <a:xfrm>
            <a:off x="621729" y="2529840"/>
            <a:ext cx="3330512" cy="80264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solidFill>
                <a:srgbClr val="7150A0"/>
              </a:solidFill>
            </a:endParaRPr>
          </a:p>
        </p:txBody>
      </p:sp>
      <mc:AlternateContent xmlns:mc="http://schemas.openxmlformats.org/markup-compatibility/2006" xmlns:a14="http://schemas.microsoft.com/office/drawing/2010/main">
        <mc:Choice Requires="a14">
          <p:sp>
            <p:nvSpPr>
              <p:cNvPr id="3" name="object 7"/>
              <p:cNvSpPr txBox="1"/>
              <p:nvPr/>
            </p:nvSpPr>
            <p:spPr>
              <a:xfrm>
                <a:off x="506796" y="918372"/>
                <a:ext cx="3560379" cy="3386504"/>
              </a:xfrm>
              <a:prstGeom prst="rect">
                <a:avLst/>
              </a:prstGeom>
            </p:spPr>
            <p:txBody>
              <a:bodyPr vert="horz" wrap="square" lIns="0" tIns="0" rIns="0" bIns="0" rtlCol="0">
                <a:spAutoFit/>
              </a:bodyPr>
              <a:lstStyle/>
              <a:p>
                <a:pPr marL="11725">
                  <a:spcAft>
                    <a:spcPts val="600"/>
                  </a:spcAft>
                  <a:buSzPct val="100000"/>
                  <a:tabLst>
                    <a:tab pos="121285" algn="l"/>
                  </a:tabLst>
                  <a:defRPr/>
                </a:pPr>
                <a:r>
                  <a:rPr lang="es-PE" sz="1600" b="1" dirty="0">
                    <a:latin typeface="Calibri" charset="0"/>
                    <a:ea typeface="Calibri" charset="0"/>
                    <a:cs typeface="Calibri" charset="0"/>
                  </a:rPr>
                  <a:t>MEDIA (PROMEDIO ARITMÉTICO)</a:t>
                </a:r>
              </a:p>
              <a:p>
                <a:pPr marL="11725" algn="just">
                  <a:spcAft>
                    <a:spcPts val="600"/>
                  </a:spcAft>
                  <a:buSzPct val="100000"/>
                  <a:tabLst>
                    <a:tab pos="121285" algn="l"/>
                  </a:tabLst>
                  <a:defRPr/>
                </a:pPr>
                <a:r>
                  <a:rPr lang="es-ES" sz="1600" b="1" spc="-10" dirty="0">
                    <a:solidFill>
                      <a:srgbClr val="7150A0"/>
                    </a:solidFill>
                    <a:latin typeface="Calibri" charset="0"/>
                    <a:ea typeface="Calibri" charset="0"/>
                    <a:cs typeface="Calibri" charset="0"/>
                  </a:rPr>
                  <a:t>Ejemplo: </a:t>
                </a:r>
              </a:p>
              <a:p>
                <a:pPr marL="11725">
                  <a:spcAft>
                    <a:spcPts val="600"/>
                  </a:spcAft>
                  <a:buSzPct val="100000"/>
                  <a:tabLst>
                    <a:tab pos="121285" algn="l"/>
                  </a:tabLst>
                  <a:defRPr/>
                </a:pPr>
                <a:r>
                  <a:rPr lang="es-ES" sz="1600" spc="-10" dirty="0">
                    <a:solidFill>
                      <a:srgbClr val="262626"/>
                    </a:solidFill>
                    <a:latin typeface="Calibri" charset="0"/>
                    <a:ea typeface="Calibri" charset="0"/>
                    <a:cs typeface="Calibri" charset="0"/>
                  </a:rPr>
                  <a:t>En una empresa, la media de ventas semanales de cinco vendedores (en miles de soles: 10, 12, 9, 11, 8) sería:</a:t>
                </a:r>
              </a:p>
              <a:p>
                <a:pPr marL="11725" algn="just">
                  <a:spcAft>
                    <a:spcPts val="600"/>
                  </a:spcAft>
                  <a:buSzPct val="100000"/>
                  <a:tabLst>
                    <a:tab pos="121285" algn="l"/>
                  </a:tabLst>
                  <a:defRPr/>
                </a:pPr>
                <a:endParaRPr lang="es-ES" sz="1600" spc="-10" dirty="0">
                  <a:solidFill>
                    <a:srgbClr val="262626"/>
                  </a:solidFill>
                  <a:latin typeface="Calibri" charset="0"/>
                  <a:ea typeface="Calibri" charset="0"/>
                  <a:cs typeface="Calibri" charset="0"/>
                </a:endParaRPr>
              </a:p>
              <a:p>
                <a:pPr marL="11725" algn="just">
                  <a:spcAft>
                    <a:spcPts val="600"/>
                  </a:spcAft>
                  <a:buSzPct val="100000"/>
                  <a:tabLst>
                    <a:tab pos="121285" algn="l"/>
                  </a:tabLst>
                  <a:defRPr/>
                </a:pPr>
                <a14:m>
                  <m:oMathPara xmlns:m="http://schemas.openxmlformats.org/officeDocument/2006/math">
                    <m:oMathParaPr>
                      <m:jc m:val="centerGroup"/>
                    </m:oMathParaPr>
                    <m:oMath xmlns:m="http://schemas.openxmlformats.org/officeDocument/2006/math">
                      <m:acc>
                        <m:accPr>
                          <m:chr m:val="̅"/>
                          <m:ctrlPr>
                            <a:rPr lang="es-ES" sz="1600" b="1" i="1" spc="-10" smtClean="0">
                              <a:solidFill>
                                <a:srgbClr val="262626"/>
                              </a:solidFill>
                              <a:latin typeface="Cambria Math" panose="02040503050406030204" pitchFamily="18" charset="0"/>
                              <a:cs typeface="Calibri" charset="0"/>
                            </a:rPr>
                          </m:ctrlPr>
                        </m:accPr>
                        <m:e>
                          <m:r>
                            <a:rPr lang="es-PE" sz="1600" b="1" i="1" spc="-10" smtClean="0">
                              <a:solidFill>
                                <a:srgbClr val="262626"/>
                              </a:solidFill>
                              <a:latin typeface="Cambria Math" panose="02040503050406030204" pitchFamily="18" charset="0"/>
                              <a:cs typeface="Calibri" charset="0"/>
                            </a:rPr>
                            <m:t>𝑿</m:t>
                          </m:r>
                        </m:e>
                      </m:acc>
                      <m:r>
                        <a:rPr lang="es-PE" sz="1600" b="1" i="1" spc="-10" smtClean="0">
                          <a:solidFill>
                            <a:srgbClr val="262626"/>
                          </a:solidFill>
                          <a:latin typeface="Cambria Math" panose="02040503050406030204" pitchFamily="18" charset="0"/>
                          <a:cs typeface="Calibri" charset="0"/>
                        </a:rPr>
                        <m:t>= </m:t>
                      </m:r>
                      <m:f>
                        <m:fPr>
                          <m:ctrlPr>
                            <a:rPr lang="es-PE" sz="1600" b="1" i="1" spc="-10" smtClean="0">
                              <a:solidFill>
                                <a:srgbClr val="262626"/>
                              </a:solidFill>
                              <a:latin typeface="Cambria Math" panose="02040503050406030204" pitchFamily="18" charset="0"/>
                              <a:cs typeface="Calibri" charset="0"/>
                            </a:rPr>
                          </m:ctrlPr>
                        </m:fPr>
                        <m:num>
                          <m:r>
                            <a:rPr lang="es-PE" sz="1600" b="1" i="1" spc="-10" smtClean="0">
                              <a:solidFill>
                                <a:srgbClr val="262626"/>
                              </a:solidFill>
                              <a:latin typeface="Cambria Math" panose="02040503050406030204" pitchFamily="18" charset="0"/>
                              <a:cs typeface="Calibri" charset="0"/>
                            </a:rPr>
                            <m:t>𝟏𝟎</m:t>
                          </m:r>
                          <m:r>
                            <a:rPr lang="es-PE" sz="1600" b="1" i="1" spc="-10" smtClean="0">
                              <a:solidFill>
                                <a:srgbClr val="262626"/>
                              </a:solidFill>
                              <a:latin typeface="Cambria Math" panose="02040503050406030204" pitchFamily="18" charset="0"/>
                              <a:cs typeface="Calibri" charset="0"/>
                            </a:rPr>
                            <m:t>+</m:t>
                          </m:r>
                          <m:r>
                            <a:rPr lang="es-PE" sz="1600" b="1" i="1" spc="-10" smtClean="0">
                              <a:solidFill>
                                <a:srgbClr val="262626"/>
                              </a:solidFill>
                              <a:latin typeface="Cambria Math" panose="02040503050406030204" pitchFamily="18" charset="0"/>
                              <a:cs typeface="Calibri" charset="0"/>
                            </a:rPr>
                            <m:t>𝟏𝟐</m:t>
                          </m:r>
                          <m:r>
                            <a:rPr lang="es-PE" sz="1600" b="1" i="1" spc="-10" smtClean="0">
                              <a:solidFill>
                                <a:srgbClr val="262626"/>
                              </a:solidFill>
                              <a:latin typeface="Cambria Math" panose="02040503050406030204" pitchFamily="18" charset="0"/>
                              <a:cs typeface="Calibri" charset="0"/>
                            </a:rPr>
                            <m:t>+</m:t>
                          </m:r>
                          <m:r>
                            <a:rPr lang="es-PE" sz="1600" b="1" i="1" spc="-10" smtClean="0">
                              <a:solidFill>
                                <a:srgbClr val="262626"/>
                              </a:solidFill>
                              <a:latin typeface="Cambria Math" panose="02040503050406030204" pitchFamily="18" charset="0"/>
                              <a:cs typeface="Calibri" charset="0"/>
                            </a:rPr>
                            <m:t>𝟗</m:t>
                          </m:r>
                          <m:r>
                            <a:rPr lang="es-PE" sz="1600" b="1" i="1" spc="-10" smtClean="0">
                              <a:solidFill>
                                <a:srgbClr val="262626"/>
                              </a:solidFill>
                              <a:latin typeface="Cambria Math" panose="02040503050406030204" pitchFamily="18" charset="0"/>
                              <a:cs typeface="Calibri" charset="0"/>
                            </a:rPr>
                            <m:t>+</m:t>
                          </m:r>
                          <m:r>
                            <a:rPr lang="es-PE" sz="1600" b="1" i="1" spc="-10" smtClean="0">
                              <a:solidFill>
                                <a:srgbClr val="262626"/>
                              </a:solidFill>
                              <a:latin typeface="Cambria Math" panose="02040503050406030204" pitchFamily="18" charset="0"/>
                              <a:cs typeface="Calibri" charset="0"/>
                            </a:rPr>
                            <m:t>𝟏𝟏</m:t>
                          </m:r>
                          <m:r>
                            <a:rPr lang="es-PE" sz="1600" b="1" i="1" spc="-10" smtClean="0">
                              <a:solidFill>
                                <a:srgbClr val="262626"/>
                              </a:solidFill>
                              <a:latin typeface="Cambria Math" panose="02040503050406030204" pitchFamily="18" charset="0"/>
                              <a:cs typeface="Calibri" charset="0"/>
                            </a:rPr>
                            <m:t>+</m:t>
                          </m:r>
                          <m:r>
                            <a:rPr lang="es-PE" sz="1600" b="1" i="1" spc="-10" smtClean="0">
                              <a:solidFill>
                                <a:srgbClr val="262626"/>
                              </a:solidFill>
                              <a:latin typeface="Cambria Math" panose="02040503050406030204" pitchFamily="18" charset="0"/>
                              <a:cs typeface="Calibri" charset="0"/>
                            </a:rPr>
                            <m:t>𝟖</m:t>
                          </m:r>
                        </m:num>
                        <m:den>
                          <m:r>
                            <a:rPr lang="es-PE" sz="1600" b="1" i="1" spc="-10" smtClean="0">
                              <a:solidFill>
                                <a:srgbClr val="262626"/>
                              </a:solidFill>
                              <a:latin typeface="Cambria Math" panose="02040503050406030204" pitchFamily="18" charset="0"/>
                              <a:cs typeface="Calibri" charset="0"/>
                            </a:rPr>
                            <m:t>𝟓</m:t>
                          </m:r>
                        </m:den>
                      </m:f>
                      <m:r>
                        <a:rPr lang="es-PE" sz="1600" b="1" i="1" spc="-10" smtClean="0">
                          <a:solidFill>
                            <a:srgbClr val="262626"/>
                          </a:solidFill>
                          <a:latin typeface="Cambria Math" panose="02040503050406030204" pitchFamily="18" charset="0"/>
                          <a:cs typeface="Calibri" charset="0"/>
                        </a:rPr>
                        <m:t>=</m:t>
                      </m:r>
                      <m:r>
                        <a:rPr lang="es-PE" sz="1600" b="1" i="1" spc="-10" smtClean="0">
                          <a:solidFill>
                            <a:srgbClr val="262626"/>
                          </a:solidFill>
                          <a:latin typeface="Cambria Math" panose="02040503050406030204" pitchFamily="18" charset="0"/>
                          <a:cs typeface="Calibri" charset="0"/>
                        </a:rPr>
                        <m:t>𝟏𝟎</m:t>
                      </m:r>
                    </m:oMath>
                  </m:oMathPara>
                </a14:m>
                <a:endParaRPr lang="es-ES" sz="1600" b="1" spc="-10" dirty="0">
                  <a:solidFill>
                    <a:srgbClr val="262626"/>
                  </a:solidFill>
                  <a:latin typeface="Calibri" charset="0"/>
                  <a:ea typeface="Calibri" charset="0"/>
                  <a:cs typeface="Calibri" charset="0"/>
                </a:endParaRPr>
              </a:p>
              <a:p>
                <a:pPr marL="11725" algn="just">
                  <a:spcAft>
                    <a:spcPts val="600"/>
                  </a:spcAft>
                  <a:buSzPct val="100000"/>
                  <a:tabLst>
                    <a:tab pos="121285" algn="l"/>
                  </a:tabLst>
                  <a:defRPr/>
                </a:pPr>
                <a:endParaRPr lang="es-ES" sz="1600" spc="-10" dirty="0">
                  <a:latin typeface="Calibri" charset="0"/>
                  <a:ea typeface="Calibri" charset="0"/>
                  <a:cs typeface="Calibri" charset="0"/>
                </a:endParaRPr>
              </a:p>
              <a:p>
                <a:pPr marL="11725">
                  <a:spcAft>
                    <a:spcPts val="600"/>
                  </a:spcAft>
                  <a:buSzPct val="100000"/>
                  <a:tabLst>
                    <a:tab pos="121285" algn="l"/>
                  </a:tabLst>
                  <a:defRPr/>
                </a:pPr>
                <a:r>
                  <a:rPr lang="es-ES" sz="1600" spc="-10" dirty="0">
                    <a:latin typeface="Calibri" charset="0"/>
                    <a:ea typeface="Calibri" charset="0"/>
                    <a:cs typeface="Calibri" charset="0"/>
                  </a:rPr>
                  <a:t>La media indica que, en promedio, cada vendedor genera, por concepto de ventas, 10 mil soles semanales.</a:t>
                </a:r>
                <a:endParaRPr lang="es-PE" sz="1600" spc="-10" dirty="0">
                  <a:latin typeface="Calibri" charset="0"/>
                  <a:ea typeface="Calibri" charset="0"/>
                  <a:cs typeface="Calibri" charset="0"/>
                </a:endParaRPr>
              </a:p>
            </p:txBody>
          </p:sp>
        </mc:Choice>
        <mc:Fallback xmlns="">
          <p:sp>
            <p:nvSpPr>
              <p:cNvPr id="3" name="object 7"/>
              <p:cNvSpPr txBox="1">
                <a:spLocks noRot="1" noChangeAspect="1" noMove="1" noResize="1" noEditPoints="1" noAdjustHandles="1" noChangeArrowheads="1" noChangeShapeType="1" noTextEdit="1"/>
              </p:cNvSpPr>
              <p:nvPr/>
            </p:nvSpPr>
            <p:spPr>
              <a:xfrm>
                <a:off x="506796" y="918372"/>
                <a:ext cx="3560379" cy="3386504"/>
              </a:xfrm>
              <a:prstGeom prst="rect">
                <a:avLst/>
              </a:prstGeom>
              <a:blipFill>
                <a:blip r:embed="rId4"/>
                <a:stretch>
                  <a:fillRect l="-3082" t="-1982" r="-1712" b="-2703"/>
                </a:stretch>
              </a:blipFill>
            </p:spPr>
            <p:txBody>
              <a:bodyPr/>
              <a:lstStyle/>
              <a:p>
                <a:r>
                  <a:rPr lang="es-PE">
                    <a:noFill/>
                  </a:rPr>
                  <a:t> </a:t>
                </a:r>
              </a:p>
            </p:txBody>
          </p:sp>
        </mc:Fallback>
      </mc:AlternateContent>
      <p:sp>
        <p:nvSpPr>
          <p:cNvPr id="6" name="Rectangle 5">
            <a:extLst>
              <a:ext uri="{FF2B5EF4-FFF2-40B4-BE49-F238E27FC236}">
                <a16:creationId xmlns:a16="http://schemas.microsoft.com/office/drawing/2014/main" id="{30E23CBD-CC0D-4CCD-A39D-DDF8071AED1C}"/>
              </a:ext>
            </a:extLst>
          </p:cNvPr>
          <p:cNvSpPr/>
          <p:nvPr/>
        </p:nvSpPr>
        <p:spPr>
          <a:xfrm>
            <a:off x="503238" y="380615"/>
            <a:ext cx="3840162"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charset="0"/>
                <a:ea typeface="Calibri" charset="0"/>
                <a:cs typeface="Calibri" charset="0"/>
              </a:rPr>
              <a:t>MEDIDAS DE TENDENCIA CENTRAL: MEDIA, MEDIANA, MODA </a:t>
            </a:r>
          </a:p>
        </p:txBody>
      </p:sp>
    </p:spTree>
    <p:extLst>
      <p:ext uri="{BB962C8B-B14F-4D97-AF65-F5344CB8AC3E}">
        <p14:creationId xmlns:p14="http://schemas.microsoft.com/office/powerpoint/2010/main" val="2140099905"/>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p:cNvPicPr>
            <a:picLocks noChangeAspect="1"/>
          </p:cNvPicPr>
          <p:nvPr/>
        </p:nvPicPr>
        <p:blipFill rotWithShape="1">
          <a:blip r:embed="rId3"/>
          <a:srcRect r="48597"/>
          <a:stretch/>
        </p:blipFill>
        <p:spPr>
          <a:xfrm>
            <a:off x="503238" y="974515"/>
            <a:ext cx="3361828" cy="4251877"/>
          </a:xfrm>
          <a:prstGeom prst="rect">
            <a:avLst/>
          </a:prstGeom>
        </p:spPr>
      </p:pic>
      <p:sp>
        <p:nvSpPr>
          <p:cNvPr id="5" name="Rectangle 5">
            <a:extLst>
              <a:ext uri="{FF2B5EF4-FFF2-40B4-BE49-F238E27FC236}">
                <a16:creationId xmlns:a16="http://schemas.microsoft.com/office/drawing/2014/main" id="{C8A6EE7F-FD97-4DCE-8207-00CC58CD0F9A}"/>
              </a:ext>
            </a:extLst>
          </p:cNvPr>
          <p:cNvSpPr/>
          <p:nvPr/>
        </p:nvSpPr>
        <p:spPr>
          <a:xfrm>
            <a:off x="503238" y="380615"/>
            <a:ext cx="3840162"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charset="0"/>
                <a:ea typeface="Calibri" charset="0"/>
                <a:cs typeface="Calibri" charset="0"/>
              </a:rPr>
              <a:t>MEDIDAS DE TENDENCIA CENTRAL: MEDIA, MEDIANA, MODA </a:t>
            </a:r>
          </a:p>
        </p:txBody>
      </p:sp>
      <p:sp>
        <p:nvSpPr>
          <p:cNvPr id="7" name="object 7">
            <a:extLst>
              <a:ext uri="{FF2B5EF4-FFF2-40B4-BE49-F238E27FC236}">
                <a16:creationId xmlns:a16="http://schemas.microsoft.com/office/drawing/2014/main" id="{6AEDDACF-A094-4CE1-AC01-D3CCD52724E7}"/>
              </a:ext>
            </a:extLst>
          </p:cNvPr>
          <p:cNvSpPr txBox="1"/>
          <p:nvPr/>
        </p:nvSpPr>
        <p:spPr>
          <a:xfrm>
            <a:off x="4572000" y="918372"/>
            <a:ext cx="3560379" cy="4154984"/>
          </a:xfrm>
          <a:prstGeom prst="rect">
            <a:avLst/>
          </a:prstGeom>
        </p:spPr>
        <p:txBody>
          <a:bodyPr vert="horz" wrap="square" lIns="0" tIns="0" rIns="0" bIns="0" rtlCol="0">
            <a:spAutoFit/>
          </a:bodyPr>
          <a:lstStyle/>
          <a:p>
            <a:pPr marL="11725">
              <a:spcAft>
                <a:spcPts val="600"/>
              </a:spcAft>
              <a:buSzPct val="100000"/>
              <a:tabLst>
                <a:tab pos="121285" algn="l"/>
              </a:tabLst>
              <a:defRPr/>
            </a:pPr>
            <a:r>
              <a:rPr lang="es-PE" sz="1600" b="1" dirty="0">
                <a:latin typeface="Calibri" charset="0"/>
                <a:ea typeface="Calibri" charset="0"/>
                <a:cs typeface="Calibri" charset="0"/>
              </a:rPr>
              <a:t>MEDIANA</a:t>
            </a:r>
          </a:p>
          <a:p>
            <a:pPr marL="297475" indent="-285750">
              <a:spcAft>
                <a:spcPts val="600"/>
              </a:spcAft>
              <a:buSzPct val="100000"/>
              <a:buFont typeface="Arial" panose="020B0604020202020204" pitchFamily="34" charset="0"/>
              <a:buChar char="•"/>
              <a:tabLst>
                <a:tab pos="121285" algn="l"/>
              </a:tabLst>
              <a:defRPr/>
            </a:pPr>
            <a:r>
              <a:rPr lang="es-ES" sz="1600" spc="-10" dirty="0">
                <a:solidFill>
                  <a:srgbClr val="262626"/>
                </a:solidFill>
                <a:latin typeface="Calibri" charset="0"/>
                <a:ea typeface="Calibri" charset="0"/>
                <a:cs typeface="Calibri" charset="0"/>
              </a:rPr>
              <a:t>La mediana es el valor central de un conjunto de datos ordenados, que divide la distribución en dos partes iguales: el 50% inferior y el 50% superior. </a:t>
            </a:r>
          </a:p>
          <a:p>
            <a:pPr marL="297475" indent="-285750">
              <a:spcAft>
                <a:spcPts val="600"/>
              </a:spcAft>
              <a:buSzPct val="100000"/>
              <a:buFont typeface="Arial" panose="020B0604020202020204" pitchFamily="34" charset="0"/>
              <a:buChar char="•"/>
              <a:tabLst>
                <a:tab pos="121285" algn="l"/>
              </a:tabLst>
              <a:defRPr/>
            </a:pPr>
            <a:r>
              <a:rPr lang="es-ES" sz="1600" spc="-10" dirty="0">
                <a:solidFill>
                  <a:srgbClr val="262626"/>
                </a:solidFill>
                <a:latin typeface="Calibri" charset="0"/>
                <a:ea typeface="Calibri" charset="0"/>
                <a:cs typeface="Calibri" charset="0"/>
              </a:rPr>
              <a:t>No se ve afectada por valores extremos, por lo que es más representativa en datos asimétricos.</a:t>
            </a:r>
          </a:p>
          <a:p>
            <a:pPr marL="11725">
              <a:spcAft>
                <a:spcPts val="600"/>
              </a:spcAft>
              <a:buSzPct val="100000"/>
              <a:tabLst>
                <a:tab pos="121285" algn="l"/>
              </a:tabLst>
              <a:defRPr/>
            </a:pPr>
            <a:r>
              <a:rPr lang="es-ES" sz="1600" spc="-10" dirty="0">
                <a:solidFill>
                  <a:srgbClr val="262626"/>
                </a:solidFill>
                <a:latin typeface="Calibri" charset="0"/>
                <a:ea typeface="Calibri" charset="0"/>
                <a:cs typeface="Calibri" charset="0"/>
              </a:rPr>
              <a:t>Cálculo:</a:t>
            </a:r>
          </a:p>
          <a:p>
            <a:pPr marL="297475" indent="-285750">
              <a:spcAft>
                <a:spcPts val="600"/>
              </a:spcAft>
              <a:buClr>
                <a:srgbClr val="7150A0"/>
              </a:buClr>
              <a:buSzPct val="100000"/>
              <a:buFont typeface="Wingdings" panose="05000000000000000000" pitchFamily="2" charset="2"/>
              <a:buChar char="§"/>
              <a:tabLst>
                <a:tab pos="121285" algn="l"/>
              </a:tabLst>
              <a:defRPr/>
            </a:pPr>
            <a:r>
              <a:rPr lang="es-ES" sz="1600" spc="-10" dirty="0">
                <a:solidFill>
                  <a:srgbClr val="262626"/>
                </a:solidFill>
                <a:latin typeface="Calibri" charset="0"/>
                <a:ea typeface="Calibri" charset="0"/>
                <a:cs typeface="Calibri" charset="0"/>
              </a:rPr>
              <a:t>Ordenar los datos de menor a mayor.</a:t>
            </a:r>
          </a:p>
          <a:p>
            <a:pPr marL="297475" indent="-285750">
              <a:spcAft>
                <a:spcPts val="600"/>
              </a:spcAft>
              <a:buClr>
                <a:srgbClr val="7150A0"/>
              </a:buClr>
              <a:buSzPct val="100000"/>
              <a:buFont typeface="Wingdings" panose="05000000000000000000" pitchFamily="2" charset="2"/>
              <a:buChar char="§"/>
              <a:tabLst>
                <a:tab pos="121285" algn="l"/>
              </a:tabLst>
              <a:defRPr/>
            </a:pPr>
            <a:r>
              <a:rPr lang="es-ES" sz="1600" spc="-10" dirty="0">
                <a:solidFill>
                  <a:srgbClr val="262626"/>
                </a:solidFill>
                <a:latin typeface="Calibri" charset="0"/>
                <a:ea typeface="Calibri" charset="0"/>
                <a:cs typeface="Calibri" charset="0"/>
              </a:rPr>
              <a:t>Si el número de datos es impar, la mediana es el valor central.</a:t>
            </a:r>
          </a:p>
          <a:p>
            <a:pPr marL="297475" indent="-285750">
              <a:spcAft>
                <a:spcPts val="600"/>
              </a:spcAft>
              <a:buClr>
                <a:srgbClr val="7150A0"/>
              </a:buClr>
              <a:buSzPct val="100000"/>
              <a:buFont typeface="Wingdings" panose="05000000000000000000" pitchFamily="2" charset="2"/>
              <a:buChar char="§"/>
              <a:tabLst>
                <a:tab pos="121285" algn="l"/>
              </a:tabLst>
              <a:defRPr/>
            </a:pPr>
            <a:r>
              <a:rPr lang="es-ES" sz="1600" spc="-10" dirty="0">
                <a:solidFill>
                  <a:srgbClr val="262626"/>
                </a:solidFill>
                <a:latin typeface="Calibri" charset="0"/>
                <a:ea typeface="Calibri" charset="0"/>
                <a:cs typeface="Calibri" charset="0"/>
              </a:rPr>
              <a:t>Si es par, la mediana es el promedio de los dos valores centrales.</a:t>
            </a:r>
          </a:p>
        </p:txBody>
      </p:sp>
    </p:spTree>
    <p:extLst>
      <p:ext uri="{BB962C8B-B14F-4D97-AF65-F5344CB8AC3E}">
        <p14:creationId xmlns:p14="http://schemas.microsoft.com/office/powerpoint/2010/main" val="2945104594"/>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7"/>
          <p:cNvSpPr txBox="1"/>
          <p:nvPr/>
        </p:nvSpPr>
        <p:spPr>
          <a:xfrm>
            <a:off x="503238" y="918372"/>
            <a:ext cx="3560379" cy="569387"/>
          </a:xfrm>
          <a:prstGeom prst="rect">
            <a:avLst/>
          </a:prstGeom>
        </p:spPr>
        <p:txBody>
          <a:bodyPr vert="horz" wrap="square" lIns="0" tIns="0" rIns="0" bIns="0" rtlCol="0">
            <a:spAutoFit/>
          </a:bodyPr>
          <a:lstStyle/>
          <a:p>
            <a:pPr marL="11725">
              <a:spcAft>
                <a:spcPts val="600"/>
              </a:spcAft>
              <a:buSzPct val="100000"/>
              <a:tabLst>
                <a:tab pos="121285" algn="l"/>
              </a:tabLst>
              <a:defRPr/>
            </a:pPr>
            <a:r>
              <a:rPr lang="es-PE" sz="1600" b="1" dirty="0">
                <a:latin typeface="Calibri" charset="0"/>
                <a:ea typeface="Calibri" charset="0"/>
                <a:cs typeface="Calibri" charset="0"/>
              </a:rPr>
              <a:t>MEDIANA</a:t>
            </a:r>
          </a:p>
          <a:p>
            <a:pPr marL="11725" algn="just">
              <a:spcAft>
                <a:spcPts val="600"/>
              </a:spcAft>
              <a:buSzPct val="100000"/>
              <a:tabLst>
                <a:tab pos="121285" algn="l"/>
              </a:tabLst>
              <a:defRPr/>
            </a:pPr>
            <a:r>
              <a:rPr lang="es-ES" sz="1600" b="1" spc="-10" dirty="0">
                <a:solidFill>
                  <a:srgbClr val="7150A0"/>
                </a:solidFill>
                <a:latin typeface="Calibri" charset="0"/>
                <a:ea typeface="Calibri" charset="0"/>
                <a:cs typeface="Calibri" charset="0"/>
              </a:rPr>
              <a:t>Ejemplo: </a:t>
            </a:r>
          </a:p>
        </p:txBody>
      </p:sp>
      <p:sp>
        <p:nvSpPr>
          <p:cNvPr id="6" name="Rectangle 5">
            <a:extLst>
              <a:ext uri="{FF2B5EF4-FFF2-40B4-BE49-F238E27FC236}">
                <a16:creationId xmlns:a16="http://schemas.microsoft.com/office/drawing/2014/main" id="{E94E6B1A-5674-44A7-8733-0CA18F13C0CC}"/>
              </a:ext>
            </a:extLst>
          </p:cNvPr>
          <p:cNvSpPr/>
          <p:nvPr/>
        </p:nvSpPr>
        <p:spPr>
          <a:xfrm>
            <a:off x="503238" y="380615"/>
            <a:ext cx="3840162"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charset="0"/>
                <a:ea typeface="Calibri" charset="0"/>
                <a:cs typeface="Calibri" charset="0"/>
              </a:rPr>
              <a:t>MEDIDAS DE TENDENCIA CENTRAL: MEDIA, MEDIANA, MODA </a:t>
            </a:r>
          </a:p>
        </p:txBody>
      </p:sp>
      <p:sp>
        <p:nvSpPr>
          <p:cNvPr id="7" name="28 Flecha derecha">
            <a:extLst>
              <a:ext uri="{FF2B5EF4-FFF2-40B4-BE49-F238E27FC236}">
                <a16:creationId xmlns:a16="http://schemas.microsoft.com/office/drawing/2014/main" id="{726DAF40-74C7-4EE0-86C0-2A31A90CFF46}"/>
              </a:ext>
            </a:extLst>
          </p:cNvPr>
          <p:cNvSpPr/>
          <p:nvPr/>
        </p:nvSpPr>
        <p:spPr>
          <a:xfrm>
            <a:off x="2463503" y="2998661"/>
            <a:ext cx="583284" cy="340338"/>
          </a:xfrm>
          <a:prstGeom prst="rightArrow">
            <a:avLst/>
          </a:prstGeom>
          <a:solidFill>
            <a:srgbClr val="DB423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s-PE" sz="1600" dirty="0">
              <a:latin typeface="Calibri" panose="020F0502020204030204" pitchFamily="34" charset="0"/>
            </a:endParaRPr>
          </a:p>
        </p:txBody>
      </p:sp>
      <p:sp>
        <p:nvSpPr>
          <p:cNvPr id="8" name="Rectángulo redondeado 2">
            <a:extLst>
              <a:ext uri="{FF2B5EF4-FFF2-40B4-BE49-F238E27FC236}">
                <a16:creationId xmlns:a16="http://schemas.microsoft.com/office/drawing/2014/main" id="{A58BA971-8C36-4983-9C77-20BBB5CECBA3}"/>
              </a:ext>
            </a:extLst>
          </p:cNvPr>
          <p:cNvSpPr/>
          <p:nvPr/>
        </p:nvSpPr>
        <p:spPr>
          <a:xfrm>
            <a:off x="893136" y="2111248"/>
            <a:ext cx="2317534" cy="1854696"/>
          </a:xfrm>
          <a:prstGeom prst="roundRect">
            <a:avLst>
              <a:gd name="adj" fmla="val 7792"/>
            </a:avLst>
          </a:prstGeom>
          <a:solidFill>
            <a:schemeClr val="bg1"/>
          </a:solidFill>
          <a:ln>
            <a:solidFill>
              <a:srgbClr val="00B1C2"/>
            </a:solidFill>
          </a:ln>
        </p:spPr>
        <p:style>
          <a:lnRef idx="2">
            <a:schemeClr val="accent1">
              <a:shade val="50000"/>
            </a:schemeClr>
          </a:lnRef>
          <a:fillRef idx="1">
            <a:schemeClr val="accent1"/>
          </a:fillRef>
          <a:effectRef idx="0">
            <a:schemeClr val="accent1"/>
          </a:effectRef>
          <a:fontRef idx="minor">
            <a:schemeClr val="lt1"/>
          </a:fontRef>
        </p:style>
        <p:txBody>
          <a:bodyPr tIns="180000" rtlCol="0" anchor="t"/>
          <a:lstStyle/>
          <a:p>
            <a:r>
              <a:rPr lang="es-MX" sz="1600" dirty="0">
                <a:solidFill>
                  <a:schemeClr val="tx1"/>
                </a:solidFill>
                <a:latin typeface="Calibri" charset="0"/>
                <a:ea typeface="Calibri" charset="0"/>
                <a:cs typeface="Calibri" charset="0"/>
              </a:rPr>
              <a:t>En una empresa, los sueldos (en soles) de 5 trabajadores son: </a:t>
            </a:r>
          </a:p>
          <a:p>
            <a:r>
              <a:rPr lang="es-MX" sz="1600" dirty="0">
                <a:solidFill>
                  <a:schemeClr val="tx1"/>
                </a:solidFill>
                <a:latin typeface="Calibri" charset="0"/>
                <a:ea typeface="Calibri" charset="0"/>
                <a:cs typeface="Calibri" charset="0"/>
              </a:rPr>
              <a:t>1000, 1200, 1300, 5000, 6000.</a:t>
            </a:r>
          </a:p>
        </p:txBody>
      </p:sp>
      <p:sp>
        <p:nvSpPr>
          <p:cNvPr id="11" name="28 Flecha derecha">
            <a:extLst>
              <a:ext uri="{FF2B5EF4-FFF2-40B4-BE49-F238E27FC236}">
                <a16:creationId xmlns:a16="http://schemas.microsoft.com/office/drawing/2014/main" id="{06B94B1F-C085-46BB-85A3-4CFC0B81B3E2}"/>
              </a:ext>
            </a:extLst>
          </p:cNvPr>
          <p:cNvSpPr/>
          <p:nvPr/>
        </p:nvSpPr>
        <p:spPr>
          <a:xfrm>
            <a:off x="4408030" y="2998661"/>
            <a:ext cx="583284" cy="340338"/>
          </a:xfrm>
          <a:prstGeom prst="rightArrow">
            <a:avLst/>
          </a:prstGeom>
          <a:solidFill>
            <a:srgbClr val="DB423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s-PE" sz="1600" dirty="0">
              <a:latin typeface="Calibri" panose="020F0502020204030204" pitchFamily="34" charset="0"/>
            </a:endParaRPr>
          </a:p>
        </p:txBody>
      </p:sp>
      <p:sp>
        <p:nvSpPr>
          <p:cNvPr id="12" name="Rectángulo redondeado 23">
            <a:extLst>
              <a:ext uri="{FF2B5EF4-FFF2-40B4-BE49-F238E27FC236}">
                <a16:creationId xmlns:a16="http://schemas.microsoft.com/office/drawing/2014/main" id="{4628457A-8A44-49EF-92D3-2B216E8FA08D}"/>
              </a:ext>
            </a:extLst>
          </p:cNvPr>
          <p:cNvSpPr/>
          <p:nvPr/>
        </p:nvSpPr>
        <p:spPr>
          <a:xfrm>
            <a:off x="3356344" y="2124255"/>
            <a:ext cx="2317534" cy="1854696"/>
          </a:xfrm>
          <a:prstGeom prst="roundRect">
            <a:avLst>
              <a:gd name="adj" fmla="val 7792"/>
            </a:avLst>
          </a:prstGeom>
          <a:solidFill>
            <a:schemeClr val="bg1"/>
          </a:solidFill>
          <a:ln>
            <a:solidFill>
              <a:srgbClr val="00B1C2"/>
            </a:solidFill>
          </a:ln>
        </p:spPr>
        <p:style>
          <a:lnRef idx="2">
            <a:schemeClr val="accent1">
              <a:shade val="50000"/>
            </a:schemeClr>
          </a:lnRef>
          <a:fillRef idx="1">
            <a:schemeClr val="accent1"/>
          </a:fillRef>
          <a:effectRef idx="0">
            <a:schemeClr val="accent1"/>
          </a:effectRef>
          <a:fontRef idx="minor">
            <a:schemeClr val="lt1"/>
          </a:fontRef>
        </p:style>
        <p:txBody>
          <a:bodyPr tIns="180000" rtlCol="0" anchor="t"/>
          <a:lstStyle/>
          <a:p>
            <a:r>
              <a:rPr lang="es-MX" sz="1600" dirty="0">
                <a:solidFill>
                  <a:schemeClr val="tx1"/>
                </a:solidFill>
                <a:latin typeface="Calibri" charset="0"/>
                <a:ea typeface="Calibri" charset="0"/>
                <a:cs typeface="Calibri" charset="0"/>
              </a:rPr>
              <a:t>La mediana es 1300 porque está en el centro del conjunto ordenado.</a:t>
            </a:r>
          </a:p>
        </p:txBody>
      </p:sp>
      <p:sp>
        <p:nvSpPr>
          <p:cNvPr id="17" name="28 Flecha derecha">
            <a:extLst>
              <a:ext uri="{FF2B5EF4-FFF2-40B4-BE49-F238E27FC236}">
                <a16:creationId xmlns:a16="http://schemas.microsoft.com/office/drawing/2014/main" id="{D3CBB58F-7DB3-4C9C-961F-29F292639865}"/>
              </a:ext>
            </a:extLst>
          </p:cNvPr>
          <p:cNvSpPr/>
          <p:nvPr/>
        </p:nvSpPr>
        <p:spPr>
          <a:xfrm>
            <a:off x="6352557" y="2998661"/>
            <a:ext cx="583284" cy="340338"/>
          </a:xfrm>
          <a:prstGeom prst="rightArrow">
            <a:avLst/>
          </a:prstGeom>
          <a:solidFill>
            <a:srgbClr val="DB423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s-PE" sz="1600" dirty="0">
              <a:latin typeface="Calibri" panose="020F0502020204030204" pitchFamily="34" charset="0"/>
            </a:endParaRPr>
          </a:p>
        </p:txBody>
      </p:sp>
      <p:sp>
        <p:nvSpPr>
          <p:cNvPr id="18" name="Rectángulo redondeado 23">
            <a:extLst>
              <a:ext uri="{FF2B5EF4-FFF2-40B4-BE49-F238E27FC236}">
                <a16:creationId xmlns:a16="http://schemas.microsoft.com/office/drawing/2014/main" id="{87EBEE09-5102-449E-9630-065A6BD37A01}"/>
              </a:ext>
            </a:extLst>
          </p:cNvPr>
          <p:cNvSpPr/>
          <p:nvPr/>
        </p:nvSpPr>
        <p:spPr>
          <a:xfrm>
            <a:off x="5819552" y="2111248"/>
            <a:ext cx="2317534" cy="1867703"/>
          </a:xfrm>
          <a:prstGeom prst="roundRect">
            <a:avLst>
              <a:gd name="adj" fmla="val 7792"/>
            </a:avLst>
          </a:prstGeom>
          <a:solidFill>
            <a:schemeClr val="bg1"/>
          </a:solidFill>
          <a:ln>
            <a:solidFill>
              <a:srgbClr val="00B1C2"/>
            </a:solidFill>
          </a:ln>
        </p:spPr>
        <p:style>
          <a:lnRef idx="2">
            <a:schemeClr val="accent1">
              <a:shade val="50000"/>
            </a:schemeClr>
          </a:lnRef>
          <a:fillRef idx="1">
            <a:schemeClr val="accent1"/>
          </a:fillRef>
          <a:effectRef idx="0">
            <a:schemeClr val="accent1"/>
          </a:effectRef>
          <a:fontRef idx="minor">
            <a:schemeClr val="lt1"/>
          </a:fontRef>
        </p:style>
        <p:txBody>
          <a:bodyPr tIns="180000" rtlCol="0" anchor="t"/>
          <a:lstStyle/>
          <a:p>
            <a:r>
              <a:rPr lang="es-MX" sz="1600" dirty="0">
                <a:solidFill>
                  <a:schemeClr val="tx1"/>
                </a:solidFill>
                <a:latin typeface="Calibri" charset="0"/>
                <a:ea typeface="Calibri" charset="0"/>
                <a:cs typeface="Calibri" charset="0"/>
              </a:rPr>
              <a:t>Esto muestra que, aunque algunos ganen mucho más, la mitad (el 50% inferior) de los trabajadores gana 1300 soles o menos.</a:t>
            </a:r>
          </a:p>
        </p:txBody>
      </p:sp>
    </p:spTree>
    <p:extLst>
      <p:ext uri="{BB962C8B-B14F-4D97-AF65-F5344CB8AC3E}">
        <p14:creationId xmlns:p14="http://schemas.microsoft.com/office/powerpoint/2010/main" val="518783907"/>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7"/>
          <p:cNvSpPr txBox="1"/>
          <p:nvPr/>
        </p:nvSpPr>
        <p:spPr>
          <a:xfrm>
            <a:off x="506796" y="918372"/>
            <a:ext cx="3560379" cy="3754874"/>
          </a:xfrm>
          <a:prstGeom prst="rect">
            <a:avLst/>
          </a:prstGeom>
        </p:spPr>
        <p:txBody>
          <a:bodyPr vert="horz" wrap="square" lIns="0" tIns="0" rIns="0" bIns="0" rtlCol="0">
            <a:spAutoFit/>
          </a:bodyPr>
          <a:lstStyle/>
          <a:p>
            <a:pPr marL="11725">
              <a:spcAft>
                <a:spcPts val="600"/>
              </a:spcAft>
              <a:buSzPct val="100000"/>
              <a:tabLst>
                <a:tab pos="121285" algn="l"/>
              </a:tabLst>
              <a:defRPr/>
            </a:pPr>
            <a:r>
              <a:rPr lang="es-PE" sz="1600" b="1" dirty="0">
                <a:latin typeface="Calibri" charset="0"/>
                <a:ea typeface="Calibri" charset="0"/>
                <a:cs typeface="Calibri" charset="0"/>
              </a:rPr>
              <a:t>MODA</a:t>
            </a:r>
          </a:p>
          <a:p>
            <a:pPr marL="297475" indent="-285750">
              <a:spcAft>
                <a:spcPts val="600"/>
              </a:spcAft>
              <a:buSzPct val="100000"/>
              <a:buFont typeface="Arial" panose="020B0604020202020204" pitchFamily="34" charset="0"/>
              <a:buChar char="•"/>
              <a:tabLst>
                <a:tab pos="121285" algn="l"/>
              </a:tabLst>
              <a:defRPr/>
            </a:pPr>
            <a:r>
              <a:rPr lang="es-ES" sz="1600" spc="-10" dirty="0">
                <a:solidFill>
                  <a:srgbClr val="262626"/>
                </a:solidFill>
                <a:latin typeface="Calibri" charset="0"/>
                <a:ea typeface="Calibri" charset="0"/>
                <a:cs typeface="Calibri" charset="0"/>
              </a:rPr>
              <a:t>La moda es la medida de tendencia central que indica  el dato u observación que más se repite dentro de una distribución o conjunto de datos. </a:t>
            </a:r>
          </a:p>
          <a:p>
            <a:pPr marL="297475" indent="-285750">
              <a:spcAft>
                <a:spcPts val="600"/>
              </a:spcAft>
              <a:buSzPct val="100000"/>
              <a:buFont typeface="Arial" panose="020B0604020202020204" pitchFamily="34" charset="0"/>
              <a:buChar char="•"/>
              <a:tabLst>
                <a:tab pos="121285" algn="l"/>
              </a:tabLst>
              <a:defRPr/>
            </a:pPr>
            <a:r>
              <a:rPr lang="es-ES" sz="1600" spc="-10" dirty="0">
                <a:solidFill>
                  <a:srgbClr val="262626"/>
                </a:solidFill>
                <a:latin typeface="Calibri" charset="0"/>
                <a:ea typeface="Calibri" charset="0"/>
                <a:cs typeface="Calibri" charset="0"/>
              </a:rPr>
              <a:t>Puede existir una sola moda (unimodal), varias modas (multimodal) o ninguna (si todos los datos registran la misma frecuencia).</a:t>
            </a:r>
          </a:p>
          <a:p>
            <a:pPr marL="11725">
              <a:spcAft>
                <a:spcPts val="600"/>
              </a:spcAft>
              <a:buSzPct val="100000"/>
              <a:tabLst>
                <a:tab pos="121285" algn="l"/>
              </a:tabLst>
              <a:defRPr/>
            </a:pPr>
            <a:r>
              <a:rPr lang="es-ES" sz="1600" spc="-10" dirty="0">
                <a:solidFill>
                  <a:srgbClr val="262626"/>
                </a:solidFill>
                <a:latin typeface="Calibri" panose="020F0502020204030204" pitchFamily="34" charset="0"/>
                <a:cs typeface="Calibri" panose="020F0502020204030204" pitchFamily="34" charset="0"/>
              </a:rPr>
              <a:t>Cálculo:</a:t>
            </a:r>
          </a:p>
          <a:p>
            <a:pPr marL="297475" indent="-285750">
              <a:spcAft>
                <a:spcPts val="600"/>
              </a:spcAft>
              <a:buClr>
                <a:srgbClr val="7150A0"/>
              </a:buClr>
              <a:buSzPct val="100000"/>
              <a:buFont typeface="Wingdings" panose="05000000000000000000" pitchFamily="2" charset="2"/>
              <a:buChar char="§"/>
              <a:tabLst>
                <a:tab pos="121285" algn="l"/>
              </a:tabLst>
              <a:defRPr/>
            </a:pPr>
            <a:r>
              <a:rPr lang="es-ES" sz="1600" spc="-10" dirty="0">
                <a:solidFill>
                  <a:srgbClr val="262626"/>
                </a:solidFill>
                <a:latin typeface="Calibri" panose="020F0502020204030204" pitchFamily="34" charset="0"/>
                <a:cs typeface="Calibri" panose="020F0502020204030204" pitchFamily="34" charset="0"/>
              </a:rPr>
              <a:t>Se identifica observando qué valor aparece con mayor frecuencia en el conjunto de datos.</a:t>
            </a:r>
            <a:endParaRPr lang="es-PE" sz="1600" spc="-10" dirty="0">
              <a:solidFill>
                <a:srgbClr val="262626"/>
              </a:solidFill>
              <a:latin typeface="Calibri" panose="020F0502020204030204" pitchFamily="34" charset="0"/>
              <a:cs typeface="Calibri" panose="020F0502020204030204" pitchFamily="34" charset="0"/>
            </a:endParaRPr>
          </a:p>
        </p:txBody>
      </p:sp>
      <p:pic>
        <p:nvPicPr>
          <p:cNvPr id="9" name="Imagen 8"/>
          <p:cNvPicPr>
            <a:picLocks noChangeAspect="1"/>
          </p:cNvPicPr>
          <p:nvPr/>
        </p:nvPicPr>
        <p:blipFill rotWithShape="1">
          <a:blip r:embed="rId3"/>
          <a:srcRect l="1783" r="41664"/>
          <a:stretch/>
        </p:blipFill>
        <p:spPr>
          <a:xfrm>
            <a:off x="5290442" y="918373"/>
            <a:ext cx="3361828" cy="4359870"/>
          </a:xfrm>
          <a:prstGeom prst="rect">
            <a:avLst/>
          </a:prstGeom>
          <a:ln w="3175">
            <a:solidFill>
              <a:schemeClr val="tx1"/>
            </a:solidFill>
          </a:ln>
        </p:spPr>
      </p:pic>
      <p:sp>
        <p:nvSpPr>
          <p:cNvPr id="5" name="Rectangle 5">
            <a:extLst>
              <a:ext uri="{FF2B5EF4-FFF2-40B4-BE49-F238E27FC236}">
                <a16:creationId xmlns:a16="http://schemas.microsoft.com/office/drawing/2014/main" id="{498A7BA8-4396-4C10-9978-108CF6A744A7}"/>
              </a:ext>
            </a:extLst>
          </p:cNvPr>
          <p:cNvSpPr/>
          <p:nvPr/>
        </p:nvSpPr>
        <p:spPr>
          <a:xfrm>
            <a:off x="503238" y="380615"/>
            <a:ext cx="3840162"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charset="0"/>
                <a:ea typeface="Calibri" charset="0"/>
                <a:cs typeface="Calibri" charset="0"/>
              </a:rPr>
              <a:t>MEDIDAS DE TENDENCIA CENTRAL: MEDIA, MEDIANA, MODA </a:t>
            </a:r>
          </a:p>
        </p:txBody>
      </p:sp>
    </p:spTree>
    <p:extLst>
      <p:ext uri="{BB962C8B-B14F-4D97-AF65-F5344CB8AC3E}">
        <p14:creationId xmlns:p14="http://schemas.microsoft.com/office/powerpoint/2010/main" val="1716057529"/>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7"/>
          <p:cNvSpPr txBox="1"/>
          <p:nvPr/>
        </p:nvSpPr>
        <p:spPr>
          <a:xfrm>
            <a:off x="506796" y="918372"/>
            <a:ext cx="3560379" cy="569387"/>
          </a:xfrm>
          <a:prstGeom prst="rect">
            <a:avLst/>
          </a:prstGeom>
        </p:spPr>
        <p:txBody>
          <a:bodyPr vert="horz" wrap="square" lIns="0" tIns="0" rIns="0" bIns="0" rtlCol="0">
            <a:spAutoFit/>
          </a:bodyPr>
          <a:lstStyle/>
          <a:p>
            <a:pPr marL="11725">
              <a:spcAft>
                <a:spcPts val="600"/>
              </a:spcAft>
              <a:buSzPct val="100000"/>
              <a:tabLst>
                <a:tab pos="121285" algn="l"/>
              </a:tabLst>
              <a:defRPr/>
            </a:pPr>
            <a:r>
              <a:rPr lang="es-PE" sz="1600" b="1" dirty="0">
                <a:latin typeface="Calibri" charset="0"/>
                <a:ea typeface="Calibri" charset="0"/>
                <a:cs typeface="Calibri" charset="0"/>
              </a:rPr>
              <a:t>MODA</a:t>
            </a:r>
          </a:p>
          <a:p>
            <a:pPr marL="11725" algn="just">
              <a:spcAft>
                <a:spcPts val="600"/>
              </a:spcAft>
              <a:buSzPct val="100000"/>
              <a:tabLst>
                <a:tab pos="121285" algn="l"/>
              </a:tabLst>
              <a:defRPr/>
            </a:pPr>
            <a:r>
              <a:rPr lang="es-ES" sz="1600" b="1" spc="-10" dirty="0">
                <a:solidFill>
                  <a:srgbClr val="7150A0"/>
                </a:solidFill>
                <a:latin typeface="Calibri" charset="0"/>
                <a:ea typeface="Calibri" charset="0"/>
                <a:cs typeface="Calibri" charset="0"/>
              </a:rPr>
              <a:t>Ejemplo:</a:t>
            </a:r>
          </a:p>
        </p:txBody>
      </p:sp>
      <p:sp>
        <p:nvSpPr>
          <p:cNvPr id="6" name="Rectangle 5">
            <a:extLst>
              <a:ext uri="{FF2B5EF4-FFF2-40B4-BE49-F238E27FC236}">
                <a16:creationId xmlns:a16="http://schemas.microsoft.com/office/drawing/2014/main" id="{65AC2AB5-FB05-42BB-AAB4-A947D54E5DA5}"/>
              </a:ext>
            </a:extLst>
          </p:cNvPr>
          <p:cNvSpPr/>
          <p:nvPr/>
        </p:nvSpPr>
        <p:spPr>
          <a:xfrm>
            <a:off x="503238" y="380615"/>
            <a:ext cx="3840162"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charset="0"/>
                <a:ea typeface="Calibri" charset="0"/>
                <a:cs typeface="Calibri" charset="0"/>
              </a:rPr>
              <a:t>MEDIDAS DE TENDENCIA CENTRAL: MEDIA, MEDIANA, MODA </a:t>
            </a:r>
          </a:p>
        </p:txBody>
      </p:sp>
      <p:sp>
        <p:nvSpPr>
          <p:cNvPr id="7" name="28 Flecha derecha">
            <a:extLst>
              <a:ext uri="{FF2B5EF4-FFF2-40B4-BE49-F238E27FC236}">
                <a16:creationId xmlns:a16="http://schemas.microsoft.com/office/drawing/2014/main" id="{253FFDFA-5960-4A94-80C5-6D6E183371CB}"/>
              </a:ext>
            </a:extLst>
          </p:cNvPr>
          <p:cNvSpPr/>
          <p:nvPr/>
        </p:nvSpPr>
        <p:spPr>
          <a:xfrm>
            <a:off x="2463503" y="2998661"/>
            <a:ext cx="583284" cy="340338"/>
          </a:xfrm>
          <a:prstGeom prst="rightArrow">
            <a:avLst/>
          </a:prstGeom>
          <a:solidFill>
            <a:srgbClr val="DB423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s-PE" sz="1600" dirty="0">
              <a:latin typeface="Calibri" panose="020F0502020204030204" pitchFamily="34" charset="0"/>
            </a:endParaRPr>
          </a:p>
        </p:txBody>
      </p:sp>
      <p:sp>
        <p:nvSpPr>
          <p:cNvPr id="8" name="Rectángulo redondeado 2">
            <a:extLst>
              <a:ext uri="{FF2B5EF4-FFF2-40B4-BE49-F238E27FC236}">
                <a16:creationId xmlns:a16="http://schemas.microsoft.com/office/drawing/2014/main" id="{1D9E2A28-3FD3-4C26-AB54-29A96F28E641}"/>
              </a:ext>
            </a:extLst>
          </p:cNvPr>
          <p:cNvSpPr/>
          <p:nvPr/>
        </p:nvSpPr>
        <p:spPr>
          <a:xfrm>
            <a:off x="893136" y="2111247"/>
            <a:ext cx="2317534" cy="2192565"/>
          </a:xfrm>
          <a:prstGeom prst="roundRect">
            <a:avLst>
              <a:gd name="adj" fmla="val 7792"/>
            </a:avLst>
          </a:prstGeom>
          <a:solidFill>
            <a:schemeClr val="bg1"/>
          </a:solidFill>
          <a:ln>
            <a:solidFill>
              <a:srgbClr val="00B1C2"/>
            </a:solidFill>
          </a:ln>
        </p:spPr>
        <p:style>
          <a:lnRef idx="2">
            <a:schemeClr val="accent1">
              <a:shade val="50000"/>
            </a:schemeClr>
          </a:lnRef>
          <a:fillRef idx="1">
            <a:schemeClr val="accent1"/>
          </a:fillRef>
          <a:effectRef idx="0">
            <a:schemeClr val="accent1"/>
          </a:effectRef>
          <a:fontRef idx="minor">
            <a:schemeClr val="lt1"/>
          </a:fontRef>
        </p:style>
        <p:txBody>
          <a:bodyPr tIns="180000" rtlCol="0" anchor="t"/>
          <a:lstStyle/>
          <a:p>
            <a:r>
              <a:rPr lang="es-MX" sz="1600" dirty="0">
                <a:solidFill>
                  <a:schemeClr val="tx1"/>
                </a:solidFill>
                <a:latin typeface="Calibri" charset="0"/>
                <a:ea typeface="Calibri" charset="0"/>
                <a:cs typeface="Calibri" charset="0"/>
              </a:rPr>
              <a:t>Una empresa registra el monto de ventas (en miles de soles) obtenidas durante 8 semanas:</a:t>
            </a:r>
          </a:p>
          <a:p>
            <a:r>
              <a:rPr lang="es-MX" sz="1600" dirty="0">
                <a:solidFill>
                  <a:schemeClr val="tx1"/>
                </a:solidFill>
                <a:latin typeface="Calibri" charset="0"/>
                <a:ea typeface="Calibri" charset="0"/>
                <a:cs typeface="Calibri" charset="0"/>
              </a:rPr>
              <a:t>15, 18, 15, 22, 15, 15, 20, 18</a:t>
            </a:r>
          </a:p>
        </p:txBody>
      </p:sp>
      <p:sp>
        <p:nvSpPr>
          <p:cNvPr id="9" name="28 Flecha derecha">
            <a:extLst>
              <a:ext uri="{FF2B5EF4-FFF2-40B4-BE49-F238E27FC236}">
                <a16:creationId xmlns:a16="http://schemas.microsoft.com/office/drawing/2014/main" id="{C80D8D5D-2910-47A6-80F2-5F5BCE38AE37}"/>
              </a:ext>
            </a:extLst>
          </p:cNvPr>
          <p:cNvSpPr/>
          <p:nvPr/>
        </p:nvSpPr>
        <p:spPr>
          <a:xfrm>
            <a:off x="4408030" y="2998661"/>
            <a:ext cx="583284" cy="340338"/>
          </a:xfrm>
          <a:prstGeom prst="rightArrow">
            <a:avLst/>
          </a:prstGeom>
          <a:solidFill>
            <a:srgbClr val="DB423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s-PE" sz="1600" dirty="0">
              <a:latin typeface="Calibri" panose="020F0502020204030204" pitchFamily="34" charset="0"/>
            </a:endParaRPr>
          </a:p>
        </p:txBody>
      </p:sp>
      <p:sp>
        <p:nvSpPr>
          <p:cNvPr id="10" name="Rectángulo redondeado 23">
            <a:extLst>
              <a:ext uri="{FF2B5EF4-FFF2-40B4-BE49-F238E27FC236}">
                <a16:creationId xmlns:a16="http://schemas.microsoft.com/office/drawing/2014/main" id="{C541E005-A9F2-44F1-B41D-BEB5330E2589}"/>
              </a:ext>
            </a:extLst>
          </p:cNvPr>
          <p:cNvSpPr/>
          <p:nvPr/>
        </p:nvSpPr>
        <p:spPr>
          <a:xfrm>
            <a:off x="3356344" y="2124254"/>
            <a:ext cx="2317534" cy="2192565"/>
          </a:xfrm>
          <a:prstGeom prst="roundRect">
            <a:avLst>
              <a:gd name="adj" fmla="val 7792"/>
            </a:avLst>
          </a:prstGeom>
          <a:solidFill>
            <a:schemeClr val="bg1"/>
          </a:solidFill>
          <a:ln>
            <a:solidFill>
              <a:srgbClr val="00B1C2"/>
            </a:solidFill>
          </a:ln>
        </p:spPr>
        <p:style>
          <a:lnRef idx="2">
            <a:schemeClr val="accent1">
              <a:shade val="50000"/>
            </a:schemeClr>
          </a:lnRef>
          <a:fillRef idx="1">
            <a:schemeClr val="accent1"/>
          </a:fillRef>
          <a:effectRef idx="0">
            <a:schemeClr val="accent1"/>
          </a:effectRef>
          <a:fontRef idx="minor">
            <a:schemeClr val="lt1"/>
          </a:fontRef>
        </p:style>
        <p:txBody>
          <a:bodyPr tIns="180000" rtlCol="0" anchor="t"/>
          <a:lstStyle/>
          <a:p>
            <a:r>
              <a:rPr lang="es-MX" sz="1600" dirty="0">
                <a:solidFill>
                  <a:schemeClr val="tx1"/>
                </a:solidFill>
                <a:latin typeface="Calibri" charset="0"/>
                <a:ea typeface="Calibri" charset="0"/>
                <a:cs typeface="Calibri" charset="0"/>
              </a:rPr>
              <a:t>En este caso, el valor 15 se repite cuatro veces, por lo que la distribución es unimodal y la moda es 15.</a:t>
            </a:r>
          </a:p>
        </p:txBody>
      </p:sp>
      <p:sp>
        <p:nvSpPr>
          <p:cNvPr id="11" name="28 Flecha derecha">
            <a:extLst>
              <a:ext uri="{FF2B5EF4-FFF2-40B4-BE49-F238E27FC236}">
                <a16:creationId xmlns:a16="http://schemas.microsoft.com/office/drawing/2014/main" id="{75BB4631-CCD1-4542-B7A7-65282D6676D5}"/>
              </a:ext>
            </a:extLst>
          </p:cNvPr>
          <p:cNvSpPr/>
          <p:nvPr/>
        </p:nvSpPr>
        <p:spPr>
          <a:xfrm>
            <a:off x="6352557" y="2998661"/>
            <a:ext cx="583284" cy="340338"/>
          </a:xfrm>
          <a:prstGeom prst="rightArrow">
            <a:avLst/>
          </a:prstGeom>
          <a:solidFill>
            <a:srgbClr val="DB423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s-PE" sz="1600" dirty="0">
              <a:latin typeface="Calibri" panose="020F0502020204030204" pitchFamily="34" charset="0"/>
            </a:endParaRPr>
          </a:p>
        </p:txBody>
      </p:sp>
      <p:sp>
        <p:nvSpPr>
          <p:cNvPr id="12" name="Rectángulo redondeado 23">
            <a:extLst>
              <a:ext uri="{FF2B5EF4-FFF2-40B4-BE49-F238E27FC236}">
                <a16:creationId xmlns:a16="http://schemas.microsoft.com/office/drawing/2014/main" id="{0F31D2F9-7291-4693-8E5E-A9C70CAFCB34}"/>
              </a:ext>
            </a:extLst>
          </p:cNvPr>
          <p:cNvSpPr/>
          <p:nvPr/>
        </p:nvSpPr>
        <p:spPr>
          <a:xfrm>
            <a:off x="5819552" y="2111248"/>
            <a:ext cx="2317534" cy="2205571"/>
          </a:xfrm>
          <a:prstGeom prst="roundRect">
            <a:avLst>
              <a:gd name="adj" fmla="val 7792"/>
            </a:avLst>
          </a:prstGeom>
          <a:solidFill>
            <a:schemeClr val="bg1"/>
          </a:solidFill>
          <a:ln>
            <a:solidFill>
              <a:srgbClr val="00B1C2"/>
            </a:solidFill>
          </a:ln>
        </p:spPr>
        <p:style>
          <a:lnRef idx="2">
            <a:schemeClr val="accent1">
              <a:shade val="50000"/>
            </a:schemeClr>
          </a:lnRef>
          <a:fillRef idx="1">
            <a:schemeClr val="accent1"/>
          </a:fillRef>
          <a:effectRef idx="0">
            <a:schemeClr val="accent1"/>
          </a:effectRef>
          <a:fontRef idx="minor">
            <a:schemeClr val="lt1"/>
          </a:fontRef>
        </p:style>
        <p:txBody>
          <a:bodyPr tIns="180000" rtlCol="0" anchor="t"/>
          <a:lstStyle/>
          <a:p>
            <a:r>
              <a:rPr lang="es-MX" sz="1600" dirty="0">
                <a:solidFill>
                  <a:schemeClr val="tx1"/>
                </a:solidFill>
                <a:latin typeface="Calibri" charset="0"/>
                <a:ea typeface="Calibri" charset="0"/>
                <a:cs typeface="Calibri" charset="0"/>
              </a:rPr>
              <a:t>Esto significa que el nivel de venta más frecuente en las 8 semanas fue de 15 mil soles, reflejando el monto en el que la empresa más suele ubicarse.</a:t>
            </a:r>
          </a:p>
        </p:txBody>
      </p:sp>
    </p:spTree>
    <p:extLst>
      <p:ext uri="{BB962C8B-B14F-4D97-AF65-F5344CB8AC3E}">
        <p14:creationId xmlns:p14="http://schemas.microsoft.com/office/powerpoint/2010/main" val="4042553375"/>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ángulo 9"/>
          <p:cNvSpPr/>
          <p:nvPr/>
        </p:nvSpPr>
        <p:spPr>
          <a:xfrm>
            <a:off x="0" y="0"/>
            <a:ext cx="9144000" cy="5715000"/>
          </a:xfrm>
          <a:prstGeom prst="rect">
            <a:avLst/>
          </a:prstGeom>
          <a:solidFill>
            <a:srgbClr val="8087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sp>
        <p:nvSpPr>
          <p:cNvPr id="18" name="CuadroTexto 17">
            <a:extLst>
              <a:ext uri="{FF2B5EF4-FFF2-40B4-BE49-F238E27FC236}">
                <a16:creationId xmlns:a16="http://schemas.microsoft.com/office/drawing/2014/main" id="{F58EABDC-EE9F-6D4B-8493-73E3A05BE100}"/>
              </a:ext>
            </a:extLst>
          </p:cNvPr>
          <p:cNvSpPr txBox="1"/>
          <p:nvPr/>
        </p:nvSpPr>
        <p:spPr>
          <a:xfrm>
            <a:off x="1008063" y="3169972"/>
            <a:ext cx="5993558" cy="997196"/>
          </a:xfrm>
          <a:prstGeom prst="rect">
            <a:avLst/>
          </a:prstGeom>
          <a:noFill/>
        </p:spPr>
        <p:txBody>
          <a:bodyPr wrap="square" lIns="0" tIns="0" rIns="0" bIns="0" rtlCol="0">
            <a:spAutoFit/>
          </a:bodyPr>
          <a:lstStyle/>
          <a:p>
            <a:pPr>
              <a:lnSpc>
                <a:spcPct val="90000"/>
              </a:lnSpc>
              <a:spcBef>
                <a:spcPts val="1000"/>
              </a:spcBef>
              <a:defRPr/>
            </a:pPr>
            <a:r>
              <a:rPr lang="es-PE" sz="2400" dirty="0">
                <a:solidFill>
                  <a:schemeClr val="bg1"/>
                </a:solidFill>
                <a:latin typeface="Graphik Regular" charset="0"/>
                <a:ea typeface="Graphik Regular" charset="0"/>
                <a:cs typeface="Graphik Regular" charset="0"/>
              </a:rPr>
              <a:t>MEDIDAS DE DISPERSIÓN: </a:t>
            </a:r>
            <a:br>
              <a:rPr lang="es-PE" sz="2400" dirty="0">
                <a:solidFill>
                  <a:schemeClr val="bg1"/>
                </a:solidFill>
                <a:latin typeface="Graphik Regular" charset="0"/>
              </a:rPr>
            </a:br>
            <a:r>
              <a:rPr lang="es-PE" sz="2400" b="1" dirty="0">
                <a:solidFill>
                  <a:schemeClr val="bg1"/>
                </a:solidFill>
                <a:latin typeface="Graphik Bold" charset="0"/>
              </a:rPr>
              <a:t>VARIANZA,</a:t>
            </a:r>
            <a:br>
              <a:rPr lang="es-PE" sz="2400" dirty="0">
                <a:solidFill>
                  <a:schemeClr val="bg1"/>
                </a:solidFill>
                <a:latin typeface="Graphik Regular" charset="0"/>
              </a:rPr>
            </a:br>
            <a:r>
              <a:rPr lang="es-PE" sz="2400" b="1" dirty="0">
                <a:solidFill>
                  <a:schemeClr val="bg1"/>
                </a:solidFill>
                <a:latin typeface="Graphik Bold" charset="0"/>
                <a:ea typeface="Graphik Bold" charset="0"/>
                <a:cs typeface="Graphik Bold" charset="0"/>
              </a:rPr>
              <a:t>DESVIACIÓN ESTÁNDAR</a:t>
            </a:r>
          </a:p>
        </p:txBody>
      </p:sp>
      <p:pic>
        <p:nvPicPr>
          <p:cNvPr id="19" name="Imagen 18">
            <a:extLst>
              <a:ext uri="{FF2B5EF4-FFF2-40B4-BE49-F238E27FC236}">
                <a16:creationId xmlns:a16="http://schemas.microsoft.com/office/drawing/2014/main" id="{2E011318-DF6A-E443-82C0-13421C5F2D5E}"/>
              </a:ext>
            </a:extLst>
          </p:cNvPr>
          <p:cNvPicPr>
            <a:picLocks noChangeAspect="1"/>
          </p:cNvPicPr>
          <p:nvPr/>
        </p:nvPicPr>
        <p:blipFill>
          <a:blip r:embed="rId3"/>
          <a:stretch>
            <a:fillRect/>
          </a:stretch>
        </p:blipFill>
        <p:spPr>
          <a:xfrm>
            <a:off x="1008063" y="2869612"/>
            <a:ext cx="195423" cy="201256"/>
          </a:xfrm>
          <a:prstGeom prst="rect">
            <a:avLst/>
          </a:prstGeom>
        </p:spPr>
      </p:pic>
    </p:spTree>
    <p:extLst>
      <p:ext uri="{BB962C8B-B14F-4D97-AF65-F5344CB8AC3E}">
        <p14:creationId xmlns:p14="http://schemas.microsoft.com/office/powerpoint/2010/main" val="164178886"/>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7"/>
          <p:cNvSpPr txBox="1"/>
          <p:nvPr/>
        </p:nvSpPr>
        <p:spPr>
          <a:xfrm>
            <a:off x="506796" y="918372"/>
            <a:ext cx="3885817" cy="3970318"/>
          </a:xfrm>
          <a:prstGeom prst="rect">
            <a:avLst/>
          </a:prstGeom>
        </p:spPr>
        <p:txBody>
          <a:bodyPr vert="horz" wrap="square" lIns="0" tIns="0" rIns="0" bIns="0" rtlCol="0">
            <a:spAutoFit/>
          </a:bodyPr>
          <a:lstStyle/>
          <a:p>
            <a:pPr marL="11725">
              <a:spcAft>
                <a:spcPts val="600"/>
              </a:spcAft>
              <a:buSzPct val="100000"/>
              <a:tabLst>
                <a:tab pos="121285" algn="l"/>
              </a:tabLst>
              <a:defRPr/>
            </a:pPr>
            <a:r>
              <a:rPr lang="es-PE" sz="1600" b="1" dirty="0">
                <a:latin typeface="Calibri" charset="0"/>
                <a:ea typeface="Calibri" charset="0"/>
                <a:cs typeface="Calibri" charset="0"/>
              </a:rPr>
              <a:t>¿QUÉ SON LAS MEDIDAS DE DISPERSIÓN?</a:t>
            </a:r>
          </a:p>
          <a:p>
            <a:pPr marL="297475" indent="-285750">
              <a:spcAft>
                <a:spcPts val="600"/>
              </a:spcAft>
              <a:buSzPct val="100000"/>
              <a:buFont typeface="Arial" panose="020B0604020202020204" pitchFamily="34" charset="0"/>
              <a:buChar char="•"/>
              <a:tabLst>
                <a:tab pos="121285" algn="l"/>
              </a:tabLst>
              <a:defRPr/>
            </a:pPr>
            <a:r>
              <a:rPr lang="es-ES" sz="1600" spc="-10" dirty="0">
                <a:solidFill>
                  <a:srgbClr val="262626"/>
                </a:solidFill>
                <a:latin typeface="Calibri" charset="0"/>
                <a:ea typeface="Calibri" charset="0"/>
                <a:cs typeface="Calibri" charset="0"/>
              </a:rPr>
              <a:t>Las </a:t>
            </a:r>
            <a:r>
              <a:rPr lang="es-ES" sz="1600" b="1" spc="-10" dirty="0">
                <a:solidFill>
                  <a:srgbClr val="7150A0"/>
                </a:solidFill>
                <a:latin typeface="Calibri" charset="0"/>
                <a:ea typeface="Calibri" charset="0"/>
                <a:cs typeface="Calibri" charset="0"/>
              </a:rPr>
              <a:t>medidas de dispersión </a:t>
            </a:r>
            <a:r>
              <a:rPr lang="es-ES" sz="1600" spc="-10" dirty="0">
                <a:solidFill>
                  <a:srgbClr val="262626"/>
                </a:solidFill>
                <a:latin typeface="Calibri" charset="0"/>
                <a:ea typeface="Calibri" charset="0"/>
                <a:cs typeface="Calibri" charset="0"/>
              </a:rPr>
              <a:t>cuantifican cuánto se alejan los datos respecto a la media. Es decir, indican el grado de variabilidad o estabilidad que existe en un conjunto de observaciones.</a:t>
            </a:r>
          </a:p>
          <a:p>
            <a:pPr marL="297475" indent="-285750">
              <a:spcAft>
                <a:spcPts val="600"/>
              </a:spcAft>
              <a:buSzPct val="100000"/>
              <a:buFont typeface="Arial" panose="020B0604020202020204" pitchFamily="34" charset="0"/>
              <a:buChar char="•"/>
              <a:tabLst>
                <a:tab pos="121285" algn="l"/>
              </a:tabLst>
              <a:defRPr/>
            </a:pPr>
            <a:r>
              <a:rPr lang="es-ES" sz="1600" spc="-10" dirty="0">
                <a:solidFill>
                  <a:srgbClr val="262626"/>
                </a:solidFill>
                <a:latin typeface="Calibri" charset="0"/>
                <a:ea typeface="Calibri" charset="0"/>
                <a:cs typeface="Calibri" charset="0"/>
              </a:rPr>
              <a:t>Cuando la dispersión es baja, los datos están concentrados cerca del promedio; cuando es alta, los valores se encuentran más dispersos o alejados entre sí.</a:t>
            </a:r>
          </a:p>
          <a:p>
            <a:pPr marL="297475" indent="-285750">
              <a:spcAft>
                <a:spcPts val="600"/>
              </a:spcAft>
              <a:buSzPct val="100000"/>
              <a:buFont typeface="Arial" panose="020B0604020202020204" pitchFamily="34" charset="0"/>
              <a:buChar char="•"/>
              <a:tabLst>
                <a:tab pos="121285" algn="l"/>
              </a:tabLst>
              <a:defRPr/>
            </a:pPr>
            <a:r>
              <a:rPr lang="es-ES" sz="1600" spc="-10" dirty="0">
                <a:solidFill>
                  <a:srgbClr val="262626"/>
                </a:solidFill>
                <a:latin typeface="Calibri" charset="0"/>
                <a:ea typeface="Calibri" charset="0"/>
                <a:cs typeface="Calibri" charset="0"/>
              </a:rPr>
              <a:t>Estas medidas son esenciales para evaluar la consistencia de los resultados, el riesgo o la heterogeneidad de comportamientos dentro de una población o muestra.</a:t>
            </a:r>
            <a:endParaRPr lang="es-PE" sz="1600" spc="-10" dirty="0">
              <a:solidFill>
                <a:srgbClr val="262626"/>
              </a:solidFill>
              <a:latin typeface="Calibri" charset="0"/>
              <a:ea typeface="Calibri" charset="0"/>
              <a:cs typeface="Calibri" charset="0"/>
            </a:endParaRPr>
          </a:p>
          <a:p>
            <a:pPr marL="11725">
              <a:buSzPct val="100000"/>
              <a:tabLst>
                <a:tab pos="121285" algn="l"/>
              </a:tabLst>
              <a:defRPr/>
            </a:pPr>
            <a:endParaRPr lang="es-PE" sz="1400" spc="-10" dirty="0">
              <a:solidFill>
                <a:srgbClr val="262626"/>
              </a:solidFill>
              <a:latin typeface="Calibri" charset="0"/>
              <a:ea typeface="Calibri" charset="0"/>
              <a:cs typeface="Calibri" charset="0"/>
            </a:endParaRPr>
          </a:p>
        </p:txBody>
      </p:sp>
      <p:sp>
        <p:nvSpPr>
          <p:cNvPr id="2" name="Rectangle 5">
            <a:extLst>
              <a:ext uri="{FF2B5EF4-FFF2-40B4-BE49-F238E27FC236}">
                <a16:creationId xmlns:a16="http://schemas.microsoft.com/office/drawing/2014/main" id="{BA85EB45-FB9E-6FF7-FC64-01BB84FA9D75}"/>
              </a:ext>
            </a:extLst>
          </p:cNvPr>
          <p:cNvSpPr/>
          <p:nvPr/>
        </p:nvSpPr>
        <p:spPr>
          <a:xfrm>
            <a:off x="503237" y="380615"/>
            <a:ext cx="3547767"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MX" sz="1000" dirty="0">
                <a:solidFill>
                  <a:schemeClr val="bg1">
                    <a:lumMod val="65000"/>
                  </a:schemeClr>
                </a:solidFill>
                <a:latin typeface="Calibri" charset="0"/>
                <a:ea typeface="Calibri" charset="0"/>
                <a:cs typeface="Calibri" charset="0"/>
              </a:rPr>
              <a:t>MEDIDAS DE DISPERSIÓN: VARIANZA, DESVIACIÓN ESTÁNDAR</a:t>
            </a:r>
          </a:p>
        </p:txBody>
      </p:sp>
      <p:pic>
        <p:nvPicPr>
          <p:cNvPr id="3" name="Imagen 2"/>
          <p:cNvPicPr>
            <a:picLocks noChangeAspect="1"/>
          </p:cNvPicPr>
          <p:nvPr/>
        </p:nvPicPr>
        <p:blipFill rotWithShape="1">
          <a:blip r:embed="rId3"/>
          <a:srcRect b="8149"/>
          <a:stretch/>
        </p:blipFill>
        <p:spPr>
          <a:xfrm>
            <a:off x="4687839" y="1708483"/>
            <a:ext cx="3949365" cy="2298033"/>
          </a:xfrm>
          <a:prstGeom prst="rect">
            <a:avLst/>
          </a:prstGeom>
          <a:ln w="3175">
            <a:solidFill>
              <a:schemeClr val="tx1"/>
            </a:solidFill>
          </a:ln>
        </p:spPr>
      </p:pic>
    </p:spTree>
    <p:extLst>
      <p:ext uri="{BB962C8B-B14F-4D97-AF65-F5344CB8AC3E}">
        <p14:creationId xmlns:p14="http://schemas.microsoft.com/office/powerpoint/2010/main" val="3771951684"/>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7"/>
          <p:cNvSpPr txBox="1"/>
          <p:nvPr/>
        </p:nvSpPr>
        <p:spPr>
          <a:xfrm>
            <a:off x="506796" y="918372"/>
            <a:ext cx="5455854" cy="246221"/>
          </a:xfrm>
          <a:prstGeom prst="rect">
            <a:avLst/>
          </a:prstGeom>
        </p:spPr>
        <p:txBody>
          <a:bodyPr vert="horz" wrap="square" lIns="0" tIns="0" rIns="0" bIns="0" rtlCol="0">
            <a:spAutoFit/>
          </a:bodyPr>
          <a:lstStyle/>
          <a:p>
            <a:pPr marL="11725">
              <a:spcAft>
                <a:spcPts val="600"/>
              </a:spcAft>
              <a:buSzPct val="100000"/>
              <a:tabLst>
                <a:tab pos="121285" algn="l"/>
              </a:tabLst>
              <a:defRPr/>
            </a:pPr>
            <a:r>
              <a:rPr lang="es-PE" sz="1600" b="1" dirty="0">
                <a:latin typeface="Calibri" charset="0"/>
                <a:ea typeface="Calibri" charset="0"/>
                <a:cs typeface="Calibri" charset="0"/>
              </a:rPr>
              <a:t>ALGUNAS APLICACIONES EN CONTEXTOS EMPRESARIALES</a:t>
            </a:r>
          </a:p>
        </p:txBody>
      </p:sp>
      <p:sp>
        <p:nvSpPr>
          <p:cNvPr id="6" name="Rectangle 5">
            <a:extLst>
              <a:ext uri="{FF2B5EF4-FFF2-40B4-BE49-F238E27FC236}">
                <a16:creationId xmlns:a16="http://schemas.microsoft.com/office/drawing/2014/main" id="{92D9E48E-A819-40F6-A97B-BBB25EB5CDC2}"/>
              </a:ext>
            </a:extLst>
          </p:cNvPr>
          <p:cNvSpPr/>
          <p:nvPr/>
        </p:nvSpPr>
        <p:spPr>
          <a:xfrm>
            <a:off x="503237" y="380615"/>
            <a:ext cx="3547767"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MX" sz="1000" dirty="0">
                <a:solidFill>
                  <a:schemeClr val="bg1">
                    <a:lumMod val="65000"/>
                  </a:schemeClr>
                </a:solidFill>
                <a:latin typeface="Calibri" charset="0"/>
                <a:ea typeface="Calibri" charset="0"/>
                <a:cs typeface="Calibri" charset="0"/>
              </a:rPr>
              <a:t>MEDIDAS DE DISPERSIÓN: VARIANZA, DESVIACIÓN ESTÁNDAR</a:t>
            </a:r>
          </a:p>
        </p:txBody>
      </p:sp>
      <p:sp>
        <p:nvSpPr>
          <p:cNvPr id="7" name="28 Flecha derecha">
            <a:extLst>
              <a:ext uri="{FF2B5EF4-FFF2-40B4-BE49-F238E27FC236}">
                <a16:creationId xmlns:a16="http://schemas.microsoft.com/office/drawing/2014/main" id="{ADD93156-CA38-46F2-9CA0-DE67931A79E3}"/>
              </a:ext>
            </a:extLst>
          </p:cNvPr>
          <p:cNvSpPr/>
          <p:nvPr/>
        </p:nvSpPr>
        <p:spPr>
          <a:xfrm>
            <a:off x="3382045" y="2226208"/>
            <a:ext cx="843086" cy="296706"/>
          </a:xfrm>
          <a:prstGeom prst="rightArrow">
            <a:avLst/>
          </a:prstGeom>
          <a:solidFill>
            <a:srgbClr val="DB423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s-PE" sz="1600" dirty="0">
              <a:latin typeface="Calibri" panose="020F0502020204030204" pitchFamily="34" charset="0"/>
            </a:endParaRPr>
          </a:p>
        </p:txBody>
      </p:sp>
      <p:sp>
        <p:nvSpPr>
          <p:cNvPr id="9" name="Rectángulo redondeado 14">
            <a:extLst>
              <a:ext uri="{FF2B5EF4-FFF2-40B4-BE49-F238E27FC236}">
                <a16:creationId xmlns:a16="http://schemas.microsoft.com/office/drawing/2014/main" id="{00F5978D-9D37-4F56-9808-555A7D4DAAC4}"/>
              </a:ext>
            </a:extLst>
          </p:cNvPr>
          <p:cNvSpPr/>
          <p:nvPr/>
        </p:nvSpPr>
        <p:spPr>
          <a:xfrm>
            <a:off x="1943465" y="1452563"/>
            <a:ext cx="2518544" cy="1821316"/>
          </a:xfrm>
          <a:prstGeom prst="roundRect">
            <a:avLst>
              <a:gd name="adj" fmla="val 6572"/>
            </a:avLst>
          </a:prstGeom>
          <a:solidFill>
            <a:schemeClr val="bg1"/>
          </a:solidFill>
          <a:ln>
            <a:solidFill>
              <a:srgbClr val="FF7728"/>
            </a:solidFill>
          </a:ln>
        </p:spPr>
        <p:style>
          <a:lnRef idx="2">
            <a:schemeClr val="accent1">
              <a:shade val="50000"/>
            </a:schemeClr>
          </a:lnRef>
          <a:fillRef idx="1">
            <a:schemeClr val="accent1"/>
          </a:fillRef>
          <a:effectRef idx="0">
            <a:schemeClr val="accent1"/>
          </a:effectRef>
          <a:fontRef idx="minor">
            <a:schemeClr val="lt1"/>
          </a:fontRef>
        </p:style>
        <p:txBody>
          <a:bodyPr tIns="288000" rtlCol="0" anchor="t"/>
          <a:lstStyle/>
          <a:p>
            <a:pPr algn="ctr"/>
            <a:r>
              <a:rPr lang="es-MX" sz="1200" b="1" dirty="0">
                <a:solidFill>
                  <a:schemeClr val="tx1"/>
                </a:solidFill>
                <a:latin typeface="Calibri" charset="0"/>
                <a:ea typeface="Calibri" charset="0"/>
                <a:cs typeface="Calibri" charset="0"/>
              </a:rPr>
              <a:t>Miden el riesgo o volatilidad de una inversión. Una baja desviación estándar en los rendimientos significa menor riesgo; una alta, mayor incertidumbre.</a:t>
            </a:r>
          </a:p>
        </p:txBody>
      </p:sp>
      <p:sp>
        <p:nvSpPr>
          <p:cNvPr id="10" name="Rectángulo redondeado 15">
            <a:extLst>
              <a:ext uri="{FF2B5EF4-FFF2-40B4-BE49-F238E27FC236}">
                <a16:creationId xmlns:a16="http://schemas.microsoft.com/office/drawing/2014/main" id="{59ED27ED-58BE-4503-A657-5ECB90CB5F0D}"/>
              </a:ext>
            </a:extLst>
          </p:cNvPr>
          <p:cNvSpPr/>
          <p:nvPr/>
        </p:nvSpPr>
        <p:spPr>
          <a:xfrm>
            <a:off x="1935518" y="2819060"/>
            <a:ext cx="2538511" cy="454384"/>
          </a:xfrm>
          <a:prstGeom prst="roundRect">
            <a:avLst>
              <a:gd name="adj" fmla="val 23854"/>
            </a:avLst>
          </a:prstGeom>
          <a:solidFill>
            <a:srgbClr val="FF77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s-PE" sz="1600" b="1" dirty="0">
                <a:solidFill>
                  <a:schemeClr val="bg1"/>
                </a:solidFill>
                <a:latin typeface="Calibri" charset="0"/>
                <a:ea typeface="Calibri" charset="0"/>
                <a:cs typeface="Calibri" charset="0"/>
              </a:rPr>
              <a:t>FINANZAS</a:t>
            </a:r>
          </a:p>
        </p:txBody>
      </p:sp>
      <p:sp>
        <p:nvSpPr>
          <p:cNvPr id="11" name="Rectángulo 10">
            <a:extLst>
              <a:ext uri="{FF2B5EF4-FFF2-40B4-BE49-F238E27FC236}">
                <a16:creationId xmlns:a16="http://schemas.microsoft.com/office/drawing/2014/main" id="{DFBAC81D-91E7-4155-87BA-28B62128E777}"/>
              </a:ext>
            </a:extLst>
          </p:cNvPr>
          <p:cNvSpPr/>
          <p:nvPr/>
        </p:nvSpPr>
        <p:spPr>
          <a:xfrm>
            <a:off x="1935518" y="2784466"/>
            <a:ext cx="2538511" cy="162841"/>
          </a:xfrm>
          <a:prstGeom prst="rect">
            <a:avLst/>
          </a:prstGeom>
          <a:solidFill>
            <a:srgbClr val="FF77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sp>
        <p:nvSpPr>
          <p:cNvPr id="12" name="28 Flecha derecha">
            <a:extLst>
              <a:ext uri="{FF2B5EF4-FFF2-40B4-BE49-F238E27FC236}">
                <a16:creationId xmlns:a16="http://schemas.microsoft.com/office/drawing/2014/main" id="{2D2B238F-BF99-4FAD-91A7-CEDCE2E9A1F6}"/>
              </a:ext>
            </a:extLst>
          </p:cNvPr>
          <p:cNvSpPr/>
          <p:nvPr/>
        </p:nvSpPr>
        <p:spPr>
          <a:xfrm>
            <a:off x="3388055" y="4178153"/>
            <a:ext cx="843086" cy="296706"/>
          </a:xfrm>
          <a:prstGeom prst="rightArrow">
            <a:avLst/>
          </a:prstGeom>
          <a:solidFill>
            <a:srgbClr val="DB423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s-PE" sz="1600" dirty="0">
              <a:latin typeface="Calibri" panose="020F0502020204030204" pitchFamily="34" charset="0"/>
            </a:endParaRPr>
          </a:p>
        </p:txBody>
      </p:sp>
      <p:sp>
        <p:nvSpPr>
          <p:cNvPr id="13" name="Rectángulo redondeado 49">
            <a:extLst>
              <a:ext uri="{FF2B5EF4-FFF2-40B4-BE49-F238E27FC236}">
                <a16:creationId xmlns:a16="http://schemas.microsoft.com/office/drawing/2014/main" id="{851DF566-C85D-43FE-B945-199B3262E765}"/>
              </a:ext>
            </a:extLst>
          </p:cNvPr>
          <p:cNvSpPr/>
          <p:nvPr/>
        </p:nvSpPr>
        <p:spPr>
          <a:xfrm>
            <a:off x="1949475" y="3404508"/>
            <a:ext cx="2518544" cy="1821316"/>
          </a:xfrm>
          <a:prstGeom prst="roundRect">
            <a:avLst>
              <a:gd name="adj" fmla="val 6397"/>
            </a:avLst>
          </a:prstGeom>
          <a:solidFill>
            <a:schemeClr val="bg1"/>
          </a:solidFill>
          <a:ln>
            <a:solidFill>
              <a:srgbClr val="00B1C2"/>
            </a:solidFill>
          </a:ln>
        </p:spPr>
        <p:style>
          <a:lnRef idx="2">
            <a:schemeClr val="accent1">
              <a:shade val="50000"/>
            </a:schemeClr>
          </a:lnRef>
          <a:fillRef idx="1">
            <a:schemeClr val="accent1"/>
          </a:fillRef>
          <a:effectRef idx="0">
            <a:schemeClr val="accent1"/>
          </a:effectRef>
          <a:fontRef idx="minor">
            <a:schemeClr val="lt1"/>
          </a:fontRef>
        </p:style>
        <p:txBody>
          <a:bodyPr tIns="288000" rtlCol="0" anchor="t"/>
          <a:lstStyle/>
          <a:p>
            <a:pPr algn="ctr"/>
            <a:r>
              <a:rPr lang="es-MX" sz="1200" b="1" dirty="0">
                <a:solidFill>
                  <a:schemeClr val="tx1"/>
                </a:solidFill>
                <a:latin typeface="Calibri" charset="0"/>
                <a:ea typeface="Calibri" charset="0"/>
                <a:cs typeface="Calibri" charset="0"/>
              </a:rPr>
              <a:t>Muestran estabilidad o variación en la productividad, costos o tiempos de servicio.</a:t>
            </a:r>
          </a:p>
        </p:txBody>
      </p:sp>
      <p:sp>
        <p:nvSpPr>
          <p:cNvPr id="14" name="Rectángulo redondeado 50">
            <a:extLst>
              <a:ext uri="{FF2B5EF4-FFF2-40B4-BE49-F238E27FC236}">
                <a16:creationId xmlns:a16="http://schemas.microsoft.com/office/drawing/2014/main" id="{90BDF9D5-3FD2-473F-BD3A-D8B8923581C1}"/>
              </a:ext>
            </a:extLst>
          </p:cNvPr>
          <p:cNvSpPr/>
          <p:nvPr/>
        </p:nvSpPr>
        <p:spPr>
          <a:xfrm>
            <a:off x="1941529" y="4771005"/>
            <a:ext cx="2522182" cy="454384"/>
          </a:xfrm>
          <a:prstGeom prst="roundRect">
            <a:avLst>
              <a:gd name="adj" fmla="val 25650"/>
            </a:avLst>
          </a:prstGeom>
          <a:solidFill>
            <a:srgbClr val="00B2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s-PE" sz="1600" b="1" dirty="0">
                <a:solidFill>
                  <a:schemeClr val="bg1"/>
                </a:solidFill>
                <a:latin typeface="Calibri" charset="0"/>
                <a:ea typeface="Calibri" charset="0"/>
                <a:cs typeface="Calibri" charset="0"/>
              </a:rPr>
              <a:t>ADMINISTRACIÓN</a:t>
            </a:r>
          </a:p>
        </p:txBody>
      </p:sp>
      <p:sp>
        <p:nvSpPr>
          <p:cNvPr id="15" name="Rectángulo 14">
            <a:extLst>
              <a:ext uri="{FF2B5EF4-FFF2-40B4-BE49-F238E27FC236}">
                <a16:creationId xmlns:a16="http://schemas.microsoft.com/office/drawing/2014/main" id="{E5FDF063-AF4B-4646-BFC1-7B6C29B5C356}"/>
              </a:ext>
            </a:extLst>
          </p:cNvPr>
          <p:cNvSpPr/>
          <p:nvPr/>
        </p:nvSpPr>
        <p:spPr>
          <a:xfrm>
            <a:off x="1941528" y="4736411"/>
            <a:ext cx="2521027" cy="121339"/>
          </a:xfrm>
          <a:prstGeom prst="rect">
            <a:avLst/>
          </a:prstGeom>
          <a:solidFill>
            <a:srgbClr val="00B2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sp>
        <p:nvSpPr>
          <p:cNvPr id="16" name="28 Flecha derecha">
            <a:extLst>
              <a:ext uri="{FF2B5EF4-FFF2-40B4-BE49-F238E27FC236}">
                <a16:creationId xmlns:a16="http://schemas.microsoft.com/office/drawing/2014/main" id="{1E696FD9-4724-4D29-8759-C47106A89CE7}"/>
              </a:ext>
            </a:extLst>
          </p:cNvPr>
          <p:cNvSpPr/>
          <p:nvPr/>
        </p:nvSpPr>
        <p:spPr>
          <a:xfrm>
            <a:off x="6128519" y="2226208"/>
            <a:ext cx="843086" cy="296706"/>
          </a:xfrm>
          <a:prstGeom prst="rightArrow">
            <a:avLst/>
          </a:prstGeom>
          <a:solidFill>
            <a:srgbClr val="DB423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s-PE" sz="1600" dirty="0">
              <a:latin typeface="Calibri" panose="020F0502020204030204" pitchFamily="34" charset="0"/>
            </a:endParaRPr>
          </a:p>
        </p:txBody>
      </p:sp>
      <p:sp>
        <p:nvSpPr>
          <p:cNvPr id="17" name="Rectángulo redondeado 55">
            <a:extLst>
              <a:ext uri="{FF2B5EF4-FFF2-40B4-BE49-F238E27FC236}">
                <a16:creationId xmlns:a16="http://schemas.microsoft.com/office/drawing/2014/main" id="{07B6A513-F275-4778-951B-2B1C460D8344}"/>
              </a:ext>
            </a:extLst>
          </p:cNvPr>
          <p:cNvSpPr/>
          <p:nvPr/>
        </p:nvSpPr>
        <p:spPr>
          <a:xfrm>
            <a:off x="4689939" y="1452563"/>
            <a:ext cx="2518544" cy="1821316"/>
          </a:xfrm>
          <a:prstGeom prst="roundRect">
            <a:avLst>
              <a:gd name="adj" fmla="val 6397"/>
            </a:avLst>
          </a:prstGeom>
          <a:solidFill>
            <a:schemeClr val="bg1"/>
          </a:solidFill>
          <a:ln>
            <a:solidFill>
              <a:srgbClr val="8EC540"/>
            </a:solidFill>
          </a:ln>
        </p:spPr>
        <p:style>
          <a:lnRef idx="2">
            <a:schemeClr val="accent1">
              <a:shade val="50000"/>
            </a:schemeClr>
          </a:lnRef>
          <a:fillRef idx="1">
            <a:schemeClr val="accent1"/>
          </a:fillRef>
          <a:effectRef idx="0">
            <a:schemeClr val="accent1"/>
          </a:effectRef>
          <a:fontRef idx="minor">
            <a:schemeClr val="lt1"/>
          </a:fontRef>
        </p:style>
        <p:txBody>
          <a:bodyPr tIns="288000" rtlCol="0" anchor="t"/>
          <a:lstStyle/>
          <a:p>
            <a:pPr algn="ctr"/>
            <a:r>
              <a:rPr lang="es-MX" sz="1200" b="1" dirty="0">
                <a:solidFill>
                  <a:schemeClr val="tx1"/>
                </a:solidFill>
                <a:latin typeface="Calibri" charset="0"/>
                <a:ea typeface="Calibri" charset="0"/>
                <a:cs typeface="Calibri" charset="0"/>
              </a:rPr>
              <a:t>Indican si las ventas o preferencias de los clientes son homogéneas o variables. También mide la variabilidad en la respuesta de los clientes a una campaña.</a:t>
            </a:r>
          </a:p>
        </p:txBody>
      </p:sp>
      <p:sp>
        <p:nvSpPr>
          <p:cNvPr id="18" name="Rectángulo redondeado 56">
            <a:extLst>
              <a:ext uri="{FF2B5EF4-FFF2-40B4-BE49-F238E27FC236}">
                <a16:creationId xmlns:a16="http://schemas.microsoft.com/office/drawing/2014/main" id="{2710A820-EDFA-46EE-8731-9820EFF92A47}"/>
              </a:ext>
            </a:extLst>
          </p:cNvPr>
          <p:cNvSpPr/>
          <p:nvPr/>
        </p:nvSpPr>
        <p:spPr>
          <a:xfrm>
            <a:off x="4687087" y="2819060"/>
            <a:ext cx="2511227" cy="454384"/>
          </a:xfrm>
          <a:prstGeom prst="roundRect">
            <a:avLst>
              <a:gd name="adj" fmla="val 22057"/>
            </a:avLst>
          </a:prstGeom>
          <a:solidFill>
            <a:srgbClr val="8EC5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s-PE" sz="1600" b="1" dirty="0">
                <a:solidFill>
                  <a:schemeClr val="bg1"/>
                </a:solidFill>
                <a:latin typeface="Calibri" charset="0"/>
                <a:ea typeface="Calibri" charset="0"/>
                <a:cs typeface="Calibri" charset="0"/>
              </a:rPr>
              <a:t>MARKETING</a:t>
            </a:r>
          </a:p>
        </p:txBody>
      </p:sp>
      <p:sp>
        <p:nvSpPr>
          <p:cNvPr id="19" name="Rectángulo 18">
            <a:extLst>
              <a:ext uri="{FF2B5EF4-FFF2-40B4-BE49-F238E27FC236}">
                <a16:creationId xmlns:a16="http://schemas.microsoft.com/office/drawing/2014/main" id="{272395D8-097F-471E-8EFB-CBB4561CF0EE}"/>
              </a:ext>
            </a:extLst>
          </p:cNvPr>
          <p:cNvSpPr/>
          <p:nvPr/>
        </p:nvSpPr>
        <p:spPr>
          <a:xfrm>
            <a:off x="4681992" y="2784466"/>
            <a:ext cx="2516321" cy="146513"/>
          </a:xfrm>
          <a:prstGeom prst="rect">
            <a:avLst/>
          </a:prstGeom>
          <a:solidFill>
            <a:srgbClr val="8EC5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sp>
        <p:nvSpPr>
          <p:cNvPr id="20" name="28 Flecha derecha">
            <a:extLst>
              <a:ext uri="{FF2B5EF4-FFF2-40B4-BE49-F238E27FC236}">
                <a16:creationId xmlns:a16="http://schemas.microsoft.com/office/drawing/2014/main" id="{1EB75758-EC6C-42DD-BE62-0D2515D565D3}"/>
              </a:ext>
            </a:extLst>
          </p:cNvPr>
          <p:cNvSpPr/>
          <p:nvPr/>
        </p:nvSpPr>
        <p:spPr>
          <a:xfrm>
            <a:off x="6128519" y="4178153"/>
            <a:ext cx="843086" cy="296706"/>
          </a:xfrm>
          <a:prstGeom prst="rightArrow">
            <a:avLst/>
          </a:prstGeom>
          <a:solidFill>
            <a:srgbClr val="DB423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s-PE" sz="1600" dirty="0">
              <a:latin typeface="Calibri" panose="020F0502020204030204" pitchFamily="34" charset="0"/>
            </a:endParaRPr>
          </a:p>
        </p:txBody>
      </p:sp>
      <p:sp>
        <p:nvSpPr>
          <p:cNvPr id="21" name="Rectángulo redondeado 61">
            <a:extLst>
              <a:ext uri="{FF2B5EF4-FFF2-40B4-BE49-F238E27FC236}">
                <a16:creationId xmlns:a16="http://schemas.microsoft.com/office/drawing/2014/main" id="{8F57D357-7265-404B-A632-5829B5B0F7B8}"/>
              </a:ext>
            </a:extLst>
          </p:cNvPr>
          <p:cNvSpPr/>
          <p:nvPr/>
        </p:nvSpPr>
        <p:spPr>
          <a:xfrm>
            <a:off x="4689939" y="3404508"/>
            <a:ext cx="2518544" cy="1821316"/>
          </a:xfrm>
          <a:prstGeom prst="roundRect">
            <a:avLst>
              <a:gd name="adj" fmla="val 6746"/>
            </a:avLst>
          </a:prstGeom>
          <a:solidFill>
            <a:schemeClr val="bg1"/>
          </a:solidFill>
          <a:ln>
            <a:solidFill>
              <a:srgbClr val="EE4539"/>
            </a:solidFill>
          </a:ln>
        </p:spPr>
        <p:style>
          <a:lnRef idx="2">
            <a:schemeClr val="accent1">
              <a:shade val="50000"/>
            </a:schemeClr>
          </a:lnRef>
          <a:fillRef idx="1">
            <a:schemeClr val="accent1"/>
          </a:fillRef>
          <a:effectRef idx="0">
            <a:schemeClr val="accent1"/>
          </a:effectRef>
          <a:fontRef idx="minor">
            <a:schemeClr val="lt1"/>
          </a:fontRef>
        </p:style>
        <p:txBody>
          <a:bodyPr tIns="288000" rtlCol="0" anchor="t"/>
          <a:lstStyle/>
          <a:p>
            <a:pPr algn="ctr"/>
            <a:r>
              <a:rPr lang="es-MX" sz="1200" b="1" dirty="0">
                <a:solidFill>
                  <a:schemeClr val="tx1"/>
                </a:solidFill>
                <a:latin typeface="Calibri" charset="0"/>
                <a:ea typeface="Calibri" charset="0"/>
                <a:cs typeface="Calibri" charset="0"/>
              </a:rPr>
              <a:t>Se usa para estandarizar variables antes de aplicar modelos predictivos y asegurar comparabilidad entre diferentes escalas.</a:t>
            </a:r>
            <a:endParaRPr lang="es-PE" sz="1200" b="1" dirty="0">
              <a:solidFill>
                <a:schemeClr val="tx1"/>
              </a:solidFill>
              <a:latin typeface="Calibri" charset="0"/>
              <a:ea typeface="Calibri" charset="0"/>
              <a:cs typeface="Calibri" charset="0"/>
            </a:endParaRPr>
          </a:p>
        </p:txBody>
      </p:sp>
      <p:sp>
        <p:nvSpPr>
          <p:cNvPr id="22" name="Rectángulo 21">
            <a:extLst>
              <a:ext uri="{FF2B5EF4-FFF2-40B4-BE49-F238E27FC236}">
                <a16:creationId xmlns:a16="http://schemas.microsoft.com/office/drawing/2014/main" id="{CD0F140E-B51A-4C7F-B143-73AB6931575F}"/>
              </a:ext>
            </a:extLst>
          </p:cNvPr>
          <p:cNvSpPr/>
          <p:nvPr/>
        </p:nvSpPr>
        <p:spPr>
          <a:xfrm>
            <a:off x="4681992" y="4736411"/>
            <a:ext cx="2516321" cy="145832"/>
          </a:xfrm>
          <a:prstGeom prst="rect">
            <a:avLst/>
          </a:prstGeom>
          <a:solidFill>
            <a:srgbClr val="EE45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sp>
        <p:nvSpPr>
          <p:cNvPr id="23" name="Rectángulo redondeado 62">
            <a:extLst>
              <a:ext uri="{FF2B5EF4-FFF2-40B4-BE49-F238E27FC236}">
                <a16:creationId xmlns:a16="http://schemas.microsoft.com/office/drawing/2014/main" id="{B9C56263-B62C-4E2F-ACFB-AEAFCE409E75}"/>
              </a:ext>
            </a:extLst>
          </p:cNvPr>
          <p:cNvSpPr/>
          <p:nvPr/>
        </p:nvSpPr>
        <p:spPr>
          <a:xfrm>
            <a:off x="4681992" y="4771005"/>
            <a:ext cx="2516321" cy="454384"/>
          </a:xfrm>
          <a:prstGeom prst="roundRect">
            <a:avLst>
              <a:gd name="adj" fmla="val 23855"/>
            </a:avLst>
          </a:prstGeom>
          <a:solidFill>
            <a:srgbClr val="EE45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s-PE" sz="1600" b="1" dirty="0">
                <a:solidFill>
                  <a:schemeClr val="bg1"/>
                </a:solidFill>
                <a:latin typeface="Calibri" charset="0"/>
                <a:ea typeface="Calibri" charset="0"/>
                <a:cs typeface="Calibri" charset="0"/>
              </a:rPr>
              <a:t>CIENCIA DE DATOS</a:t>
            </a:r>
          </a:p>
        </p:txBody>
      </p:sp>
    </p:spTree>
    <p:extLst>
      <p:ext uri="{BB962C8B-B14F-4D97-AF65-F5344CB8AC3E}">
        <p14:creationId xmlns:p14="http://schemas.microsoft.com/office/powerpoint/2010/main" val="4280610633"/>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ángulo 6">
            <a:extLst>
              <a:ext uri="{FF2B5EF4-FFF2-40B4-BE49-F238E27FC236}">
                <a16:creationId xmlns:a16="http://schemas.microsoft.com/office/drawing/2014/main" id="{C0FE8D84-33CC-4837-8812-0BD0FE0EA5A8}"/>
              </a:ext>
            </a:extLst>
          </p:cNvPr>
          <p:cNvSpPr/>
          <p:nvPr/>
        </p:nvSpPr>
        <p:spPr>
          <a:xfrm>
            <a:off x="386633" y="2684835"/>
            <a:ext cx="4020116" cy="252606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solidFill>
                <a:srgbClr val="7150A0"/>
              </a:solidFill>
            </a:endParaRPr>
          </a:p>
        </p:txBody>
      </p:sp>
      <mc:AlternateContent xmlns:mc="http://schemas.openxmlformats.org/markup-compatibility/2006" xmlns:a14="http://schemas.microsoft.com/office/drawing/2010/main">
        <mc:Choice Requires="a14">
          <p:sp>
            <p:nvSpPr>
              <p:cNvPr id="3" name="object 7"/>
              <p:cNvSpPr txBox="1"/>
              <p:nvPr/>
            </p:nvSpPr>
            <p:spPr>
              <a:xfrm>
                <a:off x="506796" y="863288"/>
                <a:ext cx="3560379" cy="4310539"/>
              </a:xfrm>
              <a:prstGeom prst="rect">
                <a:avLst/>
              </a:prstGeom>
            </p:spPr>
            <p:txBody>
              <a:bodyPr vert="horz" wrap="square" lIns="0" tIns="0" rIns="0" bIns="0" rtlCol="0">
                <a:spAutoFit/>
              </a:bodyPr>
              <a:lstStyle/>
              <a:p>
                <a:pPr marL="11725">
                  <a:spcAft>
                    <a:spcPts val="600"/>
                  </a:spcAft>
                  <a:buSzPct val="100000"/>
                  <a:tabLst>
                    <a:tab pos="121285" algn="l"/>
                  </a:tabLst>
                  <a:defRPr/>
                </a:pPr>
                <a:r>
                  <a:rPr lang="es-PE" sz="1600" b="1" dirty="0">
                    <a:latin typeface="Calibri" charset="0"/>
                    <a:ea typeface="Calibri" charset="0"/>
                    <a:cs typeface="Calibri" charset="0"/>
                  </a:rPr>
                  <a:t>VARIANZA</a:t>
                </a:r>
              </a:p>
              <a:p>
                <a:pPr marL="11725">
                  <a:spcAft>
                    <a:spcPts val="600"/>
                  </a:spcAft>
                  <a:buSzPct val="100000"/>
                  <a:tabLst>
                    <a:tab pos="121285" algn="l"/>
                  </a:tabLst>
                  <a:defRPr/>
                </a:pPr>
                <a:r>
                  <a:rPr lang="es-ES" sz="1600" spc="-10" dirty="0">
                    <a:solidFill>
                      <a:srgbClr val="262626"/>
                    </a:solidFill>
                    <a:latin typeface="Calibri" panose="020F0502020204030204" pitchFamily="34" charset="0"/>
                    <a:cs typeface="Calibri" panose="020F0502020204030204" pitchFamily="34" charset="0"/>
                  </a:rPr>
                  <a:t>La varianza mide el promedio de las desviaciones cuadráticas de cada dato respecto a la media. Es decir, cuánto se alejan en promedio los datos del valor central, considerando las diferencias al cuadrado (para evitar signos negativos).</a:t>
                </a:r>
                <a:endParaRPr lang="es-PE" sz="1600" spc="-10" dirty="0">
                  <a:solidFill>
                    <a:srgbClr val="262626"/>
                  </a:solidFill>
                  <a:latin typeface="Calibri" panose="020F0502020204030204" pitchFamily="34" charset="0"/>
                  <a:cs typeface="Calibri" panose="020F0502020204030204" pitchFamily="34" charset="0"/>
                </a:endParaRPr>
              </a:p>
              <a:p>
                <a:pPr marL="11725" algn="just">
                  <a:spcAft>
                    <a:spcPts val="600"/>
                  </a:spcAft>
                  <a:buSzPct val="100000"/>
                  <a:tabLst>
                    <a:tab pos="121285" algn="l"/>
                  </a:tabLst>
                  <a:defRPr/>
                </a:pPr>
                <a:r>
                  <a:rPr lang="es-ES" sz="1600" b="1" spc="-10" dirty="0">
                    <a:solidFill>
                      <a:srgbClr val="7150A0"/>
                    </a:solidFill>
                    <a:latin typeface="Calibri" panose="020F0502020204030204" pitchFamily="34" charset="0"/>
                    <a:cs typeface="Calibri" panose="020F0502020204030204" pitchFamily="34" charset="0"/>
                  </a:rPr>
                  <a:t>Fórmula:</a:t>
                </a:r>
              </a:p>
              <a:p>
                <a:pPr marL="11725" algn="just">
                  <a:spcAft>
                    <a:spcPts val="600"/>
                  </a:spcAft>
                  <a:buSzPct val="100000"/>
                  <a:tabLst>
                    <a:tab pos="121285" algn="l"/>
                  </a:tabLst>
                  <a:defRPr/>
                </a:pPr>
                <a14:m>
                  <m:oMathPara xmlns:m="http://schemas.openxmlformats.org/officeDocument/2006/math">
                    <m:oMathParaPr>
                      <m:jc m:val="centerGroup"/>
                    </m:oMathParaPr>
                    <m:oMath xmlns:m="http://schemas.openxmlformats.org/officeDocument/2006/math">
                      <m:sSup>
                        <m:sSupPr>
                          <m:ctrlPr>
                            <a:rPr lang="es-ES" sz="1600" i="1" spc="-10" smtClean="0">
                              <a:solidFill>
                                <a:srgbClr val="262626"/>
                              </a:solidFill>
                              <a:latin typeface="Cambria Math" panose="02040503050406030204" pitchFamily="18" charset="0"/>
                              <a:cs typeface="Calibri" panose="020F0502020204030204" pitchFamily="34" charset="0"/>
                            </a:rPr>
                          </m:ctrlPr>
                        </m:sSupPr>
                        <m:e>
                          <m:r>
                            <a:rPr lang="es-PE" sz="1600" b="0" i="1" spc="-10" smtClean="0">
                              <a:solidFill>
                                <a:srgbClr val="262626"/>
                              </a:solidFill>
                              <a:latin typeface="Cambria Math" panose="02040503050406030204" pitchFamily="18" charset="0"/>
                              <a:cs typeface="Calibri" panose="020F0502020204030204" pitchFamily="34" charset="0"/>
                            </a:rPr>
                            <m:t>𝑆</m:t>
                          </m:r>
                        </m:e>
                        <m:sup>
                          <m:r>
                            <a:rPr lang="es-PE" sz="1600" b="0" i="1" spc="-10" smtClean="0">
                              <a:solidFill>
                                <a:srgbClr val="262626"/>
                              </a:solidFill>
                              <a:latin typeface="Cambria Math" panose="02040503050406030204" pitchFamily="18" charset="0"/>
                              <a:cs typeface="Calibri" panose="020F0502020204030204" pitchFamily="34" charset="0"/>
                            </a:rPr>
                            <m:t>2</m:t>
                          </m:r>
                        </m:sup>
                      </m:sSup>
                      <m:r>
                        <a:rPr lang="es-PE" sz="1600" b="0" i="1" spc="-10" smtClean="0">
                          <a:solidFill>
                            <a:srgbClr val="262626"/>
                          </a:solidFill>
                          <a:latin typeface="Cambria Math" panose="02040503050406030204" pitchFamily="18" charset="0"/>
                          <a:cs typeface="Calibri" panose="020F0502020204030204" pitchFamily="34" charset="0"/>
                        </a:rPr>
                        <m:t>= </m:t>
                      </m:r>
                      <m:f>
                        <m:fPr>
                          <m:ctrlPr>
                            <a:rPr lang="es-PE" sz="1600" b="0" i="1" spc="-10" smtClean="0">
                              <a:solidFill>
                                <a:srgbClr val="262626"/>
                              </a:solidFill>
                              <a:latin typeface="Cambria Math" panose="02040503050406030204" pitchFamily="18" charset="0"/>
                              <a:cs typeface="Calibri" panose="020F0502020204030204" pitchFamily="34" charset="0"/>
                            </a:rPr>
                          </m:ctrlPr>
                        </m:fPr>
                        <m:num>
                          <m:nary>
                            <m:naryPr>
                              <m:chr m:val="∑"/>
                              <m:subHide m:val="on"/>
                              <m:supHide m:val="on"/>
                              <m:ctrlPr>
                                <a:rPr lang="es-PE" sz="1600" b="0" i="1" spc="-10" smtClean="0">
                                  <a:solidFill>
                                    <a:srgbClr val="262626"/>
                                  </a:solidFill>
                                  <a:latin typeface="Cambria Math" panose="02040503050406030204" pitchFamily="18" charset="0"/>
                                  <a:cs typeface="Calibri" panose="020F0502020204030204" pitchFamily="34" charset="0"/>
                                </a:rPr>
                              </m:ctrlPr>
                            </m:naryPr>
                            <m:sub/>
                            <m:sup/>
                            <m:e>
                              <m:sSup>
                                <m:sSupPr>
                                  <m:ctrlPr>
                                    <a:rPr lang="es-PE" sz="1600" b="0" i="1" spc="-10" smtClean="0">
                                      <a:solidFill>
                                        <a:srgbClr val="262626"/>
                                      </a:solidFill>
                                      <a:latin typeface="Cambria Math" panose="02040503050406030204" pitchFamily="18" charset="0"/>
                                      <a:cs typeface="Calibri" panose="020F0502020204030204" pitchFamily="34" charset="0"/>
                                    </a:rPr>
                                  </m:ctrlPr>
                                </m:sSupPr>
                                <m:e>
                                  <m:r>
                                    <a:rPr lang="es-PE" sz="1600" b="0" i="1" spc="-10" smtClean="0">
                                      <a:solidFill>
                                        <a:srgbClr val="262626"/>
                                      </a:solidFill>
                                      <a:latin typeface="Cambria Math" panose="02040503050406030204" pitchFamily="18" charset="0"/>
                                      <a:cs typeface="Calibri" panose="020F0502020204030204" pitchFamily="34" charset="0"/>
                                    </a:rPr>
                                    <m:t>(</m:t>
                                  </m:r>
                                  <m:r>
                                    <a:rPr lang="es-PE" sz="1600" b="0" i="1" spc="-10" smtClean="0">
                                      <a:solidFill>
                                        <a:srgbClr val="262626"/>
                                      </a:solidFill>
                                      <a:latin typeface="Cambria Math" panose="02040503050406030204" pitchFamily="18" charset="0"/>
                                      <a:cs typeface="Calibri" panose="020F0502020204030204" pitchFamily="34" charset="0"/>
                                    </a:rPr>
                                    <m:t>𝑋𝑖</m:t>
                                  </m:r>
                                  <m:r>
                                    <a:rPr lang="es-PE" sz="1600" b="0" i="1" spc="-10" smtClean="0">
                                      <a:solidFill>
                                        <a:srgbClr val="262626"/>
                                      </a:solidFill>
                                      <a:latin typeface="Cambria Math" panose="02040503050406030204" pitchFamily="18" charset="0"/>
                                      <a:cs typeface="Calibri" panose="020F0502020204030204" pitchFamily="34" charset="0"/>
                                    </a:rPr>
                                    <m:t> −</m:t>
                                  </m:r>
                                  <m:acc>
                                    <m:accPr>
                                      <m:chr m:val="̅"/>
                                      <m:ctrlPr>
                                        <a:rPr lang="es-PE" sz="1600" b="0" i="1" spc="-10" smtClean="0">
                                          <a:solidFill>
                                            <a:srgbClr val="262626"/>
                                          </a:solidFill>
                                          <a:latin typeface="Cambria Math" panose="02040503050406030204" pitchFamily="18" charset="0"/>
                                          <a:cs typeface="Calibri" panose="020F0502020204030204" pitchFamily="34" charset="0"/>
                                        </a:rPr>
                                      </m:ctrlPr>
                                    </m:accPr>
                                    <m:e>
                                      <m:r>
                                        <a:rPr lang="es-PE" sz="1600" b="0" i="1" spc="-10" smtClean="0">
                                          <a:solidFill>
                                            <a:srgbClr val="262626"/>
                                          </a:solidFill>
                                          <a:latin typeface="Cambria Math" panose="02040503050406030204" pitchFamily="18" charset="0"/>
                                          <a:cs typeface="Calibri" panose="020F0502020204030204" pitchFamily="34" charset="0"/>
                                        </a:rPr>
                                        <m:t>𝑋</m:t>
                                      </m:r>
                                    </m:e>
                                  </m:acc>
                                  <m:r>
                                    <a:rPr lang="es-PE" sz="1600" b="0" i="1" spc="-10" smtClean="0">
                                      <a:solidFill>
                                        <a:srgbClr val="262626"/>
                                      </a:solidFill>
                                      <a:latin typeface="Cambria Math" panose="02040503050406030204" pitchFamily="18" charset="0"/>
                                      <a:cs typeface="Calibri" panose="020F0502020204030204" pitchFamily="34" charset="0"/>
                                    </a:rPr>
                                    <m:t>)</m:t>
                                  </m:r>
                                </m:e>
                                <m:sup>
                                  <m:r>
                                    <a:rPr lang="es-PE" sz="1600" b="0" i="1" spc="-10" smtClean="0">
                                      <a:solidFill>
                                        <a:srgbClr val="262626"/>
                                      </a:solidFill>
                                      <a:latin typeface="Cambria Math" panose="02040503050406030204" pitchFamily="18" charset="0"/>
                                      <a:cs typeface="Calibri" panose="020F0502020204030204" pitchFamily="34" charset="0"/>
                                    </a:rPr>
                                    <m:t>2</m:t>
                                  </m:r>
                                </m:sup>
                              </m:sSup>
                            </m:e>
                          </m:nary>
                        </m:num>
                        <m:den>
                          <m:r>
                            <a:rPr lang="es-PE" sz="1600" b="0" i="1" spc="-10" smtClean="0">
                              <a:solidFill>
                                <a:srgbClr val="262626"/>
                              </a:solidFill>
                              <a:latin typeface="Cambria Math" panose="02040503050406030204" pitchFamily="18" charset="0"/>
                              <a:cs typeface="Calibri" panose="020F0502020204030204" pitchFamily="34" charset="0"/>
                            </a:rPr>
                            <m:t>𝑛</m:t>
                          </m:r>
                          <m:r>
                            <a:rPr lang="es-PE" sz="1600" b="0" i="1" spc="-10" smtClean="0">
                              <a:solidFill>
                                <a:srgbClr val="262626"/>
                              </a:solidFill>
                              <a:latin typeface="Cambria Math" panose="02040503050406030204" pitchFamily="18" charset="0"/>
                              <a:cs typeface="Calibri" panose="020F0502020204030204" pitchFamily="34" charset="0"/>
                            </a:rPr>
                            <m:t> −1</m:t>
                          </m:r>
                        </m:den>
                      </m:f>
                    </m:oMath>
                  </m:oMathPara>
                </a14:m>
                <a:endParaRPr lang="es-ES" sz="1600" spc="-10" dirty="0">
                  <a:solidFill>
                    <a:srgbClr val="262626"/>
                  </a:solidFill>
                  <a:latin typeface="Calibri" panose="020F0502020204030204" pitchFamily="34" charset="0"/>
                  <a:cs typeface="Calibri" panose="020F0502020204030204" pitchFamily="34" charset="0"/>
                </a:endParaRPr>
              </a:p>
              <a:p>
                <a:pPr marL="11725" algn="just">
                  <a:spcAft>
                    <a:spcPts val="600"/>
                  </a:spcAft>
                  <a:buSzPct val="100000"/>
                  <a:tabLst>
                    <a:tab pos="121285" algn="l"/>
                  </a:tabLst>
                  <a:defRPr/>
                </a:pPr>
                <a:r>
                  <a:rPr lang="es-ES" sz="1600" spc="-10" dirty="0">
                    <a:solidFill>
                      <a:srgbClr val="262626"/>
                    </a:solidFill>
                    <a:latin typeface="Calibri" panose="020F0502020204030204" pitchFamily="34" charset="0"/>
                    <a:cs typeface="Calibri" panose="020F0502020204030204" pitchFamily="34" charset="0"/>
                  </a:rPr>
                  <a:t>Donde:</a:t>
                </a:r>
              </a:p>
              <a:p>
                <a:pPr marL="11725" algn="just">
                  <a:spcAft>
                    <a:spcPts val="600"/>
                  </a:spcAft>
                  <a:buSzPct val="100000"/>
                  <a:tabLst>
                    <a:tab pos="121285" algn="l"/>
                  </a:tabLst>
                  <a:defRPr/>
                </a:pPr>
                <a14:m>
                  <m:oMath xmlns:m="http://schemas.openxmlformats.org/officeDocument/2006/math">
                    <m:sSup>
                      <m:sSupPr>
                        <m:ctrlPr>
                          <a:rPr lang="es-ES" sz="1600" i="1" spc="-10">
                            <a:solidFill>
                              <a:srgbClr val="262626"/>
                            </a:solidFill>
                            <a:latin typeface="Cambria Math" panose="02040503050406030204" pitchFamily="18" charset="0"/>
                            <a:cs typeface="Calibri" panose="020F0502020204030204" pitchFamily="34" charset="0"/>
                          </a:rPr>
                        </m:ctrlPr>
                      </m:sSupPr>
                      <m:e>
                        <m:r>
                          <a:rPr lang="es-PE" sz="1600" i="1" spc="-10">
                            <a:solidFill>
                              <a:srgbClr val="262626"/>
                            </a:solidFill>
                            <a:latin typeface="Cambria Math" panose="02040503050406030204" pitchFamily="18" charset="0"/>
                            <a:cs typeface="Calibri" panose="020F0502020204030204" pitchFamily="34" charset="0"/>
                          </a:rPr>
                          <m:t>𝑆</m:t>
                        </m:r>
                      </m:e>
                      <m:sup>
                        <m:r>
                          <a:rPr lang="es-PE" sz="1600" i="1" spc="-10">
                            <a:solidFill>
                              <a:srgbClr val="262626"/>
                            </a:solidFill>
                            <a:latin typeface="Cambria Math" panose="02040503050406030204" pitchFamily="18" charset="0"/>
                            <a:cs typeface="Calibri" panose="020F0502020204030204" pitchFamily="34" charset="0"/>
                          </a:rPr>
                          <m:t>2</m:t>
                        </m:r>
                      </m:sup>
                    </m:sSup>
                    <m:r>
                      <a:rPr lang="es-PE" sz="1600" i="1" spc="-10">
                        <a:solidFill>
                          <a:srgbClr val="262626"/>
                        </a:solidFill>
                        <a:latin typeface="Cambria Math" panose="02040503050406030204" pitchFamily="18" charset="0"/>
                        <a:cs typeface="Calibri" panose="020F0502020204030204" pitchFamily="34" charset="0"/>
                      </a:rPr>
                      <m:t>=</m:t>
                    </m:r>
                  </m:oMath>
                </a14:m>
                <a:r>
                  <a:rPr lang="es-ES" sz="1600" spc="-10" dirty="0">
                    <a:solidFill>
                      <a:srgbClr val="262626"/>
                    </a:solidFill>
                    <a:latin typeface="Calibri" panose="020F0502020204030204" pitchFamily="34" charset="0"/>
                    <a:cs typeface="Calibri" panose="020F0502020204030204" pitchFamily="34" charset="0"/>
                  </a:rPr>
                  <a:t> varianza muestral</a:t>
                </a:r>
              </a:p>
              <a:p>
                <a:pPr marL="11725" algn="just">
                  <a:spcAft>
                    <a:spcPts val="600"/>
                  </a:spcAft>
                  <a:buSzPct val="100000"/>
                  <a:tabLst>
                    <a:tab pos="121285" algn="l"/>
                  </a:tabLst>
                  <a:defRPr/>
                </a:pPr>
                <a14:m>
                  <m:oMath xmlns:m="http://schemas.openxmlformats.org/officeDocument/2006/math">
                    <m:acc>
                      <m:accPr>
                        <m:chr m:val="̅"/>
                        <m:ctrlPr>
                          <a:rPr lang="es-ES" sz="1600" i="1" spc="-10">
                            <a:solidFill>
                              <a:srgbClr val="262626"/>
                            </a:solidFill>
                            <a:latin typeface="Cambria Math" panose="02040503050406030204" pitchFamily="18" charset="0"/>
                            <a:cs typeface="Calibri" charset="0"/>
                          </a:rPr>
                        </m:ctrlPr>
                      </m:accPr>
                      <m:e>
                        <m:r>
                          <m:rPr>
                            <m:sty m:val="p"/>
                          </m:rPr>
                          <a:rPr lang="es-PE" sz="1600" spc="-10">
                            <a:solidFill>
                              <a:srgbClr val="262626"/>
                            </a:solidFill>
                            <a:latin typeface="Cambria Math" panose="02040503050406030204" pitchFamily="18" charset="0"/>
                            <a:cs typeface="Calibri" charset="0"/>
                          </a:rPr>
                          <m:t>X</m:t>
                        </m:r>
                      </m:e>
                    </m:acc>
                    <m:r>
                      <a:rPr lang="es-PE" sz="1600" spc="-10">
                        <a:solidFill>
                          <a:srgbClr val="262626"/>
                        </a:solidFill>
                        <a:latin typeface="Cambria Math" panose="02040503050406030204" pitchFamily="18" charset="0"/>
                        <a:cs typeface="Calibri" charset="0"/>
                      </a:rPr>
                      <m:t>=</m:t>
                    </m:r>
                    <m:r>
                      <m:rPr>
                        <m:sty m:val="p"/>
                      </m:rPr>
                      <a:rPr lang="es-PE" sz="1600" b="0" i="0" spc="-10" smtClean="0">
                        <a:solidFill>
                          <a:srgbClr val="262626"/>
                        </a:solidFill>
                        <a:latin typeface="Cambria Math" panose="02040503050406030204" pitchFamily="18" charset="0"/>
                        <a:cs typeface="Calibri" charset="0"/>
                      </a:rPr>
                      <m:t>m</m:t>
                    </m:r>
                    <m:r>
                      <m:rPr>
                        <m:sty m:val="p"/>
                      </m:rPr>
                      <a:rPr lang="es-PE" sz="1600" spc="-10">
                        <a:solidFill>
                          <a:srgbClr val="262626"/>
                        </a:solidFill>
                        <a:latin typeface="Cambria Math" panose="02040503050406030204" pitchFamily="18" charset="0"/>
                        <a:cs typeface="Calibri" charset="0"/>
                      </a:rPr>
                      <m:t>edia</m:t>
                    </m:r>
                  </m:oMath>
                </a14:m>
                <a:r>
                  <a:rPr lang="es-PE" sz="1600" spc="-10" dirty="0">
                    <a:solidFill>
                      <a:srgbClr val="262626"/>
                    </a:solidFill>
                    <a:latin typeface="Calibri" panose="020F0502020204030204" pitchFamily="34" charset="0"/>
                    <a:cs typeface="Calibri" panose="020F0502020204030204" pitchFamily="34" charset="0"/>
                  </a:rPr>
                  <a:t> del conjunto de datos</a:t>
                </a:r>
              </a:p>
              <a:p>
                <a:pPr marL="11725" algn="just">
                  <a:spcAft>
                    <a:spcPts val="600"/>
                  </a:spcAft>
                  <a:buSzPct val="100000"/>
                  <a:tabLst>
                    <a:tab pos="121285" algn="l"/>
                  </a:tabLst>
                  <a:defRPr/>
                </a:pPr>
                <a:r>
                  <a:rPr lang="es-PE" sz="1600" spc="-10" dirty="0">
                    <a:solidFill>
                      <a:srgbClr val="262626"/>
                    </a:solidFill>
                    <a:latin typeface="Calibri" panose="020F0502020204030204" pitchFamily="34" charset="0"/>
                    <a:cs typeface="Calibri" panose="020F0502020204030204" pitchFamily="34" charset="0"/>
                  </a:rPr>
                  <a:t>Xi = cada valor observado</a:t>
                </a:r>
              </a:p>
              <a:p>
                <a:pPr marL="11725" algn="just">
                  <a:spcAft>
                    <a:spcPts val="600"/>
                  </a:spcAft>
                  <a:buSzPct val="100000"/>
                  <a:tabLst>
                    <a:tab pos="121285" algn="l"/>
                  </a:tabLst>
                  <a:defRPr/>
                </a:pPr>
                <a:r>
                  <a:rPr lang="es-PE" sz="1600" spc="-10" dirty="0">
                    <a:solidFill>
                      <a:srgbClr val="262626"/>
                    </a:solidFill>
                    <a:latin typeface="Calibri" panose="020F0502020204030204" pitchFamily="34" charset="0"/>
                    <a:cs typeface="Calibri" panose="020F0502020204030204" pitchFamily="34" charset="0"/>
                  </a:rPr>
                  <a:t>n = número total de datos</a:t>
                </a:r>
              </a:p>
            </p:txBody>
          </p:sp>
        </mc:Choice>
        <mc:Fallback xmlns="">
          <p:sp>
            <p:nvSpPr>
              <p:cNvPr id="3" name="object 7"/>
              <p:cNvSpPr txBox="1">
                <a:spLocks noRot="1" noChangeAspect="1" noMove="1" noResize="1" noEditPoints="1" noAdjustHandles="1" noChangeArrowheads="1" noChangeShapeType="1" noTextEdit="1"/>
              </p:cNvSpPr>
              <p:nvPr/>
            </p:nvSpPr>
            <p:spPr>
              <a:xfrm>
                <a:off x="506796" y="863288"/>
                <a:ext cx="3560379" cy="4310539"/>
              </a:xfrm>
              <a:prstGeom prst="rect">
                <a:avLst/>
              </a:prstGeom>
              <a:blipFill>
                <a:blip r:embed="rId3"/>
                <a:stretch>
                  <a:fillRect l="-3082" t="-1556" b="-1839"/>
                </a:stretch>
              </a:blipFill>
            </p:spPr>
            <p:txBody>
              <a:bodyPr/>
              <a:lstStyle/>
              <a:p>
                <a:r>
                  <a:rPr lang="es-PE">
                    <a:noFill/>
                  </a:rPr>
                  <a:t> </a:t>
                </a:r>
              </a:p>
            </p:txBody>
          </p:sp>
        </mc:Fallback>
      </mc:AlternateContent>
      <p:pic>
        <p:nvPicPr>
          <p:cNvPr id="6" name="Imagen 5"/>
          <p:cNvPicPr>
            <a:picLocks noChangeAspect="1"/>
          </p:cNvPicPr>
          <p:nvPr/>
        </p:nvPicPr>
        <p:blipFill rotWithShape="1">
          <a:blip r:embed="rId4"/>
          <a:srcRect l="9053" r="9263"/>
          <a:stretch/>
        </p:blipFill>
        <p:spPr>
          <a:xfrm>
            <a:off x="5076825" y="863288"/>
            <a:ext cx="3560379" cy="4347607"/>
          </a:xfrm>
          <a:prstGeom prst="rect">
            <a:avLst/>
          </a:prstGeom>
        </p:spPr>
      </p:pic>
      <p:sp>
        <p:nvSpPr>
          <p:cNvPr id="5" name="Rectangle 5">
            <a:extLst>
              <a:ext uri="{FF2B5EF4-FFF2-40B4-BE49-F238E27FC236}">
                <a16:creationId xmlns:a16="http://schemas.microsoft.com/office/drawing/2014/main" id="{E457FB5D-66DF-40C5-8DCA-47C2A7659213}"/>
              </a:ext>
            </a:extLst>
          </p:cNvPr>
          <p:cNvSpPr/>
          <p:nvPr/>
        </p:nvSpPr>
        <p:spPr>
          <a:xfrm>
            <a:off x="503237" y="380615"/>
            <a:ext cx="3547767"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MX" sz="1000" dirty="0">
                <a:solidFill>
                  <a:schemeClr val="bg1">
                    <a:lumMod val="65000"/>
                  </a:schemeClr>
                </a:solidFill>
                <a:latin typeface="Calibri" charset="0"/>
                <a:ea typeface="Calibri" charset="0"/>
                <a:cs typeface="Calibri" charset="0"/>
              </a:rPr>
              <a:t>MEDIDAS DE DISPERSIÓN: VARIANZA, DESVIACIÓN ESTÁNDAR</a:t>
            </a:r>
          </a:p>
        </p:txBody>
      </p:sp>
    </p:spTree>
    <p:extLst>
      <p:ext uri="{BB962C8B-B14F-4D97-AF65-F5344CB8AC3E}">
        <p14:creationId xmlns:p14="http://schemas.microsoft.com/office/powerpoint/2010/main" val="2793235143"/>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7"/>
          <p:cNvSpPr txBox="1"/>
          <p:nvPr/>
        </p:nvSpPr>
        <p:spPr>
          <a:xfrm>
            <a:off x="506796" y="863288"/>
            <a:ext cx="8228642" cy="1538883"/>
          </a:xfrm>
          <a:prstGeom prst="rect">
            <a:avLst/>
          </a:prstGeom>
        </p:spPr>
        <p:txBody>
          <a:bodyPr vert="horz" wrap="square" lIns="0" tIns="0" rIns="0" bIns="0" rtlCol="0">
            <a:spAutoFit/>
          </a:bodyPr>
          <a:lstStyle/>
          <a:p>
            <a:pPr marL="11725">
              <a:spcAft>
                <a:spcPts val="600"/>
              </a:spcAft>
              <a:buSzPct val="100000"/>
              <a:tabLst>
                <a:tab pos="121285" algn="l"/>
              </a:tabLst>
              <a:defRPr/>
            </a:pPr>
            <a:r>
              <a:rPr lang="es-PE" sz="1600" b="1" dirty="0">
                <a:latin typeface="Calibri" charset="0"/>
                <a:ea typeface="Calibri" charset="0"/>
                <a:cs typeface="Calibri" charset="0"/>
              </a:rPr>
              <a:t>VARIANZA</a:t>
            </a:r>
          </a:p>
          <a:p>
            <a:pPr marL="11725" algn="just">
              <a:spcAft>
                <a:spcPts val="600"/>
              </a:spcAft>
              <a:buSzPct val="100000"/>
              <a:tabLst>
                <a:tab pos="121285" algn="l"/>
              </a:tabLst>
              <a:defRPr/>
            </a:pPr>
            <a:r>
              <a:rPr lang="es-ES" sz="1600" b="1" spc="-10" dirty="0">
                <a:solidFill>
                  <a:srgbClr val="7150A0"/>
                </a:solidFill>
                <a:latin typeface="Calibri" panose="020F0502020204030204" pitchFamily="34" charset="0"/>
                <a:cs typeface="Calibri" panose="020F0502020204030204" pitchFamily="34" charset="0"/>
              </a:rPr>
              <a:t>Ejemplo: </a:t>
            </a:r>
            <a:r>
              <a:rPr lang="es-ES" sz="1600" spc="-10" dirty="0">
                <a:solidFill>
                  <a:srgbClr val="262626"/>
                </a:solidFill>
                <a:latin typeface="Calibri" panose="020F0502020204030204" pitchFamily="34" charset="0"/>
                <a:cs typeface="Calibri" panose="020F0502020204030204" pitchFamily="34" charset="0"/>
              </a:rPr>
              <a:t>las ventas semanales (en miles de soles) de una tienda fueron: </a:t>
            </a:r>
          </a:p>
          <a:p>
            <a:pPr marL="11725" algn="ctr">
              <a:spcAft>
                <a:spcPts val="600"/>
              </a:spcAft>
              <a:buSzPct val="100000"/>
              <a:tabLst>
                <a:tab pos="121285" algn="l"/>
              </a:tabLst>
              <a:defRPr/>
            </a:pPr>
            <a:r>
              <a:rPr lang="es-ES" sz="1600" spc="-10" dirty="0">
                <a:solidFill>
                  <a:srgbClr val="262626"/>
                </a:solidFill>
                <a:latin typeface="Calibri" panose="020F0502020204030204" pitchFamily="34" charset="0"/>
                <a:cs typeface="Calibri" panose="020F0502020204030204" pitchFamily="34" charset="0"/>
              </a:rPr>
              <a:t>10, 12, 8, 10, 10</a:t>
            </a:r>
          </a:p>
          <a:p>
            <a:pPr marL="11725" algn="just">
              <a:spcAft>
                <a:spcPts val="600"/>
              </a:spcAft>
              <a:buSzPct val="100000"/>
              <a:tabLst>
                <a:tab pos="121285" algn="l"/>
              </a:tabLst>
              <a:defRPr/>
            </a:pPr>
            <a:endParaRPr lang="es-PE" sz="1600" spc="-10" dirty="0">
              <a:solidFill>
                <a:srgbClr val="262626"/>
              </a:solidFill>
              <a:latin typeface="Calibri" panose="020F0502020204030204" pitchFamily="34" charset="0"/>
              <a:cs typeface="Calibri" panose="020F0502020204030204" pitchFamily="34" charset="0"/>
            </a:endParaRPr>
          </a:p>
          <a:p>
            <a:pPr marL="11725" algn="just">
              <a:spcAft>
                <a:spcPts val="600"/>
              </a:spcAft>
              <a:buSzPct val="100000"/>
              <a:tabLst>
                <a:tab pos="121285" algn="l"/>
              </a:tabLst>
              <a:defRPr/>
            </a:pPr>
            <a:r>
              <a:rPr lang="es-PE" sz="1600" spc="-10" dirty="0">
                <a:solidFill>
                  <a:srgbClr val="262626"/>
                </a:solidFill>
                <a:latin typeface="Calibri" panose="020F0502020204030204" pitchFamily="34" charset="0"/>
                <a:cs typeface="Calibri" panose="020F0502020204030204" pitchFamily="34" charset="0"/>
              </a:rPr>
              <a:t>Si aplicamos la fórmula, la varianza sería 2. </a:t>
            </a:r>
            <a:r>
              <a:rPr lang="es-ES" sz="1600" spc="-10" dirty="0">
                <a:solidFill>
                  <a:srgbClr val="262626"/>
                </a:solidFill>
                <a:latin typeface="Calibri" panose="020F0502020204030204" pitchFamily="34" charset="0"/>
                <a:cs typeface="Calibri" panose="020F0502020204030204" pitchFamily="34" charset="0"/>
              </a:rPr>
              <a:t>Este resultado significa que:</a:t>
            </a:r>
          </a:p>
        </p:txBody>
      </p:sp>
      <p:sp>
        <p:nvSpPr>
          <p:cNvPr id="5" name="Rectangle 5">
            <a:extLst>
              <a:ext uri="{FF2B5EF4-FFF2-40B4-BE49-F238E27FC236}">
                <a16:creationId xmlns:a16="http://schemas.microsoft.com/office/drawing/2014/main" id="{E6803256-EE00-498E-A6B1-5F245D494D4F}"/>
              </a:ext>
            </a:extLst>
          </p:cNvPr>
          <p:cNvSpPr/>
          <p:nvPr/>
        </p:nvSpPr>
        <p:spPr>
          <a:xfrm>
            <a:off x="503237" y="380615"/>
            <a:ext cx="3547767"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MX" sz="1000" dirty="0">
                <a:solidFill>
                  <a:schemeClr val="bg1">
                    <a:lumMod val="65000"/>
                  </a:schemeClr>
                </a:solidFill>
                <a:latin typeface="Calibri" charset="0"/>
                <a:ea typeface="Calibri" charset="0"/>
                <a:cs typeface="Calibri" charset="0"/>
              </a:rPr>
              <a:t>MEDIDAS DE DISPERSIÓN: VARIANZA, DESVIACIÓN ESTÁNDAR</a:t>
            </a:r>
          </a:p>
        </p:txBody>
      </p:sp>
      <p:sp>
        <p:nvSpPr>
          <p:cNvPr id="4" name="Rectángulo redondeado 43">
            <a:extLst>
              <a:ext uri="{FF2B5EF4-FFF2-40B4-BE49-F238E27FC236}">
                <a16:creationId xmlns:a16="http://schemas.microsoft.com/office/drawing/2014/main" id="{3AB637DA-B364-4DF7-904B-EE9705EC4FE3}"/>
              </a:ext>
            </a:extLst>
          </p:cNvPr>
          <p:cNvSpPr/>
          <p:nvPr/>
        </p:nvSpPr>
        <p:spPr>
          <a:xfrm>
            <a:off x="4591766" y="2501698"/>
            <a:ext cx="1973019" cy="2449682"/>
          </a:xfrm>
          <a:prstGeom prst="roundRect">
            <a:avLst>
              <a:gd name="adj" fmla="val 7402"/>
            </a:avLst>
          </a:prstGeom>
          <a:solidFill>
            <a:srgbClr val="EE4639"/>
          </a:solidFill>
          <a:ln>
            <a:noFill/>
          </a:ln>
        </p:spPr>
        <p:style>
          <a:lnRef idx="2">
            <a:schemeClr val="accent1">
              <a:shade val="50000"/>
            </a:schemeClr>
          </a:lnRef>
          <a:fillRef idx="1">
            <a:schemeClr val="accent1"/>
          </a:fillRef>
          <a:effectRef idx="0">
            <a:schemeClr val="accent1"/>
          </a:effectRef>
          <a:fontRef idx="minor">
            <a:schemeClr val="lt1"/>
          </a:fontRef>
        </p:style>
        <p:txBody>
          <a:bodyPr lIns="251999" tIns="144000" rIns="0" rtlCol="0" anchor="t"/>
          <a:lstStyle/>
          <a:p>
            <a:pPr marL="4763" lvl="0" defTabSz="666750">
              <a:lnSpc>
                <a:spcPct val="90000"/>
              </a:lnSpc>
              <a:spcAft>
                <a:spcPts val="1200"/>
              </a:spcAft>
              <a:buClr>
                <a:schemeClr val="bg1"/>
              </a:buClr>
            </a:pPr>
            <a:r>
              <a:rPr lang="es-MX" sz="1400" dirty="0">
                <a:solidFill>
                  <a:schemeClr val="bg1"/>
                </a:solidFill>
                <a:latin typeface="Calibri" charset="0"/>
                <a:ea typeface="Calibri" charset="0"/>
                <a:cs typeface="Calibri" charset="0"/>
              </a:rPr>
              <a:t>Aunque la varianza se expresa en unidades al cuadrado (por eso no es tan intuitiva), su valor ayuda a calcular la desviación estándar, que sí se interpreta directamente en miles de soles.</a:t>
            </a:r>
          </a:p>
        </p:txBody>
      </p:sp>
      <p:sp>
        <p:nvSpPr>
          <p:cNvPr id="6" name="Elipse 5">
            <a:extLst>
              <a:ext uri="{FF2B5EF4-FFF2-40B4-BE49-F238E27FC236}">
                <a16:creationId xmlns:a16="http://schemas.microsoft.com/office/drawing/2014/main" id="{E7B2B4FF-4AA3-40AC-BF31-FE25F0282DF0}"/>
              </a:ext>
            </a:extLst>
          </p:cNvPr>
          <p:cNvSpPr/>
          <p:nvPr/>
        </p:nvSpPr>
        <p:spPr>
          <a:xfrm>
            <a:off x="4437953" y="3685607"/>
            <a:ext cx="395709" cy="376075"/>
          </a:xfrm>
          <a:prstGeom prst="ellipse">
            <a:avLst/>
          </a:prstGeom>
          <a:solidFill>
            <a:srgbClr val="C73A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
        <p:nvSpPr>
          <p:cNvPr id="7" name="Elipse 6">
            <a:extLst>
              <a:ext uri="{FF2B5EF4-FFF2-40B4-BE49-F238E27FC236}">
                <a16:creationId xmlns:a16="http://schemas.microsoft.com/office/drawing/2014/main" id="{2C744CED-E7DA-4B41-8C3A-E07FFA4176FA}"/>
              </a:ext>
            </a:extLst>
          </p:cNvPr>
          <p:cNvSpPr/>
          <p:nvPr/>
        </p:nvSpPr>
        <p:spPr>
          <a:xfrm>
            <a:off x="4374188" y="3671733"/>
            <a:ext cx="424906" cy="40382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
        <p:nvSpPr>
          <p:cNvPr id="8" name="Triángulo 46">
            <a:extLst>
              <a:ext uri="{FF2B5EF4-FFF2-40B4-BE49-F238E27FC236}">
                <a16:creationId xmlns:a16="http://schemas.microsoft.com/office/drawing/2014/main" id="{EF96C5B7-F228-4919-A56A-83906F3E6E5D}"/>
              </a:ext>
            </a:extLst>
          </p:cNvPr>
          <p:cNvSpPr/>
          <p:nvPr/>
        </p:nvSpPr>
        <p:spPr>
          <a:xfrm rot="5400000">
            <a:off x="4557960" y="3812454"/>
            <a:ext cx="186870" cy="122381"/>
          </a:xfrm>
          <a:prstGeom prst="triangle">
            <a:avLst/>
          </a:prstGeom>
          <a:solidFill>
            <a:srgbClr val="EE46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
        <p:nvSpPr>
          <p:cNvPr id="9" name="Rectángulo redondeado 39">
            <a:extLst>
              <a:ext uri="{FF2B5EF4-FFF2-40B4-BE49-F238E27FC236}">
                <a16:creationId xmlns:a16="http://schemas.microsoft.com/office/drawing/2014/main" id="{727819AA-47EC-4584-B768-120E70BFD7D5}"/>
              </a:ext>
            </a:extLst>
          </p:cNvPr>
          <p:cNvSpPr/>
          <p:nvPr/>
        </p:nvSpPr>
        <p:spPr>
          <a:xfrm>
            <a:off x="2530082" y="2501697"/>
            <a:ext cx="1973019" cy="2449683"/>
          </a:xfrm>
          <a:prstGeom prst="roundRect">
            <a:avLst>
              <a:gd name="adj" fmla="val 7402"/>
            </a:avLst>
          </a:prstGeom>
          <a:solidFill>
            <a:srgbClr val="EE4639"/>
          </a:solidFill>
          <a:ln>
            <a:noFill/>
          </a:ln>
        </p:spPr>
        <p:style>
          <a:lnRef idx="2">
            <a:schemeClr val="accent1">
              <a:shade val="50000"/>
            </a:schemeClr>
          </a:lnRef>
          <a:fillRef idx="1">
            <a:schemeClr val="accent1"/>
          </a:fillRef>
          <a:effectRef idx="0">
            <a:schemeClr val="accent1"/>
          </a:effectRef>
          <a:fontRef idx="minor">
            <a:schemeClr val="lt1"/>
          </a:fontRef>
        </p:style>
        <p:txBody>
          <a:bodyPr lIns="251999" tIns="144000" rIns="0" rtlCol="0" anchor="t"/>
          <a:lstStyle/>
          <a:p>
            <a:pPr marL="4763" lvl="0" defTabSz="666750">
              <a:lnSpc>
                <a:spcPct val="90000"/>
              </a:lnSpc>
              <a:spcAft>
                <a:spcPts val="1200"/>
              </a:spcAft>
              <a:buClr>
                <a:schemeClr val="bg1"/>
              </a:buClr>
            </a:pPr>
            <a:r>
              <a:rPr lang="es-MX" sz="1400" dirty="0">
                <a:solidFill>
                  <a:schemeClr val="bg1"/>
                </a:solidFill>
                <a:latin typeface="Calibri" charset="0"/>
                <a:ea typeface="Calibri" charset="0"/>
                <a:cs typeface="Calibri" charset="0"/>
              </a:rPr>
              <a:t>Las ventas semanales tienen una variación moderada alrededor del promedio de 10 mil soles. </a:t>
            </a:r>
          </a:p>
          <a:p>
            <a:pPr marL="4763" lvl="0" defTabSz="666750">
              <a:lnSpc>
                <a:spcPct val="90000"/>
              </a:lnSpc>
              <a:spcAft>
                <a:spcPts val="1200"/>
              </a:spcAft>
              <a:buClr>
                <a:schemeClr val="bg1"/>
              </a:buClr>
            </a:pPr>
            <a:r>
              <a:rPr lang="es-MX" sz="1400" dirty="0">
                <a:solidFill>
                  <a:schemeClr val="bg1"/>
                </a:solidFill>
                <a:latin typeface="Calibri" charset="0"/>
                <a:ea typeface="Calibri" charset="0"/>
                <a:cs typeface="Calibri" charset="0"/>
              </a:rPr>
              <a:t>No todas las semanas se vende lo mismo, pero las diferencias no son muy grandes.</a:t>
            </a:r>
          </a:p>
        </p:txBody>
      </p:sp>
      <p:sp>
        <p:nvSpPr>
          <p:cNvPr id="10" name="Elipse 9">
            <a:extLst>
              <a:ext uri="{FF2B5EF4-FFF2-40B4-BE49-F238E27FC236}">
                <a16:creationId xmlns:a16="http://schemas.microsoft.com/office/drawing/2014/main" id="{A8534693-C4EF-4E70-B2C7-0DC261BAC6EF}"/>
              </a:ext>
            </a:extLst>
          </p:cNvPr>
          <p:cNvSpPr/>
          <p:nvPr/>
        </p:nvSpPr>
        <p:spPr>
          <a:xfrm>
            <a:off x="2380654" y="3685607"/>
            <a:ext cx="395709" cy="376075"/>
          </a:xfrm>
          <a:prstGeom prst="ellipse">
            <a:avLst/>
          </a:prstGeom>
          <a:solidFill>
            <a:srgbClr val="C73A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
        <p:nvSpPr>
          <p:cNvPr id="11" name="Elipse 10">
            <a:extLst>
              <a:ext uri="{FF2B5EF4-FFF2-40B4-BE49-F238E27FC236}">
                <a16:creationId xmlns:a16="http://schemas.microsoft.com/office/drawing/2014/main" id="{4AD6FDE4-EEFA-49FC-B690-F383441E36BA}"/>
              </a:ext>
            </a:extLst>
          </p:cNvPr>
          <p:cNvSpPr/>
          <p:nvPr/>
        </p:nvSpPr>
        <p:spPr>
          <a:xfrm>
            <a:off x="2316888" y="3671733"/>
            <a:ext cx="424906" cy="40382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
        <p:nvSpPr>
          <p:cNvPr id="12" name="Triángulo 42">
            <a:extLst>
              <a:ext uri="{FF2B5EF4-FFF2-40B4-BE49-F238E27FC236}">
                <a16:creationId xmlns:a16="http://schemas.microsoft.com/office/drawing/2014/main" id="{1E30B89A-35B3-408B-B393-4487C76157F2}"/>
              </a:ext>
            </a:extLst>
          </p:cNvPr>
          <p:cNvSpPr/>
          <p:nvPr/>
        </p:nvSpPr>
        <p:spPr>
          <a:xfrm rot="5400000">
            <a:off x="2500661" y="3812454"/>
            <a:ext cx="186870" cy="122381"/>
          </a:xfrm>
          <a:prstGeom prst="triangle">
            <a:avLst/>
          </a:prstGeom>
          <a:solidFill>
            <a:srgbClr val="EE46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Tree>
    <p:extLst>
      <p:ext uri="{BB962C8B-B14F-4D97-AF65-F5344CB8AC3E}">
        <p14:creationId xmlns:p14="http://schemas.microsoft.com/office/powerpoint/2010/main" val="816876841"/>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ángulo 5">
            <a:extLst>
              <a:ext uri="{FF2B5EF4-FFF2-40B4-BE49-F238E27FC236}">
                <a16:creationId xmlns:a16="http://schemas.microsoft.com/office/drawing/2014/main" id="{5DBEE6C3-3A04-494B-A1E5-5BA229F26F9F}"/>
              </a:ext>
            </a:extLst>
          </p:cNvPr>
          <p:cNvSpPr/>
          <p:nvPr/>
        </p:nvSpPr>
        <p:spPr>
          <a:xfrm>
            <a:off x="386633" y="3190672"/>
            <a:ext cx="4020116" cy="2020222"/>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solidFill>
                <a:srgbClr val="7150A0"/>
              </a:solidFill>
            </a:endParaRPr>
          </a:p>
        </p:txBody>
      </p:sp>
      <mc:AlternateContent xmlns:mc="http://schemas.openxmlformats.org/markup-compatibility/2006" xmlns:a14="http://schemas.microsoft.com/office/drawing/2010/main">
        <mc:Choice Requires="a14">
          <p:sp>
            <p:nvSpPr>
              <p:cNvPr id="3" name="object 7"/>
              <p:cNvSpPr txBox="1"/>
              <p:nvPr/>
            </p:nvSpPr>
            <p:spPr>
              <a:xfrm>
                <a:off x="506796" y="863288"/>
                <a:ext cx="3560379" cy="4123436"/>
              </a:xfrm>
              <a:prstGeom prst="rect">
                <a:avLst/>
              </a:prstGeom>
            </p:spPr>
            <p:txBody>
              <a:bodyPr vert="horz" wrap="square" lIns="0" tIns="0" rIns="0" bIns="0" rtlCol="0">
                <a:spAutoFit/>
              </a:bodyPr>
              <a:lstStyle/>
              <a:p>
                <a:pPr marL="11725">
                  <a:spcAft>
                    <a:spcPts val="600"/>
                  </a:spcAft>
                  <a:buSzPct val="100000"/>
                  <a:tabLst>
                    <a:tab pos="121285" algn="l"/>
                  </a:tabLst>
                  <a:defRPr/>
                </a:pPr>
                <a:r>
                  <a:rPr lang="es-PE" sz="1600" b="1" dirty="0">
                    <a:latin typeface="Calibri" charset="0"/>
                    <a:ea typeface="Calibri" charset="0"/>
                    <a:cs typeface="Calibri" charset="0"/>
                  </a:rPr>
                  <a:t>DESVIACIÓN ESTÁNDAR</a:t>
                </a:r>
              </a:p>
              <a:p>
                <a:pPr marL="297475" indent="-285750">
                  <a:spcAft>
                    <a:spcPts val="600"/>
                  </a:spcAft>
                  <a:buSzPct val="100000"/>
                  <a:buFont typeface="Arial" panose="020B0604020202020204" pitchFamily="34" charset="0"/>
                  <a:buChar char="•"/>
                  <a:tabLst>
                    <a:tab pos="121285" algn="l"/>
                  </a:tabLst>
                  <a:defRPr/>
                </a:pPr>
                <a:r>
                  <a:rPr lang="es-ES" sz="1600" spc="-10" dirty="0">
                    <a:solidFill>
                      <a:srgbClr val="262626"/>
                    </a:solidFill>
                    <a:latin typeface="Calibri" panose="020F0502020204030204" pitchFamily="34" charset="0"/>
                    <a:cs typeface="Calibri" panose="020F0502020204030204" pitchFamily="34" charset="0"/>
                  </a:rPr>
                  <a:t>La desviación estándar es la raíz cuadrada de la varianza, lo que permite expresar la dispersión en las mismas unidades originales de los datos. </a:t>
                </a:r>
              </a:p>
              <a:p>
                <a:pPr marL="297475" indent="-285750">
                  <a:spcAft>
                    <a:spcPts val="600"/>
                  </a:spcAft>
                  <a:buSzPct val="100000"/>
                  <a:buFont typeface="Arial" panose="020B0604020202020204" pitchFamily="34" charset="0"/>
                  <a:buChar char="•"/>
                  <a:tabLst>
                    <a:tab pos="121285" algn="l"/>
                  </a:tabLst>
                  <a:defRPr/>
                </a:pPr>
                <a:r>
                  <a:rPr lang="es-ES" sz="1600" spc="-10" dirty="0">
                    <a:solidFill>
                      <a:srgbClr val="262626"/>
                    </a:solidFill>
                    <a:latin typeface="Calibri" panose="020F0502020204030204" pitchFamily="34" charset="0"/>
                    <a:cs typeface="Calibri" panose="020F0502020204030204" pitchFamily="34" charset="0"/>
                  </a:rPr>
                  <a:t>Es la medida más utilizada para evaluar la variabilidad real de los valores respecto a la media.</a:t>
                </a:r>
              </a:p>
              <a:p>
                <a:pPr marL="11725" algn="just">
                  <a:spcAft>
                    <a:spcPts val="600"/>
                  </a:spcAft>
                  <a:buSzPct val="100000"/>
                  <a:tabLst>
                    <a:tab pos="121285" algn="l"/>
                  </a:tabLst>
                  <a:defRPr/>
                </a:pPr>
                <a:endParaRPr lang="es-ES" sz="1600" spc="-10" dirty="0">
                  <a:solidFill>
                    <a:srgbClr val="262626"/>
                  </a:solidFill>
                  <a:latin typeface="Calibri" panose="020F0502020204030204" pitchFamily="34" charset="0"/>
                  <a:cs typeface="Calibri" panose="020F0502020204030204" pitchFamily="34" charset="0"/>
                </a:endParaRPr>
              </a:p>
              <a:p>
                <a:pPr marL="11725">
                  <a:spcAft>
                    <a:spcPts val="600"/>
                  </a:spcAft>
                  <a:buSzPct val="100000"/>
                  <a:tabLst>
                    <a:tab pos="121285" algn="l"/>
                  </a:tabLst>
                  <a:defRPr/>
                </a:pPr>
                <a:r>
                  <a:rPr lang="es-ES" sz="1600" b="1" spc="-10" dirty="0">
                    <a:solidFill>
                      <a:srgbClr val="7150A0"/>
                    </a:solidFill>
                    <a:latin typeface="Calibri" panose="020F0502020204030204" pitchFamily="34" charset="0"/>
                    <a:cs typeface="Calibri" panose="020F0502020204030204" pitchFamily="34" charset="0"/>
                  </a:rPr>
                  <a:t>Fórmula:</a:t>
                </a:r>
              </a:p>
              <a:p>
                <a:pPr marL="11725" algn="just">
                  <a:spcAft>
                    <a:spcPts val="600"/>
                  </a:spcAft>
                  <a:buSzPct val="100000"/>
                  <a:tabLst>
                    <a:tab pos="121285" algn="l"/>
                  </a:tabLst>
                  <a:defRPr/>
                </a:pPr>
                <a14:m>
                  <m:oMathPara xmlns:m="http://schemas.openxmlformats.org/officeDocument/2006/math">
                    <m:oMathParaPr>
                      <m:jc m:val="centerGroup"/>
                    </m:oMathParaPr>
                    <m:oMath xmlns:m="http://schemas.openxmlformats.org/officeDocument/2006/math">
                      <m:r>
                        <a:rPr lang="es-PE" sz="1600" b="0" i="1" spc="-10" smtClean="0">
                          <a:solidFill>
                            <a:srgbClr val="262626"/>
                          </a:solidFill>
                          <a:latin typeface="Cambria Math" panose="02040503050406030204" pitchFamily="18" charset="0"/>
                          <a:cs typeface="Calibri" panose="020F0502020204030204" pitchFamily="34" charset="0"/>
                        </a:rPr>
                        <m:t>𝑆𝑋</m:t>
                      </m:r>
                      <m:r>
                        <a:rPr lang="es-PE" sz="1600" b="0" i="1" spc="-10" smtClean="0">
                          <a:solidFill>
                            <a:srgbClr val="262626"/>
                          </a:solidFill>
                          <a:latin typeface="Cambria Math" panose="02040503050406030204" pitchFamily="18" charset="0"/>
                          <a:cs typeface="Calibri" panose="020F0502020204030204" pitchFamily="34" charset="0"/>
                        </a:rPr>
                        <m:t>= </m:t>
                      </m:r>
                      <m:rad>
                        <m:radPr>
                          <m:degHide m:val="on"/>
                          <m:ctrlPr>
                            <a:rPr lang="es-PE" sz="1600" b="0" i="1" spc="-10" smtClean="0">
                              <a:solidFill>
                                <a:srgbClr val="262626"/>
                              </a:solidFill>
                              <a:latin typeface="Cambria Math" panose="02040503050406030204" pitchFamily="18" charset="0"/>
                              <a:cs typeface="Calibri" panose="020F0502020204030204" pitchFamily="34" charset="0"/>
                            </a:rPr>
                          </m:ctrlPr>
                        </m:radPr>
                        <m:deg/>
                        <m:e>
                          <m:sSup>
                            <m:sSupPr>
                              <m:ctrlPr>
                                <a:rPr lang="es-PE" sz="1600" b="0" i="1" spc="-10" smtClean="0">
                                  <a:solidFill>
                                    <a:srgbClr val="262626"/>
                                  </a:solidFill>
                                  <a:latin typeface="Cambria Math" panose="02040503050406030204" pitchFamily="18" charset="0"/>
                                  <a:cs typeface="Calibri" panose="020F0502020204030204" pitchFamily="34" charset="0"/>
                                </a:rPr>
                              </m:ctrlPr>
                            </m:sSupPr>
                            <m:e>
                              <m:r>
                                <a:rPr lang="es-PE" sz="1600" b="0" i="1" spc="-10" smtClean="0">
                                  <a:solidFill>
                                    <a:srgbClr val="262626"/>
                                  </a:solidFill>
                                  <a:latin typeface="Cambria Math" panose="02040503050406030204" pitchFamily="18" charset="0"/>
                                  <a:cs typeface="Calibri" panose="020F0502020204030204" pitchFamily="34" charset="0"/>
                                </a:rPr>
                                <m:t>𝑠</m:t>
                              </m:r>
                            </m:e>
                            <m:sup>
                              <m:r>
                                <a:rPr lang="es-PE" sz="1600" b="0" i="1" spc="-10" smtClean="0">
                                  <a:solidFill>
                                    <a:srgbClr val="262626"/>
                                  </a:solidFill>
                                  <a:latin typeface="Cambria Math" panose="02040503050406030204" pitchFamily="18" charset="0"/>
                                  <a:cs typeface="Calibri" panose="020F0502020204030204" pitchFamily="34" charset="0"/>
                                </a:rPr>
                                <m:t>2</m:t>
                              </m:r>
                            </m:sup>
                          </m:sSup>
                        </m:e>
                      </m:rad>
                    </m:oMath>
                  </m:oMathPara>
                </a14:m>
                <a:endParaRPr lang="es-ES" sz="1600" spc="-10" dirty="0">
                  <a:solidFill>
                    <a:srgbClr val="262626"/>
                  </a:solidFill>
                  <a:latin typeface="Calibri" panose="020F0502020204030204" pitchFamily="34" charset="0"/>
                  <a:cs typeface="Calibri" panose="020F0502020204030204" pitchFamily="34" charset="0"/>
                </a:endParaRPr>
              </a:p>
              <a:p>
                <a:pPr marL="11725" algn="just">
                  <a:spcAft>
                    <a:spcPts val="600"/>
                  </a:spcAft>
                  <a:buSzPct val="100000"/>
                  <a:tabLst>
                    <a:tab pos="121285" algn="l"/>
                  </a:tabLst>
                  <a:defRPr/>
                </a:pPr>
                <a:r>
                  <a:rPr lang="es-ES" sz="1600" spc="-10" dirty="0">
                    <a:solidFill>
                      <a:srgbClr val="262626"/>
                    </a:solidFill>
                    <a:latin typeface="Calibri" panose="020F0502020204030204" pitchFamily="34" charset="0"/>
                    <a:cs typeface="Calibri" panose="020F0502020204030204" pitchFamily="34" charset="0"/>
                  </a:rPr>
                  <a:t>Donde:</a:t>
                </a:r>
              </a:p>
              <a:p>
                <a:pPr marL="11725" algn="just">
                  <a:spcAft>
                    <a:spcPts val="600"/>
                  </a:spcAft>
                  <a:buSzPct val="100000"/>
                  <a:tabLst>
                    <a:tab pos="121285" algn="l"/>
                  </a:tabLst>
                  <a:defRPr/>
                </a:pPr>
                <a:r>
                  <a:rPr lang="es-ES" sz="1600" spc="-10" dirty="0">
                    <a:solidFill>
                      <a:srgbClr val="262626"/>
                    </a:solidFill>
                    <a:latin typeface="Calibri" panose="020F0502020204030204" pitchFamily="34" charset="0"/>
                    <a:cs typeface="Calibri" panose="020F0502020204030204" pitchFamily="34" charset="0"/>
                  </a:rPr>
                  <a:t>SX = desviación estándar</a:t>
                </a:r>
              </a:p>
              <a:p>
                <a:pPr marL="11725" algn="just">
                  <a:spcAft>
                    <a:spcPts val="600"/>
                  </a:spcAft>
                  <a:buSzPct val="100000"/>
                  <a:tabLst>
                    <a:tab pos="121285" algn="l"/>
                  </a:tabLst>
                  <a:defRPr/>
                </a:pPr>
                <a14:m>
                  <m:oMath xmlns:m="http://schemas.openxmlformats.org/officeDocument/2006/math">
                    <m:sSup>
                      <m:sSupPr>
                        <m:ctrlPr>
                          <a:rPr lang="es-ES" sz="1600" i="1" spc="-10">
                            <a:solidFill>
                              <a:srgbClr val="262626"/>
                            </a:solidFill>
                            <a:latin typeface="Cambria Math" panose="02040503050406030204" pitchFamily="18" charset="0"/>
                            <a:cs typeface="Calibri" panose="020F0502020204030204" pitchFamily="34" charset="0"/>
                          </a:rPr>
                        </m:ctrlPr>
                      </m:sSupPr>
                      <m:e>
                        <m:r>
                          <a:rPr lang="es-PE" sz="1600" i="1" spc="-10">
                            <a:solidFill>
                              <a:srgbClr val="262626"/>
                            </a:solidFill>
                            <a:latin typeface="Cambria Math" panose="02040503050406030204" pitchFamily="18" charset="0"/>
                            <a:cs typeface="Calibri" panose="020F0502020204030204" pitchFamily="34" charset="0"/>
                          </a:rPr>
                          <m:t>𝑆</m:t>
                        </m:r>
                      </m:e>
                      <m:sup>
                        <m:r>
                          <a:rPr lang="es-PE" sz="1600" i="1" spc="-10">
                            <a:solidFill>
                              <a:srgbClr val="262626"/>
                            </a:solidFill>
                            <a:latin typeface="Cambria Math" panose="02040503050406030204" pitchFamily="18" charset="0"/>
                            <a:cs typeface="Calibri" panose="020F0502020204030204" pitchFamily="34" charset="0"/>
                          </a:rPr>
                          <m:t>2</m:t>
                        </m:r>
                      </m:sup>
                    </m:sSup>
                    <m:r>
                      <a:rPr lang="es-PE" sz="1600" i="1" spc="-10">
                        <a:solidFill>
                          <a:srgbClr val="262626"/>
                        </a:solidFill>
                        <a:latin typeface="Cambria Math" panose="02040503050406030204" pitchFamily="18" charset="0"/>
                        <a:cs typeface="Calibri" panose="020F0502020204030204" pitchFamily="34" charset="0"/>
                      </a:rPr>
                      <m:t>=</m:t>
                    </m:r>
                  </m:oMath>
                </a14:m>
                <a:r>
                  <a:rPr lang="es-ES" sz="1600" spc="-10" dirty="0">
                    <a:solidFill>
                      <a:srgbClr val="262626"/>
                    </a:solidFill>
                    <a:latin typeface="Calibri" panose="020F0502020204030204" pitchFamily="34" charset="0"/>
                    <a:cs typeface="Calibri" panose="020F0502020204030204" pitchFamily="34" charset="0"/>
                  </a:rPr>
                  <a:t> varianza muestral</a:t>
                </a:r>
              </a:p>
            </p:txBody>
          </p:sp>
        </mc:Choice>
        <mc:Fallback xmlns="">
          <p:sp>
            <p:nvSpPr>
              <p:cNvPr id="3" name="object 7"/>
              <p:cNvSpPr txBox="1">
                <a:spLocks noRot="1" noChangeAspect="1" noMove="1" noResize="1" noEditPoints="1" noAdjustHandles="1" noChangeArrowheads="1" noChangeShapeType="1" noTextEdit="1"/>
              </p:cNvSpPr>
              <p:nvPr/>
            </p:nvSpPr>
            <p:spPr>
              <a:xfrm>
                <a:off x="506796" y="863288"/>
                <a:ext cx="3560379" cy="4123436"/>
              </a:xfrm>
              <a:prstGeom prst="rect">
                <a:avLst/>
              </a:prstGeom>
              <a:blipFill>
                <a:blip r:embed="rId3"/>
                <a:stretch>
                  <a:fillRect l="-3082" t="-1627" r="-3082" b="-2071"/>
                </a:stretch>
              </a:blipFill>
            </p:spPr>
            <p:txBody>
              <a:bodyPr/>
              <a:lstStyle/>
              <a:p>
                <a:r>
                  <a:rPr lang="es-PE">
                    <a:noFill/>
                  </a:rPr>
                  <a:t> </a:t>
                </a:r>
              </a:p>
            </p:txBody>
          </p:sp>
        </mc:Fallback>
      </mc:AlternateContent>
      <p:pic>
        <p:nvPicPr>
          <p:cNvPr id="4" name="Imagen 3"/>
          <p:cNvPicPr>
            <a:picLocks noChangeAspect="1"/>
          </p:cNvPicPr>
          <p:nvPr/>
        </p:nvPicPr>
        <p:blipFill rotWithShape="1">
          <a:blip r:embed="rId4"/>
          <a:srcRect l="31264" r="17508"/>
          <a:stretch/>
        </p:blipFill>
        <p:spPr>
          <a:xfrm>
            <a:off x="4752474" y="0"/>
            <a:ext cx="4391526" cy="5715000"/>
          </a:xfrm>
          <a:prstGeom prst="rect">
            <a:avLst/>
          </a:prstGeom>
        </p:spPr>
      </p:pic>
      <p:sp>
        <p:nvSpPr>
          <p:cNvPr id="5" name="Rectangle 5">
            <a:extLst>
              <a:ext uri="{FF2B5EF4-FFF2-40B4-BE49-F238E27FC236}">
                <a16:creationId xmlns:a16="http://schemas.microsoft.com/office/drawing/2014/main" id="{2C6D531F-B0AA-4F8D-9650-99EA5D5064CB}"/>
              </a:ext>
            </a:extLst>
          </p:cNvPr>
          <p:cNvSpPr/>
          <p:nvPr/>
        </p:nvSpPr>
        <p:spPr>
          <a:xfrm>
            <a:off x="503237" y="380615"/>
            <a:ext cx="3547767"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MX" sz="1000" dirty="0">
                <a:solidFill>
                  <a:schemeClr val="bg1">
                    <a:lumMod val="65000"/>
                  </a:schemeClr>
                </a:solidFill>
                <a:latin typeface="Calibri" charset="0"/>
                <a:ea typeface="Calibri" charset="0"/>
                <a:cs typeface="Calibri" charset="0"/>
              </a:rPr>
              <a:t>MEDIDAS DE DISPERSIÓN: VARIANZA, DESVIACIÓN ESTÁNDAR</a:t>
            </a:r>
          </a:p>
        </p:txBody>
      </p:sp>
    </p:spTree>
    <p:extLst>
      <p:ext uri="{BB962C8B-B14F-4D97-AF65-F5344CB8AC3E}">
        <p14:creationId xmlns:p14="http://schemas.microsoft.com/office/powerpoint/2010/main" val="1678068336"/>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ángulo 6">
            <a:extLst>
              <a:ext uri="{FF2B5EF4-FFF2-40B4-BE49-F238E27FC236}">
                <a16:creationId xmlns:a16="http://schemas.microsoft.com/office/drawing/2014/main" id="{0623D616-F2F5-45CA-AA39-35B24EB38A56}"/>
              </a:ext>
            </a:extLst>
          </p:cNvPr>
          <p:cNvSpPr/>
          <p:nvPr/>
        </p:nvSpPr>
        <p:spPr>
          <a:xfrm>
            <a:off x="1293779" y="1614791"/>
            <a:ext cx="2869659" cy="758758"/>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solidFill>
                <a:srgbClr val="7150A0"/>
              </a:solidFill>
            </a:endParaRPr>
          </a:p>
        </p:txBody>
      </p:sp>
      <mc:AlternateContent xmlns:mc="http://schemas.openxmlformats.org/markup-compatibility/2006" xmlns:a14="http://schemas.microsoft.com/office/drawing/2010/main">
        <mc:Choice Requires="a14">
          <p:sp>
            <p:nvSpPr>
              <p:cNvPr id="3" name="object 7"/>
              <p:cNvSpPr txBox="1"/>
              <p:nvPr/>
            </p:nvSpPr>
            <p:spPr>
              <a:xfrm>
                <a:off x="506796" y="863288"/>
                <a:ext cx="4395944" cy="1891095"/>
              </a:xfrm>
              <a:prstGeom prst="rect">
                <a:avLst/>
              </a:prstGeom>
            </p:spPr>
            <p:txBody>
              <a:bodyPr vert="horz" wrap="square" lIns="0" tIns="0" rIns="0" bIns="0" rtlCol="0">
                <a:spAutoFit/>
              </a:bodyPr>
              <a:lstStyle/>
              <a:p>
                <a:pPr marL="11725">
                  <a:spcAft>
                    <a:spcPts val="600"/>
                  </a:spcAft>
                  <a:buSzPct val="100000"/>
                  <a:tabLst>
                    <a:tab pos="121285" algn="l"/>
                  </a:tabLst>
                  <a:defRPr/>
                </a:pPr>
                <a:r>
                  <a:rPr lang="es-PE" sz="1600" b="1" dirty="0">
                    <a:latin typeface="Calibri" charset="0"/>
                    <a:ea typeface="Calibri" charset="0"/>
                    <a:cs typeface="Calibri" charset="0"/>
                  </a:rPr>
                  <a:t>DESVIACIÓN ESTÁNDAR</a:t>
                </a:r>
              </a:p>
              <a:p>
                <a:pPr marL="11725" algn="just">
                  <a:spcAft>
                    <a:spcPts val="600"/>
                  </a:spcAft>
                  <a:buSzPct val="100000"/>
                  <a:tabLst>
                    <a:tab pos="121285" algn="l"/>
                  </a:tabLst>
                  <a:defRPr/>
                </a:pPr>
                <a:r>
                  <a:rPr lang="es-ES" sz="1600" spc="-10" dirty="0">
                    <a:solidFill>
                      <a:srgbClr val="262626"/>
                    </a:solidFill>
                    <a:latin typeface="Calibri" panose="020F0502020204030204" pitchFamily="34" charset="0"/>
                    <a:cs typeface="Calibri" panose="020F0502020204030204" pitchFamily="34" charset="0"/>
                  </a:rPr>
                  <a:t>A partir del ejemplo anterior: </a:t>
                </a:r>
              </a:p>
              <a:p>
                <a:pPr marL="11725" algn="just">
                  <a:spcAft>
                    <a:spcPts val="600"/>
                  </a:spcAft>
                  <a:buSzPct val="100000"/>
                  <a:tabLst>
                    <a:tab pos="121285" algn="l"/>
                  </a:tabLst>
                  <a:defRPr/>
                </a:pPr>
                <a:endParaRPr lang="es-ES" sz="1600" spc="-10" dirty="0">
                  <a:solidFill>
                    <a:srgbClr val="262626"/>
                  </a:solidFill>
                  <a:latin typeface="Calibri" panose="020F0502020204030204" pitchFamily="34" charset="0"/>
                  <a:cs typeface="Calibri" panose="020F0502020204030204" pitchFamily="34" charset="0"/>
                </a:endParaRPr>
              </a:p>
              <a:p>
                <a:pPr marL="11725" algn="just">
                  <a:spcAft>
                    <a:spcPts val="600"/>
                  </a:spcAft>
                  <a:buSzPct val="100000"/>
                  <a:tabLst>
                    <a:tab pos="121285" algn="l"/>
                  </a:tabLst>
                  <a:defRPr/>
                </a:pPr>
                <a14:m>
                  <m:oMathPara xmlns:m="http://schemas.openxmlformats.org/officeDocument/2006/math">
                    <m:oMathParaPr>
                      <m:jc m:val="centerGroup"/>
                    </m:oMathParaPr>
                    <m:oMath xmlns:m="http://schemas.openxmlformats.org/officeDocument/2006/math">
                      <m:r>
                        <a:rPr lang="es-PE" sz="1600" b="0" i="1" spc="-10" smtClean="0">
                          <a:solidFill>
                            <a:srgbClr val="262626"/>
                          </a:solidFill>
                          <a:latin typeface="Cambria Math" panose="02040503050406030204" pitchFamily="18" charset="0"/>
                          <a:cs typeface="Calibri" panose="020F0502020204030204" pitchFamily="34" charset="0"/>
                        </a:rPr>
                        <m:t>𝑆𝑋</m:t>
                      </m:r>
                      <m:r>
                        <a:rPr lang="es-PE" sz="1600" b="0" i="1" spc="-10" smtClean="0">
                          <a:solidFill>
                            <a:srgbClr val="262626"/>
                          </a:solidFill>
                          <a:latin typeface="Cambria Math" panose="02040503050406030204" pitchFamily="18" charset="0"/>
                          <a:cs typeface="Calibri" panose="020F0502020204030204" pitchFamily="34" charset="0"/>
                        </a:rPr>
                        <m:t>= </m:t>
                      </m:r>
                      <m:rad>
                        <m:radPr>
                          <m:degHide m:val="on"/>
                          <m:ctrlPr>
                            <a:rPr lang="es-PE" sz="1600" b="0" i="1" spc="-10" smtClean="0">
                              <a:solidFill>
                                <a:srgbClr val="262626"/>
                              </a:solidFill>
                              <a:latin typeface="Cambria Math" panose="02040503050406030204" pitchFamily="18" charset="0"/>
                              <a:cs typeface="Calibri" panose="020F0502020204030204" pitchFamily="34" charset="0"/>
                            </a:rPr>
                          </m:ctrlPr>
                        </m:radPr>
                        <m:deg/>
                        <m:e>
                          <m:r>
                            <a:rPr lang="es-PE" sz="1600" b="0" i="1" spc="-10" smtClean="0">
                              <a:solidFill>
                                <a:srgbClr val="262626"/>
                              </a:solidFill>
                              <a:latin typeface="Cambria Math" panose="02040503050406030204" pitchFamily="18" charset="0"/>
                              <a:cs typeface="Calibri" panose="020F0502020204030204" pitchFamily="34" charset="0"/>
                            </a:rPr>
                            <m:t>2 </m:t>
                          </m:r>
                        </m:e>
                      </m:rad>
                      <m:r>
                        <a:rPr lang="es-PE" sz="1600" b="0" i="1" spc="-10" smtClean="0">
                          <a:solidFill>
                            <a:srgbClr val="262626"/>
                          </a:solidFill>
                          <a:latin typeface="Cambria Math" panose="02040503050406030204" pitchFamily="18" charset="0"/>
                          <a:cs typeface="Calibri" panose="020F0502020204030204" pitchFamily="34" charset="0"/>
                        </a:rPr>
                        <m:t>=1.41</m:t>
                      </m:r>
                    </m:oMath>
                  </m:oMathPara>
                </a14:m>
                <a:endParaRPr lang="es-ES" sz="1600" spc="-10" dirty="0">
                  <a:solidFill>
                    <a:srgbClr val="262626"/>
                  </a:solidFill>
                  <a:latin typeface="Calibri" panose="020F0502020204030204" pitchFamily="34" charset="0"/>
                  <a:cs typeface="Calibri" panose="020F0502020204030204" pitchFamily="34" charset="0"/>
                </a:endParaRPr>
              </a:p>
              <a:p>
                <a:pPr marL="11725" algn="just">
                  <a:spcAft>
                    <a:spcPts val="600"/>
                  </a:spcAft>
                  <a:buSzPct val="100000"/>
                  <a:tabLst>
                    <a:tab pos="121285" algn="l"/>
                  </a:tabLst>
                  <a:defRPr/>
                </a:pPr>
                <a:endParaRPr lang="es-ES" sz="1600" spc="-10" dirty="0">
                  <a:solidFill>
                    <a:srgbClr val="262626"/>
                  </a:solidFill>
                  <a:latin typeface="Calibri" panose="020F0502020204030204" pitchFamily="34" charset="0"/>
                  <a:cs typeface="Calibri" panose="020F0502020204030204" pitchFamily="34" charset="0"/>
                </a:endParaRPr>
              </a:p>
              <a:p>
                <a:pPr marL="11725" algn="just">
                  <a:spcAft>
                    <a:spcPts val="600"/>
                  </a:spcAft>
                  <a:buSzPct val="100000"/>
                  <a:tabLst>
                    <a:tab pos="121285" algn="l"/>
                  </a:tabLst>
                  <a:defRPr/>
                </a:pPr>
                <a:r>
                  <a:rPr lang="es-ES" sz="1600" spc="-10" dirty="0">
                    <a:solidFill>
                      <a:srgbClr val="262626"/>
                    </a:solidFill>
                    <a:latin typeface="Calibri" panose="020F0502020204030204" pitchFamily="34" charset="0"/>
                    <a:cs typeface="Calibri" panose="020F0502020204030204" pitchFamily="34" charset="0"/>
                  </a:rPr>
                  <a:t>Este resultado significa que:</a:t>
                </a:r>
              </a:p>
            </p:txBody>
          </p:sp>
        </mc:Choice>
        <mc:Fallback xmlns="">
          <p:sp>
            <p:nvSpPr>
              <p:cNvPr id="3" name="object 7"/>
              <p:cNvSpPr txBox="1">
                <a:spLocks noRot="1" noChangeAspect="1" noMove="1" noResize="1" noEditPoints="1" noAdjustHandles="1" noChangeArrowheads="1" noChangeShapeType="1" noTextEdit="1"/>
              </p:cNvSpPr>
              <p:nvPr/>
            </p:nvSpPr>
            <p:spPr>
              <a:xfrm>
                <a:off x="506796" y="863288"/>
                <a:ext cx="4395944" cy="1891095"/>
              </a:xfrm>
              <a:prstGeom prst="rect">
                <a:avLst/>
              </a:prstGeom>
              <a:blipFill>
                <a:blip r:embed="rId3"/>
                <a:stretch>
                  <a:fillRect l="-2497" t="-3548" b="-5484"/>
                </a:stretch>
              </a:blipFill>
            </p:spPr>
            <p:txBody>
              <a:bodyPr/>
              <a:lstStyle/>
              <a:p>
                <a:r>
                  <a:rPr lang="es-PE">
                    <a:noFill/>
                  </a:rPr>
                  <a:t> </a:t>
                </a:r>
              </a:p>
            </p:txBody>
          </p:sp>
        </mc:Fallback>
      </mc:AlternateContent>
      <p:sp>
        <p:nvSpPr>
          <p:cNvPr id="6" name="Rectangle 5">
            <a:extLst>
              <a:ext uri="{FF2B5EF4-FFF2-40B4-BE49-F238E27FC236}">
                <a16:creationId xmlns:a16="http://schemas.microsoft.com/office/drawing/2014/main" id="{DBE32C96-F51D-45D8-8A51-011E06FCFB14}"/>
              </a:ext>
            </a:extLst>
          </p:cNvPr>
          <p:cNvSpPr/>
          <p:nvPr/>
        </p:nvSpPr>
        <p:spPr>
          <a:xfrm>
            <a:off x="503237" y="380615"/>
            <a:ext cx="3547767"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MX" sz="1000" dirty="0">
                <a:solidFill>
                  <a:schemeClr val="bg1">
                    <a:lumMod val="65000"/>
                  </a:schemeClr>
                </a:solidFill>
                <a:latin typeface="Calibri" charset="0"/>
                <a:ea typeface="Calibri" charset="0"/>
                <a:cs typeface="Calibri" charset="0"/>
              </a:rPr>
              <a:t>MEDIDAS DE DISPERSIÓN: VARIANZA, DESVIACIÓN ESTÁNDAR</a:t>
            </a:r>
          </a:p>
        </p:txBody>
      </p:sp>
      <p:sp>
        <p:nvSpPr>
          <p:cNvPr id="9" name="Rectángulo redondeado 43">
            <a:extLst>
              <a:ext uri="{FF2B5EF4-FFF2-40B4-BE49-F238E27FC236}">
                <a16:creationId xmlns:a16="http://schemas.microsoft.com/office/drawing/2014/main" id="{9B82C5ED-F9EB-42E8-9C11-5B0EF99B24A9}"/>
              </a:ext>
            </a:extLst>
          </p:cNvPr>
          <p:cNvSpPr/>
          <p:nvPr/>
        </p:nvSpPr>
        <p:spPr>
          <a:xfrm>
            <a:off x="4796046" y="2820045"/>
            <a:ext cx="1973019" cy="2097328"/>
          </a:xfrm>
          <a:prstGeom prst="roundRect">
            <a:avLst>
              <a:gd name="adj" fmla="val 7402"/>
            </a:avLst>
          </a:prstGeom>
          <a:solidFill>
            <a:srgbClr val="EE4639"/>
          </a:solidFill>
          <a:ln>
            <a:noFill/>
          </a:ln>
        </p:spPr>
        <p:style>
          <a:lnRef idx="2">
            <a:schemeClr val="accent1">
              <a:shade val="50000"/>
            </a:schemeClr>
          </a:lnRef>
          <a:fillRef idx="1">
            <a:schemeClr val="accent1"/>
          </a:fillRef>
          <a:effectRef idx="0">
            <a:schemeClr val="accent1"/>
          </a:effectRef>
          <a:fontRef idx="minor">
            <a:schemeClr val="lt1"/>
          </a:fontRef>
        </p:style>
        <p:txBody>
          <a:bodyPr lIns="251999" tIns="144000" rIns="0" rtlCol="0" anchor="t"/>
          <a:lstStyle/>
          <a:p>
            <a:pPr marL="4763" lvl="0" defTabSz="666750">
              <a:lnSpc>
                <a:spcPct val="90000"/>
              </a:lnSpc>
              <a:spcAft>
                <a:spcPts val="1200"/>
              </a:spcAft>
              <a:buClr>
                <a:schemeClr val="bg1"/>
              </a:buClr>
            </a:pPr>
            <a:r>
              <a:rPr lang="es-MX" sz="1400" dirty="0">
                <a:solidFill>
                  <a:schemeClr val="bg1"/>
                </a:solidFill>
                <a:latin typeface="Calibri" charset="0"/>
                <a:ea typeface="Calibri" charset="0"/>
                <a:cs typeface="Calibri" charset="0"/>
              </a:rPr>
              <a:t>En términos prácticos, indica que las ventas son bastante estables, ya que las variaciones semanales son pequeñas.</a:t>
            </a:r>
          </a:p>
        </p:txBody>
      </p:sp>
      <p:sp>
        <p:nvSpPr>
          <p:cNvPr id="10" name="Elipse 9">
            <a:extLst>
              <a:ext uri="{FF2B5EF4-FFF2-40B4-BE49-F238E27FC236}">
                <a16:creationId xmlns:a16="http://schemas.microsoft.com/office/drawing/2014/main" id="{850A2347-5054-46CC-81CB-08B6DCBE4D0D}"/>
              </a:ext>
            </a:extLst>
          </p:cNvPr>
          <p:cNvSpPr/>
          <p:nvPr/>
        </p:nvSpPr>
        <p:spPr>
          <a:xfrm>
            <a:off x="4647358" y="3682941"/>
            <a:ext cx="395709" cy="376075"/>
          </a:xfrm>
          <a:prstGeom prst="ellipse">
            <a:avLst/>
          </a:prstGeom>
          <a:solidFill>
            <a:srgbClr val="C73A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
        <p:nvSpPr>
          <p:cNvPr id="11" name="Elipse 10">
            <a:extLst>
              <a:ext uri="{FF2B5EF4-FFF2-40B4-BE49-F238E27FC236}">
                <a16:creationId xmlns:a16="http://schemas.microsoft.com/office/drawing/2014/main" id="{8965D9EB-005E-4627-8942-3D711D99A9E5}"/>
              </a:ext>
            </a:extLst>
          </p:cNvPr>
          <p:cNvSpPr/>
          <p:nvPr/>
        </p:nvSpPr>
        <p:spPr>
          <a:xfrm>
            <a:off x="4583593" y="3669067"/>
            <a:ext cx="424906" cy="40382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
        <p:nvSpPr>
          <p:cNvPr id="12" name="Triángulo 46">
            <a:extLst>
              <a:ext uri="{FF2B5EF4-FFF2-40B4-BE49-F238E27FC236}">
                <a16:creationId xmlns:a16="http://schemas.microsoft.com/office/drawing/2014/main" id="{E93ADA39-39B7-4D60-814F-ED2388A269D7}"/>
              </a:ext>
            </a:extLst>
          </p:cNvPr>
          <p:cNvSpPr/>
          <p:nvPr/>
        </p:nvSpPr>
        <p:spPr>
          <a:xfrm rot="5400000">
            <a:off x="4767365" y="3809788"/>
            <a:ext cx="186870" cy="122381"/>
          </a:xfrm>
          <a:prstGeom prst="triangle">
            <a:avLst/>
          </a:prstGeom>
          <a:solidFill>
            <a:srgbClr val="EE46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
        <p:nvSpPr>
          <p:cNvPr id="13" name="Rectángulo redondeado 39">
            <a:extLst>
              <a:ext uri="{FF2B5EF4-FFF2-40B4-BE49-F238E27FC236}">
                <a16:creationId xmlns:a16="http://schemas.microsoft.com/office/drawing/2014/main" id="{1EA4C571-62CF-4BEE-9CC2-6421D74B9BCB}"/>
              </a:ext>
            </a:extLst>
          </p:cNvPr>
          <p:cNvSpPr/>
          <p:nvPr/>
        </p:nvSpPr>
        <p:spPr>
          <a:xfrm>
            <a:off x="2734362" y="2820045"/>
            <a:ext cx="1973019" cy="2097328"/>
          </a:xfrm>
          <a:prstGeom prst="roundRect">
            <a:avLst>
              <a:gd name="adj" fmla="val 7402"/>
            </a:avLst>
          </a:prstGeom>
          <a:solidFill>
            <a:srgbClr val="EE4639"/>
          </a:solidFill>
          <a:ln>
            <a:noFill/>
          </a:ln>
        </p:spPr>
        <p:style>
          <a:lnRef idx="2">
            <a:schemeClr val="accent1">
              <a:shade val="50000"/>
            </a:schemeClr>
          </a:lnRef>
          <a:fillRef idx="1">
            <a:schemeClr val="accent1"/>
          </a:fillRef>
          <a:effectRef idx="0">
            <a:schemeClr val="accent1"/>
          </a:effectRef>
          <a:fontRef idx="minor">
            <a:schemeClr val="lt1"/>
          </a:fontRef>
        </p:style>
        <p:txBody>
          <a:bodyPr lIns="251999" tIns="144000" rIns="0" rtlCol="0" anchor="t"/>
          <a:lstStyle/>
          <a:p>
            <a:pPr marL="4763" lvl="0" defTabSz="666750">
              <a:lnSpc>
                <a:spcPct val="90000"/>
              </a:lnSpc>
              <a:spcAft>
                <a:spcPts val="1200"/>
              </a:spcAft>
              <a:buClr>
                <a:schemeClr val="bg1"/>
              </a:buClr>
            </a:pPr>
            <a:r>
              <a:rPr lang="es-MX" sz="1400" dirty="0">
                <a:solidFill>
                  <a:schemeClr val="bg1"/>
                </a:solidFill>
                <a:latin typeface="Calibri" charset="0"/>
                <a:ea typeface="Calibri" charset="0"/>
                <a:cs typeface="Calibri" charset="0"/>
              </a:rPr>
              <a:t>La desviación estándar es 1.41, lo que significa que las ventas semanales se desvían, en promedio, 1.41 miles de soles respecto al promedio de 10.</a:t>
            </a:r>
          </a:p>
        </p:txBody>
      </p:sp>
      <p:sp>
        <p:nvSpPr>
          <p:cNvPr id="14" name="Elipse 13">
            <a:extLst>
              <a:ext uri="{FF2B5EF4-FFF2-40B4-BE49-F238E27FC236}">
                <a16:creationId xmlns:a16="http://schemas.microsoft.com/office/drawing/2014/main" id="{0188837D-F19E-4E51-9257-033DEA62F86C}"/>
              </a:ext>
            </a:extLst>
          </p:cNvPr>
          <p:cNvSpPr/>
          <p:nvPr/>
        </p:nvSpPr>
        <p:spPr>
          <a:xfrm>
            <a:off x="2590059" y="3682941"/>
            <a:ext cx="395709" cy="376075"/>
          </a:xfrm>
          <a:prstGeom prst="ellipse">
            <a:avLst/>
          </a:prstGeom>
          <a:solidFill>
            <a:srgbClr val="C73A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
        <p:nvSpPr>
          <p:cNvPr id="15" name="Elipse 14">
            <a:extLst>
              <a:ext uri="{FF2B5EF4-FFF2-40B4-BE49-F238E27FC236}">
                <a16:creationId xmlns:a16="http://schemas.microsoft.com/office/drawing/2014/main" id="{55CFFAD4-F491-4DCB-9861-9EB023A3E17D}"/>
              </a:ext>
            </a:extLst>
          </p:cNvPr>
          <p:cNvSpPr/>
          <p:nvPr/>
        </p:nvSpPr>
        <p:spPr>
          <a:xfrm>
            <a:off x="2526293" y="3669067"/>
            <a:ext cx="424906" cy="40382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
        <p:nvSpPr>
          <p:cNvPr id="16" name="Triángulo 42">
            <a:extLst>
              <a:ext uri="{FF2B5EF4-FFF2-40B4-BE49-F238E27FC236}">
                <a16:creationId xmlns:a16="http://schemas.microsoft.com/office/drawing/2014/main" id="{730459FB-F15C-404B-AD64-333BC39FB72C}"/>
              </a:ext>
            </a:extLst>
          </p:cNvPr>
          <p:cNvSpPr/>
          <p:nvPr/>
        </p:nvSpPr>
        <p:spPr>
          <a:xfrm rot="5400000">
            <a:off x="2710066" y="3809788"/>
            <a:ext cx="186870" cy="122381"/>
          </a:xfrm>
          <a:prstGeom prst="triangle">
            <a:avLst/>
          </a:prstGeom>
          <a:solidFill>
            <a:srgbClr val="EE46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Tree>
    <p:extLst>
      <p:ext uri="{BB962C8B-B14F-4D97-AF65-F5344CB8AC3E}">
        <p14:creationId xmlns:p14="http://schemas.microsoft.com/office/powerpoint/2010/main" val="2920567558"/>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ángulo 9"/>
          <p:cNvSpPr/>
          <p:nvPr/>
        </p:nvSpPr>
        <p:spPr>
          <a:xfrm>
            <a:off x="0" y="0"/>
            <a:ext cx="9144000" cy="5715000"/>
          </a:xfrm>
          <a:prstGeom prst="rect">
            <a:avLst/>
          </a:prstGeom>
          <a:solidFill>
            <a:srgbClr val="8087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sp>
        <p:nvSpPr>
          <p:cNvPr id="18" name="CuadroTexto 17">
            <a:extLst>
              <a:ext uri="{FF2B5EF4-FFF2-40B4-BE49-F238E27FC236}">
                <a16:creationId xmlns:a16="http://schemas.microsoft.com/office/drawing/2014/main" id="{F58EABDC-EE9F-6D4B-8493-73E3A05BE100}"/>
              </a:ext>
            </a:extLst>
          </p:cNvPr>
          <p:cNvSpPr txBox="1"/>
          <p:nvPr/>
        </p:nvSpPr>
        <p:spPr>
          <a:xfrm>
            <a:off x="1008063" y="3169972"/>
            <a:ext cx="5993558" cy="997196"/>
          </a:xfrm>
          <a:prstGeom prst="rect">
            <a:avLst/>
          </a:prstGeom>
          <a:noFill/>
        </p:spPr>
        <p:txBody>
          <a:bodyPr wrap="square" lIns="0" tIns="0" rIns="0" bIns="0" rtlCol="0">
            <a:spAutoFit/>
          </a:bodyPr>
          <a:lstStyle/>
          <a:p>
            <a:pPr>
              <a:lnSpc>
                <a:spcPct val="90000"/>
              </a:lnSpc>
              <a:spcBef>
                <a:spcPts val="1000"/>
              </a:spcBef>
              <a:defRPr/>
            </a:pPr>
            <a:r>
              <a:rPr lang="es-PE" sz="2400" dirty="0">
                <a:solidFill>
                  <a:schemeClr val="bg1"/>
                </a:solidFill>
                <a:latin typeface="Graphik Regular" charset="0"/>
                <a:ea typeface="Graphik Regular" charset="0"/>
                <a:cs typeface="Graphik Regular" charset="0"/>
              </a:rPr>
              <a:t>REPRESENTACIÓN GRÁFICA:</a:t>
            </a:r>
            <a:br>
              <a:rPr lang="es-PE" sz="2400" dirty="0">
                <a:solidFill>
                  <a:schemeClr val="bg1"/>
                </a:solidFill>
                <a:latin typeface="Graphik Regular" charset="0"/>
              </a:rPr>
            </a:br>
            <a:r>
              <a:rPr lang="es-PE" sz="2400" b="1" dirty="0">
                <a:solidFill>
                  <a:schemeClr val="bg1"/>
                </a:solidFill>
                <a:latin typeface="Graphik Bold" charset="0"/>
              </a:rPr>
              <a:t>HISTOGRAMAS,</a:t>
            </a:r>
            <a:br>
              <a:rPr lang="es-PE" sz="2400" dirty="0">
                <a:solidFill>
                  <a:schemeClr val="bg1"/>
                </a:solidFill>
                <a:latin typeface="Graphik Regular" charset="0"/>
              </a:rPr>
            </a:br>
            <a:r>
              <a:rPr lang="es-PE" sz="2400" b="1" dirty="0">
                <a:solidFill>
                  <a:schemeClr val="bg1"/>
                </a:solidFill>
                <a:latin typeface="Graphik Bold" charset="0"/>
                <a:ea typeface="Graphik Bold" charset="0"/>
                <a:cs typeface="Graphik Bold" charset="0"/>
              </a:rPr>
              <a:t>DIAGRAMAS DE CAJA</a:t>
            </a:r>
          </a:p>
        </p:txBody>
      </p:sp>
      <p:pic>
        <p:nvPicPr>
          <p:cNvPr id="19" name="Imagen 18">
            <a:extLst>
              <a:ext uri="{FF2B5EF4-FFF2-40B4-BE49-F238E27FC236}">
                <a16:creationId xmlns:a16="http://schemas.microsoft.com/office/drawing/2014/main" id="{2E011318-DF6A-E443-82C0-13421C5F2D5E}"/>
              </a:ext>
            </a:extLst>
          </p:cNvPr>
          <p:cNvPicPr>
            <a:picLocks noChangeAspect="1"/>
          </p:cNvPicPr>
          <p:nvPr/>
        </p:nvPicPr>
        <p:blipFill>
          <a:blip r:embed="rId3"/>
          <a:stretch>
            <a:fillRect/>
          </a:stretch>
        </p:blipFill>
        <p:spPr>
          <a:xfrm>
            <a:off x="1008063" y="2869612"/>
            <a:ext cx="195423" cy="201256"/>
          </a:xfrm>
          <a:prstGeom prst="rect">
            <a:avLst/>
          </a:prstGeom>
        </p:spPr>
      </p:pic>
    </p:spTree>
    <p:extLst>
      <p:ext uri="{BB962C8B-B14F-4D97-AF65-F5344CB8AC3E}">
        <p14:creationId xmlns:p14="http://schemas.microsoft.com/office/powerpoint/2010/main" val="1349252262"/>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7"/>
          <p:cNvSpPr txBox="1"/>
          <p:nvPr/>
        </p:nvSpPr>
        <p:spPr>
          <a:xfrm>
            <a:off x="506796" y="918372"/>
            <a:ext cx="4065204" cy="4185761"/>
          </a:xfrm>
          <a:prstGeom prst="rect">
            <a:avLst/>
          </a:prstGeom>
        </p:spPr>
        <p:txBody>
          <a:bodyPr vert="horz" wrap="square" lIns="0" tIns="0" rIns="0" bIns="0" rtlCol="0">
            <a:spAutoFit/>
          </a:bodyPr>
          <a:lstStyle/>
          <a:p>
            <a:pPr marL="11725" algn="just">
              <a:buSzPct val="100000"/>
              <a:tabLst>
                <a:tab pos="121285" algn="l"/>
              </a:tabLst>
              <a:defRPr/>
            </a:pPr>
            <a:r>
              <a:rPr lang="es-ES" sz="1600" b="1" spc="-10" dirty="0">
                <a:solidFill>
                  <a:srgbClr val="262626"/>
                </a:solidFill>
                <a:latin typeface="Calibri" charset="0"/>
                <a:ea typeface="Calibri" charset="0"/>
                <a:cs typeface="Calibri" charset="0"/>
              </a:rPr>
              <a:t>REPRESENTACIÓN GRÁFICA DE DATOS</a:t>
            </a:r>
          </a:p>
          <a:p>
            <a:pPr marL="297475" indent="-285750">
              <a:buSzPct val="100000"/>
              <a:buFont typeface="Arial" panose="020B0604020202020204" pitchFamily="34" charset="0"/>
              <a:buChar char="•"/>
              <a:tabLst>
                <a:tab pos="121285" algn="l"/>
              </a:tabLst>
              <a:defRPr/>
            </a:pPr>
            <a:endParaRPr lang="es-ES" sz="1600" spc="-10" dirty="0">
              <a:solidFill>
                <a:srgbClr val="262626"/>
              </a:solidFill>
              <a:latin typeface="Calibri" charset="0"/>
              <a:ea typeface="Calibri" charset="0"/>
              <a:cs typeface="Calibri" charset="0"/>
            </a:endParaRPr>
          </a:p>
          <a:p>
            <a:pPr marL="297475" indent="-285750">
              <a:buSzPct val="100000"/>
              <a:buFont typeface="Arial" panose="020B0604020202020204" pitchFamily="34" charset="0"/>
              <a:buChar char="•"/>
              <a:tabLst>
                <a:tab pos="121285" algn="l"/>
              </a:tabLst>
              <a:defRPr/>
            </a:pPr>
            <a:r>
              <a:rPr lang="es-ES" sz="1600" spc="-10" dirty="0">
                <a:solidFill>
                  <a:srgbClr val="262626"/>
                </a:solidFill>
                <a:latin typeface="Calibri" charset="0"/>
                <a:ea typeface="Calibri" charset="0"/>
                <a:cs typeface="Calibri" charset="0"/>
              </a:rPr>
              <a:t>Es una herramienta fundamental en estadística descriptiva, ya que permite visualizar y comunicar la información de manera clara, rápida y comprensible.</a:t>
            </a:r>
          </a:p>
          <a:p>
            <a:pPr marL="297475" indent="-285750">
              <a:buSzPct val="100000"/>
              <a:buFont typeface="Arial" panose="020B0604020202020204" pitchFamily="34" charset="0"/>
              <a:buChar char="•"/>
              <a:tabLst>
                <a:tab pos="121285" algn="l"/>
              </a:tabLst>
              <a:defRPr/>
            </a:pPr>
            <a:endParaRPr lang="es-ES" sz="1600" spc="-10" dirty="0">
              <a:solidFill>
                <a:srgbClr val="262626"/>
              </a:solidFill>
              <a:latin typeface="Calibri" charset="0"/>
              <a:ea typeface="Calibri" charset="0"/>
              <a:cs typeface="Calibri" charset="0"/>
            </a:endParaRPr>
          </a:p>
          <a:p>
            <a:pPr marL="297475" indent="-285750">
              <a:buSzPct val="100000"/>
              <a:buFont typeface="Arial" panose="020B0604020202020204" pitchFamily="34" charset="0"/>
              <a:buChar char="•"/>
              <a:tabLst>
                <a:tab pos="121285" algn="l"/>
              </a:tabLst>
              <a:defRPr/>
            </a:pPr>
            <a:r>
              <a:rPr lang="es-ES" sz="1600" spc="-10" dirty="0">
                <a:solidFill>
                  <a:srgbClr val="262626"/>
                </a:solidFill>
                <a:latin typeface="Calibri" charset="0"/>
                <a:ea typeface="Calibri" charset="0"/>
                <a:cs typeface="Calibri" charset="0"/>
              </a:rPr>
              <a:t>A través de los gráficos, podemos identificar tendencias, patrones, valores extremos y comportamientos inusuales que no siempre se perciben solo con números.</a:t>
            </a:r>
          </a:p>
          <a:p>
            <a:pPr marL="297475" indent="-285750">
              <a:buSzPct val="100000"/>
              <a:buFont typeface="Arial" panose="020B0604020202020204" pitchFamily="34" charset="0"/>
              <a:buChar char="•"/>
              <a:tabLst>
                <a:tab pos="121285" algn="l"/>
              </a:tabLst>
              <a:defRPr/>
            </a:pPr>
            <a:endParaRPr lang="es-ES" sz="1600" spc="-10" dirty="0">
              <a:solidFill>
                <a:srgbClr val="262626"/>
              </a:solidFill>
              <a:latin typeface="Calibri" charset="0"/>
              <a:ea typeface="Calibri" charset="0"/>
              <a:cs typeface="Calibri" charset="0"/>
            </a:endParaRPr>
          </a:p>
          <a:p>
            <a:pPr marL="297475" indent="-285750">
              <a:buSzPct val="100000"/>
              <a:buFont typeface="Arial" panose="020B0604020202020204" pitchFamily="34" charset="0"/>
              <a:buChar char="•"/>
              <a:tabLst>
                <a:tab pos="121285" algn="l"/>
              </a:tabLst>
              <a:defRPr/>
            </a:pPr>
            <a:r>
              <a:rPr lang="es-ES" sz="1600" spc="-10" dirty="0">
                <a:solidFill>
                  <a:srgbClr val="262626"/>
                </a:solidFill>
                <a:latin typeface="Calibri" charset="0"/>
                <a:ea typeface="Calibri" charset="0"/>
                <a:cs typeface="Calibri" charset="0"/>
              </a:rPr>
              <a:t>En el contexto profesional, las gráficas facilitan la toma de decisiones basada en datos, la comunicación de resultados a equipos no técnicos y la presentación de conclusiones ante directivos o clientes.</a:t>
            </a:r>
            <a:endParaRPr lang="es-PE" sz="1600" b="1" spc="-10" dirty="0">
              <a:solidFill>
                <a:srgbClr val="7150A0"/>
              </a:solidFill>
              <a:latin typeface="Calibri" charset="0"/>
              <a:ea typeface="Calibri" charset="0"/>
              <a:cs typeface="Calibri" charset="0"/>
            </a:endParaRPr>
          </a:p>
        </p:txBody>
      </p:sp>
      <p:sp>
        <p:nvSpPr>
          <p:cNvPr id="2" name="Rectangle 5">
            <a:extLst>
              <a:ext uri="{FF2B5EF4-FFF2-40B4-BE49-F238E27FC236}">
                <a16:creationId xmlns:a16="http://schemas.microsoft.com/office/drawing/2014/main" id="{8272143F-BD81-58C1-9C89-6E6265B064D2}"/>
              </a:ext>
            </a:extLst>
          </p:cNvPr>
          <p:cNvSpPr/>
          <p:nvPr/>
        </p:nvSpPr>
        <p:spPr>
          <a:xfrm>
            <a:off x="503237" y="380615"/>
            <a:ext cx="3560379"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charset="0"/>
                <a:ea typeface="Calibri" charset="0"/>
                <a:cs typeface="Calibri" charset="0"/>
              </a:rPr>
              <a:t>REPRESENTACIÓN GRÁFICA: HISTOGRAMAS, DIAGRAMAS DE CAJA</a:t>
            </a:r>
          </a:p>
        </p:txBody>
      </p:sp>
      <p:pic>
        <p:nvPicPr>
          <p:cNvPr id="5" name="Imagen 4"/>
          <p:cNvPicPr>
            <a:picLocks noChangeAspect="1"/>
          </p:cNvPicPr>
          <p:nvPr/>
        </p:nvPicPr>
        <p:blipFill rotWithShape="1">
          <a:blip r:embed="rId3"/>
          <a:srcRect l="25298" r="28052"/>
          <a:stretch/>
        </p:blipFill>
        <p:spPr>
          <a:xfrm>
            <a:off x="5411710" y="920960"/>
            <a:ext cx="3225494" cy="4183173"/>
          </a:xfrm>
          <a:prstGeom prst="rect">
            <a:avLst/>
          </a:prstGeom>
        </p:spPr>
      </p:pic>
    </p:spTree>
    <p:extLst>
      <p:ext uri="{BB962C8B-B14F-4D97-AF65-F5344CB8AC3E}">
        <p14:creationId xmlns:p14="http://schemas.microsoft.com/office/powerpoint/2010/main" val="1076877926"/>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7"/>
          <p:cNvSpPr txBox="1"/>
          <p:nvPr/>
        </p:nvSpPr>
        <p:spPr>
          <a:xfrm>
            <a:off x="506796" y="918372"/>
            <a:ext cx="4989332" cy="246221"/>
          </a:xfrm>
          <a:prstGeom prst="rect">
            <a:avLst/>
          </a:prstGeom>
        </p:spPr>
        <p:txBody>
          <a:bodyPr vert="horz" wrap="square" lIns="0" tIns="0" rIns="0" bIns="0" rtlCol="0">
            <a:spAutoFit/>
          </a:bodyPr>
          <a:lstStyle/>
          <a:p>
            <a:pPr marL="11725">
              <a:buSzPct val="100000"/>
              <a:tabLst>
                <a:tab pos="121285" algn="l"/>
              </a:tabLst>
              <a:defRPr/>
            </a:pPr>
            <a:r>
              <a:rPr lang="es-ES" sz="1600" b="1" spc="-10" dirty="0">
                <a:solidFill>
                  <a:srgbClr val="262626"/>
                </a:solidFill>
                <a:latin typeface="Calibri" charset="0"/>
                <a:ea typeface="Calibri" charset="0"/>
                <a:cs typeface="Calibri" charset="0"/>
              </a:rPr>
              <a:t>IMPORTANCIA EN DISTINTOS ÁMBITOS PROFESIONALES</a:t>
            </a:r>
          </a:p>
        </p:txBody>
      </p:sp>
      <p:sp>
        <p:nvSpPr>
          <p:cNvPr id="6" name="28 Flecha derecha">
            <a:extLst>
              <a:ext uri="{FF2B5EF4-FFF2-40B4-BE49-F238E27FC236}">
                <a16:creationId xmlns:a16="http://schemas.microsoft.com/office/drawing/2014/main" id="{950AEA71-7EB2-41E8-B111-D0E62453DD7A}"/>
              </a:ext>
            </a:extLst>
          </p:cNvPr>
          <p:cNvSpPr/>
          <p:nvPr/>
        </p:nvSpPr>
        <p:spPr>
          <a:xfrm>
            <a:off x="3382045" y="2226208"/>
            <a:ext cx="843086" cy="296706"/>
          </a:xfrm>
          <a:prstGeom prst="rightArrow">
            <a:avLst/>
          </a:prstGeom>
          <a:solidFill>
            <a:srgbClr val="DB423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s-PE" sz="1600" dirty="0">
              <a:latin typeface="Calibri" panose="020F0502020204030204" pitchFamily="34" charset="0"/>
            </a:endParaRPr>
          </a:p>
        </p:txBody>
      </p:sp>
      <p:sp>
        <p:nvSpPr>
          <p:cNvPr id="7" name="Rectángulo redondeado 14">
            <a:extLst>
              <a:ext uri="{FF2B5EF4-FFF2-40B4-BE49-F238E27FC236}">
                <a16:creationId xmlns:a16="http://schemas.microsoft.com/office/drawing/2014/main" id="{78756F03-E043-4D47-8118-C210435B3B10}"/>
              </a:ext>
            </a:extLst>
          </p:cNvPr>
          <p:cNvSpPr/>
          <p:nvPr/>
        </p:nvSpPr>
        <p:spPr>
          <a:xfrm>
            <a:off x="1943465" y="1452563"/>
            <a:ext cx="2518544" cy="1821316"/>
          </a:xfrm>
          <a:prstGeom prst="roundRect">
            <a:avLst>
              <a:gd name="adj" fmla="val 6572"/>
            </a:avLst>
          </a:prstGeom>
          <a:solidFill>
            <a:schemeClr val="bg1"/>
          </a:solidFill>
          <a:ln>
            <a:solidFill>
              <a:srgbClr val="FF7728"/>
            </a:solidFill>
          </a:ln>
        </p:spPr>
        <p:style>
          <a:lnRef idx="2">
            <a:schemeClr val="accent1">
              <a:shade val="50000"/>
            </a:schemeClr>
          </a:lnRef>
          <a:fillRef idx="1">
            <a:schemeClr val="accent1"/>
          </a:fillRef>
          <a:effectRef idx="0">
            <a:schemeClr val="accent1"/>
          </a:effectRef>
          <a:fontRef idx="minor">
            <a:schemeClr val="lt1"/>
          </a:fontRef>
        </p:style>
        <p:txBody>
          <a:bodyPr tIns="288000" rtlCol="0" anchor="t"/>
          <a:lstStyle/>
          <a:p>
            <a:pPr algn="ctr"/>
            <a:r>
              <a:rPr lang="es-MX" sz="1200" b="1" dirty="0">
                <a:solidFill>
                  <a:schemeClr val="tx1"/>
                </a:solidFill>
                <a:latin typeface="Calibri" charset="0"/>
                <a:ea typeface="Calibri" charset="0"/>
                <a:cs typeface="Calibri" charset="0"/>
              </a:rPr>
              <a:t>Permite comparar ventas por región, identificar temporadas altas o bajas, y evaluar el desempeño de productos.</a:t>
            </a:r>
          </a:p>
        </p:txBody>
      </p:sp>
      <p:sp>
        <p:nvSpPr>
          <p:cNvPr id="8" name="Rectángulo redondeado 15">
            <a:extLst>
              <a:ext uri="{FF2B5EF4-FFF2-40B4-BE49-F238E27FC236}">
                <a16:creationId xmlns:a16="http://schemas.microsoft.com/office/drawing/2014/main" id="{7A8A6043-97D1-45B6-B4F5-2A13BE7AEA7F}"/>
              </a:ext>
            </a:extLst>
          </p:cNvPr>
          <p:cNvSpPr/>
          <p:nvPr/>
        </p:nvSpPr>
        <p:spPr>
          <a:xfrm>
            <a:off x="1935518" y="2819060"/>
            <a:ext cx="2538511" cy="454384"/>
          </a:xfrm>
          <a:prstGeom prst="roundRect">
            <a:avLst>
              <a:gd name="adj" fmla="val 23854"/>
            </a:avLst>
          </a:prstGeom>
          <a:solidFill>
            <a:srgbClr val="FF77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s-PE" sz="1600" b="1" dirty="0">
                <a:solidFill>
                  <a:schemeClr val="bg1"/>
                </a:solidFill>
                <a:latin typeface="Calibri" charset="0"/>
                <a:ea typeface="Calibri" charset="0"/>
                <a:cs typeface="Calibri" charset="0"/>
              </a:rPr>
              <a:t>NEGOCIOS</a:t>
            </a:r>
          </a:p>
        </p:txBody>
      </p:sp>
      <p:sp>
        <p:nvSpPr>
          <p:cNvPr id="9" name="Rectángulo 8">
            <a:extLst>
              <a:ext uri="{FF2B5EF4-FFF2-40B4-BE49-F238E27FC236}">
                <a16:creationId xmlns:a16="http://schemas.microsoft.com/office/drawing/2014/main" id="{C7962AC8-5E0D-4451-B25C-E1435CB97C1B}"/>
              </a:ext>
            </a:extLst>
          </p:cNvPr>
          <p:cNvSpPr/>
          <p:nvPr/>
        </p:nvSpPr>
        <p:spPr>
          <a:xfrm>
            <a:off x="1935518" y="2784466"/>
            <a:ext cx="2538511" cy="162841"/>
          </a:xfrm>
          <a:prstGeom prst="rect">
            <a:avLst/>
          </a:prstGeom>
          <a:solidFill>
            <a:srgbClr val="FF77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sp>
        <p:nvSpPr>
          <p:cNvPr id="10" name="28 Flecha derecha">
            <a:extLst>
              <a:ext uri="{FF2B5EF4-FFF2-40B4-BE49-F238E27FC236}">
                <a16:creationId xmlns:a16="http://schemas.microsoft.com/office/drawing/2014/main" id="{4A76BE4B-F3D9-471E-9F6B-EAB5D3C77AA0}"/>
              </a:ext>
            </a:extLst>
          </p:cNvPr>
          <p:cNvSpPr/>
          <p:nvPr/>
        </p:nvSpPr>
        <p:spPr>
          <a:xfrm>
            <a:off x="3388055" y="4178153"/>
            <a:ext cx="843086" cy="296706"/>
          </a:xfrm>
          <a:prstGeom prst="rightArrow">
            <a:avLst/>
          </a:prstGeom>
          <a:solidFill>
            <a:srgbClr val="DB423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s-PE" sz="1600" dirty="0">
              <a:latin typeface="Calibri" panose="020F0502020204030204" pitchFamily="34" charset="0"/>
            </a:endParaRPr>
          </a:p>
        </p:txBody>
      </p:sp>
      <p:sp>
        <p:nvSpPr>
          <p:cNvPr id="11" name="Rectángulo redondeado 49">
            <a:extLst>
              <a:ext uri="{FF2B5EF4-FFF2-40B4-BE49-F238E27FC236}">
                <a16:creationId xmlns:a16="http://schemas.microsoft.com/office/drawing/2014/main" id="{98FE7EA7-3662-4ACA-8A95-E6558C616FFD}"/>
              </a:ext>
            </a:extLst>
          </p:cNvPr>
          <p:cNvSpPr/>
          <p:nvPr/>
        </p:nvSpPr>
        <p:spPr>
          <a:xfrm>
            <a:off x="1949475" y="3404508"/>
            <a:ext cx="2518544" cy="1821316"/>
          </a:xfrm>
          <a:prstGeom prst="roundRect">
            <a:avLst>
              <a:gd name="adj" fmla="val 6397"/>
            </a:avLst>
          </a:prstGeom>
          <a:solidFill>
            <a:schemeClr val="bg1"/>
          </a:solidFill>
          <a:ln>
            <a:solidFill>
              <a:srgbClr val="00B1C2"/>
            </a:solidFill>
          </a:ln>
        </p:spPr>
        <p:style>
          <a:lnRef idx="2">
            <a:schemeClr val="accent1">
              <a:shade val="50000"/>
            </a:schemeClr>
          </a:lnRef>
          <a:fillRef idx="1">
            <a:schemeClr val="accent1"/>
          </a:fillRef>
          <a:effectRef idx="0">
            <a:schemeClr val="accent1"/>
          </a:effectRef>
          <a:fontRef idx="minor">
            <a:schemeClr val="lt1"/>
          </a:fontRef>
        </p:style>
        <p:txBody>
          <a:bodyPr tIns="288000" rtlCol="0" anchor="t"/>
          <a:lstStyle/>
          <a:p>
            <a:pPr algn="ctr"/>
            <a:r>
              <a:rPr lang="es-MX" sz="1200" b="1" dirty="0">
                <a:solidFill>
                  <a:schemeClr val="tx1"/>
                </a:solidFill>
                <a:latin typeface="Calibri" charset="0"/>
                <a:ea typeface="Calibri" charset="0"/>
                <a:cs typeface="Calibri" charset="0"/>
              </a:rPr>
              <a:t>Permite detectar variaciones en procesos de producción y controlar la calidad.</a:t>
            </a:r>
          </a:p>
        </p:txBody>
      </p:sp>
      <p:sp>
        <p:nvSpPr>
          <p:cNvPr id="12" name="Rectángulo redondeado 50">
            <a:extLst>
              <a:ext uri="{FF2B5EF4-FFF2-40B4-BE49-F238E27FC236}">
                <a16:creationId xmlns:a16="http://schemas.microsoft.com/office/drawing/2014/main" id="{6695D5D2-7A0B-4860-82DE-AFC45C00C4AA}"/>
              </a:ext>
            </a:extLst>
          </p:cNvPr>
          <p:cNvSpPr/>
          <p:nvPr/>
        </p:nvSpPr>
        <p:spPr>
          <a:xfrm>
            <a:off x="1941529" y="4771005"/>
            <a:ext cx="2522182" cy="454384"/>
          </a:xfrm>
          <a:prstGeom prst="roundRect">
            <a:avLst>
              <a:gd name="adj" fmla="val 25650"/>
            </a:avLst>
          </a:prstGeom>
          <a:solidFill>
            <a:srgbClr val="00B2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s-PE" sz="1600" b="1" dirty="0">
                <a:solidFill>
                  <a:schemeClr val="bg1"/>
                </a:solidFill>
                <a:latin typeface="Calibri" charset="0"/>
                <a:ea typeface="Calibri" charset="0"/>
                <a:cs typeface="Calibri" charset="0"/>
              </a:rPr>
              <a:t>INGENIERÍA</a:t>
            </a:r>
          </a:p>
        </p:txBody>
      </p:sp>
      <p:sp>
        <p:nvSpPr>
          <p:cNvPr id="13" name="Rectángulo 12">
            <a:extLst>
              <a:ext uri="{FF2B5EF4-FFF2-40B4-BE49-F238E27FC236}">
                <a16:creationId xmlns:a16="http://schemas.microsoft.com/office/drawing/2014/main" id="{664DF14C-1DFB-40AF-BAD3-3559BD18E92C}"/>
              </a:ext>
            </a:extLst>
          </p:cNvPr>
          <p:cNvSpPr/>
          <p:nvPr/>
        </p:nvSpPr>
        <p:spPr>
          <a:xfrm>
            <a:off x="1941528" y="4736411"/>
            <a:ext cx="2521027" cy="121339"/>
          </a:xfrm>
          <a:prstGeom prst="rect">
            <a:avLst/>
          </a:prstGeom>
          <a:solidFill>
            <a:srgbClr val="00B2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sp>
        <p:nvSpPr>
          <p:cNvPr id="14" name="28 Flecha derecha">
            <a:extLst>
              <a:ext uri="{FF2B5EF4-FFF2-40B4-BE49-F238E27FC236}">
                <a16:creationId xmlns:a16="http://schemas.microsoft.com/office/drawing/2014/main" id="{8B845634-2B21-4B99-9903-F847EB5F14A5}"/>
              </a:ext>
            </a:extLst>
          </p:cNvPr>
          <p:cNvSpPr/>
          <p:nvPr/>
        </p:nvSpPr>
        <p:spPr>
          <a:xfrm>
            <a:off x="6128519" y="2226208"/>
            <a:ext cx="843086" cy="296706"/>
          </a:xfrm>
          <a:prstGeom prst="rightArrow">
            <a:avLst/>
          </a:prstGeom>
          <a:solidFill>
            <a:srgbClr val="DB423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s-PE" sz="1600" dirty="0">
              <a:latin typeface="Calibri" panose="020F0502020204030204" pitchFamily="34" charset="0"/>
            </a:endParaRPr>
          </a:p>
        </p:txBody>
      </p:sp>
      <p:sp>
        <p:nvSpPr>
          <p:cNvPr id="15" name="Rectángulo redondeado 55">
            <a:extLst>
              <a:ext uri="{FF2B5EF4-FFF2-40B4-BE49-F238E27FC236}">
                <a16:creationId xmlns:a16="http://schemas.microsoft.com/office/drawing/2014/main" id="{E6020ABB-81E0-4591-8E8C-73A9B123952E}"/>
              </a:ext>
            </a:extLst>
          </p:cNvPr>
          <p:cNvSpPr/>
          <p:nvPr/>
        </p:nvSpPr>
        <p:spPr>
          <a:xfrm>
            <a:off x="4689939" y="1452563"/>
            <a:ext cx="2518544" cy="1821316"/>
          </a:xfrm>
          <a:prstGeom prst="roundRect">
            <a:avLst>
              <a:gd name="adj" fmla="val 6397"/>
            </a:avLst>
          </a:prstGeom>
          <a:solidFill>
            <a:schemeClr val="bg1"/>
          </a:solidFill>
          <a:ln>
            <a:solidFill>
              <a:srgbClr val="8EC540"/>
            </a:solidFill>
          </a:ln>
        </p:spPr>
        <p:style>
          <a:lnRef idx="2">
            <a:schemeClr val="accent1">
              <a:shade val="50000"/>
            </a:schemeClr>
          </a:lnRef>
          <a:fillRef idx="1">
            <a:schemeClr val="accent1"/>
          </a:fillRef>
          <a:effectRef idx="0">
            <a:schemeClr val="accent1"/>
          </a:effectRef>
          <a:fontRef idx="minor">
            <a:schemeClr val="lt1"/>
          </a:fontRef>
        </p:style>
        <p:txBody>
          <a:bodyPr tIns="288000" rtlCol="0" anchor="t"/>
          <a:lstStyle/>
          <a:p>
            <a:pPr algn="ctr"/>
            <a:r>
              <a:rPr lang="es-MX" sz="1200" b="1" dirty="0">
                <a:solidFill>
                  <a:schemeClr val="tx1"/>
                </a:solidFill>
                <a:latin typeface="Calibri" charset="0"/>
                <a:ea typeface="Calibri" charset="0"/>
                <a:cs typeface="Calibri" charset="0"/>
              </a:rPr>
              <a:t>Ayuda a visualizar la distribución de pacientes por edad o evolución de enfermedades.</a:t>
            </a:r>
          </a:p>
        </p:txBody>
      </p:sp>
      <p:sp>
        <p:nvSpPr>
          <p:cNvPr id="16" name="Rectángulo redondeado 56">
            <a:extLst>
              <a:ext uri="{FF2B5EF4-FFF2-40B4-BE49-F238E27FC236}">
                <a16:creationId xmlns:a16="http://schemas.microsoft.com/office/drawing/2014/main" id="{F2B1747D-0B99-461B-88A5-1D356FE30F0E}"/>
              </a:ext>
            </a:extLst>
          </p:cNvPr>
          <p:cNvSpPr/>
          <p:nvPr/>
        </p:nvSpPr>
        <p:spPr>
          <a:xfrm>
            <a:off x="4687087" y="2819060"/>
            <a:ext cx="2511227" cy="454384"/>
          </a:xfrm>
          <a:prstGeom prst="roundRect">
            <a:avLst>
              <a:gd name="adj" fmla="val 22057"/>
            </a:avLst>
          </a:prstGeom>
          <a:solidFill>
            <a:srgbClr val="8EC5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s-PE" sz="1600" b="1" dirty="0">
                <a:solidFill>
                  <a:schemeClr val="bg1"/>
                </a:solidFill>
                <a:latin typeface="Calibri" charset="0"/>
                <a:ea typeface="Calibri" charset="0"/>
                <a:cs typeface="Calibri" charset="0"/>
              </a:rPr>
              <a:t>SALUD</a:t>
            </a:r>
          </a:p>
        </p:txBody>
      </p:sp>
      <p:sp>
        <p:nvSpPr>
          <p:cNvPr id="17" name="Rectángulo 16">
            <a:extLst>
              <a:ext uri="{FF2B5EF4-FFF2-40B4-BE49-F238E27FC236}">
                <a16:creationId xmlns:a16="http://schemas.microsoft.com/office/drawing/2014/main" id="{39D91F9D-2465-4CF8-A1A9-9917F9424A38}"/>
              </a:ext>
            </a:extLst>
          </p:cNvPr>
          <p:cNvSpPr/>
          <p:nvPr/>
        </p:nvSpPr>
        <p:spPr>
          <a:xfrm>
            <a:off x="4681992" y="2784466"/>
            <a:ext cx="2516321" cy="146513"/>
          </a:xfrm>
          <a:prstGeom prst="rect">
            <a:avLst/>
          </a:prstGeom>
          <a:solidFill>
            <a:srgbClr val="8EC5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sp>
        <p:nvSpPr>
          <p:cNvPr id="18" name="28 Flecha derecha">
            <a:extLst>
              <a:ext uri="{FF2B5EF4-FFF2-40B4-BE49-F238E27FC236}">
                <a16:creationId xmlns:a16="http://schemas.microsoft.com/office/drawing/2014/main" id="{B14DF37E-A107-40D7-92CE-E409AE364867}"/>
              </a:ext>
            </a:extLst>
          </p:cNvPr>
          <p:cNvSpPr/>
          <p:nvPr/>
        </p:nvSpPr>
        <p:spPr>
          <a:xfrm>
            <a:off x="6128519" y="4178153"/>
            <a:ext cx="843086" cy="296706"/>
          </a:xfrm>
          <a:prstGeom prst="rightArrow">
            <a:avLst/>
          </a:prstGeom>
          <a:solidFill>
            <a:srgbClr val="DB423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s-PE" sz="1600" dirty="0">
              <a:latin typeface="Calibri" panose="020F0502020204030204" pitchFamily="34" charset="0"/>
            </a:endParaRPr>
          </a:p>
        </p:txBody>
      </p:sp>
      <p:sp>
        <p:nvSpPr>
          <p:cNvPr id="19" name="Rectángulo redondeado 61">
            <a:extLst>
              <a:ext uri="{FF2B5EF4-FFF2-40B4-BE49-F238E27FC236}">
                <a16:creationId xmlns:a16="http://schemas.microsoft.com/office/drawing/2014/main" id="{0BAB08E5-B6EE-4673-9681-E4D4A2C1902A}"/>
              </a:ext>
            </a:extLst>
          </p:cNvPr>
          <p:cNvSpPr/>
          <p:nvPr/>
        </p:nvSpPr>
        <p:spPr>
          <a:xfrm>
            <a:off x="4689939" y="3404508"/>
            <a:ext cx="2518544" cy="1821316"/>
          </a:xfrm>
          <a:prstGeom prst="roundRect">
            <a:avLst>
              <a:gd name="adj" fmla="val 6746"/>
            </a:avLst>
          </a:prstGeom>
          <a:solidFill>
            <a:schemeClr val="bg1"/>
          </a:solidFill>
          <a:ln>
            <a:solidFill>
              <a:srgbClr val="EE4539"/>
            </a:solidFill>
          </a:ln>
        </p:spPr>
        <p:style>
          <a:lnRef idx="2">
            <a:schemeClr val="accent1">
              <a:shade val="50000"/>
            </a:schemeClr>
          </a:lnRef>
          <a:fillRef idx="1">
            <a:schemeClr val="accent1"/>
          </a:fillRef>
          <a:effectRef idx="0">
            <a:schemeClr val="accent1"/>
          </a:effectRef>
          <a:fontRef idx="minor">
            <a:schemeClr val="lt1"/>
          </a:fontRef>
        </p:style>
        <p:txBody>
          <a:bodyPr tIns="288000" rtlCol="0" anchor="t"/>
          <a:lstStyle/>
          <a:p>
            <a:pPr algn="ctr"/>
            <a:r>
              <a:rPr lang="es-MX" sz="1200" b="1" dirty="0">
                <a:solidFill>
                  <a:schemeClr val="tx1"/>
                </a:solidFill>
                <a:latin typeface="Calibri" charset="0"/>
                <a:ea typeface="Calibri" charset="0"/>
                <a:cs typeface="Calibri" charset="0"/>
              </a:rPr>
              <a:t>Paso importante para descubrir patrones y relaciones antes de aplicar modelos predictivos.</a:t>
            </a:r>
            <a:endParaRPr lang="es-PE" sz="1200" b="1" dirty="0">
              <a:solidFill>
                <a:schemeClr val="tx1"/>
              </a:solidFill>
              <a:latin typeface="Calibri" charset="0"/>
              <a:ea typeface="Calibri" charset="0"/>
              <a:cs typeface="Calibri" charset="0"/>
            </a:endParaRPr>
          </a:p>
        </p:txBody>
      </p:sp>
      <p:sp>
        <p:nvSpPr>
          <p:cNvPr id="20" name="Rectángulo 19">
            <a:extLst>
              <a:ext uri="{FF2B5EF4-FFF2-40B4-BE49-F238E27FC236}">
                <a16:creationId xmlns:a16="http://schemas.microsoft.com/office/drawing/2014/main" id="{333CB45C-BEE6-4564-96F8-9B7CE90A5199}"/>
              </a:ext>
            </a:extLst>
          </p:cNvPr>
          <p:cNvSpPr/>
          <p:nvPr/>
        </p:nvSpPr>
        <p:spPr>
          <a:xfrm>
            <a:off x="4681992" y="4736411"/>
            <a:ext cx="2516321" cy="145832"/>
          </a:xfrm>
          <a:prstGeom prst="rect">
            <a:avLst/>
          </a:prstGeom>
          <a:solidFill>
            <a:srgbClr val="EE45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sp>
        <p:nvSpPr>
          <p:cNvPr id="21" name="Rectángulo redondeado 62">
            <a:extLst>
              <a:ext uri="{FF2B5EF4-FFF2-40B4-BE49-F238E27FC236}">
                <a16:creationId xmlns:a16="http://schemas.microsoft.com/office/drawing/2014/main" id="{44D14522-6E10-4698-95F2-23DB9CFCC59D}"/>
              </a:ext>
            </a:extLst>
          </p:cNvPr>
          <p:cNvSpPr/>
          <p:nvPr/>
        </p:nvSpPr>
        <p:spPr>
          <a:xfrm>
            <a:off x="4681992" y="4771005"/>
            <a:ext cx="2516321" cy="454384"/>
          </a:xfrm>
          <a:prstGeom prst="roundRect">
            <a:avLst>
              <a:gd name="adj" fmla="val 23855"/>
            </a:avLst>
          </a:prstGeom>
          <a:solidFill>
            <a:srgbClr val="EE45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s-MX" sz="1600" b="1" dirty="0">
                <a:solidFill>
                  <a:schemeClr val="bg1"/>
                </a:solidFill>
                <a:latin typeface="Calibri" charset="0"/>
                <a:ea typeface="Calibri" charset="0"/>
                <a:cs typeface="Calibri" charset="0"/>
              </a:rPr>
              <a:t>DATA MINING Y ANÁLISIS DE DATOS</a:t>
            </a:r>
            <a:endParaRPr lang="es-PE" sz="1600" b="1" dirty="0">
              <a:solidFill>
                <a:schemeClr val="bg1"/>
              </a:solidFill>
              <a:latin typeface="Calibri" charset="0"/>
              <a:ea typeface="Calibri" charset="0"/>
              <a:cs typeface="Calibri" charset="0"/>
            </a:endParaRPr>
          </a:p>
        </p:txBody>
      </p:sp>
      <p:sp>
        <p:nvSpPr>
          <p:cNvPr id="22" name="Rectangle 5">
            <a:extLst>
              <a:ext uri="{FF2B5EF4-FFF2-40B4-BE49-F238E27FC236}">
                <a16:creationId xmlns:a16="http://schemas.microsoft.com/office/drawing/2014/main" id="{5C1FBF60-1EB9-477B-9B2B-0BFBD1D2820C}"/>
              </a:ext>
            </a:extLst>
          </p:cNvPr>
          <p:cNvSpPr/>
          <p:nvPr/>
        </p:nvSpPr>
        <p:spPr>
          <a:xfrm>
            <a:off x="503237" y="380615"/>
            <a:ext cx="3560379"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charset="0"/>
                <a:ea typeface="Calibri" charset="0"/>
                <a:cs typeface="Calibri" charset="0"/>
              </a:rPr>
              <a:t>REPRESENTACIÓN GRÁFICA: HISTOGRAMAS, DIAGRAMAS DE CAJA</a:t>
            </a:r>
          </a:p>
        </p:txBody>
      </p:sp>
    </p:spTree>
    <p:extLst>
      <p:ext uri="{BB962C8B-B14F-4D97-AF65-F5344CB8AC3E}">
        <p14:creationId xmlns:p14="http://schemas.microsoft.com/office/powerpoint/2010/main" val="2718734976"/>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7"/>
          <p:cNvSpPr txBox="1"/>
          <p:nvPr/>
        </p:nvSpPr>
        <p:spPr>
          <a:xfrm>
            <a:off x="506796" y="918372"/>
            <a:ext cx="7770930" cy="1723549"/>
          </a:xfrm>
          <a:prstGeom prst="rect">
            <a:avLst/>
          </a:prstGeom>
        </p:spPr>
        <p:txBody>
          <a:bodyPr vert="horz" wrap="square" lIns="0" tIns="0" rIns="0" bIns="0" rtlCol="0">
            <a:spAutoFit/>
          </a:bodyPr>
          <a:lstStyle/>
          <a:p>
            <a:pPr algn="just">
              <a:spcAft>
                <a:spcPts val="0"/>
              </a:spcAft>
            </a:pPr>
            <a:r>
              <a:rPr lang="es-ES" sz="1600" b="1" spc="-10" dirty="0">
                <a:solidFill>
                  <a:srgbClr val="262626"/>
                </a:solidFill>
                <a:latin typeface="Calibri" charset="0"/>
                <a:ea typeface="Calibri" charset="0"/>
                <a:cs typeface="Calibri" charset="0"/>
              </a:rPr>
              <a:t>HISTOGRAMA</a:t>
            </a:r>
          </a:p>
          <a:p>
            <a:pPr algn="just">
              <a:spcAft>
                <a:spcPts val="0"/>
              </a:spcAft>
            </a:pPr>
            <a:endParaRPr lang="es-ES" sz="1600" b="1" spc="-10" dirty="0">
              <a:solidFill>
                <a:srgbClr val="262626"/>
              </a:solidFill>
              <a:latin typeface="Calibri" charset="0"/>
              <a:ea typeface="Calibri" charset="0"/>
              <a:cs typeface="Calibri" charset="0"/>
            </a:endParaRPr>
          </a:p>
          <a:p>
            <a:pPr marL="285750" indent="-285750" algn="just">
              <a:spcAft>
                <a:spcPts val="0"/>
              </a:spcAft>
              <a:buFont typeface="Arial" panose="020B0604020202020204" pitchFamily="34" charset="0"/>
              <a:buChar char="•"/>
            </a:pPr>
            <a:r>
              <a:rPr lang="es-ES" sz="1600" spc="-10" dirty="0">
                <a:solidFill>
                  <a:srgbClr val="262626"/>
                </a:solidFill>
                <a:latin typeface="Calibri" charset="0"/>
                <a:ea typeface="Calibri" charset="0"/>
                <a:cs typeface="Calibri" charset="0"/>
              </a:rPr>
              <a:t>Es una representación gráfica de la frecuencia de los datos numéricos continuos agrupados en intervalos.</a:t>
            </a:r>
          </a:p>
          <a:p>
            <a:pPr marL="285750" indent="-285750" algn="just">
              <a:spcAft>
                <a:spcPts val="0"/>
              </a:spcAft>
              <a:buFont typeface="Arial" panose="020B0604020202020204" pitchFamily="34" charset="0"/>
              <a:buChar char="•"/>
            </a:pPr>
            <a:endParaRPr lang="es-ES" sz="1600" spc="-10" dirty="0">
              <a:solidFill>
                <a:srgbClr val="262626"/>
              </a:solidFill>
              <a:latin typeface="Calibri" charset="0"/>
              <a:ea typeface="Calibri" charset="0"/>
              <a:cs typeface="Calibri" charset="0"/>
            </a:endParaRPr>
          </a:p>
          <a:p>
            <a:pPr marL="285750" indent="-285750" algn="just">
              <a:spcAft>
                <a:spcPts val="0"/>
              </a:spcAft>
              <a:buFont typeface="Arial" panose="020B0604020202020204" pitchFamily="34" charset="0"/>
              <a:buChar char="•"/>
            </a:pPr>
            <a:r>
              <a:rPr lang="es-ES" sz="1600" spc="-10" dirty="0">
                <a:solidFill>
                  <a:srgbClr val="262626"/>
                </a:solidFill>
                <a:latin typeface="Calibri" charset="0"/>
                <a:ea typeface="Calibri" charset="0"/>
                <a:cs typeface="Calibri" charset="0"/>
              </a:rPr>
              <a:t>Cada barra representa un rango de valores y su altura indica cuántas observaciones caen dentro de ese rango.</a:t>
            </a:r>
            <a:endParaRPr lang="es-PE" sz="1600" spc="-10" dirty="0">
              <a:solidFill>
                <a:srgbClr val="262626"/>
              </a:solidFill>
              <a:latin typeface="Calibri" charset="0"/>
              <a:ea typeface="Calibri" charset="0"/>
              <a:cs typeface="Calibri" charset="0"/>
            </a:endParaRPr>
          </a:p>
        </p:txBody>
      </p:sp>
      <p:pic>
        <p:nvPicPr>
          <p:cNvPr id="7" name="Imagen 6"/>
          <p:cNvPicPr>
            <a:picLocks noChangeAspect="1"/>
          </p:cNvPicPr>
          <p:nvPr/>
        </p:nvPicPr>
        <p:blipFill rotWithShape="1">
          <a:blip r:embed="rId2"/>
          <a:srcRect t="18006" b="31716"/>
          <a:stretch/>
        </p:blipFill>
        <p:spPr>
          <a:xfrm>
            <a:off x="963746" y="2754670"/>
            <a:ext cx="6857029" cy="2296544"/>
          </a:xfrm>
          <a:prstGeom prst="rect">
            <a:avLst/>
          </a:prstGeom>
        </p:spPr>
      </p:pic>
      <p:sp>
        <p:nvSpPr>
          <p:cNvPr id="6" name="Rectangle 5">
            <a:extLst>
              <a:ext uri="{FF2B5EF4-FFF2-40B4-BE49-F238E27FC236}">
                <a16:creationId xmlns:a16="http://schemas.microsoft.com/office/drawing/2014/main" id="{4DDC52C8-B5A9-4C25-BB83-1613CB0F87D5}"/>
              </a:ext>
            </a:extLst>
          </p:cNvPr>
          <p:cNvSpPr/>
          <p:nvPr/>
        </p:nvSpPr>
        <p:spPr>
          <a:xfrm>
            <a:off x="503237" y="380615"/>
            <a:ext cx="3560379"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charset="0"/>
                <a:ea typeface="Calibri" charset="0"/>
                <a:cs typeface="Calibri" charset="0"/>
              </a:rPr>
              <a:t>REPRESENTACIÓN GRÁFICA: HISTOGRAMAS, DIAGRAMAS DE CAJA</a:t>
            </a:r>
          </a:p>
        </p:txBody>
      </p:sp>
    </p:spTree>
    <p:extLst>
      <p:ext uri="{BB962C8B-B14F-4D97-AF65-F5344CB8AC3E}">
        <p14:creationId xmlns:p14="http://schemas.microsoft.com/office/powerpoint/2010/main" val="2732677486"/>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10 Rectángulo">
            <a:extLst>
              <a:ext uri="{FF2B5EF4-FFF2-40B4-BE49-F238E27FC236}">
                <a16:creationId xmlns:a16="http://schemas.microsoft.com/office/drawing/2014/main" id="{234E91FF-4D16-46CC-A6B2-A97751ACE031}"/>
              </a:ext>
            </a:extLst>
          </p:cNvPr>
          <p:cNvSpPr/>
          <p:nvPr/>
        </p:nvSpPr>
        <p:spPr>
          <a:xfrm>
            <a:off x="683568" y="1117307"/>
            <a:ext cx="7488832" cy="646331"/>
          </a:xfrm>
          <a:prstGeom prst="rect">
            <a:avLst/>
          </a:prstGeom>
        </p:spPr>
        <p:txBody>
          <a:bodyPr wrap="square">
            <a:spAutoFit/>
          </a:bodyPr>
          <a:lstStyle/>
          <a:p>
            <a:endParaRPr lang="es-PE" dirty="0">
              <a:latin typeface="Calibri" charset="0"/>
            </a:endParaRPr>
          </a:p>
          <a:p>
            <a:endParaRPr lang="es-PE" dirty="0">
              <a:latin typeface="Calibri" charset="0"/>
            </a:endParaRPr>
          </a:p>
        </p:txBody>
      </p:sp>
      <p:sp>
        <p:nvSpPr>
          <p:cNvPr id="6" name="object 7">
            <a:extLst>
              <a:ext uri="{FF2B5EF4-FFF2-40B4-BE49-F238E27FC236}">
                <a16:creationId xmlns:a16="http://schemas.microsoft.com/office/drawing/2014/main" id="{E051DDF0-E4CD-4074-A204-0AC36853EF5C}"/>
              </a:ext>
            </a:extLst>
          </p:cNvPr>
          <p:cNvSpPr txBox="1"/>
          <p:nvPr/>
        </p:nvSpPr>
        <p:spPr>
          <a:xfrm>
            <a:off x="506796" y="918745"/>
            <a:ext cx="3885817" cy="4016484"/>
          </a:xfrm>
          <a:prstGeom prst="rect">
            <a:avLst/>
          </a:prstGeom>
        </p:spPr>
        <p:txBody>
          <a:bodyPr vert="horz" wrap="square" lIns="0" tIns="0" rIns="0" bIns="0" rtlCol="0">
            <a:spAutoFit/>
          </a:bodyPr>
          <a:lstStyle/>
          <a:p>
            <a:pPr>
              <a:spcAft>
                <a:spcPts val="600"/>
              </a:spcAft>
            </a:pPr>
            <a:r>
              <a:rPr lang="es-ES_tradnl" sz="1600" b="1" spc="-10" dirty="0">
                <a:latin typeface="Calibri" charset="0"/>
                <a:ea typeface="Calibri" charset="0"/>
                <a:cs typeface="Calibri" charset="0"/>
              </a:rPr>
              <a:t>EJEMPLO</a:t>
            </a:r>
          </a:p>
          <a:p>
            <a:pPr marL="7938">
              <a:spcAft>
                <a:spcPts val="0"/>
              </a:spcAft>
            </a:pPr>
            <a:r>
              <a:rPr lang="es-ES" sz="1600" spc="-10" dirty="0">
                <a:latin typeface="Calibri" charset="0"/>
                <a:ea typeface="Calibri" charset="0"/>
                <a:cs typeface="Calibri" charset="0"/>
              </a:rPr>
              <a:t>Una empresa de servicios desea evaluar su eficiencia en la atención al cliente. Durante una semana, registró el tiempo (en minutos) que tardó cada uno de los 40 clientes en ser atendido. El analista desea responder:</a:t>
            </a:r>
          </a:p>
          <a:p>
            <a:pPr marL="7938">
              <a:spcAft>
                <a:spcPts val="0"/>
              </a:spcAft>
            </a:pPr>
            <a:endParaRPr lang="es-ES_tradnl" sz="1600" spc="-10" dirty="0">
              <a:latin typeface="Calibri" charset="0"/>
              <a:ea typeface="Calibri" charset="0"/>
              <a:cs typeface="Calibri" charset="0"/>
            </a:endParaRPr>
          </a:p>
          <a:p>
            <a:pPr marL="176400" indent="-182563">
              <a:spcAft>
                <a:spcPts val="0"/>
              </a:spcAft>
              <a:buClr>
                <a:srgbClr val="7150A0"/>
              </a:buClr>
              <a:buFont typeface="Arial" charset="0"/>
              <a:buChar char="•"/>
            </a:pPr>
            <a:r>
              <a:rPr lang="es-ES" sz="1600" spc="-10" dirty="0">
                <a:latin typeface="Calibri" charset="0"/>
                <a:ea typeface="Calibri" charset="0"/>
                <a:cs typeface="Calibri" charset="0"/>
              </a:rPr>
              <a:t>¿Cómo se distribuyen los tiempos de atención?</a:t>
            </a:r>
          </a:p>
          <a:p>
            <a:pPr marL="176400" indent="-182563">
              <a:spcAft>
                <a:spcPts val="0"/>
              </a:spcAft>
              <a:buClr>
                <a:srgbClr val="7150A0"/>
              </a:buClr>
              <a:buFont typeface="Arial" charset="0"/>
              <a:buChar char="•"/>
            </a:pPr>
            <a:r>
              <a:rPr lang="es-ES" sz="1600" spc="-10" dirty="0">
                <a:latin typeface="Calibri" charset="0"/>
                <a:ea typeface="Calibri" charset="0"/>
                <a:cs typeface="Calibri" charset="0"/>
              </a:rPr>
              <a:t>¿Existen muchos clientes que esperan demasiado?</a:t>
            </a:r>
          </a:p>
          <a:p>
            <a:pPr marL="176400" indent="-182563">
              <a:spcAft>
                <a:spcPts val="0"/>
              </a:spcAft>
              <a:buClr>
                <a:srgbClr val="7150A0"/>
              </a:buClr>
              <a:buFont typeface="Arial" charset="0"/>
              <a:buChar char="•"/>
            </a:pPr>
            <a:r>
              <a:rPr lang="es-ES" sz="1600" spc="-10" dirty="0">
                <a:latin typeface="Calibri" charset="0"/>
                <a:ea typeface="Calibri" charset="0"/>
                <a:cs typeface="Calibri" charset="0"/>
              </a:rPr>
              <a:t>¿El proceso es uniforme o hay variaciones importantes?</a:t>
            </a:r>
          </a:p>
          <a:p>
            <a:pPr marL="176400" indent="-182563">
              <a:spcAft>
                <a:spcPts val="0"/>
              </a:spcAft>
              <a:buFont typeface="Arial" charset="0"/>
              <a:buChar char="•"/>
            </a:pPr>
            <a:endParaRPr lang="es-ES" sz="1600" spc="-10" dirty="0">
              <a:latin typeface="Calibri" charset="0"/>
              <a:ea typeface="Calibri" charset="0"/>
              <a:cs typeface="Calibri" charset="0"/>
            </a:endParaRPr>
          </a:p>
          <a:p>
            <a:pPr>
              <a:spcAft>
                <a:spcPts val="0"/>
              </a:spcAft>
            </a:pPr>
            <a:r>
              <a:rPr lang="es-ES" sz="1400" i="1" spc="-10" dirty="0">
                <a:latin typeface="Calibri" charset="0"/>
                <a:ea typeface="Calibri" charset="0"/>
                <a:cs typeface="Calibri" charset="0"/>
              </a:rPr>
              <a:t>(Los datos recolectados se muestran el la tabla adjunta)</a:t>
            </a:r>
            <a:endParaRPr lang="es-ES_tradnl" sz="1400" i="1" spc="-10" dirty="0">
              <a:latin typeface="Calibri" charset="0"/>
              <a:ea typeface="Calibri" charset="0"/>
              <a:cs typeface="Calibri" charset="0"/>
            </a:endParaRPr>
          </a:p>
        </p:txBody>
      </p:sp>
      <p:graphicFrame>
        <p:nvGraphicFramePr>
          <p:cNvPr id="8" name="Objeto 7">
            <a:extLst>
              <a:ext uri="{FF2B5EF4-FFF2-40B4-BE49-F238E27FC236}">
                <a16:creationId xmlns:a16="http://schemas.microsoft.com/office/drawing/2014/main" id="{768CE5EA-399D-46F7-9497-8CDEDAECA15F}"/>
              </a:ext>
            </a:extLst>
          </p:cNvPr>
          <p:cNvGraphicFramePr>
            <a:graphicFrameLocks noChangeAspect="1"/>
          </p:cNvGraphicFramePr>
          <p:nvPr>
            <p:extLst>
              <p:ext uri="{D42A27DB-BD31-4B8C-83A1-F6EECF244321}">
                <p14:modId xmlns:p14="http://schemas.microsoft.com/office/powerpoint/2010/main" val="1900077826"/>
              </p:ext>
            </p:extLst>
          </p:nvPr>
        </p:nvGraphicFramePr>
        <p:xfrm>
          <a:off x="5078776" y="684239"/>
          <a:ext cx="3404211" cy="4464713"/>
        </p:xfrm>
        <a:graphic>
          <a:graphicData uri="http://schemas.openxmlformats.org/presentationml/2006/ole">
            <mc:AlternateContent xmlns:mc="http://schemas.openxmlformats.org/markup-compatibility/2006">
              <mc:Choice xmlns:v="urn:schemas-microsoft-com:vml" Requires="v">
                <p:oleObj spid="_x0000_s2080" name="Hoja de cálculo" r:id="rId4" imgW="3057549" imgH="4010030" progId="Excel.Sheet.12">
                  <p:embed/>
                </p:oleObj>
              </mc:Choice>
              <mc:Fallback>
                <p:oleObj name="Hoja de cálculo" r:id="rId4" imgW="3057549" imgH="4010030" progId="Excel.Sheet.12">
                  <p:embed/>
                  <p:pic>
                    <p:nvPicPr>
                      <p:cNvPr id="12" name="Objeto 11"/>
                      <p:cNvPicPr/>
                      <p:nvPr/>
                    </p:nvPicPr>
                    <p:blipFill>
                      <a:blip r:embed="rId5"/>
                      <a:stretch>
                        <a:fillRect/>
                      </a:stretch>
                    </p:blipFill>
                    <p:spPr>
                      <a:xfrm>
                        <a:off x="5078776" y="684239"/>
                        <a:ext cx="3404211" cy="4464713"/>
                      </a:xfrm>
                      <a:prstGeom prst="rect">
                        <a:avLst/>
                      </a:prstGeom>
                    </p:spPr>
                  </p:pic>
                </p:oleObj>
              </mc:Fallback>
            </mc:AlternateContent>
          </a:graphicData>
        </a:graphic>
      </p:graphicFrame>
      <p:sp>
        <p:nvSpPr>
          <p:cNvPr id="9" name="Rectangle 5">
            <a:extLst>
              <a:ext uri="{FF2B5EF4-FFF2-40B4-BE49-F238E27FC236}">
                <a16:creationId xmlns:a16="http://schemas.microsoft.com/office/drawing/2014/main" id="{0591C13A-00F3-4FD0-AB6B-E7C9F10D51BE}"/>
              </a:ext>
            </a:extLst>
          </p:cNvPr>
          <p:cNvSpPr/>
          <p:nvPr/>
        </p:nvSpPr>
        <p:spPr>
          <a:xfrm>
            <a:off x="503237" y="380615"/>
            <a:ext cx="3560379"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charset="0"/>
                <a:ea typeface="Calibri" charset="0"/>
                <a:cs typeface="Calibri" charset="0"/>
              </a:rPr>
              <a:t>REPRESENTACIÓN GRÁFICA: HISTOGRAMAS, DIAGRAMAS DE CAJA</a:t>
            </a:r>
          </a:p>
        </p:txBody>
      </p:sp>
    </p:spTree>
    <p:extLst>
      <p:ext uri="{BB962C8B-B14F-4D97-AF65-F5344CB8AC3E}">
        <p14:creationId xmlns:p14="http://schemas.microsoft.com/office/powerpoint/2010/main" val="1615689931"/>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10 Rectángulo">
            <a:extLst>
              <a:ext uri="{FF2B5EF4-FFF2-40B4-BE49-F238E27FC236}">
                <a16:creationId xmlns:a16="http://schemas.microsoft.com/office/drawing/2014/main" id="{39E5B951-0A62-4BA7-8A06-430A2A8DB949}"/>
              </a:ext>
            </a:extLst>
          </p:cNvPr>
          <p:cNvSpPr/>
          <p:nvPr/>
        </p:nvSpPr>
        <p:spPr>
          <a:xfrm>
            <a:off x="683568" y="1117307"/>
            <a:ext cx="7488832" cy="646331"/>
          </a:xfrm>
          <a:prstGeom prst="rect">
            <a:avLst/>
          </a:prstGeom>
        </p:spPr>
        <p:txBody>
          <a:bodyPr wrap="square">
            <a:spAutoFit/>
          </a:bodyPr>
          <a:lstStyle/>
          <a:p>
            <a:endParaRPr lang="es-PE" dirty="0">
              <a:latin typeface="Calibri" charset="0"/>
            </a:endParaRPr>
          </a:p>
          <a:p>
            <a:endParaRPr lang="es-PE" dirty="0">
              <a:latin typeface="Calibri" charset="0"/>
            </a:endParaRPr>
          </a:p>
        </p:txBody>
      </p:sp>
      <p:sp>
        <p:nvSpPr>
          <p:cNvPr id="9" name="object 7">
            <a:extLst>
              <a:ext uri="{FF2B5EF4-FFF2-40B4-BE49-F238E27FC236}">
                <a16:creationId xmlns:a16="http://schemas.microsoft.com/office/drawing/2014/main" id="{D353EA22-3F20-4AF8-9C4E-D7FCBCD2E1AE}"/>
              </a:ext>
            </a:extLst>
          </p:cNvPr>
          <p:cNvSpPr txBox="1"/>
          <p:nvPr/>
        </p:nvSpPr>
        <p:spPr>
          <a:xfrm>
            <a:off x="517813" y="907728"/>
            <a:ext cx="7954158" cy="246221"/>
          </a:xfrm>
          <a:prstGeom prst="rect">
            <a:avLst/>
          </a:prstGeom>
        </p:spPr>
        <p:txBody>
          <a:bodyPr vert="horz" wrap="square" lIns="0" tIns="0" rIns="0" bIns="0" rtlCol="0">
            <a:spAutoFit/>
          </a:bodyPr>
          <a:lstStyle/>
          <a:p>
            <a:pPr>
              <a:spcAft>
                <a:spcPts val="600"/>
              </a:spcAft>
            </a:pPr>
            <a:r>
              <a:rPr lang="es-ES_tradnl" sz="1600" b="1" spc="-10" dirty="0">
                <a:latin typeface="Calibri" charset="0"/>
                <a:ea typeface="Calibri" charset="0"/>
                <a:cs typeface="Calibri" charset="0"/>
              </a:rPr>
              <a:t>HISTOGRAMA</a:t>
            </a:r>
          </a:p>
        </p:txBody>
      </p:sp>
      <p:pic>
        <p:nvPicPr>
          <p:cNvPr id="10" name="Imagen 9">
            <a:extLst>
              <a:ext uri="{FF2B5EF4-FFF2-40B4-BE49-F238E27FC236}">
                <a16:creationId xmlns:a16="http://schemas.microsoft.com/office/drawing/2014/main" id="{B1FD760B-43B3-4A3F-B86D-0712E1AE7D8B}"/>
              </a:ext>
            </a:extLst>
          </p:cNvPr>
          <p:cNvPicPr>
            <a:picLocks noChangeAspect="1"/>
          </p:cNvPicPr>
          <p:nvPr/>
        </p:nvPicPr>
        <p:blipFill>
          <a:blip r:embed="rId3"/>
          <a:stretch>
            <a:fillRect/>
          </a:stretch>
        </p:blipFill>
        <p:spPr>
          <a:xfrm>
            <a:off x="2227668" y="1317481"/>
            <a:ext cx="4578493" cy="2749534"/>
          </a:xfrm>
          <a:prstGeom prst="rect">
            <a:avLst/>
          </a:prstGeom>
          <a:ln w="9525">
            <a:solidFill>
              <a:schemeClr val="tx1"/>
            </a:solidFill>
          </a:ln>
        </p:spPr>
      </p:pic>
      <p:sp>
        <p:nvSpPr>
          <p:cNvPr id="11" name="object 7">
            <a:extLst>
              <a:ext uri="{FF2B5EF4-FFF2-40B4-BE49-F238E27FC236}">
                <a16:creationId xmlns:a16="http://schemas.microsoft.com/office/drawing/2014/main" id="{5B730C94-E06A-43DA-A075-6DCD0EAFFAA9}"/>
              </a:ext>
            </a:extLst>
          </p:cNvPr>
          <p:cNvSpPr txBox="1"/>
          <p:nvPr/>
        </p:nvSpPr>
        <p:spPr>
          <a:xfrm>
            <a:off x="528829" y="4168721"/>
            <a:ext cx="8053310" cy="984885"/>
          </a:xfrm>
          <a:prstGeom prst="rect">
            <a:avLst/>
          </a:prstGeom>
        </p:spPr>
        <p:txBody>
          <a:bodyPr vert="horz" wrap="square" lIns="0" tIns="0" rIns="0" bIns="0" rtlCol="0">
            <a:spAutoFit/>
          </a:bodyPr>
          <a:lstStyle/>
          <a:p>
            <a:pPr marL="293688" indent="-285750">
              <a:spcAft>
                <a:spcPts val="0"/>
              </a:spcAft>
              <a:buFont typeface="Wingdings" panose="05000000000000000000" pitchFamily="2" charset="2"/>
              <a:buChar char="ü"/>
            </a:pPr>
            <a:r>
              <a:rPr lang="es-ES" sz="1600" spc="-10" dirty="0">
                <a:latin typeface="Calibri" charset="0"/>
                <a:ea typeface="Calibri" charset="0"/>
                <a:cs typeface="Calibri" charset="0"/>
              </a:rPr>
              <a:t>El histograma muestra que la mayor parte de los clientes fue atendida entre 4 y 10 minutos, con pocas atenciones que van desde los 13 minutos.</a:t>
            </a:r>
          </a:p>
          <a:p>
            <a:pPr marL="293688" indent="-285750">
              <a:spcAft>
                <a:spcPts val="0"/>
              </a:spcAft>
              <a:buFont typeface="Wingdings" panose="05000000000000000000" pitchFamily="2" charset="2"/>
              <a:buChar char="ü"/>
            </a:pPr>
            <a:r>
              <a:rPr lang="es-ES" sz="1600" spc="-10" dirty="0">
                <a:latin typeface="Calibri" charset="0"/>
                <a:ea typeface="Calibri" charset="0"/>
                <a:cs typeface="Calibri" charset="0"/>
              </a:rPr>
              <a:t>El proceso de atención es bastante consistente, aunque existen algunos casos de espera prolongada que podrían revisarse para mejorar la experiencia del cliente.</a:t>
            </a:r>
            <a:endParaRPr lang="es-ES_tradnl" sz="1600" spc="-10" dirty="0">
              <a:latin typeface="Calibri" charset="0"/>
              <a:ea typeface="Calibri" charset="0"/>
              <a:cs typeface="Calibri" charset="0"/>
            </a:endParaRPr>
          </a:p>
        </p:txBody>
      </p:sp>
      <p:sp>
        <p:nvSpPr>
          <p:cNvPr id="12" name="Rectangle 5">
            <a:extLst>
              <a:ext uri="{FF2B5EF4-FFF2-40B4-BE49-F238E27FC236}">
                <a16:creationId xmlns:a16="http://schemas.microsoft.com/office/drawing/2014/main" id="{0818790C-26EF-4B6A-AA3D-1891A7C17B53}"/>
              </a:ext>
            </a:extLst>
          </p:cNvPr>
          <p:cNvSpPr/>
          <p:nvPr/>
        </p:nvSpPr>
        <p:spPr>
          <a:xfrm>
            <a:off x="503237" y="380615"/>
            <a:ext cx="3560379"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charset="0"/>
                <a:ea typeface="Calibri" charset="0"/>
                <a:cs typeface="Calibri" charset="0"/>
              </a:rPr>
              <a:t>REPRESENTACIÓN GRÁFICA: HISTOGRAMAS, DIAGRAMAS DE CAJA</a:t>
            </a:r>
          </a:p>
        </p:txBody>
      </p:sp>
    </p:spTree>
    <p:extLst>
      <p:ext uri="{BB962C8B-B14F-4D97-AF65-F5344CB8AC3E}">
        <p14:creationId xmlns:p14="http://schemas.microsoft.com/office/powerpoint/2010/main" val="1985727675"/>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7"/>
          <p:cNvSpPr txBox="1"/>
          <p:nvPr/>
        </p:nvSpPr>
        <p:spPr>
          <a:xfrm>
            <a:off x="506796" y="918372"/>
            <a:ext cx="4065204" cy="4185761"/>
          </a:xfrm>
          <a:prstGeom prst="rect">
            <a:avLst/>
          </a:prstGeom>
        </p:spPr>
        <p:txBody>
          <a:bodyPr vert="horz" wrap="square" lIns="0" tIns="0" rIns="0" bIns="0" rtlCol="0">
            <a:spAutoFit/>
          </a:bodyPr>
          <a:lstStyle/>
          <a:p>
            <a:pPr algn="just">
              <a:spcAft>
                <a:spcPts val="0"/>
              </a:spcAft>
            </a:pPr>
            <a:r>
              <a:rPr lang="es-ES" sz="1600" b="1" spc="-10" dirty="0">
                <a:solidFill>
                  <a:srgbClr val="262626"/>
                </a:solidFill>
                <a:latin typeface="Calibri" charset="0"/>
                <a:ea typeface="Calibri" charset="0"/>
                <a:cs typeface="Calibri" charset="0"/>
              </a:rPr>
              <a:t>DIAGRAMA DE CAJA (BOXPLOT)</a:t>
            </a:r>
          </a:p>
          <a:p>
            <a:pPr algn="just">
              <a:spcAft>
                <a:spcPts val="0"/>
              </a:spcAft>
            </a:pPr>
            <a:r>
              <a:rPr lang="es-ES" sz="1600" b="1" spc="-10" dirty="0">
                <a:solidFill>
                  <a:srgbClr val="262626"/>
                </a:solidFill>
                <a:latin typeface="Calibri" charset="0"/>
                <a:ea typeface="Calibri" charset="0"/>
                <a:cs typeface="Calibri" charset="0"/>
              </a:rPr>
              <a:t> </a:t>
            </a:r>
          </a:p>
          <a:p>
            <a:pPr marL="285750" indent="-285750">
              <a:spcAft>
                <a:spcPts val="0"/>
              </a:spcAft>
              <a:buFont typeface="Arial" panose="020B0604020202020204" pitchFamily="34" charset="0"/>
              <a:buChar char="•"/>
            </a:pPr>
            <a:r>
              <a:rPr lang="es-ES" sz="1600" spc="-10" dirty="0">
                <a:solidFill>
                  <a:srgbClr val="262626"/>
                </a:solidFill>
                <a:latin typeface="Calibri" charset="0"/>
                <a:ea typeface="Calibri" charset="0"/>
                <a:cs typeface="Calibri" charset="0"/>
              </a:rPr>
              <a:t>El diagrama de caja y bigotes (o boxplot) resume la distribución de una variable numérica a través de cinco valores clave: </a:t>
            </a:r>
          </a:p>
          <a:p>
            <a:pPr marL="285750" indent="-285750">
              <a:spcAft>
                <a:spcPts val="0"/>
              </a:spcAft>
              <a:buClr>
                <a:srgbClr val="7150A0"/>
              </a:buClr>
              <a:buFont typeface="Wingdings" panose="05000000000000000000" pitchFamily="2" charset="2"/>
              <a:buChar char="§"/>
            </a:pPr>
            <a:r>
              <a:rPr lang="es-ES" sz="1600" spc="-10" dirty="0">
                <a:solidFill>
                  <a:srgbClr val="262626"/>
                </a:solidFill>
                <a:latin typeface="Calibri" charset="0"/>
                <a:ea typeface="Calibri" charset="0"/>
                <a:cs typeface="Calibri" charset="0"/>
              </a:rPr>
              <a:t>Mínimo</a:t>
            </a:r>
          </a:p>
          <a:p>
            <a:pPr marL="285750" indent="-285750">
              <a:spcAft>
                <a:spcPts val="0"/>
              </a:spcAft>
              <a:buClr>
                <a:srgbClr val="7150A0"/>
              </a:buClr>
              <a:buFont typeface="Wingdings" panose="05000000000000000000" pitchFamily="2" charset="2"/>
              <a:buChar char="§"/>
            </a:pPr>
            <a:r>
              <a:rPr lang="es-ES" sz="1600" spc="-10" dirty="0">
                <a:solidFill>
                  <a:srgbClr val="262626"/>
                </a:solidFill>
                <a:latin typeface="Calibri" charset="0"/>
                <a:ea typeface="Calibri" charset="0"/>
                <a:cs typeface="Calibri" charset="0"/>
              </a:rPr>
              <a:t>Primer cuartil</a:t>
            </a:r>
          </a:p>
          <a:p>
            <a:pPr marL="285750" indent="-285750">
              <a:spcAft>
                <a:spcPts val="0"/>
              </a:spcAft>
              <a:buClr>
                <a:srgbClr val="7150A0"/>
              </a:buClr>
              <a:buFont typeface="Wingdings" panose="05000000000000000000" pitchFamily="2" charset="2"/>
              <a:buChar char="§"/>
            </a:pPr>
            <a:r>
              <a:rPr lang="es-ES" sz="1600" spc="-10" dirty="0">
                <a:solidFill>
                  <a:srgbClr val="262626"/>
                </a:solidFill>
                <a:latin typeface="Calibri" charset="0"/>
                <a:ea typeface="Calibri" charset="0"/>
                <a:cs typeface="Calibri" charset="0"/>
              </a:rPr>
              <a:t>Mediana </a:t>
            </a:r>
          </a:p>
          <a:p>
            <a:pPr marL="285750" indent="-285750">
              <a:spcAft>
                <a:spcPts val="0"/>
              </a:spcAft>
              <a:buClr>
                <a:srgbClr val="7150A0"/>
              </a:buClr>
              <a:buFont typeface="Wingdings" panose="05000000000000000000" pitchFamily="2" charset="2"/>
              <a:buChar char="§"/>
            </a:pPr>
            <a:r>
              <a:rPr lang="es-ES" sz="1600" spc="-10" dirty="0">
                <a:solidFill>
                  <a:srgbClr val="262626"/>
                </a:solidFill>
                <a:latin typeface="Calibri" charset="0"/>
                <a:ea typeface="Calibri" charset="0"/>
                <a:cs typeface="Calibri" charset="0"/>
              </a:rPr>
              <a:t>Tercer cuartil </a:t>
            </a:r>
          </a:p>
          <a:p>
            <a:pPr marL="285750" indent="-285750">
              <a:spcAft>
                <a:spcPts val="0"/>
              </a:spcAft>
              <a:buClr>
                <a:srgbClr val="7150A0"/>
              </a:buClr>
              <a:buFont typeface="Wingdings" panose="05000000000000000000" pitchFamily="2" charset="2"/>
              <a:buChar char="§"/>
            </a:pPr>
            <a:r>
              <a:rPr lang="es-ES" sz="1600" spc="-10" dirty="0">
                <a:solidFill>
                  <a:srgbClr val="262626"/>
                </a:solidFill>
                <a:latin typeface="Calibri" charset="0"/>
                <a:ea typeface="Calibri" charset="0"/>
                <a:cs typeface="Calibri" charset="0"/>
              </a:rPr>
              <a:t>Máximo. </a:t>
            </a:r>
          </a:p>
          <a:p>
            <a:pPr marL="285750" indent="-285750">
              <a:spcAft>
                <a:spcPts val="0"/>
              </a:spcAft>
              <a:buFont typeface="Arial" panose="020B0604020202020204" pitchFamily="34" charset="0"/>
              <a:buChar char="•"/>
            </a:pPr>
            <a:endParaRPr lang="es-ES" sz="1600" spc="-10" dirty="0">
              <a:solidFill>
                <a:srgbClr val="262626"/>
              </a:solidFill>
              <a:latin typeface="Calibri" charset="0"/>
              <a:ea typeface="Calibri" charset="0"/>
              <a:cs typeface="Calibri" charset="0"/>
            </a:endParaRPr>
          </a:p>
          <a:p>
            <a:pPr marL="285750" indent="-285750">
              <a:spcAft>
                <a:spcPts val="0"/>
              </a:spcAft>
              <a:buFont typeface="Arial" panose="020B0604020202020204" pitchFamily="34" charset="0"/>
              <a:buChar char="•"/>
            </a:pPr>
            <a:r>
              <a:rPr lang="es-ES" sz="1600" spc="-10" dirty="0">
                <a:solidFill>
                  <a:srgbClr val="262626"/>
                </a:solidFill>
                <a:latin typeface="Calibri" charset="0"/>
                <a:ea typeface="Calibri" charset="0"/>
                <a:cs typeface="Calibri" charset="0"/>
              </a:rPr>
              <a:t>Además, identifica visualmente los valores atípicos (</a:t>
            </a:r>
            <a:r>
              <a:rPr lang="es-ES" sz="1600" spc="-10" dirty="0" err="1">
                <a:solidFill>
                  <a:srgbClr val="262626"/>
                </a:solidFill>
                <a:latin typeface="Calibri" charset="0"/>
                <a:ea typeface="Calibri" charset="0"/>
                <a:cs typeface="Calibri" charset="0"/>
              </a:rPr>
              <a:t>outliers</a:t>
            </a:r>
            <a:r>
              <a:rPr lang="es-ES" sz="1600" spc="-10" dirty="0">
                <a:solidFill>
                  <a:srgbClr val="262626"/>
                </a:solidFill>
                <a:latin typeface="Calibri" charset="0"/>
                <a:ea typeface="Calibri" charset="0"/>
                <a:cs typeface="Calibri" charset="0"/>
              </a:rPr>
              <a:t>).</a:t>
            </a:r>
          </a:p>
          <a:p>
            <a:pPr marL="285750" indent="-285750">
              <a:spcAft>
                <a:spcPts val="0"/>
              </a:spcAft>
              <a:buFont typeface="Arial" panose="020B0604020202020204" pitchFamily="34" charset="0"/>
              <a:buChar char="•"/>
            </a:pPr>
            <a:endParaRPr lang="es-ES" sz="1600" spc="-10" dirty="0">
              <a:solidFill>
                <a:srgbClr val="262626"/>
              </a:solidFill>
              <a:latin typeface="Calibri" charset="0"/>
              <a:ea typeface="Calibri" charset="0"/>
              <a:cs typeface="Calibri" charset="0"/>
            </a:endParaRPr>
          </a:p>
          <a:p>
            <a:pPr marL="285750" indent="-285750">
              <a:spcAft>
                <a:spcPts val="0"/>
              </a:spcAft>
              <a:buFont typeface="Arial" panose="020B0604020202020204" pitchFamily="34" charset="0"/>
              <a:buChar char="•"/>
            </a:pPr>
            <a:r>
              <a:rPr lang="es-ES" sz="1600" spc="-10" dirty="0">
                <a:solidFill>
                  <a:srgbClr val="262626"/>
                </a:solidFill>
                <a:latin typeface="Calibri" charset="0"/>
                <a:ea typeface="Calibri" charset="0"/>
                <a:cs typeface="Calibri" charset="0"/>
              </a:rPr>
              <a:t>Permite comparar distribuciones entre grupos, detectar asimetrías y conocer la variabilidad de los datos de manera compacta.</a:t>
            </a:r>
            <a:endParaRPr lang="es-PE" sz="1600" spc="-10" dirty="0">
              <a:solidFill>
                <a:srgbClr val="262626"/>
              </a:solidFill>
              <a:latin typeface="Calibri" charset="0"/>
              <a:ea typeface="Calibri" charset="0"/>
              <a:cs typeface="Calibri" charset="0"/>
            </a:endParaRPr>
          </a:p>
        </p:txBody>
      </p:sp>
      <p:pic>
        <p:nvPicPr>
          <p:cNvPr id="5" name="Imagen 4"/>
          <p:cNvPicPr>
            <a:picLocks noChangeAspect="1"/>
          </p:cNvPicPr>
          <p:nvPr/>
        </p:nvPicPr>
        <p:blipFill rotWithShape="1">
          <a:blip r:embed="rId2"/>
          <a:srcRect l="3060" t="27489" r="1580" b="4247"/>
          <a:stretch/>
        </p:blipFill>
        <p:spPr>
          <a:xfrm>
            <a:off x="4572000" y="2259235"/>
            <a:ext cx="4065204" cy="1504033"/>
          </a:xfrm>
          <a:prstGeom prst="rect">
            <a:avLst/>
          </a:prstGeom>
          <a:ln w="6350">
            <a:solidFill>
              <a:schemeClr val="tx1"/>
            </a:solidFill>
          </a:ln>
        </p:spPr>
      </p:pic>
      <p:sp>
        <p:nvSpPr>
          <p:cNvPr id="6" name="Rectangle 5">
            <a:extLst>
              <a:ext uri="{FF2B5EF4-FFF2-40B4-BE49-F238E27FC236}">
                <a16:creationId xmlns:a16="http://schemas.microsoft.com/office/drawing/2014/main" id="{5DC674CC-2A53-4C0D-A180-9036698712E4}"/>
              </a:ext>
            </a:extLst>
          </p:cNvPr>
          <p:cNvSpPr/>
          <p:nvPr/>
        </p:nvSpPr>
        <p:spPr>
          <a:xfrm>
            <a:off x="503237" y="380615"/>
            <a:ext cx="3560379"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charset="0"/>
                <a:ea typeface="Calibri" charset="0"/>
                <a:cs typeface="Calibri" charset="0"/>
              </a:rPr>
              <a:t>REPRESENTACIÓN GRÁFICA: HISTOGRAMAS, DIAGRAMAS DE CAJA</a:t>
            </a:r>
          </a:p>
        </p:txBody>
      </p:sp>
    </p:spTree>
    <p:extLst>
      <p:ext uri="{BB962C8B-B14F-4D97-AF65-F5344CB8AC3E}">
        <p14:creationId xmlns:p14="http://schemas.microsoft.com/office/powerpoint/2010/main" val="4290729646"/>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10 Rectángulo">
            <a:extLst>
              <a:ext uri="{FF2B5EF4-FFF2-40B4-BE49-F238E27FC236}">
                <a16:creationId xmlns:a16="http://schemas.microsoft.com/office/drawing/2014/main" id="{32DDDC8D-4DFC-4316-817D-A4CAA5B2BD4B}"/>
              </a:ext>
            </a:extLst>
          </p:cNvPr>
          <p:cNvSpPr/>
          <p:nvPr/>
        </p:nvSpPr>
        <p:spPr>
          <a:xfrm>
            <a:off x="683568" y="1117307"/>
            <a:ext cx="7488832" cy="646331"/>
          </a:xfrm>
          <a:prstGeom prst="rect">
            <a:avLst/>
          </a:prstGeom>
        </p:spPr>
        <p:txBody>
          <a:bodyPr wrap="square">
            <a:spAutoFit/>
          </a:bodyPr>
          <a:lstStyle/>
          <a:p>
            <a:endParaRPr lang="es-PE" dirty="0">
              <a:latin typeface="Calibri" charset="0"/>
            </a:endParaRPr>
          </a:p>
          <a:p>
            <a:endParaRPr lang="es-PE" dirty="0">
              <a:latin typeface="Calibri" charset="0"/>
            </a:endParaRPr>
          </a:p>
        </p:txBody>
      </p:sp>
      <p:sp>
        <p:nvSpPr>
          <p:cNvPr id="7" name="object 7">
            <a:extLst>
              <a:ext uri="{FF2B5EF4-FFF2-40B4-BE49-F238E27FC236}">
                <a16:creationId xmlns:a16="http://schemas.microsoft.com/office/drawing/2014/main" id="{35093E99-390E-4468-842B-F93A9354F6F9}"/>
              </a:ext>
            </a:extLst>
          </p:cNvPr>
          <p:cNvSpPr txBox="1"/>
          <p:nvPr/>
        </p:nvSpPr>
        <p:spPr>
          <a:xfrm>
            <a:off x="506796" y="918745"/>
            <a:ext cx="3885817" cy="4416594"/>
          </a:xfrm>
          <a:prstGeom prst="rect">
            <a:avLst/>
          </a:prstGeom>
        </p:spPr>
        <p:txBody>
          <a:bodyPr vert="horz" wrap="square" lIns="0" tIns="0" rIns="0" bIns="0" rtlCol="0">
            <a:spAutoFit/>
          </a:bodyPr>
          <a:lstStyle/>
          <a:p>
            <a:pPr>
              <a:spcAft>
                <a:spcPts val="600"/>
              </a:spcAft>
            </a:pPr>
            <a:r>
              <a:rPr lang="es-ES_tradnl" sz="1600" b="1" spc="-10" dirty="0">
                <a:latin typeface="Calibri" charset="0"/>
                <a:ea typeface="Calibri" charset="0"/>
                <a:cs typeface="Calibri" charset="0"/>
              </a:rPr>
              <a:t>EJEMPLO</a:t>
            </a:r>
          </a:p>
          <a:p>
            <a:pPr marL="293688" indent="-285750">
              <a:spcAft>
                <a:spcPts val="0"/>
              </a:spcAft>
              <a:buFont typeface="Arial" panose="020B0604020202020204" pitchFamily="34" charset="0"/>
              <a:buChar char="•"/>
            </a:pPr>
            <a:r>
              <a:rPr lang="es-ES" sz="1600" spc="-10" dirty="0">
                <a:latin typeface="Calibri" charset="0"/>
                <a:ea typeface="Calibri" charset="0"/>
                <a:cs typeface="Calibri" charset="0"/>
              </a:rPr>
              <a:t>El área de Recursos Humanos de una empresa busca identificar diferencias salariales entre tres departamentos: Ventas, Producción y Finanzas.</a:t>
            </a:r>
          </a:p>
          <a:p>
            <a:pPr marL="293688" indent="-285750">
              <a:spcAft>
                <a:spcPts val="0"/>
              </a:spcAft>
              <a:buFont typeface="Arial" panose="020B0604020202020204" pitchFamily="34" charset="0"/>
              <a:buChar char="•"/>
            </a:pPr>
            <a:endParaRPr lang="es-ES" sz="1600" spc="-10" dirty="0">
              <a:latin typeface="Calibri" charset="0"/>
              <a:ea typeface="Calibri" charset="0"/>
              <a:cs typeface="Calibri" charset="0"/>
            </a:endParaRPr>
          </a:p>
          <a:p>
            <a:pPr marL="293688" indent="-285750">
              <a:spcAft>
                <a:spcPts val="0"/>
              </a:spcAft>
              <a:buFont typeface="Arial" panose="020B0604020202020204" pitchFamily="34" charset="0"/>
              <a:buChar char="•"/>
            </a:pPr>
            <a:r>
              <a:rPr lang="es-ES" sz="1600" spc="-10" dirty="0">
                <a:latin typeface="Calibri" charset="0"/>
                <a:ea typeface="Calibri" charset="0"/>
                <a:cs typeface="Calibri" charset="0"/>
              </a:rPr>
              <a:t>Desean saber si los sueldos son homogéneos o si existen valores atípicos (outliers) que podrían afectar la equidad salarial o requerir revisión.</a:t>
            </a:r>
          </a:p>
          <a:p>
            <a:pPr marL="7938">
              <a:spcAft>
                <a:spcPts val="0"/>
              </a:spcAft>
            </a:pPr>
            <a:endParaRPr lang="es-ES_tradnl" sz="1600" spc="-10" dirty="0">
              <a:latin typeface="Calibri" charset="0"/>
              <a:ea typeface="Calibri" charset="0"/>
              <a:cs typeface="Calibri" charset="0"/>
            </a:endParaRPr>
          </a:p>
          <a:p>
            <a:pPr marL="279587" indent="-285750">
              <a:spcAft>
                <a:spcPts val="0"/>
              </a:spcAft>
              <a:buFont typeface="Wingdings" panose="05000000000000000000" pitchFamily="2" charset="2"/>
              <a:buChar char="ü"/>
            </a:pPr>
            <a:r>
              <a:rPr lang="es-ES" sz="1600" spc="-10" dirty="0">
                <a:latin typeface="Calibri" charset="0"/>
                <a:ea typeface="Calibri" charset="0"/>
                <a:cs typeface="Calibri" charset="0"/>
              </a:rPr>
              <a:t>Base de datos de la tabla adjunta muestra  los sueldos mensuales (en soles) de los tres departamentos.</a:t>
            </a:r>
          </a:p>
          <a:p>
            <a:pPr marL="279587" indent="-285750">
              <a:spcAft>
                <a:spcPts val="0"/>
              </a:spcAft>
              <a:buFont typeface="Wingdings" panose="05000000000000000000" pitchFamily="2" charset="2"/>
              <a:buChar char="ü"/>
            </a:pPr>
            <a:endParaRPr lang="es-ES" sz="1600" spc="-10" dirty="0">
              <a:latin typeface="Calibri" charset="0"/>
              <a:ea typeface="Calibri" charset="0"/>
              <a:cs typeface="Calibri" charset="0"/>
            </a:endParaRPr>
          </a:p>
          <a:p>
            <a:pPr>
              <a:spcAft>
                <a:spcPts val="0"/>
              </a:spcAft>
            </a:pPr>
            <a:r>
              <a:rPr lang="es-ES" sz="1400" i="1" spc="-10" dirty="0">
                <a:latin typeface="Calibri" charset="0"/>
                <a:ea typeface="Calibri" charset="0"/>
                <a:cs typeface="Calibri" charset="0"/>
              </a:rPr>
              <a:t>Observación: en el departamento de Ventas hay un salario de S/4000, que es un valor atípico respecto al resto.</a:t>
            </a:r>
          </a:p>
        </p:txBody>
      </p:sp>
      <p:graphicFrame>
        <p:nvGraphicFramePr>
          <p:cNvPr id="8" name="Tabla 7">
            <a:extLst>
              <a:ext uri="{FF2B5EF4-FFF2-40B4-BE49-F238E27FC236}">
                <a16:creationId xmlns:a16="http://schemas.microsoft.com/office/drawing/2014/main" id="{08CACD04-29DE-4B9B-8B8E-C9D922192CC5}"/>
              </a:ext>
            </a:extLst>
          </p:cNvPr>
          <p:cNvGraphicFramePr>
            <a:graphicFrameLocks noGrp="1"/>
          </p:cNvGraphicFramePr>
          <p:nvPr>
            <p:extLst>
              <p:ext uri="{D42A27DB-BD31-4B8C-83A1-F6EECF244321}">
                <p14:modId xmlns:p14="http://schemas.microsoft.com/office/powerpoint/2010/main" val="3999031806"/>
              </p:ext>
            </p:extLst>
          </p:nvPr>
        </p:nvGraphicFramePr>
        <p:xfrm>
          <a:off x="4996372" y="1648244"/>
          <a:ext cx="3352800" cy="2795848"/>
        </p:xfrm>
        <a:graphic>
          <a:graphicData uri="http://schemas.openxmlformats.org/drawingml/2006/table">
            <a:tbl>
              <a:tblPr/>
              <a:tblGrid>
                <a:gridCol w="838200">
                  <a:extLst>
                    <a:ext uri="{9D8B030D-6E8A-4147-A177-3AD203B41FA5}">
                      <a16:colId xmlns:a16="http://schemas.microsoft.com/office/drawing/2014/main" val="3446615366"/>
                    </a:ext>
                  </a:extLst>
                </a:gridCol>
                <a:gridCol w="838200">
                  <a:extLst>
                    <a:ext uri="{9D8B030D-6E8A-4147-A177-3AD203B41FA5}">
                      <a16:colId xmlns:a16="http://schemas.microsoft.com/office/drawing/2014/main" val="2215468642"/>
                    </a:ext>
                  </a:extLst>
                </a:gridCol>
                <a:gridCol w="838200">
                  <a:extLst>
                    <a:ext uri="{9D8B030D-6E8A-4147-A177-3AD203B41FA5}">
                      <a16:colId xmlns:a16="http://schemas.microsoft.com/office/drawing/2014/main" val="823095720"/>
                    </a:ext>
                  </a:extLst>
                </a:gridCol>
                <a:gridCol w="838200">
                  <a:extLst>
                    <a:ext uri="{9D8B030D-6E8A-4147-A177-3AD203B41FA5}">
                      <a16:colId xmlns:a16="http://schemas.microsoft.com/office/drawing/2014/main" val="2005649304"/>
                    </a:ext>
                  </a:extLst>
                </a:gridCol>
              </a:tblGrid>
              <a:tr h="254168">
                <a:tc>
                  <a:txBody>
                    <a:bodyPr/>
                    <a:lstStyle/>
                    <a:p>
                      <a:pPr algn="ctr" fontAlgn="ctr"/>
                      <a:r>
                        <a:rPr lang="es-PE" sz="1200" b="1" i="0" u="none" strike="noStrike">
                          <a:solidFill>
                            <a:srgbClr val="000000"/>
                          </a:solidFill>
                          <a:effectLst/>
                          <a:latin typeface="Calibri" panose="020F0502020204030204" pitchFamily="34" charset="0"/>
                        </a:rPr>
                        <a:t>Empleado</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fontAlgn="ctr"/>
                      <a:r>
                        <a:rPr lang="es-PE" sz="1200" b="1" i="0" u="none" strike="noStrike">
                          <a:solidFill>
                            <a:srgbClr val="000000"/>
                          </a:solidFill>
                          <a:effectLst/>
                          <a:latin typeface="Calibri" panose="020F0502020204030204" pitchFamily="34" charset="0"/>
                        </a:rPr>
                        <a:t>Ventas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s-PE" sz="1200" b="1" i="0" u="none" strike="noStrike">
                          <a:solidFill>
                            <a:srgbClr val="000000"/>
                          </a:solidFill>
                          <a:effectLst/>
                          <a:latin typeface="Calibri" panose="020F0502020204030204" pitchFamily="34" charset="0"/>
                        </a:rPr>
                        <a:t>Producción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s-PE" sz="1200" b="1" i="0" u="none" strike="noStrike">
                          <a:solidFill>
                            <a:srgbClr val="000000"/>
                          </a:solidFill>
                          <a:effectLst/>
                          <a:latin typeface="Calibri" panose="020F0502020204030204" pitchFamily="34" charset="0"/>
                        </a:rPr>
                        <a:t>Finanzas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extLst>
                  <a:ext uri="{0D108BD9-81ED-4DB2-BD59-A6C34878D82A}">
                    <a16:rowId xmlns:a16="http://schemas.microsoft.com/office/drawing/2014/main" val="3931887785"/>
                  </a:ext>
                </a:extLst>
              </a:tr>
              <a:tr h="254168">
                <a:tc>
                  <a:txBody>
                    <a:bodyPr/>
                    <a:lstStyle/>
                    <a:p>
                      <a:pPr algn="ctr" fontAlgn="ctr"/>
                      <a:r>
                        <a:rPr lang="es-PE" sz="1200" b="0" i="0" u="none" strike="noStrike">
                          <a:solidFill>
                            <a:srgbClr val="000000"/>
                          </a:solidFill>
                          <a:effectLst/>
                          <a:latin typeface="Calibri" panose="020F0502020204030204" pitchFamily="34" charset="0"/>
                        </a:rPr>
                        <a:t>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fontAlgn="ctr"/>
                      <a:r>
                        <a:rPr lang="es-PE" sz="1200" b="0" i="0" u="none" strike="noStrike">
                          <a:solidFill>
                            <a:srgbClr val="000000"/>
                          </a:solidFill>
                          <a:effectLst/>
                          <a:latin typeface="Calibri" panose="020F0502020204030204" pitchFamily="34" charset="0"/>
                        </a:rPr>
                        <a:t>2500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1200" b="0" i="0" u="none" strike="noStrike">
                          <a:solidFill>
                            <a:srgbClr val="000000"/>
                          </a:solidFill>
                          <a:effectLst/>
                          <a:latin typeface="Calibri" panose="020F0502020204030204" pitchFamily="34" charset="0"/>
                        </a:rPr>
                        <a:t>2300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1200" b="0" i="0" u="none" strike="noStrike">
                          <a:solidFill>
                            <a:srgbClr val="000000"/>
                          </a:solidFill>
                          <a:effectLst/>
                          <a:latin typeface="Calibri" panose="020F0502020204030204" pitchFamily="34" charset="0"/>
                        </a:rPr>
                        <a:t>2600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33192031"/>
                  </a:ext>
                </a:extLst>
              </a:tr>
              <a:tr h="254168">
                <a:tc>
                  <a:txBody>
                    <a:bodyPr/>
                    <a:lstStyle/>
                    <a:p>
                      <a:pPr algn="ctr" fontAlgn="ctr"/>
                      <a:r>
                        <a:rPr lang="es-PE" sz="1200" b="0" i="0" u="none" strike="noStrike">
                          <a:solidFill>
                            <a:srgbClr val="000000"/>
                          </a:solidFill>
                          <a:effectLst/>
                          <a:latin typeface="Calibri" panose="020F0502020204030204" pitchFamily="34" charset="0"/>
                        </a:rPr>
                        <a:t>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fontAlgn="ctr"/>
                      <a:r>
                        <a:rPr lang="es-PE" sz="1200" b="0" i="0" u="none" strike="noStrike" dirty="0">
                          <a:solidFill>
                            <a:srgbClr val="000000"/>
                          </a:solidFill>
                          <a:effectLst/>
                          <a:latin typeface="Calibri" panose="020F0502020204030204" pitchFamily="34" charset="0"/>
                        </a:rPr>
                        <a:t>2700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1200" b="0" i="0" u="none" strike="noStrike">
                          <a:solidFill>
                            <a:srgbClr val="000000"/>
                          </a:solidFill>
                          <a:effectLst/>
                          <a:latin typeface="Calibri" panose="020F0502020204030204" pitchFamily="34" charset="0"/>
                        </a:rPr>
                        <a:t>2400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1200" b="0" i="0" u="none" strike="noStrike">
                          <a:solidFill>
                            <a:srgbClr val="000000"/>
                          </a:solidFill>
                          <a:effectLst/>
                          <a:latin typeface="Calibri" panose="020F0502020204030204" pitchFamily="34" charset="0"/>
                        </a:rPr>
                        <a:t>2800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01393253"/>
                  </a:ext>
                </a:extLst>
              </a:tr>
              <a:tr h="254168">
                <a:tc>
                  <a:txBody>
                    <a:bodyPr/>
                    <a:lstStyle/>
                    <a:p>
                      <a:pPr algn="ctr" fontAlgn="ctr"/>
                      <a:r>
                        <a:rPr lang="es-PE" sz="1200" b="0" i="0" u="none" strike="noStrike">
                          <a:solidFill>
                            <a:srgbClr val="000000"/>
                          </a:solidFill>
                          <a:effectLst/>
                          <a:latin typeface="Calibri" panose="020F0502020204030204" pitchFamily="34" charset="0"/>
                        </a:rPr>
                        <a:t>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fontAlgn="ctr"/>
                      <a:r>
                        <a:rPr lang="es-PE" sz="1200" b="0" i="0" u="none" strike="noStrike">
                          <a:solidFill>
                            <a:srgbClr val="000000"/>
                          </a:solidFill>
                          <a:effectLst/>
                          <a:latin typeface="Calibri" panose="020F0502020204030204" pitchFamily="34" charset="0"/>
                        </a:rPr>
                        <a:t>2600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1200" b="0" i="0" u="none" strike="noStrike">
                          <a:solidFill>
                            <a:srgbClr val="000000"/>
                          </a:solidFill>
                          <a:effectLst/>
                          <a:latin typeface="Calibri" panose="020F0502020204030204" pitchFamily="34" charset="0"/>
                        </a:rPr>
                        <a:t>2500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1200" b="0" i="0" u="none" strike="noStrike">
                          <a:solidFill>
                            <a:srgbClr val="000000"/>
                          </a:solidFill>
                          <a:effectLst/>
                          <a:latin typeface="Calibri" panose="020F0502020204030204" pitchFamily="34" charset="0"/>
                        </a:rPr>
                        <a:t>2700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75316693"/>
                  </a:ext>
                </a:extLst>
              </a:tr>
              <a:tr h="254168">
                <a:tc>
                  <a:txBody>
                    <a:bodyPr/>
                    <a:lstStyle/>
                    <a:p>
                      <a:pPr algn="ctr" fontAlgn="ctr"/>
                      <a:r>
                        <a:rPr lang="es-PE" sz="1200" b="0" i="0" u="none" strike="noStrike">
                          <a:solidFill>
                            <a:srgbClr val="000000"/>
                          </a:solidFill>
                          <a:effectLst/>
                          <a:latin typeface="Calibri" panose="020F0502020204030204" pitchFamily="34" charset="0"/>
                        </a:rPr>
                        <a:t>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fontAlgn="ctr"/>
                      <a:r>
                        <a:rPr lang="es-PE" sz="1200" b="0" i="0" u="none" strike="noStrike">
                          <a:solidFill>
                            <a:srgbClr val="000000"/>
                          </a:solidFill>
                          <a:effectLst/>
                          <a:latin typeface="Calibri" panose="020F0502020204030204" pitchFamily="34" charset="0"/>
                        </a:rPr>
                        <a:t>2800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1200" b="0" i="0" u="none" strike="noStrike">
                          <a:solidFill>
                            <a:srgbClr val="000000"/>
                          </a:solidFill>
                          <a:effectLst/>
                          <a:latin typeface="Calibri" panose="020F0502020204030204" pitchFamily="34" charset="0"/>
                        </a:rPr>
                        <a:t>2600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1200" b="0" i="0" u="none" strike="noStrike">
                          <a:solidFill>
                            <a:srgbClr val="000000"/>
                          </a:solidFill>
                          <a:effectLst/>
                          <a:latin typeface="Calibri" panose="020F0502020204030204" pitchFamily="34" charset="0"/>
                        </a:rPr>
                        <a:t>2900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43022729"/>
                  </a:ext>
                </a:extLst>
              </a:tr>
              <a:tr h="254168">
                <a:tc>
                  <a:txBody>
                    <a:bodyPr/>
                    <a:lstStyle/>
                    <a:p>
                      <a:pPr algn="ctr" fontAlgn="ctr"/>
                      <a:r>
                        <a:rPr lang="es-PE" sz="1200" b="0" i="0" u="none" strike="noStrike">
                          <a:solidFill>
                            <a:srgbClr val="000000"/>
                          </a:solidFill>
                          <a:effectLst/>
                          <a:latin typeface="Calibri" panose="020F0502020204030204" pitchFamily="34" charset="0"/>
                        </a:rPr>
                        <a:t>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fontAlgn="ctr"/>
                      <a:r>
                        <a:rPr lang="es-PE" sz="1200" b="0" i="0" u="none" strike="noStrike" dirty="0">
                          <a:solidFill>
                            <a:srgbClr val="000000"/>
                          </a:solidFill>
                          <a:effectLst/>
                          <a:latin typeface="Calibri" panose="020F0502020204030204" pitchFamily="34" charset="0"/>
                        </a:rPr>
                        <a:t>3100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1200" b="0" i="0" u="none" strike="noStrike">
                          <a:solidFill>
                            <a:srgbClr val="000000"/>
                          </a:solidFill>
                          <a:effectLst/>
                          <a:latin typeface="Calibri" panose="020F0502020204030204" pitchFamily="34" charset="0"/>
                        </a:rPr>
                        <a:t>2700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1200" b="0" i="0" u="none" strike="noStrike" dirty="0">
                          <a:solidFill>
                            <a:srgbClr val="000000"/>
                          </a:solidFill>
                          <a:effectLst/>
                          <a:latin typeface="Calibri" panose="020F0502020204030204" pitchFamily="34" charset="0"/>
                        </a:rPr>
                        <a:t>3000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470769"/>
                  </a:ext>
                </a:extLst>
              </a:tr>
              <a:tr h="254168">
                <a:tc>
                  <a:txBody>
                    <a:bodyPr/>
                    <a:lstStyle/>
                    <a:p>
                      <a:pPr algn="ctr" fontAlgn="ctr"/>
                      <a:r>
                        <a:rPr lang="es-PE" sz="1200" b="0" i="0" u="none" strike="noStrike">
                          <a:solidFill>
                            <a:srgbClr val="000000"/>
                          </a:solidFill>
                          <a:effectLst/>
                          <a:latin typeface="Calibri" panose="020F0502020204030204" pitchFamily="34" charset="0"/>
                        </a:rPr>
                        <a:t>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fontAlgn="ctr"/>
                      <a:r>
                        <a:rPr lang="es-PE" sz="1200" b="0" i="0" u="none" strike="noStrike" dirty="0">
                          <a:solidFill>
                            <a:srgbClr val="000000"/>
                          </a:solidFill>
                          <a:effectLst/>
                          <a:latin typeface="Calibri" panose="020F0502020204030204" pitchFamily="34" charset="0"/>
                        </a:rPr>
                        <a:t>2900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1200" b="0" i="0" u="none" strike="noStrike">
                          <a:solidFill>
                            <a:srgbClr val="000000"/>
                          </a:solidFill>
                          <a:effectLst/>
                          <a:latin typeface="Calibri" panose="020F0502020204030204" pitchFamily="34" charset="0"/>
                        </a:rPr>
                        <a:t>2800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1200" b="0" i="0" u="none" strike="noStrike">
                          <a:solidFill>
                            <a:srgbClr val="000000"/>
                          </a:solidFill>
                          <a:effectLst/>
                          <a:latin typeface="Calibri" panose="020F0502020204030204" pitchFamily="34" charset="0"/>
                        </a:rPr>
                        <a:t>3100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02314601"/>
                  </a:ext>
                </a:extLst>
              </a:tr>
              <a:tr h="254168">
                <a:tc>
                  <a:txBody>
                    <a:bodyPr/>
                    <a:lstStyle/>
                    <a:p>
                      <a:pPr algn="ctr" fontAlgn="ctr"/>
                      <a:r>
                        <a:rPr lang="es-PE" sz="1200" b="0" i="0" u="none" strike="noStrike">
                          <a:solidFill>
                            <a:srgbClr val="000000"/>
                          </a:solidFill>
                          <a:effectLst/>
                          <a:latin typeface="Calibri" panose="020F0502020204030204" pitchFamily="34" charset="0"/>
                        </a:rPr>
                        <a:t>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fontAlgn="ctr"/>
                      <a:r>
                        <a:rPr lang="es-PE" sz="1200" b="0" i="0" u="none" strike="noStrike">
                          <a:solidFill>
                            <a:srgbClr val="000000"/>
                          </a:solidFill>
                          <a:effectLst/>
                          <a:latin typeface="Calibri" panose="020F0502020204030204" pitchFamily="34" charset="0"/>
                        </a:rPr>
                        <a:t>2700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1200" b="0" i="0" u="none" strike="noStrike">
                          <a:solidFill>
                            <a:srgbClr val="000000"/>
                          </a:solidFill>
                          <a:effectLst/>
                          <a:latin typeface="Calibri" panose="020F0502020204030204" pitchFamily="34" charset="0"/>
                        </a:rPr>
                        <a:t>2600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1200" b="0" i="0" u="none" strike="noStrike">
                          <a:solidFill>
                            <a:srgbClr val="000000"/>
                          </a:solidFill>
                          <a:effectLst/>
                          <a:latin typeface="Calibri" panose="020F0502020204030204" pitchFamily="34" charset="0"/>
                        </a:rPr>
                        <a:t>2900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08225377"/>
                  </a:ext>
                </a:extLst>
              </a:tr>
              <a:tr h="254168">
                <a:tc>
                  <a:txBody>
                    <a:bodyPr/>
                    <a:lstStyle/>
                    <a:p>
                      <a:pPr algn="ctr" fontAlgn="ctr"/>
                      <a:r>
                        <a:rPr lang="es-PE" sz="1200" b="0" i="0" u="none" strike="noStrike">
                          <a:solidFill>
                            <a:srgbClr val="000000"/>
                          </a:solidFill>
                          <a:effectLst/>
                          <a:latin typeface="Calibri" panose="020F0502020204030204" pitchFamily="34" charset="0"/>
                        </a:rPr>
                        <a:t>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fontAlgn="ctr"/>
                      <a:r>
                        <a:rPr lang="es-PE" sz="1200" b="0" i="0" u="none" strike="noStrike">
                          <a:solidFill>
                            <a:srgbClr val="000000"/>
                          </a:solidFill>
                          <a:effectLst/>
                          <a:latin typeface="Calibri" panose="020F0502020204030204" pitchFamily="34" charset="0"/>
                        </a:rPr>
                        <a:t>2600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1200" b="0" i="0" u="none" strike="noStrike">
                          <a:solidFill>
                            <a:srgbClr val="000000"/>
                          </a:solidFill>
                          <a:effectLst/>
                          <a:latin typeface="Calibri" panose="020F0502020204030204" pitchFamily="34" charset="0"/>
                        </a:rPr>
                        <a:t>2500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1200" b="0" i="0" u="none" strike="noStrike">
                          <a:solidFill>
                            <a:srgbClr val="000000"/>
                          </a:solidFill>
                          <a:effectLst/>
                          <a:latin typeface="Calibri" panose="020F0502020204030204" pitchFamily="34" charset="0"/>
                        </a:rPr>
                        <a:t>2700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88118580"/>
                  </a:ext>
                </a:extLst>
              </a:tr>
              <a:tr h="254168">
                <a:tc>
                  <a:txBody>
                    <a:bodyPr/>
                    <a:lstStyle/>
                    <a:p>
                      <a:pPr algn="ctr" fontAlgn="ctr"/>
                      <a:r>
                        <a:rPr lang="es-PE" sz="1200" b="0" i="0" u="none" strike="noStrike">
                          <a:solidFill>
                            <a:srgbClr val="000000"/>
                          </a:solidFill>
                          <a:effectLst/>
                          <a:latin typeface="Calibri" panose="020F0502020204030204" pitchFamily="34" charset="0"/>
                        </a:rPr>
                        <a:t>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fontAlgn="ctr"/>
                      <a:r>
                        <a:rPr lang="es-PE" sz="1200" b="0" i="0" u="none" strike="noStrike">
                          <a:solidFill>
                            <a:srgbClr val="000000"/>
                          </a:solidFill>
                          <a:effectLst/>
                          <a:latin typeface="Calibri" panose="020F0502020204030204" pitchFamily="34" charset="0"/>
                        </a:rPr>
                        <a:t>3000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1200" b="0" i="0" u="none" strike="noStrike">
                          <a:solidFill>
                            <a:srgbClr val="000000"/>
                          </a:solidFill>
                          <a:effectLst/>
                          <a:latin typeface="Calibri" panose="020F0502020204030204" pitchFamily="34" charset="0"/>
                        </a:rPr>
                        <a:t>2700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1200" b="0" i="0" u="none" strike="noStrike">
                          <a:solidFill>
                            <a:srgbClr val="000000"/>
                          </a:solidFill>
                          <a:effectLst/>
                          <a:latin typeface="Calibri" panose="020F0502020204030204" pitchFamily="34" charset="0"/>
                        </a:rPr>
                        <a:t>2800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78759892"/>
                  </a:ext>
                </a:extLst>
              </a:tr>
              <a:tr h="254168">
                <a:tc>
                  <a:txBody>
                    <a:bodyPr/>
                    <a:lstStyle/>
                    <a:p>
                      <a:pPr algn="ctr" fontAlgn="ctr"/>
                      <a:r>
                        <a:rPr lang="es-PE" sz="1200" b="0" i="0" u="none" strike="noStrike">
                          <a:solidFill>
                            <a:srgbClr val="000000"/>
                          </a:solidFill>
                          <a:effectLst/>
                          <a:latin typeface="Calibri" panose="020F0502020204030204" pitchFamily="34" charset="0"/>
                        </a:rPr>
                        <a:t>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fontAlgn="ctr"/>
                      <a:r>
                        <a:rPr lang="es-PE" sz="1200" b="0" i="0" u="none" strike="noStrike">
                          <a:solidFill>
                            <a:srgbClr val="000000"/>
                          </a:solidFill>
                          <a:effectLst/>
                          <a:latin typeface="Calibri" panose="020F0502020204030204" pitchFamily="34" charset="0"/>
                        </a:rPr>
                        <a:t>4000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1200" b="0" i="0" u="none" strike="noStrike">
                          <a:solidFill>
                            <a:srgbClr val="000000"/>
                          </a:solidFill>
                          <a:effectLst/>
                          <a:latin typeface="Calibri" panose="020F0502020204030204" pitchFamily="34" charset="0"/>
                        </a:rPr>
                        <a:t>2500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1200" b="0" i="0" u="none" strike="noStrike" dirty="0">
                          <a:solidFill>
                            <a:srgbClr val="000000"/>
                          </a:solidFill>
                          <a:effectLst/>
                          <a:latin typeface="Calibri" panose="020F0502020204030204" pitchFamily="34" charset="0"/>
                        </a:rPr>
                        <a:t>3200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2187909"/>
                  </a:ext>
                </a:extLst>
              </a:tr>
            </a:tbl>
          </a:graphicData>
        </a:graphic>
      </p:graphicFrame>
      <p:sp>
        <p:nvSpPr>
          <p:cNvPr id="9" name="Rectangle 5">
            <a:extLst>
              <a:ext uri="{FF2B5EF4-FFF2-40B4-BE49-F238E27FC236}">
                <a16:creationId xmlns:a16="http://schemas.microsoft.com/office/drawing/2014/main" id="{128CC188-5404-4FCA-BEA8-23F8E4644CFC}"/>
              </a:ext>
            </a:extLst>
          </p:cNvPr>
          <p:cNvSpPr/>
          <p:nvPr/>
        </p:nvSpPr>
        <p:spPr>
          <a:xfrm>
            <a:off x="503237" y="380615"/>
            <a:ext cx="3560379"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charset="0"/>
                <a:ea typeface="Calibri" charset="0"/>
                <a:cs typeface="Calibri" charset="0"/>
              </a:rPr>
              <a:t>REPRESENTACIÓN GRÁFICA: HISTOGRAMAS, DIAGRAMAS DE CAJA</a:t>
            </a:r>
          </a:p>
        </p:txBody>
      </p:sp>
    </p:spTree>
    <p:extLst>
      <p:ext uri="{BB962C8B-B14F-4D97-AF65-F5344CB8AC3E}">
        <p14:creationId xmlns:p14="http://schemas.microsoft.com/office/powerpoint/2010/main" val="3317520887"/>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10 Rectángulo">
            <a:extLst>
              <a:ext uri="{FF2B5EF4-FFF2-40B4-BE49-F238E27FC236}">
                <a16:creationId xmlns:a16="http://schemas.microsoft.com/office/drawing/2014/main" id="{5E588C46-16A4-462F-8AB3-872F6A3A15AD}"/>
              </a:ext>
            </a:extLst>
          </p:cNvPr>
          <p:cNvSpPr/>
          <p:nvPr/>
        </p:nvSpPr>
        <p:spPr>
          <a:xfrm>
            <a:off x="683568" y="1117307"/>
            <a:ext cx="7488832" cy="646331"/>
          </a:xfrm>
          <a:prstGeom prst="rect">
            <a:avLst/>
          </a:prstGeom>
        </p:spPr>
        <p:txBody>
          <a:bodyPr wrap="square">
            <a:spAutoFit/>
          </a:bodyPr>
          <a:lstStyle/>
          <a:p>
            <a:endParaRPr lang="es-PE" dirty="0">
              <a:latin typeface="Calibri" charset="0"/>
            </a:endParaRPr>
          </a:p>
          <a:p>
            <a:endParaRPr lang="es-PE" dirty="0">
              <a:latin typeface="Calibri" charset="0"/>
            </a:endParaRPr>
          </a:p>
        </p:txBody>
      </p:sp>
      <p:sp>
        <p:nvSpPr>
          <p:cNvPr id="10" name="object 7">
            <a:extLst>
              <a:ext uri="{FF2B5EF4-FFF2-40B4-BE49-F238E27FC236}">
                <a16:creationId xmlns:a16="http://schemas.microsoft.com/office/drawing/2014/main" id="{91EA9EA6-F35F-4679-BE3F-847428D11E20}"/>
              </a:ext>
            </a:extLst>
          </p:cNvPr>
          <p:cNvSpPr txBox="1"/>
          <p:nvPr/>
        </p:nvSpPr>
        <p:spPr>
          <a:xfrm>
            <a:off x="506796" y="918745"/>
            <a:ext cx="3885817" cy="246221"/>
          </a:xfrm>
          <a:prstGeom prst="rect">
            <a:avLst/>
          </a:prstGeom>
        </p:spPr>
        <p:txBody>
          <a:bodyPr vert="horz" wrap="square" lIns="0" tIns="0" rIns="0" bIns="0" rtlCol="0">
            <a:spAutoFit/>
          </a:bodyPr>
          <a:lstStyle/>
          <a:p>
            <a:pPr>
              <a:spcAft>
                <a:spcPts val="600"/>
              </a:spcAft>
            </a:pPr>
            <a:r>
              <a:rPr lang="es-ES_tradnl" sz="1600" b="1" spc="-10" dirty="0">
                <a:latin typeface="Calibri" charset="0"/>
                <a:ea typeface="Calibri" charset="0"/>
                <a:cs typeface="Calibri" charset="0"/>
              </a:rPr>
              <a:t>DIAGRAMA DE CAJA (BOXPLOT)</a:t>
            </a:r>
          </a:p>
        </p:txBody>
      </p:sp>
      <p:pic>
        <p:nvPicPr>
          <p:cNvPr id="11" name="Imagen 10">
            <a:extLst>
              <a:ext uri="{FF2B5EF4-FFF2-40B4-BE49-F238E27FC236}">
                <a16:creationId xmlns:a16="http://schemas.microsoft.com/office/drawing/2014/main" id="{FA9B2599-6B03-4CC8-9962-B7FFF1D29209}"/>
              </a:ext>
            </a:extLst>
          </p:cNvPr>
          <p:cNvPicPr>
            <a:picLocks noChangeAspect="1"/>
          </p:cNvPicPr>
          <p:nvPr/>
        </p:nvPicPr>
        <p:blipFill>
          <a:blip r:embed="rId3"/>
          <a:stretch>
            <a:fillRect/>
          </a:stretch>
        </p:blipFill>
        <p:spPr>
          <a:xfrm>
            <a:off x="2343607" y="1246206"/>
            <a:ext cx="5149794" cy="3973856"/>
          </a:xfrm>
          <a:prstGeom prst="rect">
            <a:avLst/>
          </a:prstGeom>
          <a:ln w="9525">
            <a:solidFill>
              <a:schemeClr val="tx1"/>
            </a:solidFill>
          </a:ln>
        </p:spPr>
      </p:pic>
      <p:sp>
        <p:nvSpPr>
          <p:cNvPr id="12" name="Rectangle 5">
            <a:extLst>
              <a:ext uri="{FF2B5EF4-FFF2-40B4-BE49-F238E27FC236}">
                <a16:creationId xmlns:a16="http://schemas.microsoft.com/office/drawing/2014/main" id="{FC990154-973E-459A-AECB-DA7D8189B2BC}"/>
              </a:ext>
            </a:extLst>
          </p:cNvPr>
          <p:cNvSpPr/>
          <p:nvPr/>
        </p:nvSpPr>
        <p:spPr>
          <a:xfrm>
            <a:off x="503237" y="380615"/>
            <a:ext cx="3560379"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charset="0"/>
                <a:ea typeface="Calibri" charset="0"/>
                <a:cs typeface="Calibri" charset="0"/>
              </a:rPr>
              <a:t>REPRESENTACIÓN GRÁFICA: HISTOGRAMAS, DIAGRAMAS DE CAJA</a:t>
            </a:r>
          </a:p>
        </p:txBody>
      </p:sp>
    </p:spTree>
    <p:extLst>
      <p:ext uri="{BB962C8B-B14F-4D97-AF65-F5344CB8AC3E}">
        <p14:creationId xmlns:p14="http://schemas.microsoft.com/office/powerpoint/2010/main" val="2745093757"/>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10 Rectángulo">
            <a:extLst>
              <a:ext uri="{FF2B5EF4-FFF2-40B4-BE49-F238E27FC236}">
                <a16:creationId xmlns:a16="http://schemas.microsoft.com/office/drawing/2014/main" id="{5E588C46-16A4-462F-8AB3-872F6A3A15AD}"/>
              </a:ext>
            </a:extLst>
          </p:cNvPr>
          <p:cNvSpPr/>
          <p:nvPr/>
        </p:nvSpPr>
        <p:spPr>
          <a:xfrm>
            <a:off x="683568" y="1117307"/>
            <a:ext cx="7488832" cy="646331"/>
          </a:xfrm>
          <a:prstGeom prst="rect">
            <a:avLst/>
          </a:prstGeom>
        </p:spPr>
        <p:txBody>
          <a:bodyPr wrap="square">
            <a:spAutoFit/>
          </a:bodyPr>
          <a:lstStyle/>
          <a:p>
            <a:endParaRPr lang="es-PE" dirty="0">
              <a:latin typeface="Calibri" charset="0"/>
            </a:endParaRPr>
          </a:p>
          <a:p>
            <a:endParaRPr lang="es-PE" dirty="0">
              <a:latin typeface="Calibri" charset="0"/>
            </a:endParaRPr>
          </a:p>
        </p:txBody>
      </p:sp>
      <p:sp>
        <p:nvSpPr>
          <p:cNvPr id="10" name="object 7">
            <a:extLst>
              <a:ext uri="{FF2B5EF4-FFF2-40B4-BE49-F238E27FC236}">
                <a16:creationId xmlns:a16="http://schemas.microsoft.com/office/drawing/2014/main" id="{91EA9EA6-F35F-4679-BE3F-847428D11E20}"/>
              </a:ext>
            </a:extLst>
          </p:cNvPr>
          <p:cNvSpPr txBox="1"/>
          <p:nvPr/>
        </p:nvSpPr>
        <p:spPr>
          <a:xfrm>
            <a:off x="506796" y="918745"/>
            <a:ext cx="7953636" cy="4016484"/>
          </a:xfrm>
          <a:prstGeom prst="rect">
            <a:avLst/>
          </a:prstGeom>
        </p:spPr>
        <p:txBody>
          <a:bodyPr vert="horz" wrap="square" lIns="0" tIns="0" rIns="0" bIns="0" rtlCol="0">
            <a:spAutoFit/>
          </a:bodyPr>
          <a:lstStyle/>
          <a:p>
            <a:pPr>
              <a:spcAft>
                <a:spcPts val="600"/>
              </a:spcAft>
            </a:pPr>
            <a:r>
              <a:rPr lang="es-MX" sz="1600" spc="-10" dirty="0">
                <a:latin typeface="Calibri" charset="0"/>
                <a:ea typeface="Calibri" charset="0"/>
                <a:cs typeface="Calibri" charset="0"/>
              </a:rPr>
              <a:t>Al analizar el gráfico, se observa los siguientes aspectos:</a:t>
            </a:r>
          </a:p>
          <a:p>
            <a:pPr marL="342900" indent="-342900" algn="just">
              <a:buFont typeface="+mj-lt"/>
              <a:buAutoNum type="arabicPeriod"/>
            </a:pPr>
            <a:r>
              <a:rPr lang="es-ES" sz="1600" b="1" dirty="0">
                <a:solidFill>
                  <a:srgbClr val="7150A0"/>
                </a:solidFill>
                <a:latin typeface="Calibri" panose="020F0502020204030204" pitchFamily="34" charset="0"/>
                <a:cs typeface="Calibri" panose="020F0502020204030204" pitchFamily="34" charset="0"/>
              </a:rPr>
              <a:t>Mediana</a:t>
            </a:r>
            <a:r>
              <a:rPr lang="es-ES" sz="1600" dirty="0">
                <a:latin typeface="Calibri" panose="020F0502020204030204" pitchFamily="34" charset="0"/>
                <a:cs typeface="Calibri" panose="020F0502020204030204" pitchFamily="34" charset="0"/>
              </a:rPr>
              <a:t> (línea dentro de la caja): indica el sueldo central de cada departamento.</a:t>
            </a:r>
          </a:p>
          <a:p>
            <a:pPr marL="742950" lvl="1" indent="-285750" algn="just">
              <a:buFont typeface="Arial" panose="020B0604020202020204" pitchFamily="34" charset="0"/>
              <a:buChar char="•"/>
            </a:pPr>
            <a:r>
              <a:rPr lang="es-ES" sz="1600" dirty="0">
                <a:latin typeface="Calibri" panose="020F0502020204030204" pitchFamily="34" charset="0"/>
                <a:cs typeface="Calibri" panose="020F0502020204030204" pitchFamily="34" charset="0"/>
              </a:rPr>
              <a:t>Ventas ≈ S/2750</a:t>
            </a:r>
          </a:p>
          <a:p>
            <a:pPr marL="742950" lvl="1" indent="-285750" algn="just">
              <a:buFont typeface="Arial" panose="020B0604020202020204" pitchFamily="34" charset="0"/>
              <a:buChar char="•"/>
            </a:pPr>
            <a:r>
              <a:rPr lang="es-ES" sz="1600" dirty="0">
                <a:latin typeface="Calibri" panose="020F0502020204030204" pitchFamily="34" charset="0"/>
                <a:cs typeface="Calibri" panose="020F0502020204030204" pitchFamily="34" charset="0"/>
              </a:rPr>
              <a:t>Producción ≈ S/2600</a:t>
            </a:r>
          </a:p>
          <a:p>
            <a:pPr marL="742950" lvl="1" indent="-285750" algn="just">
              <a:buFont typeface="Arial" panose="020B0604020202020204" pitchFamily="34" charset="0"/>
              <a:buChar char="•"/>
            </a:pPr>
            <a:r>
              <a:rPr lang="es-ES" sz="1600" dirty="0">
                <a:latin typeface="Calibri" panose="020F0502020204030204" pitchFamily="34" charset="0"/>
                <a:cs typeface="Calibri" panose="020F0502020204030204" pitchFamily="34" charset="0"/>
              </a:rPr>
              <a:t>Finanzas ≈ S/2850</a:t>
            </a:r>
          </a:p>
          <a:p>
            <a:pPr marL="742950" lvl="1" indent="-285750" algn="just">
              <a:buFont typeface="Arial" panose="020B0604020202020204" pitchFamily="34" charset="0"/>
              <a:buChar char="•"/>
            </a:pPr>
            <a:endParaRPr lang="es-ES" sz="1600" dirty="0">
              <a:latin typeface="Calibri" panose="020F0502020204030204" pitchFamily="34" charset="0"/>
              <a:cs typeface="Calibri" panose="020F0502020204030204" pitchFamily="34" charset="0"/>
            </a:endParaRPr>
          </a:p>
          <a:p>
            <a:pPr marL="342900" indent="-342900" algn="just">
              <a:buFont typeface="+mj-lt"/>
              <a:buAutoNum type="arabicPeriod" startAt="2"/>
            </a:pPr>
            <a:r>
              <a:rPr lang="es-ES" sz="1600" b="1" dirty="0">
                <a:solidFill>
                  <a:srgbClr val="7150A0"/>
                </a:solidFill>
                <a:latin typeface="Calibri" panose="020F0502020204030204" pitchFamily="34" charset="0"/>
                <a:cs typeface="Calibri" panose="020F0502020204030204" pitchFamily="34" charset="0"/>
              </a:rPr>
              <a:t>Rango intercuartílico </a:t>
            </a:r>
            <a:r>
              <a:rPr lang="es-ES" sz="1600" dirty="0">
                <a:latin typeface="Calibri" panose="020F0502020204030204" pitchFamily="34" charset="0"/>
                <a:cs typeface="Calibri" panose="020F0502020204030204" pitchFamily="34" charset="0"/>
              </a:rPr>
              <a:t>(altura de la caja): muestra la variabilidad de los sueldos.</a:t>
            </a:r>
          </a:p>
          <a:p>
            <a:pPr marL="742950" lvl="1" indent="-285750" algn="just">
              <a:buFont typeface="Arial" panose="020B0604020202020204" pitchFamily="34" charset="0"/>
              <a:buChar char="•"/>
            </a:pPr>
            <a:r>
              <a:rPr lang="es-ES" sz="1600" dirty="0">
                <a:latin typeface="Calibri" panose="020F0502020204030204" pitchFamily="34" charset="0"/>
                <a:cs typeface="Calibri" panose="020F0502020204030204" pitchFamily="34" charset="0"/>
              </a:rPr>
              <a:t>Producción presenta una menor dispersión (más homogénea).</a:t>
            </a:r>
          </a:p>
          <a:p>
            <a:pPr marL="742950" lvl="1" indent="-285750" algn="just">
              <a:buFont typeface="Arial" panose="020B0604020202020204" pitchFamily="34" charset="0"/>
              <a:buChar char="•"/>
            </a:pPr>
            <a:r>
              <a:rPr lang="es-ES" sz="1600" dirty="0">
                <a:latin typeface="Calibri" panose="020F0502020204030204" pitchFamily="34" charset="0"/>
                <a:cs typeface="Calibri" panose="020F0502020204030204" pitchFamily="34" charset="0"/>
              </a:rPr>
              <a:t>Ventas tiene una mayor variabilidad, influenciada por el valor alto de S/4000.</a:t>
            </a:r>
          </a:p>
          <a:p>
            <a:pPr marL="742950" lvl="1" indent="-285750" algn="just">
              <a:buFont typeface="Arial" panose="020B0604020202020204" pitchFamily="34" charset="0"/>
              <a:buChar char="•"/>
            </a:pPr>
            <a:endParaRPr lang="es-ES" sz="1600" dirty="0">
              <a:latin typeface="Calibri" panose="020F0502020204030204" pitchFamily="34" charset="0"/>
              <a:cs typeface="Calibri" panose="020F0502020204030204" pitchFamily="34" charset="0"/>
            </a:endParaRPr>
          </a:p>
          <a:p>
            <a:pPr marL="342900" indent="-342900" algn="just">
              <a:buFont typeface="+mj-lt"/>
              <a:buAutoNum type="arabicPeriod" startAt="3"/>
            </a:pPr>
            <a:r>
              <a:rPr lang="es-ES" sz="1600" b="1" dirty="0">
                <a:solidFill>
                  <a:srgbClr val="7150A0"/>
                </a:solidFill>
                <a:latin typeface="Calibri" panose="020F0502020204030204" pitchFamily="34" charset="0"/>
                <a:cs typeface="Calibri" panose="020F0502020204030204" pitchFamily="34" charset="0"/>
              </a:rPr>
              <a:t>Bigotes</a:t>
            </a:r>
            <a:r>
              <a:rPr lang="es-ES" sz="1600" dirty="0">
                <a:latin typeface="Calibri" panose="020F0502020204030204" pitchFamily="34" charset="0"/>
                <a:cs typeface="Calibri" panose="020F0502020204030204" pitchFamily="34" charset="0"/>
              </a:rPr>
              <a:t> (líneas superiores e inferiores): indican los sueldos más bajos y más altos dentro del rango esperado.</a:t>
            </a:r>
          </a:p>
          <a:p>
            <a:pPr marL="342900" indent="-342900" algn="just">
              <a:buFont typeface="+mj-lt"/>
              <a:buAutoNum type="arabicPeriod" startAt="3"/>
            </a:pPr>
            <a:endParaRPr lang="es-ES" sz="1600" dirty="0">
              <a:latin typeface="Calibri" panose="020F0502020204030204" pitchFamily="34" charset="0"/>
              <a:cs typeface="Calibri" panose="020F0502020204030204" pitchFamily="34" charset="0"/>
            </a:endParaRPr>
          </a:p>
          <a:p>
            <a:pPr marL="342900" indent="-342900" algn="just">
              <a:buFont typeface="+mj-lt"/>
              <a:buAutoNum type="arabicPeriod" startAt="4"/>
            </a:pPr>
            <a:r>
              <a:rPr lang="es-ES" sz="1600" b="1" dirty="0">
                <a:solidFill>
                  <a:srgbClr val="7150A0"/>
                </a:solidFill>
                <a:latin typeface="Calibri" panose="020F0502020204030204" pitchFamily="34" charset="0"/>
                <a:cs typeface="Calibri" panose="020F0502020204030204" pitchFamily="34" charset="0"/>
              </a:rPr>
              <a:t>Valor atípico </a:t>
            </a:r>
            <a:r>
              <a:rPr lang="es-ES" sz="1600" dirty="0">
                <a:latin typeface="Calibri" panose="020F0502020204030204" pitchFamily="34" charset="0"/>
                <a:cs typeface="Calibri" panose="020F0502020204030204" pitchFamily="34" charset="0"/>
              </a:rPr>
              <a:t>(punto fuera de la caja):</a:t>
            </a:r>
          </a:p>
          <a:p>
            <a:pPr marL="742950" lvl="1" indent="-285750" algn="just">
              <a:buFont typeface="Arial" panose="020B0604020202020204" pitchFamily="34" charset="0"/>
              <a:buChar char="•"/>
            </a:pPr>
            <a:r>
              <a:rPr lang="es-ES" sz="1600" dirty="0">
                <a:latin typeface="Calibri" panose="020F0502020204030204" pitchFamily="34" charset="0"/>
                <a:cs typeface="Calibri" panose="020F0502020204030204" pitchFamily="34" charset="0"/>
              </a:rPr>
              <a:t>El sueldo de S/4000 en Ventas aparece como un </a:t>
            </a:r>
            <a:r>
              <a:rPr lang="es-ES" sz="1600" dirty="0" err="1">
                <a:latin typeface="Calibri" panose="020F0502020204030204" pitchFamily="34" charset="0"/>
                <a:cs typeface="Calibri" panose="020F0502020204030204" pitchFamily="34" charset="0"/>
              </a:rPr>
              <a:t>outlier</a:t>
            </a:r>
            <a:r>
              <a:rPr lang="es-ES" sz="1600" dirty="0">
                <a:latin typeface="Calibri" panose="020F0502020204030204" pitchFamily="34" charset="0"/>
                <a:cs typeface="Calibri" panose="020F0502020204030204" pitchFamily="34" charset="0"/>
              </a:rPr>
              <a:t>, lo que podría indicar una bonificación especial o cargo superior.</a:t>
            </a:r>
            <a:endParaRPr lang="es-PE" sz="1600" dirty="0">
              <a:latin typeface="Calibri" panose="020F0502020204030204" pitchFamily="34" charset="0"/>
              <a:cs typeface="Calibri" panose="020F0502020204030204" pitchFamily="34" charset="0"/>
            </a:endParaRPr>
          </a:p>
        </p:txBody>
      </p:sp>
      <p:sp>
        <p:nvSpPr>
          <p:cNvPr id="6" name="Rectangle 5">
            <a:extLst>
              <a:ext uri="{FF2B5EF4-FFF2-40B4-BE49-F238E27FC236}">
                <a16:creationId xmlns:a16="http://schemas.microsoft.com/office/drawing/2014/main" id="{598D4DA3-3B8F-42CF-B6EC-2A29BCEB262B}"/>
              </a:ext>
            </a:extLst>
          </p:cNvPr>
          <p:cNvSpPr/>
          <p:nvPr/>
        </p:nvSpPr>
        <p:spPr>
          <a:xfrm>
            <a:off x="503237" y="380615"/>
            <a:ext cx="3560379"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charset="0"/>
                <a:ea typeface="Calibri" charset="0"/>
                <a:cs typeface="Calibri" charset="0"/>
              </a:rPr>
              <a:t>REPRESENTACIÓN GRÁFICA: HISTOGRAMAS, DIAGRAMAS DE CAJA</a:t>
            </a:r>
          </a:p>
        </p:txBody>
      </p:sp>
    </p:spTree>
    <p:extLst>
      <p:ext uri="{BB962C8B-B14F-4D97-AF65-F5344CB8AC3E}">
        <p14:creationId xmlns:p14="http://schemas.microsoft.com/office/powerpoint/2010/main" val="2884223753"/>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7"/>
          <p:cNvSpPr txBox="1"/>
          <p:nvPr/>
        </p:nvSpPr>
        <p:spPr>
          <a:xfrm>
            <a:off x="506796" y="918372"/>
            <a:ext cx="7770930" cy="246221"/>
          </a:xfrm>
          <a:prstGeom prst="rect">
            <a:avLst/>
          </a:prstGeom>
        </p:spPr>
        <p:txBody>
          <a:bodyPr vert="horz" wrap="square" lIns="0" tIns="0" rIns="0" bIns="0" rtlCol="0">
            <a:spAutoFit/>
          </a:bodyPr>
          <a:lstStyle/>
          <a:p>
            <a:pPr algn="ctr">
              <a:spcAft>
                <a:spcPts val="0"/>
              </a:spcAft>
            </a:pPr>
            <a:r>
              <a:rPr lang="es-ES" sz="1600" b="1" spc="-10" dirty="0">
                <a:solidFill>
                  <a:srgbClr val="262626"/>
                </a:solidFill>
                <a:latin typeface="Calibri" charset="0"/>
                <a:ea typeface="Calibri" charset="0"/>
                <a:cs typeface="Calibri" charset="0"/>
              </a:rPr>
              <a:t>COMPARACIÓN ENTRE EL HISTOGRAMA Y EL DIAGRAMA DE CAJA</a:t>
            </a:r>
            <a:endParaRPr lang="es-PE" sz="1600" spc="-10" dirty="0">
              <a:solidFill>
                <a:srgbClr val="262626"/>
              </a:solidFill>
              <a:latin typeface="Calibri" charset="0"/>
              <a:ea typeface="Calibri" charset="0"/>
              <a:cs typeface="Calibri" charset="0"/>
            </a:endParaRPr>
          </a:p>
        </p:txBody>
      </p:sp>
      <p:graphicFrame>
        <p:nvGraphicFramePr>
          <p:cNvPr id="5" name="Tabla 4"/>
          <p:cNvGraphicFramePr>
            <a:graphicFrameLocks noGrp="1"/>
          </p:cNvGraphicFramePr>
          <p:nvPr>
            <p:extLst>
              <p:ext uri="{D42A27DB-BD31-4B8C-83A1-F6EECF244321}">
                <p14:modId xmlns:p14="http://schemas.microsoft.com/office/powerpoint/2010/main" val="3094664514"/>
              </p:ext>
            </p:extLst>
          </p:nvPr>
        </p:nvGraphicFramePr>
        <p:xfrm>
          <a:off x="628650" y="1734344"/>
          <a:ext cx="7886700" cy="2651760"/>
        </p:xfrm>
        <a:graphic>
          <a:graphicData uri="http://schemas.openxmlformats.org/drawingml/2006/table">
            <a:tbl>
              <a:tblPr>
                <a:tableStyleId>{D03447BB-5D67-496B-8E87-E561075AD55C}</a:tableStyleId>
              </a:tblPr>
              <a:tblGrid>
                <a:gridCol w="2628900">
                  <a:extLst>
                    <a:ext uri="{9D8B030D-6E8A-4147-A177-3AD203B41FA5}">
                      <a16:colId xmlns:a16="http://schemas.microsoft.com/office/drawing/2014/main" val="294421084"/>
                    </a:ext>
                  </a:extLst>
                </a:gridCol>
                <a:gridCol w="2628900">
                  <a:extLst>
                    <a:ext uri="{9D8B030D-6E8A-4147-A177-3AD203B41FA5}">
                      <a16:colId xmlns:a16="http://schemas.microsoft.com/office/drawing/2014/main" val="1267729457"/>
                    </a:ext>
                  </a:extLst>
                </a:gridCol>
                <a:gridCol w="2628900">
                  <a:extLst>
                    <a:ext uri="{9D8B030D-6E8A-4147-A177-3AD203B41FA5}">
                      <a16:colId xmlns:a16="http://schemas.microsoft.com/office/drawing/2014/main" val="657293089"/>
                    </a:ext>
                  </a:extLst>
                </a:gridCol>
              </a:tblGrid>
              <a:tr h="0">
                <a:tc>
                  <a:txBody>
                    <a:bodyPr/>
                    <a:lstStyle/>
                    <a:p>
                      <a:pPr algn="ctr"/>
                      <a:r>
                        <a:rPr lang="es-PE" sz="1600" dirty="0">
                          <a:latin typeface="Calibri" panose="020F0502020204030204" pitchFamily="34" charset="0"/>
                          <a:cs typeface="Calibri" panose="020F0502020204030204" pitchFamily="34" charset="0"/>
                        </a:rPr>
                        <a:t>ASPECTO</a:t>
                      </a:r>
                    </a:p>
                  </a:txBody>
                  <a:tcPr anchor="ctr">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tcPr>
                </a:tc>
                <a:tc>
                  <a:txBody>
                    <a:bodyPr/>
                    <a:lstStyle/>
                    <a:p>
                      <a:pPr algn="ctr"/>
                      <a:r>
                        <a:rPr lang="es-PE" sz="1600" dirty="0">
                          <a:latin typeface="Calibri" panose="020F0502020204030204" pitchFamily="34" charset="0"/>
                          <a:cs typeface="Calibri" panose="020F0502020204030204" pitchFamily="34" charset="0"/>
                        </a:rPr>
                        <a:t>HISTOGRAMA</a:t>
                      </a:r>
                    </a:p>
                  </a:txBody>
                  <a:tcPr anchor="ctr">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tcPr>
                </a:tc>
                <a:tc>
                  <a:txBody>
                    <a:bodyPr/>
                    <a:lstStyle/>
                    <a:p>
                      <a:pPr algn="ctr"/>
                      <a:r>
                        <a:rPr lang="es-PE" sz="1600" dirty="0">
                          <a:latin typeface="Calibri" panose="020F0502020204030204" pitchFamily="34" charset="0"/>
                          <a:cs typeface="Calibri" panose="020F0502020204030204" pitchFamily="34" charset="0"/>
                        </a:rPr>
                        <a:t>DIAGRAMA DE CAJA</a:t>
                      </a:r>
                    </a:p>
                  </a:txBody>
                  <a:tcPr anchor="ctr">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tcPr>
                </a:tc>
                <a:extLst>
                  <a:ext uri="{0D108BD9-81ED-4DB2-BD59-A6C34878D82A}">
                    <a16:rowId xmlns:a16="http://schemas.microsoft.com/office/drawing/2014/main" val="3127484594"/>
                  </a:ext>
                </a:extLst>
              </a:tr>
              <a:tr h="0">
                <a:tc>
                  <a:txBody>
                    <a:bodyPr/>
                    <a:lstStyle/>
                    <a:p>
                      <a:r>
                        <a:rPr lang="es-PE" sz="1600" b="0" dirty="0">
                          <a:solidFill>
                            <a:schemeClr val="tx1"/>
                          </a:solidFill>
                          <a:latin typeface="Calibri" panose="020F0502020204030204" pitchFamily="34" charset="0"/>
                          <a:cs typeface="Calibri" panose="020F0502020204030204" pitchFamily="34" charset="0"/>
                        </a:rPr>
                        <a:t>Tipo de dato</a:t>
                      </a:r>
                    </a:p>
                  </a:txBody>
                  <a:tcPr anchor="ctr">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solidFill>
                      <a:srgbClr val="C0DB99"/>
                    </a:solidFill>
                  </a:tcPr>
                </a:tc>
                <a:tc>
                  <a:txBody>
                    <a:bodyPr/>
                    <a:lstStyle/>
                    <a:p>
                      <a:r>
                        <a:rPr lang="es-PE" sz="1600" b="0" dirty="0">
                          <a:solidFill>
                            <a:schemeClr val="tx1"/>
                          </a:solidFill>
                          <a:latin typeface="Calibri" panose="020F0502020204030204" pitchFamily="34" charset="0"/>
                          <a:cs typeface="Calibri" panose="020F0502020204030204" pitchFamily="34" charset="0"/>
                        </a:rPr>
                        <a:t>Numérico continuo</a:t>
                      </a:r>
                    </a:p>
                  </a:txBody>
                  <a:tcPr anchor="ctr">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solidFill>
                      <a:srgbClr val="C0DB99"/>
                    </a:solidFill>
                  </a:tcPr>
                </a:tc>
                <a:tc>
                  <a:txBody>
                    <a:bodyPr/>
                    <a:lstStyle/>
                    <a:p>
                      <a:r>
                        <a:rPr lang="es-PE" sz="1600" b="0" dirty="0">
                          <a:solidFill>
                            <a:schemeClr val="tx1"/>
                          </a:solidFill>
                          <a:latin typeface="Calibri" panose="020F0502020204030204" pitchFamily="34" charset="0"/>
                          <a:cs typeface="Calibri" panose="020F0502020204030204" pitchFamily="34" charset="0"/>
                        </a:rPr>
                        <a:t>Numérico (discreto o continuo)</a:t>
                      </a:r>
                    </a:p>
                  </a:txBody>
                  <a:tcPr anchor="ctr">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solidFill>
                      <a:srgbClr val="C0DB99"/>
                    </a:solidFill>
                  </a:tcPr>
                </a:tc>
                <a:extLst>
                  <a:ext uri="{0D108BD9-81ED-4DB2-BD59-A6C34878D82A}">
                    <a16:rowId xmlns:a16="http://schemas.microsoft.com/office/drawing/2014/main" val="4213351728"/>
                  </a:ext>
                </a:extLst>
              </a:tr>
              <a:tr h="0">
                <a:tc>
                  <a:txBody>
                    <a:bodyPr/>
                    <a:lstStyle/>
                    <a:p>
                      <a:r>
                        <a:rPr lang="es-PE" sz="1600" b="0" dirty="0">
                          <a:solidFill>
                            <a:schemeClr val="tx1"/>
                          </a:solidFill>
                          <a:latin typeface="Calibri" panose="020F0502020204030204" pitchFamily="34" charset="0"/>
                          <a:cs typeface="Calibri" panose="020F0502020204030204" pitchFamily="34" charset="0"/>
                        </a:rPr>
                        <a:t>Objetivo</a:t>
                      </a:r>
                    </a:p>
                  </a:txBody>
                  <a:tcPr anchor="ctr">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solidFill>
                      <a:srgbClr val="C0DB99"/>
                    </a:solidFill>
                  </a:tcPr>
                </a:tc>
                <a:tc>
                  <a:txBody>
                    <a:bodyPr/>
                    <a:lstStyle/>
                    <a:p>
                      <a:r>
                        <a:rPr lang="es-ES" sz="1600" b="0" dirty="0">
                          <a:solidFill>
                            <a:schemeClr val="tx1"/>
                          </a:solidFill>
                          <a:latin typeface="Calibri" panose="020F0502020204030204" pitchFamily="34" charset="0"/>
                          <a:cs typeface="Calibri" panose="020F0502020204030204" pitchFamily="34" charset="0"/>
                        </a:rPr>
                        <a:t>Mostrar la forma de la distribución</a:t>
                      </a:r>
                    </a:p>
                  </a:txBody>
                  <a:tcPr anchor="ctr">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solidFill>
                      <a:srgbClr val="C0DB99"/>
                    </a:solidFill>
                  </a:tcPr>
                </a:tc>
                <a:tc>
                  <a:txBody>
                    <a:bodyPr/>
                    <a:lstStyle/>
                    <a:p>
                      <a:r>
                        <a:rPr lang="es-ES" sz="1600" b="0" dirty="0">
                          <a:solidFill>
                            <a:schemeClr val="tx1"/>
                          </a:solidFill>
                          <a:latin typeface="Calibri" panose="020F0502020204030204" pitchFamily="34" charset="0"/>
                          <a:cs typeface="Calibri" panose="020F0502020204030204" pitchFamily="34" charset="0"/>
                        </a:rPr>
                        <a:t>Resumir la distribución y detectar outliers</a:t>
                      </a:r>
                    </a:p>
                  </a:txBody>
                  <a:tcPr anchor="ctr">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solidFill>
                      <a:srgbClr val="C0DB99"/>
                    </a:solidFill>
                  </a:tcPr>
                </a:tc>
                <a:extLst>
                  <a:ext uri="{0D108BD9-81ED-4DB2-BD59-A6C34878D82A}">
                    <a16:rowId xmlns:a16="http://schemas.microsoft.com/office/drawing/2014/main" val="3236023716"/>
                  </a:ext>
                </a:extLst>
              </a:tr>
              <a:tr h="0">
                <a:tc>
                  <a:txBody>
                    <a:bodyPr/>
                    <a:lstStyle/>
                    <a:p>
                      <a:r>
                        <a:rPr lang="es-PE" sz="1600" b="0" dirty="0">
                          <a:solidFill>
                            <a:schemeClr val="tx1"/>
                          </a:solidFill>
                          <a:latin typeface="Calibri" panose="020F0502020204030204" pitchFamily="34" charset="0"/>
                          <a:cs typeface="Calibri" panose="020F0502020204030204" pitchFamily="34" charset="0"/>
                        </a:rPr>
                        <a:t>Ventaja</a:t>
                      </a:r>
                    </a:p>
                  </a:txBody>
                  <a:tcPr anchor="ctr">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solidFill>
                      <a:srgbClr val="C0DB99"/>
                    </a:solidFill>
                  </a:tcPr>
                </a:tc>
                <a:tc>
                  <a:txBody>
                    <a:bodyPr/>
                    <a:lstStyle/>
                    <a:p>
                      <a:r>
                        <a:rPr lang="es-ES" sz="1600" b="0" dirty="0">
                          <a:solidFill>
                            <a:schemeClr val="tx1"/>
                          </a:solidFill>
                          <a:latin typeface="Calibri" panose="020F0502020204030204" pitchFamily="34" charset="0"/>
                          <a:cs typeface="Calibri" panose="020F0502020204030204" pitchFamily="34" charset="0"/>
                        </a:rPr>
                        <a:t>Visualiza la densidad y forma general</a:t>
                      </a:r>
                    </a:p>
                  </a:txBody>
                  <a:tcPr anchor="ctr">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solidFill>
                      <a:srgbClr val="C0DB99"/>
                    </a:solidFill>
                  </a:tcPr>
                </a:tc>
                <a:tc>
                  <a:txBody>
                    <a:bodyPr/>
                    <a:lstStyle/>
                    <a:p>
                      <a:r>
                        <a:rPr lang="es-ES" sz="1600" b="0" dirty="0">
                          <a:solidFill>
                            <a:schemeClr val="tx1"/>
                          </a:solidFill>
                          <a:latin typeface="Calibri" panose="020F0502020204030204" pitchFamily="34" charset="0"/>
                          <a:cs typeface="Calibri" panose="020F0502020204030204" pitchFamily="34" charset="0"/>
                        </a:rPr>
                        <a:t>Resume información clave y facilita comparaciones</a:t>
                      </a:r>
                    </a:p>
                  </a:txBody>
                  <a:tcPr anchor="ctr">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solidFill>
                      <a:srgbClr val="C0DB99"/>
                    </a:solidFill>
                  </a:tcPr>
                </a:tc>
                <a:extLst>
                  <a:ext uri="{0D108BD9-81ED-4DB2-BD59-A6C34878D82A}">
                    <a16:rowId xmlns:a16="http://schemas.microsoft.com/office/drawing/2014/main" val="3833721826"/>
                  </a:ext>
                </a:extLst>
              </a:tr>
              <a:tr h="0">
                <a:tc>
                  <a:txBody>
                    <a:bodyPr/>
                    <a:lstStyle/>
                    <a:p>
                      <a:r>
                        <a:rPr lang="es-PE" sz="1600" b="0" dirty="0">
                          <a:solidFill>
                            <a:schemeClr val="tx1"/>
                          </a:solidFill>
                          <a:latin typeface="Calibri" panose="020F0502020204030204" pitchFamily="34" charset="0"/>
                          <a:cs typeface="Calibri" panose="020F0502020204030204" pitchFamily="34" charset="0"/>
                        </a:rPr>
                        <a:t>Limitación</a:t>
                      </a:r>
                    </a:p>
                  </a:txBody>
                  <a:tcPr anchor="ctr">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solidFill>
                      <a:srgbClr val="C0DB99"/>
                    </a:solidFill>
                  </a:tcPr>
                </a:tc>
                <a:tc>
                  <a:txBody>
                    <a:bodyPr/>
                    <a:lstStyle/>
                    <a:p>
                      <a:r>
                        <a:rPr lang="es-PE" sz="1600" b="0" dirty="0">
                          <a:solidFill>
                            <a:schemeClr val="tx1"/>
                          </a:solidFill>
                          <a:latin typeface="Calibri" panose="020F0502020204030204" pitchFamily="34" charset="0"/>
                          <a:cs typeface="Calibri" panose="020F0502020204030204" pitchFamily="34" charset="0"/>
                        </a:rPr>
                        <a:t>No muestra valores exactos ni outliers</a:t>
                      </a:r>
                    </a:p>
                  </a:txBody>
                  <a:tcPr anchor="ctr">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solidFill>
                      <a:srgbClr val="C0DB99"/>
                    </a:solidFill>
                  </a:tcPr>
                </a:tc>
                <a:tc>
                  <a:txBody>
                    <a:bodyPr/>
                    <a:lstStyle/>
                    <a:p>
                      <a:r>
                        <a:rPr lang="es-ES" sz="1600" b="0" dirty="0">
                          <a:solidFill>
                            <a:schemeClr val="tx1"/>
                          </a:solidFill>
                          <a:latin typeface="Calibri" panose="020F0502020204030204" pitchFamily="34" charset="0"/>
                          <a:cs typeface="Calibri" panose="020F0502020204030204" pitchFamily="34" charset="0"/>
                        </a:rPr>
                        <a:t>No muestra la forma de la distribución completa</a:t>
                      </a:r>
                    </a:p>
                  </a:txBody>
                  <a:tcPr anchor="ctr">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solidFill>
                      <a:srgbClr val="C0DB99"/>
                    </a:solidFill>
                  </a:tcPr>
                </a:tc>
                <a:extLst>
                  <a:ext uri="{0D108BD9-81ED-4DB2-BD59-A6C34878D82A}">
                    <a16:rowId xmlns:a16="http://schemas.microsoft.com/office/drawing/2014/main" val="4167386051"/>
                  </a:ext>
                </a:extLst>
              </a:tr>
            </a:tbl>
          </a:graphicData>
        </a:graphic>
      </p:graphicFrame>
      <p:sp>
        <p:nvSpPr>
          <p:cNvPr id="6" name="Rectangle 5">
            <a:extLst>
              <a:ext uri="{FF2B5EF4-FFF2-40B4-BE49-F238E27FC236}">
                <a16:creationId xmlns:a16="http://schemas.microsoft.com/office/drawing/2014/main" id="{6FA6741E-A653-4A4A-A609-8CCD89E36088}"/>
              </a:ext>
            </a:extLst>
          </p:cNvPr>
          <p:cNvSpPr/>
          <p:nvPr/>
        </p:nvSpPr>
        <p:spPr>
          <a:xfrm>
            <a:off x="503237" y="380615"/>
            <a:ext cx="3560379"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charset="0"/>
                <a:ea typeface="Calibri" charset="0"/>
                <a:cs typeface="Calibri" charset="0"/>
              </a:rPr>
              <a:t>REPRESENTACIÓN GRÁFICA: HISTOGRAMAS, DIAGRAMAS DE CAJA</a:t>
            </a:r>
          </a:p>
        </p:txBody>
      </p:sp>
    </p:spTree>
    <p:extLst>
      <p:ext uri="{BB962C8B-B14F-4D97-AF65-F5344CB8AC3E}">
        <p14:creationId xmlns:p14="http://schemas.microsoft.com/office/powerpoint/2010/main" val="2697034400"/>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ángulo 9"/>
          <p:cNvSpPr/>
          <p:nvPr/>
        </p:nvSpPr>
        <p:spPr>
          <a:xfrm>
            <a:off x="0" y="0"/>
            <a:ext cx="9144000" cy="5715000"/>
          </a:xfrm>
          <a:prstGeom prst="rect">
            <a:avLst/>
          </a:prstGeom>
          <a:solidFill>
            <a:srgbClr val="8087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sp>
        <p:nvSpPr>
          <p:cNvPr id="18" name="CuadroTexto 17">
            <a:extLst>
              <a:ext uri="{FF2B5EF4-FFF2-40B4-BE49-F238E27FC236}">
                <a16:creationId xmlns:a16="http://schemas.microsoft.com/office/drawing/2014/main" id="{F58EABDC-EE9F-6D4B-8493-73E3A05BE100}"/>
              </a:ext>
            </a:extLst>
          </p:cNvPr>
          <p:cNvSpPr txBox="1"/>
          <p:nvPr/>
        </p:nvSpPr>
        <p:spPr>
          <a:xfrm>
            <a:off x="1008063" y="3169972"/>
            <a:ext cx="5993558" cy="997196"/>
          </a:xfrm>
          <a:prstGeom prst="rect">
            <a:avLst/>
          </a:prstGeom>
          <a:noFill/>
        </p:spPr>
        <p:txBody>
          <a:bodyPr wrap="square" lIns="0" tIns="0" rIns="0" bIns="0" rtlCol="0">
            <a:spAutoFit/>
          </a:bodyPr>
          <a:lstStyle/>
          <a:p>
            <a:pPr>
              <a:lnSpc>
                <a:spcPct val="90000"/>
              </a:lnSpc>
              <a:spcBef>
                <a:spcPts val="1000"/>
              </a:spcBef>
              <a:defRPr/>
            </a:pPr>
            <a:r>
              <a:rPr lang="es-PE" sz="2400" dirty="0">
                <a:solidFill>
                  <a:schemeClr val="bg1"/>
                </a:solidFill>
                <a:latin typeface="Graphik Regular" charset="0"/>
                <a:ea typeface="Graphik Regular" charset="0"/>
                <a:cs typeface="Graphik Regular" charset="0"/>
              </a:rPr>
              <a:t>TIPO DE DATOS:</a:t>
            </a:r>
            <a:br>
              <a:rPr lang="es-PE" sz="2400" dirty="0">
                <a:solidFill>
                  <a:schemeClr val="bg1"/>
                </a:solidFill>
                <a:latin typeface="Graphik Regular" charset="0"/>
              </a:rPr>
            </a:br>
            <a:r>
              <a:rPr lang="es-PE" sz="2400" b="1" dirty="0">
                <a:solidFill>
                  <a:schemeClr val="bg1"/>
                </a:solidFill>
                <a:latin typeface="Graphik Bold" charset="0"/>
              </a:rPr>
              <a:t>NOMINALES, ORDINALES, </a:t>
            </a:r>
            <a:br>
              <a:rPr lang="es-PE" sz="2400" dirty="0">
                <a:solidFill>
                  <a:schemeClr val="bg1"/>
                </a:solidFill>
                <a:latin typeface="Graphik Regular" charset="0"/>
              </a:rPr>
            </a:br>
            <a:r>
              <a:rPr lang="es-PE" sz="2400" b="1" dirty="0">
                <a:solidFill>
                  <a:schemeClr val="bg1"/>
                </a:solidFill>
                <a:latin typeface="Graphik Bold" charset="0"/>
                <a:ea typeface="Graphik Bold" charset="0"/>
                <a:cs typeface="Graphik Bold" charset="0"/>
              </a:rPr>
              <a:t>CONTINUOS</a:t>
            </a:r>
          </a:p>
        </p:txBody>
      </p:sp>
      <p:pic>
        <p:nvPicPr>
          <p:cNvPr id="19" name="Imagen 18">
            <a:extLst>
              <a:ext uri="{FF2B5EF4-FFF2-40B4-BE49-F238E27FC236}">
                <a16:creationId xmlns:a16="http://schemas.microsoft.com/office/drawing/2014/main" id="{2E011318-DF6A-E443-82C0-13421C5F2D5E}"/>
              </a:ext>
            </a:extLst>
          </p:cNvPr>
          <p:cNvPicPr>
            <a:picLocks noChangeAspect="1"/>
          </p:cNvPicPr>
          <p:nvPr/>
        </p:nvPicPr>
        <p:blipFill>
          <a:blip r:embed="rId3"/>
          <a:stretch>
            <a:fillRect/>
          </a:stretch>
        </p:blipFill>
        <p:spPr>
          <a:xfrm>
            <a:off x="1008063" y="2869612"/>
            <a:ext cx="195423" cy="201256"/>
          </a:xfrm>
          <a:prstGeom prst="rect">
            <a:avLst/>
          </a:prstGeom>
        </p:spPr>
      </p:pic>
    </p:spTree>
    <p:extLst>
      <p:ext uri="{BB962C8B-B14F-4D97-AF65-F5344CB8AC3E}">
        <p14:creationId xmlns:p14="http://schemas.microsoft.com/office/powerpoint/2010/main" val="3069040537"/>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7"/>
          <p:cNvSpPr txBox="1"/>
          <p:nvPr/>
        </p:nvSpPr>
        <p:spPr>
          <a:xfrm>
            <a:off x="506796" y="918372"/>
            <a:ext cx="8243914" cy="1231106"/>
          </a:xfrm>
          <a:prstGeom prst="rect">
            <a:avLst/>
          </a:prstGeom>
        </p:spPr>
        <p:txBody>
          <a:bodyPr vert="horz" wrap="square" lIns="0" tIns="0" rIns="0" bIns="0" rtlCol="0">
            <a:spAutoFit/>
          </a:bodyPr>
          <a:lstStyle/>
          <a:p>
            <a:pPr marL="11725">
              <a:buSzPct val="100000"/>
              <a:tabLst>
                <a:tab pos="121285" algn="l"/>
              </a:tabLst>
              <a:defRPr/>
            </a:pPr>
            <a:r>
              <a:rPr lang="es-ES" sz="1600" b="1" spc="-10" dirty="0">
                <a:solidFill>
                  <a:srgbClr val="262626"/>
                </a:solidFill>
                <a:latin typeface="Calibri" charset="0"/>
                <a:ea typeface="Calibri" charset="0"/>
                <a:cs typeface="Calibri" charset="0"/>
              </a:rPr>
              <a:t>DATOS EN ESTADÍSTICA</a:t>
            </a:r>
          </a:p>
          <a:p>
            <a:pPr marL="11725">
              <a:buSzPct val="100000"/>
              <a:tabLst>
                <a:tab pos="121285" algn="l"/>
              </a:tabLst>
              <a:defRPr/>
            </a:pPr>
            <a:endParaRPr lang="es-ES" sz="1600" spc="-10" dirty="0">
              <a:solidFill>
                <a:srgbClr val="262626"/>
              </a:solidFill>
              <a:latin typeface="Calibri" charset="0"/>
              <a:ea typeface="Calibri" charset="0"/>
              <a:cs typeface="Calibri" charset="0"/>
            </a:endParaRPr>
          </a:p>
          <a:p>
            <a:pPr marL="11725">
              <a:buSzPct val="100000"/>
              <a:tabLst>
                <a:tab pos="121285" algn="l"/>
              </a:tabLst>
              <a:defRPr/>
            </a:pPr>
            <a:r>
              <a:rPr lang="es-ES" sz="1600" spc="-10" dirty="0">
                <a:solidFill>
                  <a:srgbClr val="262626"/>
                </a:solidFill>
                <a:latin typeface="Calibri" charset="0"/>
                <a:ea typeface="Calibri" charset="0"/>
                <a:cs typeface="Calibri" charset="0"/>
              </a:rPr>
              <a:t>En estadística, los datos son el punto de partida de cualquier análisis. Sin embargo, no todos son iguales: algunos describen características o categorías, mientras que otros representan cantidades numéricas. Conocer el tipo de dato es esencial para:</a:t>
            </a:r>
          </a:p>
        </p:txBody>
      </p:sp>
      <p:sp>
        <p:nvSpPr>
          <p:cNvPr id="2" name="Rectangle 5">
            <a:extLst>
              <a:ext uri="{FF2B5EF4-FFF2-40B4-BE49-F238E27FC236}">
                <a16:creationId xmlns:a16="http://schemas.microsoft.com/office/drawing/2014/main" id="{BA85EB45-FB9E-6FF7-FC64-01BB84FA9D75}"/>
              </a:ext>
            </a:extLst>
          </p:cNvPr>
          <p:cNvSpPr/>
          <p:nvPr/>
        </p:nvSpPr>
        <p:spPr>
          <a:xfrm>
            <a:off x="503237" y="380615"/>
            <a:ext cx="3134697"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MX" sz="1000" dirty="0">
                <a:solidFill>
                  <a:schemeClr val="bg1">
                    <a:lumMod val="65000"/>
                  </a:schemeClr>
                </a:solidFill>
                <a:latin typeface="Calibri" charset="0"/>
                <a:ea typeface="Calibri" charset="0"/>
                <a:cs typeface="Calibri" charset="0"/>
              </a:rPr>
              <a:t>TIPO DE DATOS: NOMINALES, ORDINALES, CONTINUOS</a:t>
            </a:r>
          </a:p>
        </p:txBody>
      </p:sp>
      <p:sp>
        <p:nvSpPr>
          <p:cNvPr id="6" name="Rectángulo redondeado 4">
            <a:extLst>
              <a:ext uri="{FF2B5EF4-FFF2-40B4-BE49-F238E27FC236}">
                <a16:creationId xmlns:a16="http://schemas.microsoft.com/office/drawing/2014/main" id="{6F25B677-8EAF-4CC3-A9D7-D0619845469D}"/>
              </a:ext>
            </a:extLst>
          </p:cNvPr>
          <p:cNvSpPr/>
          <p:nvPr/>
        </p:nvSpPr>
        <p:spPr>
          <a:xfrm>
            <a:off x="807231" y="2506337"/>
            <a:ext cx="5141285" cy="702326"/>
          </a:xfrm>
          <a:prstGeom prst="roundRect">
            <a:avLst>
              <a:gd name="adj" fmla="val 50000"/>
            </a:avLst>
          </a:prstGeom>
          <a:solidFill>
            <a:srgbClr val="00B1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1113" indent="657225">
              <a:buSzPct val="100000"/>
              <a:tabLst>
                <a:tab pos="120650" algn="l"/>
                <a:tab pos="663575" algn="l"/>
              </a:tabLst>
            </a:pPr>
            <a:endParaRPr lang="es-ES_tradnl" sz="1500" b="1" spc="-10" dirty="0">
              <a:solidFill>
                <a:schemeClr val="bg1"/>
              </a:solidFill>
              <a:latin typeface="Calibri" charset="0"/>
              <a:ea typeface="Calibri" charset="0"/>
              <a:cs typeface="Calibri" charset="0"/>
            </a:endParaRPr>
          </a:p>
        </p:txBody>
      </p:sp>
      <p:sp>
        <p:nvSpPr>
          <p:cNvPr id="7" name="Elipse 6">
            <a:extLst>
              <a:ext uri="{FF2B5EF4-FFF2-40B4-BE49-F238E27FC236}">
                <a16:creationId xmlns:a16="http://schemas.microsoft.com/office/drawing/2014/main" id="{F65800CF-61E7-436D-9D6D-8A83AD792A14}"/>
              </a:ext>
            </a:extLst>
          </p:cNvPr>
          <p:cNvSpPr/>
          <p:nvPr/>
        </p:nvSpPr>
        <p:spPr>
          <a:xfrm>
            <a:off x="858558" y="2516882"/>
            <a:ext cx="643765" cy="668390"/>
          </a:xfrm>
          <a:prstGeom prst="ellipse">
            <a:avLst/>
          </a:prstGeom>
          <a:solidFill>
            <a:srgbClr val="007B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600" dirty="0">
              <a:latin typeface="Calibri" panose="020F0502020204030204" pitchFamily="34" charset="0"/>
            </a:endParaRPr>
          </a:p>
        </p:txBody>
      </p:sp>
      <p:sp>
        <p:nvSpPr>
          <p:cNvPr id="9" name="Elipse 8">
            <a:extLst>
              <a:ext uri="{FF2B5EF4-FFF2-40B4-BE49-F238E27FC236}">
                <a16:creationId xmlns:a16="http://schemas.microsoft.com/office/drawing/2014/main" id="{B5705751-4FA8-4353-887C-28A646E6AD03}"/>
              </a:ext>
            </a:extLst>
          </p:cNvPr>
          <p:cNvSpPr/>
          <p:nvPr/>
        </p:nvSpPr>
        <p:spPr>
          <a:xfrm>
            <a:off x="807231" y="2519038"/>
            <a:ext cx="643765" cy="668390"/>
          </a:xfrm>
          <a:prstGeom prst="ellipse">
            <a:avLst/>
          </a:prstGeom>
          <a:solidFill>
            <a:schemeClr val="bg1"/>
          </a:solidFill>
          <a:ln>
            <a:solidFill>
              <a:srgbClr val="00B1C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600" dirty="0">
              <a:latin typeface="Calibri" panose="020F0502020204030204" pitchFamily="34" charset="0"/>
            </a:endParaRPr>
          </a:p>
        </p:txBody>
      </p:sp>
      <p:sp>
        <p:nvSpPr>
          <p:cNvPr id="10" name="Rectángulo redondeado 7">
            <a:extLst>
              <a:ext uri="{FF2B5EF4-FFF2-40B4-BE49-F238E27FC236}">
                <a16:creationId xmlns:a16="http://schemas.microsoft.com/office/drawing/2014/main" id="{49769E0B-A675-48CD-AC92-E44CD6C8F3AA}"/>
              </a:ext>
            </a:extLst>
          </p:cNvPr>
          <p:cNvSpPr/>
          <p:nvPr/>
        </p:nvSpPr>
        <p:spPr>
          <a:xfrm>
            <a:off x="807232" y="3388711"/>
            <a:ext cx="5141284" cy="706836"/>
          </a:xfrm>
          <a:prstGeom prst="roundRect">
            <a:avLst>
              <a:gd name="adj" fmla="val 50000"/>
            </a:avLst>
          </a:prstGeom>
          <a:solidFill>
            <a:srgbClr val="FE78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668338">
              <a:lnSpc>
                <a:spcPct val="90000"/>
              </a:lnSpc>
              <a:buSzPct val="100000"/>
              <a:tabLst>
                <a:tab pos="120650" algn="l"/>
              </a:tabLst>
            </a:pPr>
            <a:endParaRPr lang="es-ES_tradnl" sz="1500" b="1" spc="-10" dirty="0">
              <a:solidFill>
                <a:schemeClr val="bg1"/>
              </a:solidFill>
              <a:latin typeface="Calibri" charset="0"/>
              <a:ea typeface="Calibri" charset="0"/>
              <a:cs typeface="Calibri" charset="0"/>
            </a:endParaRPr>
          </a:p>
        </p:txBody>
      </p:sp>
      <p:sp>
        <p:nvSpPr>
          <p:cNvPr id="11" name="Rectángulo redondeado 8">
            <a:extLst>
              <a:ext uri="{FF2B5EF4-FFF2-40B4-BE49-F238E27FC236}">
                <a16:creationId xmlns:a16="http://schemas.microsoft.com/office/drawing/2014/main" id="{21296205-BC90-4513-B75F-82D213959640}"/>
              </a:ext>
            </a:extLst>
          </p:cNvPr>
          <p:cNvSpPr/>
          <p:nvPr/>
        </p:nvSpPr>
        <p:spPr>
          <a:xfrm>
            <a:off x="807230" y="4275595"/>
            <a:ext cx="5141283" cy="704816"/>
          </a:xfrm>
          <a:prstGeom prst="roundRect">
            <a:avLst>
              <a:gd name="adj" fmla="val 50000"/>
            </a:avLst>
          </a:prstGeom>
          <a:solidFill>
            <a:srgbClr val="714F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668338">
              <a:lnSpc>
                <a:spcPct val="90000"/>
              </a:lnSpc>
              <a:buSzPct val="100000"/>
              <a:tabLst>
                <a:tab pos="120650" algn="l"/>
              </a:tabLst>
            </a:pPr>
            <a:endParaRPr lang="es-ES_tradnl" sz="1500" b="1" spc="-10" dirty="0">
              <a:solidFill>
                <a:schemeClr val="bg1"/>
              </a:solidFill>
              <a:latin typeface="Calibri" charset="0"/>
              <a:ea typeface="Calibri" charset="0"/>
              <a:cs typeface="Calibri" charset="0"/>
            </a:endParaRPr>
          </a:p>
        </p:txBody>
      </p:sp>
      <p:sp>
        <p:nvSpPr>
          <p:cNvPr id="12" name="Elipse 11">
            <a:extLst>
              <a:ext uri="{FF2B5EF4-FFF2-40B4-BE49-F238E27FC236}">
                <a16:creationId xmlns:a16="http://schemas.microsoft.com/office/drawing/2014/main" id="{D4AE6BEC-B2D9-40D1-9589-DDF39FF472B3}"/>
              </a:ext>
            </a:extLst>
          </p:cNvPr>
          <p:cNvSpPr/>
          <p:nvPr/>
        </p:nvSpPr>
        <p:spPr>
          <a:xfrm>
            <a:off x="855371" y="4288326"/>
            <a:ext cx="643765" cy="668390"/>
          </a:xfrm>
          <a:prstGeom prst="ellipse">
            <a:avLst/>
          </a:prstGeom>
          <a:solidFill>
            <a:srgbClr val="5139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600" dirty="0">
              <a:latin typeface="Calibri" panose="020F0502020204030204" pitchFamily="34" charset="0"/>
            </a:endParaRPr>
          </a:p>
        </p:txBody>
      </p:sp>
      <p:sp>
        <p:nvSpPr>
          <p:cNvPr id="13" name="Elipse 12">
            <a:extLst>
              <a:ext uri="{FF2B5EF4-FFF2-40B4-BE49-F238E27FC236}">
                <a16:creationId xmlns:a16="http://schemas.microsoft.com/office/drawing/2014/main" id="{F8C38974-FABC-4CDD-918B-7677114669D5}"/>
              </a:ext>
            </a:extLst>
          </p:cNvPr>
          <p:cNvSpPr/>
          <p:nvPr/>
        </p:nvSpPr>
        <p:spPr>
          <a:xfrm>
            <a:off x="804045" y="4288326"/>
            <a:ext cx="643765" cy="668390"/>
          </a:xfrm>
          <a:prstGeom prst="ellipse">
            <a:avLst/>
          </a:prstGeom>
          <a:solidFill>
            <a:schemeClr val="bg1"/>
          </a:solidFill>
          <a:ln>
            <a:solidFill>
              <a:srgbClr val="714F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600" dirty="0">
              <a:latin typeface="Calibri" panose="020F0502020204030204" pitchFamily="34" charset="0"/>
            </a:endParaRPr>
          </a:p>
        </p:txBody>
      </p:sp>
      <p:sp>
        <p:nvSpPr>
          <p:cNvPr id="14" name="Elipse 13">
            <a:extLst>
              <a:ext uri="{FF2B5EF4-FFF2-40B4-BE49-F238E27FC236}">
                <a16:creationId xmlns:a16="http://schemas.microsoft.com/office/drawing/2014/main" id="{DE4A123E-F6E0-4C70-B49C-BF8BA9E5B09B}"/>
              </a:ext>
            </a:extLst>
          </p:cNvPr>
          <p:cNvSpPr/>
          <p:nvPr/>
        </p:nvSpPr>
        <p:spPr>
          <a:xfrm>
            <a:off x="858557" y="3401410"/>
            <a:ext cx="643765" cy="668390"/>
          </a:xfrm>
          <a:prstGeom prst="ellipse">
            <a:avLst/>
          </a:prstGeom>
          <a:solidFill>
            <a:srgbClr val="D966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600" dirty="0">
              <a:latin typeface="Calibri" panose="020F0502020204030204" pitchFamily="34" charset="0"/>
            </a:endParaRPr>
          </a:p>
        </p:txBody>
      </p:sp>
      <p:sp>
        <p:nvSpPr>
          <p:cNvPr id="15" name="Elipse 14">
            <a:extLst>
              <a:ext uri="{FF2B5EF4-FFF2-40B4-BE49-F238E27FC236}">
                <a16:creationId xmlns:a16="http://schemas.microsoft.com/office/drawing/2014/main" id="{F7270175-392D-4AB9-81C6-D191ABEAF095}"/>
              </a:ext>
            </a:extLst>
          </p:cNvPr>
          <p:cNvSpPr/>
          <p:nvPr/>
        </p:nvSpPr>
        <p:spPr>
          <a:xfrm>
            <a:off x="807231" y="3401410"/>
            <a:ext cx="643765" cy="668390"/>
          </a:xfrm>
          <a:prstGeom prst="ellipse">
            <a:avLst/>
          </a:prstGeom>
          <a:solidFill>
            <a:schemeClr val="bg1"/>
          </a:solidFill>
          <a:ln>
            <a:solidFill>
              <a:srgbClr val="FE782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600" dirty="0">
              <a:latin typeface="Calibri" panose="020F0502020204030204" pitchFamily="34" charset="0"/>
            </a:endParaRPr>
          </a:p>
        </p:txBody>
      </p:sp>
      <p:pic>
        <p:nvPicPr>
          <p:cNvPr id="16" name="Imagen 15">
            <a:extLst>
              <a:ext uri="{FF2B5EF4-FFF2-40B4-BE49-F238E27FC236}">
                <a16:creationId xmlns:a16="http://schemas.microsoft.com/office/drawing/2014/main" id="{AAB13FA1-5AE0-4848-9EA0-5AA7C367AE05}"/>
              </a:ext>
            </a:extLst>
          </p:cNvPr>
          <p:cNvPicPr>
            <a:picLocks noChangeAspect="1"/>
          </p:cNvPicPr>
          <p:nvPr/>
        </p:nvPicPr>
        <p:blipFill>
          <a:blip r:embed="rId3"/>
          <a:stretch>
            <a:fillRect/>
          </a:stretch>
        </p:blipFill>
        <p:spPr>
          <a:xfrm>
            <a:off x="933352" y="2633134"/>
            <a:ext cx="401733" cy="452392"/>
          </a:xfrm>
          <a:prstGeom prst="rect">
            <a:avLst/>
          </a:prstGeom>
        </p:spPr>
      </p:pic>
      <p:pic>
        <p:nvPicPr>
          <p:cNvPr id="17" name="Imagen 16">
            <a:extLst>
              <a:ext uri="{FF2B5EF4-FFF2-40B4-BE49-F238E27FC236}">
                <a16:creationId xmlns:a16="http://schemas.microsoft.com/office/drawing/2014/main" id="{2AFA497F-699C-44B4-8671-0CA879854580}"/>
              </a:ext>
            </a:extLst>
          </p:cNvPr>
          <p:cNvPicPr>
            <a:picLocks noChangeAspect="1"/>
          </p:cNvPicPr>
          <p:nvPr/>
        </p:nvPicPr>
        <p:blipFill>
          <a:blip r:embed="rId4"/>
          <a:stretch>
            <a:fillRect/>
          </a:stretch>
        </p:blipFill>
        <p:spPr>
          <a:xfrm>
            <a:off x="930166" y="4405493"/>
            <a:ext cx="398219" cy="431966"/>
          </a:xfrm>
          <a:prstGeom prst="rect">
            <a:avLst/>
          </a:prstGeom>
        </p:spPr>
      </p:pic>
      <p:pic>
        <p:nvPicPr>
          <p:cNvPr id="18" name="Imagen 17">
            <a:extLst>
              <a:ext uri="{FF2B5EF4-FFF2-40B4-BE49-F238E27FC236}">
                <a16:creationId xmlns:a16="http://schemas.microsoft.com/office/drawing/2014/main" id="{166D1CC4-0CE8-40F1-A5B2-979DBD6D01F3}"/>
              </a:ext>
            </a:extLst>
          </p:cNvPr>
          <p:cNvPicPr>
            <a:picLocks noChangeAspect="1"/>
          </p:cNvPicPr>
          <p:nvPr/>
        </p:nvPicPr>
        <p:blipFill>
          <a:blip r:embed="rId5"/>
          <a:stretch>
            <a:fillRect/>
          </a:stretch>
        </p:blipFill>
        <p:spPr>
          <a:xfrm>
            <a:off x="906364" y="3625297"/>
            <a:ext cx="453751" cy="267051"/>
          </a:xfrm>
          <a:prstGeom prst="rect">
            <a:avLst/>
          </a:prstGeom>
        </p:spPr>
      </p:pic>
      <p:sp>
        <p:nvSpPr>
          <p:cNvPr id="4" name="CuadroTexto 3">
            <a:extLst>
              <a:ext uri="{FF2B5EF4-FFF2-40B4-BE49-F238E27FC236}">
                <a16:creationId xmlns:a16="http://schemas.microsoft.com/office/drawing/2014/main" id="{A27E36C1-5D09-4BE7-A48B-B67E730A8C2C}"/>
              </a:ext>
            </a:extLst>
          </p:cNvPr>
          <p:cNvSpPr txBox="1"/>
          <p:nvPr/>
        </p:nvSpPr>
        <p:spPr>
          <a:xfrm>
            <a:off x="1504485" y="2589467"/>
            <a:ext cx="4178559" cy="584775"/>
          </a:xfrm>
          <a:prstGeom prst="rect">
            <a:avLst/>
          </a:prstGeom>
          <a:noFill/>
        </p:spPr>
        <p:txBody>
          <a:bodyPr wrap="square" rtlCol="0">
            <a:spAutoFit/>
          </a:bodyPr>
          <a:lstStyle/>
          <a:p>
            <a:r>
              <a:rPr lang="es-MX" sz="1600" b="1" dirty="0">
                <a:solidFill>
                  <a:schemeClr val="bg1"/>
                </a:solidFill>
                <a:latin typeface="Calibri" panose="020F0502020204030204" pitchFamily="34" charset="0"/>
                <a:ea typeface="Calibri" panose="020F0502020204030204" pitchFamily="34" charset="0"/>
                <a:cs typeface="Calibri" panose="020F0502020204030204" pitchFamily="34" charset="0"/>
              </a:rPr>
              <a:t>Elegir las medidas adecuadas (media, mediana, moda, varianza, etc.).</a:t>
            </a:r>
          </a:p>
        </p:txBody>
      </p:sp>
      <p:sp>
        <p:nvSpPr>
          <p:cNvPr id="20" name="CuadroTexto 19">
            <a:extLst>
              <a:ext uri="{FF2B5EF4-FFF2-40B4-BE49-F238E27FC236}">
                <a16:creationId xmlns:a16="http://schemas.microsoft.com/office/drawing/2014/main" id="{44740EF7-89CF-4B1D-ADFE-3AF22E5E11EE}"/>
              </a:ext>
            </a:extLst>
          </p:cNvPr>
          <p:cNvSpPr txBox="1"/>
          <p:nvPr/>
        </p:nvSpPr>
        <p:spPr>
          <a:xfrm>
            <a:off x="1504485" y="3449742"/>
            <a:ext cx="4178559" cy="584775"/>
          </a:xfrm>
          <a:prstGeom prst="rect">
            <a:avLst/>
          </a:prstGeom>
          <a:noFill/>
        </p:spPr>
        <p:txBody>
          <a:bodyPr wrap="square" rtlCol="0">
            <a:spAutoFit/>
          </a:bodyPr>
          <a:lstStyle/>
          <a:p>
            <a:r>
              <a:rPr lang="es-MX" sz="1600" b="1" dirty="0">
                <a:solidFill>
                  <a:schemeClr val="bg1"/>
                </a:solidFill>
                <a:latin typeface="Calibri" panose="020F0502020204030204" pitchFamily="34" charset="0"/>
                <a:ea typeface="Calibri" panose="020F0502020204030204" pitchFamily="34" charset="0"/>
                <a:cs typeface="Calibri" panose="020F0502020204030204" pitchFamily="34" charset="0"/>
              </a:rPr>
              <a:t>Seleccionar los gráficos correctos (barras, histogramas, </a:t>
            </a:r>
            <a:r>
              <a:rPr lang="es-MX" sz="1600" b="1" dirty="0" err="1">
                <a:solidFill>
                  <a:schemeClr val="bg1"/>
                </a:solidFill>
                <a:latin typeface="Calibri" panose="020F0502020204030204" pitchFamily="34" charset="0"/>
                <a:ea typeface="Calibri" panose="020F0502020204030204" pitchFamily="34" charset="0"/>
                <a:cs typeface="Calibri" panose="020F0502020204030204" pitchFamily="34" charset="0"/>
              </a:rPr>
              <a:t>boxplots</a:t>
            </a:r>
            <a:r>
              <a:rPr lang="es-MX" sz="1600" b="1" dirty="0">
                <a:solidFill>
                  <a:schemeClr val="bg1"/>
                </a:solidFill>
                <a:latin typeface="Calibri" panose="020F0502020204030204" pitchFamily="34" charset="0"/>
                <a:ea typeface="Calibri" panose="020F0502020204030204" pitchFamily="34" charset="0"/>
                <a:cs typeface="Calibri" panose="020F0502020204030204" pitchFamily="34" charset="0"/>
              </a:rPr>
              <a:t>, etc.).</a:t>
            </a:r>
          </a:p>
        </p:txBody>
      </p:sp>
      <p:sp>
        <p:nvSpPr>
          <p:cNvPr id="21" name="CuadroTexto 20">
            <a:extLst>
              <a:ext uri="{FF2B5EF4-FFF2-40B4-BE49-F238E27FC236}">
                <a16:creationId xmlns:a16="http://schemas.microsoft.com/office/drawing/2014/main" id="{1CB7CB4B-E160-47EF-AD7F-E2638A2C7354}"/>
              </a:ext>
            </a:extLst>
          </p:cNvPr>
          <p:cNvSpPr txBox="1"/>
          <p:nvPr/>
        </p:nvSpPr>
        <p:spPr>
          <a:xfrm>
            <a:off x="1504485" y="4335615"/>
            <a:ext cx="4650509" cy="584775"/>
          </a:xfrm>
          <a:prstGeom prst="rect">
            <a:avLst/>
          </a:prstGeom>
          <a:noFill/>
        </p:spPr>
        <p:txBody>
          <a:bodyPr wrap="square" rtlCol="0">
            <a:spAutoFit/>
          </a:bodyPr>
          <a:lstStyle/>
          <a:p>
            <a:r>
              <a:rPr lang="es-MX" sz="1600" b="1" dirty="0">
                <a:solidFill>
                  <a:schemeClr val="bg1"/>
                </a:solidFill>
                <a:latin typeface="Calibri" panose="020F0502020204030204" pitchFamily="34" charset="0"/>
                <a:ea typeface="Calibri" panose="020F0502020204030204" pitchFamily="34" charset="0"/>
                <a:cs typeface="Calibri" panose="020F0502020204030204" pitchFamily="34" charset="0"/>
              </a:rPr>
              <a:t>Aplicar las técnicas de análisis apropiadas (análisis descriptivo, inferencial o minería de datos).</a:t>
            </a:r>
          </a:p>
        </p:txBody>
      </p:sp>
      <p:pic>
        <p:nvPicPr>
          <p:cNvPr id="22" name="Imagen 21">
            <a:extLst>
              <a:ext uri="{FF2B5EF4-FFF2-40B4-BE49-F238E27FC236}">
                <a16:creationId xmlns:a16="http://schemas.microsoft.com/office/drawing/2014/main" id="{4DB5E135-D1EA-40BA-9083-C2F3B9519322}"/>
              </a:ext>
            </a:extLst>
          </p:cNvPr>
          <p:cNvPicPr>
            <a:picLocks noChangeAspect="1"/>
          </p:cNvPicPr>
          <p:nvPr/>
        </p:nvPicPr>
        <p:blipFill>
          <a:blip r:embed="rId6"/>
          <a:stretch>
            <a:fillRect/>
          </a:stretch>
        </p:blipFill>
        <p:spPr>
          <a:xfrm>
            <a:off x="6041190" y="2952271"/>
            <a:ext cx="2709520" cy="1603214"/>
          </a:xfrm>
          <a:prstGeom prst="rect">
            <a:avLst/>
          </a:prstGeom>
          <a:ln w="3175">
            <a:solidFill>
              <a:schemeClr val="tx1"/>
            </a:solidFill>
          </a:ln>
        </p:spPr>
      </p:pic>
    </p:spTree>
    <p:extLst>
      <p:ext uri="{BB962C8B-B14F-4D97-AF65-F5344CB8AC3E}">
        <p14:creationId xmlns:p14="http://schemas.microsoft.com/office/powerpoint/2010/main" val="2378074866"/>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7"/>
          <p:cNvSpPr txBox="1"/>
          <p:nvPr/>
        </p:nvSpPr>
        <p:spPr>
          <a:xfrm>
            <a:off x="738150" y="918372"/>
            <a:ext cx="7381281" cy="276999"/>
          </a:xfrm>
          <a:prstGeom prst="rect">
            <a:avLst/>
          </a:prstGeom>
        </p:spPr>
        <p:txBody>
          <a:bodyPr vert="horz" wrap="square" lIns="0" tIns="0" rIns="0" bIns="0" rtlCol="0">
            <a:spAutoFit/>
          </a:bodyPr>
          <a:lstStyle/>
          <a:p>
            <a:pPr marL="11725" algn="ctr">
              <a:buSzPct val="100000"/>
              <a:tabLst>
                <a:tab pos="121285" algn="l"/>
              </a:tabLst>
              <a:defRPr/>
            </a:pPr>
            <a:r>
              <a:rPr lang="es-ES" b="1" spc="-10" dirty="0">
                <a:solidFill>
                  <a:srgbClr val="262626"/>
                </a:solidFill>
                <a:latin typeface="Calibri" charset="0"/>
                <a:ea typeface="Calibri" charset="0"/>
                <a:cs typeface="Calibri" charset="0"/>
              </a:rPr>
              <a:t>CLASIFICACIÓN DE LOS TIPOS DE DATOS</a:t>
            </a:r>
            <a:endParaRPr lang="es-PE" sz="1600" b="1" spc="-10" dirty="0">
              <a:latin typeface="Calibri" charset="0"/>
              <a:ea typeface="Calibri" charset="0"/>
              <a:cs typeface="Calibri" charset="0"/>
            </a:endParaRPr>
          </a:p>
        </p:txBody>
      </p:sp>
      <p:pic>
        <p:nvPicPr>
          <p:cNvPr id="3" name="Imagen 2"/>
          <p:cNvPicPr>
            <a:picLocks noChangeAspect="1"/>
          </p:cNvPicPr>
          <p:nvPr/>
        </p:nvPicPr>
        <p:blipFill>
          <a:blip r:embed="rId3"/>
          <a:stretch>
            <a:fillRect/>
          </a:stretch>
        </p:blipFill>
        <p:spPr>
          <a:xfrm>
            <a:off x="1463250" y="1530878"/>
            <a:ext cx="6151397" cy="3578662"/>
          </a:xfrm>
          <a:prstGeom prst="rect">
            <a:avLst/>
          </a:prstGeom>
        </p:spPr>
      </p:pic>
      <p:sp>
        <p:nvSpPr>
          <p:cNvPr id="5" name="Rectangle 5">
            <a:extLst>
              <a:ext uri="{FF2B5EF4-FFF2-40B4-BE49-F238E27FC236}">
                <a16:creationId xmlns:a16="http://schemas.microsoft.com/office/drawing/2014/main" id="{6795D537-0218-4437-908F-088826F1B707}"/>
              </a:ext>
            </a:extLst>
          </p:cNvPr>
          <p:cNvSpPr/>
          <p:nvPr/>
        </p:nvSpPr>
        <p:spPr>
          <a:xfrm>
            <a:off x="503237" y="380615"/>
            <a:ext cx="3134697"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MX" sz="1000" dirty="0">
                <a:solidFill>
                  <a:schemeClr val="bg1">
                    <a:lumMod val="65000"/>
                  </a:schemeClr>
                </a:solidFill>
                <a:latin typeface="Calibri" charset="0"/>
                <a:ea typeface="Calibri" charset="0"/>
                <a:cs typeface="Calibri" charset="0"/>
              </a:rPr>
              <a:t>TIPO DE DATOS: NOMINALES, ORDINALES, CONTINUOS</a:t>
            </a:r>
          </a:p>
        </p:txBody>
      </p:sp>
    </p:spTree>
    <p:extLst>
      <p:ext uri="{BB962C8B-B14F-4D97-AF65-F5344CB8AC3E}">
        <p14:creationId xmlns:p14="http://schemas.microsoft.com/office/powerpoint/2010/main" val="550219715"/>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7"/>
          <p:cNvSpPr txBox="1"/>
          <p:nvPr/>
        </p:nvSpPr>
        <p:spPr>
          <a:xfrm>
            <a:off x="506796" y="918372"/>
            <a:ext cx="3560379" cy="3016210"/>
          </a:xfrm>
          <a:prstGeom prst="rect">
            <a:avLst/>
          </a:prstGeom>
        </p:spPr>
        <p:txBody>
          <a:bodyPr vert="horz" wrap="square" lIns="0" tIns="0" rIns="0" bIns="0" rtlCol="0">
            <a:spAutoFit/>
          </a:bodyPr>
          <a:lstStyle/>
          <a:p>
            <a:pPr marL="11725">
              <a:spcAft>
                <a:spcPts val="600"/>
              </a:spcAft>
              <a:buSzPct val="100000"/>
              <a:tabLst>
                <a:tab pos="121285" algn="l"/>
              </a:tabLst>
              <a:defRPr/>
            </a:pPr>
            <a:r>
              <a:rPr lang="es-PE" sz="1600" b="1" dirty="0">
                <a:latin typeface="Calibri" charset="0"/>
                <a:ea typeface="Calibri" charset="0"/>
                <a:cs typeface="Calibri" charset="0"/>
              </a:rPr>
              <a:t>DATOS CATEGÓRICOS O CUALITATIVOS</a:t>
            </a:r>
          </a:p>
          <a:p>
            <a:pPr marL="297475" indent="-285750">
              <a:spcAft>
                <a:spcPts val="600"/>
              </a:spcAft>
              <a:buSzPct val="100000"/>
              <a:buFont typeface="Arial" panose="020B0604020202020204" pitchFamily="34" charset="0"/>
              <a:buChar char="•"/>
              <a:tabLst>
                <a:tab pos="121285" algn="l"/>
              </a:tabLst>
              <a:defRPr/>
            </a:pPr>
            <a:r>
              <a:rPr lang="es-ES" sz="1600" spc="-10" dirty="0">
                <a:solidFill>
                  <a:srgbClr val="262626"/>
                </a:solidFill>
                <a:latin typeface="Calibri" charset="0"/>
                <a:ea typeface="Calibri" charset="0"/>
                <a:cs typeface="Calibri" charset="0"/>
              </a:rPr>
              <a:t>Son aquellos que expresan una cualidad o característica, no una cantidad. Se utilizan para clasificar o agrupar observaciones. </a:t>
            </a:r>
          </a:p>
          <a:p>
            <a:pPr marL="297475" indent="-285750">
              <a:spcAft>
                <a:spcPts val="600"/>
              </a:spcAft>
              <a:buSzPct val="100000"/>
              <a:buFont typeface="Arial" panose="020B0604020202020204" pitchFamily="34" charset="0"/>
              <a:buChar char="•"/>
              <a:tabLst>
                <a:tab pos="121285" algn="l"/>
              </a:tabLst>
              <a:defRPr/>
            </a:pPr>
            <a:r>
              <a:rPr lang="es-ES" sz="1600" spc="-10" dirty="0">
                <a:solidFill>
                  <a:srgbClr val="262626"/>
                </a:solidFill>
                <a:latin typeface="Calibri" charset="0"/>
                <a:ea typeface="Calibri" charset="0"/>
                <a:cs typeface="Calibri" charset="0"/>
              </a:rPr>
              <a:t>En este tipo de datos no se pueden realizar operaciones matemáticas como sumas o promedios.</a:t>
            </a:r>
          </a:p>
          <a:p>
            <a:pPr marL="11725">
              <a:spcAft>
                <a:spcPts val="600"/>
              </a:spcAft>
              <a:buSzPct val="100000"/>
              <a:tabLst>
                <a:tab pos="121285" algn="l"/>
              </a:tabLst>
              <a:defRPr/>
            </a:pPr>
            <a:r>
              <a:rPr lang="es-PE" sz="1600" spc="-10" dirty="0">
                <a:solidFill>
                  <a:srgbClr val="262626"/>
                </a:solidFill>
                <a:latin typeface="Calibri" charset="0"/>
                <a:ea typeface="Calibri" charset="0"/>
                <a:cs typeface="Calibri" charset="0"/>
              </a:rPr>
              <a:t>Subtipos: </a:t>
            </a:r>
          </a:p>
          <a:p>
            <a:pPr marL="180000" indent="-168275">
              <a:buSzPct val="100000"/>
              <a:buFont typeface="Arial"/>
              <a:buChar char="•"/>
              <a:tabLst>
                <a:tab pos="121285" algn="l"/>
              </a:tabLst>
              <a:defRPr/>
            </a:pPr>
            <a:r>
              <a:rPr lang="es-PE" sz="1600" spc="-10" dirty="0">
                <a:solidFill>
                  <a:srgbClr val="262626"/>
                </a:solidFill>
                <a:latin typeface="Calibri" charset="0"/>
                <a:ea typeface="Calibri" charset="0"/>
                <a:cs typeface="Calibri" charset="0"/>
              </a:rPr>
              <a:t>Categóricos </a:t>
            </a:r>
            <a:r>
              <a:rPr lang="es-PE" sz="1600" b="1" spc="-10" dirty="0">
                <a:solidFill>
                  <a:srgbClr val="7150A0"/>
                </a:solidFill>
                <a:latin typeface="Calibri" charset="0"/>
                <a:ea typeface="Calibri" charset="0"/>
                <a:cs typeface="Calibri" charset="0"/>
              </a:rPr>
              <a:t>ordinales.</a:t>
            </a:r>
          </a:p>
          <a:p>
            <a:pPr marL="180000" indent="-168275">
              <a:buSzPct val="100000"/>
              <a:buFont typeface="Arial"/>
              <a:buChar char="•"/>
              <a:tabLst>
                <a:tab pos="121285" algn="l"/>
              </a:tabLst>
              <a:defRPr/>
            </a:pPr>
            <a:r>
              <a:rPr lang="es-PE" sz="1600" spc="-10" dirty="0">
                <a:solidFill>
                  <a:srgbClr val="262626"/>
                </a:solidFill>
                <a:latin typeface="Calibri" charset="0"/>
                <a:ea typeface="Calibri" charset="0"/>
                <a:cs typeface="Calibri" charset="0"/>
              </a:rPr>
              <a:t>Categóricos </a:t>
            </a:r>
            <a:r>
              <a:rPr lang="es-PE" sz="1600" b="1" spc="-10" dirty="0">
                <a:solidFill>
                  <a:srgbClr val="7150A0"/>
                </a:solidFill>
                <a:latin typeface="Calibri" charset="0"/>
                <a:ea typeface="Calibri" charset="0"/>
                <a:cs typeface="Calibri" charset="0"/>
              </a:rPr>
              <a:t>nominales.</a:t>
            </a:r>
          </a:p>
        </p:txBody>
      </p:sp>
      <p:pic>
        <p:nvPicPr>
          <p:cNvPr id="5" name="Imagen 4"/>
          <p:cNvPicPr>
            <a:picLocks noChangeAspect="1"/>
          </p:cNvPicPr>
          <p:nvPr/>
        </p:nvPicPr>
        <p:blipFill rotWithShape="1">
          <a:blip r:embed="rId3"/>
          <a:srcRect l="15454" r="22879"/>
          <a:stretch/>
        </p:blipFill>
        <p:spPr>
          <a:xfrm>
            <a:off x="5076825" y="918372"/>
            <a:ext cx="3560379" cy="4059208"/>
          </a:xfrm>
          <a:prstGeom prst="rect">
            <a:avLst/>
          </a:prstGeom>
          <a:ln w="3175">
            <a:solidFill>
              <a:schemeClr val="tx1"/>
            </a:solidFill>
          </a:ln>
        </p:spPr>
      </p:pic>
      <p:sp>
        <p:nvSpPr>
          <p:cNvPr id="6" name="Rectangle 5">
            <a:extLst>
              <a:ext uri="{FF2B5EF4-FFF2-40B4-BE49-F238E27FC236}">
                <a16:creationId xmlns:a16="http://schemas.microsoft.com/office/drawing/2014/main" id="{40923853-A228-4324-BCDE-FFB55CBC2501}"/>
              </a:ext>
            </a:extLst>
          </p:cNvPr>
          <p:cNvSpPr/>
          <p:nvPr/>
        </p:nvSpPr>
        <p:spPr>
          <a:xfrm>
            <a:off x="503237" y="380615"/>
            <a:ext cx="3134697"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MX" sz="1000" dirty="0">
                <a:solidFill>
                  <a:schemeClr val="bg1">
                    <a:lumMod val="65000"/>
                  </a:schemeClr>
                </a:solidFill>
                <a:latin typeface="Calibri" charset="0"/>
                <a:ea typeface="Calibri" charset="0"/>
                <a:cs typeface="Calibri" charset="0"/>
              </a:rPr>
              <a:t>TIPO DE DATOS: NOMINALES, ORDINALES, CONTINUOS</a:t>
            </a:r>
          </a:p>
        </p:txBody>
      </p:sp>
    </p:spTree>
    <p:extLst>
      <p:ext uri="{BB962C8B-B14F-4D97-AF65-F5344CB8AC3E}">
        <p14:creationId xmlns:p14="http://schemas.microsoft.com/office/powerpoint/2010/main" val="3710821840"/>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3" name="Google Shape;333;p23">
            <a:extLst>
              <a:ext uri="{FF2B5EF4-FFF2-40B4-BE49-F238E27FC236}">
                <a16:creationId xmlns:a16="http://schemas.microsoft.com/office/drawing/2014/main" id="{7984C497-730C-A640-2BE6-CD770B1A1D6F}"/>
              </a:ext>
            </a:extLst>
          </p:cNvPr>
          <p:cNvSpPr/>
          <p:nvPr/>
        </p:nvSpPr>
        <p:spPr>
          <a:xfrm>
            <a:off x="4666623" y="1092689"/>
            <a:ext cx="3175640" cy="501005"/>
          </a:xfrm>
          <a:prstGeom prst="roundRect">
            <a:avLst>
              <a:gd name="adj" fmla="val 18326"/>
            </a:avLst>
          </a:prstGeom>
          <a:solidFill>
            <a:srgbClr val="00B1C2"/>
          </a:solidFill>
          <a:ln>
            <a:noFill/>
          </a:ln>
        </p:spPr>
        <p:txBody>
          <a:bodyPr spcFirstLastPara="1" wrap="square" lIns="91425" tIns="45700" rIns="91425" bIns="45700" anchor="ctr" anchorCtr="0">
            <a:noAutofit/>
          </a:bodyPr>
          <a:lstStyle/>
          <a:p>
            <a:pPr marL="11430" algn="ctr"/>
            <a:r>
              <a:rPr lang="es-ES_tradnl" sz="1600" b="1" dirty="0">
                <a:solidFill>
                  <a:schemeClr val="bg1"/>
                </a:solidFill>
                <a:latin typeface="Calibri" panose="020F0502020204030204" pitchFamily="34" charset="0"/>
                <a:cs typeface="Calibri" panose="020F0502020204030204" pitchFamily="34" charset="0"/>
                <a:sym typeface="Calibri"/>
              </a:rPr>
              <a:t>ORDINALES</a:t>
            </a:r>
          </a:p>
        </p:txBody>
      </p:sp>
      <p:sp>
        <p:nvSpPr>
          <p:cNvPr id="5" name="Google Shape;335;p23">
            <a:extLst>
              <a:ext uri="{FF2B5EF4-FFF2-40B4-BE49-F238E27FC236}">
                <a16:creationId xmlns:a16="http://schemas.microsoft.com/office/drawing/2014/main" id="{DEF02F4B-F3CB-FCEB-8ABF-700CFFA9C534}"/>
              </a:ext>
            </a:extLst>
          </p:cNvPr>
          <p:cNvSpPr/>
          <p:nvPr/>
        </p:nvSpPr>
        <p:spPr>
          <a:xfrm>
            <a:off x="4666623" y="1667239"/>
            <a:ext cx="3175640" cy="3111237"/>
          </a:xfrm>
          <a:prstGeom prst="roundRect">
            <a:avLst>
              <a:gd name="adj" fmla="val 2748"/>
            </a:avLst>
          </a:prstGeom>
          <a:solidFill>
            <a:srgbClr val="D1EFF4"/>
          </a:solidFill>
          <a:ln>
            <a:noFill/>
          </a:ln>
        </p:spPr>
        <p:txBody>
          <a:bodyPr spcFirstLastPara="1" wrap="square" lIns="108000" tIns="108000" rIns="108000" bIns="45700" anchor="t" anchorCtr="0">
            <a:noAutofit/>
          </a:bodyPr>
          <a:lstStyle/>
          <a:p>
            <a:pPr marL="222250" indent="-134938">
              <a:buClr>
                <a:srgbClr val="00B1C2"/>
              </a:buClr>
              <a:buSzPct val="100000"/>
              <a:buFont typeface="Arial" panose="020B0604020202020204" pitchFamily="34" charset="0"/>
              <a:buChar char="•"/>
            </a:pPr>
            <a:r>
              <a:rPr lang="es-ES" sz="1600" dirty="0">
                <a:latin typeface="Calibri" panose="020F0502020204030204" pitchFamily="34" charset="0"/>
                <a:ea typeface="+mj-lt"/>
                <a:cs typeface="Calibri" panose="020F0502020204030204" pitchFamily="34" charset="0"/>
                <a:sym typeface="Calibri"/>
              </a:rPr>
              <a:t>Tienen categorías que pueden ordenarse o jerarquizarse, aunque la diferencia entre ellas no sea cuantificable.</a:t>
            </a:r>
          </a:p>
          <a:p>
            <a:pPr marL="222250" indent="-134938">
              <a:buClr>
                <a:srgbClr val="00B1C2"/>
              </a:buClr>
              <a:buSzPct val="100000"/>
              <a:buFont typeface="Arial" panose="020B0604020202020204" pitchFamily="34" charset="0"/>
              <a:buChar char="•"/>
            </a:pPr>
            <a:endParaRPr lang="es-ES" sz="1600" dirty="0">
              <a:latin typeface="Calibri" panose="020F0502020204030204" pitchFamily="34" charset="0"/>
              <a:ea typeface="+mj-lt"/>
              <a:cs typeface="Calibri" panose="020F0502020204030204" pitchFamily="34" charset="0"/>
              <a:sym typeface="Calibri"/>
            </a:endParaRPr>
          </a:p>
          <a:p>
            <a:pPr marL="222250" indent="-134938">
              <a:buClr>
                <a:srgbClr val="00B1C2"/>
              </a:buClr>
              <a:buSzPct val="100000"/>
              <a:buFont typeface="Arial" panose="020B0604020202020204" pitchFamily="34" charset="0"/>
              <a:buChar char="•"/>
            </a:pPr>
            <a:r>
              <a:rPr lang="es-ES_tradnl" sz="1600" dirty="0">
                <a:latin typeface="Calibri" panose="020F0502020204030204" pitchFamily="34" charset="0"/>
                <a:ea typeface="+mj-lt"/>
                <a:cs typeface="Calibri" panose="020F0502020204030204" pitchFamily="34" charset="0"/>
                <a:sym typeface="Calibri"/>
              </a:rPr>
              <a:t>Ejemplos: </a:t>
            </a:r>
            <a:r>
              <a:rPr lang="es-ES" sz="1600" b="1" dirty="0">
                <a:latin typeface="Calibri" panose="020F0502020204030204" pitchFamily="34" charset="0"/>
                <a:ea typeface="+mj-lt"/>
                <a:cs typeface="Calibri" panose="020F0502020204030204" pitchFamily="34" charset="0"/>
                <a:sym typeface="Calibri"/>
              </a:rPr>
              <a:t>nivel de satisfacción </a:t>
            </a:r>
            <a:r>
              <a:rPr lang="es-ES" sz="1600" dirty="0">
                <a:latin typeface="Calibri" panose="020F0502020204030204" pitchFamily="34" charset="0"/>
                <a:ea typeface="+mj-lt"/>
                <a:cs typeface="Calibri" panose="020F0502020204030204" pitchFamily="34" charset="0"/>
                <a:sym typeface="Calibri"/>
              </a:rPr>
              <a:t>(bajo, medio, alto), </a:t>
            </a:r>
            <a:r>
              <a:rPr lang="es-ES" sz="1600" b="1" dirty="0">
                <a:latin typeface="Calibri" panose="020F0502020204030204" pitchFamily="34" charset="0"/>
                <a:ea typeface="+mj-lt"/>
                <a:cs typeface="Calibri" panose="020F0502020204030204" pitchFamily="34" charset="0"/>
                <a:sym typeface="Calibri"/>
              </a:rPr>
              <a:t>nivel educativo</a:t>
            </a:r>
            <a:r>
              <a:rPr lang="es-ES" sz="1600" dirty="0">
                <a:latin typeface="Calibri" panose="020F0502020204030204" pitchFamily="34" charset="0"/>
                <a:ea typeface="+mj-lt"/>
                <a:cs typeface="Calibri" panose="020F0502020204030204" pitchFamily="34" charset="0"/>
                <a:sym typeface="Calibri"/>
              </a:rPr>
              <a:t> (secundaria, técnico, universitario, posgrado), </a:t>
            </a:r>
            <a:r>
              <a:rPr lang="es-ES" sz="1600" b="1" dirty="0">
                <a:latin typeface="Calibri" panose="020F0502020204030204" pitchFamily="34" charset="0"/>
                <a:ea typeface="+mj-lt"/>
                <a:cs typeface="Calibri" panose="020F0502020204030204" pitchFamily="34" charset="0"/>
                <a:sym typeface="Calibri"/>
              </a:rPr>
              <a:t>evaluación de desempeño</a:t>
            </a:r>
            <a:r>
              <a:rPr lang="es-ES" sz="1600" dirty="0">
                <a:latin typeface="Calibri" panose="020F0502020204030204" pitchFamily="34" charset="0"/>
                <a:ea typeface="+mj-lt"/>
                <a:cs typeface="Calibri" panose="020F0502020204030204" pitchFamily="34" charset="0"/>
                <a:sym typeface="Calibri"/>
              </a:rPr>
              <a:t> (insatisfactorio, aceptable, excelente</a:t>
            </a:r>
            <a:r>
              <a:rPr lang="es-PE" sz="1600" dirty="0">
                <a:latin typeface="Calibri" panose="020F0502020204030204" pitchFamily="34" charset="0"/>
                <a:ea typeface="+mj-lt"/>
                <a:cs typeface="Calibri" panose="020F0502020204030204" pitchFamily="34" charset="0"/>
                <a:sym typeface="Calibri"/>
              </a:rPr>
              <a:t>).</a:t>
            </a:r>
            <a:endParaRPr lang="es-ES_tradnl" sz="1600" dirty="0">
              <a:latin typeface="Calibri" panose="020F0502020204030204" pitchFamily="34" charset="0"/>
              <a:ea typeface="+mj-lt"/>
              <a:cs typeface="Calibri" panose="020F0502020204030204" pitchFamily="34" charset="0"/>
              <a:sym typeface="Calibri"/>
            </a:endParaRPr>
          </a:p>
          <a:p>
            <a:pPr marL="222250" indent="-134938" algn="just">
              <a:buClr>
                <a:srgbClr val="00B1C2"/>
              </a:buClr>
              <a:buSzPct val="100000"/>
              <a:buFont typeface="Arial" panose="020B0604020202020204" pitchFamily="34" charset="0"/>
              <a:buChar char="•"/>
            </a:pPr>
            <a:endParaRPr lang="es-ES_tradnl" sz="1400" dirty="0">
              <a:latin typeface="Calibri" panose="020F0502020204030204" pitchFamily="34" charset="0"/>
              <a:ea typeface="+mj-lt"/>
              <a:cs typeface="Calibri" panose="020F0502020204030204" pitchFamily="34" charset="0"/>
              <a:sym typeface="Calibri"/>
            </a:endParaRPr>
          </a:p>
        </p:txBody>
      </p:sp>
      <p:grpSp>
        <p:nvGrpSpPr>
          <p:cNvPr id="11" name="Agrupar 9">
            <a:extLst>
              <a:ext uri="{FF2B5EF4-FFF2-40B4-BE49-F238E27FC236}">
                <a16:creationId xmlns:a16="http://schemas.microsoft.com/office/drawing/2014/main" id="{79B65B8C-BB3C-6550-CE9F-4D949F820F59}"/>
              </a:ext>
            </a:extLst>
          </p:cNvPr>
          <p:cNvGrpSpPr/>
          <p:nvPr/>
        </p:nvGrpSpPr>
        <p:grpSpPr>
          <a:xfrm>
            <a:off x="4450857" y="1141318"/>
            <a:ext cx="459474" cy="403823"/>
            <a:chOff x="5892512" y="2805541"/>
            <a:chExt cx="459474" cy="403823"/>
          </a:xfrm>
        </p:grpSpPr>
        <p:sp>
          <p:nvSpPr>
            <p:cNvPr id="12" name="Elipse 11">
              <a:extLst>
                <a:ext uri="{FF2B5EF4-FFF2-40B4-BE49-F238E27FC236}">
                  <a16:creationId xmlns:a16="http://schemas.microsoft.com/office/drawing/2014/main" id="{404180C0-039B-8D2E-2CDB-793434E208F2}"/>
                </a:ext>
              </a:extLst>
            </p:cNvPr>
            <p:cNvSpPr/>
            <p:nvPr/>
          </p:nvSpPr>
          <p:spPr>
            <a:xfrm>
              <a:off x="5956277" y="2824919"/>
              <a:ext cx="395709" cy="376075"/>
            </a:xfrm>
            <a:prstGeom prst="ellipse">
              <a:avLst/>
            </a:prstGeom>
            <a:solidFill>
              <a:srgbClr val="0B82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
          <p:nvSpPr>
            <p:cNvPr id="13" name="Elipse 12">
              <a:extLst>
                <a:ext uri="{FF2B5EF4-FFF2-40B4-BE49-F238E27FC236}">
                  <a16:creationId xmlns:a16="http://schemas.microsoft.com/office/drawing/2014/main" id="{E4F3412C-7B53-AC7A-A76D-DC9811FAA27F}"/>
                </a:ext>
              </a:extLst>
            </p:cNvPr>
            <p:cNvSpPr/>
            <p:nvPr/>
          </p:nvSpPr>
          <p:spPr>
            <a:xfrm>
              <a:off x="5892512" y="2805541"/>
              <a:ext cx="424906" cy="40382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
          <p:nvSpPr>
            <p:cNvPr id="14" name="Triángulo 13">
              <a:extLst>
                <a:ext uri="{FF2B5EF4-FFF2-40B4-BE49-F238E27FC236}">
                  <a16:creationId xmlns:a16="http://schemas.microsoft.com/office/drawing/2014/main" id="{5265BC84-D2A9-09C5-505D-D7D0ED100C68}"/>
                </a:ext>
              </a:extLst>
            </p:cNvPr>
            <p:cNvSpPr/>
            <p:nvPr/>
          </p:nvSpPr>
          <p:spPr>
            <a:xfrm rot="5400000">
              <a:off x="6076285" y="2946262"/>
              <a:ext cx="186870" cy="122381"/>
            </a:xfrm>
            <a:prstGeom prst="triangl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grpSp>
      <p:sp>
        <p:nvSpPr>
          <p:cNvPr id="2" name="Google Shape;332;p23">
            <a:extLst>
              <a:ext uri="{FF2B5EF4-FFF2-40B4-BE49-F238E27FC236}">
                <a16:creationId xmlns:a16="http://schemas.microsoft.com/office/drawing/2014/main" id="{0A03D2A6-10B6-B2FC-5463-905DABD76867}"/>
              </a:ext>
            </a:extLst>
          </p:cNvPr>
          <p:cNvSpPr/>
          <p:nvPr/>
        </p:nvSpPr>
        <p:spPr>
          <a:xfrm>
            <a:off x="1281017" y="1092689"/>
            <a:ext cx="3175640" cy="501005"/>
          </a:xfrm>
          <a:prstGeom prst="roundRect">
            <a:avLst>
              <a:gd name="adj" fmla="val 18326"/>
            </a:avLst>
          </a:prstGeom>
          <a:solidFill>
            <a:srgbClr val="EE4639"/>
          </a:solidFill>
          <a:ln>
            <a:noFill/>
          </a:ln>
        </p:spPr>
        <p:txBody>
          <a:bodyPr spcFirstLastPara="1" wrap="square" lIns="91425" tIns="45700" rIns="91425" bIns="45700" anchor="ctr" anchorCtr="0">
            <a:noAutofit/>
          </a:bodyPr>
          <a:lstStyle/>
          <a:p>
            <a:pPr marL="11430" algn="ctr"/>
            <a:r>
              <a:rPr lang="es-ES_tradnl" sz="1600" b="1" dirty="0">
                <a:solidFill>
                  <a:schemeClr val="bg1"/>
                </a:solidFill>
                <a:latin typeface="Calibri" panose="020F0502020204030204" pitchFamily="34" charset="0"/>
                <a:cs typeface="Calibri" panose="020F0502020204030204" pitchFamily="34" charset="0"/>
                <a:sym typeface="Calibri"/>
              </a:rPr>
              <a:t>NOMINALES</a:t>
            </a:r>
          </a:p>
        </p:txBody>
      </p:sp>
      <p:sp>
        <p:nvSpPr>
          <p:cNvPr id="4" name="Google Shape;334;p23">
            <a:extLst>
              <a:ext uri="{FF2B5EF4-FFF2-40B4-BE49-F238E27FC236}">
                <a16:creationId xmlns:a16="http://schemas.microsoft.com/office/drawing/2014/main" id="{DED9F2A4-DD48-BD54-A2CA-F187DAF0F509}"/>
              </a:ext>
            </a:extLst>
          </p:cNvPr>
          <p:cNvSpPr/>
          <p:nvPr/>
        </p:nvSpPr>
        <p:spPr>
          <a:xfrm>
            <a:off x="1281017" y="1667239"/>
            <a:ext cx="3175640" cy="3111237"/>
          </a:xfrm>
          <a:prstGeom prst="roundRect">
            <a:avLst>
              <a:gd name="adj" fmla="val 2748"/>
            </a:avLst>
          </a:prstGeom>
          <a:solidFill>
            <a:srgbClr val="FFD8D4"/>
          </a:solidFill>
          <a:ln>
            <a:noFill/>
          </a:ln>
        </p:spPr>
        <p:txBody>
          <a:bodyPr spcFirstLastPara="1" wrap="square" lIns="108000" tIns="108000" rIns="108000" bIns="45700" anchor="t" anchorCtr="0">
            <a:noAutofit/>
          </a:bodyPr>
          <a:lstStyle/>
          <a:p>
            <a:pPr marL="138113" indent="-128588" defTabSz="457200">
              <a:buClr>
                <a:srgbClr val="EE4639"/>
              </a:buClr>
              <a:buSzPct val="100000"/>
              <a:buFont typeface="Arial" panose="020B0604020202020204" pitchFamily="34" charset="0"/>
              <a:buChar char="•"/>
              <a:tabLst>
                <a:tab pos="3228975" algn="l"/>
              </a:tabLst>
            </a:pPr>
            <a:r>
              <a:rPr lang="es-ES" sz="1600" dirty="0">
                <a:solidFill>
                  <a:srgbClr val="262626"/>
                </a:solidFill>
                <a:latin typeface="Calibri"/>
                <a:cs typeface="Calibri"/>
                <a:sym typeface="Calibri"/>
              </a:rPr>
              <a:t>No tienen orden lógico ni jerarquía.</a:t>
            </a:r>
          </a:p>
          <a:p>
            <a:pPr marL="138113" indent="-128588" defTabSz="457200">
              <a:buClr>
                <a:srgbClr val="EE4639"/>
              </a:buClr>
              <a:buSzPct val="100000"/>
              <a:buFont typeface="Arial" panose="020B0604020202020204" pitchFamily="34" charset="0"/>
              <a:buChar char="•"/>
              <a:tabLst>
                <a:tab pos="3228975" algn="l"/>
              </a:tabLst>
            </a:pPr>
            <a:endParaRPr lang="es-ES" sz="1600" dirty="0">
              <a:solidFill>
                <a:srgbClr val="262626"/>
              </a:solidFill>
              <a:latin typeface="Calibri"/>
              <a:cs typeface="Calibri"/>
              <a:sym typeface="Calibri"/>
            </a:endParaRPr>
          </a:p>
          <a:p>
            <a:pPr marL="138113" indent="-128588" defTabSz="457200">
              <a:buClr>
                <a:srgbClr val="EE4639"/>
              </a:buClr>
              <a:buSzPct val="100000"/>
              <a:buFont typeface="Arial" panose="020B0604020202020204" pitchFamily="34" charset="0"/>
              <a:buChar char="•"/>
              <a:tabLst>
                <a:tab pos="3228975" algn="l"/>
              </a:tabLst>
            </a:pPr>
            <a:r>
              <a:rPr lang="es-ES" sz="1600" dirty="0">
                <a:solidFill>
                  <a:srgbClr val="262626"/>
                </a:solidFill>
                <a:latin typeface="Calibri"/>
                <a:cs typeface="Calibri"/>
                <a:sym typeface="Calibri"/>
              </a:rPr>
              <a:t>Solo permiten identificar categorías diferentes.</a:t>
            </a:r>
          </a:p>
          <a:p>
            <a:pPr marL="138113" indent="-128588" defTabSz="457200">
              <a:buClr>
                <a:srgbClr val="EE4639"/>
              </a:buClr>
              <a:buSzPct val="100000"/>
              <a:buFont typeface="Arial" panose="020B0604020202020204" pitchFamily="34" charset="0"/>
              <a:buChar char="•"/>
              <a:tabLst>
                <a:tab pos="3228975" algn="l"/>
              </a:tabLst>
            </a:pPr>
            <a:endParaRPr lang="es-ES" sz="1600" dirty="0">
              <a:solidFill>
                <a:srgbClr val="262626"/>
              </a:solidFill>
              <a:latin typeface="Calibri"/>
              <a:cs typeface="Calibri"/>
              <a:sym typeface="Calibri"/>
            </a:endParaRPr>
          </a:p>
          <a:p>
            <a:pPr marL="138113" indent="-128588" defTabSz="457200">
              <a:buClr>
                <a:srgbClr val="EE4639"/>
              </a:buClr>
              <a:buSzPct val="100000"/>
              <a:buFont typeface="Arial" panose="020B0604020202020204" pitchFamily="34" charset="0"/>
              <a:buChar char="•"/>
              <a:tabLst>
                <a:tab pos="3228975" algn="l"/>
              </a:tabLst>
            </a:pPr>
            <a:r>
              <a:rPr lang="es-ES_tradnl" sz="1600" dirty="0">
                <a:solidFill>
                  <a:srgbClr val="262626"/>
                </a:solidFill>
                <a:latin typeface="Calibri"/>
                <a:ea typeface="+mn-ea"/>
                <a:cs typeface="Calibri"/>
                <a:sym typeface="Calibri"/>
              </a:rPr>
              <a:t>Ejemplos: </a:t>
            </a:r>
            <a:r>
              <a:rPr lang="es-ES" sz="1600" b="1" dirty="0">
                <a:solidFill>
                  <a:srgbClr val="262626"/>
                </a:solidFill>
                <a:latin typeface="Calibri"/>
                <a:ea typeface="+mn-ea"/>
                <a:cs typeface="Calibri"/>
                <a:sym typeface="Calibri"/>
              </a:rPr>
              <a:t>t</a:t>
            </a:r>
            <a:r>
              <a:rPr lang="es-ES" sz="1600" b="1" dirty="0">
                <a:solidFill>
                  <a:srgbClr val="262626"/>
                </a:solidFill>
                <a:latin typeface="Calibri"/>
                <a:cs typeface="Calibri"/>
                <a:sym typeface="Calibri"/>
              </a:rPr>
              <a:t>ipo de producto </a:t>
            </a:r>
            <a:r>
              <a:rPr lang="es-ES" sz="1600" dirty="0">
                <a:solidFill>
                  <a:srgbClr val="262626"/>
                </a:solidFill>
                <a:latin typeface="Calibri"/>
                <a:cs typeface="Calibri"/>
                <a:sym typeface="Calibri"/>
              </a:rPr>
              <a:t>(bebidas, alimentos, limpieza), </a:t>
            </a:r>
            <a:r>
              <a:rPr lang="es-ES" sz="1600" b="1" dirty="0">
                <a:solidFill>
                  <a:srgbClr val="262626"/>
                </a:solidFill>
                <a:latin typeface="Calibri"/>
                <a:cs typeface="Calibri"/>
                <a:sym typeface="Calibri"/>
              </a:rPr>
              <a:t>género</a:t>
            </a:r>
            <a:r>
              <a:rPr lang="es-ES" sz="1600" dirty="0">
                <a:solidFill>
                  <a:srgbClr val="262626"/>
                </a:solidFill>
                <a:latin typeface="Calibri"/>
                <a:cs typeface="Calibri"/>
                <a:sym typeface="Calibri"/>
              </a:rPr>
              <a:t> (masculino, femenino, otro), </a:t>
            </a:r>
            <a:r>
              <a:rPr lang="es-ES" sz="1600" b="1" dirty="0">
                <a:solidFill>
                  <a:srgbClr val="262626"/>
                </a:solidFill>
                <a:latin typeface="Calibri"/>
                <a:cs typeface="Calibri"/>
                <a:sym typeface="Calibri"/>
              </a:rPr>
              <a:t>área laboral </a:t>
            </a:r>
            <a:r>
              <a:rPr lang="es-ES" sz="1600" dirty="0">
                <a:solidFill>
                  <a:srgbClr val="262626"/>
                </a:solidFill>
                <a:latin typeface="Calibri"/>
                <a:cs typeface="Calibri"/>
                <a:sym typeface="Calibri"/>
              </a:rPr>
              <a:t>(marketing, contabilidad, producción).</a:t>
            </a:r>
            <a:endParaRPr lang="es-ES_tradnl" sz="1600" dirty="0">
              <a:solidFill>
                <a:srgbClr val="262626"/>
              </a:solidFill>
              <a:latin typeface="Calibri"/>
              <a:ea typeface="+mn-ea"/>
              <a:cs typeface="Calibri"/>
            </a:endParaRPr>
          </a:p>
        </p:txBody>
      </p:sp>
      <p:grpSp>
        <p:nvGrpSpPr>
          <p:cNvPr id="6" name="Agrupar 4">
            <a:extLst>
              <a:ext uri="{FF2B5EF4-FFF2-40B4-BE49-F238E27FC236}">
                <a16:creationId xmlns:a16="http://schemas.microsoft.com/office/drawing/2014/main" id="{676A4221-7ADD-1892-EC32-C751D803AE3B}"/>
              </a:ext>
            </a:extLst>
          </p:cNvPr>
          <p:cNvGrpSpPr/>
          <p:nvPr/>
        </p:nvGrpSpPr>
        <p:grpSpPr>
          <a:xfrm>
            <a:off x="1066102" y="1141318"/>
            <a:ext cx="459474" cy="403823"/>
            <a:chOff x="5892512" y="2805541"/>
            <a:chExt cx="459474" cy="403823"/>
          </a:xfrm>
        </p:grpSpPr>
        <p:sp>
          <p:nvSpPr>
            <p:cNvPr id="8" name="Elipse 7">
              <a:extLst>
                <a:ext uri="{FF2B5EF4-FFF2-40B4-BE49-F238E27FC236}">
                  <a16:creationId xmlns:a16="http://schemas.microsoft.com/office/drawing/2014/main" id="{DB9B62DC-5DA8-C6A8-0B11-AF8066890CC3}"/>
                </a:ext>
              </a:extLst>
            </p:cNvPr>
            <p:cNvSpPr/>
            <p:nvPr/>
          </p:nvSpPr>
          <p:spPr>
            <a:xfrm>
              <a:off x="5956277" y="2824919"/>
              <a:ext cx="395709" cy="376075"/>
            </a:xfrm>
            <a:prstGeom prst="ellipse">
              <a:avLst/>
            </a:prstGeom>
            <a:solidFill>
              <a:srgbClr val="B736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
          <p:nvSpPr>
            <p:cNvPr id="9" name="Elipse 8">
              <a:extLst>
                <a:ext uri="{FF2B5EF4-FFF2-40B4-BE49-F238E27FC236}">
                  <a16:creationId xmlns:a16="http://schemas.microsoft.com/office/drawing/2014/main" id="{E2F96491-6F84-B893-6DD6-1EDB37E3C94A}"/>
                </a:ext>
              </a:extLst>
            </p:cNvPr>
            <p:cNvSpPr/>
            <p:nvPr/>
          </p:nvSpPr>
          <p:spPr>
            <a:xfrm>
              <a:off x="5892512" y="2805541"/>
              <a:ext cx="424906" cy="40382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
          <p:nvSpPr>
            <p:cNvPr id="10" name="Triángulo 9">
              <a:extLst>
                <a:ext uri="{FF2B5EF4-FFF2-40B4-BE49-F238E27FC236}">
                  <a16:creationId xmlns:a16="http://schemas.microsoft.com/office/drawing/2014/main" id="{1BB547E3-9A8E-DD0F-DA71-C13017330BB5}"/>
                </a:ext>
              </a:extLst>
            </p:cNvPr>
            <p:cNvSpPr/>
            <p:nvPr/>
          </p:nvSpPr>
          <p:spPr>
            <a:xfrm rot="5400000">
              <a:off x="6076285" y="2946262"/>
              <a:ext cx="186870" cy="122381"/>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grpSp>
      <p:sp>
        <p:nvSpPr>
          <p:cNvPr id="16" name="Rectangle 5">
            <a:extLst>
              <a:ext uri="{FF2B5EF4-FFF2-40B4-BE49-F238E27FC236}">
                <a16:creationId xmlns:a16="http://schemas.microsoft.com/office/drawing/2014/main" id="{41123B4E-437E-48BB-BB44-89E67822E392}"/>
              </a:ext>
            </a:extLst>
          </p:cNvPr>
          <p:cNvSpPr/>
          <p:nvPr/>
        </p:nvSpPr>
        <p:spPr>
          <a:xfrm>
            <a:off x="503237" y="380615"/>
            <a:ext cx="3134697"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MX" sz="1000" dirty="0">
                <a:solidFill>
                  <a:schemeClr val="bg1">
                    <a:lumMod val="65000"/>
                  </a:schemeClr>
                </a:solidFill>
                <a:latin typeface="Calibri" charset="0"/>
                <a:ea typeface="Calibri" charset="0"/>
                <a:cs typeface="Calibri" charset="0"/>
              </a:rPr>
              <a:t>TIPO DE DATOS: NOMINALES, ORDINALES, CONTINUOS</a:t>
            </a:r>
          </a:p>
        </p:txBody>
      </p:sp>
    </p:spTree>
    <p:extLst>
      <p:ext uri="{BB962C8B-B14F-4D97-AF65-F5344CB8AC3E}">
        <p14:creationId xmlns:p14="http://schemas.microsoft.com/office/powerpoint/2010/main" val="3064646385"/>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7"/>
          <p:cNvSpPr txBox="1"/>
          <p:nvPr/>
        </p:nvSpPr>
        <p:spPr>
          <a:xfrm>
            <a:off x="506796" y="918372"/>
            <a:ext cx="4065204" cy="2769989"/>
          </a:xfrm>
          <a:prstGeom prst="rect">
            <a:avLst/>
          </a:prstGeom>
        </p:spPr>
        <p:txBody>
          <a:bodyPr vert="horz" wrap="square" lIns="0" tIns="0" rIns="0" bIns="0" rtlCol="0">
            <a:spAutoFit/>
          </a:bodyPr>
          <a:lstStyle/>
          <a:p>
            <a:pPr marL="11725">
              <a:spcAft>
                <a:spcPts val="600"/>
              </a:spcAft>
              <a:buSzPct val="100000"/>
              <a:tabLst>
                <a:tab pos="121285" algn="l"/>
              </a:tabLst>
              <a:defRPr/>
            </a:pPr>
            <a:r>
              <a:rPr lang="es-PE" sz="1600" b="1" dirty="0">
                <a:latin typeface="Calibri" charset="0"/>
                <a:ea typeface="Calibri" charset="0"/>
                <a:cs typeface="Calibri" charset="0"/>
              </a:rPr>
              <a:t>DATOS NUMÉRICOS O CUANTITATIVOS</a:t>
            </a:r>
          </a:p>
          <a:p>
            <a:pPr marL="297475" indent="-285750">
              <a:spcAft>
                <a:spcPts val="600"/>
              </a:spcAft>
              <a:buSzPct val="100000"/>
              <a:buFont typeface="Arial" panose="020B0604020202020204" pitchFamily="34" charset="0"/>
              <a:buChar char="•"/>
              <a:tabLst>
                <a:tab pos="121285" algn="l"/>
              </a:tabLst>
              <a:defRPr/>
            </a:pPr>
            <a:r>
              <a:rPr lang="es-ES" sz="1600" spc="-10" dirty="0">
                <a:solidFill>
                  <a:srgbClr val="262626"/>
                </a:solidFill>
                <a:latin typeface="Calibri" charset="0"/>
                <a:ea typeface="Calibri" charset="0"/>
                <a:cs typeface="Calibri" charset="0"/>
              </a:rPr>
              <a:t>Son aquellos que expresan cantidades medibles y permiten realizar operaciones aritméticas. </a:t>
            </a:r>
          </a:p>
          <a:p>
            <a:pPr marL="297475" indent="-285750">
              <a:spcAft>
                <a:spcPts val="600"/>
              </a:spcAft>
              <a:buSzPct val="100000"/>
              <a:buFont typeface="Arial" panose="020B0604020202020204" pitchFamily="34" charset="0"/>
              <a:buChar char="•"/>
              <a:tabLst>
                <a:tab pos="121285" algn="l"/>
              </a:tabLst>
              <a:defRPr/>
            </a:pPr>
            <a:r>
              <a:rPr lang="es-ES" sz="1600" spc="-10" dirty="0">
                <a:solidFill>
                  <a:srgbClr val="262626"/>
                </a:solidFill>
                <a:latin typeface="Calibri" charset="0"/>
                <a:ea typeface="Calibri" charset="0"/>
                <a:cs typeface="Calibri" charset="0"/>
              </a:rPr>
              <a:t>Se utilizan para calcular promedios, dispersiones, correlaciones, modelos predictivos, etc.</a:t>
            </a:r>
          </a:p>
          <a:p>
            <a:pPr marL="11725">
              <a:spcAft>
                <a:spcPts val="600"/>
              </a:spcAft>
              <a:buSzPct val="100000"/>
              <a:tabLst>
                <a:tab pos="121285" algn="l"/>
              </a:tabLst>
              <a:defRPr/>
            </a:pPr>
            <a:r>
              <a:rPr lang="es-ES" sz="1600" spc="-10" dirty="0">
                <a:solidFill>
                  <a:srgbClr val="262626"/>
                </a:solidFill>
                <a:latin typeface="Calibri" charset="0"/>
                <a:ea typeface="Calibri" charset="0"/>
                <a:cs typeface="Calibri" charset="0"/>
              </a:rPr>
              <a:t>Subtipos:</a:t>
            </a:r>
            <a:endParaRPr lang="es-PE" sz="1600" spc="-10" dirty="0">
              <a:solidFill>
                <a:srgbClr val="262626"/>
              </a:solidFill>
              <a:latin typeface="Calibri" charset="0"/>
              <a:ea typeface="Calibri" charset="0"/>
              <a:cs typeface="Calibri" charset="0"/>
            </a:endParaRPr>
          </a:p>
          <a:p>
            <a:pPr marL="180000" indent="-168275">
              <a:buSzPct val="100000"/>
              <a:buFont typeface="Arial"/>
              <a:buChar char="•"/>
              <a:tabLst>
                <a:tab pos="121285" algn="l"/>
              </a:tabLst>
              <a:defRPr/>
            </a:pPr>
            <a:r>
              <a:rPr lang="es-PE" sz="1600" spc="-10" dirty="0">
                <a:solidFill>
                  <a:srgbClr val="262626"/>
                </a:solidFill>
                <a:latin typeface="Calibri" charset="0"/>
                <a:ea typeface="Calibri" charset="0"/>
                <a:cs typeface="Calibri" charset="0"/>
              </a:rPr>
              <a:t>Numéricos </a:t>
            </a:r>
            <a:r>
              <a:rPr lang="es-PE" sz="1600" b="1" spc="-10" dirty="0">
                <a:solidFill>
                  <a:srgbClr val="7150A0"/>
                </a:solidFill>
                <a:latin typeface="Calibri" charset="0"/>
                <a:ea typeface="Calibri" charset="0"/>
                <a:cs typeface="Calibri" charset="0"/>
              </a:rPr>
              <a:t>discretos.</a:t>
            </a:r>
          </a:p>
          <a:p>
            <a:pPr marL="180000" indent="-168275">
              <a:buSzPct val="100000"/>
              <a:buFont typeface="Arial"/>
              <a:buChar char="•"/>
              <a:tabLst>
                <a:tab pos="121285" algn="l"/>
              </a:tabLst>
              <a:defRPr/>
            </a:pPr>
            <a:r>
              <a:rPr lang="es-PE" sz="1600" spc="-10" dirty="0">
                <a:solidFill>
                  <a:srgbClr val="262626"/>
                </a:solidFill>
                <a:latin typeface="Calibri" charset="0"/>
                <a:ea typeface="Calibri" charset="0"/>
                <a:cs typeface="Calibri" charset="0"/>
              </a:rPr>
              <a:t>Numéricos </a:t>
            </a:r>
            <a:r>
              <a:rPr lang="es-PE" sz="1600" b="1" spc="-10" dirty="0">
                <a:solidFill>
                  <a:srgbClr val="7150A0"/>
                </a:solidFill>
                <a:latin typeface="Calibri" charset="0"/>
                <a:ea typeface="Calibri" charset="0"/>
                <a:cs typeface="Calibri" charset="0"/>
              </a:rPr>
              <a:t>continuos.</a:t>
            </a:r>
          </a:p>
        </p:txBody>
      </p:sp>
      <p:sp>
        <p:nvSpPr>
          <p:cNvPr id="5" name="Rectangle 5">
            <a:extLst>
              <a:ext uri="{FF2B5EF4-FFF2-40B4-BE49-F238E27FC236}">
                <a16:creationId xmlns:a16="http://schemas.microsoft.com/office/drawing/2014/main" id="{F14C424B-7B92-4EDB-A985-9843CF7D369F}"/>
              </a:ext>
            </a:extLst>
          </p:cNvPr>
          <p:cNvSpPr/>
          <p:nvPr/>
        </p:nvSpPr>
        <p:spPr>
          <a:xfrm>
            <a:off x="503237" y="380615"/>
            <a:ext cx="3134697"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MX" sz="1000" dirty="0">
                <a:solidFill>
                  <a:schemeClr val="bg1">
                    <a:lumMod val="65000"/>
                  </a:schemeClr>
                </a:solidFill>
                <a:latin typeface="Calibri" charset="0"/>
                <a:ea typeface="Calibri" charset="0"/>
                <a:cs typeface="Calibri" charset="0"/>
              </a:rPr>
              <a:t>TIPO DE DATOS: NOMINALES, ORDINALES, CONTINUOS</a:t>
            </a:r>
          </a:p>
        </p:txBody>
      </p:sp>
      <p:pic>
        <p:nvPicPr>
          <p:cNvPr id="7" name="Imagen 6">
            <a:extLst>
              <a:ext uri="{FF2B5EF4-FFF2-40B4-BE49-F238E27FC236}">
                <a16:creationId xmlns:a16="http://schemas.microsoft.com/office/drawing/2014/main" id="{D3B2DD0D-D125-4C93-8636-854431BF025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63613" y="918372"/>
            <a:ext cx="3573591" cy="4059208"/>
          </a:xfrm>
          <a:prstGeom prst="rect">
            <a:avLst/>
          </a:prstGeom>
        </p:spPr>
      </p:pic>
    </p:spTree>
    <p:extLst>
      <p:ext uri="{BB962C8B-B14F-4D97-AF65-F5344CB8AC3E}">
        <p14:creationId xmlns:p14="http://schemas.microsoft.com/office/powerpoint/2010/main" val="3229364191"/>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3" name="Google Shape;333;p23">
            <a:extLst>
              <a:ext uri="{FF2B5EF4-FFF2-40B4-BE49-F238E27FC236}">
                <a16:creationId xmlns:a16="http://schemas.microsoft.com/office/drawing/2014/main" id="{7984C497-730C-A640-2BE6-CD770B1A1D6F}"/>
              </a:ext>
            </a:extLst>
          </p:cNvPr>
          <p:cNvSpPr/>
          <p:nvPr/>
        </p:nvSpPr>
        <p:spPr>
          <a:xfrm>
            <a:off x="4686287" y="1259837"/>
            <a:ext cx="3175640" cy="501005"/>
          </a:xfrm>
          <a:prstGeom prst="roundRect">
            <a:avLst>
              <a:gd name="adj" fmla="val 18326"/>
            </a:avLst>
          </a:prstGeom>
          <a:solidFill>
            <a:srgbClr val="00B1C2"/>
          </a:solidFill>
          <a:ln>
            <a:noFill/>
          </a:ln>
        </p:spPr>
        <p:txBody>
          <a:bodyPr spcFirstLastPara="1" wrap="square" lIns="91425" tIns="45700" rIns="91425" bIns="45700" anchor="ctr" anchorCtr="0">
            <a:noAutofit/>
          </a:bodyPr>
          <a:lstStyle/>
          <a:p>
            <a:pPr marL="11430" algn="ctr"/>
            <a:r>
              <a:rPr lang="es-ES_tradnl" sz="1600" b="1" dirty="0">
                <a:solidFill>
                  <a:schemeClr val="bg1"/>
                </a:solidFill>
                <a:latin typeface="Calibri" panose="020F0502020204030204" pitchFamily="34" charset="0"/>
                <a:cs typeface="Calibri" panose="020F0502020204030204" pitchFamily="34" charset="0"/>
                <a:sym typeface="Calibri"/>
              </a:rPr>
              <a:t>CONTINUOS</a:t>
            </a:r>
          </a:p>
        </p:txBody>
      </p:sp>
      <p:sp>
        <p:nvSpPr>
          <p:cNvPr id="5" name="Google Shape;335;p23">
            <a:extLst>
              <a:ext uri="{FF2B5EF4-FFF2-40B4-BE49-F238E27FC236}">
                <a16:creationId xmlns:a16="http://schemas.microsoft.com/office/drawing/2014/main" id="{DEF02F4B-F3CB-FCEB-8ABF-700CFFA9C534}"/>
              </a:ext>
            </a:extLst>
          </p:cNvPr>
          <p:cNvSpPr/>
          <p:nvPr/>
        </p:nvSpPr>
        <p:spPr>
          <a:xfrm>
            <a:off x="4686287" y="1834388"/>
            <a:ext cx="3175640" cy="3022746"/>
          </a:xfrm>
          <a:prstGeom prst="roundRect">
            <a:avLst>
              <a:gd name="adj" fmla="val 2748"/>
            </a:avLst>
          </a:prstGeom>
          <a:solidFill>
            <a:srgbClr val="D1EFF4"/>
          </a:solidFill>
          <a:ln>
            <a:noFill/>
          </a:ln>
        </p:spPr>
        <p:txBody>
          <a:bodyPr spcFirstLastPara="1" wrap="square" lIns="108000" tIns="108000" rIns="108000" bIns="45700" anchor="t" anchorCtr="0">
            <a:noAutofit/>
          </a:bodyPr>
          <a:lstStyle/>
          <a:p>
            <a:pPr marL="222250" indent="-134938">
              <a:buClr>
                <a:srgbClr val="00B1C2"/>
              </a:buClr>
              <a:buSzPct val="100000"/>
              <a:buFont typeface="Arial" panose="020B0604020202020204" pitchFamily="34" charset="0"/>
              <a:buChar char="•"/>
            </a:pPr>
            <a:r>
              <a:rPr lang="es-ES" sz="1600" dirty="0">
                <a:latin typeface="Calibri" panose="020F0502020204030204" pitchFamily="34" charset="0"/>
                <a:ea typeface="+mj-lt"/>
                <a:cs typeface="Calibri" panose="020F0502020204030204" pitchFamily="34" charset="0"/>
                <a:sym typeface="Calibri"/>
              </a:rPr>
              <a:t>Pueden tomar valores decimales dentro de un rango.</a:t>
            </a:r>
          </a:p>
          <a:p>
            <a:pPr marL="222250" indent="-134938">
              <a:buClr>
                <a:srgbClr val="00B1C2"/>
              </a:buClr>
              <a:buSzPct val="100000"/>
              <a:buFont typeface="Arial" panose="020B0604020202020204" pitchFamily="34" charset="0"/>
              <a:buChar char="•"/>
            </a:pPr>
            <a:endParaRPr lang="es-ES" sz="1600" dirty="0">
              <a:latin typeface="Calibri" panose="020F0502020204030204" pitchFamily="34" charset="0"/>
              <a:ea typeface="+mj-lt"/>
              <a:cs typeface="Calibri" panose="020F0502020204030204" pitchFamily="34" charset="0"/>
              <a:sym typeface="Calibri"/>
            </a:endParaRPr>
          </a:p>
          <a:p>
            <a:pPr marL="222250" indent="-134938">
              <a:buClr>
                <a:srgbClr val="00B1C2"/>
              </a:buClr>
              <a:buSzPct val="100000"/>
              <a:buFont typeface="Arial" panose="020B0604020202020204" pitchFamily="34" charset="0"/>
              <a:buChar char="•"/>
            </a:pPr>
            <a:r>
              <a:rPr lang="es-ES" sz="1600" dirty="0">
                <a:latin typeface="Calibri" panose="020F0502020204030204" pitchFamily="34" charset="0"/>
                <a:ea typeface="+mj-lt"/>
                <a:cs typeface="Calibri" panose="020F0502020204030204" pitchFamily="34" charset="0"/>
                <a:sym typeface="Calibri"/>
              </a:rPr>
              <a:t>Se obtienen por medición, no por conteo.</a:t>
            </a:r>
          </a:p>
          <a:p>
            <a:pPr marL="222250" indent="-134938">
              <a:buClr>
                <a:srgbClr val="00B1C2"/>
              </a:buClr>
              <a:buSzPct val="100000"/>
              <a:buFont typeface="Arial" panose="020B0604020202020204" pitchFamily="34" charset="0"/>
              <a:buChar char="•"/>
            </a:pPr>
            <a:endParaRPr lang="es-ES" sz="1600" dirty="0">
              <a:latin typeface="Calibri" panose="020F0502020204030204" pitchFamily="34" charset="0"/>
              <a:ea typeface="+mj-lt"/>
              <a:cs typeface="Calibri" panose="020F0502020204030204" pitchFamily="34" charset="0"/>
              <a:sym typeface="Calibri"/>
            </a:endParaRPr>
          </a:p>
          <a:p>
            <a:pPr marL="222250" indent="-134938">
              <a:buClr>
                <a:srgbClr val="00B1C2"/>
              </a:buClr>
              <a:buSzPct val="100000"/>
              <a:buFont typeface="Arial" panose="020B0604020202020204" pitchFamily="34" charset="0"/>
              <a:buChar char="•"/>
            </a:pPr>
            <a:r>
              <a:rPr lang="es-ES_tradnl" sz="1600" dirty="0">
                <a:latin typeface="Calibri" panose="020F0502020204030204" pitchFamily="34" charset="0"/>
                <a:ea typeface="+mj-lt"/>
                <a:cs typeface="Calibri" panose="020F0502020204030204" pitchFamily="34" charset="0"/>
                <a:sym typeface="Calibri"/>
              </a:rPr>
              <a:t>Ejemplos: </a:t>
            </a:r>
            <a:r>
              <a:rPr lang="es-ES" sz="1600" dirty="0">
                <a:latin typeface="Calibri" panose="020F0502020204030204" pitchFamily="34" charset="0"/>
                <a:ea typeface="+mj-lt"/>
                <a:cs typeface="Calibri" panose="020F0502020204030204" pitchFamily="34" charset="0"/>
                <a:sym typeface="Calibri"/>
              </a:rPr>
              <a:t>peso de un producto (1.25 kg), tiempo de atención (7.3 minutos), temperatura (22.8 °C), ingreso mensual (S/3452.75).</a:t>
            </a:r>
            <a:endParaRPr lang="es-ES_tradnl" sz="1600" dirty="0">
              <a:latin typeface="Calibri" panose="020F0502020204030204" pitchFamily="34" charset="0"/>
              <a:ea typeface="+mj-lt"/>
              <a:cs typeface="Calibri" panose="020F0502020204030204" pitchFamily="34" charset="0"/>
              <a:sym typeface="Calibri"/>
            </a:endParaRPr>
          </a:p>
        </p:txBody>
      </p:sp>
      <p:grpSp>
        <p:nvGrpSpPr>
          <p:cNvPr id="11" name="Agrupar 9">
            <a:extLst>
              <a:ext uri="{FF2B5EF4-FFF2-40B4-BE49-F238E27FC236}">
                <a16:creationId xmlns:a16="http://schemas.microsoft.com/office/drawing/2014/main" id="{79B65B8C-BB3C-6550-CE9F-4D949F820F59}"/>
              </a:ext>
            </a:extLst>
          </p:cNvPr>
          <p:cNvGrpSpPr/>
          <p:nvPr/>
        </p:nvGrpSpPr>
        <p:grpSpPr>
          <a:xfrm>
            <a:off x="4470521" y="1308466"/>
            <a:ext cx="459474" cy="403823"/>
            <a:chOff x="5892512" y="2805541"/>
            <a:chExt cx="459474" cy="403823"/>
          </a:xfrm>
        </p:grpSpPr>
        <p:sp>
          <p:nvSpPr>
            <p:cNvPr id="12" name="Elipse 11">
              <a:extLst>
                <a:ext uri="{FF2B5EF4-FFF2-40B4-BE49-F238E27FC236}">
                  <a16:creationId xmlns:a16="http://schemas.microsoft.com/office/drawing/2014/main" id="{404180C0-039B-8D2E-2CDB-793434E208F2}"/>
                </a:ext>
              </a:extLst>
            </p:cNvPr>
            <p:cNvSpPr/>
            <p:nvPr/>
          </p:nvSpPr>
          <p:spPr>
            <a:xfrm>
              <a:off x="5956277" y="2824919"/>
              <a:ext cx="395709" cy="376075"/>
            </a:xfrm>
            <a:prstGeom prst="ellipse">
              <a:avLst/>
            </a:prstGeom>
            <a:solidFill>
              <a:srgbClr val="0B82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
          <p:nvSpPr>
            <p:cNvPr id="13" name="Elipse 12">
              <a:extLst>
                <a:ext uri="{FF2B5EF4-FFF2-40B4-BE49-F238E27FC236}">
                  <a16:creationId xmlns:a16="http://schemas.microsoft.com/office/drawing/2014/main" id="{E4F3412C-7B53-AC7A-A76D-DC9811FAA27F}"/>
                </a:ext>
              </a:extLst>
            </p:cNvPr>
            <p:cNvSpPr/>
            <p:nvPr/>
          </p:nvSpPr>
          <p:spPr>
            <a:xfrm>
              <a:off x="5892512" y="2805541"/>
              <a:ext cx="424906" cy="40382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
          <p:nvSpPr>
            <p:cNvPr id="14" name="Triángulo 13">
              <a:extLst>
                <a:ext uri="{FF2B5EF4-FFF2-40B4-BE49-F238E27FC236}">
                  <a16:creationId xmlns:a16="http://schemas.microsoft.com/office/drawing/2014/main" id="{5265BC84-D2A9-09C5-505D-D7D0ED100C68}"/>
                </a:ext>
              </a:extLst>
            </p:cNvPr>
            <p:cNvSpPr/>
            <p:nvPr/>
          </p:nvSpPr>
          <p:spPr>
            <a:xfrm rot="5400000">
              <a:off x="6076285" y="2946262"/>
              <a:ext cx="186870" cy="122381"/>
            </a:xfrm>
            <a:prstGeom prst="triangl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grpSp>
      <p:sp>
        <p:nvSpPr>
          <p:cNvPr id="2" name="Google Shape;332;p23">
            <a:extLst>
              <a:ext uri="{FF2B5EF4-FFF2-40B4-BE49-F238E27FC236}">
                <a16:creationId xmlns:a16="http://schemas.microsoft.com/office/drawing/2014/main" id="{0A03D2A6-10B6-B2FC-5463-905DABD76867}"/>
              </a:ext>
            </a:extLst>
          </p:cNvPr>
          <p:cNvSpPr/>
          <p:nvPr/>
        </p:nvSpPr>
        <p:spPr>
          <a:xfrm>
            <a:off x="1300681" y="1259837"/>
            <a:ext cx="3175640" cy="501005"/>
          </a:xfrm>
          <a:prstGeom prst="roundRect">
            <a:avLst>
              <a:gd name="adj" fmla="val 18326"/>
            </a:avLst>
          </a:prstGeom>
          <a:solidFill>
            <a:srgbClr val="EE4639"/>
          </a:solidFill>
          <a:ln>
            <a:noFill/>
          </a:ln>
        </p:spPr>
        <p:txBody>
          <a:bodyPr spcFirstLastPara="1" wrap="square" lIns="91425" tIns="45700" rIns="91425" bIns="45700" anchor="ctr" anchorCtr="0">
            <a:noAutofit/>
          </a:bodyPr>
          <a:lstStyle/>
          <a:p>
            <a:pPr marL="11430" algn="ctr"/>
            <a:r>
              <a:rPr lang="es-ES_tradnl" sz="1600" b="1" dirty="0">
                <a:solidFill>
                  <a:schemeClr val="bg1"/>
                </a:solidFill>
                <a:latin typeface="Calibri" panose="020F0502020204030204" pitchFamily="34" charset="0"/>
                <a:cs typeface="Calibri" panose="020F0502020204030204" pitchFamily="34" charset="0"/>
                <a:sym typeface="Calibri"/>
              </a:rPr>
              <a:t>DISCRETOS</a:t>
            </a:r>
          </a:p>
        </p:txBody>
      </p:sp>
      <p:sp>
        <p:nvSpPr>
          <p:cNvPr id="4" name="Google Shape;334;p23">
            <a:extLst>
              <a:ext uri="{FF2B5EF4-FFF2-40B4-BE49-F238E27FC236}">
                <a16:creationId xmlns:a16="http://schemas.microsoft.com/office/drawing/2014/main" id="{DED9F2A4-DD48-BD54-A2CA-F187DAF0F509}"/>
              </a:ext>
            </a:extLst>
          </p:cNvPr>
          <p:cNvSpPr/>
          <p:nvPr/>
        </p:nvSpPr>
        <p:spPr>
          <a:xfrm>
            <a:off x="1300681" y="1834387"/>
            <a:ext cx="3175640" cy="3022747"/>
          </a:xfrm>
          <a:prstGeom prst="roundRect">
            <a:avLst>
              <a:gd name="adj" fmla="val 2748"/>
            </a:avLst>
          </a:prstGeom>
          <a:solidFill>
            <a:srgbClr val="FFD8D4"/>
          </a:solidFill>
          <a:ln>
            <a:noFill/>
          </a:ln>
        </p:spPr>
        <p:txBody>
          <a:bodyPr spcFirstLastPara="1" wrap="square" lIns="108000" tIns="108000" rIns="108000" bIns="45700" anchor="t" anchorCtr="0">
            <a:noAutofit/>
          </a:bodyPr>
          <a:lstStyle/>
          <a:p>
            <a:pPr marL="138113" indent="-128588" defTabSz="457200">
              <a:buClr>
                <a:srgbClr val="EE4639"/>
              </a:buClr>
              <a:buSzPct val="100000"/>
              <a:buFont typeface="Arial" panose="020B0604020202020204" pitchFamily="34" charset="0"/>
              <a:buChar char="•"/>
              <a:tabLst>
                <a:tab pos="3228975" algn="l"/>
              </a:tabLst>
            </a:pPr>
            <a:r>
              <a:rPr lang="es-ES" sz="1600" dirty="0">
                <a:solidFill>
                  <a:srgbClr val="262626"/>
                </a:solidFill>
                <a:latin typeface="Calibri"/>
                <a:cs typeface="Calibri"/>
                <a:sym typeface="Calibri"/>
              </a:rPr>
              <a:t>Son números enteros que resultan de contar.</a:t>
            </a:r>
          </a:p>
          <a:p>
            <a:pPr marL="138113" indent="-128588" defTabSz="457200">
              <a:buClr>
                <a:srgbClr val="EE4639"/>
              </a:buClr>
              <a:buSzPct val="100000"/>
              <a:buFont typeface="Arial" panose="020B0604020202020204" pitchFamily="34" charset="0"/>
              <a:buChar char="•"/>
              <a:tabLst>
                <a:tab pos="3228975" algn="l"/>
              </a:tabLst>
            </a:pPr>
            <a:endParaRPr lang="es-ES" sz="1600" dirty="0">
              <a:solidFill>
                <a:srgbClr val="262626"/>
              </a:solidFill>
              <a:latin typeface="Calibri"/>
              <a:cs typeface="Calibri"/>
              <a:sym typeface="Calibri"/>
            </a:endParaRPr>
          </a:p>
          <a:p>
            <a:pPr marL="138113" indent="-128588" defTabSz="457200">
              <a:buClr>
                <a:srgbClr val="EE4639"/>
              </a:buClr>
              <a:buSzPct val="100000"/>
              <a:buFont typeface="Arial" panose="020B0604020202020204" pitchFamily="34" charset="0"/>
              <a:buChar char="•"/>
              <a:tabLst>
                <a:tab pos="3228975" algn="l"/>
              </a:tabLst>
            </a:pPr>
            <a:r>
              <a:rPr lang="es-ES" sz="1600" dirty="0">
                <a:solidFill>
                  <a:srgbClr val="262626"/>
                </a:solidFill>
                <a:latin typeface="Calibri"/>
                <a:cs typeface="Calibri"/>
                <a:sym typeface="Calibri"/>
              </a:rPr>
              <a:t>No pueden tener valores decimales.</a:t>
            </a:r>
          </a:p>
          <a:p>
            <a:pPr marL="138113" indent="-128588" defTabSz="457200">
              <a:buClr>
                <a:srgbClr val="EE4639"/>
              </a:buClr>
              <a:buSzPct val="100000"/>
              <a:buFont typeface="Arial" panose="020B0604020202020204" pitchFamily="34" charset="0"/>
              <a:buChar char="•"/>
              <a:tabLst>
                <a:tab pos="3228975" algn="l"/>
              </a:tabLst>
            </a:pPr>
            <a:endParaRPr lang="es-ES" sz="1600" dirty="0">
              <a:solidFill>
                <a:srgbClr val="262626"/>
              </a:solidFill>
              <a:latin typeface="Calibri"/>
              <a:cs typeface="Calibri"/>
              <a:sym typeface="Calibri"/>
            </a:endParaRPr>
          </a:p>
          <a:p>
            <a:pPr marL="138113" indent="-128588" defTabSz="457200">
              <a:buClr>
                <a:srgbClr val="EE4639"/>
              </a:buClr>
              <a:buSzPct val="100000"/>
              <a:buFont typeface="Arial" panose="020B0604020202020204" pitchFamily="34" charset="0"/>
              <a:buChar char="•"/>
              <a:tabLst>
                <a:tab pos="3228975" algn="l"/>
              </a:tabLst>
            </a:pPr>
            <a:r>
              <a:rPr lang="es-ES_tradnl" sz="1600" dirty="0">
                <a:solidFill>
                  <a:srgbClr val="262626"/>
                </a:solidFill>
                <a:latin typeface="Calibri"/>
                <a:ea typeface="+mn-ea"/>
                <a:cs typeface="Calibri"/>
                <a:sym typeface="Calibri"/>
              </a:rPr>
              <a:t>Ejemplos: </a:t>
            </a:r>
            <a:r>
              <a:rPr lang="es-ES" sz="1600" dirty="0">
                <a:solidFill>
                  <a:srgbClr val="262626"/>
                </a:solidFill>
                <a:latin typeface="Calibri"/>
                <a:ea typeface="+mn-ea"/>
                <a:cs typeface="Calibri"/>
                <a:sym typeface="Calibri"/>
              </a:rPr>
              <a:t>n</a:t>
            </a:r>
            <a:r>
              <a:rPr lang="es-ES" sz="1600" dirty="0">
                <a:solidFill>
                  <a:srgbClr val="262626"/>
                </a:solidFill>
                <a:latin typeface="Calibri"/>
                <a:cs typeface="Calibri"/>
                <a:sym typeface="Calibri"/>
              </a:rPr>
              <a:t>úmero de clientes atendidos en un día, cantidad de errores en un proceso, número de cursos aprobados por un alumno.</a:t>
            </a:r>
            <a:endParaRPr lang="es-ES_tradnl" sz="1600" dirty="0">
              <a:solidFill>
                <a:srgbClr val="262626"/>
              </a:solidFill>
              <a:latin typeface="Calibri"/>
              <a:ea typeface="+mn-ea"/>
              <a:cs typeface="Calibri"/>
            </a:endParaRPr>
          </a:p>
        </p:txBody>
      </p:sp>
      <p:grpSp>
        <p:nvGrpSpPr>
          <p:cNvPr id="6" name="Agrupar 4">
            <a:extLst>
              <a:ext uri="{FF2B5EF4-FFF2-40B4-BE49-F238E27FC236}">
                <a16:creationId xmlns:a16="http://schemas.microsoft.com/office/drawing/2014/main" id="{676A4221-7ADD-1892-EC32-C751D803AE3B}"/>
              </a:ext>
            </a:extLst>
          </p:cNvPr>
          <p:cNvGrpSpPr/>
          <p:nvPr/>
        </p:nvGrpSpPr>
        <p:grpSpPr>
          <a:xfrm>
            <a:off x="1085766" y="1308466"/>
            <a:ext cx="459474" cy="403823"/>
            <a:chOff x="5892512" y="2805541"/>
            <a:chExt cx="459474" cy="403823"/>
          </a:xfrm>
        </p:grpSpPr>
        <p:sp>
          <p:nvSpPr>
            <p:cNvPr id="8" name="Elipse 7">
              <a:extLst>
                <a:ext uri="{FF2B5EF4-FFF2-40B4-BE49-F238E27FC236}">
                  <a16:creationId xmlns:a16="http://schemas.microsoft.com/office/drawing/2014/main" id="{DB9B62DC-5DA8-C6A8-0B11-AF8066890CC3}"/>
                </a:ext>
              </a:extLst>
            </p:cNvPr>
            <p:cNvSpPr/>
            <p:nvPr/>
          </p:nvSpPr>
          <p:spPr>
            <a:xfrm>
              <a:off x="5956277" y="2824919"/>
              <a:ext cx="395709" cy="376075"/>
            </a:xfrm>
            <a:prstGeom prst="ellipse">
              <a:avLst/>
            </a:prstGeom>
            <a:solidFill>
              <a:srgbClr val="B736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
          <p:nvSpPr>
            <p:cNvPr id="9" name="Elipse 8">
              <a:extLst>
                <a:ext uri="{FF2B5EF4-FFF2-40B4-BE49-F238E27FC236}">
                  <a16:creationId xmlns:a16="http://schemas.microsoft.com/office/drawing/2014/main" id="{E2F96491-6F84-B893-6DD6-1EDB37E3C94A}"/>
                </a:ext>
              </a:extLst>
            </p:cNvPr>
            <p:cNvSpPr/>
            <p:nvPr/>
          </p:nvSpPr>
          <p:spPr>
            <a:xfrm>
              <a:off x="5892512" y="2805541"/>
              <a:ext cx="424906" cy="40382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
          <p:nvSpPr>
            <p:cNvPr id="10" name="Triángulo 9">
              <a:extLst>
                <a:ext uri="{FF2B5EF4-FFF2-40B4-BE49-F238E27FC236}">
                  <a16:creationId xmlns:a16="http://schemas.microsoft.com/office/drawing/2014/main" id="{1BB547E3-9A8E-DD0F-DA71-C13017330BB5}"/>
                </a:ext>
              </a:extLst>
            </p:cNvPr>
            <p:cNvSpPr/>
            <p:nvPr/>
          </p:nvSpPr>
          <p:spPr>
            <a:xfrm rot="5400000">
              <a:off x="6076285" y="2946262"/>
              <a:ext cx="186870" cy="122381"/>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grpSp>
      <p:sp>
        <p:nvSpPr>
          <p:cNvPr id="16" name="Rectangle 5">
            <a:extLst>
              <a:ext uri="{FF2B5EF4-FFF2-40B4-BE49-F238E27FC236}">
                <a16:creationId xmlns:a16="http://schemas.microsoft.com/office/drawing/2014/main" id="{E87D8AEE-B717-40B0-ABDC-D66E9D5FB3E7}"/>
              </a:ext>
            </a:extLst>
          </p:cNvPr>
          <p:cNvSpPr/>
          <p:nvPr/>
        </p:nvSpPr>
        <p:spPr>
          <a:xfrm>
            <a:off x="503237" y="380615"/>
            <a:ext cx="3134697"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MX" sz="1000" dirty="0">
                <a:solidFill>
                  <a:schemeClr val="bg1">
                    <a:lumMod val="65000"/>
                  </a:schemeClr>
                </a:solidFill>
                <a:latin typeface="Calibri" charset="0"/>
                <a:ea typeface="Calibri" charset="0"/>
                <a:cs typeface="Calibri" charset="0"/>
              </a:rPr>
              <a:t>TIPO DE DATOS: NOMINALES, ORDINALES, CONTINUOS</a:t>
            </a:r>
          </a:p>
        </p:txBody>
      </p:sp>
    </p:spTree>
    <p:extLst>
      <p:ext uri="{BB962C8B-B14F-4D97-AF65-F5344CB8AC3E}">
        <p14:creationId xmlns:p14="http://schemas.microsoft.com/office/powerpoint/2010/main" val="200691678"/>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ángulo redondeado 12"/>
          <p:cNvSpPr/>
          <p:nvPr/>
        </p:nvSpPr>
        <p:spPr>
          <a:xfrm>
            <a:off x="1362631" y="1882588"/>
            <a:ext cx="6615957" cy="2339788"/>
          </a:xfrm>
          <a:prstGeom prst="roundRect">
            <a:avLst>
              <a:gd name="adj" fmla="val 5987"/>
            </a:avLst>
          </a:prstGeom>
          <a:solidFill>
            <a:srgbClr val="00B1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pic>
        <p:nvPicPr>
          <p:cNvPr id="16" name="Imagen 15"/>
          <p:cNvPicPr>
            <a:picLocks noChangeAspect="1"/>
          </p:cNvPicPr>
          <p:nvPr/>
        </p:nvPicPr>
        <p:blipFill rotWithShape="1">
          <a:blip r:embed="rId2"/>
          <a:srcRect l="30026" r="24147" b="47890"/>
          <a:stretch/>
        </p:blipFill>
        <p:spPr>
          <a:xfrm>
            <a:off x="1640542" y="1410107"/>
            <a:ext cx="546847" cy="920717"/>
          </a:xfrm>
          <a:prstGeom prst="rect">
            <a:avLst/>
          </a:prstGeom>
        </p:spPr>
      </p:pic>
      <p:sp>
        <p:nvSpPr>
          <p:cNvPr id="3" name="object 7"/>
          <p:cNvSpPr txBox="1"/>
          <p:nvPr/>
        </p:nvSpPr>
        <p:spPr>
          <a:xfrm>
            <a:off x="1743350" y="2314767"/>
            <a:ext cx="5811844" cy="1723549"/>
          </a:xfrm>
          <a:prstGeom prst="rect">
            <a:avLst/>
          </a:prstGeom>
        </p:spPr>
        <p:txBody>
          <a:bodyPr vert="horz" wrap="square" lIns="0" tIns="0" rIns="0" bIns="0" rtlCol="0">
            <a:spAutoFit/>
          </a:bodyPr>
          <a:lstStyle/>
          <a:p>
            <a:pPr algn="just"/>
            <a:r>
              <a:rPr lang="es-ES" sz="1600" b="1" dirty="0">
                <a:solidFill>
                  <a:schemeClr val="bg1"/>
                </a:solidFill>
                <a:latin typeface="Calibri" charset="0"/>
                <a:ea typeface="Calibri" charset="0"/>
                <a:cs typeface="Calibri" charset="0"/>
              </a:rPr>
              <a:t>Conocer los tipos de datos es el primer paso en cualquier proyecto de análisis estadístico o de minería de datos.</a:t>
            </a:r>
          </a:p>
          <a:p>
            <a:pPr algn="just"/>
            <a:endParaRPr lang="es-ES" sz="1600" b="1" dirty="0">
              <a:solidFill>
                <a:schemeClr val="bg1"/>
              </a:solidFill>
              <a:latin typeface="Calibri" charset="0"/>
              <a:ea typeface="Calibri" charset="0"/>
              <a:cs typeface="Calibri" charset="0"/>
            </a:endParaRPr>
          </a:p>
          <a:p>
            <a:pPr algn="just"/>
            <a:r>
              <a:rPr lang="es-ES" sz="1600" b="1" dirty="0">
                <a:solidFill>
                  <a:schemeClr val="bg1"/>
                </a:solidFill>
                <a:latin typeface="Calibri" charset="0"/>
                <a:ea typeface="Calibri" charset="0"/>
                <a:cs typeface="Calibri" charset="0"/>
              </a:rPr>
              <a:t>Identificar correctamente la naturaleza de las variables permite:</a:t>
            </a:r>
          </a:p>
          <a:p>
            <a:pPr marL="285750" indent="-285750">
              <a:buFont typeface="Wingdings" panose="05000000000000000000" pitchFamily="2" charset="2"/>
              <a:buChar char="ü"/>
            </a:pPr>
            <a:r>
              <a:rPr lang="es-ES" sz="1600" dirty="0">
                <a:solidFill>
                  <a:schemeClr val="bg1"/>
                </a:solidFill>
                <a:latin typeface="Calibri" charset="0"/>
                <a:ea typeface="Calibri" charset="0"/>
                <a:cs typeface="Calibri" charset="0"/>
              </a:rPr>
              <a:t>Evitar errores metodológicos.</a:t>
            </a:r>
          </a:p>
          <a:p>
            <a:pPr marL="285750" indent="-285750">
              <a:buFont typeface="Wingdings" panose="05000000000000000000" pitchFamily="2" charset="2"/>
              <a:buChar char="ü"/>
            </a:pPr>
            <a:r>
              <a:rPr lang="es-ES" sz="1600" dirty="0">
                <a:solidFill>
                  <a:schemeClr val="bg1"/>
                </a:solidFill>
                <a:latin typeface="Calibri" charset="0"/>
                <a:ea typeface="Calibri" charset="0"/>
                <a:cs typeface="Calibri" charset="0"/>
              </a:rPr>
              <a:t>Escoger las herramientas estadísticas adecuadas.</a:t>
            </a:r>
          </a:p>
          <a:p>
            <a:pPr marL="285750" indent="-285750">
              <a:buFont typeface="Wingdings" panose="05000000000000000000" pitchFamily="2" charset="2"/>
              <a:buChar char="ü"/>
            </a:pPr>
            <a:r>
              <a:rPr lang="es-ES" sz="1600" dirty="0">
                <a:solidFill>
                  <a:schemeClr val="bg1"/>
                </a:solidFill>
                <a:latin typeface="Calibri" charset="0"/>
                <a:ea typeface="Calibri" charset="0"/>
                <a:cs typeface="Calibri" charset="0"/>
              </a:rPr>
              <a:t>Comunicar los resultados de manera clara y profesional.</a:t>
            </a:r>
            <a:endParaRPr lang="es-PE" sz="1600" dirty="0">
              <a:solidFill>
                <a:schemeClr val="bg1"/>
              </a:solidFill>
              <a:latin typeface="Calibri" charset="0"/>
              <a:ea typeface="Calibri" charset="0"/>
              <a:cs typeface="Calibri" charset="0"/>
            </a:endParaRPr>
          </a:p>
        </p:txBody>
      </p:sp>
      <p:sp>
        <p:nvSpPr>
          <p:cNvPr id="6" name="Rectangle 5">
            <a:extLst>
              <a:ext uri="{FF2B5EF4-FFF2-40B4-BE49-F238E27FC236}">
                <a16:creationId xmlns:a16="http://schemas.microsoft.com/office/drawing/2014/main" id="{5683073A-C917-48AE-AB4E-67FBB64CDAF0}"/>
              </a:ext>
            </a:extLst>
          </p:cNvPr>
          <p:cNvSpPr/>
          <p:nvPr/>
        </p:nvSpPr>
        <p:spPr>
          <a:xfrm>
            <a:off x="503237" y="380615"/>
            <a:ext cx="3134697"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MX" sz="1000" dirty="0">
                <a:solidFill>
                  <a:schemeClr val="bg1">
                    <a:lumMod val="65000"/>
                  </a:schemeClr>
                </a:solidFill>
                <a:latin typeface="Calibri" charset="0"/>
                <a:ea typeface="Calibri" charset="0"/>
                <a:cs typeface="Calibri" charset="0"/>
              </a:rPr>
              <a:t>TIPO DE DATOS: NOMINALES, ORDINALES, CONTINUOS</a:t>
            </a:r>
          </a:p>
        </p:txBody>
      </p:sp>
    </p:spTree>
    <p:extLst>
      <p:ext uri="{BB962C8B-B14F-4D97-AF65-F5344CB8AC3E}">
        <p14:creationId xmlns:p14="http://schemas.microsoft.com/office/powerpoint/2010/main" val="31493879"/>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ángulo 9"/>
          <p:cNvSpPr/>
          <p:nvPr/>
        </p:nvSpPr>
        <p:spPr>
          <a:xfrm>
            <a:off x="0" y="0"/>
            <a:ext cx="9144000" cy="5715000"/>
          </a:xfrm>
          <a:prstGeom prst="rect">
            <a:avLst/>
          </a:prstGeom>
          <a:solidFill>
            <a:srgbClr val="8087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sp>
        <p:nvSpPr>
          <p:cNvPr id="18" name="CuadroTexto 17">
            <a:extLst>
              <a:ext uri="{FF2B5EF4-FFF2-40B4-BE49-F238E27FC236}">
                <a16:creationId xmlns:a16="http://schemas.microsoft.com/office/drawing/2014/main" id="{F58EABDC-EE9F-6D4B-8493-73E3A05BE100}"/>
              </a:ext>
            </a:extLst>
          </p:cNvPr>
          <p:cNvSpPr txBox="1"/>
          <p:nvPr/>
        </p:nvSpPr>
        <p:spPr>
          <a:xfrm>
            <a:off x="1008063" y="3169972"/>
            <a:ext cx="5993558" cy="997196"/>
          </a:xfrm>
          <a:prstGeom prst="rect">
            <a:avLst/>
          </a:prstGeom>
          <a:noFill/>
        </p:spPr>
        <p:txBody>
          <a:bodyPr wrap="square" lIns="0" tIns="0" rIns="0" bIns="0" rtlCol="0">
            <a:spAutoFit/>
          </a:bodyPr>
          <a:lstStyle/>
          <a:p>
            <a:pPr>
              <a:lnSpc>
                <a:spcPct val="90000"/>
              </a:lnSpc>
              <a:spcBef>
                <a:spcPts val="1000"/>
              </a:spcBef>
              <a:defRPr/>
            </a:pPr>
            <a:r>
              <a:rPr lang="es-PE" sz="2400" dirty="0">
                <a:solidFill>
                  <a:schemeClr val="bg1"/>
                </a:solidFill>
                <a:latin typeface="Graphik Regular" charset="0"/>
                <a:ea typeface="Graphik Regular" charset="0"/>
                <a:cs typeface="Graphik Regular" charset="0"/>
              </a:rPr>
              <a:t>DISTRIBUCIÓN DE DATOS:</a:t>
            </a:r>
            <a:br>
              <a:rPr lang="es-PE" sz="2400" dirty="0">
                <a:solidFill>
                  <a:schemeClr val="bg1"/>
                </a:solidFill>
                <a:latin typeface="Graphik Regular" charset="0"/>
              </a:rPr>
            </a:br>
            <a:r>
              <a:rPr lang="es-PE" sz="2400" b="1" dirty="0">
                <a:solidFill>
                  <a:schemeClr val="bg1"/>
                </a:solidFill>
                <a:latin typeface="Graphik Bold" charset="0"/>
              </a:rPr>
              <a:t>NORMAL, SESGADA, </a:t>
            </a:r>
            <a:br>
              <a:rPr lang="es-PE" sz="2400" dirty="0">
                <a:solidFill>
                  <a:schemeClr val="bg1"/>
                </a:solidFill>
                <a:latin typeface="Graphik Regular" charset="0"/>
              </a:rPr>
            </a:br>
            <a:r>
              <a:rPr lang="es-PE" sz="2400" b="1" dirty="0">
                <a:solidFill>
                  <a:schemeClr val="bg1"/>
                </a:solidFill>
                <a:latin typeface="Graphik Bold" charset="0"/>
                <a:ea typeface="Graphik Bold" charset="0"/>
                <a:cs typeface="Graphik Bold" charset="0"/>
              </a:rPr>
              <a:t>KURTOSIS</a:t>
            </a:r>
          </a:p>
        </p:txBody>
      </p:sp>
      <p:pic>
        <p:nvPicPr>
          <p:cNvPr id="19" name="Imagen 18">
            <a:extLst>
              <a:ext uri="{FF2B5EF4-FFF2-40B4-BE49-F238E27FC236}">
                <a16:creationId xmlns:a16="http://schemas.microsoft.com/office/drawing/2014/main" id="{2E011318-DF6A-E443-82C0-13421C5F2D5E}"/>
              </a:ext>
            </a:extLst>
          </p:cNvPr>
          <p:cNvPicPr>
            <a:picLocks noChangeAspect="1"/>
          </p:cNvPicPr>
          <p:nvPr/>
        </p:nvPicPr>
        <p:blipFill>
          <a:blip r:embed="rId3"/>
          <a:stretch>
            <a:fillRect/>
          </a:stretch>
        </p:blipFill>
        <p:spPr>
          <a:xfrm>
            <a:off x="1008063" y="2869612"/>
            <a:ext cx="195423" cy="201256"/>
          </a:xfrm>
          <a:prstGeom prst="rect">
            <a:avLst/>
          </a:prstGeom>
        </p:spPr>
      </p:pic>
    </p:spTree>
    <p:extLst>
      <p:ext uri="{BB962C8B-B14F-4D97-AF65-F5344CB8AC3E}">
        <p14:creationId xmlns:p14="http://schemas.microsoft.com/office/powerpoint/2010/main" val="3659402642"/>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7"/>
          <p:cNvSpPr txBox="1"/>
          <p:nvPr/>
        </p:nvSpPr>
        <p:spPr>
          <a:xfrm>
            <a:off x="506796" y="918372"/>
            <a:ext cx="7770930" cy="1723549"/>
          </a:xfrm>
          <a:prstGeom prst="rect">
            <a:avLst/>
          </a:prstGeom>
        </p:spPr>
        <p:txBody>
          <a:bodyPr vert="horz" wrap="square" lIns="0" tIns="0" rIns="0" bIns="0" rtlCol="0">
            <a:spAutoFit/>
          </a:bodyPr>
          <a:lstStyle/>
          <a:p>
            <a:pPr algn="just">
              <a:spcAft>
                <a:spcPts val="0"/>
              </a:spcAft>
            </a:pPr>
            <a:r>
              <a:rPr lang="es-MX" sz="1600" b="1" spc="-10" dirty="0">
                <a:solidFill>
                  <a:srgbClr val="262626"/>
                </a:solidFill>
                <a:latin typeface="Calibri" charset="0"/>
                <a:ea typeface="Calibri" charset="0"/>
                <a:cs typeface="Calibri" charset="0"/>
              </a:rPr>
              <a:t>IMPORTANCIA DEL ANÁLISIS DE LA DISTRIBUCIÓN DE DATOS</a:t>
            </a:r>
            <a:endParaRPr lang="es-ES" sz="1600" b="1" spc="-10" dirty="0">
              <a:solidFill>
                <a:srgbClr val="262626"/>
              </a:solidFill>
              <a:latin typeface="Calibri" charset="0"/>
              <a:ea typeface="Calibri" charset="0"/>
              <a:cs typeface="Calibri" charset="0"/>
            </a:endParaRPr>
          </a:p>
          <a:p>
            <a:pPr marL="285750" indent="-285750" algn="just">
              <a:spcAft>
                <a:spcPts val="0"/>
              </a:spcAft>
              <a:buFont typeface="Arial" panose="020B0604020202020204" pitchFamily="34" charset="0"/>
              <a:buChar char="•"/>
            </a:pPr>
            <a:endParaRPr lang="es-ES" sz="1600" spc="-10" dirty="0">
              <a:solidFill>
                <a:srgbClr val="262626"/>
              </a:solidFill>
              <a:latin typeface="Calibri" charset="0"/>
              <a:ea typeface="Calibri" charset="0"/>
              <a:cs typeface="Calibri" charset="0"/>
            </a:endParaRPr>
          </a:p>
          <a:p>
            <a:pPr marL="285750" indent="-285750" algn="just">
              <a:spcAft>
                <a:spcPts val="0"/>
              </a:spcAft>
              <a:buFont typeface="Arial" panose="020B0604020202020204" pitchFamily="34" charset="0"/>
              <a:buChar char="•"/>
            </a:pPr>
            <a:r>
              <a:rPr lang="es-ES" sz="1600" spc="-10" dirty="0">
                <a:solidFill>
                  <a:srgbClr val="262626"/>
                </a:solidFill>
                <a:latin typeface="Calibri" charset="0"/>
                <a:ea typeface="Calibri" charset="0"/>
                <a:cs typeface="Calibri" charset="0"/>
              </a:rPr>
              <a:t>La distribución de datos describe cómo se comportan los valores de una variable dentro de un conjunto de datos.</a:t>
            </a:r>
          </a:p>
          <a:p>
            <a:pPr marL="285750" indent="-285750" algn="just">
              <a:spcAft>
                <a:spcPts val="0"/>
              </a:spcAft>
              <a:buFont typeface="Arial" panose="020B0604020202020204" pitchFamily="34" charset="0"/>
              <a:buChar char="•"/>
            </a:pPr>
            <a:endParaRPr lang="es-ES" sz="1600" spc="-10" dirty="0">
              <a:solidFill>
                <a:srgbClr val="262626"/>
              </a:solidFill>
              <a:latin typeface="Calibri" charset="0"/>
              <a:ea typeface="Calibri" charset="0"/>
              <a:cs typeface="Calibri" charset="0"/>
            </a:endParaRPr>
          </a:p>
          <a:p>
            <a:pPr marL="285750" indent="-285750" algn="just">
              <a:spcAft>
                <a:spcPts val="0"/>
              </a:spcAft>
              <a:buFont typeface="Arial" panose="020B0604020202020204" pitchFamily="34" charset="0"/>
              <a:buChar char="•"/>
            </a:pPr>
            <a:r>
              <a:rPr lang="es-ES" sz="1600" spc="-10" dirty="0">
                <a:solidFill>
                  <a:srgbClr val="262626"/>
                </a:solidFill>
                <a:latin typeface="Calibri" charset="0"/>
                <a:ea typeface="Calibri" charset="0"/>
                <a:cs typeface="Calibri" charset="0"/>
              </a:rPr>
              <a:t>Analizar la distribución nos permite observar si los datos se concentran alrededor de un valor central, si están dispersos, si hay valores extremos o si presentan algún tipo de sesgo.</a:t>
            </a:r>
            <a:endParaRPr lang="es-PE" sz="1600" spc="-10" dirty="0">
              <a:solidFill>
                <a:srgbClr val="262626"/>
              </a:solidFill>
              <a:latin typeface="Calibri" charset="0"/>
              <a:ea typeface="Calibri" charset="0"/>
              <a:cs typeface="Calibri" charset="0"/>
            </a:endParaRPr>
          </a:p>
        </p:txBody>
      </p:sp>
      <p:sp>
        <p:nvSpPr>
          <p:cNvPr id="4" name="Rectangle 5">
            <a:extLst>
              <a:ext uri="{FF2B5EF4-FFF2-40B4-BE49-F238E27FC236}">
                <a16:creationId xmlns:a16="http://schemas.microsoft.com/office/drawing/2014/main" id="{F541F2E5-3848-BA8C-7BEF-A3D938A2817E}"/>
              </a:ext>
            </a:extLst>
          </p:cNvPr>
          <p:cNvSpPr/>
          <p:nvPr/>
        </p:nvSpPr>
        <p:spPr>
          <a:xfrm>
            <a:off x="503238" y="380615"/>
            <a:ext cx="3311678"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charset="0"/>
                <a:ea typeface="Calibri" charset="0"/>
                <a:cs typeface="Calibri" charset="0"/>
              </a:rPr>
              <a:t>DISTRIBUCIÓN DE DATOS: NORMAL, SESGADA, KURTOSIS</a:t>
            </a:r>
          </a:p>
        </p:txBody>
      </p:sp>
      <p:pic>
        <p:nvPicPr>
          <p:cNvPr id="7" name="Imagen 6"/>
          <p:cNvPicPr>
            <a:picLocks noChangeAspect="1"/>
          </p:cNvPicPr>
          <p:nvPr/>
        </p:nvPicPr>
        <p:blipFill rotWithShape="1">
          <a:blip r:embed="rId2"/>
          <a:srcRect t="3224" b="44123"/>
          <a:stretch/>
        </p:blipFill>
        <p:spPr>
          <a:xfrm>
            <a:off x="962203" y="2830273"/>
            <a:ext cx="7219594" cy="2323711"/>
          </a:xfrm>
          <a:prstGeom prst="rect">
            <a:avLst/>
          </a:prstGeom>
        </p:spPr>
      </p:pic>
    </p:spTree>
    <p:extLst>
      <p:ext uri="{BB962C8B-B14F-4D97-AF65-F5344CB8AC3E}">
        <p14:creationId xmlns:p14="http://schemas.microsoft.com/office/powerpoint/2010/main" val="52211268"/>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dondear rectángulo de esquina del mismo lado 12"/>
          <p:cNvSpPr/>
          <p:nvPr/>
        </p:nvSpPr>
        <p:spPr>
          <a:xfrm rot="5400000">
            <a:off x="5682993" y="2241295"/>
            <a:ext cx="3122671" cy="2862716"/>
          </a:xfrm>
          <a:prstGeom prst="round2SameRect">
            <a:avLst>
              <a:gd name="adj1" fmla="val 5165"/>
              <a:gd name="adj2" fmla="val 0"/>
            </a:avLst>
          </a:prstGeom>
          <a:solidFill>
            <a:srgbClr val="654E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sp>
        <p:nvSpPr>
          <p:cNvPr id="14" name="CuadroTexto 13"/>
          <p:cNvSpPr txBox="1"/>
          <p:nvPr/>
        </p:nvSpPr>
        <p:spPr>
          <a:xfrm>
            <a:off x="6105409" y="3113793"/>
            <a:ext cx="2286285" cy="1508105"/>
          </a:xfrm>
          <a:prstGeom prst="rect">
            <a:avLst/>
          </a:prstGeom>
          <a:noFill/>
        </p:spPr>
        <p:txBody>
          <a:bodyPr wrap="square" lIns="0" tIns="0" rIns="0" bIns="0" rtlCol="0">
            <a:spAutoFit/>
          </a:bodyPr>
          <a:lstStyle/>
          <a:p>
            <a:pPr lvl="0"/>
            <a:r>
              <a:rPr lang="es-ES" sz="1400" dirty="0">
                <a:solidFill>
                  <a:schemeClr val="bg1"/>
                </a:solidFill>
                <a:latin typeface="Calibri" charset="0"/>
                <a:ea typeface="Calibri" charset="0"/>
                <a:cs typeface="Calibri" charset="0"/>
              </a:rPr>
              <a:t>En data mining y análisis predictivo, este paso es conocido como análisis exploratorio de datos (EDA). Además, es esencial para limpiar, transformar y modelar correctamente la información.</a:t>
            </a:r>
            <a:endParaRPr lang="es-PE" sz="1400" b="1" dirty="0">
              <a:solidFill>
                <a:schemeClr val="bg1"/>
              </a:solidFill>
              <a:latin typeface="Calibri" charset="0"/>
              <a:ea typeface="Calibri" charset="0"/>
              <a:cs typeface="Calibri" charset="0"/>
            </a:endParaRPr>
          </a:p>
        </p:txBody>
      </p:sp>
      <p:sp>
        <p:nvSpPr>
          <p:cNvPr id="3" name="object 7"/>
          <p:cNvSpPr txBox="1"/>
          <p:nvPr/>
        </p:nvSpPr>
        <p:spPr>
          <a:xfrm>
            <a:off x="506796" y="918372"/>
            <a:ext cx="7777668" cy="984885"/>
          </a:xfrm>
          <a:prstGeom prst="rect">
            <a:avLst/>
          </a:prstGeom>
        </p:spPr>
        <p:txBody>
          <a:bodyPr vert="horz" wrap="square" lIns="0" tIns="0" rIns="0" bIns="0" rtlCol="0">
            <a:spAutoFit/>
          </a:bodyPr>
          <a:lstStyle/>
          <a:p>
            <a:r>
              <a:rPr lang="es-MX" sz="1600" b="1" dirty="0">
                <a:latin typeface="Calibri" charset="0"/>
                <a:ea typeface="Calibri" charset="0"/>
                <a:cs typeface="Calibri" charset="0"/>
              </a:rPr>
              <a:t>IMPORTANCIA DEL ANÁLISIS DE LA DISTRIBUCIÓN DE DATOS</a:t>
            </a:r>
          </a:p>
          <a:p>
            <a:pPr marL="184150" indent="-184150">
              <a:buFont typeface="Arial" charset="0"/>
              <a:buChar char="•"/>
            </a:pPr>
            <a:endParaRPr lang="es-ES" sz="1600" dirty="0">
              <a:latin typeface="Calibri" charset="0"/>
              <a:ea typeface="Calibri" charset="0"/>
              <a:cs typeface="Calibri" charset="0"/>
            </a:endParaRPr>
          </a:p>
          <a:p>
            <a:pPr marL="184150" indent="-184150">
              <a:buFont typeface="Arial" charset="0"/>
              <a:buChar char="•"/>
            </a:pPr>
            <a:r>
              <a:rPr lang="es-ES" sz="1600" dirty="0">
                <a:latin typeface="Calibri" charset="0"/>
                <a:ea typeface="Calibri" charset="0"/>
                <a:cs typeface="Calibri" charset="0"/>
              </a:rPr>
              <a:t>Comprender la distribución es fundamental antes de aplicar cualquier análisis porque las conclusiones estadísticas dependen de la forma en que los datos están distribuidos.</a:t>
            </a:r>
            <a:endParaRPr lang="es-PE" sz="1600" dirty="0">
              <a:latin typeface="Calibri" charset="0"/>
              <a:ea typeface="Calibri" charset="0"/>
              <a:cs typeface="Calibri" charset="0"/>
            </a:endParaRPr>
          </a:p>
        </p:txBody>
      </p:sp>
      <p:pic>
        <p:nvPicPr>
          <p:cNvPr id="9" name="Imagen 8"/>
          <p:cNvPicPr>
            <a:picLocks noChangeAspect="1"/>
          </p:cNvPicPr>
          <p:nvPr/>
        </p:nvPicPr>
        <p:blipFill>
          <a:blip r:embed="rId3">
            <a:alphaModFix/>
            <a:lum bright="100000" contrast="100000"/>
          </a:blip>
          <a:stretch>
            <a:fillRect/>
          </a:stretch>
        </p:blipFill>
        <p:spPr>
          <a:xfrm>
            <a:off x="6105409" y="2920757"/>
            <a:ext cx="121379" cy="121379"/>
          </a:xfrm>
          <a:prstGeom prst="rect">
            <a:avLst/>
          </a:prstGeom>
        </p:spPr>
      </p:pic>
      <p:pic>
        <p:nvPicPr>
          <p:cNvPr id="5" name="Imagen 4"/>
          <p:cNvPicPr>
            <a:picLocks noChangeAspect="1"/>
          </p:cNvPicPr>
          <p:nvPr/>
        </p:nvPicPr>
        <p:blipFill rotWithShape="1">
          <a:blip r:embed="rId4"/>
          <a:srcRect l="6151" t="12918" r="5145" b="16063"/>
          <a:stretch/>
        </p:blipFill>
        <p:spPr>
          <a:xfrm>
            <a:off x="505325" y="2117557"/>
            <a:ext cx="5305927" cy="3116179"/>
          </a:xfrm>
          <a:prstGeom prst="rect">
            <a:avLst/>
          </a:prstGeom>
          <a:ln w="12700">
            <a:solidFill>
              <a:srgbClr val="7150A0"/>
            </a:solidFill>
          </a:ln>
        </p:spPr>
      </p:pic>
      <p:sp>
        <p:nvSpPr>
          <p:cNvPr id="8" name="Rectangle 5">
            <a:extLst>
              <a:ext uri="{FF2B5EF4-FFF2-40B4-BE49-F238E27FC236}">
                <a16:creationId xmlns:a16="http://schemas.microsoft.com/office/drawing/2014/main" id="{0FE18959-6257-4663-9E4E-34878BF9A2E1}"/>
              </a:ext>
            </a:extLst>
          </p:cNvPr>
          <p:cNvSpPr/>
          <p:nvPr/>
        </p:nvSpPr>
        <p:spPr>
          <a:xfrm>
            <a:off x="503238" y="380615"/>
            <a:ext cx="3311678"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charset="0"/>
                <a:ea typeface="Calibri" charset="0"/>
                <a:cs typeface="Calibri" charset="0"/>
              </a:rPr>
              <a:t>DISTRIBUCIÓN DE DATOS: NORMAL, SESGADA, KURTOSIS</a:t>
            </a:r>
          </a:p>
        </p:txBody>
      </p:sp>
    </p:spTree>
    <p:extLst>
      <p:ext uri="{BB962C8B-B14F-4D97-AF65-F5344CB8AC3E}">
        <p14:creationId xmlns:p14="http://schemas.microsoft.com/office/powerpoint/2010/main" val="2321307531"/>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7"/>
          <p:cNvSpPr txBox="1"/>
          <p:nvPr/>
        </p:nvSpPr>
        <p:spPr>
          <a:xfrm>
            <a:off x="506796" y="918372"/>
            <a:ext cx="8158129" cy="1631216"/>
          </a:xfrm>
          <a:prstGeom prst="rect">
            <a:avLst/>
          </a:prstGeom>
        </p:spPr>
        <p:txBody>
          <a:bodyPr vert="horz" wrap="square" lIns="0" tIns="0" rIns="0" bIns="0" rtlCol="0">
            <a:spAutoFit/>
          </a:bodyPr>
          <a:lstStyle/>
          <a:p>
            <a:pPr marL="11725">
              <a:spcAft>
                <a:spcPts val="600"/>
              </a:spcAft>
              <a:buSzPct val="100000"/>
              <a:tabLst>
                <a:tab pos="121285" algn="l"/>
              </a:tabLst>
              <a:defRPr/>
            </a:pPr>
            <a:r>
              <a:rPr lang="es-ES" sz="1600" b="1" dirty="0">
                <a:latin typeface="Calibri" charset="0"/>
                <a:ea typeface="Calibri" charset="0"/>
                <a:cs typeface="Calibri" charset="0"/>
              </a:rPr>
              <a:t>DISTRIBUCIÓN NORMAL O SIMÉTRICA</a:t>
            </a:r>
          </a:p>
          <a:p>
            <a:pPr marL="11725">
              <a:spcAft>
                <a:spcPts val="600"/>
              </a:spcAft>
              <a:buClr>
                <a:srgbClr val="7150A0"/>
              </a:buClr>
              <a:buSzPct val="100000"/>
              <a:tabLst>
                <a:tab pos="121285" algn="l"/>
              </a:tabLst>
              <a:defRPr/>
            </a:pPr>
            <a:r>
              <a:rPr lang="es-ES" sz="1600" spc="-10" dirty="0">
                <a:solidFill>
                  <a:srgbClr val="262626"/>
                </a:solidFill>
                <a:latin typeface="Calibri" charset="0"/>
                <a:ea typeface="Calibri" charset="0"/>
                <a:cs typeface="Calibri" charset="0"/>
              </a:rPr>
              <a:t>La distribución normal, también llamada </a:t>
            </a:r>
            <a:r>
              <a:rPr lang="es-ES" sz="1600" b="1" spc="-10" dirty="0">
                <a:solidFill>
                  <a:srgbClr val="262626"/>
                </a:solidFill>
                <a:latin typeface="Calibri" charset="0"/>
                <a:ea typeface="Calibri" charset="0"/>
                <a:cs typeface="Calibri" charset="0"/>
              </a:rPr>
              <a:t>campana de Gauss</a:t>
            </a:r>
            <a:r>
              <a:rPr lang="es-ES" sz="1600" spc="-10" dirty="0">
                <a:solidFill>
                  <a:srgbClr val="262626"/>
                </a:solidFill>
                <a:latin typeface="Calibri" charset="0"/>
                <a:ea typeface="Calibri" charset="0"/>
                <a:cs typeface="Calibri" charset="0"/>
              </a:rPr>
              <a:t>, es una curva simétrica donde la mayoría de los valores se concentran alrededor de la media y las frecuencias disminuyen progresivamente hacia los extremos.</a:t>
            </a:r>
          </a:p>
          <a:p>
            <a:pPr marL="297475" indent="-285750">
              <a:buClr>
                <a:srgbClr val="7150A0"/>
              </a:buClr>
              <a:buSzPct val="100000"/>
              <a:buFont typeface="Arial" panose="020B0604020202020204" pitchFamily="34" charset="0"/>
              <a:buChar char="•"/>
              <a:tabLst>
                <a:tab pos="121285" algn="l"/>
              </a:tabLst>
              <a:defRPr/>
            </a:pPr>
            <a:r>
              <a:rPr lang="es-ES" sz="1600" b="1" spc="-10" dirty="0">
                <a:solidFill>
                  <a:srgbClr val="714FA0"/>
                </a:solidFill>
                <a:latin typeface="Calibri" charset="0"/>
                <a:ea typeface="Calibri" charset="0"/>
                <a:cs typeface="Calibri" charset="0"/>
              </a:rPr>
              <a:t>La media, mediana y moda </a:t>
            </a:r>
            <a:r>
              <a:rPr lang="es-ES" sz="1600" spc="-10" dirty="0">
                <a:latin typeface="Calibri" charset="0"/>
                <a:ea typeface="Calibri" charset="0"/>
                <a:cs typeface="Calibri" charset="0"/>
              </a:rPr>
              <a:t>coinciden.</a:t>
            </a:r>
          </a:p>
          <a:p>
            <a:pPr marL="297475" indent="-285750">
              <a:buClr>
                <a:srgbClr val="7150A0"/>
              </a:buClr>
              <a:buSzPct val="100000"/>
              <a:buFont typeface="Arial" panose="020B0604020202020204" pitchFamily="34" charset="0"/>
              <a:buChar char="•"/>
              <a:tabLst>
                <a:tab pos="121285" algn="l"/>
              </a:tabLst>
              <a:defRPr/>
            </a:pPr>
            <a:r>
              <a:rPr lang="es-ES" sz="1600" spc="-10" dirty="0">
                <a:latin typeface="Calibri" charset="0"/>
                <a:ea typeface="Calibri" charset="0"/>
                <a:cs typeface="Calibri" charset="0"/>
              </a:rPr>
              <a:t>Se caracteriza por su forma de </a:t>
            </a:r>
            <a:r>
              <a:rPr lang="es-ES" sz="1600" b="1" spc="-10" dirty="0">
                <a:solidFill>
                  <a:srgbClr val="714FA0"/>
                </a:solidFill>
                <a:latin typeface="Calibri" charset="0"/>
                <a:ea typeface="Calibri" charset="0"/>
                <a:cs typeface="Calibri" charset="0"/>
              </a:rPr>
              <a:t>campana suave y equilibrada.</a:t>
            </a:r>
            <a:endParaRPr lang="es-PE" sz="1600" spc="-10" dirty="0">
              <a:solidFill>
                <a:srgbClr val="262626"/>
              </a:solidFill>
              <a:latin typeface="Calibri" charset="0"/>
              <a:ea typeface="Calibri" charset="0"/>
              <a:cs typeface="Calibri" charset="0"/>
            </a:endParaRPr>
          </a:p>
        </p:txBody>
      </p:sp>
      <p:pic>
        <p:nvPicPr>
          <p:cNvPr id="5" name="Imagen 4"/>
          <p:cNvPicPr>
            <a:picLocks noChangeAspect="1"/>
          </p:cNvPicPr>
          <p:nvPr/>
        </p:nvPicPr>
        <p:blipFill>
          <a:blip r:embed="rId3"/>
          <a:stretch>
            <a:fillRect/>
          </a:stretch>
        </p:blipFill>
        <p:spPr>
          <a:xfrm>
            <a:off x="598133" y="2843280"/>
            <a:ext cx="3895726" cy="2242388"/>
          </a:xfrm>
          <a:prstGeom prst="rect">
            <a:avLst/>
          </a:prstGeom>
          <a:ln w="6350">
            <a:solidFill>
              <a:schemeClr val="tx1"/>
            </a:solidFill>
          </a:ln>
        </p:spPr>
      </p:pic>
      <p:pic>
        <p:nvPicPr>
          <p:cNvPr id="9" name="Imagen 8"/>
          <p:cNvPicPr>
            <a:picLocks noChangeAspect="1"/>
          </p:cNvPicPr>
          <p:nvPr/>
        </p:nvPicPr>
        <p:blipFill>
          <a:blip r:embed="rId4"/>
          <a:stretch>
            <a:fillRect/>
          </a:stretch>
        </p:blipFill>
        <p:spPr>
          <a:xfrm>
            <a:off x="4740442" y="2843281"/>
            <a:ext cx="3924483" cy="2242388"/>
          </a:xfrm>
          <a:prstGeom prst="rect">
            <a:avLst/>
          </a:prstGeom>
          <a:ln w="6350">
            <a:solidFill>
              <a:schemeClr val="tx1"/>
            </a:solidFill>
          </a:ln>
        </p:spPr>
      </p:pic>
      <p:sp>
        <p:nvSpPr>
          <p:cNvPr id="6" name="Rectangle 5">
            <a:extLst>
              <a:ext uri="{FF2B5EF4-FFF2-40B4-BE49-F238E27FC236}">
                <a16:creationId xmlns:a16="http://schemas.microsoft.com/office/drawing/2014/main" id="{FC37D58F-6A44-4DB9-8EC2-5E4819574B86}"/>
              </a:ext>
            </a:extLst>
          </p:cNvPr>
          <p:cNvSpPr/>
          <p:nvPr/>
        </p:nvSpPr>
        <p:spPr>
          <a:xfrm>
            <a:off x="503238" y="380615"/>
            <a:ext cx="3311678"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charset="0"/>
                <a:ea typeface="Calibri" charset="0"/>
                <a:cs typeface="Calibri" charset="0"/>
              </a:rPr>
              <a:t>DISTRIBUCIÓN DE DATOS: NORMAL, SESGADA, KURTOSIS</a:t>
            </a:r>
          </a:p>
        </p:txBody>
      </p:sp>
    </p:spTree>
    <p:extLst>
      <p:ext uri="{BB962C8B-B14F-4D97-AF65-F5344CB8AC3E}">
        <p14:creationId xmlns:p14="http://schemas.microsoft.com/office/powerpoint/2010/main" val="296981381"/>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7"/>
          <p:cNvSpPr txBox="1"/>
          <p:nvPr/>
        </p:nvSpPr>
        <p:spPr>
          <a:xfrm>
            <a:off x="506796" y="918372"/>
            <a:ext cx="3839062" cy="3585597"/>
          </a:xfrm>
          <a:prstGeom prst="rect">
            <a:avLst/>
          </a:prstGeom>
        </p:spPr>
        <p:txBody>
          <a:bodyPr vert="horz" wrap="square" lIns="0" tIns="0" rIns="0" bIns="0" rtlCol="0">
            <a:spAutoFit/>
          </a:bodyPr>
          <a:lstStyle/>
          <a:p>
            <a:pPr marL="11725">
              <a:spcAft>
                <a:spcPts val="600"/>
              </a:spcAft>
              <a:buSzPct val="100000"/>
              <a:tabLst>
                <a:tab pos="121285" algn="l"/>
              </a:tabLst>
              <a:defRPr/>
            </a:pPr>
            <a:r>
              <a:rPr lang="es-ES" sz="1600" b="1" spc="-10" dirty="0">
                <a:solidFill>
                  <a:srgbClr val="262626"/>
                </a:solidFill>
                <a:latin typeface="Calibri" charset="0"/>
                <a:ea typeface="Calibri" charset="0"/>
                <a:cs typeface="Calibri" charset="0"/>
              </a:rPr>
              <a:t>DISTRIBUCIÓN NORMAL O SIMÉTRICA</a:t>
            </a:r>
          </a:p>
          <a:p>
            <a:pPr marL="11725">
              <a:spcAft>
                <a:spcPts val="600"/>
              </a:spcAft>
              <a:buSzPct val="100000"/>
              <a:tabLst>
                <a:tab pos="121285" algn="l"/>
              </a:tabLst>
              <a:defRPr/>
            </a:pPr>
            <a:r>
              <a:rPr lang="es-ES" sz="1600" spc="-10" dirty="0">
                <a:solidFill>
                  <a:srgbClr val="262626"/>
                </a:solidFill>
                <a:latin typeface="Calibri" charset="0"/>
                <a:ea typeface="Calibri" charset="0"/>
                <a:cs typeface="Calibri" charset="0"/>
              </a:rPr>
              <a:t>Una distribución normal permite aplicar métodos estadísticos clásicos, como intervalos de confianza, pruebas t o ANOVA, que suponen este tipo de comportamiento.</a:t>
            </a:r>
          </a:p>
          <a:p>
            <a:pPr marL="11725">
              <a:spcAft>
                <a:spcPts val="600"/>
              </a:spcAft>
              <a:buSzPct val="100000"/>
              <a:tabLst>
                <a:tab pos="121285" algn="l"/>
              </a:tabLst>
              <a:defRPr/>
            </a:pPr>
            <a:r>
              <a:rPr lang="es-ES" sz="1600" b="1" spc="-10" dirty="0">
                <a:solidFill>
                  <a:srgbClr val="7150A0"/>
                </a:solidFill>
                <a:latin typeface="Calibri" charset="0"/>
                <a:ea typeface="Calibri" charset="0"/>
                <a:cs typeface="Calibri" charset="0"/>
              </a:rPr>
              <a:t>Ejemplo: </a:t>
            </a:r>
          </a:p>
          <a:p>
            <a:pPr marL="297475" indent="-285750">
              <a:spcAft>
                <a:spcPts val="600"/>
              </a:spcAft>
              <a:buClr>
                <a:srgbClr val="7150A0"/>
              </a:buClr>
              <a:buSzPct val="100000"/>
              <a:buFont typeface="Arial" panose="020B0604020202020204" pitchFamily="34" charset="0"/>
              <a:buChar char="•"/>
              <a:tabLst>
                <a:tab pos="121285" algn="l"/>
              </a:tabLst>
              <a:defRPr/>
            </a:pPr>
            <a:r>
              <a:rPr lang="es-ES" sz="1600" spc="-10" dirty="0">
                <a:solidFill>
                  <a:srgbClr val="262626"/>
                </a:solidFill>
                <a:latin typeface="Calibri" charset="0"/>
                <a:ea typeface="Calibri" charset="0"/>
                <a:cs typeface="Calibri" charset="0"/>
              </a:rPr>
              <a:t>En una evaluación de 100 alumnos, la media fue 14, con la mayoría concentrada entre 12 y 16. </a:t>
            </a:r>
          </a:p>
          <a:p>
            <a:pPr marL="297475" indent="-285750">
              <a:spcAft>
                <a:spcPts val="600"/>
              </a:spcAft>
              <a:buClr>
                <a:srgbClr val="7150A0"/>
              </a:buClr>
              <a:buSzPct val="100000"/>
              <a:buFont typeface="Arial" panose="020B0604020202020204" pitchFamily="34" charset="0"/>
              <a:buChar char="•"/>
              <a:tabLst>
                <a:tab pos="121285" algn="l"/>
              </a:tabLst>
              <a:defRPr/>
            </a:pPr>
            <a:r>
              <a:rPr lang="es-ES" sz="1600" spc="-10" dirty="0">
                <a:solidFill>
                  <a:srgbClr val="262626"/>
                </a:solidFill>
                <a:latin typeface="Calibri" charset="0"/>
                <a:ea typeface="Calibri" charset="0"/>
                <a:cs typeface="Calibri" charset="0"/>
              </a:rPr>
              <a:t>Entonces, tendríamos una distribución aproximadamente normal y un desempeño académico homogéneo.</a:t>
            </a:r>
          </a:p>
          <a:p>
            <a:pPr marL="11725">
              <a:buSzPct val="100000"/>
              <a:tabLst>
                <a:tab pos="121285" algn="l"/>
              </a:tabLst>
              <a:defRPr/>
            </a:pPr>
            <a:endParaRPr lang="es-PE" sz="1600" b="1" spc="-10" dirty="0">
              <a:solidFill>
                <a:srgbClr val="7150A0"/>
              </a:solidFill>
              <a:latin typeface="Calibri" charset="0"/>
              <a:ea typeface="Calibri" charset="0"/>
              <a:cs typeface="Calibri" charset="0"/>
            </a:endParaRPr>
          </a:p>
        </p:txBody>
      </p:sp>
      <p:pic>
        <p:nvPicPr>
          <p:cNvPr id="4" name="Imagen 3"/>
          <p:cNvPicPr>
            <a:picLocks noChangeAspect="1"/>
          </p:cNvPicPr>
          <p:nvPr/>
        </p:nvPicPr>
        <p:blipFill rotWithShape="1">
          <a:blip r:embed="rId3"/>
          <a:srcRect l="37723" r="10099"/>
          <a:stretch/>
        </p:blipFill>
        <p:spPr>
          <a:xfrm>
            <a:off x="5181601" y="918372"/>
            <a:ext cx="3170562" cy="4137409"/>
          </a:xfrm>
          <a:prstGeom prst="rect">
            <a:avLst/>
          </a:prstGeom>
        </p:spPr>
      </p:pic>
      <p:sp>
        <p:nvSpPr>
          <p:cNvPr id="5" name="Rectangle 5">
            <a:extLst>
              <a:ext uri="{FF2B5EF4-FFF2-40B4-BE49-F238E27FC236}">
                <a16:creationId xmlns:a16="http://schemas.microsoft.com/office/drawing/2014/main" id="{9DDEBF4C-B6A5-448C-9272-B699F9B94DBD}"/>
              </a:ext>
            </a:extLst>
          </p:cNvPr>
          <p:cNvSpPr/>
          <p:nvPr/>
        </p:nvSpPr>
        <p:spPr>
          <a:xfrm>
            <a:off x="503238" y="380615"/>
            <a:ext cx="3311678"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charset="0"/>
                <a:ea typeface="Calibri" charset="0"/>
                <a:cs typeface="Calibri" charset="0"/>
              </a:rPr>
              <a:t>DISTRIBUCIÓN DE DATOS: NORMAL, SESGADA, KURTOSIS</a:t>
            </a:r>
          </a:p>
        </p:txBody>
      </p:sp>
    </p:spTree>
    <p:extLst>
      <p:ext uri="{BB962C8B-B14F-4D97-AF65-F5344CB8AC3E}">
        <p14:creationId xmlns:p14="http://schemas.microsoft.com/office/powerpoint/2010/main" val="2987326679"/>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7"/>
          <p:cNvSpPr txBox="1"/>
          <p:nvPr/>
        </p:nvSpPr>
        <p:spPr>
          <a:xfrm>
            <a:off x="506796" y="918372"/>
            <a:ext cx="7921108" cy="815608"/>
          </a:xfrm>
          <a:prstGeom prst="rect">
            <a:avLst/>
          </a:prstGeom>
        </p:spPr>
        <p:txBody>
          <a:bodyPr vert="horz" wrap="square" lIns="0" tIns="0" rIns="0" bIns="0" rtlCol="0">
            <a:spAutoFit/>
          </a:bodyPr>
          <a:lstStyle/>
          <a:p>
            <a:pPr marL="11725">
              <a:spcAft>
                <a:spcPts val="600"/>
              </a:spcAft>
              <a:buSzPct val="100000"/>
              <a:tabLst>
                <a:tab pos="121285" algn="l"/>
              </a:tabLst>
              <a:defRPr/>
            </a:pPr>
            <a:r>
              <a:rPr lang="es-ES" sz="1600" b="1" dirty="0">
                <a:latin typeface="Calibri" charset="0"/>
                <a:ea typeface="Calibri" charset="0"/>
                <a:cs typeface="Calibri" charset="0"/>
              </a:rPr>
              <a:t>DISTRIBUCIÓN SESGADA (ASIMÉTRICA)</a:t>
            </a:r>
          </a:p>
          <a:p>
            <a:pPr marL="11725">
              <a:spcAft>
                <a:spcPts val="600"/>
              </a:spcAft>
              <a:buSzPct val="100000"/>
              <a:tabLst>
                <a:tab pos="121285" algn="l"/>
              </a:tabLst>
              <a:defRPr/>
            </a:pPr>
            <a:r>
              <a:rPr lang="es-ES" sz="1600" spc="-10" dirty="0">
                <a:solidFill>
                  <a:srgbClr val="262626"/>
                </a:solidFill>
                <a:latin typeface="Calibri" charset="0"/>
                <a:ea typeface="Calibri" charset="0"/>
                <a:cs typeface="Calibri" charset="0"/>
              </a:rPr>
              <a:t>Una distribución es sesgada cuando los datos no son simétricos respecto a la media. Existen dos tipos de sesgo:</a:t>
            </a:r>
            <a:endParaRPr lang="es-PE" sz="1600" spc="-10" dirty="0">
              <a:solidFill>
                <a:srgbClr val="262626"/>
              </a:solidFill>
              <a:latin typeface="Calibri" charset="0"/>
              <a:ea typeface="Calibri" charset="0"/>
              <a:cs typeface="Calibri" charset="0"/>
            </a:endParaRPr>
          </a:p>
        </p:txBody>
      </p:sp>
      <p:graphicFrame>
        <p:nvGraphicFramePr>
          <p:cNvPr id="3" name="Tabla 2"/>
          <p:cNvGraphicFramePr>
            <a:graphicFrameLocks noGrp="1"/>
          </p:cNvGraphicFramePr>
          <p:nvPr>
            <p:extLst>
              <p:ext uri="{D42A27DB-BD31-4B8C-83A1-F6EECF244321}">
                <p14:modId xmlns:p14="http://schemas.microsoft.com/office/powerpoint/2010/main" val="2972360678"/>
              </p:ext>
            </p:extLst>
          </p:nvPr>
        </p:nvGraphicFramePr>
        <p:xfrm>
          <a:off x="628650" y="2214434"/>
          <a:ext cx="7886700" cy="1981200"/>
        </p:xfrm>
        <a:graphic>
          <a:graphicData uri="http://schemas.openxmlformats.org/drawingml/2006/table">
            <a:tbl>
              <a:tblPr>
                <a:tableStyleId>{0505E3EF-67EA-436B-97B2-0124C06EBD24}</a:tableStyleId>
              </a:tblPr>
              <a:tblGrid>
                <a:gridCol w="2753528">
                  <a:extLst>
                    <a:ext uri="{9D8B030D-6E8A-4147-A177-3AD203B41FA5}">
                      <a16:colId xmlns:a16="http://schemas.microsoft.com/office/drawing/2014/main" val="2972613937"/>
                    </a:ext>
                  </a:extLst>
                </a:gridCol>
                <a:gridCol w="2504272">
                  <a:extLst>
                    <a:ext uri="{9D8B030D-6E8A-4147-A177-3AD203B41FA5}">
                      <a16:colId xmlns:a16="http://schemas.microsoft.com/office/drawing/2014/main" val="4214987334"/>
                    </a:ext>
                  </a:extLst>
                </a:gridCol>
                <a:gridCol w="2628900">
                  <a:extLst>
                    <a:ext uri="{9D8B030D-6E8A-4147-A177-3AD203B41FA5}">
                      <a16:colId xmlns:a16="http://schemas.microsoft.com/office/drawing/2014/main" val="2467573524"/>
                    </a:ext>
                  </a:extLst>
                </a:gridCol>
              </a:tblGrid>
              <a:tr h="0">
                <a:tc>
                  <a:txBody>
                    <a:bodyPr/>
                    <a:lstStyle/>
                    <a:p>
                      <a:pPr algn="ctr"/>
                      <a:r>
                        <a:rPr lang="es-PE" sz="1600" b="1" dirty="0">
                          <a:latin typeface="Calibri" panose="020F0502020204030204" pitchFamily="34" charset="0"/>
                          <a:cs typeface="Calibri" panose="020F0502020204030204" pitchFamily="34" charset="0"/>
                        </a:rPr>
                        <a:t>Tipos de sesgo</a:t>
                      </a:r>
                    </a:p>
                  </a:txBody>
                  <a:tcPr anchor="ctr"/>
                </a:tc>
                <a:tc>
                  <a:txBody>
                    <a:bodyPr/>
                    <a:lstStyle/>
                    <a:p>
                      <a:pPr algn="ctr"/>
                      <a:r>
                        <a:rPr lang="es-PE" sz="1600" b="1">
                          <a:latin typeface="Calibri" panose="020F0502020204030204" pitchFamily="34" charset="0"/>
                          <a:cs typeface="Calibri" panose="020F0502020204030204" pitchFamily="34" charset="0"/>
                        </a:rPr>
                        <a:t>Descripción</a:t>
                      </a:r>
                    </a:p>
                  </a:txBody>
                  <a:tcPr anchor="ctr"/>
                </a:tc>
                <a:tc>
                  <a:txBody>
                    <a:bodyPr/>
                    <a:lstStyle/>
                    <a:p>
                      <a:pPr algn="ctr"/>
                      <a:r>
                        <a:rPr lang="es-PE" sz="1600" b="1" dirty="0">
                          <a:latin typeface="Calibri" panose="020F0502020204030204" pitchFamily="34" charset="0"/>
                          <a:cs typeface="Calibri" panose="020F0502020204030204" pitchFamily="34" charset="0"/>
                        </a:rPr>
                        <a:t>Ejemplo típico</a:t>
                      </a:r>
                    </a:p>
                  </a:txBody>
                  <a:tcPr anchor="ctr"/>
                </a:tc>
                <a:extLst>
                  <a:ext uri="{0D108BD9-81ED-4DB2-BD59-A6C34878D82A}">
                    <a16:rowId xmlns:a16="http://schemas.microsoft.com/office/drawing/2014/main" val="2280141593"/>
                  </a:ext>
                </a:extLst>
              </a:tr>
              <a:tr h="0">
                <a:tc>
                  <a:txBody>
                    <a:bodyPr/>
                    <a:lstStyle/>
                    <a:p>
                      <a:pPr algn="l"/>
                      <a:r>
                        <a:rPr lang="es-ES" sz="1600" b="1" dirty="0">
                          <a:latin typeface="Calibri" panose="020F0502020204030204" pitchFamily="34" charset="0"/>
                          <a:cs typeface="Calibri" panose="020F0502020204030204" pitchFamily="34" charset="0"/>
                        </a:rPr>
                        <a:t>Sesgo positivo (a la derecha)</a:t>
                      </a:r>
                    </a:p>
                  </a:txBody>
                  <a:tcPr anchor="ctr"/>
                </a:tc>
                <a:tc>
                  <a:txBody>
                    <a:bodyPr/>
                    <a:lstStyle/>
                    <a:p>
                      <a:pPr algn="l"/>
                      <a:r>
                        <a:rPr lang="es-ES" sz="1600" dirty="0">
                          <a:latin typeface="Calibri" panose="020F0502020204030204" pitchFamily="34" charset="0"/>
                          <a:cs typeface="Calibri" panose="020F0502020204030204" pitchFamily="34" charset="0"/>
                        </a:rPr>
                        <a:t>La cola se extiende hacia valores mayores. La media es mayor que la mediana.</a:t>
                      </a:r>
                    </a:p>
                  </a:txBody>
                  <a:tcPr anchor="ctr"/>
                </a:tc>
                <a:tc>
                  <a:txBody>
                    <a:bodyPr/>
                    <a:lstStyle/>
                    <a:p>
                      <a:pPr algn="l"/>
                      <a:r>
                        <a:rPr lang="es-ES" sz="1600">
                          <a:latin typeface="Calibri" panose="020F0502020204030204" pitchFamily="34" charset="0"/>
                          <a:cs typeface="Calibri" panose="020F0502020204030204" pitchFamily="34" charset="0"/>
                        </a:rPr>
                        <a:t>Ingresos mensuales: la mayoría gana poco, pero hay pocos que ganan mucho.</a:t>
                      </a:r>
                    </a:p>
                  </a:txBody>
                  <a:tcPr anchor="ctr"/>
                </a:tc>
                <a:extLst>
                  <a:ext uri="{0D108BD9-81ED-4DB2-BD59-A6C34878D82A}">
                    <a16:rowId xmlns:a16="http://schemas.microsoft.com/office/drawing/2014/main" val="3613981315"/>
                  </a:ext>
                </a:extLst>
              </a:tr>
              <a:tr h="0">
                <a:tc>
                  <a:txBody>
                    <a:bodyPr/>
                    <a:lstStyle/>
                    <a:p>
                      <a:pPr algn="l"/>
                      <a:r>
                        <a:rPr lang="es-ES" sz="1600" b="1" dirty="0">
                          <a:latin typeface="Calibri" panose="020F0502020204030204" pitchFamily="34" charset="0"/>
                          <a:cs typeface="Calibri" panose="020F0502020204030204" pitchFamily="34" charset="0"/>
                        </a:rPr>
                        <a:t>Sesgo negativo (a la izquierda)</a:t>
                      </a:r>
                    </a:p>
                  </a:txBody>
                  <a:tcPr anchor="ctr"/>
                </a:tc>
                <a:tc>
                  <a:txBody>
                    <a:bodyPr/>
                    <a:lstStyle/>
                    <a:p>
                      <a:pPr algn="l"/>
                      <a:r>
                        <a:rPr lang="es-ES" sz="1600" dirty="0">
                          <a:latin typeface="Calibri" panose="020F0502020204030204" pitchFamily="34" charset="0"/>
                          <a:cs typeface="Calibri" panose="020F0502020204030204" pitchFamily="34" charset="0"/>
                        </a:rPr>
                        <a:t>La cola se extiende hacia valores menores. La media es menor que la mediana.</a:t>
                      </a:r>
                    </a:p>
                  </a:txBody>
                  <a:tcPr anchor="ctr"/>
                </a:tc>
                <a:tc>
                  <a:txBody>
                    <a:bodyPr/>
                    <a:lstStyle/>
                    <a:p>
                      <a:pPr algn="l"/>
                      <a:r>
                        <a:rPr lang="es-ES" sz="1600" dirty="0">
                          <a:latin typeface="Calibri" panose="020F0502020204030204" pitchFamily="34" charset="0"/>
                          <a:cs typeface="Calibri" panose="020F0502020204030204" pitchFamily="34" charset="0"/>
                        </a:rPr>
                        <a:t>Calificaciones en un examen fácil: la mayoría obtiene notas altas.</a:t>
                      </a:r>
                    </a:p>
                  </a:txBody>
                  <a:tcPr anchor="ctr"/>
                </a:tc>
                <a:extLst>
                  <a:ext uri="{0D108BD9-81ED-4DB2-BD59-A6C34878D82A}">
                    <a16:rowId xmlns:a16="http://schemas.microsoft.com/office/drawing/2014/main" val="452116609"/>
                  </a:ext>
                </a:extLst>
              </a:tr>
            </a:tbl>
          </a:graphicData>
        </a:graphic>
      </p:graphicFrame>
      <p:sp>
        <p:nvSpPr>
          <p:cNvPr id="5" name="Rectangle 5">
            <a:extLst>
              <a:ext uri="{FF2B5EF4-FFF2-40B4-BE49-F238E27FC236}">
                <a16:creationId xmlns:a16="http://schemas.microsoft.com/office/drawing/2014/main" id="{E3835290-F73A-4110-9FF3-C00A29974072}"/>
              </a:ext>
            </a:extLst>
          </p:cNvPr>
          <p:cNvSpPr/>
          <p:nvPr/>
        </p:nvSpPr>
        <p:spPr>
          <a:xfrm>
            <a:off x="503238" y="380615"/>
            <a:ext cx="3311678"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charset="0"/>
                <a:ea typeface="Calibri" charset="0"/>
                <a:cs typeface="Calibri" charset="0"/>
              </a:rPr>
              <a:t>DISTRIBUCIÓN DE DATOS: NORMAL, SESGADA, KURTOSIS</a:t>
            </a:r>
          </a:p>
        </p:txBody>
      </p:sp>
    </p:spTree>
    <p:extLst>
      <p:ext uri="{BB962C8B-B14F-4D97-AF65-F5344CB8AC3E}">
        <p14:creationId xmlns:p14="http://schemas.microsoft.com/office/powerpoint/2010/main" val="3466299089"/>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7"/>
          <p:cNvSpPr txBox="1"/>
          <p:nvPr/>
        </p:nvSpPr>
        <p:spPr>
          <a:xfrm>
            <a:off x="506796" y="918372"/>
            <a:ext cx="3560379" cy="3831818"/>
          </a:xfrm>
          <a:prstGeom prst="rect">
            <a:avLst/>
          </a:prstGeom>
        </p:spPr>
        <p:txBody>
          <a:bodyPr vert="horz" wrap="square" lIns="0" tIns="0" rIns="0" bIns="0" rtlCol="0">
            <a:spAutoFit/>
          </a:bodyPr>
          <a:lstStyle/>
          <a:p>
            <a:pPr marL="11725" algn="just">
              <a:spcAft>
                <a:spcPts val="600"/>
              </a:spcAft>
              <a:buSzPct val="100000"/>
              <a:tabLst>
                <a:tab pos="121285" algn="l"/>
              </a:tabLst>
              <a:defRPr/>
            </a:pPr>
            <a:r>
              <a:rPr lang="es-ES" sz="1600" b="1" spc="-10" dirty="0">
                <a:solidFill>
                  <a:srgbClr val="262626"/>
                </a:solidFill>
                <a:latin typeface="Calibri" charset="0"/>
                <a:ea typeface="Calibri" charset="0"/>
                <a:cs typeface="Calibri" charset="0"/>
              </a:rPr>
              <a:t>DISTRIBUCIÓN SESGADA (ASIMÉTRICA)</a:t>
            </a:r>
          </a:p>
          <a:p>
            <a:pPr marL="11725">
              <a:spcAft>
                <a:spcPts val="600"/>
              </a:spcAft>
              <a:buSzPct val="100000"/>
              <a:tabLst>
                <a:tab pos="121285" algn="l"/>
              </a:tabLst>
              <a:defRPr/>
            </a:pPr>
            <a:r>
              <a:rPr lang="es-ES" sz="1600" spc="-10" dirty="0">
                <a:solidFill>
                  <a:srgbClr val="262626"/>
                </a:solidFill>
                <a:latin typeface="Calibri" charset="0"/>
                <a:ea typeface="Calibri" charset="0"/>
                <a:cs typeface="Calibri" charset="0"/>
              </a:rPr>
              <a:t>Identificar el sesgo ayuda a elegir la medida más representativa:</a:t>
            </a:r>
          </a:p>
          <a:p>
            <a:pPr marL="297475" indent="-285750">
              <a:spcAft>
                <a:spcPts val="600"/>
              </a:spcAft>
              <a:buSzPct val="100000"/>
              <a:buFont typeface="Arial" panose="020B0604020202020204" pitchFamily="34" charset="0"/>
              <a:buChar char="•"/>
              <a:tabLst>
                <a:tab pos="121285" algn="l"/>
              </a:tabLst>
              <a:defRPr/>
            </a:pPr>
            <a:r>
              <a:rPr lang="es-ES" sz="1600" spc="-10" dirty="0">
                <a:solidFill>
                  <a:srgbClr val="262626"/>
                </a:solidFill>
                <a:latin typeface="Calibri" charset="0"/>
                <a:ea typeface="Calibri" charset="0"/>
                <a:cs typeface="Calibri" charset="0"/>
              </a:rPr>
              <a:t>En </a:t>
            </a:r>
            <a:r>
              <a:rPr lang="es-ES" sz="1600" b="1" spc="-10" dirty="0">
                <a:solidFill>
                  <a:srgbClr val="7150A0"/>
                </a:solidFill>
                <a:latin typeface="Calibri" charset="0"/>
                <a:ea typeface="Calibri" charset="0"/>
                <a:cs typeface="Calibri" charset="0"/>
              </a:rPr>
              <a:t>sesgo positivo</a:t>
            </a:r>
            <a:r>
              <a:rPr lang="es-ES" sz="1600" spc="-10" dirty="0">
                <a:solidFill>
                  <a:srgbClr val="262626"/>
                </a:solidFill>
                <a:latin typeface="Calibri" charset="0"/>
                <a:ea typeface="Calibri" charset="0"/>
                <a:cs typeface="Calibri" charset="0"/>
              </a:rPr>
              <a:t>: la mediana refleja mejor el comportamiento típico.</a:t>
            </a:r>
          </a:p>
          <a:p>
            <a:pPr marL="297475" indent="-285750">
              <a:spcAft>
                <a:spcPts val="600"/>
              </a:spcAft>
              <a:buSzPct val="100000"/>
              <a:buFont typeface="Arial" panose="020B0604020202020204" pitchFamily="34" charset="0"/>
              <a:buChar char="•"/>
              <a:tabLst>
                <a:tab pos="121285" algn="l"/>
              </a:tabLst>
              <a:defRPr/>
            </a:pPr>
            <a:r>
              <a:rPr lang="es-ES" sz="1600" spc="-10" dirty="0">
                <a:solidFill>
                  <a:srgbClr val="262626"/>
                </a:solidFill>
                <a:latin typeface="Calibri" charset="0"/>
                <a:ea typeface="Calibri" charset="0"/>
                <a:cs typeface="Calibri" charset="0"/>
              </a:rPr>
              <a:t>En </a:t>
            </a:r>
            <a:r>
              <a:rPr lang="es-ES" sz="1600" b="1" spc="-10" dirty="0">
                <a:solidFill>
                  <a:srgbClr val="7150A0"/>
                </a:solidFill>
                <a:latin typeface="Calibri" charset="0"/>
                <a:ea typeface="Calibri" charset="0"/>
                <a:cs typeface="Calibri" charset="0"/>
              </a:rPr>
              <a:t>sesgo negativo</a:t>
            </a:r>
            <a:r>
              <a:rPr lang="es-ES" sz="1600" spc="-10" dirty="0">
                <a:solidFill>
                  <a:srgbClr val="262626"/>
                </a:solidFill>
                <a:latin typeface="Calibri" charset="0"/>
                <a:ea typeface="Calibri" charset="0"/>
                <a:cs typeface="Calibri" charset="0"/>
              </a:rPr>
              <a:t>: también se prefiere la mediana o los cuartiles en lugar de la media.</a:t>
            </a:r>
          </a:p>
          <a:p>
            <a:pPr marL="11725">
              <a:spcAft>
                <a:spcPts val="600"/>
              </a:spcAft>
              <a:buSzPct val="100000"/>
              <a:tabLst>
                <a:tab pos="121285" algn="l"/>
              </a:tabLst>
              <a:defRPr/>
            </a:pPr>
            <a:r>
              <a:rPr lang="es-ES" sz="1600" b="1" spc="-10" dirty="0">
                <a:solidFill>
                  <a:srgbClr val="7150A0"/>
                </a:solidFill>
                <a:latin typeface="Calibri" charset="0"/>
                <a:ea typeface="Calibri" charset="0"/>
                <a:cs typeface="Calibri" charset="0"/>
              </a:rPr>
              <a:t>Ejemplo: </a:t>
            </a:r>
          </a:p>
          <a:p>
            <a:pPr marL="11725">
              <a:spcAft>
                <a:spcPts val="600"/>
              </a:spcAft>
              <a:buSzPct val="100000"/>
              <a:tabLst>
                <a:tab pos="121285" algn="l"/>
              </a:tabLst>
              <a:defRPr/>
            </a:pPr>
            <a:r>
              <a:rPr lang="es-ES" sz="1600" spc="-10" dirty="0">
                <a:solidFill>
                  <a:srgbClr val="262626"/>
                </a:solidFill>
                <a:latin typeface="Calibri" charset="0"/>
                <a:ea typeface="Calibri" charset="0"/>
                <a:cs typeface="Calibri" charset="0"/>
              </a:rPr>
              <a:t>En una encuesta sobre ingresos mensuales, la media fue S/3000, pero la mediana fue S/2200. Esto indica un sesgo positivo, con pocos empleados que ganan mucho más que el promedio.</a:t>
            </a:r>
            <a:endParaRPr lang="es-PE" sz="1600" b="1" spc="-10" dirty="0">
              <a:solidFill>
                <a:srgbClr val="7150A0"/>
              </a:solidFill>
              <a:latin typeface="Calibri" charset="0"/>
              <a:ea typeface="Calibri" charset="0"/>
              <a:cs typeface="Calibri" charset="0"/>
            </a:endParaRPr>
          </a:p>
        </p:txBody>
      </p:sp>
      <p:pic>
        <p:nvPicPr>
          <p:cNvPr id="5" name="Imagen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76827" y="918372"/>
            <a:ext cx="3044016" cy="4082846"/>
          </a:xfrm>
          <a:prstGeom prst="rect">
            <a:avLst/>
          </a:prstGeom>
          <a:ln w="6350">
            <a:solidFill>
              <a:schemeClr val="tx1"/>
            </a:solidFill>
          </a:ln>
        </p:spPr>
      </p:pic>
      <p:sp>
        <p:nvSpPr>
          <p:cNvPr id="6" name="Rectangle 5">
            <a:extLst>
              <a:ext uri="{FF2B5EF4-FFF2-40B4-BE49-F238E27FC236}">
                <a16:creationId xmlns:a16="http://schemas.microsoft.com/office/drawing/2014/main" id="{99E95FFD-D1A4-4FE7-9011-71412024B34E}"/>
              </a:ext>
            </a:extLst>
          </p:cNvPr>
          <p:cNvSpPr/>
          <p:nvPr/>
        </p:nvSpPr>
        <p:spPr>
          <a:xfrm>
            <a:off x="503238" y="380615"/>
            <a:ext cx="3311678"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charset="0"/>
                <a:ea typeface="Calibri" charset="0"/>
                <a:cs typeface="Calibri" charset="0"/>
              </a:rPr>
              <a:t>DISTRIBUCIÓN DE DATOS: NORMAL, SESGADA, KURTOSIS</a:t>
            </a:r>
          </a:p>
        </p:txBody>
      </p:sp>
    </p:spTree>
    <p:extLst>
      <p:ext uri="{BB962C8B-B14F-4D97-AF65-F5344CB8AC3E}">
        <p14:creationId xmlns:p14="http://schemas.microsoft.com/office/powerpoint/2010/main" val="3146637428"/>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7"/>
          <p:cNvSpPr txBox="1"/>
          <p:nvPr/>
        </p:nvSpPr>
        <p:spPr>
          <a:xfrm>
            <a:off x="506796" y="918372"/>
            <a:ext cx="7921108" cy="815608"/>
          </a:xfrm>
          <a:prstGeom prst="rect">
            <a:avLst/>
          </a:prstGeom>
        </p:spPr>
        <p:txBody>
          <a:bodyPr vert="horz" wrap="square" lIns="0" tIns="0" rIns="0" bIns="0" rtlCol="0">
            <a:spAutoFit/>
          </a:bodyPr>
          <a:lstStyle/>
          <a:p>
            <a:pPr marL="11725">
              <a:spcAft>
                <a:spcPts val="600"/>
              </a:spcAft>
              <a:buSzPct val="100000"/>
              <a:tabLst>
                <a:tab pos="121285" algn="l"/>
              </a:tabLst>
              <a:defRPr/>
            </a:pPr>
            <a:r>
              <a:rPr lang="es-ES" sz="1600" b="1" dirty="0">
                <a:latin typeface="Calibri" charset="0"/>
                <a:ea typeface="Calibri" charset="0"/>
                <a:cs typeface="Calibri" charset="0"/>
              </a:rPr>
              <a:t>KURTOSIS O FORMA DE LA CONCENTRACIÓN</a:t>
            </a:r>
          </a:p>
          <a:p>
            <a:pPr marL="11725">
              <a:spcAft>
                <a:spcPts val="600"/>
              </a:spcAft>
              <a:buSzPct val="100000"/>
              <a:tabLst>
                <a:tab pos="121285" algn="l"/>
              </a:tabLst>
              <a:defRPr/>
            </a:pPr>
            <a:r>
              <a:rPr lang="es-ES" sz="1600" spc="-10" dirty="0">
                <a:solidFill>
                  <a:srgbClr val="262626"/>
                </a:solidFill>
                <a:latin typeface="Calibri" charset="0"/>
                <a:ea typeface="Calibri" charset="0"/>
                <a:cs typeface="Calibri" charset="0"/>
              </a:rPr>
              <a:t>La </a:t>
            </a:r>
            <a:r>
              <a:rPr lang="es-ES" sz="1600" spc="-10" dirty="0" err="1">
                <a:solidFill>
                  <a:srgbClr val="262626"/>
                </a:solidFill>
                <a:latin typeface="Calibri" charset="0"/>
                <a:ea typeface="Calibri" charset="0"/>
                <a:cs typeface="Calibri" charset="0"/>
              </a:rPr>
              <a:t>kurtosis</a:t>
            </a:r>
            <a:r>
              <a:rPr lang="es-ES" sz="1600" spc="-10" dirty="0">
                <a:solidFill>
                  <a:srgbClr val="262626"/>
                </a:solidFill>
                <a:latin typeface="Calibri" charset="0"/>
                <a:ea typeface="Calibri" charset="0"/>
                <a:cs typeface="Calibri" charset="0"/>
              </a:rPr>
              <a:t> (o curtosis) mide el grado de concentración o dispersión de los valores alrededor de la media; es decir, qué tan “picuda” o “aplanada” es la distribución.</a:t>
            </a:r>
            <a:endParaRPr lang="es-PE" sz="1600" spc="-10" dirty="0">
              <a:solidFill>
                <a:srgbClr val="262626"/>
              </a:solidFill>
              <a:latin typeface="Calibri" charset="0"/>
              <a:ea typeface="Calibri" charset="0"/>
              <a:cs typeface="Calibri" charset="0"/>
            </a:endParaRPr>
          </a:p>
        </p:txBody>
      </p:sp>
      <p:graphicFrame>
        <p:nvGraphicFramePr>
          <p:cNvPr id="4" name="Tabla 3"/>
          <p:cNvGraphicFramePr>
            <a:graphicFrameLocks noGrp="1"/>
          </p:cNvGraphicFramePr>
          <p:nvPr>
            <p:extLst>
              <p:ext uri="{D42A27DB-BD31-4B8C-83A1-F6EECF244321}">
                <p14:modId xmlns:p14="http://schemas.microsoft.com/office/powerpoint/2010/main" val="2299521391"/>
              </p:ext>
            </p:extLst>
          </p:nvPr>
        </p:nvGraphicFramePr>
        <p:xfrm>
          <a:off x="628650" y="2133238"/>
          <a:ext cx="7886700" cy="2316480"/>
        </p:xfrm>
        <a:graphic>
          <a:graphicData uri="http://schemas.openxmlformats.org/drawingml/2006/table">
            <a:tbl>
              <a:tblPr>
                <a:tableStyleId>{0505E3EF-67EA-436B-97B2-0124C06EBD24}</a:tableStyleId>
              </a:tblPr>
              <a:tblGrid>
                <a:gridCol w="2628900">
                  <a:extLst>
                    <a:ext uri="{9D8B030D-6E8A-4147-A177-3AD203B41FA5}">
                      <a16:colId xmlns:a16="http://schemas.microsoft.com/office/drawing/2014/main" val="1680705660"/>
                    </a:ext>
                  </a:extLst>
                </a:gridCol>
                <a:gridCol w="2628900">
                  <a:extLst>
                    <a:ext uri="{9D8B030D-6E8A-4147-A177-3AD203B41FA5}">
                      <a16:colId xmlns:a16="http://schemas.microsoft.com/office/drawing/2014/main" val="1629620750"/>
                    </a:ext>
                  </a:extLst>
                </a:gridCol>
                <a:gridCol w="2628900">
                  <a:extLst>
                    <a:ext uri="{9D8B030D-6E8A-4147-A177-3AD203B41FA5}">
                      <a16:colId xmlns:a16="http://schemas.microsoft.com/office/drawing/2014/main" val="1119311964"/>
                    </a:ext>
                  </a:extLst>
                </a:gridCol>
              </a:tblGrid>
              <a:tr h="0">
                <a:tc>
                  <a:txBody>
                    <a:bodyPr/>
                    <a:lstStyle/>
                    <a:p>
                      <a:pPr algn="ctr"/>
                      <a:r>
                        <a:rPr lang="es-PE" sz="1600" b="1">
                          <a:latin typeface="Calibri" panose="020F0502020204030204" pitchFamily="34" charset="0"/>
                          <a:cs typeface="Calibri" panose="020F0502020204030204" pitchFamily="34" charset="0"/>
                        </a:rPr>
                        <a:t>Tipo de distribución</a:t>
                      </a:r>
                    </a:p>
                  </a:txBody>
                  <a:tcPr anchor="ctr"/>
                </a:tc>
                <a:tc>
                  <a:txBody>
                    <a:bodyPr/>
                    <a:lstStyle/>
                    <a:p>
                      <a:pPr algn="ctr"/>
                      <a:r>
                        <a:rPr lang="es-PE" sz="1600" b="1">
                          <a:latin typeface="Calibri" panose="020F0502020204030204" pitchFamily="34" charset="0"/>
                          <a:cs typeface="Calibri" panose="020F0502020204030204" pitchFamily="34" charset="0"/>
                        </a:rPr>
                        <a:t>Descripción</a:t>
                      </a:r>
                    </a:p>
                  </a:txBody>
                  <a:tcPr anchor="ctr"/>
                </a:tc>
                <a:tc>
                  <a:txBody>
                    <a:bodyPr/>
                    <a:lstStyle/>
                    <a:p>
                      <a:pPr algn="ctr"/>
                      <a:r>
                        <a:rPr lang="es-PE" sz="1600" b="1" dirty="0">
                          <a:latin typeface="Calibri" panose="020F0502020204030204" pitchFamily="34" charset="0"/>
                          <a:cs typeface="Calibri" panose="020F0502020204030204" pitchFamily="34" charset="0"/>
                        </a:rPr>
                        <a:t>Interpretación práctica</a:t>
                      </a:r>
                    </a:p>
                  </a:txBody>
                  <a:tcPr anchor="ctr"/>
                </a:tc>
                <a:extLst>
                  <a:ext uri="{0D108BD9-81ED-4DB2-BD59-A6C34878D82A}">
                    <a16:rowId xmlns:a16="http://schemas.microsoft.com/office/drawing/2014/main" val="3909857711"/>
                  </a:ext>
                </a:extLst>
              </a:tr>
              <a:tr h="0">
                <a:tc>
                  <a:txBody>
                    <a:bodyPr/>
                    <a:lstStyle/>
                    <a:p>
                      <a:pPr algn="l"/>
                      <a:r>
                        <a:rPr lang="es-PE" sz="1600" b="1" dirty="0">
                          <a:latin typeface="Calibri" panose="020F0502020204030204" pitchFamily="34" charset="0"/>
                          <a:cs typeface="Calibri" panose="020F0502020204030204" pitchFamily="34" charset="0"/>
                        </a:rPr>
                        <a:t>Mesocúrtica</a:t>
                      </a:r>
                    </a:p>
                  </a:txBody>
                  <a:tcPr anchor="ctr"/>
                </a:tc>
                <a:tc>
                  <a:txBody>
                    <a:bodyPr/>
                    <a:lstStyle/>
                    <a:p>
                      <a:pPr algn="l"/>
                      <a:r>
                        <a:rPr lang="es-PE" sz="1600" dirty="0">
                          <a:latin typeface="Calibri" panose="020F0502020204030204" pitchFamily="34" charset="0"/>
                          <a:cs typeface="Calibri" panose="020F0502020204030204" pitchFamily="34" charset="0"/>
                        </a:rPr>
                        <a:t>Distribución normal (campana estándar).</a:t>
                      </a:r>
                    </a:p>
                  </a:txBody>
                  <a:tcPr anchor="ctr"/>
                </a:tc>
                <a:tc>
                  <a:txBody>
                    <a:bodyPr/>
                    <a:lstStyle/>
                    <a:p>
                      <a:pPr algn="l"/>
                      <a:r>
                        <a:rPr lang="es-ES" sz="1600" dirty="0">
                          <a:latin typeface="Calibri" panose="020F0502020204030204" pitchFamily="34" charset="0"/>
                          <a:cs typeface="Calibri" panose="020F0502020204030204" pitchFamily="34" charset="0"/>
                        </a:rPr>
                        <a:t>Los datos tienen variabilidad media.</a:t>
                      </a:r>
                    </a:p>
                  </a:txBody>
                  <a:tcPr anchor="ctr"/>
                </a:tc>
                <a:extLst>
                  <a:ext uri="{0D108BD9-81ED-4DB2-BD59-A6C34878D82A}">
                    <a16:rowId xmlns:a16="http://schemas.microsoft.com/office/drawing/2014/main" val="540714878"/>
                  </a:ext>
                </a:extLst>
              </a:tr>
              <a:tr h="0">
                <a:tc>
                  <a:txBody>
                    <a:bodyPr/>
                    <a:lstStyle/>
                    <a:p>
                      <a:pPr algn="l"/>
                      <a:r>
                        <a:rPr lang="es-PE" sz="1600" b="1" dirty="0">
                          <a:latin typeface="Calibri" panose="020F0502020204030204" pitchFamily="34" charset="0"/>
                          <a:cs typeface="Calibri" panose="020F0502020204030204" pitchFamily="34" charset="0"/>
                        </a:rPr>
                        <a:t>Leptocúrtica</a:t>
                      </a:r>
                    </a:p>
                  </a:txBody>
                  <a:tcPr anchor="ctr"/>
                </a:tc>
                <a:tc>
                  <a:txBody>
                    <a:bodyPr/>
                    <a:lstStyle/>
                    <a:p>
                      <a:pPr algn="l"/>
                      <a:r>
                        <a:rPr lang="es-ES" sz="1600" dirty="0">
                          <a:latin typeface="Calibri" panose="020F0502020204030204" pitchFamily="34" charset="0"/>
                          <a:cs typeface="Calibri" panose="020F0502020204030204" pitchFamily="34" charset="0"/>
                        </a:rPr>
                        <a:t>Pico muy alto y angosto.</a:t>
                      </a:r>
                    </a:p>
                  </a:txBody>
                  <a:tcPr anchor="ctr"/>
                </a:tc>
                <a:tc>
                  <a:txBody>
                    <a:bodyPr/>
                    <a:lstStyle/>
                    <a:p>
                      <a:pPr algn="l"/>
                      <a:r>
                        <a:rPr lang="es-ES" sz="1600" dirty="0">
                          <a:latin typeface="Calibri" panose="020F0502020204030204" pitchFamily="34" charset="0"/>
                          <a:cs typeface="Calibri" panose="020F0502020204030204" pitchFamily="34" charset="0"/>
                        </a:rPr>
                        <a:t>Los datos están muy concentrados alrededor de la media. Baja variabilidad.</a:t>
                      </a:r>
                    </a:p>
                  </a:txBody>
                  <a:tcPr anchor="ctr"/>
                </a:tc>
                <a:extLst>
                  <a:ext uri="{0D108BD9-81ED-4DB2-BD59-A6C34878D82A}">
                    <a16:rowId xmlns:a16="http://schemas.microsoft.com/office/drawing/2014/main" val="3083781241"/>
                  </a:ext>
                </a:extLst>
              </a:tr>
              <a:tr h="0">
                <a:tc>
                  <a:txBody>
                    <a:bodyPr/>
                    <a:lstStyle/>
                    <a:p>
                      <a:pPr algn="l"/>
                      <a:r>
                        <a:rPr lang="es-PE" sz="1600" b="1" dirty="0">
                          <a:latin typeface="Calibri" panose="020F0502020204030204" pitchFamily="34" charset="0"/>
                          <a:cs typeface="Calibri" panose="020F0502020204030204" pitchFamily="34" charset="0"/>
                        </a:rPr>
                        <a:t>Platicúrtica</a:t>
                      </a:r>
                    </a:p>
                  </a:txBody>
                  <a:tcPr anchor="ctr"/>
                </a:tc>
                <a:tc>
                  <a:txBody>
                    <a:bodyPr/>
                    <a:lstStyle/>
                    <a:p>
                      <a:pPr algn="l"/>
                      <a:r>
                        <a:rPr lang="es-PE" sz="1600" dirty="0">
                          <a:latin typeface="Calibri" panose="020F0502020204030204" pitchFamily="34" charset="0"/>
                          <a:cs typeface="Calibri" panose="020F0502020204030204" pitchFamily="34" charset="0"/>
                        </a:rPr>
                        <a:t>Pico bajo y ancho.</a:t>
                      </a:r>
                    </a:p>
                  </a:txBody>
                  <a:tcPr anchor="ctr"/>
                </a:tc>
                <a:tc>
                  <a:txBody>
                    <a:bodyPr/>
                    <a:lstStyle/>
                    <a:p>
                      <a:pPr algn="l"/>
                      <a:r>
                        <a:rPr lang="es-ES" sz="1600" dirty="0">
                          <a:latin typeface="Calibri" panose="020F0502020204030204" pitchFamily="34" charset="0"/>
                          <a:cs typeface="Calibri" panose="020F0502020204030204" pitchFamily="34" charset="0"/>
                        </a:rPr>
                        <a:t>Los datos están más dispersos. Alta variabilidad.</a:t>
                      </a:r>
                    </a:p>
                  </a:txBody>
                  <a:tcPr anchor="ctr"/>
                </a:tc>
                <a:extLst>
                  <a:ext uri="{0D108BD9-81ED-4DB2-BD59-A6C34878D82A}">
                    <a16:rowId xmlns:a16="http://schemas.microsoft.com/office/drawing/2014/main" val="3655140519"/>
                  </a:ext>
                </a:extLst>
              </a:tr>
            </a:tbl>
          </a:graphicData>
        </a:graphic>
      </p:graphicFrame>
      <p:sp>
        <p:nvSpPr>
          <p:cNvPr id="5" name="Rectangle 5">
            <a:extLst>
              <a:ext uri="{FF2B5EF4-FFF2-40B4-BE49-F238E27FC236}">
                <a16:creationId xmlns:a16="http://schemas.microsoft.com/office/drawing/2014/main" id="{963B7CBD-3CAF-4390-A29B-7ED457377BA9}"/>
              </a:ext>
            </a:extLst>
          </p:cNvPr>
          <p:cNvSpPr/>
          <p:nvPr/>
        </p:nvSpPr>
        <p:spPr>
          <a:xfrm>
            <a:off x="503238" y="380615"/>
            <a:ext cx="3311678"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charset="0"/>
                <a:ea typeface="Calibri" charset="0"/>
                <a:cs typeface="Calibri" charset="0"/>
              </a:rPr>
              <a:t>DISTRIBUCIÓN DE DATOS: NORMAL, SESGADA, KURTOSIS</a:t>
            </a:r>
          </a:p>
        </p:txBody>
      </p:sp>
    </p:spTree>
    <p:extLst>
      <p:ext uri="{BB962C8B-B14F-4D97-AF65-F5344CB8AC3E}">
        <p14:creationId xmlns:p14="http://schemas.microsoft.com/office/powerpoint/2010/main" val="533784398"/>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7"/>
          <p:cNvSpPr txBox="1"/>
          <p:nvPr/>
        </p:nvSpPr>
        <p:spPr>
          <a:xfrm>
            <a:off x="506796" y="918372"/>
            <a:ext cx="3860578" cy="4247317"/>
          </a:xfrm>
          <a:prstGeom prst="rect">
            <a:avLst/>
          </a:prstGeom>
        </p:spPr>
        <p:txBody>
          <a:bodyPr vert="horz" wrap="square" lIns="0" tIns="0" rIns="0" bIns="0" rtlCol="0">
            <a:spAutoFit/>
          </a:bodyPr>
          <a:lstStyle/>
          <a:p>
            <a:pPr marL="11725" algn="just">
              <a:spcAft>
                <a:spcPts val="600"/>
              </a:spcAft>
              <a:buSzPct val="100000"/>
              <a:tabLst>
                <a:tab pos="121285" algn="l"/>
              </a:tabLst>
              <a:defRPr/>
            </a:pPr>
            <a:r>
              <a:rPr lang="es-ES" sz="1600" b="1" spc="-10" dirty="0">
                <a:solidFill>
                  <a:srgbClr val="7150A0"/>
                </a:solidFill>
                <a:latin typeface="Calibri" charset="0"/>
                <a:ea typeface="Calibri" charset="0"/>
                <a:cs typeface="Calibri" charset="0"/>
              </a:rPr>
              <a:t>Ejemplos:</a:t>
            </a:r>
          </a:p>
          <a:p>
            <a:pPr marL="297475" indent="-285750">
              <a:spcAft>
                <a:spcPts val="600"/>
              </a:spcAft>
              <a:buSzPct val="100000"/>
              <a:buFont typeface="Arial" panose="020B0604020202020204" pitchFamily="34" charset="0"/>
              <a:buChar char="•"/>
              <a:tabLst>
                <a:tab pos="121285" algn="l"/>
              </a:tabLst>
              <a:defRPr/>
            </a:pPr>
            <a:r>
              <a:rPr lang="es-ES" sz="1600" spc="-10" dirty="0">
                <a:solidFill>
                  <a:srgbClr val="262626"/>
                </a:solidFill>
                <a:latin typeface="Calibri" charset="0"/>
                <a:ea typeface="Calibri" charset="0"/>
                <a:cs typeface="Calibri" charset="0"/>
              </a:rPr>
              <a:t>En calidad industrial, una </a:t>
            </a:r>
            <a:r>
              <a:rPr lang="es-ES" sz="1600" b="1" spc="-10" dirty="0">
                <a:solidFill>
                  <a:srgbClr val="7150A0"/>
                </a:solidFill>
                <a:latin typeface="Calibri" charset="0"/>
                <a:ea typeface="Calibri" charset="0"/>
                <a:cs typeface="Calibri" charset="0"/>
              </a:rPr>
              <a:t>distribución leptocúrtica</a:t>
            </a:r>
            <a:r>
              <a:rPr lang="es-ES" sz="1600" spc="-10" dirty="0">
                <a:solidFill>
                  <a:srgbClr val="262626"/>
                </a:solidFill>
                <a:latin typeface="Calibri" charset="0"/>
                <a:ea typeface="Calibri" charset="0"/>
                <a:cs typeface="Calibri" charset="0"/>
              </a:rPr>
              <a:t> indica que la mayoría de productos cumple las especificaciones (baja variación).</a:t>
            </a:r>
          </a:p>
          <a:p>
            <a:pPr marL="297475" indent="-285750">
              <a:spcAft>
                <a:spcPts val="600"/>
              </a:spcAft>
              <a:buSzPct val="100000"/>
              <a:buFont typeface="Arial" panose="020B0604020202020204" pitchFamily="34" charset="0"/>
              <a:buChar char="•"/>
              <a:tabLst>
                <a:tab pos="121285" algn="l"/>
              </a:tabLst>
              <a:defRPr/>
            </a:pPr>
            <a:r>
              <a:rPr lang="es-ES" sz="1600" spc="-10" dirty="0">
                <a:solidFill>
                  <a:srgbClr val="262626"/>
                </a:solidFill>
                <a:latin typeface="Calibri" charset="0"/>
                <a:ea typeface="Calibri" charset="0"/>
                <a:cs typeface="Calibri" charset="0"/>
              </a:rPr>
              <a:t>En educación, una </a:t>
            </a:r>
            <a:r>
              <a:rPr lang="es-ES" sz="1600" b="1" spc="-10" dirty="0">
                <a:solidFill>
                  <a:srgbClr val="7150A0"/>
                </a:solidFill>
                <a:latin typeface="Calibri" charset="0"/>
                <a:ea typeface="Calibri" charset="0"/>
                <a:cs typeface="Calibri" charset="0"/>
              </a:rPr>
              <a:t>distribución platicúrtica </a:t>
            </a:r>
            <a:r>
              <a:rPr lang="es-ES" sz="1600" spc="-10" dirty="0">
                <a:solidFill>
                  <a:srgbClr val="262626"/>
                </a:solidFill>
                <a:latin typeface="Calibri" charset="0"/>
                <a:ea typeface="Calibri" charset="0"/>
                <a:cs typeface="Calibri" charset="0"/>
              </a:rPr>
              <a:t>en notas muestra diferencias grandes entre estudiantes.</a:t>
            </a:r>
          </a:p>
          <a:p>
            <a:pPr marL="297475" indent="-285750">
              <a:spcAft>
                <a:spcPts val="600"/>
              </a:spcAft>
              <a:buSzPct val="100000"/>
              <a:buFont typeface="Arial" panose="020B0604020202020204" pitchFamily="34" charset="0"/>
              <a:buChar char="•"/>
              <a:tabLst>
                <a:tab pos="121285" algn="l"/>
              </a:tabLst>
              <a:defRPr/>
            </a:pPr>
            <a:r>
              <a:rPr lang="es-ES" sz="1600" spc="-10" dirty="0">
                <a:solidFill>
                  <a:srgbClr val="262626"/>
                </a:solidFill>
                <a:latin typeface="Calibri" charset="0"/>
                <a:ea typeface="Calibri" charset="0"/>
                <a:cs typeface="Calibri" charset="0"/>
              </a:rPr>
              <a:t>En análisis financiero, una </a:t>
            </a:r>
            <a:r>
              <a:rPr lang="es-ES" sz="1600" b="1" spc="-10" dirty="0">
                <a:solidFill>
                  <a:srgbClr val="7150A0"/>
                </a:solidFill>
                <a:latin typeface="Calibri" charset="0"/>
                <a:ea typeface="Calibri" charset="0"/>
                <a:cs typeface="Calibri" charset="0"/>
              </a:rPr>
              <a:t>leptocúrtica </a:t>
            </a:r>
            <a:r>
              <a:rPr lang="es-ES" sz="1600" spc="-10" dirty="0">
                <a:solidFill>
                  <a:srgbClr val="262626"/>
                </a:solidFill>
                <a:latin typeface="Calibri" charset="0"/>
                <a:ea typeface="Calibri" charset="0"/>
                <a:cs typeface="Calibri" charset="0"/>
              </a:rPr>
              <a:t>puede indicar un mercado estable; una platicúrtica, alta volatilidad</a:t>
            </a:r>
          </a:p>
          <a:p>
            <a:pPr marL="297475" indent="-285750">
              <a:spcAft>
                <a:spcPts val="600"/>
              </a:spcAft>
              <a:buSzPct val="100000"/>
              <a:buFont typeface="Arial" panose="020B0604020202020204" pitchFamily="34" charset="0"/>
              <a:buChar char="•"/>
              <a:tabLst>
                <a:tab pos="121285" algn="l"/>
              </a:tabLst>
              <a:defRPr/>
            </a:pPr>
            <a:r>
              <a:rPr lang="es-ES" sz="1600" spc="-10" dirty="0">
                <a:latin typeface="Calibri" charset="0"/>
                <a:ea typeface="Calibri" charset="0"/>
                <a:cs typeface="Calibri" charset="0"/>
              </a:rPr>
              <a:t>Si en una prueba estandarizada los puntajes de los alumnos presentan una </a:t>
            </a:r>
            <a:r>
              <a:rPr lang="es-ES" sz="1600" b="1" spc="-10" dirty="0">
                <a:solidFill>
                  <a:srgbClr val="7150A0"/>
                </a:solidFill>
                <a:latin typeface="Calibri" charset="0"/>
                <a:ea typeface="Calibri" charset="0"/>
                <a:cs typeface="Calibri" charset="0"/>
              </a:rPr>
              <a:t>distribución leptocúrtica</a:t>
            </a:r>
            <a:r>
              <a:rPr lang="es-ES" sz="1600" spc="-10" dirty="0">
                <a:latin typeface="Calibri" charset="0"/>
                <a:ea typeface="Calibri" charset="0"/>
                <a:cs typeface="Calibri" charset="0"/>
              </a:rPr>
              <a:t>, indica que existe baja dispersión y posible homogeneidad en el aprendizaje.</a:t>
            </a:r>
            <a:endParaRPr lang="es-PE" sz="1600" spc="-10" dirty="0">
              <a:latin typeface="Calibri" charset="0"/>
              <a:ea typeface="Calibri" charset="0"/>
              <a:cs typeface="Calibri" charset="0"/>
            </a:endParaRPr>
          </a:p>
        </p:txBody>
      </p:sp>
      <p:pic>
        <p:nvPicPr>
          <p:cNvPr id="5" name="Imagen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76627" y="853095"/>
            <a:ext cx="3950550" cy="1928907"/>
          </a:xfrm>
          <a:prstGeom prst="rect">
            <a:avLst/>
          </a:prstGeom>
          <a:ln w="6350">
            <a:solidFill>
              <a:schemeClr val="tx1"/>
            </a:solidFill>
          </a:ln>
        </p:spPr>
      </p:pic>
      <p:pic>
        <p:nvPicPr>
          <p:cNvPr id="7" name="Imagen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76627" y="3088534"/>
            <a:ext cx="3974795" cy="2054812"/>
          </a:xfrm>
          <a:prstGeom prst="rect">
            <a:avLst/>
          </a:prstGeom>
          <a:ln w="6350">
            <a:solidFill>
              <a:schemeClr val="tx1"/>
            </a:solidFill>
          </a:ln>
        </p:spPr>
      </p:pic>
      <p:sp>
        <p:nvSpPr>
          <p:cNvPr id="6" name="Rectangle 5">
            <a:extLst>
              <a:ext uri="{FF2B5EF4-FFF2-40B4-BE49-F238E27FC236}">
                <a16:creationId xmlns:a16="http://schemas.microsoft.com/office/drawing/2014/main" id="{AFEB9C52-3D1E-4151-A808-45F6A182EC63}"/>
              </a:ext>
            </a:extLst>
          </p:cNvPr>
          <p:cNvSpPr/>
          <p:nvPr/>
        </p:nvSpPr>
        <p:spPr>
          <a:xfrm>
            <a:off x="503238" y="380615"/>
            <a:ext cx="3311678"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charset="0"/>
                <a:ea typeface="Calibri" charset="0"/>
                <a:cs typeface="Calibri" charset="0"/>
              </a:rPr>
              <a:t>DISTRIBUCIÓN DE DATOS: NORMAL, SESGADA, KURTOSIS</a:t>
            </a:r>
          </a:p>
        </p:txBody>
      </p:sp>
    </p:spTree>
    <p:extLst>
      <p:ext uri="{BB962C8B-B14F-4D97-AF65-F5344CB8AC3E}">
        <p14:creationId xmlns:p14="http://schemas.microsoft.com/office/powerpoint/2010/main" val="2484704786"/>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0" y="0"/>
            <a:ext cx="9144000" cy="5715000"/>
          </a:xfrm>
          <a:prstGeom prst="rect">
            <a:avLst/>
          </a:prstGeom>
          <a:solidFill>
            <a:srgbClr val="654E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grpSp>
        <p:nvGrpSpPr>
          <p:cNvPr id="4" name="Grupo 3">
            <a:extLst>
              <a:ext uri="{FF2B5EF4-FFF2-40B4-BE49-F238E27FC236}">
                <a16:creationId xmlns:a16="http://schemas.microsoft.com/office/drawing/2014/main" id="{8A495D6D-73E7-D64C-AD5A-8212D6B1E2F3}"/>
              </a:ext>
            </a:extLst>
          </p:cNvPr>
          <p:cNvGrpSpPr/>
          <p:nvPr/>
        </p:nvGrpSpPr>
        <p:grpSpPr>
          <a:xfrm>
            <a:off x="2506315" y="2194222"/>
            <a:ext cx="4581728" cy="1326557"/>
            <a:chOff x="2403187" y="2211377"/>
            <a:chExt cx="4581728" cy="1326557"/>
          </a:xfrm>
        </p:grpSpPr>
        <p:sp>
          <p:nvSpPr>
            <p:cNvPr id="6" name="CuadroTexto 5">
              <a:extLst>
                <a:ext uri="{FF2B5EF4-FFF2-40B4-BE49-F238E27FC236}">
                  <a16:creationId xmlns:a16="http://schemas.microsoft.com/office/drawing/2014/main" id="{682CC9F8-A9FF-BF41-B987-57AFB7D160FE}"/>
                </a:ext>
              </a:extLst>
            </p:cNvPr>
            <p:cNvSpPr txBox="1"/>
            <p:nvPr/>
          </p:nvSpPr>
          <p:spPr>
            <a:xfrm>
              <a:off x="2403187" y="2540738"/>
              <a:ext cx="4581728" cy="997196"/>
            </a:xfrm>
            <a:prstGeom prst="rect">
              <a:avLst/>
            </a:prstGeom>
            <a:noFill/>
          </p:spPr>
          <p:txBody>
            <a:bodyPr wrap="square" lIns="0" tIns="0" rIns="0" bIns="0" rtlCol="0">
              <a:spAutoFit/>
            </a:bodyPr>
            <a:lstStyle/>
            <a:p>
              <a:pPr>
                <a:lnSpc>
                  <a:spcPct val="90000"/>
                </a:lnSpc>
              </a:pPr>
              <a:r>
                <a:rPr lang="es-ES_tradnl" sz="3600" b="1" dirty="0">
                  <a:solidFill>
                    <a:schemeClr val="bg1"/>
                  </a:solidFill>
                  <a:latin typeface="Graphik Bold" charset="0"/>
                </a:rPr>
                <a:t>CONCLUSIONES</a:t>
              </a:r>
              <a:br>
                <a:rPr lang="es-ES_tradnl" sz="3600" dirty="0">
                  <a:solidFill>
                    <a:schemeClr val="bg1"/>
                  </a:solidFill>
                  <a:latin typeface="Graphik Regular" charset="0"/>
                  <a:ea typeface="Graphik Regular" charset="0"/>
                  <a:cs typeface="Graphik Regular" charset="0"/>
                </a:rPr>
              </a:br>
              <a:endParaRPr lang="es-ES_tradnl" sz="3600" b="1" dirty="0">
                <a:solidFill>
                  <a:schemeClr val="bg1"/>
                </a:solidFill>
                <a:latin typeface="Graphik Bold" charset="0"/>
                <a:ea typeface="Graphik Bold" charset="0"/>
                <a:cs typeface="Graphik Bold" charset="0"/>
              </a:endParaRPr>
            </a:p>
          </p:txBody>
        </p:sp>
        <p:pic>
          <p:nvPicPr>
            <p:cNvPr id="8" name="Imagen 7">
              <a:extLst>
                <a:ext uri="{FF2B5EF4-FFF2-40B4-BE49-F238E27FC236}">
                  <a16:creationId xmlns:a16="http://schemas.microsoft.com/office/drawing/2014/main" id="{2CD7628C-6304-5D4B-BA7D-591238143DE2}"/>
                </a:ext>
              </a:extLst>
            </p:cNvPr>
            <p:cNvPicPr>
              <a:picLocks noChangeAspect="1"/>
            </p:cNvPicPr>
            <p:nvPr/>
          </p:nvPicPr>
          <p:blipFill>
            <a:blip r:embed="rId2"/>
            <a:stretch>
              <a:fillRect/>
            </a:stretch>
          </p:blipFill>
          <p:spPr>
            <a:xfrm>
              <a:off x="2425491" y="2211377"/>
              <a:ext cx="202176" cy="208211"/>
            </a:xfrm>
            <a:prstGeom prst="rect">
              <a:avLst/>
            </a:prstGeom>
          </p:spPr>
        </p:pic>
      </p:grpSp>
      <p:pic>
        <p:nvPicPr>
          <p:cNvPr id="10" name="Imagen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253" y="946969"/>
            <a:ext cx="2072214" cy="3898064"/>
          </a:xfrm>
          <a:prstGeom prst="rect">
            <a:avLst/>
          </a:prstGeom>
        </p:spPr>
      </p:pic>
    </p:spTree>
    <p:extLst>
      <p:ext uri="{BB962C8B-B14F-4D97-AF65-F5344CB8AC3E}">
        <p14:creationId xmlns:p14="http://schemas.microsoft.com/office/powerpoint/2010/main" val="3182065698"/>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ángulo 2"/>
          <p:cNvSpPr/>
          <p:nvPr/>
        </p:nvSpPr>
        <p:spPr>
          <a:xfrm>
            <a:off x="301556" y="5321030"/>
            <a:ext cx="8453337" cy="29183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sp>
        <p:nvSpPr>
          <p:cNvPr id="4" name="object 7"/>
          <p:cNvSpPr txBox="1"/>
          <p:nvPr/>
        </p:nvSpPr>
        <p:spPr>
          <a:xfrm>
            <a:off x="1279545" y="912813"/>
            <a:ext cx="5705454" cy="2154436"/>
          </a:xfrm>
          <a:prstGeom prst="rect">
            <a:avLst/>
          </a:prstGeom>
        </p:spPr>
        <p:txBody>
          <a:bodyPr vert="horz" wrap="square" lIns="0" tIns="0" rIns="0" bIns="0" rtlCol="0">
            <a:spAutoFit/>
          </a:bodyPr>
          <a:lstStyle/>
          <a:p>
            <a:r>
              <a:rPr lang="es-ES" sz="1400" dirty="0">
                <a:latin typeface="Calibri" charset="0"/>
                <a:ea typeface="Calibri" charset="0"/>
                <a:cs typeface="Calibri" charset="0"/>
              </a:rPr>
              <a:t>La estadística descriptiva constituye una herramienta esencial para sintetizar grandes volúmenes de información, permitiendo identificar patrones, comportamientos y variaciones en los datos. A través de sus medidas y gráficos, los analistas pueden obtener una comprensión clara del fenómeno estudiado.</a:t>
            </a:r>
          </a:p>
          <a:p>
            <a:endParaRPr lang="es-ES" sz="1400" dirty="0">
              <a:latin typeface="Calibri" charset="0"/>
              <a:ea typeface="Calibri" charset="0"/>
              <a:cs typeface="Calibri" charset="0"/>
            </a:endParaRPr>
          </a:p>
          <a:p>
            <a:r>
              <a:rPr lang="es-ES" sz="1400" dirty="0">
                <a:latin typeface="Calibri" charset="0"/>
                <a:ea typeface="Calibri" charset="0"/>
                <a:cs typeface="Calibri" charset="0"/>
              </a:rPr>
              <a:t>En contextos empresariales, su aplicación facilita la toma de decisiones basadas en evidencia. Comprender las medidas de tendencia, dispersión y la forma de distribución de los datos es indispensable para interpretar resultados y desarrollar estrategias fundamentadas en información cuantitativa confiable.</a:t>
            </a:r>
            <a:endParaRPr lang="es-PE" sz="1400" dirty="0">
              <a:latin typeface="Calibri" charset="0"/>
              <a:ea typeface="Calibri" charset="0"/>
              <a:cs typeface="Calibri" charset="0"/>
            </a:endParaRPr>
          </a:p>
        </p:txBody>
      </p:sp>
      <p:pic>
        <p:nvPicPr>
          <p:cNvPr id="8" name="Imagen 7"/>
          <p:cNvPicPr>
            <a:picLocks noChangeAspect="1"/>
          </p:cNvPicPr>
          <p:nvPr/>
        </p:nvPicPr>
        <p:blipFill>
          <a:blip r:embed="rId3"/>
          <a:stretch>
            <a:fillRect/>
          </a:stretch>
        </p:blipFill>
        <p:spPr>
          <a:xfrm>
            <a:off x="1011260" y="954885"/>
            <a:ext cx="114138" cy="117546"/>
          </a:xfrm>
          <a:prstGeom prst="rect">
            <a:avLst/>
          </a:prstGeom>
        </p:spPr>
      </p:pic>
      <p:pic>
        <p:nvPicPr>
          <p:cNvPr id="15" name="Imagen 14"/>
          <p:cNvPicPr>
            <a:picLocks noChangeAspect="1"/>
          </p:cNvPicPr>
          <p:nvPr/>
        </p:nvPicPr>
        <p:blipFill>
          <a:blip r:embed="rId3"/>
          <a:stretch>
            <a:fillRect/>
          </a:stretch>
        </p:blipFill>
        <p:spPr>
          <a:xfrm>
            <a:off x="1011260" y="2239910"/>
            <a:ext cx="114138" cy="117546"/>
          </a:xfrm>
          <a:prstGeom prst="rect">
            <a:avLst/>
          </a:prstGeom>
        </p:spPr>
      </p:pic>
      <p:sp>
        <p:nvSpPr>
          <p:cNvPr id="16" name="Rectángulo 15"/>
          <p:cNvSpPr/>
          <p:nvPr/>
        </p:nvSpPr>
        <p:spPr>
          <a:xfrm>
            <a:off x="8133347" y="163629"/>
            <a:ext cx="808522" cy="7547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pic>
        <p:nvPicPr>
          <p:cNvPr id="2" name="Imagen 1"/>
          <p:cNvPicPr>
            <a:picLocks noChangeAspect="1"/>
          </p:cNvPicPr>
          <p:nvPr/>
        </p:nvPicPr>
        <p:blipFill>
          <a:blip r:embed="rId4" cstate="print">
            <a:alphaModFix amt="42000"/>
            <a:extLst>
              <a:ext uri="{28A0092B-C50C-407E-A947-70E740481C1C}">
                <a14:useLocalDpi xmlns:a14="http://schemas.microsoft.com/office/drawing/2010/main" val="0"/>
              </a:ext>
            </a:extLst>
          </a:blip>
          <a:stretch>
            <a:fillRect/>
          </a:stretch>
        </p:blipFill>
        <p:spPr>
          <a:xfrm>
            <a:off x="6984999" y="3048772"/>
            <a:ext cx="1690689" cy="2185216"/>
          </a:xfrm>
          <a:prstGeom prst="rect">
            <a:avLst/>
          </a:prstGeom>
        </p:spPr>
      </p:pic>
      <p:sp>
        <p:nvSpPr>
          <p:cNvPr id="9" name="Rectangle 5"/>
          <p:cNvSpPr/>
          <p:nvPr/>
        </p:nvSpPr>
        <p:spPr>
          <a:xfrm>
            <a:off x="503238" y="376836"/>
            <a:ext cx="2430462"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charset="0"/>
                <a:ea typeface="Calibri" charset="0"/>
                <a:cs typeface="Calibri" charset="0"/>
              </a:rPr>
              <a:t>CONCLUSIONES </a:t>
            </a:r>
          </a:p>
        </p:txBody>
      </p:sp>
    </p:spTree>
    <p:extLst>
      <p:ext uri="{BB962C8B-B14F-4D97-AF65-F5344CB8AC3E}">
        <p14:creationId xmlns:p14="http://schemas.microsoft.com/office/powerpoint/2010/main" val="2034184348"/>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ángulo 2"/>
          <p:cNvSpPr/>
          <p:nvPr/>
        </p:nvSpPr>
        <p:spPr>
          <a:xfrm>
            <a:off x="0" y="0"/>
            <a:ext cx="9144000" cy="5715000"/>
          </a:xfrm>
          <a:prstGeom prst="rect">
            <a:avLst/>
          </a:prstGeom>
          <a:solidFill>
            <a:srgbClr val="8DCB6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sp>
        <p:nvSpPr>
          <p:cNvPr id="7" name="CuadroTexto 6">
            <a:extLst>
              <a:ext uri="{FF2B5EF4-FFF2-40B4-BE49-F238E27FC236}">
                <a16:creationId xmlns:a16="http://schemas.microsoft.com/office/drawing/2014/main" id="{4C9F27E8-E0F0-CF48-B2E7-A2617B9B1DEA}"/>
              </a:ext>
            </a:extLst>
          </p:cNvPr>
          <p:cNvSpPr txBox="1"/>
          <p:nvPr/>
        </p:nvSpPr>
        <p:spPr>
          <a:xfrm>
            <a:off x="2519363" y="2540738"/>
            <a:ext cx="4581728" cy="997196"/>
          </a:xfrm>
          <a:prstGeom prst="rect">
            <a:avLst/>
          </a:prstGeom>
          <a:noFill/>
        </p:spPr>
        <p:txBody>
          <a:bodyPr wrap="square" lIns="0" tIns="0" rIns="0" bIns="0" rtlCol="0">
            <a:spAutoFit/>
          </a:bodyPr>
          <a:lstStyle/>
          <a:p>
            <a:pPr>
              <a:lnSpc>
                <a:spcPct val="90000"/>
              </a:lnSpc>
            </a:pPr>
            <a:r>
              <a:rPr lang="es-ES_tradnl" sz="3600" dirty="0">
                <a:solidFill>
                  <a:schemeClr val="bg1"/>
                </a:solidFill>
                <a:latin typeface="Graphik Regular" charset="0"/>
                <a:ea typeface="Graphik Regular" charset="0"/>
                <a:cs typeface="Graphik Regular" charset="0"/>
              </a:rPr>
              <a:t>BIBLIOGRAFÍA</a:t>
            </a:r>
            <a:br>
              <a:rPr lang="es-ES_tradnl" sz="3600" dirty="0">
                <a:solidFill>
                  <a:schemeClr val="bg1"/>
                </a:solidFill>
                <a:latin typeface="Graphik Regular" charset="0"/>
                <a:ea typeface="Graphik Regular" charset="0"/>
                <a:cs typeface="Graphik Regular" charset="0"/>
              </a:rPr>
            </a:br>
            <a:r>
              <a:rPr lang="es-ES_tradnl" sz="3600" b="1" dirty="0">
                <a:solidFill>
                  <a:schemeClr val="bg1"/>
                </a:solidFill>
                <a:latin typeface="Graphik Bold" charset="0"/>
                <a:ea typeface="Graphik Bold" charset="0"/>
                <a:cs typeface="Graphik Bold" charset="0"/>
              </a:rPr>
              <a:t>MÁS REFERENCIAS</a:t>
            </a:r>
          </a:p>
        </p:txBody>
      </p:sp>
      <p:pic>
        <p:nvPicPr>
          <p:cNvPr id="6" name="Imagen 5">
            <a:extLst>
              <a:ext uri="{FF2B5EF4-FFF2-40B4-BE49-F238E27FC236}">
                <a16:creationId xmlns:a16="http://schemas.microsoft.com/office/drawing/2014/main" id="{2CD7628C-6304-5D4B-BA7D-591238143DE2}"/>
              </a:ext>
            </a:extLst>
          </p:cNvPr>
          <p:cNvPicPr>
            <a:picLocks noChangeAspect="1"/>
          </p:cNvPicPr>
          <p:nvPr/>
        </p:nvPicPr>
        <p:blipFill>
          <a:blip r:embed="rId2"/>
          <a:stretch>
            <a:fillRect/>
          </a:stretch>
        </p:blipFill>
        <p:spPr>
          <a:xfrm>
            <a:off x="2528619" y="2194222"/>
            <a:ext cx="202176" cy="208211"/>
          </a:xfrm>
          <a:prstGeom prst="rect">
            <a:avLst/>
          </a:prstGeom>
        </p:spPr>
      </p:pic>
      <p:pic>
        <p:nvPicPr>
          <p:cNvPr id="11" name="Imagen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946970"/>
            <a:ext cx="2072061" cy="3898064"/>
          </a:xfrm>
          <a:prstGeom prst="rect">
            <a:avLst/>
          </a:prstGeom>
        </p:spPr>
      </p:pic>
    </p:spTree>
    <p:extLst>
      <p:ext uri="{BB962C8B-B14F-4D97-AF65-F5344CB8AC3E}">
        <p14:creationId xmlns:p14="http://schemas.microsoft.com/office/powerpoint/2010/main" val="596676596"/>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ángulo 6"/>
          <p:cNvSpPr/>
          <p:nvPr/>
        </p:nvSpPr>
        <p:spPr>
          <a:xfrm>
            <a:off x="301556" y="5321030"/>
            <a:ext cx="8453337" cy="29183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sp>
        <p:nvSpPr>
          <p:cNvPr id="2" name="object 7"/>
          <p:cNvSpPr txBox="1"/>
          <p:nvPr/>
        </p:nvSpPr>
        <p:spPr>
          <a:xfrm>
            <a:off x="1279009" y="917823"/>
            <a:ext cx="4774320" cy="1938992"/>
          </a:xfrm>
          <a:prstGeom prst="rect">
            <a:avLst/>
          </a:prstGeom>
        </p:spPr>
        <p:txBody>
          <a:bodyPr vert="horz" wrap="square" lIns="0" tIns="0" rIns="0" bIns="0" rtlCol="0">
            <a:spAutoFit/>
          </a:bodyPr>
          <a:lstStyle/>
          <a:p>
            <a:pPr lvl="0"/>
            <a:r>
              <a:rPr lang="es-ES" sz="1400" dirty="0">
                <a:latin typeface="Calibri" charset="0"/>
                <a:ea typeface="Calibri" charset="0"/>
                <a:cs typeface="Calibri" charset="0"/>
              </a:rPr>
              <a:t>Mesa Guerrero, J. A., &amp; Caicedo Zambrano, S. J. (2020). </a:t>
            </a:r>
            <a:r>
              <a:rPr lang="es-ES" sz="1400" i="1" dirty="0">
                <a:latin typeface="Calibri" charset="0"/>
                <a:ea typeface="Calibri" charset="0"/>
                <a:cs typeface="Calibri" charset="0"/>
              </a:rPr>
              <a:t>Introducción a la estadística descriptiva</a:t>
            </a:r>
            <a:r>
              <a:rPr lang="es-ES" sz="1400" dirty="0">
                <a:latin typeface="Calibri" charset="0"/>
                <a:ea typeface="Calibri" charset="0"/>
                <a:cs typeface="Calibri" charset="0"/>
              </a:rPr>
              <a:t>. Universidad de Nariño. </a:t>
            </a:r>
          </a:p>
          <a:p>
            <a:pPr lvl="0"/>
            <a:endParaRPr lang="es-ES" sz="1400" dirty="0">
              <a:latin typeface="Calibri" charset="0"/>
              <a:ea typeface="Calibri" charset="0"/>
              <a:cs typeface="Calibri" charset="0"/>
            </a:endParaRPr>
          </a:p>
          <a:p>
            <a:pPr lvl="0"/>
            <a:r>
              <a:rPr lang="es-ES" sz="1400" dirty="0">
                <a:latin typeface="Calibri" charset="0"/>
                <a:ea typeface="Calibri" charset="0"/>
                <a:cs typeface="Calibri" charset="0"/>
              </a:rPr>
              <a:t>Pedroza-Escobar, D., Castillo-Maldonado, I., &amp; Serrano-Gallardo, L. B. (2020). </a:t>
            </a:r>
            <a:r>
              <a:rPr lang="es-ES" sz="1400" i="1" dirty="0">
                <a:latin typeface="Calibri" charset="0"/>
                <a:ea typeface="Calibri" charset="0"/>
                <a:cs typeface="Calibri" charset="0"/>
              </a:rPr>
              <a:t>Estadística Descriptiva: Introducción y Prácticas</a:t>
            </a:r>
            <a:r>
              <a:rPr lang="es-ES" sz="1400" dirty="0">
                <a:latin typeface="Calibri" charset="0"/>
                <a:ea typeface="Calibri" charset="0"/>
                <a:cs typeface="Calibri" charset="0"/>
              </a:rPr>
              <a:t>. Editorial Académica Española. </a:t>
            </a:r>
          </a:p>
          <a:p>
            <a:pPr lvl="0"/>
            <a:endParaRPr lang="es-ES" sz="1400" dirty="0">
              <a:latin typeface="Calibri" charset="0"/>
              <a:ea typeface="Calibri" charset="0"/>
              <a:cs typeface="Calibri" charset="0"/>
            </a:endParaRPr>
          </a:p>
          <a:p>
            <a:pPr lvl="0"/>
            <a:r>
              <a:rPr lang="es-ES" sz="1400" dirty="0">
                <a:latin typeface="Calibri" charset="0"/>
                <a:ea typeface="Calibri" charset="0"/>
                <a:cs typeface="Calibri" charset="0"/>
              </a:rPr>
              <a:t>Larios Ramírez, O. S., &amp; Fiestas Elías, F. J. (2023). </a:t>
            </a:r>
            <a:r>
              <a:rPr lang="es-ES" sz="1400" i="1" dirty="0">
                <a:latin typeface="Calibri" charset="0"/>
                <a:ea typeface="Calibri" charset="0"/>
                <a:cs typeface="Calibri" charset="0"/>
              </a:rPr>
              <a:t>Estadística descriptiva con Excel.</a:t>
            </a:r>
            <a:r>
              <a:rPr lang="es-ES" sz="1400" dirty="0">
                <a:latin typeface="Calibri" charset="0"/>
                <a:ea typeface="Calibri" charset="0"/>
                <a:cs typeface="Calibri" charset="0"/>
              </a:rPr>
              <a:t> Universidad César Vallejo.</a:t>
            </a:r>
            <a:endParaRPr lang="es-PE" sz="1400" dirty="0">
              <a:latin typeface="Calibri" charset="0"/>
              <a:ea typeface="Calibri" charset="0"/>
              <a:cs typeface="Calibri" charset="0"/>
            </a:endParaRPr>
          </a:p>
        </p:txBody>
      </p:sp>
      <p:pic>
        <p:nvPicPr>
          <p:cNvPr id="9" name="Imagen 8"/>
          <p:cNvPicPr>
            <a:picLocks noChangeAspect="1"/>
          </p:cNvPicPr>
          <p:nvPr/>
        </p:nvPicPr>
        <p:blipFill>
          <a:blip r:embed="rId2"/>
          <a:stretch>
            <a:fillRect/>
          </a:stretch>
        </p:blipFill>
        <p:spPr>
          <a:xfrm>
            <a:off x="1008064" y="959114"/>
            <a:ext cx="103867" cy="106967"/>
          </a:xfrm>
          <a:prstGeom prst="rect">
            <a:avLst/>
          </a:prstGeom>
        </p:spPr>
      </p:pic>
      <p:pic>
        <p:nvPicPr>
          <p:cNvPr id="14" name="Imagen 13">
            <a:extLst>
              <a:ext uri="{FF2B5EF4-FFF2-40B4-BE49-F238E27FC236}">
                <a16:creationId xmlns:a16="http://schemas.microsoft.com/office/drawing/2014/main" id="{D0016DFD-D096-A245-9591-9C15FD675265}"/>
              </a:ext>
            </a:extLst>
          </p:cNvPr>
          <p:cNvPicPr>
            <a:picLocks noChangeAspect="1"/>
          </p:cNvPicPr>
          <p:nvPr/>
        </p:nvPicPr>
        <p:blipFill>
          <a:blip r:embed="rId2"/>
          <a:stretch>
            <a:fillRect/>
          </a:stretch>
        </p:blipFill>
        <p:spPr>
          <a:xfrm>
            <a:off x="1008064" y="1620119"/>
            <a:ext cx="103867" cy="106967"/>
          </a:xfrm>
          <a:prstGeom prst="rect">
            <a:avLst/>
          </a:prstGeom>
        </p:spPr>
      </p:pic>
      <p:sp>
        <p:nvSpPr>
          <p:cNvPr id="19" name="Rectángulo 18"/>
          <p:cNvSpPr/>
          <p:nvPr/>
        </p:nvSpPr>
        <p:spPr>
          <a:xfrm>
            <a:off x="8133347" y="163629"/>
            <a:ext cx="808522" cy="7547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pic>
        <p:nvPicPr>
          <p:cNvPr id="3" name="Imagen 2"/>
          <p:cNvPicPr>
            <a:picLocks noChangeAspect="1"/>
          </p:cNvPicPr>
          <p:nvPr/>
        </p:nvPicPr>
        <p:blipFill>
          <a:blip r:embed="rId3" cstate="print">
            <a:alphaModFix amt="42000"/>
            <a:extLst>
              <a:ext uri="{28A0092B-C50C-407E-A947-70E740481C1C}">
                <a14:useLocalDpi xmlns:a14="http://schemas.microsoft.com/office/drawing/2010/main" val="0"/>
              </a:ext>
            </a:extLst>
          </a:blip>
          <a:stretch>
            <a:fillRect/>
          </a:stretch>
        </p:blipFill>
        <p:spPr>
          <a:xfrm>
            <a:off x="6985000" y="3036889"/>
            <a:ext cx="1690688" cy="2197100"/>
          </a:xfrm>
          <a:prstGeom prst="rect">
            <a:avLst/>
          </a:prstGeom>
        </p:spPr>
      </p:pic>
      <p:sp>
        <p:nvSpPr>
          <p:cNvPr id="8" name="Rectangle 5"/>
          <p:cNvSpPr/>
          <p:nvPr/>
        </p:nvSpPr>
        <p:spPr>
          <a:xfrm>
            <a:off x="503238" y="376836"/>
            <a:ext cx="2430462"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charset="0"/>
                <a:ea typeface="Calibri" charset="0"/>
                <a:cs typeface="Calibri" charset="0"/>
              </a:rPr>
              <a:t>BIBLIOGRAFÍA</a:t>
            </a:r>
          </a:p>
        </p:txBody>
      </p:sp>
      <p:pic>
        <p:nvPicPr>
          <p:cNvPr id="10" name="Imagen 9">
            <a:extLst>
              <a:ext uri="{FF2B5EF4-FFF2-40B4-BE49-F238E27FC236}">
                <a16:creationId xmlns:a16="http://schemas.microsoft.com/office/drawing/2014/main" id="{D0016DFD-D096-A245-9591-9C15FD675265}"/>
              </a:ext>
            </a:extLst>
          </p:cNvPr>
          <p:cNvPicPr>
            <a:picLocks noChangeAspect="1"/>
          </p:cNvPicPr>
          <p:nvPr/>
        </p:nvPicPr>
        <p:blipFill>
          <a:blip r:embed="rId2"/>
          <a:stretch>
            <a:fillRect/>
          </a:stretch>
        </p:blipFill>
        <p:spPr>
          <a:xfrm>
            <a:off x="1008063" y="2488615"/>
            <a:ext cx="103867" cy="106967"/>
          </a:xfrm>
          <a:prstGeom prst="rect">
            <a:avLst/>
          </a:prstGeom>
        </p:spPr>
      </p:pic>
    </p:spTree>
    <p:extLst>
      <p:ext uri="{BB962C8B-B14F-4D97-AF65-F5344CB8AC3E}">
        <p14:creationId xmlns:p14="http://schemas.microsoft.com/office/powerpoint/2010/main" val="1742401129"/>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0" y="0"/>
            <a:ext cx="9144000" cy="5715000"/>
          </a:xfrm>
          <a:prstGeom prst="rect">
            <a:avLst/>
          </a:prstGeom>
          <a:solidFill>
            <a:srgbClr val="8087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pic>
        <p:nvPicPr>
          <p:cNvPr id="3" name="Imagen 2"/>
          <p:cNvPicPr>
            <a:picLocks noChangeAspect="1"/>
          </p:cNvPicPr>
          <p:nvPr/>
        </p:nvPicPr>
        <p:blipFill>
          <a:blip r:embed="rId2"/>
          <a:stretch>
            <a:fillRect/>
          </a:stretch>
        </p:blipFill>
        <p:spPr>
          <a:xfrm>
            <a:off x="3924199" y="2666298"/>
            <a:ext cx="1295601" cy="386803"/>
          </a:xfrm>
          <a:prstGeom prst="rect">
            <a:avLst/>
          </a:prstGeom>
        </p:spPr>
      </p:pic>
    </p:spTree>
    <p:extLst>
      <p:ext uri="{BB962C8B-B14F-4D97-AF65-F5344CB8AC3E}">
        <p14:creationId xmlns:p14="http://schemas.microsoft.com/office/powerpoint/2010/main" val="235416359"/>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1_Diseño predeterminado">
  <a:themeElements>
    <a:clrScheme name="Personalizados 4 ISIL">
      <a:dk1>
        <a:srgbClr val="000000"/>
      </a:dk1>
      <a:lt1>
        <a:srgbClr val="FFFFFF"/>
      </a:lt1>
      <a:dk2>
        <a:srgbClr val="1F497D"/>
      </a:dk2>
      <a:lt2>
        <a:srgbClr val="EEECE1"/>
      </a:lt2>
      <a:accent1>
        <a:srgbClr val="FDC212"/>
      </a:accent1>
      <a:accent2>
        <a:srgbClr val="EE4638"/>
      </a:accent2>
      <a:accent3>
        <a:srgbClr val="92C14E"/>
      </a:accent3>
      <a:accent4>
        <a:srgbClr val="FE7828"/>
      </a:accent4>
      <a:accent5>
        <a:srgbClr val="00B1C2"/>
      </a:accent5>
      <a:accent6>
        <a:srgbClr val="808799"/>
      </a:accent6>
      <a:hlink>
        <a:srgbClr val="7150A0"/>
      </a:hlink>
      <a:folHlink>
        <a:srgbClr val="00B1C2"/>
      </a:folHlink>
    </a:clrScheme>
    <a:fontScheme name="Diseño predeterminado">
      <a:majorFont>
        <a:latin typeface="Arial"/>
        <a:ea typeface=""/>
        <a:cs typeface=""/>
      </a:majorFont>
      <a:minorFont>
        <a:latin typeface="Arial"/>
        <a:ea typeface=""/>
        <a:cs typeface=""/>
      </a:minorFont>
    </a:fontScheme>
    <a:fmtScheme name="Papel">
      <a:fillStyleLst>
        <a:solidFill>
          <a:schemeClr val="phClr"/>
        </a:solidFill>
        <a:blipFill>
          <a:blip xmlns:r="http://schemas.openxmlformats.org/officeDocument/2006/relationships" r:embed="rId1">
            <a:duotone>
              <a:schemeClr val="phClr">
                <a:shade val="63000"/>
                <a:tint val="82000"/>
              </a:schemeClr>
              <a:schemeClr val="phClr">
                <a:tint val="10000"/>
                <a:satMod val="400000"/>
              </a:schemeClr>
            </a:duotone>
          </a:blip>
          <a:tile tx="0" ty="0" sx="40000" sy="40000" flip="none" algn="tl"/>
        </a:blipFill>
        <a:blipFill>
          <a:blip xmlns:r="http://schemas.openxmlformats.org/officeDocument/2006/relationships" r:embed="rId1">
            <a:duotone>
              <a:schemeClr val="phClr">
                <a:shade val="40000"/>
              </a:schemeClr>
              <a:schemeClr val="phClr">
                <a:tint val="42000"/>
              </a:schemeClr>
            </a:duotone>
          </a:blip>
          <a:tile tx="0" ty="0" sx="40000" sy="40000" flip="none" algn="tl"/>
        </a:blipFill>
      </a:fillStyleLst>
      <a:lnStyleLst>
        <a:ln w="12700" cap="flat" cmpd="sng" algn="ctr">
          <a:solidFill>
            <a:schemeClr val="phClr"/>
          </a:solidFill>
          <a:prstDash val="solid"/>
        </a:ln>
        <a:ln w="38100" cap="flat" cmpd="sng" algn="ctr">
          <a:solidFill>
            <a:schemeClr val="phClr"/>
          </a:solidFill>
          <a:prstDash val="solid"/>
        </a:ln>
        <a:ln w="63500" cap="flat" cmpd="sng" algn="ctr">
          <a:solidFill>
            <a:schemeClr val="phClr"/>
          </a:solidFill>
          <a:prstDash val="solid"/>
        </a:ln>
      </a:lnStyleLst>
      <a:effectStyleLst>
        <a:effectStyle>
          <a:effectLst>
            <a:outerShdw blurRad="95000" rotWithShape="0">
              <a:srgbClr val="000000">
                <a:alpha val="50000"/>
              </a:srgbClr>
            </a:outerShdw>
            <a:softEdge rad="12700"/>
          </a:effectLst>
        </a:effectStyle>
        <a:effectStyle>
          <a:effectLst>
            <a:outerShdw blurRad="95000" rotWithShape="0">
              <a:srgbClr val="000000">
                <a:alpha val="50000"/>
              </a:srgbClr>
            </a:outerShdw>
            <a:softEdge rad="12700"/>
          </a:effectLst>
        </a:effectStyle>
        <a:effectStyle>
          <a:effectLst>
            <a:outerShdw blurRad="95000" algn="tl" rotWithShape="0">
              <a:srgbClr val="000000">
                <a:alpha val="50000"/>
              </a:srgbClr>
            </a:outerShdw>
          </a:effectLst>
          <a:scene3d>
            <a:camera prst="orthographicFront"/>
            <a:lightRig rig="soft" dir="t">
              <a:rot lat="0" lon="0" rev="18000000"/>
            </a:lightRig>
          </a:scene3d>
          <a:sp3d prstMaterial="dkEdge">
            <a:bevelT w="73660" h="44450" prst="rible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iseño predeterminado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iseño predeterminado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iseño predeterminado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iseño predeterminado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iseño predeterminado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iseño predeterminado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iseño predeterminado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iseño predeterminado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iseño predeterminado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iseño predeterminado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iseño predeterminado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iseño predeterminado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31098</TotalTime>
  <Words>3932</Words>
  <Application>Microsoft Office PowerPoint</Application>
  <PresentationFormat>Presentación en pantalla (16:10)</PresentationFormat>
  <Paragraphs>451</Paragraphs>
  <Slides>51</Slides>
  <Notes>41</Notes>
  <HiddenSlides>0</HiddenSlides>
  <MMClips>0</MMClips>
  <ScaleCrop>false</ScaleCrop>
  <HeadingPairs>
    <vt:vector size="8" baseType="variant">
      <vt:variant>
        <vt:lpstr>Fuentes usadas</vt:lpstr>
      </vt:variant>
      <vt:variant>
        <vt:i4>7</vt:i4>
      </vt:variant>
      <vt:variant>
        <vt:lpstr>Tema</vt:lpstr>
      </vt:variant>
      <vt:variant>
        <vt:i4>1</vt:i4>
      </vt:variant>
      <vt:variant>
        <vt:lpstr>Servidores OLE incrustados</vt:lpstr>
      </vt:variant>
      <vt:variant>
        <vt:i4>1</vt:i4>
      </vt:variant>
      <vt:variant>
        <vt:lpstr>Títulos de diapositiva</vt:lpstr>
      </vt:variant>
      <vt:variant>
        <vt:i4>51</vt:i4>
      </vt:variant>
    </vt:vector>
  </HeadingPairs>
  <TitlesOfParts>
    <vt:vector size="60" baseType="lpstr">
      <vt:lpstr>Arial</vt:lpstr>
      <vt:lpstr>Calibri</vt:lpstr>
      <vt:lpstr>Cambria Math</vt:lpstr>
      <vt:lpstr>Graphik Bold</vt:lpstr>
      <vt:lpstr>Graphik Regular</vt:lpstr>
      <vt:lpstr>Graphik-Medium</vt:lpstr>
      <vt:lpstr>Wingdings</vt:lpstr>
      <vt:lpstr>1_Diseño predeterminado</vt:lpstr>
      <vt:lpstr>Hoja de cálculo</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Isil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Diapositiva 1</dc:title>
  <dc:creator>Isil</dc:creator>
  <cp:lastModifiedBy>Eddy Marcelo Bejarano Carranza</cp:lastModifiedBy>
  <cp:revision>1509</cp:revision>
  <dcterms:created xsi:type="dcterms:W3CDTF">2006-06-01T21:36:52Z</dcterms:created>
  <dcterms:modified xsi:type="dcterms:W3CDTF">2026-03-13T14:35:03Z</dcterms:modified>
</cp:coreProperties>
</file>