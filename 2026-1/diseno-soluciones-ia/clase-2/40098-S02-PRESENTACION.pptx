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.xml" ContentType="application/vnd.openxmlformats-officedocument.presentationml.tags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tags/tag4.xml" ContentType="application/vnd.openxmlformats-officedocument.presentationml.tags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20.xml" ContentType="application/vnd.openxmlformats-officedocument.presentationml.notesSlide+xml"/>
  <Override PartName="/ppt/tags/tag6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697" r:id="rId2"/>
    <p:sldId id="627" r:id="rId3"/>
    <p:sldId id="258" r:id="rId4"/>
    <p:sldId id="763" r:id="rId5"/>
    <p:sldId id="260" r:id="rId6"/>
    <p:sldId id="261" r:id="rId7"/>
    <p:sldId id="262" r:id="rId8"/>
    <p:sldId id="711" r:id="rId9"/>
    <p:sldId id="741" r:id="rId10"/>
    <p:sldId id="638" r:id="rId11"/>
    <p:sldId id="765" r:id="rId12"/>
    <p:sldId id="644" r:id="rId13"/>
    <p:sldId id="350" r:id="rId14"/>
    <p:sldId id="766" r:id="rId15"/>
    <p:sldId id="672" r:id="rId16"/>
    <p:sldId id="767" r:id="rId17"/>
    <p:sldId id="768" r:id="rId18"/>
    <p:sldId id="769" r:id="rId19"/>
    <p:sldId id="770" r:id="rId20"/>
    <p:sldId id="664" r:id="rId21"/>
    <p:sldId id="771" r:id="rId22"/>
    <p:sldId id="772" r:id="rId23"/>
    <p:sldId id="685" r:id="rId24"/>
    <p:sldId id="782" r:id="rId25"/>
    <p:sldId id="774" r:id="rId26"/>
    <p:sldId id="715" r:id="rId27"/>
    <p:sldId id="775" r:id="rId28"/>
    <p:sldId id="776" r:id="rId29"/>
    <p:sldId id="777" r:id="rId30"/>
    <p:sldId id="778" r:id="rId31"/>
    <p:sldId id="742" r:id="rId32"/>
    <p:sldId id="779" r:id="rId33"/>
    <p:sldId id="686" r:id="rId34"/>
    <p:sldId id="588" r:id="rId35"/>
    <p:sldId id="287" r:id="rId36"/>
    <p:sldId id="780" r:id="rId37"/>
    <p:sldId id="289" r:id="rId38"/>
    <p:sldId id="781" r:id="rId39"/>
    <p:sldId id="593" r:id="rId40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6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j5tNFU/XgnW9/e3mEIUXuPN9v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50A0"/>
    <a:srgbClr val="EE4639"/>
    <a:srgbClr val="FFD966"/>
    <a:srgbClr val="C4E0B2"/>
    <a:srgbClr val="FF7828"/>
    <a:srgbClr val="00B0F0"/>
    <a:srgbClr val="92C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99E4D-27D5-4A78-BA8A-4D5D030B51D8}">
  <a:tblStyle styleId="{65099E4D-27D5-4A78-BA8A-4D5D030B51D8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</a:tcBdr>
      </a:tcStyle>
    </a:lastCol>
    <a:firstCol>
      <a:tcTxStyle b="on" i="off"/>
      <a:tcStyle>
        <a:tcBdr>
          <a:righ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firstCol>
    <a:lastRow>
      <a:tcTxStyle b="on" i="off"/>
      <a:tcStyle>
        <a:tcBdr>
          <a:top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eCell>
    <a:swCell>
      <a:tcTxStyle/>
      <a:tcStyle>
        <a:tcBdr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wCell>
    <a:firstRow>
      <a:tcTxStyle b="on" i="off"/>
      <a:tcStyle>
        <a:tcBdr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4" autoAdjust="0"/>
    <p:restoredTop sz="95052" autoAdjust="0"/>
  </p:normalViewPr>
  <p:slideViewPr>
    <p:cSldViewPr snapToGrid="0">
      <p:cViewPr varScale="1">
        <p:scale>
          <a:sx n="97" d="100"/>
          <a:sy n="97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276" y="78"/>
      </p:cViewPr>
      <p:guideLst>
        <p:guide orient="horz" pos="286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3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7718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5226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526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629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6722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s-419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9644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231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609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6650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Consejo: </a:t>
            </a:r>
            <a:r>
              <a:rPr lang="es-MX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elegir la métrica según el contexto. En diagnóstico médico, minimizar falsos negativos (</a:t>
            </a:r>
            <a:r>
              <a:rPr lang="es-MX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s-MX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es crítico.</a:t>
            </a:r>
            <a:endParaRPr lang="es-MX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s-419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6333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5267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3741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9791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42813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5851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3741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168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3679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283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>
  <p:cSld name="Título y objeto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92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4839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7249886" y="5371562"/>
            <a:ext cx="1498548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reservados.</a:t>
            </a:r>
            <a:endParaRPr dirty="0"/>
          </a:p>
        </p:txBody>
      </p:sp>
      <p:sp>
        <p:nvSpPr>
          <p:cNvPr id="11" name="Google Shape;11;p36"/>
          <p:cNvSpPr txBox="1"/>
          <p:nvPr/>
        </p:nvSpPr>
        <p:spPr>
          <a:xfrm>
            <a:off x="876300" y="5343295"/>
            <a:ext cx="31825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DISEÑO DE SOLUCIONES CON INTELIGENCIA ARTIFICIAL </a:t>
            </a:r>
            <a:r>
              <a:rPr lang="es-419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• TEMA 02</a:t>
            </a:r>
            <a:endParaRPr sz="80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DISEÑO DE SOLUCIONES CON INTELIGENCIA ARTIFICIAL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056852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b="1" dirty="0">
                <a:latin typeface="Graphik Bold" charset="0"/>
                <a:ea typeface="Graphik Bold" charset="0"/>
                <a:cs typeface="Graphik Bold" charset="0"/>
              </a:rPr>
              <a:t>IDEACIÓN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15364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Valor para el negocio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Características de un problema adecuado para IA (tipos, limitaciones y riesgos)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Técnicas para entender y formular problemas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Taller de ideación de problemas (</a:t>
            </a:r>
            <a:r>
              <a:rPr lang="es-MX" sz="1200" dirty="0" err="1">
                <a:latin typeface="Graphik-Medium" charset="0"/>
                <a:ea typeface="Graphik-Medium" charset="0"/>
                <a:cs typeface="Graphik-Medium" charset="0"/>
              </a:rPr>
              <a:t>design</a:t>
            </a: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 </a:t>
            </a:r>
            <a:r>
              <a:rPr lang="es-MX" sz="1200" dirty="0" err="1">
                <a:latin typeface="Graphik-Medium" charset="0"/>
                <a:ea typeface="Graphik-Medium" charset="0"/>
                <a:cs typeface="Graphik-Medium" charset="0"/>
              </a:rPr>
              <a:t>thinking</a:t>
            </a: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TEMA 02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F36C9F9-2A1C-47A6-9AB4-82E398C3C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087" y="0"/>
            <a:ext cx="539591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4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282298" y="918372"/>
            <a:ext cx="5521727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todos los problemas pueden ni deben resolverse con inteligencia artificial.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éxito de una solución IA depende en gran medida de cómo se formula el problema. 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buena ideación permite alinear necesidades del usuario, objetivos del negocio y viabilidad técnica.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esta sesión, aprenderemos a identificar y estructurar problemas adecuados para IA.</a:t>
            </a:r>
          </a:p>
        </p:txBody>
      </p:sp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1" y="1602352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249819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880070"/>
            <a:ext cx="117851" cy="12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VALOR PARA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EL NEGOCIO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3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5125B0A0-8D0B-4111-8F8D-35051F04E154}"/>
              </a:ext>
            </a:extLst>
          </p:cNvPr>
          <p:cNvSpPr/>
          <p:nvPr/>
        </p:nvSpPr>
        <p:spPr>
          <a:xfrm>
            <a:off x="700765" y="4198294"/>
            <a:ext cx="7742469" cy="884983"/>
          </a:xfrm>
          <a:prstGeom prst="roundRect">
            <a:avLst>
              <a:gd name="adj" fmla="val 10564"/>
            </a:avLst>
          </a:prstGeom>
          <a:solidFill>
            <a:srgbClr val="00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506796" y="918372"/>
            <a:ext cx="65920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FORMULAR PROBLEMAS: DEL NEGOCIO A LA SOLUCIÓN DE IA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262626"/>
              </a:buClr>
              <a:buSzPts val="1600"/>
            </a:pPr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¿Cómo identificar oportunidades y evaluar su viabilidad?</a:t>
            </a:r>
            <a:endParaRPr b="1" dirty="0"/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VALOR PARA EL NEGOCIO</a:t>
            </a:r>
          </a:p>
        </p:txBody>
      </p:sp>
      <p:pic>
        <p:nvPicPr>
          <p:cNvPr id="6" name="Google Shape;193;p5">
            <a:extLst>
              <a:ext uri="{FF2B5EF4-FFF2-40B4-BE49-F238E27FC236}">
                <a16:creationId xmlns:a16="http://schemas.microsoft.com/office/drawing/2014/main" id="{BD62ACD8-47F4-4540-9911-942EFC22CF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490" y="1797365"/>
            <a:ext cx="6891020" cy="2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6;p5">
            <a:extLst>
              <a:ext uri="{FF2B5EF4-FFF2-40B4-BE49-F238E27FC236}">
                <a16:creationId xmlns:a16="http://schemas.microsoft.com/office/drawing/2014/main" id="{99C75E2C-20D8-465D-91A7-D73BE7277C01}"/>
              </a:ext>
            </a:extLst>
          </p:cNvPr>
          <p:cNvSpPr txBox="1"/>
          <p:nvPr/>
        </p:nvSpPr>
        <p:spPr>
          <a:xfrm>
            <a:off x="774827" y="4427296"/>
            <a:ext cx="774246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No todo problema empresarial es un problema para IA. Pero, cuando lo es, puede generar valor exponencial.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482228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ESTRATÉGICO DE LA IA EN ORGANIZACIONES</a:t>
            </a:r>
          </a:p>
        </p:txBody>
      </p:sp>
      <p:sp>
        <p:nvSpPr>
          <p:cNvPr id="6" name="Google Shape;77;p5">
            <a:extLst>
              <a:ext uri="{FF2B5EF4-FFF2-40B4-BE49-F238E27FC236}">
                <a16:creationId xmlns:a16="http://schemas.microsoft.com/office/drawing/2014/main" id="{A4907B53-A6FE-4447-9B51-38C567FDDA9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VALOR PARA EL NEGOCIO</a:t>
            </a:r>
          </a:p>
        </p:txBody>
      </p:sp>
      <p:sp>
        <p:nvSpPr>
          <p:cNvPr id="7" name="8 CuadroTexto">
            <a:extLst>
              <a:ext uri="{FF2B5EF4-FFF2-40B4-BE49-F238E27FC236}">
                <a16:creationId xmlns:a16="http://schemas.microsoft.com/office/drawing/2014/main" id="{DA491203-C22C-4EF7-9F72-677940A81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063" y="1373942"/>
            <a:ext cx="27911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Automatiza tareas creativas.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Mejora decisiones.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Eleva la experiencia del cliente</a:t>
            </a: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32 CuadroTexto">
            <a:extLst>
              <a:ext uri="{FF2B5EF4-FFF2-40B4-BE49-F238E27FC236}">
                <a16:creationId xmlns:a16="http://schemas.microsoft.com/office/drawing/2014/main" id="{E7023A4B-3FF3-4DB1-B476-98A433BAD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063" y="2335428"/>
            <a:ext cx="1871662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Marketing.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Comunicación.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Finanzas.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Salud.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Educación.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 err="1">
                <a:latin typeface="Calibri" charset="0"/>
                <a:ea typeface="Calibri" charset="0"/>
                <a:cs typeface="Calibri" charset="0"/>
              </a:rPr>
              <a:t>Customer</a:t>
            </a: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sz="1400" dirty="0" err="1">
                <a:latin typeface="Calibri" charset="0"/>
                <a:ea typeface="Calibri" charset="0"/>
                <a:cs typeface="Calibri" charset="0"/>
              </a:rPr>
              <a:t>service</a:t>
            </a: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.</a:t>
            </a: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34 CuadroTexto">
            <a:extLst>
              <a:ext uri="{FF2B5EF4-FFF2-40B4-BE49-F238E27FC236}">
                <a16:creationId xmlns:a16="http://schemas.microsoft.com/office/drawing/2014/main" id="{C900307E-1759-41E1-9954-67289EF0C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063" y="3975144"/>
            <a:ext cx="216058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Reducción de costos.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Mejora de eficiencia.</a:t>
            </a:r>
          </a:p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Generación de nuevas líneas de negocio.</a:t>
            </a:r>
          </a:p>
        </p:txBody>
      </p:sp>
      <p:sp>
        <p:nvSpPr>
          <p:cNvPr id="10" name="28 Flecha derecha">
            <a:extLst>
              <a:ext uri="{FF2B5EF4-FFF2-40B4-BE49-F238E27FC236}">
                <a16:creationId xmlns:a16="http://schemas.microsoft.com/office/drawing/2014/main" id="{A34BFBA6-4E11-4FDD-B5A6-CB51E8FCC1DF}"/>
              </a:ext>
            </a:extLst>
          </p:cNvPr>
          <p:cNvSpPr/>
          <p:nvPr/>
        </p:nvSpPr>
        <p:spPr>
          <a:xfrm>
            <a:off x="2186321" y="2801226"/>
            <a:ext cx="583284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1" name="28 Flecha derecha">
            <a:extLst>
              <a:ext uri="{FF2B5EF4-FFF2-40B4-BE49-F238E27FC236}">
                <a16:creationId xmlns:a16="http://schemas.microsoft.com/office/drawing/2014/main" id="{658CA3AA-E1BA-4435-B23D-1AE22A65CEA0}"/>
              </a:ext>
            </a:extLst>
          </p:cNvPr>
          <p:cNvSpPr/>
          <p:nvPr/>
        </p:nvSpPr>
        <p:spPr>
          <a:xfrm>
            <a:off x="2186321" y="1526938"/>
            <a:ext cx="583284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2" name="28 Flecha derecha">
            <a:extLst>
              <a:ext uri="{FF2B5EF4-FFF2-40B4-BE49-F238E27FC236}">
                <a16:creationId xmlns:a16="http://schemas.microsoft.com/office/drawing/2014/main" id="{24CE9B0B-CFAF-44A2-AFEA-D4503331A4AA}"/>
              </a:ext>
            </a:extLst>
          </p:cNvPr>
          <p:cNvSpPr/>
          <p:nvPr/>
        </p:nvSpPr>
        <p:spPr>
          <a:xfrm>
            <a:off x="2186321" y="4128140"/>
            <a:ext cx="583284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E2E8C234-EC03-43F6-A88C-0C560B051F5C}"/>
              </a:ext>
            </a:extLst>
          </p:cNvPr>
          <p:cNvSpPr/>
          <p:nvPr/>
        </p:nvSpPr>
        <p:spPr>
          <a:xfrm>
            <a:off x="503237" y="1321723"/>
            <a:ext cx="1521495" cy="735748"/>
          </a:xfrm>
          <a:prstGeom prst="roundRect">
            <a:avLst>
              <a:gd name="adj" fmla="val 16033"/>
            </a:avLst>
          </a:prstGeom>
          <a:solidFill>
            <a:srgbClr val="FE7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IA GENERATIVA </a:t>
            </a:r>
            <a:endParaRPr lang="es-PE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Rectángulo redondeado 16">
            <a:extLst>
              <a:ext uri="{FF2B5EF4-FFF2-40B4-BE49-F238E27FC236}">
                <a16:creationId xmlns:a16="http://schemas.microsoft.com/office/drawing/2014/main" id="{87AEC0A7-987A-4DB1-A403-98ED6315B8A8}"/>
              </a:ext>
            </a:extLst>
          </p:cNvPr>
          <p:cNvSpPr/>
          <p:nvPr/>
        </p:nvSpPr>
        <p:spPr>
          <a:xfrm>
            <a:off x="503237" y="2612746"/>
            <a:ext cx="1521495" cy="735748"/>
          </a:xfrm>
          <a:prstGeom prst="roundRect">
            <a:avLst>
              <a:gd name="adj" fmla="val 16033"/>
            </a:avLst>
          </a:prstGeom>
          <a:solidFill>
            <a:srgbClr val="FE7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SECTORES CLAVE</a:t>
            </a:r>
            <a:endParaRPr lang="es-PE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Rectángulo redondeado 17">
            <a:extLst>
              <a:ext uri="{FF2B5EF4-FFF2-40B4-BE49-F238E27FC236}">
                <a16:creationId xmlns:a16="http://schemas.microsoft.com/office/drawing/2014/main" id="{539F42E8-7C8E-45EA-9272-38FC584ACD3C}"/>
              </a:ext>
            </a:extLst>
          </p:cNvPr>
          <p:cNvSpPr/>
          <p:nvPr/>
        </p:nvSpPr>
        <p:spPr>
          <a:xfrm>
            <a:off x="503237" y="3903770"/>
            <a:ext cx="1521495" cy="735748"/>
          </a:xfrm>
          <a:prstGeom prst="roundRect">
            <a:avLst>
              <a:gd name="adj" fmla="val 17759"/>
            </a:avLst>
          </a:prstGeom>
          <a:solidFill>
            <a:srgbClr val="FE7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ROI POTENTIAL</a:t>
            </a:r>
            <a:endParaRPr lang="es-PE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Google Shape;85;p6">
            <a:extLst>
              <a:ext uri="{FF2B5EF4-FFF2-40B4-BE49-F238E27FC236}">
                <a16:creationId xmlns:a16="http://schemas.microsoft.com/office/drawing/2014/main" id="{080E7A3B-5623-4273-9AD4-59A1AD29775F}"/>
              </a:ext>
            </a:extLst>
          </p:cNvPr>
          <p:cNvSpPr txBox="1"/>
          <p:nvPr/>
        </p:nvSpPr>
        <p:spPr>
          <a:xfrm>
            <a:off x="503237" y="4989935"/>
            <a:ext cx="826357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</a:t>
            </a:r>
            <a:r>
              <a:rPr lang="es-MX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 reducido tiempos de redacción de reportes financieros de horas a minutos.</a:t>
            </a:r>
          </a:p>
        </p:txBody>
      </p:sp>
      <p:pic>
        <p:nvPicPr>
          <p:cNvPr id="17" name="Google Shape;200;p6">
            <a:extLst>
              <a:ext uri="{FF2B5EF4-FFF2-40B4-BE49-F238E27FC236}">
                <a16:creationId xmlns:a16="http://schemas.microsoft.com/office/drawing/2014/main" id="{5165F1DD-24D8-4C7A-966A-A50DD8FF19F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6946" r="6946"/>
          <a:stretch/>
        </p:blipFill>
        <p:spPr>
          <a:xfrm>
            <a:off x="5398770" y="492125"/>
            <a:ext cx="3148330" cy="2154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01;p6">
            <a:extLst>
              <a:ext uri="{FF2B5EF4-FFF2-40B4-BE49-F238E27FC236}">
                <a16:creationId xmlns:a16="http://schemas.microsoft.com/office/drawing/2014/main" id="{395C9DEF-C08D-4B0F-9773-7BAAAA56D2F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l="6199" r="6199"/>
          <a:stretch/>
        </p:blipFill>
        <p:spPr>
          <a:xfrm>
            <a:off x="5407660" y="2646680"/>
            <a:ext cx="313880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CREA VALOR LA IA EN LA EMPRESA?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C7524FDE-B1C7-42B2-A063-EF3971EBE309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VALOR PARA EL NEGOCIO</a:t>
            </a:r>
          </a:p>
        </p:txBody>
      </p:sp>
      <p:sp>
        <p:nvSpPr>
          <p:cNvPr id="22" name="Google Shape;208;p7">
            <a:extLst>
              <a:ext uri="{FF2B5EF4-FFF2-40B4-BE49-F238E27FC236}">
                <a16:creationId xmlns:a16="http://schemas.microsoft.com/office/drawing/2014/main" id="{E9848BE8-A33E-4139-A932-2352105880BE}"/>
              </a:ext>
            </a:extLst>
          </p:cNvPr>
          <p:cNvSpPr/>
          <p:nvPr/>
        </p:nvSpPr>
        <p:spPr>
          <a:xfrm>
            <a:off x="503237" y="1371088"/>
            <a:ext cx="7248525" cy="1127125"/>
          </a:xfrm>
          <a:prstGeom prst="roundRect">
            <a:avLst>
              <a:gd name="adj" fmla="val 16667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325"/>
              <a:buFont typeface="Calibri"/>
              <a:buNone/>
            </a:pPr>
            <a:r>
              <a:rPr lang="es-419" b="1" i="0" u="none" strike="noStrike" cap="none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GENERACIÓN DE CONTENIDO</a:t>
            </a:r>
            <a:endParaRPr dirty="0"/>
          </a:p>
          <a:p>
            <a:pPr marL="135255" marR="0" lvl="0" indent="-1352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como Jasper.ai, DALL·E y </a:t>
            </a:r>
            <a:r>
              <a:rPr lang="es-41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Midjourney</a:t>
            </a: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generan textos publicitarios, imágenes y artículos en segundos.</a:t>
            </a:r>
            <a:endParaRPr dirty="0"/>
          </a:p>
          <a:p>
            <a:pPr marL="135255" marR="0" lvl="0" indent="-1352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Impacto: optimización de recursos, presencia comunicativa constante, experimentación rápida.</a:t>
            </a:r>
            <a:endParaRPr dirty="0"/>
          </a:p>
        </p:txBody>
      </p:sp>
      <p:sp>
        <p:nvSpPr>
          <p:cNvPr id="24" name="Google Shape;210;p7">
            <a:extLst>
              <a:ext uri="{FF2B5EF4-FFF2-40B4-BE49-F238E27FC236}">
                <a16:creationId xmlns:a16="http://schemas.microsoft.com/office/drawing/2014/main" id="{34A2490C-057F-42BD-9770-AA2396B53DFA}"/>
              </a:ext>
            </a:extLst>
          </p:cNvPr>
          <p:cNvSpPr/>
          <p:nvPr/>
        </p:nvSpPr>
        <p:spPr>
          <a:xfrm rot="-5400000">
            <a:off x="305117" y="1574923"/>
            <a:ext cx="1122045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11;p7">
            <a:extLst>
              <a:ext uri="{FF2B5EF4-FFF2-40B4-BE49-F238E27FC236}">
                <a16:creationId xmlns:a16="http://schemas.microsoft.com/office/drawing/2014/main" id="{31569293-7847-4A55-8E5D-BCEDE3AAFFA5}"/>
              </a:ext>
            </a:extLst>
          </p:cNvPr>
          <p:cNvSpPr/>
          <p:nvPr/>
        </p:nvSpPr>
        <p:spPr>
          <a:xfrm>
            <a:off x="504507" y="2700778"/>
            <a:ext cx="7248525" cy="960755"/>
          </a:xfrm>
          <a:prstGeom prst="roundRect">
            <a:avLst>
              <a:gd name="adj" fmla="val 16667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325"/>
              <a:buFont typeface="Calibri"/>
              <a:buNone/>
            </a:pPr>
            <a:r>
              <a:rPr lang="es-419" b="1" i="0" u="none" strike="noStrike" cap="none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SOPORTE DE DECISIONES</a:t>
            </a:r>
            <a:endParaRPr dirty="0"/>
          </a:p>
          <a:p>
            <a:pPr marL="135255" marR="0" lvl="0" indent="-1352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automatizado de datos, reportes generativos, predicciones de demanda.</a:t>
            </a:r>
            <a:endParaRPr dirty="0"/>
          </a:p>
          <a:p>
            <a:pPr marL="135255" marR="0" lvl="0" indent="-1352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Impacto: toma de decisiones más rápida y menos sesgada, democratización del acceso a datos.</a:t>
            </a:r>
            <a:endParaRPr dirty="0"/>
          </a:p>
        </p:txBody>
      </p:sp>
      <p:sp>
        <p:nvSpPr>
          <p:cNvPr id="26" name="Google Shape;212;p7">
            <a:extLst>
              <a:ext uri="{FF2B5EF4-FFF2-40B4-BE49-F238E27FC236}">
                <a16:creationId xmlns:a16="http://schemas.microsoft.com/office/drawing/2014/main" id="{D46CEBA7-F173-40CD-8600-6918E8F74D74}"/>
              </a:ext>
            </a:extLst>
          </p:cNvPr>
          <p:cNvSpPr/>
          <p:nvPr/>
        </p:nvSpPr>
        <p:spPr>
          <a:xfrm rot="-5400000">
            <a:off x="394017" y="2826508"/>
            <a:ext cx="944880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13;p7">
            <a:extLst>
              <a:ext uri="{FF2B5EF4-FFF2-40B4-BE49-F238E27FC236}">
                <a16:creationId xmlns:a16="http://schemas.microsoft.com/office/drawing/2014/main" id="{70FB30D3-0714-4330-AA61-3523356D3617}"/>
              </a:ext>
            </a:extLst>
          </p:cNvPr>
          <p:cNvSpPr/>
          <p:nvPr/>
        </p:nvSpPr>
        <p:spPr>
          <a:xfrm>
            <a:off x="504507" y="3828538"/>
            <a:ext cx="7248525" cy="1017905"/>
          </a:xfrm>
          <a:prstGeom prst="roundRect">
            <a:avLst>
              <a:gd name="adj" fmla="val 11518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325"/>
              <a:buFont typeface="Calibri"/>
              <a:buNone/>
            </a:pPr>
            <a:r>
              <a:rPr lang="es-419" b="1" i="0" u="none" strike="noStrike" cap="none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EXPERIENCIA DEL CLIENTE</a:t>
            </a:r>
            <a:endParaRPr dirty="0"/>
          </a:p>
          <a:p>
            <a:pPr marL="1333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Chatbots</a:t>
            </a: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inteligentes, personalización, recomendaciones contextuales.</a:t>
            </a:r>
            <a:endParaRPr dirty="0"/>
          </a:p>
          <a:p>
            <a:pPr marL="1333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Char char="•"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Impacto: satisfacción, retención, ingresos recurrentes.</a:t>
            </a:r>
            <a:endParaRPr dirty="0"/>
          </a:p>
        </p:txBody>
      </p:sp>
      <p:sp>
        <p:nvSpPr>
          <p:cNvPr id="28" name="Google Shape;214;p7">
            <a:extLst>
              <a:ext uri="{FF2B5EF4-FFF2-40B4-BE49-F238E27FC236}">
                <a16:creationId xmlns:a16="http://schemas.microsoft.com/office/drawing/2014/main" id="{86D1CAA6-2BA5-40A8-901A-AA297816C5E2}"/>
              </a:ext>
            </a:extLst>
          </p:cNvPr>
          <p:cNvSpPr/>
          <p:nvPr/>
        </p:nvSpPr>
        <p:spPr>
          <a:xfrm rot="-5400000">
            <a:off x="354647" y="3973318"/>
            <a:ext cx="1021715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D97D67E9-C664-4358-9C44-B171BA006D1C}"/>
              </a:ext>
            </a:extLst>
          </p:cNvPr>
          <p:cNvSpPr/>
          <p:nvPr/>
        </p:nvSpPr>
        <p:spPr>
          <a:xfrm>
            <a:off x="580410" y="1673757"/>
            <a:ext cx="570188" cy="52178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5C724D0E-92BD-44C0-83D9-4863D0419B60}"/>
              </a:ext>
            </a:extLst>
          </p:cNvPr>
          <p:cNvSpPr/>
          <p:nvPr/>
        </p:nvSpPr>
        <p:spPr>
          <a:xfrm>
            <a:off x="580410" y="2927882"/>
            <a:ext cx="570188" cy="52178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6A66EB1D-22AF-4FBD-BF24-EE2E15AD1EA1}"/>
              </a:ext>
            </a:extLst>
          </p:cNvPr>
          <p:cNvSpPr/>
          <p:nvPr/>
        </p:nvSpPr>
        <p:spPr>
          <a:xfrm>
            <a:off x="584540" y="4074692"/>
            <a:ext cx="570188" cy="52178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93980" y="1768540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ES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IMPACTO</a:t>
            </a:r>
            <a:br>
              <a:rPr lang="es-ES" sz="1400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MX" dirty="0">
                <a:latin typeface="Calibri" charset="0"/>
                <a:ea typeface="Calibri" charset="0"/>
                <a:cs typeface="Calibri" charset="0"/>
              </a:rPr>
              <a:t>¿Cuánto valor económico o eficiencia puede generar? </a:t>
            </a:r>
            <a:endParaRPr lang="es-ES" sz="1400" dirty="0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2" name="Conector recto 11"/>
          <p:cNvCxnSpPr>
            <a:cxnSpLocks/>
          </p:cNvCxnSpPr>
          <p:nvPr/>
        </p:nvCxnSpPr>
        <p:spPr>
          <a:xfrm>
            <a:off x="579579" y="1971410"/>
            <a:ext cx="0" cy="503986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/>
          <p:cNvSpPr/>
          <p:nvPr/>
        </p:nvSpPr>
        <p:spPr>
          <a:xfrm>
            <a:off x="793980" y="2475396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es-ES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VIABILIDAD</a:t>
            </a:r>
            <a:br>
              <a:rPr lang="es-ES" sz="14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MX" dirty="0">
                <a:latin typeface="Calibri" charset="0"/>
                <a:ea typeface="Calibri" charset="0"/>
                <a:cs typeface="Calibri" charset="0"/>
              </a:rPr>
              <a:t>¿Tenemos datos, recursos y tiempo suficientes? </a:t>
            </a:r>
            <a:endParaRPr lang="es-E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793980" y="3114087"/>
            <a:ext cx="4186619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ES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RIESGO</a:t>
            </a:r>
            <a:br>
              <a:rPr lang="es-ES" sz="14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ES" dirty="0">
                <a:latin typeface="Calibri" charset="0"/>
                <a:ea typeface="Calibri" charset="0"/>
                <a:cs typeface="Calibri" charset="0"/>
              </a:rPr>
              <a:t>¿Hay requisitos de confianza absoluta o salidas complejas? </a:t>
            </a: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503237" y="920364"/>
            <a:ext cx="6311449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¿QUÉ PROYECTO DE IA ELEGIR PRIMERO?</a:t>
            </a:r>
          </a:p>
          <a:p>
            <a:pPr lvl="0" defTabSz="711200">
              <a:spcAft>
                <a:spcPct val="35000"/>
              </a:spcAft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Criterio de priorización</a:t>
            </a:r>
          </a:p>
        </p:txBody>
      </p:sp>
      <p:sp>
        <p:nvSpPr>
          <p:cNvPr id="5" name="Más 4"/>
          <p:cNvSpPr/>
          <p:nvPr/>
        </p:nvSpPr>
        <p:spPr>
          <a:xfrm>
            <a:off x="503237" y="1778312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34" name="Conector recto 33"/>
          <p:cNvCxnSpPr>
            <a:cxnSpLocks/>
          </p:cNvCxnSpPr>
          <p:nvPr/>
        </p:nvCxnSpPr>
        <p:spPr>
          <a:xfrm>
            <a:off x="574037" y="2738927"/>
            <a:ext cx="5541" cy="375160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ás 36"/>
          <p:cNvSpPr/>
          <p:nvPr/>
        </p:nvSpPr>
        <p:spPr>
          <a:xfrm>
            <a:off x="503237" y="252356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38" name="Más 37"/>
          <p:cNvSpPr/>
          <p:nvPr/>
        </p:nvSpPr>
        <p:spPr>
          <a:xfrm>
            <a:off x="503237" y="314495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3" name="Google Shape;77;p5">
            <a:extLst>
              <a:ext uri="{FF2B5EF4-FFF2-40B4-BE49-F238E27FC236}">
                <a16:creationId xmlns:a16="http://schemas.microsoft.com/office/drawing/2014/main" id="{6CE8A56A-7573-4E8F-BFC7-3485DF972198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VALOR PARA EL NEGOCIO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0DED5F26-57E7-4A49-B2E0-AAF114E13C6F}"/>
              </a:ext>
            </a:extLst>
          </p:cNvPr>
          <p:cNvSpPr/>
          <p:nvPr/>
        </p:nvSpPr>
        <p:spPr>
          <a:xfrm>
            <a:off x="503238" y="3807878"/>
            <a:ext cx="4477362" cy="884983"/>
          </a:xfrm>
          <a:prstGeom prst="roundRect">
            <a:avLst>
              <a:gd name="adj" fmla="val 10564"/>
            </a:avLst>
          </a:prstGeom>
          <a:solidFill>
            <a:srgbClr val="00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7" name="Google Shape;76;p5">
            <a:extLst>
              <a:ext uri="{FF2B5EF4-FFF2-40B4-BE49-F238E27FC236}">
                <a16:creationId xmlns:a16="http://schemas.microsoft.com/office/drawing/2014/main" id="{43FDE635-8A58-4053-A779-A75A069F5619}"/>
              </a:ext>
            </a:extLst>
          </p:cNvPr>
          <p:cNvSpPr txBox="1"/>
          <p:nvPr/>
        </p:nvSpPr>
        <p:spPr>
          <a:xfrm>
            <a:off x="574037" y="3959801"/>
            <a:ext cx="43027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Matriz de decisión: 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priorizar proyectos de alto impacto + viabilidad moderada + bajo riesgo.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D45DDAA-A2CC-4C4F-AFBA-99FEFFC4782A}"/>
              </a:ext>
            </a:extLst>
          </p:cNvPr>
          <p:cNvSpPr/>
          <p:nvPr/>
        </p:nvSpPr>
        <p:spPr>
          <a:xfrm>
            <a:off x="503237" y="4896627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¿Cuál es el problema en tu organización que satisface estos criterios?</a:t>
            </a:r>
          </a:p>
        </p:txBody>
      </p:sp>
      <p:pic>
        <p:nvPicPr>
          <p:cNvPr id="19" name="Google Shape;221;p8">
            <a:extLst>
              <a:ext uri="{FF2B5EF4-FFF2-40B4-BE49-F238E27FC236}">
                <a16:creationId xmlns:a16="http://schemas.microsoft.com/office/drawing/2014/main" id="{E5FB5F8B-F2E5-4621-BAF0-4BF45ECB50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742" t="18443" r="4935" b="9927"/>
          <a:stretch/>
        </p:blipFill>
        <p:spPr>
          <a:xfrm>
            <a:off x="5430602" y="1270091"/>
            <a:ext cx="2595245" cy="2542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89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CARACTERÍSTICAS DE UN PROBLEMA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</a:rPr>
              <a:t>ADECUADO PARA IA (TIPOS,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LIMITACIONES Y RIESGOS)</a:t>
            </a:r>
            <a:endParaRPr lang="es-ES" sz="14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8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¿QUÉ TIPO DE PROBLEMA ES EL TUYO? 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C7D41EE-398F-5753-E798-BFA0E6DEFF0B}"/>
              </a:ext>
            </a:extLst>
          </p:cNvPr>
          <p:cNvSpPr/>
          <p:nvPr/>
        </p:nvSpPr>
        <p:spPr>
          <a:xfrm>
            <a:off x="503237" y="380615"/>
            <a:ext cx="4953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MX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CARACTERÍSTICAS DE UN PROBLEMA ADECUADO PARA IA (TIPOS, LIMITACIONES Y RIESGOS)</a:t>
            </a:r>
          </a:p>
        </p:txBody>
      </p:sp>
      <p:sp>
        <p:nvSpPr>
          <p:cNvPr id="26" name="Google Shape;235;p10">
            <a:extLst>
              <a:ext uri="{FF2B5EF4-FFF2-40B4-BE49-F238E27FC236}">
                <a16:creationId xmlns:a16="http://schemas.microsoft.com/office/drawing/2014/main" id="{E6D8FCC6-DA93-4424-BC0E-F60F4E2E5C92}"/>
              </a:ext>
            </a:extLst>
          </p:cNvPr>
          <p:cNvSpPr/>
          <p:nvPr/>
        </p:nvSpPr>
        <p:spPr>
          <a:xfrm>
            <a:off x="1265966" y="1494823"/>
            <a:ext cx="3101508" cy="73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325"/>
              <a:buFont typeface="Calibri"/>
              <a:buNone/>
            </a:pPr>
            <a:r>
              <a:rPr lang="es-419" sz="1325" b="1" i="0" u="none" strike="noStrike" cap="none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MEJORA DE PROCESO EXISTENTE</a:t>
            </a:r>
            <a:br>
              <a:rPr lang="es-419" sz="1325" b="0" i="0" u="none" strike="noStrike" cap="none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32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rutas, mejorar ranking de recomendaciones, aumentar precisión de diagnósticos.</a:t>
            </a:r>
            <a:endParaRPr dirty="0"/>
          </a:p>
        </p:txBody>
      </p:sp>
      <p:sp>
        <p:nvSpPr>
          <p:cNvPr id="33" name="Google Shape;236;p10">
            <a:extLst>
              <a:ext uri="{FF2B5EF4-FFF2-40B4-BE49-F238E27FC236}">
                <a16:creationId xmlns:a16="http://schemas.microsoft.com/office/drawing/2014/main" id="{9AFF469B-9CB7-4A91-8365-2444BFDA77B6}"/>
              </a:ext>
            </a:extLst>
          </p:cNvPr>
          <p:cNvSpPr/>
          <p:nvPr/>
        </p:nvSpPr>
        <p:spPr>
          <a:xfrm>
            <a:off x="503237" y="1401876"/>
            <a:ext cx="379976" cy="40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2655"/>
              <a:buFont typeface="Calibri"/>
              <a:buNone/>
            </a:pPr>
            <a:r>
              <a:rPr lang="es-419" sz="2655" b="1" i="0" u="none" strike="noStrike" cap="none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cxnSp>
        <p:nvCxnSpPr>
          <p:cNvPr id="34" name="Google Shape;237;p10">
            <a:extLst>
              <a:ext uri="{FF2B5EF4-FFF2-40B4-BE49-F238E27FC236}">
                <a16:creationId xmlns:a16="http://schemas.microsoft.com/office/drawing/2014/main" id="{3C07CC31-C291-4285-9F06-16192429C391}"/>
              </a:ext>
            </a:extLst>
          </p:cNvPr>
          <p:cNvCxnSpPr>
            <a:endCxn id="43" idx="0"/>
          </p:cNvCxnSpPr>
          <p:nvPr/>
        </p:nvCxnSpPr>
        <p:spPr>
          <a:xfrm flipH="1">
            <a:off x="1062713" y="1644190"/>
            <a:ext cx="13800" cy="1787100"/>
          </a:xfrm>
          <a:prstGeom prst="straightConnector1">
            <a:avLst/>
          </a:prstGeom>
          <a:noFill/>
          <a:ln w="12700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239;p10">
            <a:extLst>
              <a:ext uri="{FF2B5EF4-FFF2-40B4-BE49-F238E27FC236}">
                <a16:creationId xmlns:a16="http://schemas.microsoft.com/office/drawing/2014/main" id="{9A16FE39-AB3F-4547-981A-6F8FF3E3FD8E}"/>
              </a:ext>
            </a:extLst>
          </p:cNvPr>
          <p:cNvSpPr/>
          <p:nvPr/>
        </p:nvSpPr>
        <p:spPr>
          <a:xfrm>
            <a:off x="503237" y="2408218"/>
            <a:ext cx="379976" cy="40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2655"/>
              <a:buFont typeface="Calibri"/>
              <a:buNone/>
            </a:pPr>
            <a:r>
              <a:rPr lang="es-419" sz="2655" b="1" i="0" u="none" strike="noStrike" cap="none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6" name="Google Shape;240;p10">
            <a:extLst>
              <a:ext uri="{FF2B5EF4-FFF2-40B4-BE49-F238E27FC236}">
                <a16:creationId xmlns:a16="http://schemas.microsoft.com/office/drawing/2014/main" id="{882D70FE-ADA0-48AE-8022-FEDE5CE1335C}"/>
              </a:ext>
            </a:extLst>
          </p:cNvPr>
          <p:cNvSpPr/>
          <p:nvPr/>
        </p:nvSpPr>
        <p:spPr>
          <a:xfrm>
            <a:off x="503237" y="3328108"/>
            <a:ext cx="379976" cy="40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2655"/>
              <a:buFont typeface="Calibri"/>
              <a:buNone/>
            </a:pPr>
            <a:r>
              <a:rPr lang="es-419" sz="2655" b="1" i="0" u="none" strike="noStrike" cap="none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7" name="Google Shape;241;p10">
            <a:extLst>
              <a:ext uri="{FF2B5EF4-FFF2-40B4-BE49-F238E27FC236}">
                <a16:creationId xmlns:a16="http://schemas.microsoft.com/office/drawing/2014/main" id="{546875FD-8D9A-47BF-9CE0-76E721CF0CD6}"/>
              </a:ext>
            </a:extLst>
          </p:cNvPr>
          <p:cNvSpPr/>
          <p:nvPr/>
        </p:nvSpPr>
        <p:spPr>
          <a:xfrm>
            <a:off x="1265965" y="2506907"/>
            <a:ext cx="3129891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325"/>
              <a:buFont typeface="Calibri"/>
              <a:buNone/>
            </a:pPr>
            <a:r>
              <a:rPr lang="es-419" sz="1325" b="1" i="0" u="none" strike="noStrike" cap="none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COMPLETAR TRABAJO MANUAL </a:t>
            </a:r>
            <a:br>
              <a:rPr lang="es-419" sz="1325" b="1" i="0" u="none" strike="noStrike" cap="none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32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Autocompletado de texto, análisis de sentimientos, diseño asistido.</a:t>
            </a:r>
            <a:endParaRPr dirty="0"/>
          </a:p>
        </p:txBody>
      </p:sp>
      <p:sp>
        <p:nvSpPr>
          <p:cNvPr id="38" name="Google Shape;242;p10">
            <a:extLst>
              <a:ext uri="{FF2B5EF4-FFF2-40B4-BE49-F238E27FC236}">
                <a16:creationId xmlns:a16="http://schemas.microsoft.com/office/drawing/2014/main" id="{40981DD7-4C74-49E0-B16E-BCA08988CE49}"/>
              </a:ext>
            </a:extLst>
          </p:cNvPr>
          <p:cNvSpPr/>
          <p:nvPr/>
        </p:nvSpPr>
        <p:spPr>
          <a:xfrm>
            <a:off x="1265965" y="3416146"/>
            <a:ext cx="2964191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325"/>
              <a:buFont typeface="Calibri"/>
              <a:buNone/>
            </a:pPr>
            <a:r>
              <a:rPr lang="es-419" sz="1325" b="1" i="0" u="none" strike="noStrike" cap="none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AUTOMATIZAR PROCESO MANUAL</a:t>
            </a:r>
            <a:br>
              <a:rPr lang="es-419" sz="1325" b="1" i="0" u="none" strike="noStrike" cap="none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32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de documentos, detección de fraude, atención automática a clientes.</a:t>
            </a:r>
            <a:endParaRPr dirty="0"/>
          </a:p>
        </p:txBody>
      </p:sp>
      <p:grpSp>
        <p:nvGrpSpPr>
          <p:cNvPr id="39" name="Google Shape;244;p10">
            <a:extLst>
              <a:ext uri="{FF2B5EF4-FFF2-40B4-BE49-F238E27FC236}">
                <a16:creationId xmlns:a16="http://schemas.microsoft.com/office/drawing/2014/main" id="{30D16F18-94A1-4659-BA64-EE5A72A6D5BA}"/>
              </a:ext>
            </a:extLst>
          </p:cNvPr>
          <p:cNvGrpSpPr/>
          <p:nvPr/>
        </p:nvGrpSpPr>
        <p:grpSpPr>
          <a:xfrm>
            <a:off x="995977" y="2511400"/>
            <a:ext cx="133471" cy="132965"/>
            <a:chOff x="3427964" y="2244682"/>
            <a:chExt cx="225891" cy="225034"/>
          </a:xfrm>
        </p:grpSpPr>
        <p:sp>
          <p:nvSpPr>
            <p:cNvPr id="40" name="Google Shape;245;p10">
              <a:extLst>
                <a:ext uri="{FF2B5EF4-FFF2-40B4-BE49-F238E27FC236}">
                  <a16:creationId xmlns:a16="http://schemas.microsoft.com/office/drawing/2014/main" id="{7D5BED48-E104-420B-ABD8-64F05DCA2CA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714F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46;p10">
              <a:extLst>
                <a:ext uri="{FF2B5EF4-FFF2-40B4-BE49-F238E27FC236}">
                  <a16:creationId xmlns:a16="http://schemas.microsoft.com/office/drawing/2014/main" id="{430E3BC9-0BE3-4A3F-A582-B80C3D4855BD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247;p10">
            <a:extLst>
              <a:ext uri="{FF2B5EF4-FFF2-40B4-BE49-F238E27FC236}">
                <a16:creationId xmlns:a16="http://schemas.microsoft.com/office/drawing/2014/main" id="{CFE5FF38-CDEB-49B4-8B5B-3D41F9D2CF45}"/>
              </a:ext>
            </a:extLst>
          </p:cNvPr>
          <p:cNvGrpSpPr/>
          <p:nvPr/>
        </p:nvGrpSpPr>
        <p:grpSpPr>
          <a:xfrm>
            <a:off x="995977" y="3431290"/>
            <a:ext cx="133471" cy="132965"/>
            <a:chOff x="3427964" y="2244682"/>
            <a:chExt cx="225891" cy="225034"/>
          </a:xfrm>
        </p:grpSpPr>
        <p:sp>
          <p:nvSpPr>
            <p:cNvPr id="43" name="Google Shape;238;p10">
              <a:extLst>
                <a:ext uri="{FF2B5EF4-FFF2-40B4-BE49-F238E27FC236}">
                  <a16:creationId xmlns:a16="http://schemas.microsoft.com/office/drawing/2014/main" id="{EB6176DE-20A4-4195-ADB6-78F006EB723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714F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48;p10">
              <a:extLst>
                <a:ext uri="{FF2B5EF4-FFF2-40B4-BE49-F238E27FC236}">
                  <a16:creationId xmlns:a16="http://schemas.microsoft.com/office/drawing/2014/main" id="{89F9628E-09CA-40CA-9C51-709D17DE4F36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249;p10">
            <a:extLst>
              <a:ext uri="{FF2B5EF4-FFF2-40B4-BE49-F238E27FC236}">
                <a16:creationId xmlns:a16="http://schemas.microsoft.com/office/drawing/2014/main" id="{55A456EB-F42A-4480-B5E6-EEC475A8EEF6}"/>
              </a:ext>
            </a:extLst>
          </p:cNvPr>
          <p:cNvGrpSpPr/>
          <p:nvPr/>
        </p:nvGrpSpPr>
        <p:grpSpPr>
          <a:xfrm>
            <a:off x="995977" y="1511077"/>
            <a:ext cx="133471" cy="132965"/>
            <a:chOff x="3427964" y="2244682"/>
            <a:chExt cx="225891" cy="225034"/>
          </a:xfrm>
        </p:grpSpPr>
        <p:sp>
          <p:nvSpPr>
            <p:cNvPr id="46" name="Google Shape;250;p10">
              <a:extLst>
                <a:ext uri="{FF2B5EF4-FFF2-40B4-BE49-F238E27FC236}">
                  <a16:creationId xmlns:a16="http://schemas.microsoft.com/office/drawing/2014/main" id="{B27ECCFC-613D-42E9-9335-A50491DF8C55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714F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51;p10">
              <a:extLst>
                <a:ext uri="{FF2B5EF4-FFF2-40B4-BE49-F238E27FC236}">
                  <a16:creationId xmlns:a16="http://schemas.microsoft.com/office/drawing/2014/main" id="{9E2B1AEE-5206-448A-B0FD-62DF82BBB8AF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254;p10">
            <a:extLst>
              <a:ext uri="{FF2B5EF4-FFF2-40B4-BE49-F238E27FC236}">
                <a16:creationId xmlns:a16="http://schemas.microsoft.com/office/drawing/2014/main" id="{54CCD656-0BC3-41CC-807A-9237DD0A1210}"/>
              </a:ext>
            </a:extLst>
          </p:cNvPr>
          <p:cNvSpPr txBox="1"/>
          <p:nvPr/>
        </p:nvSpPr>
        <p:spPr>
          <a:xfrm>
            <a:off x="503237" y="4298500"/>
            <a:ext cx="47625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Concepto clave: </a:t>
            </a: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data </a:t>
            </a:r>
            <a:r>
              <a:rPr lang="es-419" sz="1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flywheel</a:t>
            </a: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cada ciclo genera más datos, lo que mejora iterativamente el modelo.</a:t>
            </a:r>
            <a:endParaRPr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FB3FF0-1BED-4533-9E61-3634D30D7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90" y="939710"/>
            <a:ext cx="4136773" cy="27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9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33;p23">
            <a:extLst>
              <a:ext uri="{FF2B5EF4-FFF2-40B4-BE49-F238E27FC236}">
                <a16:creationId xmlns:a16="http://schemas.microsoft.com/office/drawing/2014/main" id="{A15C0CF0-6F72-4BE0-9383-A09754627E47}"/>
              </a:ext>
            </a:extLst>
          </p:cNvPr>
          <p:cNvSpPr/>
          <p:nvPr/>
        </p:nvSpPr>
        <p:spPr>
          <a:xfrm>
            <a:off x="4676455" y="1535141"/>
            <a:ext cx="3175640" cy="501005"/>
          </a:xfrm>
          <a:prstGeom prst="roundRect">
            <a:avLst>
              <a:gd name="adj" fmla="val 18326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algn="ctr"/>
            <a:r>
              <a:rPr lang="es-ES_tradnl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PROBLEMAS</a:t>
            </a:r>
            <a:endParaRPr lang="es-ES_tradnl" sz="1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3" name="Google Shape;335;p23">
            <a:extLst>
              <a:ext uri="{FF2B5EF4-FFF2-40B4-BE49-F238E27FC236}">
                <a16:creationId xmlns:a16="http://schemas.microsoft.com/office/drawing/2014/main" id="{33D72928-9F2D-4453-9A95-993680A749B5}"/>
              </a:ext>
            </a:extLst>
          </p:cNvPr>
          <p:cNvSpPr/>
          <p:nvPr/>
        </p:nvSpPr>
        <p:spPr>
          <a:xfrm>
            <a:off x="4676455" y="2109692"/>
            <a:ext cx="3175640" cy="2263528"/>
          </a:xfrm>
          <a:prstGeom prst="roundRect">
            <a:avLst>
              <a:gd name="adj" fmla="val 2748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Datos limitados o no etiquetados sin supervisión.</a:t>
            </a: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Expectativa de confianza absoluta o </a:t>
            </a:r>
            <a:r>
              <a:rPr lang="es-MX" dirty="0" err="1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explicabilidad</a:t>
            </a: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 total.​</a:t>
            </a: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Salidas muy complejas o contextos ambiguos.​</a:t>
            </a: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Expectativa de generalización perfecta a todos los escenarios.</a:t>
            </a:r>
          </a:p>
          <a:p>
            <a:pPr marL="222250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endParaRPr lang="es-ES_tradnl" sz="1400" dirty="0">
              <a:latin typeface="Calibri" panose="020F0502020204030204" pitchFamily="34" charset="0"/>
              <a:ea typeface="+mj-lt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25" name="Agrupar 9">
            <a:extLst>
              <a:ext uri="{FF2B5EF4-FFF2-40B4-BE49-F238E27FC236}">
                <a16:creationId xmlns:a16="http://schemas.microsoft.com/office/drawing/2014/main" id="{E909DC46-3CAD-4671-94C6-241E8D15DA6D}"/>
              </a:ext>
            </a:extLst>
          </p:cNvPr>
          <p:cNvGrpSpPr/>
          <p:nvPr/>
        </p:nvGrpSpPr>
        <p:grpSpPr>
          <a:xfrm>
            <a:off x="4460689" y="1583770"/>
            <a:ext cx="459474" cy="403823"/>
            <a:chOff x="5892512" y="2805541"/>
            <a:chExt cx="459474" cy="403823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F7B90859-877A-4082-B6FD-766747BB5CD8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0FFFEDB9-B60E-4D5E-93BE-8A4B4FF25092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9" name="Triángulo 13">
              <a:extLst>
                <a:ext uri="{FF2B5EF4-FFF2-40B4-BE49-F238E27FC236}">
                  <a16:creationId xmlns:a16="http://schemas.microsoft.com/office/drawing/2014/main" id="{C2B48AAF-3CF0-4AFA-9673-97031C4CB1C0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30" name="Google Shape;332;p23">
            <a:extLst>
              <a:ext uri="{FF2B5EF4-FFF2-40B4-BE49-F238E27FC236}">
                <a16:creationId xmlns:a16="http://schemas.microsoft.com/office/drawing/2014/main" id="{722E0D11-37BE-4820-A84D-362C588099A6}"/>
              </a:ext>
            </a:extLst>
          </p:cNvPr>
          <p:cNvSpPr/>
          <p:nvPr/>
        </p:nvSpPr>
        <p:spPr>
          <a:xfrm>
            <a:off x="1290849" y="1535141"/>
            <a:ext cx="3175640" cy="501005"/>
          </a:xfrm>
          <a:prstGeom prst="roundRect">
            <a:avLst>
              <a:gd name="adj" fmla="val 18326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algn="ctr"/>
            <a:r>
              <a:rPr lang="es-ES_tradnl" sz="15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VENTAJAS</a:t>
            </a:r>
          </a:p>
        </p:txBody>
      </p:sp>
      <p:sp>
        <p:nvSpPr>
          <p:cNvPr id="31" name="Google Shape;334;p23">
            <a:extLst>
              <a:ext uri="{FF2B5EF4-FFF2-40B4-BE49-F238E27FC236}">
                <a16:creationId xmlns:a16="http://schemas.microsoft.com/office/drawing/2014/main" id="{F3397C0C-71A8-4A56-9DF0-BBE0B18B60A1}"/>
              </a:ext>
            </a:extLst>
          </p:cNvPr>
          <p:cNvSpPr/>
          <p:nvPr/>
        </p:nvSpPr>
        <p:spPr>
          <a:xfrm>
            <a:off x="1290849" y="2109692"/>
            <a:ext cx="3175640" cy="2263528"/>
          </a:xfrm>
          <a:prstGeom prst="roundRect">
            <a:avLst>
              <a:gd name="adj" fmla="val 2748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Datos disponibles y etiquetados en cantidad suficiente (típicamente &gt;1,000 ejemplos).</a:t>
            </a: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Métrica clara y cuantificable (F1-score, precisión, </a:t>
            </a:r>
            <a:r>
              <a:rPr lang="es-MX" dirty="0" err="1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recall</a:t>
            </a: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, ROI).</a:t>
            </a: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Línea base establecida (desempeño humano o sistema actual).​</a:t>
            </a: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rPr>
              <a:t>Soluciones imperfectas incluso generan valor empresarial.​</a:t>
            </a:r>
          </a:p>
          <a:p>
            <a:pPr marL="138113" indent="-128588" defTabSz="457200">
              <a:buClr>
                <a:srgbClr val="EE4639"/>
              </a:buClr>
              <a:buSzPct val="100000"/>
              <a:buFont typeface="Arial" panose="020B0604020202020204" pitchFamily="34" charset="0"/>
              <a:buChar char="•"/>
              <a:tabLst>
                <a:tab pos="3228975" algn="l"/>
              </a:tabLst>
            </a:pPr>
            <a:endParaRPr lang="es-ES_tradnl" sz="1400" dirty="0">
              <a:solidFill>
                <a:srgbClr val="262626"/>
              </a:solidFill>
              <a:latin typeface="Calibri"/>
              <a:ea typeface="+mn-ea"/>
              <a:cs typeface="Calibri"/>
            </a:endParaRPr>
          </a:p>
        </p:txBody>
      </p:sp>
      <p:grpSp>
        <p:nvGrpSpPr>
          <p:cNvPr id="32" name="Agrupar 4">
            <a:extLst>
              <a:ext uri="{FF2B5EF4-FFF2-40B4-BE49-F238E27FC236}">
                <a16:creationId xmlns:a16="http://schemas.microsoft.com/office/drawing/2014/main" id="{E12D7063-BB26-4E81-9929-79CEE7D4B682}"/>
              </a:ext>
            </a:extLst>
          </p:cNvPr>
          <p:cNvGrpSpPr/>
          <p:nvPr/>
        </p:nvGrpSpPr>
        <p:grpSpPr>
          <a:xfrm>
            <a:off x="1075934" y="1583770"/>
            <a:ext cx="459474" cy="403823"/>
            <a:chOff x="5892512" y="2805541"/>
            <a:chExt cx="459474" cy="403823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FF9F9A80-B5D4-4BD2-98BD-B92685464516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A88222BC-6396-4E2E-B3B5-A748E4640E01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51" name="Triángulo 9">
              <a:extLst>
                <a:ext uri="{FF2B5EF4-FFF2-40B4-BE49-F238E27FC236}">
                  <a16:creationId xmlns:a16="http://schemas.microsoft.com/office/drawing/2014/main" id="{C55D4E4F-1C8D-49EE-A231-2C1393896F05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Rectangle 5">
            <a:extLst>
              <a:ext uri="{FF2B5EF4-FFF2-40B4-BE49-F238E27FC236}">
                <a16:creationId xmlns:a16="http://schemas.microsoft.com/office/drawing/2014/main" id="{23B24B94-A3BA-432F-A391-32AC51E95314}"/>
              </a:ext>
            </a:extLst>
          </p:cNvPr>
          <p:cNvSpPr/>
          <p:nvPr/>
        </p:nvSpPr>
        <p:spPr>
          <a:xfrm>
            <a:off x="503237" y="380615"/>
            <a:ext cx="4953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MX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CARACTERÍSTICAS DE UN PROBLEMA ADECUADO PARA IA (TIPOS, LIMITACIONES Y RIESGOS)</a:t>
            </a:r>
          </a:p>
        </p:txBody>
      </p:sp>
    </p:spTree>
    <p:extLst>
      <p:ext uri="{BB962C8B-B14F-4D97-AF65-F5344CB8AC3E}">
        <p14:creationId xmlns:p14="http://schemas.microsoft.com/office/powerpoint/2010/main" val="137997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03237" y="920365"/>
            <a:ext cx="5720582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RIESGOS E IMPLICACIONES ÉTICAS DE UN PROYECTO DE IA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503237" y="1655543"/>
            <a:ext cx="8172451" cy="586212"/>
            <a:chOff x="503237" y="1655543"/>
            <a:chExt cx="7697335" cy="365282"/>
          </a:xfrm>
        </p:grpSpPr>
        <p:sp>
          <p:nvSpPr>
            <p:cNvPr id="4" name="Rectángulo 3"/>
            <p:cNvSpPr/>
            <p:nvPr/>
          </p:nvSpPr>
          <p:spPr>
            <a:xfrm>
              <a:off x="503237" y="1655543"/>
              <a:ext cx="1499299" cy="365282"/>
            </a:xfrm>
            <a:prstGeom prst="rect">
              <a:avLst/>
            </a:prstGeom>
            <a:solidFill>
              <a:srgbClr val="00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Sesgo algorítmico</a:t>
              </a:r>
            </a:p>
          </p:txBody>
        </p:sp>
        <p:sp>
          <p:nvSpPr>
            <p:cNvPr id="5" name="Rectángulo 4"/>
            <p:cNvSpPr/>
            <p:nvPr/>
          </p:nvSpPr>
          <p:spPr>
            <a:xfrm>
              <a:off x="2052746" y="1655543"/>
              <a:ext cx="1499299" cy="365282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Privacidad de datos</a:t>
              </a:r>
            </a:p>
          </p:txBody>
        </p:sp>
        <p:sp>
          <p:nvSpPr>
            <p:cNvPr id="6" name="Rectángulo 5"/>
            <p:cNvSpPr/>
            <p:nvPr/>
          </p:nvSpPr>
          <p:spPr>
            <a:xfrm>
              <a:off x="3602255" y="1655543"/>
              <a:ext cx="1499299" cy="365282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Interpretabilidad</a:t>
              </a: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5151764" y="1655543"/>
              <a:ext cx="1499299" cy="365282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Escalabilidad computacional</a:t>
              </a:r>
            </a:p>
          </p:txBody>
        </p:sp>
        <p:sp>
          <p:nvSpPr>
            <p:cNvPr id="8" name="Rectángulo 7"/>
            <p:cNvSpPr/>
            <p:nvPr/>
          </p:nvSpPr>
          <p:spPr>
            <a:xfrm>
              <a:off x="6701273" y="1655543"/>
              <a:ext cx="1499299" cy="365282"/>
            </a:xfrm>
            <a:prstGeom prst="rect">
              <a:avLst/>
            </a:prstGeom>
            <a:solidFill>
              <a:srgbClr val="FDC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Mantenimiento en producción</a:t>
              </a:r>
            </a:p>
          </p:txBody>
        </p:sp>
      </p:grpSp>
      <p:sp>
        <p:nvSpPr>
          <p:cNvPr id="11" name="Rectángulo 10"/>
          <p:cNvSpPr/>
          <p:nvPr/>
        </p:nvSpPr>
        <p:spPr>
          <a:xfrm>
            <a:off x="503237" y="2336421"/>
            <a:ext cx="1591843" cy="1960275"/>
          </a:xfrm>
          <a:prstGeom prst="rect">
            <a:avLst/>
          </a:prstGeom>
          <a:solidFill>
            <a:srgbClr val="B9E7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El modelo hereda prejuicios del conjunto de entrenamiento. </a:t>
            </a:r>
            <a:endParaRPr lang="es-PE" sz="14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2148389" y="2336421"/>
            <a:ext cx="1591843" cy="1960275"/>
          </a:xfrm>
          <a:prstGeom prst="rect">
            <a:avLst/>
          </a:prstGeom>
          <a:solidFill>
            <a:srgbClr val="DDE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Riesgo de exposición de datos personales o sensibles. Soluciones: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federated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differential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privacy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.​ </a:t>
            </a:r>
            <a:endParaRPr lang="es-PE" sz="14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3793541" y="2336421"/>
            <a:ext cx="1591843" cy="1960275"/>
          </a:xfrm>
          <a:prstGeom prst="rect">
            <a:avLst/>
          </a:prstGeom>
          <a:solidFill>
            <a:srgbClr val="D4C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Modelos complejos como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deep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son "cajas negras"; no se sabe por qué predicen qué. Solución: XAI (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Explainable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AI).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438693" y="2336421"/>
            <a:ext cx="1591843" cy="1960275"/>
          </a:xfrm>
          <a:prstGeom prst="rect">
            <a:avLst/>
          </a:prstGeom>
          <a:solidFill>
            <a:srgbClr val="FBC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PE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Entrenar modelos grandes requiere GPU/TPU costosas.​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7083845" y="2336421"/>
            <a:ext cx="1591843" cy="1960275"/>
          </a:xfrm>
          <a:prstGeom prst="rect">
            <a:avLst/>
          </a:prstGeom>
          <a:solidFill>
            <a:srgbClr val="FFE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Los datos cambian, el modelo se degrada. Requiere monitoreo continuo.</a:t>
            </a:r>
            <a:endParaRPr lang="es-PE" sz="14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FEF452C2-2526-4A67-ACF2-80AB58352D3D}"/>
              </a:ext>
            </a:extLst>
          </p:cNvPr>
          <p:cNvSpPr/>
          <p:nvPr/>
        </p:nvSpPr>
        <p:spPr>
          <a:xfrm>
            <a:off x="503237" y="380615"/>
            <a:ext cx="4953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MX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CARACTERÍSTICAS DE UN PROBLEMA ADECUADO PARA IA (TIPOS, LIMITACIONES Y RIESGOS)</a:t>
            </a:r>
          </a:p>
        </p:txBody>
      </p:sp>
    </p:spTree>
    <p:extLst>
      <p:ext uri="{BB962C8B-B14F-4D97-AF65-F5344CB8AC3E}">
        <p14:creationId xmlns:p14="http://schemas.microsoft.com/office/powerpoint/2010/main" val="41424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7C40EDF-4739-2522-BA05-825B7EF08984}"/>
              </a:ext>
            </a:extLst>
          </p:cNvPr>
          <p:cNvGrpSpPr/>
          <p:nvPr/>
        </p:nvGrpSpPr>
        <p:grpSpPr>
          <a:xfrm>
            <a:off x="1342032" y="1285751"/>
            <a:ext cx="6459937" cy="3940769"/>
            <a:chOff x="976707" y="1285751"/>
            <a:chExt cx="6459937" cy="3940769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04C8A0E1-BF24-1ECF-115E-8F1F39294995}"/>
                </a:ext>
              </a:extLst>
            </p:cNvPr>
            <p:cNvSpPr/>
            <p:nvPr/>
          </p:nvSpPr>
          <p:spPr>
            <a:xfrm>
              <a:off x="976707" y="1285751"/>
              <a:ext cx="3176196" cy="1836393"/>
            </a:xfrm>
            <a:prstGeom prst="roundRect">
              <a:avLst>
                <a:gd name="adj" fmla="val 4231"/>
              </a:avLst>
            </a:prstGeom>
            <a:solidFill>
              <a:srgbClr val="FCC7C4">
                <a:alpha val="80000"/>
              </a:srgb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s-MX" sz="1500" b="1" dirty="0">
                  <a:solidFill>
                    <a:srgbClr val="ED463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NARROW AI (IA ESTRECHA)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Resuelve una tarea específica (</a:t>
              </a:r>
              <a:r>
                <a:rPr lang="es-MX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chatbot</a:t>
              </a: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clasificador de imágenes).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rgbClr val="ED4637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Limitación: no generaliza fuera de su dominio.</a:t>
              </a:r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A08DEE92-3947-1951-F0BE-B70A6DD22E4E}"/>
                </a:ext>
              </a:extLst>
            </p:cNvPr>
            <p:cNvSpPr/>
            <p:nvPr/>
          </p:nvSpPr>
          <p:spPr>
            <a:xfrm>
              <a:off x="976707" y="3217540"/>
              <a:ext cx="3176196" cy="2008980"/>
            </a:xfrm>
            <a:prstGeom prst="roundRect">
              <a:avLst>
                <a:gd name="adj" fmla="val 4231"/>
              </a:avLst>
            </a:prstGeom>
            <a:solidFill>
              <a:srgbClr val="FFD7C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4"/>
                </a:buClr>
              </a:pPr>
              <a:r>
                <a:rPr lang="es-MX" sz="1500" b="1" dirty="0">
                  <a:solidFill>
                    <a:schemeClr val="accent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MACHINE LEARNING 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Aprende patrones de datos etiquetados.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Limitación: requiere muchos datos y ajuste fino de </a:t>
              </a:r>
              <a:r>
                <a:rPr lang="es-MX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hiperparámetros</a:t>
              </a: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B23B35B2-9FA5-C73D-3B06-9FA85BAE130C}"/>
                </a:ext>
              </a:extLst>
            </p:cNvPr>
            <p:cNvSpPr/>
            <p:nvPr/>
          </p:nvSpPr>
          <p:spPr>
            <a:xfrm>
              <a:off x="4260448" y="1285751"/>
              <a:ext cx="3176196" cy="1836393"/>
            </a:xfrm>
            <a:prstGeom prst="roundRect">
              <a:avLst>
                <a:gd name="adj" fmla="val 4231"/>
              </a:avLst>
            </a:prstGeom>
            <a:solidFill>
              <a:srgbClr val="D1EFF4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5"/>
                </a:buClr>
              </a:pPr>
              <a:r>
                <a:rPr lang="es-MX" sz="1500" b="1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IA GENERATIVA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Crea contenido nuevo (texto, imágenes).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5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Limitación: puede generar contenido falso o sesgado ("alucinaciones").</a:t>
              </a:r>
            </a:p>
          </p:txBody>
        </p:sp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900D143E-711C-14F4-BDF2-C08BD72B7DB8}"/>
                </a:ext>
              </a:extLst>
            </p:cNvPr>
            <p:cNvSpPr/>
            <p:nvPr/>
          </p:nvSpPr>
          <p:spPr>
            <a:xfrm>
              <a:off x="4260448" y="3217540"/>
              <a:ext cx="3176196" cy="2008980"/>
            </a:xfrm>
            <a:prstGeom prst="roundRect">
              <a:avLst>
                <a:gd name="adj" fmla="val 4231"/>
              </a:avLst>
            </a:prstGeom>
            <a:solidFill>
              <a:srgbClr val="DDEEC7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36000" rtlCol="0" anchor="t"/>
            <a:lstStyle/>
            <a:p>
              <a:pPr>
                <a:spcAft>
                  <a:spcPts val="1200"/>
                </a:spcAft>
                <a:buClr>
                  <a:schemeClr val="accent3"/>
                </a:buClr>
              </a:pPr>
              <a:r>
                <a:rPr lang="es-MX" sz="1500" b="1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DEEP LEARNING 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Redes neuronales profundas para tareas complejas.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MX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Limitación: alto costo computacional, falta de interpretabilidad.</a:t>
              </a:r>
            </a:p>
            <a:p>
              <a:pPr marL="180975" indent="-174625" defTabSz="663575"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endParaRPr lang="es-PE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180975" indent="-174625" defTabSz="663575"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endParaRPr lang="es-PE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object 7">
            <a:extLst>
              <a:ext uri="{FF2B5EF4-FFF2-40B4-BE49-F238E27FC236}">
                <a16:creationId xmlns:a16="http://schemas.microsoft.com/office/drawing/2014/main" id="{2C39040E-16A5-2CBF-A8A4-E025ABDD20FF}"/>
              </a:ext>
            </a:extLst>
          </p:cNvPr>
          <p:cNvSpPr txBox="1"/>
          <p:nvPr/>
        </p:nvSpPr>
        <p:spPr>
          <a:xfrm>
            <a:off x="511341" y="919740"/>
            <a:ext cx="5447007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DIFERENTES TIPOS DE IA, DIFERENTES LIMITACIONES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123507C-56F9-4533-97DD-BA84754F24A8}"/>
              </a:ext>
            </a:extLst>
          </p:cNvPr>
          <p:cNvSpPr/>
          <p:nvPr/>
        </p:nvSpPr>
        <p:spPr>
          <a:xfrm>
            <a:off x="503237" y="380615"/>
            <a:ext cx="4953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MX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CARACTERÍSTICAS DE UN PROBLEMA ADECUADO PARA IA (TIPOS, LIMITACIONES Y RIESGOS)</a:t>
            </a:r>
          </a:p>
        </p:txBody>
      </p:sp>
    </p:spTree>
    <p:extLst>
      <p:ext uri="{BB962C8B-B14F-4D97-AF65-F5344CB8AC3E}">
        <p14:creationId xmlns:p14="http://schemas.microsoft.com/office/powerpoint/2010/main" val="34790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TÉCNICAS PARA ENTENDER Y 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FORMULAR PROBLEMAS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5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Agrupar 50"/>
          <p:cNvGrpSpPr/>
          <p:nvPr/>
        </p:nvGrpSpPr>
        <p:grpSpPr>
          <a:xfrm>
            <a:off x="1692568" y="1426368"/>
            <a:ext cx="2806012" cy="1722587"/>
            <a:chOff x="276723" y="1465697"/>
            <a:chExt cx="2806012" cy="1722587"/>
          </a:xfrm>
        </p:grpSpPr>
        <p:sp>
          <p:nvSpPr>
            <p:cNvPr id="5" name="Rectángulo redondeado 4"/>
            <p:cNvSpPr/>
            <p:nvPr/>
          </p:nvSpPr>
          <p:spPr>
            <a:xfrm>
              <a:off x="547515" y="1465697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CCEFF2"/>
            </a:solidFill>
            <a:ln w="38100">
              <a:solidFill>
                <a:srgbClr val="00B1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marL="4763" lvl="0"/>
              <a:r>
                <a:rPr lang="es-PE" sz="1300" b="1" dirty="0">
                  <a:solidFill>
                    <a:srgbClr val="00B1C2"/>
                  </a:solidFill>
                  <a:latin typeface="Calibri" charset="0"/>
                  <a:ea typeface="Calibri" charset="0"/>
                  <a:cs typeface="Calibri" charset="0"/>
                </a:rPr>
                <a:t>PLANTEAMIENTO DEL PROBLEMA</a:t>
              </a:r>
            </a:p>
            <a:p>
              <a:pPr marL="4763" lvl="0"/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Definir objetivo, métricas, línea base.</a:t>
              </a:r>
            </a:p>
          </p:txBody>
        </p:sp>
        <p:sp>
          <p:nvSpPr>
            <p:cNvPr id="6" name="Acorde 5"/>
            <p:cNvSpPr/>
            <p:nvPr/>
          </p:nvSpPr>
          <p:spPr>
            <a:xfrm rot="12600000">
              <a:off x="276723" y="2017867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1</a:t>
              </a:r>
            </a:p>
          </p:txBody>
        </p:sp>
      </p:grpSp>
      <p:grpSp>
        <p:nvGrpSpPr>
          <p:cNvPr id="50" name="Agrupar 49"/>
          <p:cNvGrpSpPr/>
          <p:nvPr/>
        </p:nvGrpSpPr>
        <p:grpSpPr>
          <a:xfrm>
            <a:off x="4470108" y="1426368"/>
            <a:ext cx="2806012" cy="1722587"/>
            <a:chOff x="3054263" y="1481981"/>
            <a:chExt cx="2806012" cy="1722587"/>
          </a:xfrm>
        </p:grpSpPr>
        <p:sp>
          <p:nvSpPr>
            <p:cNvPr id="26" name="Rectángulo redondeado 25"/>
            <p:cNvSpPr/>
            <p:nvPr/>
          </p:nvSpPr>
          <p:spPr>
            <a:xfrm>
              <a:off x="3325055" y="1481981"/>
              <a:ext cx="2535220" cy="1722587"/>
            </a:xfrm>
            <a:prstGeom prst="roundRect">
              <a:avLst>
                <a:gd name="adj" fmla="val 7758"/>
              </a:avLst>
            </a:prstGeom>
            <a:solidFill>
              <a:srgbClr val="E6F3D6"/>
            </a:solidFill>
            <a:ln w="38100">
              <a:solidFill>
                <a:srgbClr val="8EC5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MX" sz="1300" b="1" dirty="0">
                  <a:solidFill>
                    <a:srgbClr val="8EC540"/>
                  </a:solidFill>
                  <a:latin typeface="Calibri" charset="0"/>
                  <a:ea typeface="Calibri" charset="0"/>
                  <a:cs typeface="Calibri" charset="0"/>
                </a:rPr>
                <a:t>RECOLECCIÓN Y ETIQUETADO DE DATOS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Reunir datos representativos y etiquetarlos correctamente.</a:t>
              </a:r>
            </a:p>
          </p:txBody>
        </p:sp>
        <p:sp>
          <p:nvSpPr>
            <p:cNvPr id="27" name="Acorde 26"/>
            <p:cNvSpPr/>
            <p:nvPr/>
          </p:nvSpPr>
          <p:spPr>
            <a:xfrm rot="126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2</a:t>
              </a:r>
            </a:p>
          </p:txBody>
        </p:sp>
      </p:grpSp>
      <p:grpSp>
        <p:nvGrpSpPr>
          <p:cNvPr id="52" name="Agrupar 51"/>
          <p:cNvGrpSpPr/>
          <p:nvPr/>
        </p:nvGrpSpPr>
        <p:grpSpPr>
          <a:xfrm>
            <a:off x="1692568" y="3437008"/>
            <a:ext cx="2806012" cy="1722587"/>
            <a:chOff x="276723" y="3467193"/>
            <a:chExt cx="2806012" cy="1722587"/>
          </a:xfrm>
        </p:grpSpPr>
        <p:sp>
          <p:nvSpPr>
            <p:cNvPr id="37" name="Rectángulo redondeado 36"/>
            <p:cNvSpPr/>
            <p:nvPr/>
          </p:nvSpPr>
          <p:spPr>
            <a:xfrm>
              <a:off x="547515" y="3467193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FFE2D2"/>
            </a:solidFill>
            <a:ln w="38100">
              <a:solidFill>
                <a:srgbClr val="FF78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FF7828"/>
                  </a:solidFill>
                  <a:latin typeface="Calibri" charset="0"/>
                  <a:ea typeface="Calibri" charset="0"/>
                  <a:cs typeface="Calibri" charset="0"/>
                </a:rPr>
                <a:t>ANÁLISIS EXPLORATORIO Y PROCESADO</a:t>
              </a:r>
            </a:p>
            <a:p>
              <a:pPr lvl="0"/>
              <a:r>
                <a:rPr lang="es-MX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Limpiar datos, tratar valores nulos, balancear clases.</a:t>
              </a:r>
            </a:p>
          </p:txBody>
        </p:sp>
        <p:sp>
          <p:nvSpPr>
            <p:cNvPr id="38" name="Acorde 37"/>
            <p:cNvSpPr/>
            <p:nvPr/>
          </p:nvSpPr>
          <p:spPr>
            <a:xfrm rot="12600000">
              <a:off x="276723" y="40193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F7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" name="CuadroTexto 38"/>
            <p:cNvSpPr txBox="1"/>
            <p:nvPr/>
          </p:nvSpPr>
          <p:spPr>
            <a:xfrm>
              <a:off x="479524" y="4005321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3</a:t>
              </a:r>
            </a:p>
          </p:txBody>
        </p:sp>
      </p:grpSp>
      <p:grpSp>
        <p:nvGrpSpPr>
          <p:cNvPr id="53" name="Agrupar 52"/>
          <p:cNvGrpSpPr/>
          <p:nvPr/>
        </p:nvGrpSpPr>
        <p:grpSpPr>
          <a:xfrm>
            <a:off x="4470108" y="3437008"/>
            <a:ext cx="2806012" cy="1722587"/>
            <a:chOff x="3054263" y="3483477"/>
            <a:chExt cx="2806012" cy="1722587"/>
          </a:xfrm>
        </p:grpSpPr>
        <p:sp>
          <p:nvSpPr>
            <p:cNvPr id="40" name="Rectángulo redondeado 39"/>
            <p:cNvSpPr/>
            <p:nvPr/>
          </p:nvSpPr>
          <p:spPr>
            <a:xfrm>
              <a:off x="3325055" y="3483477"/>
              <a:ext cx="2535220" cy="1722587"/>
            </a:xfrm>
            <a:prstGeom prst="roundRect">
              <a:avLst>
                <a:gd name="adj" fmla="val 8008"/>
              </a:avLst>
            </a:prstGeom>
            <a:solidFill>
              <a:srgbClr val="FFF2D1"/>
            </a:solidFill>
            <a:ln w="38100">
              <a:solidFill>
                <a:srgbClr val="FEC2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FEC212"/>
                  </a:solidFill>
                  <a:latin typeface="Calibri" charset="0"/>
                  <a:ea typeface="Calibri" charset="0"/>
                  <a:cs typeface="Calibri" charset="0"/>
                </a:rPr>
                <a:t>EXTRACCIÓN DE CARACTERÍSTICAS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Vectorización de texto, selección de variables importantes.</a:t>
              </a:r>
            </a:p>
          </p:txBody>
        </p:sp>
        <p:sp>
          <p:nvSpPr>
            <p:cNvPr id="41" name="Acorde 40"/>
            <p:cNvSpPr/>
            <p:nvPr/>
          </p:nvSpPr>
          <p:spPr>
            <a:xfrm rot="12600000">
              <a:off x="3054263" y="401735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EC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" name="CuadroTexto 41"/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4</a:t>
              </a:r>
            </a:p>
          </p:txBody>
        </p:sp>
      </p:grpSp>
      <p:sp>
        <p:nvSpPr>
          <p:cNvPr id="47" name="Rectángulo 46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DESARROLLO DEL PLAN DE INVESTIGACIÓN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8A5F5AD-5481-9452-4997-5F47545E5BBC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</p:spTree>
    <p:extLst>
      <p:ext uri="{BB962C8B-B14F-4D97-AF65-F5344CB8AC3E}">
        <p14:creationId xmlns:p14="http://schemas.microsoft.com/office/powerpoint/2010/main" val="18319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48">
            <a:extLst>
              <a:ext uri="{FF2B5EF4-FFF2-40B4-BE49-F238E27FC236}">
                <a16:creationId xmlns:a16="http://schemas.microsoft.com/office/drawing/2014/main" id="{74689B0F-CCD9-4123-B68D-1FF5CB680AA5}"/>
              </a:ext>
            </a:extLst>
          </p:cNvPr>
          <p:cNvGrpSpPr/>
          <p:nvPr/>
        </p:nvGrpSpPr>
        <p:grpSpPr>
          <a:xfrm>
            <a:off x="1692567" y="1426368"/>
            <a:ext cx="2806013" cy="1722587"/>
            <a:chOff x="5831802" y="1491617"/>
            <a:chExt cx="2806013" cy="1722587"/>
          </a:xfrm>
        </p:grpSpPr>
        <p:sp>
          <p:nvSpPr>
            <p:cNvPr id="21" name="Rectángulo redondeado 31">
              <a:extLst>
                <a:ext uri="{FF2B5EF4-FFF2-40B4-BE49-F238E27FC236}">
                  <a16:creationId xmlns:a16="http://schemas.microsoft.com/office/drawing/2014/main" id="{2A3F0E6C-6EE6-4B41-8959-5E3D1A09AAA7}"/>
                </a:ext>
              </a:extLst>
            </p:cNvPr>
            <p:cNvSpPr/>
            <p:nvPr/>
          </p:nvSpPr>
          <p:spPr>
            <a:xfrm>
              <a:off x="6102595" y="1491617"/>
              <a:ext cx="2535220" cy="1722587"/>
            </a:xfrm>
            <a:prstGeom prst="roundRect">
              <a:avLst>
                <a:gd name="adj" fmla="val 6512"/>
              </a:avLst>
            </a:prstGeom>
            <a:solidFill>
              <a:srgbClr val="FCD7D5"/>
            </a:solidFill>
            <a:ln w="3810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EE4639"/>
                  </a:solidFill>
                  <a:latin typeface="Calibri" charset="0"/>
                  <a:ea typeface="Calibri" charset="0"/>
                  <a:cs typeface="Calibri" charset="0"/>
                </a:rPr>
                <a:t>MODELADO Y ENTRENAMIENTO</a:t>
              </a:r>
            </a:p>
            <a:p>
              <a:pPr lvl="0"/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Elegir algoritmo, ajustar </a:t>
              </a:r>
              <a:r>
                <a:rPr lang="es-PE" sz="13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hiperparámetros</a:t>
              </a:r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(</a:t>
              </a:r>
              <a:r>
                <a:rPr lang="es-PE" sz="13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GridSearch</a:t>
              </a:r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).​</a:t>
              </a:r>
            </a:p>
          </p:txBody>
        </p:sp>
        <p:sp>
          <p:nvSpPr>
            <p:cNvPr id="22" name="Acorde 21">
              <a:extLst>
                <a:ext uri="{FF2B5EF4-FFF2-40B4-BE49-F238E27FC236}">
                  <a16:creationId xmlns:a16="http://schemas.microsoft.com/office/drawing/2014/main" id="{ADD31B44-337B-4DA2-87D2-AE966C9852EB}"/>
                </a:ext>
              </a:extLst>
            </p:cNvPr>
            <p:cNvSpPr/>
            <p:nvPr/>
          </p:nvSpPr>
          <p:spPr>
            <a:xfrm rot="12600000">
              <a:off x="5831802" y="202549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DED810D9-1180-4488-97DF-DF01935F1081}"/>
                </a:ext>
              </a:extLst>
            </p:cNvPr>
            <p:cNvSpPr txBox="1"/>
            <p:nvPr/>
          </p:nvSpPr>
          <p:spPr>
            <a:xfrm>
              <a:off x="6034603" y="202974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5</a:t>
              </a:r>
            </a:p>
          </p:txBody>
        </p:sp>
      </p:grpSp>
      <p:grpSp>
        <p:nvGrpSpPr>
          <p:cNvPr id="24" name="Agrupar 53">
            <a:extLst>
              <a:ext uri="{FF2B5EF4-FFF2-40B4-BE49-F238E27FC236}">
                <a16:creationId xmlns:a16="http://schemas.microsoft.com/office/drawing/2014/main" id="{47152A5B-75F4-4C34-9172-E399DD7BC264}"/>
              </a:ext>
            </a:extLst>
          </p:cNvPr>
          <p:cNvGrpSpPr/>
          <p:nvPr/>
        </p:nvGrpSpPr>
        <p:grpSpPr>
          <a:xfrm>
            <a:off x="1692567" y="3437008"/>
            <a:ext cx="2806013" cy="1722587"/>
            <a:chOff x="5831802" y="3493113"/>
            <a:chExt cx="2806013" cy="1722587"/>
          </a:xfrm>
        </p:grpSpPr>
        <p:sp>
          <p:nvSpPr>
            <p:cNvPr id="25" name="Rectángulo redondeado 42">
              <a:extLst>
                <a:ext uri="{FF2B5EF4-FFF2-40B4-BE49-F238E27FC236}">
                  <a16:creationId xmlns:a16="http://schemas.microsoft.com/office/drawing/2014/main" id="{D6512DD9-36EE-43A0-95B9-ECEAF98F911A}"/>
                </a:ext>
              </a:extLst>
            </p:cNvPr>
            <p:cNvSpPr/>
            <p:nvPr/>
          </p:nvSpPr>
          <p:spPr>
            <a:xfrm>
              <a:off x="6102595" y="3493113"/>
              <a:ext cx="2535220" cy="1722587"/>
            </a:xfrm>
            <a:prstGeom prst="roundRect">
              <a:avLst>
                <a:gd name="adj" fmla="val 6512"/>
              </a:avLst>
            </a:prstGeom>
            <a:solidFill>
              <a:srgbClr val="E0D9EB"/>
            </a:solidFill>
            <a:ln w="3810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714FA0"/>
                  </a:solidFill>
                  <a:latin typeface="Calibri" charset="0"/>
                  <a:ea typeface="Calibri" charset="0"/>
                  <a:cs typeface="Calibri" charset="0"/>
                </a:rPr>
                <a:t>PUESTA DE PRODUCCIÓN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Integrar el modelo en sistema real.</a:t>
              </a:r>
            </a:p>
          </p:txBody>
        </p:sp>
        <p:sp>
          <p:nvSpPr>
            <p:cNvPr id="29" name="Acorde 28">
              <a:extLst>
                <a:ext uri="{FF2B5EF4-FFF2-40B4-BE49-F238E27FC236}">
                  <a16:creationId xmlns:a16="http://schemas.microsoft.com/office/drawing/2014/main" id="{9E6C3D7D-E4EA-480C-9C9B-3040ED615D70}"/>
                </a:ext>
              </a:extLst>
            </p:cNvPr>
            <p:cNvSpPr/>
            <p:nvPr/>
          </p:nvSpPr>
          <p:spPr>
            <a:xfrm rot="12600000">
              <a:off x="5831802" y="4026995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8F4AD01-19A3-4C32-B585-337B12A7098F}"/>
                </a:ext>
              </a:extLst>
            </p:cNvPr>
            <p:cNvSpPr txBox="1"/>
            <p:nvPr/>
          </p:nvSpPr>
          <p:spPr>
            <a:xfrm>
              <a:off x="6034603" y="4031241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7</a:t>
              </a:r>
            </a:p>
          </p:txBody>
        </p:sp>
      </p:grpSp>
      <p:grpSp>
        <p:nvGrpSpPr>
          <p:cNvPr id="50" name="Agrupar 49"/>
          <p:cNvGrpSpPr/>
          <p:nvPr/>
        </p:nvGrpSpPr>
        <p:grpSpPr>
          <a:xfrm>
            <a:off x="4470108" y="1426368"/>
            <a:ext cx="2806012" cy="1722587"/>
            <a:chOff x="3054263" y="1481981"/>
            <a:chExt cx="2806012" cy="1722587"/>
          </a:xfrm>
        </p:grpSpPr>
        <p:sp>
          <p:nvSpPr>
            <p:cNvPr id="26" name="Rectángulo redondeado 25"/>
            <p:cNvSpPr/>
            <p:nvPr/>
          </p:nvSpPr>
          <p:spPr>
            <a:xfrm>
              <a:off x="3325055" y="1481981"/>
              <a:ext cx="2535220" cy="1722587"/>
            </a:xfrm>
            <a:prstGeom prst="roundRect">
              <a:avLst>
                <a:gd name="adj" fmla="val 775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MX" sz="1300" b="1" dirty="0">
                  <a:solidFill>
                    <a:schemeClr val="accent6"/>
                  </a:solidFill>
                  <a:latin typeface="Calibri" charset="0"/>
                  <a:ea typeface="Calibri" charset="0"/>
                  <a:cs typeface="Calibri" charset="0"/>
                </a:rPr>
                <a:t>EVALUACIÓN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Medir con métricas, comparar con línea base.</a:t>
              </a:r>
            </a:p>
          </p:txBody>
        </p:sp>
        <p:sp>
          <p:nvSpPr>
            <p:cNvPr id="27" name="Acorde 26"/>
            <p:cNvSpPr/>
            <p:nvPr/>
          </p:nvSpPr>
          <p:spPr>
            <a:xfrm rot="126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6</a:t>
              </a:r>
            </a:p>
          </p:txBody>
        </p:sp>
      </p:grpSp>
      <p:grpSp>
        <p:nvGrpSpPr>
          <p:cNvPr id="53" name="Agrupar 52"/>
          <p:cNvGrpSpPr/>
          <p:nvPr/>
        </p:nvGrpSpPr>
        <p:grpSpPr>
          <a:xfrm>
            <a:off x="4470108" y="3437008"/>
            <a:ext cx="2806012" cy="1722587"/>
            <a:chOff x="3054263" y="3483477"/>
            <a:chExt cx="2806012" cy="1722587"/>
          </a:xfrm>
        </p:grpSpPr>
        <p:sp>
          <p:nvSpPr>
            <p:cNvPr id="40" name="Rectángulo redondeado 39"/>
            <p:cNvSpPr/>
            <p:nvPr/>
          </p:nvSpPr>
          <p:spPr>
            <a:xfrm>
              <a:off x="3325055" y="3483477"/>
              <a:ext cx="2535220" cy="1722587"/>
            </a:xfrm>
            <a:prstGeom prst="roundRect">
              <a:avLst>
                <a:gd name="adj" fmla="val 8008"/>
              </a:avLst>
            </a:prstGeom>
            <a:solidFill>
              <a:schemeClr val="bg2">
                <a:lumMod val="20000"/>
                <a:lumOff val="80000"/>
              </a:schemeClr>
            </a:solidFill>
            <a:ln w="381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chemeClr val="bg2"/>
                  </a:solidFill>
                  <a:latin typeface="Calibri" charset="0"/>
                  <a:ea typeface="Calibri" charset="0"/>
                  <a:cs typeface="Calibri" charset="0"/>
                </a:rPr>
                <a:t>MANTENIMIENTO Y MONITOREO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Detectar degradación, reentrenar según sea necesario.​</a:t>
              </a:r>
            </a:p>
          </p:txBody>
        </p:sp>
        <p:sp>
          <p:nvSpPr>
            <p:cNvPr id="41" name="Acorde 40"/>
            <p:cNvSpPr/>
            <p:nvPr/>
          </p:nvSpPr>
          <p:spPr>
            <a:xfrm rot="12600000">
              <a:off x="3054263" y="401735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" name="CuadroTexto 41"/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8</a:t>
              </a:r>
            </a:p>
          </p:txBody>
        </p:sp>
      </p:grpSp>
      <p:sp>
        <p:nvSpPr>
          <p:cNvPr id="47" name="Rectángulo 46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DESARROLLO DEL PLAN DE INVESTIGACIÓN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8A5F5AD-5481-9452-4997-5F47545E5BBC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</p:spTree>
    <p:extLst>
      <p:ext uri="{BB962C8B-B14F-4D97-AF65-F5344CB8AC3E}">
        <p14:creationId xmlns:p14="http://schemas.microsoft.com/office/powerpoint/2010/main" val="426925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E60B871-EBC5-4A47-9853-B2D154FE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1" y="971550"/>
            <a:ext cx="3267011" cy="4305901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8A5F5AD-5481-9452-4997-5F47545E5BBC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A927180-3FBC-45E7-89AF-EEC177E2982A}"/>
              </a:ext>
            </a:extLst>
          </p:cNvPr>
          <p:cNvSpPr/>
          <p:nvPr/>
        </p:nvSpPr>
        <p:spPr>
          <a:xfrm>
            <a:off x="4736864" y="1395490"/>
            <a:ext cx="4051551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Definir el problema con claridad: "Clasificar automáticamente incidencias de soporte técnico en 4 categorías" (no poner: “Mejorar el servicio").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307E81D-D9B4-48FC-BE8D-CC19C2CEA0DD}"/>
              </a:ext>
            </a:extLst>
          </p:cNvPr>
          <p:cNvSpPr/>
          <p:nvPr/>
        </p:nvSpPr>
        <p:spPr>
          <a:xfrm>
            <a:off x="3962389" y="1327441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0B46981A-B0B1-44A9-B6A3-3CD1506B8DE6}"/>
              </a:ext>
            </a:extLst>
          </p:cNvPr>
          <p:cNvCxnSpPr>
            <a:cxnSpLocks/>
            <a:endCxn id="62" idx="4"/>
          </p:cNvCxnSpPr>
          <p:nvPr/>
        </p:nvCxnSpPr>
        <p:spPr>
          <a:xfrm flipH="1">
            <a:off x="4518414" y="1453357"/>
            <a:ext cx="2" cy="3275763"/>
          </a:xfrm>
          <a:prstGeom prst="line">
            <a:avLst/>
          </a:prstGeom>
          <a:ln>
            <a:solidFill>
              <a:srgbClr val="01B1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0BA0414-7C48-4B56-BFEA-5BF7B07DDAD2}"/>
              </a:ext>
            </a:extLst>
          </p:cNvPr>
          <p:cNvSpPr/>
          <p:nvPr/>
        </p:nvSpPr>
        <p:spPr>
          <a:xfrm>
            <a:off x="3962389" y="2194100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9A508AA-B041-4590-99D4-719549EB02F6}"/>
              </a:ext>
            </a:extLst>
          </p:cNvPr>
          <p:cNvSpPr/>
          <p:nvPr/>
        </p:nvSpPr>
        <p:spPr>
          <a:xfrm>
            <a:off x="3974004" y="2867476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5A1798D-530B-412F-8ADB-7CBD4CE12DD3}"/>
              </a:ext>
            </a:extLst>
          </p:cNvPr>
          <p:cNvSpPr/>
          <p:nvPr/>
        </p:nvSpPr>
        <p:spPr>
          <a:xfrm>
            <a:off x="4736864" y="2270519"/>
            <a:ext cx="39367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Entender los datos: ¿qué variables tenemos?, ¿cuán complejos son?, ¿hay sesgos evidentes?</a:t>
            </a:r>
          </a:p>
        </p:txBody>
      </p:sp>
      <p:grpSp>
        <p:nvGrpSpPr>
          <p:cNvPr id="39" name="Agrupar 29">
            <a:extLst>
              <a:ext uri="{FF2B5EF4-FFF2-40B4-BE49-F238E27FC236}">
                <a16:creationId xmlns:a16="http://schemas.microsoft.com/office/drawing/2014/main" id="{CB342177-9145-4FD1-BB7C-D07641448F37}"/>
              </a:ext>
            </a:extLst>
          </p:cNvPr>
          <p:cNvGrpSpPr/>
          <p:nvPr/>
        </p:nvGrpSpPr>
        <p:grpSpPr>
          <a:xfrm>
            <a:off x="4448018" y="1431480"/>
            <a:ext cx="140792" cy="140258"/>
            <a:chOff x="3427964" y="2244682"/>
            <a:chExt cx="225891" cy="225034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C513B9B4-A343-4FF4-A9E9-18E291F1B605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1C51EE01-82DD-4EEC-86D8-A1575F5511CF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EF7AD27-E84F-4C77-9CCE-79C323787B30}"/>
              </a:ext>
            </a:extLst>
          </p:cNvPr>
          <p:cNvSpPr/>
          <p:nvPr/>
        </p:nvSpPr>
        <p:spPr>
          <a:xfrm>
            <a:off x="4744016" y="2930104"/>
            <a:ext cx="40515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Establecer objetivos SMART: reducir tiempo de resolución de tickets en un 50%, mejorar satisfacción a 90%.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D2D4DA4-D826-4F14-874B-23FAD8F2B2DD}"/>
              </a:ext>
            </a:extLst>
          </p:cNvPr>
          <p:cNvSpPr/>
          <p:nvPr/>
        </p:nvSpPr>
        <p:spPr>
          <a:xfrm>
            <a:off x="4744018" y="3748541"/>
            <a:ext cx="4195043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Definir línea base: si un empleado clasifica tickets manualmente con 85% de acierto, el modelo debe superarlo.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3CA7D47B-21F9-4A57-8846-B3CA498D1CA9}"/>
              </a:ext>
            </a:extLst>
          </p:cNvPr>
          <p:cNvSpPr/>
          <p:nvPr/>
        </p:nvSpPr>
        <p:spPr>
          <a:xfrm>
            <a:off x="3974096" y="3667244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352BCFF-87A5-4C0C-A8C9-86A164C5DF17}"/>
              </a:ext>
            </a:extLst>
          </p:cNvPr>
          <p:cNvSpPr/>
          <p:nvPr/>
        </p:nvSpPr>
        <p:spPr>
          <a:xfrm>
            <a:off x="3969596" y="4455333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05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51" name="Agrupar 29">
            <a:extLst>
              <a:ext uri="{FF2B5EF4-FFF2-40B4-BE49-F238E27FC236}">
                <a16:creationId xmlns:a16="http://schemas.microsoft.com/office/drawing/2014/main" id="{C0D7C4FB-428A-4F43-B30C-9BE9136F36AB}"/>
              </a:ext>
            </a:extLst>
          </p:cNvPr>
          <p:cNvGrpSpPr/>
          <p:nvPr/>
        </p:nvGrpSpPr>
        <p:grpSpPr>
          <a:xfrm>
            <a:off x="4448018" y="2313439"/>
            <a:ext cx="140792" cy="140258"/>
            <a:chOff x="3427964" y="2244682"/>
            <a:chExt cx="225891" cy="225034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3C7E1179-2F85-4C42-82D2-682FD5AD050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ACAE354A-4C34-483D-8BBC-1782348BF7E4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5" name="Agrupar 29">
            <a:extLst>
              <a:ext uri="{FF2B5EF4-FFF2-40B4-BE49-F238E27FC236}">
                <a16:creationId xmlns:a16="http://schemas.microsoft.com/office/drawing/2014/main" id="{C87E9607-792E-4248-ACED-954A4F487635}"/>
              </a:ext>
            </a:extLst>
          </p:cNvPr>
          <p:cNvGrpSpPr/>
          <p:nvPr/>
        </p:nvGrpSpPr>
        <p:grpSpPr>
          <a:xfrm>
            <a:off x="4448018" y="2969901"/>
            <a:ext cx="140792" cy="140258"/>
            <a:chOff x="3427964" y="2244682"/>
            <a:chExt cx="225891" cy="225034"/>
          </a:xfrm>
        </p:grpSpPr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30CE1E5A-E05A-4783-BB12-D0BE29D8063C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088F5DAF-6DF1-4500-BF3E-CC0389870F5D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8" name="Agrupar 29">
            <a:extLst>
              <a:ext uri="{FF2B5EF4-FFF2-40B4-BE49-F238E27FC236}">
                <a16:creationId xmlns:a16="http://schemas.microsoft.com/office/drawing/2014/main" id="{756D38B5-83D5-441C-B55F-EAA62C7DDE79}"/>
              </a:ext>
            </a:extLst>
          </p:cNvPr>
          <p:cNvGrpSpPr/>
          <p:nvPr/>
        </p:nvGrpSpPr>
        <p:grpSpPr>
          <a:xfrm>
            <a:off x="4448018" y="3779381"/>
            <a:ext cx="140792" cy="140258"/>
            <a:chOff x="3427964" y="2244682"/>
            <a:chExt cx="225891" cy="225034"/>
          </a:xfrm>
        </p:grpSpPr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A0E5689B-1F86-46EF-B0D8-53D491C39DDF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E14E92A2-12CD-4617-AE87-32A5AC145BB0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61" name="Agrupar 29">
            <a:extLst>
              <a:ext uri="{FF2B5EF4-FFF2-40B4-BE49-F238E27FC236}">
                <a16:creationId xmlns:a16="http://schemas.microsoft.com/office/drawing/2014/main" id="{6F991F14-F0B7-4F4C-BC56-185145B47475}"/>
              </a:ext>
            </a:extLst>
          </p:cNvPr>
          <p:cNvGrpSpPr/>
          <p:nvPr/>
        </p:nvGrpSpPr>
        <p:grpSpPr>
          <a:xfrm>
            <a:off x="4448018" y="4588862"/>
            <a:ext cx="140792" cy="140258"/>
            <a:chOff x="3427964" y="2244682"/>
            <a:chExt cx="225891" cy="225034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11923046-4DA9-401A-9F06-F22BFAD8EEFD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F1E6685B-B8DC-4953-B5E3-37DDC4C3322B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D8B77E2-3129-4085-9A79-853B8041234D}"/>
              </a:ext>
            </a:extLst>
          </p:cNvPr>
          <p:cNvSpPr/>
          <p:nvPr/>
        </p:nvSpPr>
        <p:spPr>
          <a:xfrm>
            <a:off x="4057039" y="971550"/>
            <a:ext cx="426141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¿QUÉ PROBLEMA VAMOS A RESOLVER?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A4ECACA0-3D39-4FCE-8805-6BDA56C2376A}"/>
              </a:ext>
            </a:extLst>
          </p:cNvPr>
          <p:cNvSpPr/>
          <p:nvPr/>
        </p:nvSpPr>
        <p:spPr>
          <a:xfrm>
            <a:off x="4736864" y="4566978"/>
            <a:ext cx="419504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Preguntas clave: "¿Qué pasa si el modelo falla? ¿Cuál es el costo del error?“.</a:t>
            </a:r>
          </a:p>
        </p:txBody>
      </p:sp>
    </p:spTree>
    <p:extLst>
      <p:ext uri="{BB962C8B-B14F-4D97-AF65-F5344CB8AC3E}">
        <p14:creationId xmlns:p14="http://schemas.microsoft.com/office/powerpoint/2010/main" val="38581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825374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RECOLECCIÓN Y ETIQUETADO DE DATOS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262626"/>
              </a:buClr>
              <a:buSzPts val="1600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 agrupan datos representativos y se marcan con reglas claras para que el modelo aprenda.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4D54E7-9D7B-48D7-A68C-F1F624C0392F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  <p:sp>
        <p:nvSpPr>
          <p:cNvPr id="9" name="Google Shape;379;p17">
            <a:extLst>
              <a:ext uri="{FF2B5EF4-FFF2-40B4-BE49-F238E27FC236}">
                <a16:creationId xmlns:a16="http://schemas.microsoft.com/office/drawing/2014/main" id="{B3FC2574-67E6-4631-B458-D51D2652C47E}"/>
              </a:ext>
            </a:extLst>
          </p:cNvPr>
          <p:cNvSpPr/>
          <p:nvPr/>
        </p:nvSpPr>
        <p:spPr>
          <a:xfrm>
            <a:off x="1228090" y="1873731"/>
            <a:ext cx="6687820" cy="365125"/>
          </a:xfrm>
          <a:prstGeom prst="roundRect">
            <a:avLst>
              <a:gd name="adj" fmla="val 21043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Calibri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</a:t>
            </a:r>
            <a:endParaRPr sz="1600"/>
          </a:p>
        </p:txBody>
      </p:sp>
      <p:sp>
        <p:nvSpPr>
          <p:cNvPr id="10" name="Google Shape;380;p17">
            <a:extLst>
              <a:ext uri="{FF2B5EF4-FFF2-40B4-BE49-F238E27FC236}">
                <a16:creationId xmlns:a16="http://schemas.microsoft.com/office/drawing/2014/main" id="{812DFDD7-854D-4A9E-BD6C-A590AF693C4D}"/>
              </a:ext>
            </a:extLst>
          </p:cNvPr>
          <p:cNvSpPr/>
          <p:nvPr/>
        </p:nvSpPr>
        <p:spPr>
          <a:xfrm>
            <a:off x="1226820" y="2238856"/>
            <a:ext cx="6688455" cy="382905"/>
          </a:xfrm>
          <a:prstGeom prst="roundRect">
            <a:avLst>
              <a:gd name="adj" fmla="val 28524"/>
            </a:avLst>
          </a:prstGeom>
          <a:solidFill>
            <a:srgbClr val="C4E0B2"/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Fuentes → Muestreo → Guía de etiquetas → Etiquetado → QA → </a:t>
            </a:r>
            <a:r>
              <a:rPr lang="es-419" sz="1600" b="0" i="0" u="none" strike="noStrike" cap="none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Google Shape;381;p17">
            <a:extLst>
              <a:ext uri="{FF2B5EF4-FFF2-40B4-BE49-F238E27FC236}">
                <a16:creationId xmlns:a16="http://schemas.microsoft.com/office/drawing/2014/main" id="{19744428-BFB1-45D3-A75C-49B974447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951730"/>
              </p:ext>
            </p:extLst>
          </p:nvPr>
        </p:nvGraphicFramePr>
        <p:xfrm>
          <a:off x="1241425" y="2820676"/>
          <a:ext cx="6673850" cy="1531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3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RÁPIDO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representativo.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Muestreo por segmentos, casos raros.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Etiquetas inconsistentes.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Guidelines</a:t>
                      </a: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ejemplos + revisión.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</a:t>
                      </a:r>
                      <a:r>
                        <a:rPr lang="es-419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leakage</a:t>
                      </a: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 </a:t>
                      </a:r>
                      <a:r>
                        <a:rPr lang="es-419" sz="14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</a:t>
                      </a:r>
                      <a:r>
                        <a:rPr lang="es-419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val, test de inicio.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Google Shape;382;p17">
            <a:extLst>
              <a:ext uri="{FF2B5EF4-FFF2-40B4-BE49-F238E27FC236}">
                <a16:creationId xmlns:a16="http://schemas.microsoft.com/office/drawing/2014/main" id="{B8CF7280-FDA4-4ED7-8468-1CE134F79536}"/>
              </a:ext>
            </a:extLst>
          </p:cNvPr>
          <p:cNvSpPr txBox="1"/>
          <p:nvPr/>
        </p:nvSpPr>
        <p:spPr>
          <a:xfrm>
            <a:off x="503238" y="4590529"/>
            <a:ext cx="668909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se obtiene?</a:t>
            </a: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guía de etiquetado, reporte de calidad.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17005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825374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ESTABLECER LA LÍNEA BASE: TU PUNTO DE REFERENCIA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4D54E7-9D7B-48D7-A68C-F1F624C0392F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  <p:grpSp>
        <p:nvGrpSpPr>
          <p:cNvPr id="11" name="Google Shape;388;p18">
            <a:extLst>
              <a:ext uri="{FF2B5EF4-FFF2-40B4-BE49-F238E27FC236}">
                <a16:creationId xmlns:a16="http://schemas.microsoft.com/office/drawing/2014/main" id="{B4CD91C4-785D-4604-9023-D6A1EFAEAB1C}"/>
              </a:ext>
            </a:extLst>
          </p:cNvPr>
          <p:cNvGrpSpPr/>
          <p:nvPr/>
        </p:nvGrpSpPr>
        <p:grpSpPr>
          <a:xfrm>
            <a:off x="503238" y="1164593"/>
            <a:ext cx="7747484" cy="501853"/>
            <a:chOff x="503237" y="1655543"/>
            <a:chExt cx="7697335" cy="365282"/>
          </a:xfrm>
        </p:grpSpPr>
        <p:sp>
          <p:nvSpPr>
            <p:cNvPr id="14" name="Google Shape;389;p18">
              <a:extLst>
                <a:ext uri="{FF2B5EF4-FFF2-40B4-BE49-F238E27FC236}">
                  <a16:creationId xmlns:a16="http://schemas.microsoft.com/office/drawing/2014/main" id="{1F4B0E3C-8990-4B7E-8ACD-CDEB3216C187}"/>
                </a:ext>
              </a:extLst>
            </p:cNvPr>
            <p:cNvSpPr/>
            <p:nvPr/>
          </p:nvSpPr>
          <p:spPr>
            <a:xfrm>
              <a:off x="503237" y="1655543"/>
              <a:ext cx="1499299" cy="365282"/>
            </a:xfrm>
            <a:prstGeom prst="rect">
              <a:avLst/>
            </a:prstGeom>
            <a:solidFill>
              <a:srgbClr val="00B1C3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Línea base interna</a:t>
              </a:r>
              <a:endParaRPr dirty="0"/>
            </a:p>
          </p:txBody>
        </p:sp>
        <p:sp>
          <p:nvSpPr>
            <p:cNvPr id="15" name="Google Shape;390;p18">
              <a:extLst>
                <a:ext uri="{FF2B5EF4-FFF2-40B4-BE49-F238E27FC236}">
                  <a16:creationId xmlns:a16="http://schemas.microsoft.com/office/drawing/2014/main" id="{6C5B4644-EDC7-465D-9773-7ACDDE051578}"/>
                </a:ext>
              </a:extLst>
            </p:cNvPr>
            <p:cNvSpPr/>
            <p:nvPr/>
          </p:nvSpPr>
          <p:spPr>
            <a:xfrm>
              <a:off x="2052746" y="1655543"/>
              <a:ext cx="1499299" cy="365282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Línea base externa</a:t>
              </a:r>
              <a:endParaRPr dirty="0"/>
            </a:p>
          </p:txBody>
        </p:sp>
        <p:sp>
          <p:nvSpPr>
            <p:cNvPr id="16" name="Google Shape;391;p18">
              <a:extLst>
                <a:ext uri="{FF2B5EF4-FFF2-40B4-BE49-F238E27FC236}">
                  <a16:creationId xmlns:a16="http://schemas.microsoft.com/office/drawing/2014/main" id="{5EBDD1CD-98FB-42B1-9880-09532078E9BF}"/>
                </a:ext>
              </a:extLst>
            </p:cNvPr>
            <p:cNvSpPr/>
            <p:nvPr/>
          </p:nvSpPr>
          <p:spPr>
            <a:xfrm>
              <a:off x="3602255" y="1655543"/>
              <a:ext cx="1499299" cy="365282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Línea base trivial</a:t>
              </a:r>
              <a:endParaRPr dirty="0"/>
            </a:p>
          </p:txBody>
        </p:sp>
        <p:sp>
          <p:nvSpPr>
            <p:cNvPr id="17" name="Google Shape;392;p18">
              <a:extLst>
                <a:ext uri="{FF2B5EF4-FFF2-40B4-BE49-F238E27FC236}">
                  <a16:creationId xmlns:a16="http://schemas.microsoft.com/office/drawing/2014/main" id="{C5F501F1-0F6A-41FF-981D-A4940B72C953}"/>
                </a:ext>
              </a:extLst>
            </p:cNvPr>
            <p:cNvSpPr/>
            <p:nvPr/>
          </p:nvSpPr>
          <p:spPr>
            <a:xfrm>
              <a:off x="5151764" y="1655543"/>
              <a:ext cx="1499299" cy="365282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419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Importancia</a:t>
              </a:r>
              <a:endParaRPr/>
            </a:p>
          </p:txBody>
        </p:sp>
        <p:sp>
          <p:nvSpPr>
            <p:cNvPr id="18" name="Google Shape;393;p18">
              <a:extLst>
                <a:ext uri="{FF2B5EF4-FFF2-40B4-BE49-F238E27FC236}">
                  <a16:creationId xmlns:a16="http://schemas.microsoft.com/office/drawing/2014/main" id="{125D8977-B00E-4698-A67F-849CBBF77611}"/>
                </a:ext>
              </a:extLst>
            </p:cNvPr>
            <p:cNvSpPr/>
            <p:nvPr/>
          </p:nvSpPr>
          <p:spPr>
            <a:xfrm>
              <a:off x="6701273" y="1655543"/>
              <a:ext cx="1499299" cy="365282"/>
            </a:xfrm>
            <a:prstGeom prst="rect">
              <a:avLst/>
            </a:prstGeom>
            <a:solidFill>
              <a:srgbClr val="FDC212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lang="es-419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Caso práctico</a:t>
              </a:r>
              <a:endParaRPr/>
            </a:p>
          </p:txBody>
        </p:sp>
      </p:grpSp>
      <p:sp>
        <p:nvSpPr>
          <p:cNvPr id="19" name="Google Shape;394;p18">
            <a:extLst>
              <a:ext uri="{FF2B5EF4-FFF2-40B4-BE49-F238E27FC236}">
                <a16:creationId xmlns:a16="http://schemas.microsoft.com/office/drawing/2014/main" id="{8E45C99E-136E-492C-8DFE-C8A31C6C62DE}"/>
              </a:ext>
            </a:extLst>
          </p:cNvPr>
          <p:cNvSpPr/>
          <p:nvPr/>
        </p:nvSpPr>
        <p:spPr>
          <a:xfrm>
            <a:off x="503239" y="3065507"/>
            <a:ext cx="1509067" cy="2267963"/>
          </a:xfrm>
          <a:prstGeom prst="rect">
            <a:avLst/>
          </a:prstGeom>
          <a:solidFill>
            <a:srgbClr val="B9E7ED"/>
          </a:solidFill>
          <a:ln>
            <a:noFill/>
          </a:ln>
        </p:spPr>
        <p:txBody>
          <a:bodyPr spcFirstLastPara="1" wrap="square" lIns="102375" tIns="102375" rIns="86650" bIns="433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Desempeño humano en la tarea (ejemplo: un médico diagnostica correctamente en 92% de casos).</a:t>
            </a:r>
            <a:endParaRPr dirty="0"/>
          </a:p>
        </p:txBody>
      </p:sp>
      <p:sp>
        <p:nvSpPr>
          <p:cNvPr id="20" name="Google Shape;395;p18">
            <a:extLst>
              <a:ext uri="{FF2B5EF4-FFF2-40B4-BE49-F238E27FC236}">
                <a16:creationId xmlns:a16="http://schemas.microsoft.com/office/drawing/2014/main" id="{22D4D36D-40F7-4F6C-8405-2AEAFDA333D4}"/>
              </a:ext>
            </a:extLst>
          </p:cNvPr>
          <p:cNvSpPr/>
          <p:nvPr/>
        </p:nvSpPr>
        <p:spPr>
          <a:xfrm>
            <a:off x="2062843" y="3065507"/>
            <a:ext cx="1509067" cy="2267963"/>
          </a:xfrm>
          <a:prstGeom prst="rect">
            <a:avLst/>
          </a:prstGeom>
          <a:solidFill>
            <a:srgbClr val="DDEEC7"/>
          </a:solidFill>
          <a:ln>
            <a:noFill/>
          </a:ln>
        </p:spPr>
        <p:txBody>
          <a:bodyPr spcFirstLastPara="1" wrap="square" lIns="102375" tIns="102375" rIns="86650" bIns="433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4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Benchmarks de la industria, soluciones existentes.</a:t>
            </a:r>
            <a:endParaRPr/>
          </a:p>
        </p:txBody>
      </p:sp>
      <p:sp>
        <p:nvSpPr>
          <p:cNvPr id="21" name="Google Shape;396;p18">
            <a:extLst>
              <a:ext uri="{FF2B5EF4-FFF2-40B4-BE49-F238E27FC236}">
                <a16:creationId xmlns:a16="http://schemas.microsoft.com/office/drawing/2014/main" id="{B54D9970-12A1-4E34-B6B1-ACD9F0D1A43C}"/>
              </a:ext>
            </a:extLst>
          </p:cNvPr>
          <p:cNvSpPr/>
          <p:nvPr/>
        </p:nvSpPr>
        <p:spPr>
          <a:xfrm>
            <a:off x="3622447" y="3065507"/>
            <a:ext cx="1509067" cy="2267963"/>
          </a:xfrm>
          <a:prstGeom prst="rect">
            <a:avLst/>
          </a:prstGeom>
          <a:solidFill>
            <a:srgbClr val="D4CBE3"/>
          </a:solidFill>
          <a:ln>
            <a:noFill/>
          </a:ln>
        </p:spPr>
        <p:txBody>
          <a:bodyPr spcFirstLastPara="1" wrap="square" lIns="102375" tIns="102375" rIns="86650" bIns="433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modelo que siempre predice la clase mayoritaria (ejemplo: si 80% de datos son positivos, un modelo "</a:t>
            </a:r>
            <a:r>
              <a:rPr lang="es-41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dummy</a:t>
            </a: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obtiene 80% de </a:t>
            </a:r>
            <a:r>
              <a:rPr lang="es-419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/>
          </a:p>
        </p:txBody>
      </p:sp>
      <p:sp>
        <p:nvSpPr>
          <p:cNvPr id="22" name="Google Shape;397;p18">
            <a:extLst>
              <a:ext uri="{FF2B5EF4-FFF2-40B4-BE49-F238E27FC236}">
                <a16:creationId xmlns:a16="http://schemas.microsoft.com/office/drawing/2014/main" id="{A9195E08-9FE2-478F-8C1C-FC2242BE5151}"/>
              </a:ext>
            </a:extLst>
          </p:cNvPr>
          <p:cNvSpPr/>
          <p:nvPr/>
        </p:nvSpPr>
        <p:spPr>
          <a:xfrm>
            <a:off x="5182051" y="3065507"/>
            <a:ext cx="1509067" cy="2267963"/>
          </a:xfrm>
          <a:prstGeom prst="rect">
            <a:avLst/>
          </a:prstGeom>
          <a:solidFill>
            <a:srgbClr val="FBC8C4"/>
          </a:solidFill>
          <a:ln>
            <a:noFill/>
          </a:ln>
        </p:spPr>
        <p:txBody>
          <a:bodyPr spcFirstLastPara="1" wrap="square" lIns="102375" tIns="102375" rIns="86650" bIns="433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4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línea base, no sabes si tu modelo es bueno o malo. Establécela al inicio.</a:t>
            </a:r>
            <a:endParaRPr/>
          </a:p>
        </p:txBody>
      </p:sp>
      <p:sp>
        <p:nvSpPr>
          <p:cNvPr id="23" name="Google Shape;398;p18">
            <a:extLst>
              <a:ext uri="{FF2B5EF4-FFF2-40B4-BE49-F238E27FC236}">
                <a16:creationId xmlns:a16="http://schemas.microsoft.com/office/drawing/2014/main" id="{B5B033AD-AD96-431B-A6D8-F7B254C9F349}"/>
              </a:ext>
            </a:extLst>
          </p:cNvPr>
          <p:cNvSpPr/>
          <p:nvPr/>
        </p:nvSpPr>
        <p:spPr>
          <a:xfrm>
            <a:off x="6741655" y="3065507"/>
            <a:ext cx="1509067" cy="2267963"/>
          </a:xfrm>
          <a:prstGeom prst="rect">
            <a:avLst/>
          </a:prstGeom>
          <a:solidFill>
            <a:srgbClr val="FFEDBF"/>
          </a:solidFill>
          <a:ln>
            <a:noFill/>
          </a:ln>
        </p:spPr>
        <p:txBody>
          <a:bodyPr spcFirstLastPara="1" wrap="square" lIns="102375" tIns="102375" rIns="86650" bIns="433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clasificación de incidencias, si el mejor desempeño humano es 85% F1, tu modelo debe alcanzar mínimo 87%.</a:t>
            </a:r>
            <a:endParaRPr dirty="0"/>
          </a:p>
        </p:txBody>
      </p:sp>
      <p:pic>
        <p:nvPicPr>
          <p:cNvPr id="24" name="Google Shape;399;p18">
            <a:extLst>
              <a:ext uri="{FF2B5EF4-FFF2-40B4-BE49-F238E27FC236}">
                <a16:creationId xmlns:a16="http://schemas.microsoft.com/office/drawing/2014/main" id="{6C010DBA-C906-47E2-B02B-C1D5115CB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435" y="1666499"/>
            <a:ext cx="1508125" cy="139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00;p18">
            <a:extLst>
              <a:ext uri="{FF2B5EF4-FFF2-40B4-BE49-F238E27FC236}">
                <a16:creationId xmlns:a16="http://schemas.microsoft.com/office/drawing/2014/main" id="{6071642C-43A4-44E2-8CAE-9DC5E784EF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2995" y="1666499"/>
            <a:ext cx="150558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401;p18">
            <a:extLst>
              <a:ext uri="{FF2B5EF4-FFF2-40B4-BE49-F238E27FC236}">
                <a16:creationId xmlns:a16="http://schemas.microsoft.com/office/drawing/2014/main" id="{338F3F3E-A0AC-432D-A4FF-83FF6758C3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20015" y="1666499"/>
            <a:ext cx="152844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02;p18">
            <a:extLst>
              <a:ext uri="{FF2B5EF4-FFF2-40B4-BE49-F238E27FC236}">
                <a16:creationId xmlns:a16="http://schemas.microsoft.com/office/drawing/2014/main" id="{BAA3D989-D28B-441D-857B-C6CB050F8D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85290" y="1666499"/>
            <a:ext cx="1509395" cy="140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03;p18">
            <a:extLst>
              <a:ext uri="{FF2B5EF4-FFF2-40B4-BE49-F238E27FC236}">
                <a16:creationId xmlns:a16="http://schemas.microsoft.com/office/drawing/2014/main" id="{7EA665E6-1787-41E1-8D29-EC8DFD6612D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1515" y="1666499"/>
            <a:ext cx="1518920" cy="1399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01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redondeado 43"/>
          <p:cNvSpPr/>
          <p:nvPr/>
        </p:nvSpPr>
        <p:spPr>
          <a:xfrm>
            <a:off x="5809309" y="1567835"/>
            <a:ext cx="1973019" cy="2743895"/>
          </a:xfrm>
          <a:prstGeom prst="roundRect">
            <a:avLst>
              <a:gd name="adj" fmla="val 74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OPTIMIZAR</a:t>
            </a:r>
            <a:endParaRPr lang="es-PE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38113" lvl="0" indent="-133350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Búsqueda: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grid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random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138113" lvl="0" indent="-133350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Evitar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overfitting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: regularización,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early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stopping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138113" lvl="0" indent="-133350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Resultado: modelo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vX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+ configuración.</a:t>
            </a:r>
          </a:p>
        </p:txBody>
      </p:sp>
      <p:sp>
        <p:nvSpPr>
          <p:cNvPr id="45" name="Elipse 44"/>
          <p:cNvSpPr/>
          <p:nvPr/>
        </p:nvSpPr>
        <p:spPr>
          <a:xfrm>
            <a:off x="5655496" y="2751745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46" name="Elipse 45"/>
          <p:cNvSpPr/>
          <p:nvPr/>
        </p:nvSpPr>
        <p:spPr>
          <a:xfrm>
            <a:off x="5591731" y="2737871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47" name="Triángulo 46"/>
          <p:cNvSpPr/>
          <p:nvPr/>
        </p:nvSpPr>
        <p:spPr>
          <a:xfrm rot="5400000">
            <a:off x="5775503" y="2878592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40" name="Rectángulo redondeado 39"/>
          <p:cNvSpPr/>
          <p:nvPr/>
        </p:nvSpPr>
        <p:spPr>
          <a:xfrm>
            <a:off x="3747625" y="1567835"/>
            <a:ext cx="1973019" cy="2743895"/>
          </a:xfrm>
          <a:prstGeom prst="roundRect">
            <a:avLst>
              <a:gd name="adj" fmla="val 74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ENTRENAR</a:t>
            </a:r>
          </a:p>
          <a:p>
            <a:pPr marL="138113" lvl="0" indent="-133350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Pipeline: proceso →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features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→ modelo.</a:t>
            </a:r>
          </a:p>
          <a:p>
            <a:pPr marL="138113" lvl="0" indent="-133350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Validación: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hold-out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, k-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fold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138113" lvl="0" indent="-133350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Manejo de desbalance: pesos, </a:t>
            </a:r>
            <a:r>
              <a:rPr lang="es-PE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resampling</a:t>
            </a:r>
            <a:r>
              <a:rPr lang="es-PE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</a:p>
        </p:txBody>
      </p:sp>
      <p:sp>
        <p:nvSpPr>
          <p:cNvPr id="41" name="Elipse 40"/>
          <p:cNvSpPr/>
          <p:nvPr/>
        </p:nvSpPr>
        <p:spPr>
          <a:xfrm>
            <a:off x="3598197" y="2751745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42" name="Elipse 41"/>
          <p:cNvSpPr/>
          <p:nvPr/>
        </p:nvSpPr>
        <p:spPr>
          <a:xfrm>
            <a:off x="3534431" y="2737871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43" name="Triángulo 42"/>
          <p:cNvSpPr/>
          <p:nvPr/>
        </p:nvSpPr>
        <p:spPr>
          <a:xfrm rot="5400000">
            <a:off x="3718204" y="2878592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36" name="Rectángulo redondeado 35"/>
          <p:cNvSpPr/>
          <p:nvPr/>
        </p:nvSpPr>
        <p:spPr>
          <a:xfrm>
            <a:off x="1685942" y="1567835"/>
            <a:ext cx="1973019" cy="2743895"/>
          </a:xfrm>
          <a:prstGeom prst="roundRect">
            <a:avLst>
              <a:gd name="adj" fmla="val 74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DECIDIR</a:t>
            </a:r>
          </a:p>
          <a:p>
            <a:pPr marL="136525" lvl="0" indent="-136525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Modelo </a:t>
            </a:r>
            <a:r>
              <a:rPr lang="es-MX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baseline</a:t>
            </a: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136525" lvl="0" indent="-136525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Métrica objetivo.</a:t>
            </a:r>
          </a:p>
          <a:p>
            <a:pPr marL="136525" lvl="0" indent="-136525" defTabSz="5778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Restricción: tiempo, costo, latencia.</a:t>
            </a:r>
          </a:p>
        </p:txBody>
      </p:sp>
      <p:sp>
        <p:nvSpPr>
          <p:cNvPr id="37" name="Elipse 36"/>
          <p:cNvSpPr/>
          <p:nvPr/>
        </p:nvSpPr>
        <p:spPr>
          <a:xfrm>
            <a:off x="1526266" y="2751745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38" name="Elipse 37"/>
          <p:cNvSpPr/>
          <p:nvPr/>
        </p:nvSpPr>
        <p:spPr>
          <a:xfrm>
            <a:off x="1462501" y="2737871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39" name="Triángulo 38"/>
          <p:cNvSpPr/>
          <p:nvPr/>
        </p:nvSpPr>
        <p:spPr>
          <a:xfrm rot="5400000">
            <a:off x="1646274" y="2878592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PE" sz="1600" b="1" dirty="0">
                <a:latin typeface="Calibri" charset="0"/>
                <a:ea typeface="Calibri" charset="0"/>
                <a:cs typeface="Calibri" charset="0"/>
              </a:rPr>
              <a:t>MODELADO Y ENTRENAMIENTO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4846A526-CA2B-415D-A11D-93EEE60A474D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</p:spTree>
    <p:extLst>
      <p:ext uri="{BB962C8B-B14F-4D97-AF65-F5344CB8AC3E}">
        <p14:creationId xmlns:p14="http://schemas.microsoft.com/office/powerpoint/2010/main" val="108215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Agrupar 50"/>
          <p:cNvGrpSpPr/>
          <p:nvPr/>
        </p:nvGrpSpPr>
        <p:grpSpPr>
          <a:xfrm>
            <a:off x="276723" y="1249388"/>
            <a:ext cx="2806012" cy="1722587"/>
            <a:chOff x="276723" y="1465697"/>
            <a:chExt cx="2806012" cy="1722587"/>
          </a:xfrm>
        </p:grpSpPr>
        <p:sp>
          <p:nvSpPr>
            <p:cNvPr id="5" name="Rectángulo redondeado 4"/>
            <p:cNvSpPr/>
            <p:nvPr/>
          </p:nvSpPr>
          <p:spPr>
            <a:xfrm>
              <a:off x="547515" y="1465697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CCEFF2"/>
            </a:solidFill>
            <a:ln w="38100">
              <a:solidFill>
                <a:srgbClr val="00B1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marL="4763" lvl="0"/>
              <a:r>
                <a:rPr lang="es-PE" sz="1300" b="1" dirty="0">
                  <a:solidFill>
                    <a:srgbClr val="00B1C2"/>
                  </a:solidFill>
                  <a:latin typeface="Calibri" charset="0"/>
                  <a:ea typeface="Calibri" charset="0"/>
                  <a:cs typeface="Calibri" charset="0"/>
                </a:rPr>
                <a:t>LIMPIEZA</a:t>
              </a:r>
            </a:p>
            <a:p>
              <a:pPr marL="4763" lvl="0"/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Eliminar HTML, caracteres especiales, valores nulos.</a:t>
              </a:r>
            </a:p>
          </p:txBody>
        </p:sp>
        <p:sp>
          <p:nvSpPr>
            <p:cNvPr id="6" name="Acorde 5"/>
            <p:cNvSpPr/>
            <p:nvPr/>
          </p:nvSpPr>
          <p:spPr>
            <a:xfrm rot="12600000">
              <a:off x="276723" y="2017867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1</a:t>
              </a:r>
            </a:p>
          </p:txBody>
        </p:sp>
      </p:grpSp>
      <p:grpSp>
        <p:nvGrpSpPr>
          <p:cNvPr id="50" name="Agrupar 49"/>
          <p:cNvGrpSpPr/>
          <p:nvPr/>
        </p:nvGrpSpPr>
        <p:grpSpPr>
          <a:xfrm>
            <a:off x="3054263" y="1249388"/>
            <a:ext cx="2806012" cy="1722587"/>
            <a:chOff x="3054263" y="1481981"/>
            <a:chExt cx="2806012" cy="1722587"/>
          </a:xfrm>
        </p:grpSpPr>
        <p:sp>
          <p:nvSpPr>
            <p:cNvPr id="26" name="Rectángulo redondeado 25"/>
            <p:cNvSpPr/>
            <p:nvPr/>
          </p:nvSpPr>
          <p:spPr>
            <a:xfrm>
              <a:off x="3325055" y="1481981"/>
              <a:ext cx="2535220" cy="1722587"/>
            </a:xfrm>
            <a:prstGeom prst="roundRect">
              <a:avLst>
                <a:gd name="adj" fmla="val 7758"/>
              </a:avLst>
            </a:prstGeom>
            <a:solidFill>
              <a:srgbClr val="E6F3D6"/>
            </a:solidFill>
            <a:ln w="38100">
              <a:solidFill>
                <a:srgbClr val="8EC5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8EC540"/>
                  </a:solidFill>
                  <a:latin typeface="Calibri" charset="0"/>
                  <a:ea typeface="Calibri" charset="0"/>
                  <a:cs typeface="Calibri" charset="0"/>
                </a:rPr>
                <a:t>NORMALIZACIÓN</a:t>
              </a:r>
            </a:p>
            <a:p>
              <a:pPr lvl="0"/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Convertir variables a escala 0–1, estandarizar formatos.</a:t>
              </a:r>
            </a:p>
          </p:txBody>
        </p:sp>
        <p:sp>
          <p:nvSpPr>
            <p:cNvPr id="27" name="Acorde 26"/>
            <p:cNvSpPr/>
            <p:nvPr/>
          </p:nvSpPr>
          <p:spPr>
            <a:xfrm rot="126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2</a:t>
              </a:r>
            </a:p>
          </p:txBody>
        </p:sp>
      </p:grpSp>
      <p:grpSp>
        <p:nvGrpSpPr>
          <p:cNvPr id="49" name="Agrupar 48"/>
          <p:cNvGrpSpPr/>
          <p:nvPr/>
        </p:nvGrpSpPr>
        <p:grpSpPr>
          <a:xfrm>
            <a:off x="5831802" y="1249388"/>
            <a:ext cx="2806013" cy="1722587"/>
            <a:chOff x="5831802" y="1491617"/>
            <a:chExt cx="2806013" cy="1722587"/>
          </a:xfrm>
        </p:grpSpPr>
        <p:sp>
          <p:nvSpPr>
            <p:cNvPr id="32" name="Rectángulo redondeado 31"/>
            <p:cNvSpPr/>
            <p:nvPr/>
          </p:nvSpPr>
          <p:spPr>
            <a:xfrm>
              <a:off x="6102595" y="1491617"/>
              <a:ext cx="2535220" cy="1722587"/>
            </a:xfrm>
            <a:prstGeom prst="roundRect">
              <a:avLst>
                <a:gd name="adj" fmla="val 6512"/>
              </a:avLst>
            </a:prstGeom>
            <a:solidFill>
              <a:srgbClr val="FCD7D5"/>
            </a:solidFill>
            <a:ln w="3810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EE4639"/>
                  </a:solidFill>
                  <a:latin typeface="Calibri" charset="0"/>
                  <a:ea typeface="Calibri" charset="0"/>
                  <a:cs typeface="Calibri" charset="0"/>
                </a:rPr>
                <a:t>LEMATIZACIÓN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“Corriendo" → "correr"; reduce variabilidad sin perder significado (NLP).</a:t>
              </a:r>
            </a:p>
          </p:txBody>
        </p:sp>
        <p:sp>
          <p:nvSpPr>
            <p:cNvPr id="33" name="Acorde 32"/>
            <p:cNvSpPr/>
            <p:nvPr/>
          </p:nvSpPr>
          <p:spPr>
            <a:xfrm rot="12600000">
              <a:off x="5831802" y="202549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4" name="CuadroTexto 33"/>
            <p:cNvSpPr txBox="1"/>
            <p:nvPr/>
          </p:nvSpPr>
          <p:spPr>
            <a:xfrm>
              <a:off x="6034603" y="202974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3</a:t>
              </a:r>
            </a:p>
          </p:txBody>
        </p:sp>
      </p:grpSp>
      <p:grpSp>
        <p:nvGrpSpPr>
          <p:cNvPr id="52" name="Agrupar 51"/>
          <p:cNvGrpSpPr/>
          <p:nvPr/>
        </p:nvGrpSpPr>
        <p:grpSpPr>
          <a:xfrm>
            <a:off x="276723" y="3073065"/>
            <a:ext cx="2806012" cy="1722587"/>
            <a:chOff x="276723" y="3467193"/>
            <a:chExt cx="2806012" cy="1722587"/>
          </a:xfrm>
        </p:grpSpPr>
        <p:sp>
          <p:nvSpPr>
            <p:cNvPr id="37" name="Rectángulo redondeado 36"/>
            <p:cNvSpPr/>
            <p:nvPr/>
          </p:nvSpPr>
          <p:spPr>
            <a:xfrm>
              <a:off x="547515" y="3467193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FFE2D2"/>
            </a:solidFill>
            <a:ln w="38100">
              <a:solidFill>
                <a:srgbClr val="FF78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FF7828"/>
                  </a:solidFill>
                  <a:latin typeface="Calibri" charset="0"/>
                  <a:ea typeface="Calibri" charset="0"/>
                  <a:cs typeface="Calibri" charset="0"/>
                </a:rPr>
                <a:t>ELIMINACIÓN DE STOP WORDS</a:t>
              </a:r>
            </a:p>
            <a:p>
              <a:pPr lvl="0"/>
              <a:r>
                <a:rPr lang="es-MX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Remover "el", "la", "de" que no aportan información (NLP).</a:t>
              </a:r>
            </a:p>
          </p:txBody>
        </p:sp>
        <p:sp>
          <p:nvSpPr>
            <p:cNvPr id="38" name="Acorde 37"/>
            <p:cNvSpPr/>
            <p:nvPr/>
          </p:nvSpPr>
          <p:spPr>
            <a:xfrm rot="12600000">
              <a:off x="276723" y="40193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F7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" name="CuadroTexto 38"/>
            <p:cNvSpPr txBox="1"/>
            <p:nvPr/>
          </p:nvSpPr>
          <p:spPr>
            <a:xfrm>
              <a:off x="479524" y="4005321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4</a:t>
              </a:r>
            </a:p>
          </p:txBody>
        </p:sp>
      </p:grpSp>
      <p:grpSp>
        <p:nvGrpSpPr>
          <p:cNvPr id="53" name="Agrupar 52"/>
          <p:cNvGrpSpPr/>
          <p:nvPr/>
        </p:nvGrpSpPr>
        <p:grpSpPr>
          <a:xfrm>
            <a:off x="3054263" y="3073065"/>
            <a:ext cx="2806012" cy="1722587"/>
            <a:chOff x="3054263" y="3483477"/>
            <a:chExt cx="2806012" cy="1722587"/>
          </a:xfrm>
        </p:grpSpPr>
        <p:sp>
          <p:nvSpPr>
            <p:cNvPr id="40" name="Rectángulo redondeado 39"/>
            <p:cNvSpPr/>
            <p:nvPr/>
          </p:nvSpPr>
          <p:spPr>
            <a:xfrm>
              <a:off x="3325055" y="3483477"/>
              <a:ext cx="2535220" cy="1722587"/>
            </a:xfrm>
            <a:prstGeom prst="roundRect">
              <a:avLst>
                <a:gd name="adj" fmla="val 8008"/>
              </a:avLst>
            </a:prstGeom>
            <a:solidFill>
              <a:srgbClr val="FFF2D1"/>
            </a:solidFill>
            <a:ln w="38100">
              <a:solidFill>
                <a:srgbClr val="FEC2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FEC212"/>
                  </a:solidFill>
                  <a:latin typeface="Calibri" charset="0"/>
                  <a:ea typeface="Calibri" charset="0"/>
                  <a:cs typeface="Calibri" charset="0"/>
                </a:rPr>
                <a:t>VECTORIZACIÓN</a:t>
              </a:r>
            </a:p>
            <a:p>
              <a:pPr lvl="0"/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Convertir texto en números (TF-IDF, Word2Vec, </a:t>
              </a:r>
              <a:r>
                <a:rPr lang="es-PE" sz="13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FastText</a:t>
              </a:r>
              <a:r>
                <a:rPr lang="es-PE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).</a:t>
              </a:r>
            </a:p>
          </p:txBody>
        </p:sp>
        <p:sp>
          <p:nvSpPr>
            <p:cNvPr id="41" name="Acorde 40"/>
            <p:cNvSpPr/>
            <p:nvPr/>
          </p:nvSpPr>
          <p:spPr>
            <a:xfrm rot="12600000">
              <a:off x="3054263" y="401735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EC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" name="CuadroTexto 41"/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5</a:t>
              </a:r>
            </a:p>
          </p:txBody>
        </p:sp>
      </p:grpSp>
      <p:grpSp>
        <p:nvGrpSpPr>
          <p:cNvPr id="54" name="Agrupar 53"/>
          <p:cNvGrpSpPr/>
          <p:nvPr/>
        </p:nvGrpSpPr>
        <p:grpSpPr>
          <a:xfrm>
            <a:off x="5831802" y="3073065"/>
            <a:ext cx="2806013" cy="1722587"/>
            <a:chOff x="5831802" y="3493113"/>
            <a:chExt cx="2806013" cy="1722587"/>
          </a:xfrm>
        </p:grpSpPr>
        <p:sp>
          <p:nvSpPr>
            <p:cNvPr id="43" name="Rectángulo redondeado 42"/>
            <p:cNvSpPr/>
            <p:nvPr/>
          </p:nvSpPr>
          <p:spPr>
            <a:xfrm>
              <a:off x="6102595" y="3493113"/>
              <a:ext cx="2535220" cy="1722587"/>
            </a:xfrm>
            <a:prstGeom prst="roundRect">
              <a:avLst>
                <a:gd name="adj" fmla="val 6512"/>
              </a:avLst>
            </a:prstGeom>
            <a:solidFill>
              <a:srgbClr val="E0D9EB"/>
            </a:solidFill>
            <a:ln w="3810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714FA0"/>
                  </a:solidFill>
                  <a:latin typeface="Calibri" charset="0"/>
                  <a:ea typeface="Calibri" charset="0"/>
                  <a:cs typeface="Calibri" charset="0"/>
                </a:rPr>
                <a:t>REBALANCEO DE CLASES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Si 80% de datos son positivos y 20% negativos, usar SMOTE para generar sintéticos.</a:t>
              </a:r>
            </a:p>
          </p:txBody>
        </p:sp>
        <p:sp>
          <p:nvSpPr>
            <p:cNvPr id="44" name="Acorde 43"/>
            <p:cNvSpPr/>
            <p:nvPr/>
          </p:nvSpPr>
          <p:spPr>
            <a:xfrm rot="12600000">
              <a:off x="5831802" y="4026995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6034603" y="4031241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6</a:t>
              </a:r>
            </a:p>
          </p:txBody>
        </p:sp>
      </p:grpSp>
      <p:sp>
        <p:nvSpPr>
          <p:cNvPr id="47" name="Rectángulo 46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PREPARAR DATOS: DEL CAOS AL ORDEN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1187E3CC-3257-4FF7-A4E7-1D8798895956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  <p:sp>
        <p:nvSpPr>
          <p:cNvPr id="30" name="Google Shape;382;p17">
            <a:extLst>
              <a:ext uri="{FF2B5EF4-FFF2-40B4-BE49-F238E27FC236}">
                <a16:creationId xmlns:a16="http://schemas.microsoft.com/office/drawing/2014/main" id="{7A7FEDB5-0ADE-4E78-B68B-780B472E8F23}"/>
              </a:ext>
            </a:extLst>
          </p:cNvPr>
          <p:cNvSpPr txBox="1"/>
          <p:nvPr/>
        </p:nvSpPr>
        <p:spPr>
          <a:xfrm>
            <a:off x="503236" y="4866387"/>
            <a:ext cx="733307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515"/>
            </a:pPr>
            <a:r>
              <a:rPr lang="es-MX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MX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del tiempo en un proyecto ML se invierte en datos, no en algoritmos. </a:t>
            </a:r>
          </a:p>
        </p:txBody>
      </p:sp>
    </p:spTree>
    <p:extLst>
      <p:ext uri="{BB962C8B-B14F-4D97-AF65-F5344CB8AC3E}">
        <p14:creationId xmlns:p14="http://schemas.microsoft.com/office/powerpoint/2010/main" val="78514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43D58D5-42D0-45B3-9424-3FF1D0911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25" y="971549"/>
            <a:ext cx="3267011" cy="4305902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8A5F5AD-5481-9452-4997-5F47545E5BBC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A927180-3FBC-45E7-89AF-EEC177E2982A}"/>
              </a:ext>
            </a:extLst>
          </p:cNvPr>
          <p:cNvSpPr/>
          <p:nvPr/>
        </p:nvSpPr>
        <p:spPr>
          <a:xfrm>
            <a:off x="4736864" y="1532042"/>
            <a:ext cx="4051551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b="1" dirty="0">
                <a:latin typeface="Calibri" charset="0"/>
                <a:ea typeface="Calibri" charset="0"/>
                <a:cs typeface="Calibri" charset="0"/>
              </a:rPr>
              <a:t>Precisión: </a:t>
            </a:r>
            <a:r>
              <a:rPr lang="es-MX" dirty="0">
                <a:latin typeface="Calibri" charset="0"/>
                <a:ea typeface="Calibri" charset="0"/>
                <a:cs typeface="Calibri" charset="0"/>
              </a:rPr>
              <a:t>de las predicciones positivas, ¿cuántas fueron correctas (importante cuando los falsos positivos son costosos)?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307E81D-D9B4-48FC-BE8D-CC19C2CEA0DD}"/>
              </a:ext>
            </a:extLst>
          </p:cNvPr>
          <p:cNvSpPr/>
          <p:nvPr/>
        </p:nvSpPr>
        <p:spPr>
          <a:xfrm>
            <a:off x="3962389" y="1463993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0B46981A-B0B1-44A9-B6A3-3CD1506B8DE6}"/>
              </a:ext>
            </a:extLst>
          </p:cNvPr>
          <p:cNvCxnSpPr>
            <a:cxnSpLocks/>
            <a:stCxn id="44" idx="0"/>
            <a:endCxn id="62" idx="4"/>
          </p:cNvCxnSpPr>
          <p:nvPr/>
        </p:nvCxnSpPr>
        <p:spPr>
          <a:xfrm>
            <a:off x="4518413" y="1601688"/>
            <a:ext cx="1" cy="3092665"/>
          </a:xfrm>
          <a:prstGeom prst="line">
            <a:avLst/>
          </a:prstGeom>
          <a:ln>
            <a:solidFill>
              <a:srgbClr val="01B1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0BA0414-7C48-4B56-BFEA-5BF7B07DDAD2}"/>
              </a:ext>
            </a:extLst>
          </p:cNvPr>
          <p:cNvSpPr/>
          <p:nvPr/>
        </p:nvSpPr>
        <p:spPr>
          <a:xfrm>
            <a:off x="3962389" y="2234010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9A508AA-B041-4590-99D4-719549EB02F6}"/>
              </a:ext>
            </a:extLst>
          </p:cNvPr>
          <p:cNvSpPr/>
          <p:nvPr/>
        </p:nvSpPr>
        <p:spPr>
          <a:xfrm>
            <a:off x="3965482" y="3107015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5A1798D-530B-412F-8ADB-7CBD4CE12DD3}"/>
              </a:ext>
            </a:extLst>
          </p:cNvPr>
          <p:cNvSpPr/>
          <p:nvPr/>
        </p:nvSpPr>
        <p:spPr>
          <a:xfrm>
            <a:off x="4736864" y="2330652"/>
            <a:ext cx="3936724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b="1" dirty="0" err="1">
                <a:latin typeface="Calibri" charset="0"/>
                <a:ea typeface="Calibri" charset="0"/>
                <a:cs typeface="Calibri" charset="0"/>
              </a:rPr>
              <a:t>Recall</a:t>
            </a:r>
            <a:r>
              <a:rPr lang="es-MX" b="1" dirty="0">
                <a:latin typeface="Calibri" charset="0"/>
                <a:ea typeface="Calibri" charset="0"/>
                <a:cs typeface="Calibri" charset="0"/>
              </a:rPr>
              <a:t> (sensibilidad): </a:t>
            </a:r>
            <a:r>
              <a:rPr lang="es-MX" dirty="0">
                <a:latin typeface="Calibri" charset="0"/>
                <a:ea typeface="Calibri" charset="0"/>
                <a:cs typeface="Calibri" charset="0"/>
              </a:rPr>
              <a:t>de los casos reales positivos, ¿cuántos encontramos (importante cuando los falsos negativos son costosos)?</a:t>
            </a:r>
          </a:p>
        </p:txBody>
      </p:sp>
      <p:grpSp>
        <p:nvGrpSpPr>
          <p:cNvPr id="39" name="Agrupar 29">
            <a:extLst>
              <a:ext uri="{FF2B5EF4-FFF2-40B4-BE49-F238E27FC236}">
                <a16:creationId xmlns:a16="http://schemas.microsoft.com/office/drawing/2014/main" id="{CB342177-9145-4FD1-BB7C-D07641448F37}"/>
              </a:ext>
            </a:extLst>
          </p:cNvPr>
          <p:cNvGrpSpPr/>
          <p:nvPr/>
        </p:nvGrpSpPr>
        <p:grpSpPr>
          <a:xfrm>
            <a:off x="4448018" y="1568032"/>
            <a:ext cx="140792" cy="140258"/>
            <a:chOff x="3427964" y="2244682"/>
            <a:chExt cx="225891" cy="225034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C513B9B4-A343-4FF4-A9E9-18E291F1B605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1C51EE01-82DD-4EEC-86D8-A1575F5511CF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EF7AD27-E84F-4C77-9CCE-79C323787B30}"/>
              </a:ext>
            </a:extLst>
          </p:cNvPr>
          <p:cNvSpPr/>
          <p:nvPr/>
        </p:nvSpPr>
        <p:spPr>
          <a:xfrm>
            <a:off x="4744016" y="3154892"/>
            <a:ext cx="405154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b="1" dirty="0">
                <a:latin typeface="Calibri" charset="0"/>
                <a:ea typeface="Calibri" charset="0"/>
                <a:cs typeface="Calibri" charset="0"/>
              </a:rPr>
              <a:t>F1-score: </a:t>
            </a:r>
            <a:r>
              <a:rPr lang="es-MX" dirty="0">
                <a:latin typeface="Calibri" charset="0"/>
                <a:ea typeface="Calibri" charset="0"/>
                <a:cs typeface="Calibri" charset="0"/>
              </a:rPr>
              <a:t>media armónica de precisión y </a:t>
            </a:r>
            <a:r>
              <a:rPr lang="es-MX" dirty="0" err="1">
                <a:latin typeface="Calibri" charset="0"/>
                <a:ea typeface="Calibri" charset="0"/>
                <a:cs typeface="Calibri" charset="0"/>
              </a:rPr>
              <a:t>recall</a:t>
            </a:r>
            <a:r>
              <a:rPr lang="es-MX" dirty="0">
                <a:latin typeface="Calibri" charset="0"/>
                <a:ea typeface="Calibri" charset="0"/>
                <a:cs typeface="Calibri" charset="0"/>
              </a:rPr>
              <a:t>; equilibra ambos.​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D2D4DA4-D826-4F14-874B-23FAD8F2B2DD}"/>
              </a:ext>
            </a:extLst>
          </p:cNvPr>
          <p:cNvSpPr/>
          <p:nvPr/>
        </p:nvSpPr>
        <p:spPr>
          <a:xfrm>
            <a:off x="4744016" y="3840747"/>
            <a:ext cx="419504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b="1" dirty="0" err="1">
                <a:latin typeface="Calibri" charset="0"/>
                <a:ea typeface="Calibri" charset="0"/>
                <a:cs typeface="Calibri" charset="0"/>
              </a:rPr>
              <a:t>Accuracy</a:t>
            </a:r>
            <a:r>
              <a:rPr lang="es-MX" b="1" dirty="0"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s-MX" dirty="0">
                <a:latin typeface="Calibri" charset="0"/>
                <a:ea typeface="Calibri" charset="0"/>
                <a:cs typeface="Calibri" charset="0"/>
              </a:rPr>
              <a:t>proporción general de aciertos (menos útil en datos desbalanceados).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3CA7D47B-21F9-4A57-8846-B3CA498D1CA9}"/>
              </a:ext>
            </a:extLst>
          </p:cNvPr>
          <p:cNvSpPr/>
          <p:nvPr/>
        </p:nvSpPr>
        <p:spPr>
          <a:xfrm>
            <a:off x="3974096" y="3803796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352BCFF-87A5-4C0C-A8C9-86A164C5DF17}"/>
              </a:ext>
            </a:extLst>
          </p:cNvPr>
          <p:cNvSpPr/>
          <p:nvPr/>
        </p:nvSpPr>
        <p:spPr>
          <a:xfrm>
            <a:off x="3974096" y="4439558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05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51" name="Agrupar 29">
            <a:extLst>
              <a:ext uri="{FF2B5EF4-FFF2-40B4-BE49-F238E27FC236}">
                <a16:creationId xmlns:a16="http://schemas.microsoft.com/office/drawing/2014/main" id="{C0D7C4FB-428A-4F43-B30C-9BE9136F36AB}"/>
              </a:ext>
            </a:extLst>
          </p:cNvPr>
          <p:cNvGrpSpPr/>
          <p:nvPr/>
        </p:nvGrpSpPr>
        <p:grpSpPr>
          <a:xfrm>
            <a:off x="4448018" y="2367101"/>
            <a:ext cx="140792" cy="140258"/>
            <a:chOff x="3427964" y="2244682"/>
            <a:chExt cx="225891" cy="225034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3C7E1179-2F85-4C42-82D2-682FD5AD050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ACAE354A-4C34-483D-8BBC-1782348BF7E4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5" name="Agrupar 29">
            <a:extLst>
              <a:ext uri="{FF2B5EF4-FFF2-40B4-BE49-F238E27FC236}">
                <a16:creationId xmlns:a16="http://schemas.microsoft.com/office/drawing/2014/main" id="{C87E9607-792E-4248-ACED-954A4F487635}"/>
              </a:ext>
            </a:extLst>
          </p:cNvPr>
          <p:cNvGrpSpPr/>
          <p:nvPr/>
        </p:nvGrpSpPr>
        <p:grpSpPr>
          <a:xfrm>
            <a:off x="4448018" y="3207642"/>
            <a:ext cx="140792" cy="140258"/>
            <a:chOff x="3427964" y="2244682"/>
            <a:chExt cx="225891" cy="225034"/>
          </a:xfrm>
        </p:grpSpPr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30CE1E5A-E05A-4783-BB12-D0BE29D8063C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088F5DAF-6DF1-4500-BF3E-CC0389870F5D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8" name="Agrupar 29">
            <a:extLst>
              <a:ext uri="{FF2B5EF4-FFF2-40B4-BE49-F238E27FC236}">
                <a16:creationId xmlns:a16="http://schemas.microsoft.com/office/drawing/2014/main" id="{756D38B5-83D5-441C-B55F-EAA62C7DDE79}"/>
              </a:ext>
            </a:extLst>
          </p:cNvPr>
          <p:cNvGrpSpPr/>
          <p:nvPr/>
        </p:nvGrpSpPr>
        <p:grpSpPr>
          <a:xfrm>
            <a:off x="4448018" y="3915933"/>
            <a:ext cx="140792" cy="140258"/>
            <a:chOff x="3427964" y="2244682"/>
            <a:chExt cx="225891" cy="225034"/>
          </a:xfrm>
        </p:grpSpPr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A0E5689B-1F86-46EF-B0D8-53D491C39DDF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E14E92A2-12CD-4617-AE87-32A5AC145BB0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61" name="Agrupar 29">
            <a:extLst>
              <a:ext uri="{FF2B5EF4-FFF2-40B4-BE49-F238E27FC236}">
                <a16:creationId xmlns:a16="http://schemas.microsoft.com/office/drawing/2014/main" id="{6F991F14-F0B7-4F4C-BC56-185145B47475}"/>
              </a:ext>
            </a:extLst>
          </p:cNvPr>
          <p:cNvGrpSpPr/>
          <p:nvPr/>
        </p:nvGrpSpPr>
        <p:grpSpPr>
          <a:xfrm>
            <a:off x="4448018" y="4554095"/>
            <a:ext cx="140792" cy="140258"/>
            <a:chOff x="3427964" y="2244682"/>
            <a:chExt cx="225891" cy="225034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11923046-4DA9-401A-9F06-F22BFAD8EEFD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F1E6685B-B8DC-4953-B5E3-37DDC4C3322B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D8B77E2-3129-4085-9A79-853B8041234D}"/>
              </a:ext>
            </a:extLst>
          </p:cNvPr>
          <p:cNvSpPr/>
          <p:nvPr/>
        </p:nvSpPr>
        <p:spPr>
          <a:xfrm>
            <a:off x="4057039" y="971550"/>
            <a:ext cx="461654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MÉTRICAS DE EVALUACIÓN (PRECISIÓN, RECALL, F1-SCORE)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A4ECACA0-3D39-4FCE-8805-6BDA56C2376A}"/>
              </a:ext>
            </a:extLst>
          </p:cNvPr>
          <p:cNvSpPr/>
          <p:nvPr/>
        </p:nvSpPr>
        <p:spPr>
          <a:xfrm>
            <a:off x="4732309" y="4526602"/>
            <a:ext cx="419504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b="1" dirty="0">
                <a:latin typeface="Calibri" charset="0"/>
                <a:ea typeface="Calibri" charset="0"/>
                <a:cs typeface="Calibri" charset="0"/>
              </a:rPr>
              <a:t>Matriz de confusión: </a:t>
            </a:r>
            <a:r>
              <a:rPr lang="es-MX" dirty="0">
                <a:latin typeface="Calibri" charset="0"/>
                <a:ea typeface="Calibri" charset="0"/>
                <a:cs typeface="Calibri" charset="0"/>
              </a:rPr>
              <a:t>muestra falsos positivos, falsos negativos, verdaderos positivos y negativos.</a:t>
            </a:r>
          </a:p>
        </p:txBody>
      </p:sp>
    </p:spTree>
    <p:extLst>
      <p:ext uri="{BB962C8B-B14F-4D97-AF65-F5344CB8AC3E}">
        <p14:creationId xmlns:p14="http://schemas.microsoft.com/office/powerpoint/2010/main" val="74471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06413" y="915988"/>
            <a:ext cx="7624864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PE" sz="1600" b="1" dirty="0">
                <a:latin typeface="Calibri" charset="0"/>
                <a:ea typeface="Calibri" charset="0"/>
                <a:cs typeface="Calibri" charset="0"/>
              </a:rPr>
              <a:t>PUESTA DE PRODUCCIÓN</a:t>
            </a:r>
          </a:p>
          <a:p>
            <a:pPr lvl="0"/>
            <a:endParaRPr lang="es-PE" sz="1600" b="1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600" dirty="0">
                <a:latin typeface="Calibri" charset="0"/>
                <a:ea typeface="Calibri" charset="0"/>
                <a:cs typeface="Calibri" charset="0"/>
              </a:rPr>
              <a:t>Usuario/App → API Modelo </a:t>
            </a:r>
            <a:r>
              <a:rPr lang="es-PE" sz="1600" dirty="0" err="1">
                <a:latin typeface="Calibri" charset="0"/>
                <a:ea typeface="Calibri" charset="0"/>
                <a:cs typeface="Calibri" charset="0"/>
              </a:rPr>
              <a:t>vX</a:t>
            </a:r>
            <a:r>
              <a:rPr lang="es-PE" sz="1600" dirty="0">
                <a:latin typeface="Calibri" charset="0"/>
                <a:ea typeface="Calibri" charset="0"/>
                <a:cs typeface="Calibri" charset="0"/>
              </a:rPr>
              <a:t> → </a:t>
            </a:r>
            <a:r>
              <a:rPr lang="es-PE" sz="1600" dirty="0" err="1">
                <a:latin typeface="Calibri" charset="0"/>
                <a:ea typeface="Calibri" charset="0"/>
                <a:cs typeface="Calibri" charset="0"/>
              </a:rPr>
              <a:t>Preprocesado</a:t>
            </a:r>
            <a:r>
              <a:rPr lang="es-PE" sz="1600" dirty="0">
                <a:latin typeface="Calibri" charset="0"/>
                <a:ea typeface="Calibri" charset="0"/>
                <a:cs typeface="Calibri" charset="0"/>
              </a:rPr>
              <a:t> → Predicción → Logs → </a:t>
            </a:r>
            <a:r>
              <a:rPr lang="es-PE" sz="1600" dirty="0" err="1">
                <a:latin typeface="Calibri" charset="0"/>
                <a:ea typeface="Calibri" charset="0"/>
                <a:cs typeface="Calibri" charset="0"/>
              </a:rPr>
              <a:t>Dashboard</a:t>
            </a:r>
            <a:r>
              <a:rPr lang="es-PE" sz="1600" dirty="0">
                <a:latin typeface="Calibri" charset="0"/>
                <a:ea typeface="Calibri" charset="0"/>
                <a:cs typeface="Calibri" charset="0"/>
              </a:rPr>
              <a:t>.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72FA3011-624E-4705-93BC-53FB1399DE6A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TÉCNICAS PARA ENTENDER Y FORMULAR PROBLEMAS</a:t>
            </a:r>
          </a:p>
        </p:txBody>
      </p:sp>
      <p:grpSp>
        <p:nvGrpSpPr>
          <p:cNvPr id="20" name="Google Shape;494;p22">
            <a:extLst>
              <a:ext uri="{FF2B5EF4-FFF2-40B4-BE49-F238E27FC236}">
                <a16:creationId xmlns:a16="http://schemas.microsoft.com/office/drawing/2014/main" id="{DC48A95E-9829-4A68-823F-FA671AD2933E}"/>
              </a:ext>
            </a:extLst>
          </p:cNvPr>
          <p:cNvGrpSpPr/>
          <p:nvPr/>
        </p:nvGrpSpPr>
        <p:grpSpPr>
          <a:xfrm>
            <a:off x="2455265" y="1867904"/>
            <a:ext cx="3727159" cy="2475230"/>
            <a:chOff x="672928" y="0"/>
            <a:chExt cx="3727159" cy="2475230"/>
          </a:xfrm>
        </p:grpSpPr>
        <p:sp>
          <p:nvSpPr>
            <p:cNvPr id="21" name="Google Shape;495;p22">
              <a:extLst>
                <a:ext uri="{FF2B5EF4-FFF2-40B4-BE49-F238E27FC236}">
                  <a16:creationId xmlns:a16="http://schemas.microsoft.com/office/drawing/2014/main" id="{7916F86C-FEB5-418A-89C5-080459A9708D}"/>
                </a:ext>
              </a:extLst>
            </p:cNvPr>
            <p:cNvSpPr/>
            <p:nvPr/>
          </p:nvSpPr>
          <p:spPr>
            <a:xfrm rot="10800000">
              <a:off x="1026532" y="0"/>
              <a:ext cx="3373555" cy="707209"/>
            </a:xfrm>
            <a:prstGeom prst="homePlate">
              <a:avLst>
                <a:gd name="adj" fmla="val 50000"/>
              </a:avLst>
            </a:prstGeom>
            <a:solidFill>
              <a:schemeClr val="accent6">
                <a:alpha val="89411"/>
              </a:scheme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22" name="Google Shape;496;p22">
              <a:extLst>
                <a:ext uri="{FF2B5EF4-FFF2-40B4-BE49-F238E27FC236}">
                  <a16:creationId xmlns:a16="http://schemas.microsoft.com/office/drawing/2014/main" id="{20866BA7-3DF1-4DFF-AD86-988FAAE26384}"/>
                </a:ext>
              </a:extLst>
            </p:cNvPr>
            <p:cNvSpPr txBox="1"/>
            <p:nvPr/>
          </p:nvSpPr>
          <p:spPr>
            <a:xfrm>
              <a:off x="1026532" y="0"/>
              <a:ext cx="3373555" cy="70720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311850" tIns="76200" rIns="142225" bIns="762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419" sz="1600" b="1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Latencia correcta</a:t>
              </a:r>
              <a:endPara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497;p22">
              <a:extLst>
                <a:ext uri="{FF2B5EF4-FFF2-40B4-BE49-F238E27FC236}">
                  <a16:creationId xmlns:a16="http://schemas.microsoft.com/office/drawing/2014/main" id="{C6B573E5-7FBC-4981-A096-6C931C53F6B6}"/>
                </a:ext>
              </a:extLst>
            </p:cNvPr>
            <p:cNvSpPr/>
            <p:nvPr/>
          </p:nvSpPr>
          <p:spPr>
            <a:xfrm>
              <a:off x="672928" y="0"/>
              <a:ext cx="707209" cy="707209"/>
            </a:xfrm>
            <a:prstGeom prst="ellipse">
              <a:avLst/>
            </a:prstGeom>
            <a:solidFill>
              <a:schemeClr val="accent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25" name="Google Shape;499;p22">
              <a:extLst>
                <a:ext uri="{FF2B5EF4-FFF2-40B4-BE49-F238E27FC236}">
                  <a16:creationId xmlns:a16="http://schemas.microsoft.com/office/drawing/2014/main" id="{A5C76523-C33D-4457-8D12-E63661F58FD3}"/>
                </a:ext>
              </a:extLst>
            </p:cNvPr>
            <p:cNvSpPr/>
            <p:nvPr/>
          </p:nvSpPr>
          <p:spPr>
            <a:xfrm rot="10800000">
              <a:off x="1026532" y="884011"/>
              <a:ext cx="3373555" cy="707209"/>
            </a:xfrm>
            <a:prstGeom prst="homePlate">
              <a:avLst>
                <a:gd name="adj" fmla="val 50000"/>
              </a:avLst>
            </a:prstGeom>
            <a:solidFill>
              <a:srgbClr val="FFD96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26" name="Google Shape;500;p22">
              <a:extLst>
                <a:ext uri="{FF2B5EF4-FFF2-40B4-BE49-F238E27FC236}">
                  <a16:creationId xmlns:a16="http://schemas.microsoft.com/office/drawing/2014/main" id="{B90B63F8-6D26-44A1-8C2F-D5D30603F247}"/>
                </a:ext>
              </a:extLst>
            </p:cNvPr>
            <p:cNvSpPr txBox="1"/>
            <p:nvPr/>
          </p:nvSpPr>
          <p:spPr>
            <a:xfrm>
              <a:off x="1380137" y="884011"/>
              <a:ext cx="3019950" cy="7072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1850" tIns="76200" rIns="142225" bIns="762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419" sz="1600" b="1" i="0" u="none" strike="noStrike" cap="none" dirty="0" err="1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Drift</a:t>
              </a:r>
              <a:r>
                <a:rPr lang="es-419" sz="1600" b="1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 en observación</a:t>
              </a:r>
              <a:endPara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501;p22">
              <a:extLst>
                <a:ext uri="{FF2B5EF4-FFF2-40B4-BE49-F238E27FC236}">
                  <a16:creationId xmlns:a16="http://schemas.microsoft.com/office/drawing/2014/main" id="{2DDCE3EA-39EF-462B-85C6-30BA7D7D9FD7}"/>
                </a:ext>
              </a:extLst>
            </p:cNvPr>
            <p:cNvSpPr/>
            <p:nvPr/>
          </p:nvSpPr>
          <p:spPr>
            <a:xfrm>
              <a:off x="672928" y="884011"/>
              <a:ext cx="707209" cy="707209"/>
            </a:xfrm>
            <a:prstGeom prst="ellipse">
              <a:avLst/>
            </a:prstGeom>
            <a:solidFill>
              <a:srgbClr val="FFD966">
                <a:alpha val="6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29" name="Google Shape;503;p22">
              <a:extLst>
                <a:ext uri="{FF2B5EF4-FFF2-40B4-BE49-F238E27FC236}">
                  <a16:creationId xmlns:a16="http://schemas.microsoft.com/office/drawing/2014/main" id="{956DD36F-FAA5-4F2E-96E1-ECD7FA5D3099}"/>
                </a:ext>
              </a:extLst>
            </p:cNvPr>
            <p:cNvSpPr/>
            <p:nvPr/>
          </p:nvSpPr>
          <p:spPr>
            <a:xfrm rot="10800000">
              <a:off x="1026532" y="1768021"/>
              <a:ext cx="3373555" cy="707209"/>
            </a:xfrm>
            <a:prstGeom prst="homePlate">
              <a:avLst>
                <a:gd name="adj" fmla="val 50000"/>
              </a:avLst>
            </a:prstGeom>
            <a:solidFill>
              <a:srgbClr val="FF0000">
                <a:alpha val="4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30" name="Google Shape;504;p22">
              <a:extLst>
                <a:ext uri="{FF2B5EF4-FFF2-40B4-BE49-F238E27FC236}">
                  <a16:creationId xmlns:a16="http://schemas.microsoft.com/office/drawing/2014/main" id="{6F46F401-D45E-452F-A59D-A7CE2320DB5E}"/>
                </a:ext>
              </a:extLst>
            </p:cNvPr>
            <p:cNvSpPr txBox="1"/>
            <p:nvPr/>
          </p:nvSpPr>
          <p:spPr>
            <a:xfrm>
              <a:off x="1026532" y="1768021"/>
              <a:ext cx="3373555" cy="7072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1850" tIns="76200" rIns="142225" bIns="762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419" sz="1600" b="1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Error </a:t>
              </a:r>
              <a:r>
                <a:rPr lang="es-419" sz="1600" b="1" i="0" u="none" strike="noStrike" cap="none" dirty="0" err="1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rate</a:t>
              </a:r>
              <a:r>
                <a:rPr lang="es-419" sz="1600" b="1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 alto → </a:t>
              </a:r>
              <a:r>
                <a:rPr lang="es-419" sz="1600" b="1" i="0" u="none" strike="noStrike" cap="none" dirty="0" err="1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Rollback</a:t>
              </a:r>
              <a:endParaRPr sz="16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31" name="Google Shape;505;p22">
              <a:extLst>
                <a:ext uri="{FF2B5EF4-FFF2-40B4-BE49-F238E27FC236}">
                  <a16:creationId xmlns:a16="http://schemas.microsoft.com/office/drawing/2014/main" id="{1C7AFC09-1C28-4986-9EA2-04C108576193}"/>
                </a:ext>
              </a:extLst>
            </p:cNvPr>
            <p:cNvSpPr/>
            <p:nvPr/>
          </p:nvSpPr>
          <p:spPr>
            <a:xfrm>
              <a:off x="672928" y="1768021"/>
              <a:ext cx="707209" cy="707209"/>
            </a:xfrm>
            <a:prstGeom prst="ellipse">
              <a:avLst/>
            </a:prstGeom>
            <a:solidFill>
              <a:srgbClr val="FF0000">
                <a:alpha val="4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3" name="Google Shape;507;p22">
            <a:extLst>
              <a:ext uri="{FF2B5EF4-FFF2-40B4-BE49-F238E27FC236}">
                <a16:creationId xmlns:a16="http://schemas.microsoft.com/office/drawing/2014/main" id="{A8041574-2D6C-4007-885B-18632B487836}"/>
              </a:ext>
            </a:extLst>
          </p:cNvPr>
          <p:cNvSpPr txBox="1"/>
          <p:nvPr/>
        </p:nvSpPr>
        <p:spPr>
          <a:xfrm>
            <a:off x="503238" y="4630419"/>
            <a:ext cx="6812915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versionado +  </a:t>
            </a:r>
            <a:r>
              <a:rPr lang="es-419" sz="1600" b="0" i="0" u="none" strike="noStrike" cap="none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rollback</a:t>
            </a: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+ monitoreo mínimo.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518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TALLER DE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</a:rPr>
              <a:t>IDEACIÓN DE PROBLEMAS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(DESIGN THINKING)</a:t>
            </a:r>
            <a:endParaRPr lang="es-ES" sz="14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2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06413" y="915988"/>
            <a:ext cx="7624864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PE" sz="1600" b="1" dirty="0">
                <a:latin typeface="Calibri" charset="0"/>
                <a:ea typeface="Calibri" charset="0"/>
                <a:cs typeface="Calibri" charset="0"/>
              </a:rPr>
              <a:t>DESIGN THINKING: METODOLOGÍA PARA FORMULAR PROBLEMAS</a:t>
            </a:r>
          </a:p>
          <a:p>
            <a:pPr lvl="0"/>
            <a:endParaRPr lang="es-PE" sz="1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72FA3011-624E-4705-93BC-53FB1399DE6A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  <p:sp>
        <p:nvSpPr>
          <p:cNvPr id="15" name="Google Shape;520;p24">
            <a:extLst>
              <a:ext uri="{FF2B5EF4-FFF2-40B4-BE49-F238E27FC236}">
                <a16:creationId xmlns:a16="http://schemas.microsoft.com/office/drawing/2014/main" id="{777EA972-713A-4CC6-8032-7CBDE20FD776}"/>
              </a:ext>
            </a:extLst>
          </p:cNvPr>
          <p:cNvSpPr/>
          <p:nvPr/>
        </p:nvSpPr>
        <p:spPr>
          <a:xfrm>
            <a:off x="3531194" y="1330325"/>
            <a:ext cx="2328545" cy="474980"/>
          </a:xfrm>
          <a:prstGeom prst="roundRect">
            <a:avLst>
              <a:gd name="adj" fmla="val 18326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PRINCIPIO CLAVE </a:t>
            </a:r>
            <a:endParaRPr sz="1600" dirty="0"/>
          </a:p>
        </p:txBody>
      </p:sp>
      <p:sp>
        <p:nvSpPr>
          <p:cNvPr id="16" name="Google Shape;521;p24">
            <a:extLst>
              <a:ext uri="{FF2B5EF4-FFF2-40B4-BE49-F238E27FC236}">
                <a16:creationId xmlns:a16="http://schemas.microsoft.com/office/drawing/2014/main" id="{A88944F4-F47E-4690-8262-C1292C7B1011}"/>
              </a:ext>
            </a:extLst>
          </p:cNvPr>
          <p:cNvSpPr/>
          <p:nvPr/>
        </p:nvSpPr>
        <p:spPr>
          <a:xfrm>
            <a:off x="1097874" y="1330325"/>
            <a:ext cx="2329180" cy="474980"/>
          </a:xfrm>
          <a:prstGeom prst="roundRect">
            <a:avLst>
              <a:gd name="adj" fmla="val 18326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THINKING</a:t>
            </a:r>
            <a:endParaRPr sz="1600" dirty="0"/>
          </a:p>
        </p:txBody>
      </p:sp>
      <p:sp>
        <p:nvSpPr>
          <p:cNvPr id="17" name="Google Shape;522;p24">
            <a:extLst>
              <a:ext uri="{FF2B5EF4-FFF2-40B4-BE49-F238E27FC236}">
                <a16:creationId xmlns:a16="http://schemas.microsoft.com/office/drawing/2014/main" id="{ADDEE9D8-8036-422F-A540-C1BE31E93617}"/>
              </a:ext>
            </a:extLst>
          </p:cNvPr>
          <p:cNvSpPr/>
          <p:nvPr/>
        </p:nvSpPr>
        <p:spPr>
          <a:xfrm>
            <a:off x="1097239" y="1875155"/>
            <a:ext cx="2329180" cy="2145665"/>
          </a:xfrm>
          <a:prstGeom prst="roundRect">
            <a:avLst>
              <a:gd name="adj" fmla="val 27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Metodología centrada en empatía, ideación rápida y validación iterativa.</a:t>
            </a:r>
            <a:endParaRPr sz="1600" dirty="0"/>
          </a:p>
        </p:txBody>
      </p:sp>
      <p:sp>
        <p:nvSpPr>
          <p:cNvPr id="18" name="Google Shape;523;p24">
            <a:extLst>
              <a:ext uri="{FF2B5EF4-FFF2-40B4-BE49-F238E27FC236}">
                <a16:creationId xmlns:a16="http://schemas.microsoft.com/office/drawing/2014/main" id="{4958CE2E-B1FD-4CE7-B760-356DB72BA8A7}"/>
              </a:ext>
            </a:extLst>
          </p:cNvPr>
          <p:cNvSpPr/>
          <p:nvPr/>
        </p:nvSpPr>
        <p:spPr>
          <a:xfrm>
            <a:off x="3530559" y="1875155"/>
            <a:ext cx="2329180" cy="2145665"/>
          </a:xfrm>
          <a:prstGeom prst="roundRect">
            <a:avLst>
              <a:gd name="adj" fmla="val 27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s-419" sz="1600" b="0" i="0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¿Resolvemos el problema correcto?” </a:t>
            </a:r>
            <a:r>
              <a:rPr lang="es-419" sz="1600" b="1" i="0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más importante que</a:t>
            </a:r>
            <a:r>
              <a:rPr lang="es-419" sz="1600" b="0" i="0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“¿</a:t>
            </a: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419" sz="1600" b="0" i="0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esolvemos bien el problema?”.</a:t>
            </a:r>
            <a:endParaRPr sz="1600" dirty="0"/>
          </a:p>
        </p:txBody>
      </p:sp>
      <p:sp>
        <p:nvSpPr>
          <p:cNvPr id="24" name="Google Shape;524;p24">
            <a:extLst>
              <a:ext uri="{FF2B5EF4-FFF2-40B4-BE49-F238E27FC236}">
                <a16:creationId xmlns:a16="http://schemas.microsoft.com/office/drawing/2014/main" id="{06945C68-4B69-45B2-B982-4F196081448E}"/>
              </a:ext>
            </a:extLst>
          </p:cNvPr>
          <p:cNvSpPr/>
          <p:nvPr/>
        </p:nvSpPr>
        <p:spPr>
          <a:xfrm>
            <a:off x="5963879" y="1875155"/>
            <a:ext cx="2329180" cy="2145665"/>
          </a:xfrm>
          <a:prstGeom prst="roundRect">
            <a:avLst>
              <a:gd name="adj" fmla="val 27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Entender la necesidad real del usuario antes de entrenar un modelo.</a:t>
            </a:r>
            <a:endParaRPr sz="1600" dirty="0"/>
          </a:p>
        </p:txBody>
      </p:sp>
      <p:sp>
        <p:nvSpPr>
          <p:cNvPr id="28" name="Google Shape;525;p24">
            <a:extLst>
              <a:ext uri="{FF2B5EF4-FFF2-40B4-BE49-F238E27FC236}">
                <a16:creationId xmlns:a16="http://schemas.microsoft.com/office/drawing/2014/main" id="{293095DB-3FF7-48C1-B1CB-4DF06CF502AF}"/>
              </a:ext>
            </a:extLst>
          </p:cNvPr>
          <p:cNvSpPr/>
          <p:nvPr/>
        </p:nvSpPr>
        <p:spPr>
          <a:xfrm>
            <a:off x="5963879" y="1330325"/>
            <a:ext cx="2328545" cy="474980"/>
          </a:xfrm>
          <a:prstGeom prst="roundRect">
            <a:avLst>
              <a:gd name="adj" fmla="val 18326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APLICADO EN IA</a:t>
            </a:r>
            <a:endParaRPr sz="1600" dirty="0"/>
          </a:p>
        </p:txBody>
      </p:sp>
      <p:sp>
        <p:nvSpPr>
          <p:cNvPr id="32" name="Google Shape;526;p24">
            <a:extLst>
              <a:ext uri="{FF2B5EF4-FFF2-40B4-BE49-F238E27FC236}">
                <a16:creationId xmlns:a16="http://schemas.microsoft.com/office/drawing/2014/main" id="{5CBE3082-36E2-4FFC-A5AB-5BA9F3524291}"/>
              </a:ext>
            </a:extLst>
          </p:cNvPr>
          <p:cNvSpPr/>
          <p:nvPr/>
        </p:nvSpPr>
        <p:spPr>
          <a:xfrm>
            <a:off x="1097239" y="4090670"/>
            <a:ext cx="7196455" cy="474980"/>
          </a:xfrm>
          <a:prstGeom prst="roundRect">
            <a:avLst>
              <a:gd name="adj" fmla="val 18326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FASES</a:t>
            </a:r>
            <a:endParaRPr sz="1600" dirty="0"/>
          </a:p>
        </p:txBody>
      </p:sp>
      <p:sp>
        <p:nvSpPr>
          <p:cNvPr id="34" name="Google Shape;527;p24">
            <a:extLst>
              <a:ext uri="{FF2B5EF4-FFF2-40B4-BE49-F238E27FC236}">
                <a16:creationId xmlns:a16="http://schemas.microsoft.com/office/drawing/2014/main" id="{65482557-587B-424A-9F14-A0B012117581}"/>
              </a:ext>
            </a:extLst>
          </p:cNvPr>
          <p:cNvSpPr/>
          <p:nvPr/>
        </p:nvSpPr>
        <p:spPr>
          <a:xfrm>
            <a:off x="1097239" y="4635500"/>
            <a:ext cx="7195185" cy="501015"/>
          </a:xfrm>
          <a:prstGeom prst="roundRect">
            <a:avLst>
              <a:gd name="adj" fmla="val 27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Empatía → Definición → Ideación → Prototipado → Prueba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8406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67BAC04C-34C2-0A4F-9AA7-8B8D28FF3E53}"/>
              </a:ext>
            </a:extLst>
          </p:cNvPr>
          <p:cNvSpPr/>
          <p:nvPr/>
        </p:nvSpPr>
        <p:spPr>
          <a:xfrm>
            <a:off x="503238" y="916472"/>
            <a:ext cx="3168650" cy="800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FASE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dirty="0">
                <a:solidFill>
                  <a:srgbClr val="EE4639"/>
                </a:solidFill>
                <a:latin typeface="Calibri" charset="0"/>
                <a:cs typeface="Calibri" charset="0"/>
              </a:rPr>
              <a:t>EMPATÍA - ENTENDER EL USUARIO Y</a:t>
            </a: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 SU CONTEXTO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7" name="Google Shape;537;p25">
            <a:extLst>
              <a:ext uri="{FF2B5EF4-FFF2-40B4-BE49-F238E27FC236}">
                <a16:creationId xmlns:a16="http://schemas.microsoft.com/office/drawing/2014/main" id="{A4F17285-AFD2-401F-A56F-FC6231707504}"/>
              </a:ext>
            </a:extLst>
          </p:cNvPr>
          <p:cNvGrpSpPr/>
          <p:nvPr/>
        </p:nvGrpSpPr>
        <p:grpSpPr>
          <a:xfrm>
            <a:off x="1262400" y="1776411"/>
            <a:ext cx="6259830" cy="3414941"/>
            <a:chOff x="0" y="15602"/>
            <a:chExt cx="6259830" cy="3414941"/>
          </a:xfrm>
        </p:grpSpPr>
        <p:sp>
          <p:nvSpPr>
            <p:cNvPr id="8" name="Google Shape;538;p25">
              <a:extLst>
                <a:ext uri="{FF2B5EF4-FFF2-40B4-BE49-F238E27FC236}">
                  <a16:creationId xmlns:a16="http://schemas.microsoft.com/office/drawing/2014/main" id="{95265398-B0D5-40C0-85BD-3000A8BF1E25}"/>
                </a:ext>
              </a:extLst>
            </p:cNvPr>
            <p:cNvSpPr/>
            <p:nvPr/>
          </p:nvSpPr>
          <p:spPr>
            <a:xfrm>
              <a:off x="0" y="192722"/>
              <a:ext cx="6259830" cy="520065"/>
            </a:xfrm>
            <a:prstGeom prst="rect">
              <a:avLst/>
            </a:prstGeom>
            <a:solidFill>
              <a:schemeClr val="lt1">
                <a:alpha val="89019"/>
              </a:schemeClr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539;p25">
              <a:extLst>
                <a:ext uri="{FF2B5EF4-FFF2-40B4-BE49-F238E27FC236}">
                  <a16:creationId xmlns:a16="http://schemas.microsoft.com/office/drawing/2014/main" id="{37C8C01F-6636-4D72-BF0F-0B1CE83CE04F}"/>
                </a:ext>
              </a:extLst>
            </p:cNvPr>
            <p:cNvSpPr txBox="1"/>
            <p:nvPr/>
          </p:nvSpPr>
          <p:spPr>
            <a:xfrm>
              <a:off x="0" y="192722"/>
              <a:ext cx="6259830" cy="520065"/>
            </a:xfrm>
            <a:prstGeom prst="rect">
              <a:avLst/>
            </a:prstGeom>
            <a:noFill/>
            <a:ln>
              <a:solidFill>
                <a:srgbClr val="EE4639"/>
              </a:solidFill>
            </a:ln>
          </p:spPr>
          <p:txBody>
            <a:bodyPr spcFirstLastPara="1" wrap="square" lIns="485825" tIns="249925" rIns="485825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4639"/>
                </a:buClr>
                <a:buSzPts val="1200"/>
                <a:buFont typeface="Calibri"/>
                <a:buChar char="•"/>
              </a:pP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¿Qué dolor siente el usuario? ¿Cuánto tiempo pierde? ¿Cuál es el impacto?</a:t>
              </a:r>
              <a:endParaRPr dirty="0"/>
            </a:p>
          </p:txBody>
        </p:sp>
        <p:sp>
          <p:nvSpPr>
            <p:cNvPr id="10" name="Google Shape;540;p25">
              <a:extLst>
                <a:ext uri="{FF2B5EF4-FFF2-40B4-BE49-F238E27FC236}">
                  <a16:creationId xmlns:a16="http://schemas.microsoft.com/office/drawing/2014/main" id="{738571CB-2AFE-43CF-89AD-F14AE60672C2}"/>
                </a:ext>
              </a:extLst>
            </p:cNvPr>
            <p:cNvSpPr/>
            <p:nvPr/>
          </p:nvSpPr>
          <p:spPr>
            <a:xfrm>
              <a:off x="312992" y="15602"/>
              <a:ext cx="4381881" cy="35424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541;p25">
              <a:extLst>
                <a:ext uri="{FF2B5EF4-FFF2-40B4-BE49-F238E27FC236}">
                  <a16:creationId xmlns:a16="http://schemas.microsoft.com/office/drawing/2014/main" id="{814F5177-1B04-4443-A8FA-B0B394CCADA2}"/>
                </a:ext>
              </a:extLst>
            </p:cNvPr>
            <p:cNvSpPr txBox="1"/>
            <p:nvPr/>
          </p:nvSpPr>
          <p:spPr>
            <a:xfrm>
              <a:off x="312992" y="15602"/>
              <a:ext cx="4381881" cy="354240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165600" tIns="0" rIns="16560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b="1" i="0" u="none" strike="noStrike" cap="none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ENTREVISTAS</a:t>
              </a:r>
              <a:endParaRPr sz="1600" dirty="0">
                <a:solidFill>
                  <a:schemeClr val="bg1"/>
                </a:solidFill>
              </a:endParaRPr>
            </a:p>
          </p:txBody>
        </p:sp>
        <p:sp>
          <p:nvSpPr>
            <p:cNvPr id="12" name="Google Shape;542;p25">
              <a:extLst>
                <a:ext uri="{FF2B5EF4-FFF2-40B4-BE49-F238E27FC236}">
                  <a16:creationId xmlns:a16="http://schemas.microsoft.com/office/drawing/2014/main" id="{16D06D9D-B8AF-4A3D-B35B-0AD6D325567F}"/>
                </a:ext>
              </a:extLst>
            </p:cNvPr>
            <p:cNvSpPr/>
            <p:nvPr/>
          </p:nvSpPr>
          <p:spPr>
            <a:xfrm>
              <a:off x="0" y="954707"/>
              <a:ext cx="6259830" cy="520065"/>
            </a:xfrm>
            <a:prstGeom prst="rect">
              <a:avLst/>
            </a:prstGeom>
            <a:solidFill>
              <a:schemeClr val="lt1">
                <a:alpha val="89019"/>
              </a:schemeClr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543;p25">
              <a:extLst>
                <a:ext uri="{FF2B5EF4-FFF2-40B4-BE49-F238E27FC236}">
                  <a16:creationId xmlns:a16="http://schemas.microsoft.com/office/drawing/2014/main" id="{B5F9DABB-0E4E-4D99-A777-B8E372612C93}"/>
                </a:ext>
              </a:extLst>
            </p:cNvPr>
            <p:cNvSpPr txBox="1"/>
            <p:nvPr/>
          </p:nvSpPr>
          <p:spPr>
            <a:xfrm>
              <a:off x="0" y="954707"/>
              <a:ext cx="6259830" cy="520065"/>
            </a:xfrm>
            <a:prstGeom prst="rect">
              <a:avLst/>
            </a:prstGeom>
            <a:noFill/>
            <a:ln>
              <a:solidFill>
                <a:srgbClr val="EE4639"/>
              </a:solidFill>
            </a:ln>
          </p:spPr>
          <p:txBody>
            <a:bodyPr spcFirstLastPara="1" wrap="square" lIns="485825" tIns="249925" rIns="485825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4639"/>
                </a:buClr>
                <a:buSzPts val="1200"/>
                <a:buFont typeface="Calibri"/>
                <a:buChar char="•"/>
              </a:pP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 cómo trabajan manualmente, identificar fricciones.</a:t>
              </a:r>
              <a:endParaRPr dirty="0"/>
            </a:p>
          </p:txBody>
        </p:sp>
        <p:sp>
          <p:nvSpPr>
            <p:cNvPr id="14" name="Google Shape;544;p25">
              <a:extLst>
                <a:ext uri="{FF2B5EF4-FFF2-40B4-BE49-F238E27FC236}">
                  <a16:creationId xmlns:a16="http://schemas.microsoft.com/office/drawing/2014/main" id="{DC3E6C5D-7C7E-449A-A36E-F4475B803395}"/>
                </a:ext>
              </a:extLst>
            </p:cNvPr>
            <p:cNvSpPr/>
            <p:nvPr/>
          </p:nvSpPr>
          <p:spPr>
            <a:xfrm>
              <a:off x="312992" y="777587"/>
              <a:ext cx="4381881" cy="35424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545;p25">
              <a:extLst>
                <a:ext uri="{FF2B5EF4-FFF2-40B4-BE49-F238E27FC236}">
                  <a16:creationId xmlns:a16="http://schemas.microsoft.com/office/drawing/2014/main" id="{2B58C236-6EDD-43FA-9002-EF62626FDC0D}"/>
                </a:ext>
              </a:extLst>
            </p:cNvPr>
            <p:cNvSpPr txBox="1"/>
            <p:nvPr/>
          </p:nvSpPr>
          <p:spPr>
            <a:xfrm>
              <a:off x="312992" y="777587"/>
              <a:ext cx="4381881" cy="354240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165600" tIns="0" rIns="16560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b="1" i="0" u="none" strike="noStrike" cap="none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RAZONAMIENTO</a:t>
              </a:r>
              <a:endParaRPr sz="1600" dirty="0">
                <a:solidFill>
                  <a:schemeClr val="bg1"/>
                </a:solidFill>
              </a:endParaRPr>
            </a:p>
          </p:txBody>
        </p:sp>
        <p:sp>
          <p:nvSpPr>
            <p:cNvPr id="16" name="Google Shape;546;p25">
              <a:extLst>
                <a:ext uri="{FF2B5EF4-FFF2-40B4-BE49-F238E27FC236}">
                  <a16:creationId xmlns:a16="http://schemas.microsoft.com/office/drawing/2014/main" id="{36D0F76C-D08D-467E-BC7C-382C83139D99}"/>
                </a:ext>
              </a:extLst>
            </p:cNvPr>
            <p:cNvSpPr/>
            <p:nvPr/>
          </p:nvSpPr>
          <p:spPr>
            <a:xfrm>
              <a:off x="0" y="1716692"/>
              <a:ext cx="6259830" cy="951865"/>
            </a:xfrm>
            <a:prstGeom prst="rect">
              <a:avLst/>
            </a:prstGeom>
            <a:solidFill>
              <a:schemeClr val="lt1">
                <a:alpha val="89019"/>
              </a:schemeClr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547;p25">
              <a:extLst>
                <a:ext uri="{FF2B5EF4-FFF2-40B4-BE49-F238E27FC236}">
                  <a16:creationId xmlns:a16="http://schemas.microsoft.com/office/drawing/2014/main" id="{677E5326-F6DA-4A65-8501-5FF5CCF9471A}"/>
                </a:ext>
              </a:extLst>
            </p:cNvPr>
            <p:cNvSpPr txBox="1"/>
            <p:nvPr/>
          </p:nvSpPr>
          <p:spPr>
            <a:xfrm>
              <a:off x="0" y="1716692"/>
              <a:ext cx="6259830" cy="951865"/>
            </a:xfrm>
            <a:prstGeom prst="rect">
              <a:avLst/>
            </a:prstGeom>
            <a:noFill/>
            <a:ln>
              <a:solidFill>
                <a:srgbClr val="EE4639"/>
              </a:solidFill>
            </a:ln>
          </p:spPr>
          <p:txBody>
            <a:bodyPr spcFirstLastPara="1" wrap="square" lIns="485825" tIns="249925" rIns="485825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4639"/>
                </a:buClr>
                <a:buSzPts val="1200"/>
                <a:buFont typeface="Calibri"/>
                <a:buChar char="•"/>
              </a:pP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"¿Cuántas incidencias clasificas diariamente (volumen)?”.</a:t>
              </a:r>
              <a:endParaRPr dirty="0"/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EE4639"/>
                </a:buClr>
                <a:buSzPts val="1200"/>
                <a:buFont typeface="Calibri"/>
                <a:buChar char="•"/>
              </a:pP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"¿Cuál es tu tasa de error</a:t>
              </a:r>
              <a:r>
                <a:rPr lang="es-419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(línea base)?”.</a:t>
              </a:r>
              <a:endParaRPr dirty="0"/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EE4639"/>
                </a:buClr>
                <a:buSzPts val="1200"/>
                <a:buFont typeface="Calibri"/>
                <a:buChar char="•"/>
              </a:pP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"¿Cuánto tiempo dedicas a clasificar (eficiencia)?”.</a:t>
              </a:r>
              <a:endParaRPr dirty="0"/>
            </a:p>
          </p:txBody>
        </p:sp>
        <p:sp>
          <p:nvSpPr>
            <p:cNvPr id="18" name="Google Shape;548;p25">
              <a:extLst>
                <a:ext uri="{FF2B5EF4-FFF2-40B4-BE49-F238E27FC236}">
                  <a16:creationId xmlns:a16="http://schemas.microsoft.com/office/drawing/2014/main" id="{77221C00-F3E7-48E6-80ED-0093EC24E3EC}"/>
                </a:ext>
              </a:extLst>
            </p:cNvPr>
            <p:cNvSpPr/>
            <p:nvPr/>
          </p:nvSpPr>
          <p:spPr>
            <a:xfrm>
              <a:off x="312992" y="1539572"/>
              <a:ext cx="4381881" cy="35424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549;p25">
              <a:extLst>
                <a:ext uri="{FF2B5EF4-FFF2-40B4-BE49-F238E27FC236}">
                  <a16:creationId xmlns:a16="http://schemas.microsoft.com/office/drawing/2014/main" id="{557A474D-ECB6-4DD1-AB78-940887FFA04F}"/>
                </a:ext>
              </a:extLst>
            </p:cNvPr>
            <p:cNvSpPr txBox="1"/>
            <p:nvPr/>
          </p:nvSpPr>
          <p:spPr>
            <a:xfrm>
              <a:off x="312992" y="1539572"/>
              <a:ext cx="4381881" cy="354240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165600" tIns="0" rIns="16560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b="1" i="0" u="none" strike="noStrike" cap="none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PREGUNTAS CLAVE</a:t>
              </a:r>
              <a:endParaRPr sz="1600" dirty="0">
                <a:solidFill>
                  <a:schemeClr val="bg1"/>
                </a:solidFill>
              </a:endParaRPr>
            </a:p>
          </p:txBody>
        </p:sp>
        <p:sp>
          <p:nvSpPr>
            <p:cNvPr id="20" name="Google Shape;550;p25">
              <a:extLst>
                <a:ext uri="{FF2B5EF4-FFF2-40B4-BE49-F238E27FC236}">
                  <a16:creationId xmlns:a16="http://schemas.microsoft.com/office/drawing/2014/main" id="{AFF400CC-1029-444E-A977-3E79AA3922EB}"/>
                </a:ext>
              </a:extLst>
            </p:cNvPr>
            <p:cNvSpPr/>
            <p:nvPr/>
          </p:nvSpPr>
          <p:spPr>
            <a:xfrm>
              <a:off x="0" y="2910478"/>
              <a:ext cx="6259830" cy="520065"/>
            </a:xfrm>
            <a:prstGeom prst="rect">
              <a:avLst/>
            </a:prstGeom>
            <a:solidFill>
              <a:schemeClr val="lt1">
                <a:alpha val="89019"/>
              </a:schemeClr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551;p25">
              <a:extLst>
                <a:ext uri="{FF2B5EF4-FFF2-40B4-BE49-F238E27FC236}">
                  <a16:creationId xmlns:a16="http://schemas.microsoft.com/office/drawing/2014/main" id="{7F66610B-5C58-4C85-989F-13C8B975AFA8}"/>
                </a:ext>
              </a:extLst>
            </p:cNvPr>
            <p:cNvSpPr txBox="1"/>
            <p:nvPr/>
          </p:nvSpPr>
          <p:spPr>
            <a:xfrm>
              <a:off x="0" y="2910478"/>
              <a:ext cx="6259830" cy="520065"/>
            </a:xfrm>
            <a:prstGeom prst="rect">
              <a:avLst/>
            </a:prstGeom>
            <a:noFill/>
            <a:ln>
              <a:solidFill>
                <a:srgbClr val="EE4639"/>
              </a:solidFill>
            </a:ln>
          </p:spPr>
          <p:txBody>
            <a:bodyPr spcFirstLastPara="1" wrap="square" lIns="485825" tIns="249925" rIns="485825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4639"/>
                </a:buClr>
                <a:buSzPts val="1200"/>
                <a:buFont typeface="Calibri"/>
                <a:buChar char="•"/>
              </a:pP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Persona de usuario, sus objetivos, sus </a:t>
              </a:r>
              <a:r>
                <a:rPr lang="es-419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constraints</a:t>
              </a:r>
              <a:r>
                <a:rPr lang="es-419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dirty="0"/>
            </a:p>
          </p:txBody>
        </p:sp>
        <p:sp>
          <p:nvSpPr>
            <p:cNvPr id="22" name="Google Shape;552;p25">
              <a:extLst>
                <a:ext uri="{FF2B5EF4-FFF2-40B4-BE49-F238E27FC236}">
                  <a16:creationId xmlns:a16="http://schemas.microsoft.com/office/drawing/2014/main" id="{0C28145A-F252-4688-8424-D19C65D8A681}"/>
                </a:ext>
              </a:extLst>
            </p:cNvPr>
            <p:cNvSpPr/>
            <p:nvPr/>
          </p:nvSpPr>
          <p:spPr>
            <a:xfrm>
              <a:off x="312992" y="2733358"/>
              <a:ext cx="4381881" cy="35424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553;p25">
              <a:extLst>
                <a:ext uri="{FF2B5EF4-FFF2-40B4-BE49-F238E27FC236}">
                  <a16:creationId xmlns:a16="http://schemas.microsoft.com/office/drawing/2014/main" id="{8A92CEC8-29C7-4DD5-85FA-44F2A9C70B1F}"/>
                </a:ext>
              </a:extLst>
            </p:cNvPr>
            <p:cNvSpPr txBox="1"/>
            <p:nvPr/>
          </p:nvSpPr>
          <p:spPr>
            <a:xfrm>
              <a:off x="312992" y="2733358"/>
              <a:ext cx="4381881" cy="354240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165600" tIns="0" rIns="16560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b="1" i="0" u="none" strike="noStrike" cap="none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sz="1600" dirty="0">
                <a:solidFill>
                  <a:schemeClr val="bg1"/>
                </a:solidFill>
              </a:endParaRPr>
            </a:p>
          </p:txBody>
        </p:sp>
        <p:sp>
          <p:nvSpPr>
            <p:cNvPr id="25" name="Google Shape;554;p25">
              <a:extLst>
                <a:ext uri="{FF2B5EF4-FFF2-40B4-BE49-F238E27FC236}">
                  <a16:creationId xmlns:a16="http://schemas.microsoft.com/office/drawing/2014/main" id="{D36C80CC-715F-473E-9085-93D5EA1FDC23}"/>
                </a:ext>
              </a:extLst>
            </p:cNvPr>
            <p:cNvSpPr/>
            <p:nvPr/>
          </p:nvSpPr>
          <p:spPr>
            <a:xfrm>
              <a:off x="0" y="15602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555;p25">
              <a:extLst>
                <a:ext uri="{FF2B5EF4-FFF2-40B4-BE49-F238E27FC236}">
                  <a16:creationId xmlns:a16="http://schemas.microsoft.com/office/drawing/2014/main" id="{F25CE18A-D72F-42A0-8178-C0FF01A9E9CA}"/>
                </a:ext>
              </a:extLst>
            </p:cNvPr>
            <p:cNvSpPr txBox="1"/>
            <p:nvPr/>
          </p:nvSpPr>
          <p:spPr>
            <a:xfrm>
              <a:off x="0" y="15602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556;p25">
              <a:extLst>
                <a:ext uri="{FF2B5EF4-FFF2-40B4-BE49-F238E27FC236}">
                  <a16:creationId xmlns:a16="http://schemas.microsoft.com/office/drawing/2014/main" id="{C9ED0FB3-A4A6-4D92-B11E-637E7968D1C8}"/>
                </a:ext>
              </a:extLst>
            </p:cNvPr>
            <p:cNvSpPr/>
            <p:nvPr/>
          </p:nvSpPr>
          <p:spPr>
            <a:xfrm>
              <a:off x="0" y="777587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557;p25">
              <a:extLst>
                <a:ext uri="{FF2B5EF4-FFF2-40B4-BE49-F238E27FC236}">
                  <a16:creationId xmlns:a16="http://schemas.microsoft.com/office/drawing/2014/main" id="{13A984DA-EE32-45A4-A2F8-743897DF1D7F}"/>
                </a:ext>
              </a:extLst>
            </p:cNvPr>
            <p:cNvSpPr txBox="1"/>
            <p:nvPr/>
          </p:nvSpPr>
          <p:spPr>
            <a:xfrm>
              <a:off x="0" y="777587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558;p25">
              <a:extLst>
                <a:ext uri="{FF2B5EF4-FFF2-40B4-BE49-F238E27FC236}">
                  <a16:creationId xmlns:a16="http://schemas.microsoft.com/office/drawing/2014/main" id="{5415E548-7727-4EC9-9AEB-A4D59F05B4FB}"/>
                </a:ext>
              </a:extLst>
            </p:cNvPr>
            <p:cNvSpPr/>
            <p:nvPr/>
          </p:nvSpPr>
          <p:spPr>
            <a:xfrm>
              <a:off x="0" y="1539572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559;p25">
              <a:extLst>
                <a:ext uri="{FF2B5EF4-FFF2-40B4-BE49-F238E27FC236}">
                  <a16:creationId xmlns:a16="http://schemas.microsoft.com/office/drawing/2014/main" id="{03C5BCBE-F712-43CC-AA4F-FB7D59653A87}"/>
                </a:ext>
              </a:extLst>
            </p:cNvPr>
            <p:cNvSpPr txBox="1"/>
            <p:nvPr/>
          </p:nvSpPr>
          <p:spPr>
            <a:xfrm>
              <a:off x="0" y="1539572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560;p25">
              <a:extLst>
                <a:ext uri="{FF2B5EF4-FFF2-40B4-BE49-F238E27FC236}">
                  <a16:creationId xmlns:a16="http://schemas.microsoft.com/office/drawing/2014/main" id="{3403E103-A258-40B1-99ED-F793FFC5D10D}"/>
                </a:ext>
              </a:extLst>
            </p:cNvPr>
            <p:cNvSpPr/>
            <p:nvPr/>
          </p:nvSpPr>
          <p:spPr>
            <a:xfrm>
              <a:off x="0" y="2733358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561;p25">
              <a:extLst>
                <a:ext uri="{FF2B5EF4-FFF2-40B4-BE49-F238E27FC236}">
                  <a16:creationId xmlns:a16="http://schemas.microsoft.com/office/drawing/2014/main" id="{D34684B9-13FC-428D-966F-C04EA6E373B2}"/>
                </a:ext>
              </a:extLst>
            </p:cNvPr>
            <p:cNvSpPr txBox="1"/>
            <p:nvPr/>
          </p:nvSpPr>
          <p:spPr>
            <a:xfrm>
              <a:off x="0" y="2733358"/>
              <a:ext cx="312992" cy="35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Rectangle 5">
            <a:extLst>
              <a:ext uri="{FF2B5EF4-FFF2-40B4-BE49-F238E27FC236}">
                <a16:creationId xmlns:a16="http://schemas.microsoft.com/office/drawing/2014/main" id="{5C510AB8-9A80-4AC7-9D8F-D991557D92C4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872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67BAC04C-34C2-0A4F-9AA7-8B8D28FF3E53}"/>
              </a:ext>
            </a:extLst>
          </p:cNvPr>
          <p:cNvSpPr/>
          <p:nvPr/>
        </p:nvSpPr>
        <p:spPr>
          <a:xfrm>
            <a:off x="503238" y="916472"/>
            <a:ext cx="316865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FASE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DEFINICIÓN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</p:txBody>
      </p:sp>
      <p:cxnSp>
        <p:nvCxnSpPr>
          <p:cNvPr id="33" name="Google Shape;568;p26">
            <a:extLst>
              <a:ext uri="{FF2B5EF4-FFF2-40B4-BE49-F238E27FC236}">
                <a16:creationId xmlns:a16="http://schemas.microsoft.com/office/drawing/2014/main" id="{1C3B4DA9-69BE-4B20-865B-AC2E614A55DB}"/>
              </a:ext>
            </a:extLst>
          </p:cNvPr>
          <p:cNvCxnSpPr/>
          <p:nvPr/>
        </p:nvCxnSpPr>
        <p:spPr>
          <a:xfrm>
            <a:off x="4501763" y="3087957"/>
            <a:ext cx="81915" cy="75565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34" name="Google Shape;569;p26">
            <a:extLst>
              <a:ext uri="{FF2B5EF4-FFF2-40B4-BE49-F238E27FC236}">
                <a16:creationId xmlns:a16="http://schemas.microsoft.com/office/drawing/2014/main" id="{CABEF843-7724-459C-B0DC-563818227CD6}"/>
              </a:ext>
            </a:extLst>
          </p:cNvPr>
          <p:cNvSpPr/>
          <p:nvPr/>
        </p:nvSpPr>
        <p:spPr>
          <a:xfrm>
            <a:off x="3299788" y="1617058"/>
            <a:ext cx="2995930" cy="3441065"/>
          </a:xfrm>
          <a:prstGeom prst="roundRect">
            <a:avLst>
              <a:gd name="adj" fmla="val 0"/>
            </a:avLst>
          </a:prstGeom>
          <a:noFill/>
          <a:ln w="381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00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35" name="Google Shape;573;p26">
            <a:extLst>
              <a:ext uri="{FF2B5EF4-FFF2-40B4-BE49-F238E27FC236}">
                <a16:creationId xmlns:a16="http://schemas.microsoft.com/office/drawing/2014/main" id="{456637A5-5A72-4931-B9A9-68C0E5949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9272380"/>
              </p:ext>
            </p:extLst>
          </p:nvPr>
        </p:nvGraphicFramePr>
        <p:xfrm>
          <a:off x="3308043" y="3087718"/>
          <a:ext cx="2984500" cy="19698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lang="es-419" sz="16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(FASE 2)</a:t>
                      </a:r>
                      <a:endParaRPr sz="1600"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4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Sintetizar </a:t>
                      </a:r>
                      <a:r>
                        <a:rPr lang="es-419" sz="12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insights</a:t>
                      </a: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r>
                        <a:rPr lang="es-419" sz="12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"El equipo de soporte necesita clasificar 500 incidencias/día con &lt;5% error”.</a:t>
                      </a:r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Redactar </a:t>
                      </a:r>
                      <a:r>
                        <a:rPr lang="es-419" sz="12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</a:t>
                      </a: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419" sz="12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statement</a:t>
                      </a: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r>
                        <a:rPr lang="es-419" sz="12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"¿Cómo podemos automatizar la clasificación de incidencias para reducir tiempo en 80%?“.</a:t>
                      </a:r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6" name="Google Shape;574;p26">
            <a:extLst>
              <a:ext uri="{FF2B5EF4-FFF2-40B4-BE49-F238E27FC236}">
                <a16:creationId xmlns:a16="http://schemas.microsoft.com/office/drawing/2014/main" id="{24C26AFD-BE5A-4F6C-9BDA-A6734E3B57A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b="28051"/>
          <a:stretch/>
        </p:blipFill>
        <p:spPr>
          <a:xfrm>
            <a:off x="3308043" y="1617058"/>
            <a:ext cx="2984500" cy="14706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C6FBBE20-DF4A-404C-B3BE-649C329AC28D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383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67BAC04C-34C2-0A4F-9AA7-8B8D28FF3E53}"/>
              </a:ext>
            </a:extLst>
          </p:cNvPr>
          <p:cNvSpPr/>
          <p:nvPr/>
        </p:nvSpPr>
        <p:spPr>
          <a:xfrm>
            <a:off x="503238" y="916472"/>
            <a:ext cx="316865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FASE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IDEACIÓN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</p:txBody>
      </p:sp>
      <p:cxnSp>
        <p:nvCxnSpPr>
          <p:cNvPr id="8" name="Google Shape;570;p26">
            <a:extLst>
              <a:ext uri="{FF2B5EF4-FFF2-40B4-BE49-F238E27FC236}">
                <a16:creationId xmlns:a16="http://schemas.microsoft.com/office/drawing/2014/main" id="{98DCD948-3DCE-4DF7-A740-05DB2BBC99EF}"/>
              </a:ext>
            </a:extLst>
          </p:cNvPr>
          <p:cNvCxnSpPr/>
          <p:nvPr/>
        </p:nvCxnSpPr>
        <p:spPr>
          <a:xfrm>
            <a:off x="4642958" y="2659803"/>
            <a:ext cx="82550" cy="75565"/>
          </a:xfrm>
          <a:prstGeom prst="straightConnector1">
            <a:avLst/>
          </a:prstGeom>
          <a:noFill/>
          <a:ln>
            <a:noFill/>
          </a:ln>
        </p:spPr>
      </p:cxnSp>
      <p:graphicFrame>
        <p:nvGraphicFramePr>
          <p:cNvPr id="9" name="Google Shape;571;p26">
            <a:extLst>
              <a:ext uri="{FF2B5EF4-FFF2-40B4-BE49-F238E27FC236}">
                <a16:creationId xmlns:a16="http://schemas.microsoft.com/office/drawing/2014/main" id="{7B44048F-3475-4844-9040-0509B2BE9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738211"/>
              </p:ext>
            </p:extLst>
          </p:nvPr>
        </p:nvGraphicFramePr>
        <p:xfrm>
          <a:off x="3153143" y="3088353"/>
          <a:ext cx="2991475" cy="19685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299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lang="es-419" sz="16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IDEACIÓN (FASE 3)</a:t>
                      </a:r>
                      <a:endParaRPr sz="1600"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4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419" sz="12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Brainstorm</a:t>
                      </a: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lang="es-419" sz="12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</a:t>
                      </a:r>
                      <a:r>
                        <a:rPr lang="es-419" sz="1200" b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</a:t>
                      </a:r>
                      <a:r>
                        <a:rPr lang="es-419" sz="12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reglas heurísticas, soporte híbrido (ML + humano).</a:t>
                      </a:r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Votar por viabilidad + impacto:</a:t>
                      </a:r>
                      <a:r>
                        <a:rPr lang="es-419" sz="12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ML es viable si hay datos etiquetados, alto impacto si reduce 80% de tiempo.</a:t>
                      </a:r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Resultado:</a:t>
                      </a:r>
                      <a:r>
                        <a:rPr lang="es-419" sz="12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conjunto de soluciones candidatas a prototipar.​</a:t>
                      </a:r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Google Shape;572;p26">
            <a:extLst>
              <a:ext uri="{FF2B5EF4-FFF2-40B4-BE49-F238E27FC236}">
                <a16:creationId xmlns:a16="http://schemas.microsoft.com/office/drawing/2014/main" id="{24501B3B-715C-4916-9AF4-5F4B5519DD02}"/>
              </a:ext>
            </a:extLst>
          </p:cNvPr>
          <p:cNvSpPr/>
          <p:nvPr/>
        </p:nvSpPr>
        <p:spPr>
          <a:xfrm>
            <a:off x="3156953" y="1617058"/>
            <a:ext cx="2994025" cy="3441065"/>
          </a:xfrm>
          <a:prstGeom prst="roundRect">
            <a:avLst>
              <a:gd name="adj" fmla="val 0"/>
            </a:avLst>
          </a:prstGeom>
          <a:noFill/>
          <a:ln w="381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00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575;p26">
            <a:extLst>
              <a:ext uri="{FF2B5EF4-FFF2-40B4-BE49-F238E27FC236}">
                <a16:creationId xmlns:a16="http://schemas.microsoft.com/office/drawing/2014/main" id="{54E73C60-513C-43AE-A5FE-465C70253B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7588" y="1617058"/>
            <a:ext cx="2987675" cy="1470660"/>
          </a:xfrm>
          <a:prstGeom prst="rect">
            <a:avLst/>
          </a:prstGeom>
          <a:noFill/>
          <a:ln>
            <a:solidFill>
              <a:srgbClr val="EE4639"/>
            </a:solidFill>
          </a:ln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C9575282-B4C2-4CC3-985B-45814CAE3B72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55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67BAC04C-34C2-0A4F-9AA7-8B8D28FF3E53}"/>
              </a:ext>
            </a:extLst>
          </p:cNvPr>
          <p:cNvSpPr/>
          <p:nvPr/>
        </p:nvSpPr>
        <p:spPr>
          <a:xfrm>
            <a:off x="503238" y="916472"/>
            <a:ext cx="316865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FASE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PROTOTIPADO RÁPIDO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</p:txBody>
      </p:sp>
      <p:sp>
        <p:nvSpPr>
          <p:cNvPr id="12" name="Google Shape;582;p27">
            <a:extLst>
              <a:ext uri="{FF2B5EF4-FFF2-40B4-BE49-F238E27FC236}">
                <a16:creationId xmlns:a16="http://schemas.microsoft.com/office/drawing/2014/main" id="{8A315183-3D0C-485C-BE48-98D52D1AF084}"/>
              </a:ext>
            </a:extLst>
          </p:cNvPr>
          <p:cNvSpPr/>
          <p:nvPr/>
        </p:nvSpPr>
        <p:spPr>
          <a:xfrm>
            <a:off x="608351" y="1867828"/>
            <a:ext cx="3850005" cy="777875"/>
          </a:xfrm>
          <a:prstGeom prst="roundRect">
            <a:avLst>
              <a:gd name="adj" fmla="val 50000"/>
            </a:avLst>
          </a:prstGeom>
          <a:solidFill>
            <a:srgbClr val="00B1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marR="0" lvl="0" indent="6572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83;p27">
            <a:extLst>
              <a:ext uri="{FF2B5EF4-FFF2-40B4-BE49-F238E27FC236}">
                <a16:creationId xmlns:a16="http://schemas.microsoft.com/office/drawing/2014/main" id="{AE01EDFC-A8C7-4C2B-A1E1-983269AE689D}"/>
              </a:ext>
            </a:extLst>
          </p:cNvPr>
          <p:cNvSpPr/>
          <p:nvPr/>
        </p:nvSpPr>
        <p:spPr>
          <a:xfrm>
            <a:off x="608351" y="2950503"/>
            <a:ext cx="3850005" cy="782955"/>
          </a:xfrm>
          <a:prstGeom prst="roundRect">
            <a:avLst>
              <a:gd name="adj" fmla="val 50000"/>
            </a:avLst>
          </a:prstGeom>
          <a:solidFill>
            <a:srgbClr val="FE7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6865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84;p27">
            <a:extLst>
              <a:ext uri="{FF2B5EF4-FFF2-40B4-BE49-F238E27FC236}">
                <a16:creationId xmlns:a16="http://schemas.microsoft.com/office/drawing/2014/main" id="{481923E8-22C4-4625-8DF7-F5E9E5703013}"/>
              </a:ext>
            </a:extLst>
          </p:cNvPr>
          <p:cNvSpPr/>
          <p:nvPr/>
        </p:nvSpPr>
        <p:spPr>
          <a:xfrm>
            <a:off x="2754651" y="4033178"/>
            <a:ext cx="3850005" cy="781050"/>
          </a:xfrm>
          <a:prstGeom prst="roundRect">
            <a:avLst>
              <a:gd name="adj" fmla="val 50000"/>
            </a:avLst>
          </a:pr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6865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85;p27">
            <a:extLst>
              <a:ext uri="{FF2B5EF4-FFF2-40B4-BE49-F238E27FC236}">
                <a16:creationId xmlns:a16="http://schemas.microsoft.com/office/drawing/2014/main" id="{5A9D8361-8DC1-4ADC-8042-7978EC66A62A}"/>
              </a:ext>
            </a:extLst>
          </p:cNvPr>
          <p:cNvSpPr/>
          <p:nvPr/>
        </p:nvSpPr>
        <p:spPr>
          <a:xfrm>
            <a:off x="4631076" y="1867828"/>
            <a:ext cx="3850005" cy="781050"/>
          </a:xfrm>
          <a:prstGeom prst="roundRect">
            <a:avLst>
              <a:gd name="adj" fmla="val 50000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6865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86;p27">
            <a:extLst>
              <a:ext uri="{FF2B5EF4-FFF2-40B4-BE49-F238E27FC236}">
                <a16:creationId xmlns:a16="http://schemas.microsoft.com/office/drawing/2014/main" id="{BA214A92-6523-47D6-A4A0-EF11807D796E}"/>
              </a:ext>
            </a:extLst>
          </p:cNvPr>
          <p:cNvSpPr/>
          <p:nvPr/>
        </p:nvSpPr>
        <p:spPr>
          <a:xfrm>
            <a:off x="4631076" y="2950503"/>
            <a:ext cx="3850005" cy="781050"/>
          </a:xfrm>
          <a:prstGeom prst="roundRect">
            <a:avLst>
              <a:gd name="adj" fmla="val 50000"/>
            </a:avLst>
          </a:prstGeom>
          <a:solidFill>
            <a:srgbClr val="E441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6865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587;p27">
            <a:extLst>
              <a:ext uri="{FF2B5EF4-FFF2-40B4-BE49-F238E27FC236}">
                <a16:creationId xmlns:a16="http://schemas.microsoft.com/office/drawing/2014/main" id="{11391372-6C5A-4CA1-B59E-6DA03683CD12}"/>
              </a:ext>
            </a:extLst>
          </p:cNvPr>
          <p:cNvSpPr txBox="1"/>
          <p:nvPr/>
        </p:nvSpPr>
        <p:spPr>
          <a:xfrm>
            <a:off x="917596" y="1900848"/>
            <a:ext cx="327279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MVP (MÍNIMO PRODUCTO VIABLE)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No entrenes un modelo perfecto; haz un funcional rápido.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Google Shape;588;p27">
            <a:extLst>
              <a:ext uri="{FF2B5EF4-FFF2-40B4-BE49-F238E27FC236}">
                <a16:creationId xmlns:a16="http://schemas.microsoft.com/office/drawing/2014/main" id="{D569ABE8-D8B8-4831-8EB0-8D14192D5A5A}"/>
              </a:ext>
            </a:extLst>
          </p:cNvPr>
          <p:cNvSpPr txBox="1"/>
          <p:nvPr/>
        </p:nvSpPr>
        <p:spPr>
          <a:xfrm>
            <a:off x="4773316" y="1867828"/>
            <a:ext cx="356489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STACK MÍNIMO</a:t>
            </a:r>
            <a:endParaRPr sz="14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3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pequeño (~500 ejemplos etiquetados) + algoritmo simple (</a:t>
            </a:r>
            <a:r>
              <a:rPr lang="es-419" sz="13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Naive</a:t>
            </a: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Bayes o SVM).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" name="Google Shape;589;p27">
            <a:extLst>
              <a:ext uri="{FF2B5EF4-FFF2-40B4-BE49-F238E27FC236}">
                <a16:creationId xmlns:a16="http://schemas.microsoft.com/office/drawing/2014/main" id="{43FB514E-099B-49D8-B7DE-3BFAF62B7735}"/>
              </a:ext>
            </a:extLst>
          </p:cNvPr>
          <p:cNvSpPr txBox="1"/>
          <p:nvPr/>
        </p:nvSpPr>
        <p:spPr>
          <a:xfrm>
            <a:off x="917596" y="2942248"/>
            <a:ext cx="327279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14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Validar que la idea es viable sin invertir meses de desarrollo.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590;p27">
            <a:extLst>
              <a:ext uri="{FF2B5EF4-FFF2-40B4-BE49-F238E27FC236}">
                <a16:creationId xmlns:a16="http://schemas.microsoft.com/office/drawing/2014/main" id="{D02CC409-D79B-41A9-A343-7D00FE447904}"/>
              </a:ext>
            </a:extLst>
          </p:cNvPr>
          <p:cNvSpPr txBox="1"/>
          <p:nvPr/>
        </p:nvSpPr>
        <p:spPr>
          <a:xfrm>
            <a:off x="4919366" y="2950503"/>
            <a:ext cx="327279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CASO PRÁCTICO</a:t>
            </a:r>
            <a:endParaRPr sz="14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En 1 semana, construir clasificador básico de incidencias con 80% F1-score.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" name="Google Shape;591;p27">
            <a:extLst>
              <a:ext uri="{FF2B5EF4-FFF2-40B4-BE49-F238E27FC236}">
                <a16:creationId xmlns:a16="http://schemas.microsoft.com/office/drawing/2014/main" id="{4F5B95A8-2EEA-48D0-974C-26118B324932}"/>
              </a:ext>
            </a:extLst>
          </p:cNvPr>
          <p:cNvSpPr txBox="1"/>
          <p:nvPr/>
        </p:nvSpPr>
        <p:spPr>
          <a:xfrm>
            <a:off x="3042941" y="4033178"/>
            <a:ext cx="327279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MÉTRICAS DEL PROTOTIPO</a:t>
            </a:r>
            <a:endParaRPr sz="14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3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Funciona bien en datos de prueba, pero aún necesita refinamiento.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6C69F3F7-E6C0-41FC-B55B-7550D61996CC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504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67BAC04C-34C2-0A4F-9AA7-8B8D28FF3E53}"/>
              </a:ext>
            </a:extLst>
          </p:cNvPr>
          <p:cNvSpPr/>
          <p:nvPr/>
        </p:nvSpPr>
        <p:spPr>
          <a:xfrm>
            <a:off x="503238" y="916472"/>
            <a:ext cx="4737356" cy="4078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FASE 05.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PRUEBA E ITERACIÓN</a:t>
            </a:r>
          </a:p>
          <a:p>
            <a:pPr marL="285750" lvl="0" indent="-285750"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MX" sz="1600" b="1" dirty="0" err="1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Testing</a:t>
            </a: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con usuarios:</a:t>
            </a:r>
            <a:r>
              <a:rPr lang="es-MX" sz="1600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desplegar el prototipo a 10% de incidencias reales. Medir acierto real vs. esperado.</a:t>
            </a:r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MX" sz="1600" b="1" dirty="0" err="1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Feedback</a:t>
            </a: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b="1" dirty="0" err="1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loop</a:t>
            </a: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r>
              <a:rPr lang="es-MX" sz="1600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¿el modelo comete errores predecibles? ¿Cuál es la fricción actual?</a:t>
            </a:r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Iteración:</a:t>
            </a:r>
          </a:p>
          <a:p>
            <a:pPr marL="541338" lvl="0" indent="-276225">
              <a:buClr>
                <a:srgbClr val="EE4639"/>
              </a:buClr>
              <a:buSzPts val="14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Si </a:t>
            </a: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accuracy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es bajo, volver a fase 2 (redefinir problema, obtener más datos).</a:t>
            </a:r>
          </a:p>
          <a:p>
            <a:pPr marL="541338" lvl="0" indent="-276225">
              <a:buClr>
                <a:srgbClr val="EE4639"/>
              </a:buClr>
              <a:buSzPts val="14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Si funciona, escalar: más datos, modelos más complejos (</a:t>
            </a: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random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forest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deep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learning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).</a:t>
            </a:r>
          </a:p>
          <a:p>
            <a:pPr marL="285750" lvl="0" indent="-285750"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Mantenimiento:</a:t>
            </a:r>
            <a:r>
              <a:rPr lang="es-MX" sz="1600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una vez en producción, monitorear degradación del modelo. Reentrenar mensualmente si es necesario.</a:t>
            </a:r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Data </a:t>
            </a:r>
            <a:r>
              <a:rPr lang="es-MX" sz="1600" b="1" dirty="0" err="1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flywheel</a:t>
            </a:r>
            <a:r>
              <a:rPr lang="es-MX" sz="16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r>
              <a:rPr lang="es-MX" sz="1600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cada predicción genera datos que mejoran el modelo. Ciclo virtuoso.</a:t>
            </a:r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oogle Shape;599;p28" descr="C:/Users/USER/OneDrive/Escritorio/98282560-db94-410d-8ce5-2092fbdd1ee8.png98282560-db94-410d-8ce5-2092fbdd1ee8">
            <a:extLst>
              <a:ext uri="{FF2B5EF4-FFF2-40B4-BE49-F238E27FC236}">
                <a16:creationId xmlns:a16="http://schemas.microsoft.com/office/drawing/2014/main" id="{A2F4779F-5E29-49BA-90EA-18F3D37265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7382" r="17382"/>
          <a:stretch/>
        </p:blipFill>
        <p:spPr>
          <a:xfrm>
            <a:off x="5205484" y="1288534"/>
            <a:ext cx="3435278" cy="3509994"/>
          </a:xfrm>
          <a:custGeom>
            <a:avLst/>
            <a:gdLst/>
            <a:ahLst/>
            <a:cxnLst/>
            <a:rect l="l" t="t" r="r" b="b"/>
            <a:pathLst>
              <a:path w="4580370" h="4679992" extrusionOk="0">
                <a:moveTo>
                  <a:pt x="1773704" y="848"/>
                </a:moveTo>
                <a:cubicBezTo>
                  <a:pt x="2036998" y="9474"/>
                  <a:pt x="2304690" y="84155"/>
                  <a:pt x="2552728" y="233594"/>
                </a:cubicBezTo>
                <a:cubicBezTo>
                  <a:pt x="2827702" y="399259"/>
                  <a:pt x="3092149" y="577073"/>
                  <a:pt x="3346074" y="767022"/>
                </a:cubicBezTo>
                <a:cubicBezTo>
                  <a:pt x="3596165" y="954098"/>
                  <a:pt x="3836044" y="1152955"/>
                  <a:pt x="4065717" y="1363599"/>
                </a:cubicBezTo>
                <a:cubicBezTo>
                  <a:pt x="4834832" y="2068972"/>
                  <a:pt x="4729928" y="3297254"/>
                  <a:pt x="3831264" y="3827806"/>
                </a:cubicBezTo>
                <a:cubicBezTo>
                  <a:pt x="3560188" y="3987840"/>
                  <a:pt x="3280691" y="4130341"/>
                  <a:pt x="2992777" y="4255307"/>
                </a:cubicBezTo>
                <a:cubicBezTo>
                  <a:pt x="2653031" y="4402770"/>
                  <a:pt x="2301548" y="4525824"/>
                  <a:pt x="1938329" y="4624470"/>
                </a:cubicBezTo>
                <a:cubicBezTo>
                  <a:pt x="990142" y="4881975"/>
                  <a:pt x="48405" y="4214234"/>
                  <a:pt x="6496" y="3232593"/>
                </a:cubicBezTo>
                <a:cubicBezTo>
                  <a:pt x="-8950" y="2870857"/>
                  <a:pt x="3154" y="2509747"/>
                  <a:pt x="42801" y="2149252"/>
                </a:cubicBezTo>
                <a:cubicBezTo>
                  <a:pt x="78829" y="1821628"/>
                  <a:pt x="137609" y="1494517"/>
                  <a:pt x="219155" y="1167917"/>
                </a:cubicBezTo>
                <a:cubicBezTo>
                  <a:pt x="347402" y="654172"/>
                  <a:pt x="704019" y="283960"/>
                  <a:pt x="1141961" y="110501"/>
                </a:cubicBezTo>
                <a:cubicBezTo>
                  <a:pt x="1306190" y="45453"/>
                  <a:pt x="1481854" y="8074"/>
                  <a:pt x="1661202" y="1170"/>
                </a:cubicBezTo>
                <a:cubicBezTo>
                  <a:pt x="1698566" y="-269"/>
                  <a:pt x="1736090" y="-384"/>
                  <a:pt x="1773704" y="84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8EAC6DC-D651-4920-BE9C-3AF7EBFF87F6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723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503238" y="920364"/>
            <a:ext cx="726916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419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CHECKLIST PARA INICIAR TU PROYECTO DE IA</a:t>
            </a:r>
          </a:p>
        </p:txBody>
      </p:sp>
      <p:sp>
        <p:nvSpPr>
          <p:cNvPr id="24" name="Google Shape;609;p29">
            <a:extLst>
              <a:ext uri="{FF2B5EF4-FFF2-40B4-BE49-F238E27FC236}">
                <a16:creationId xmlns:a16="http://schemas.microsoft.com/office/drawing/2014/main" id="{4FAAAFAD-DD59-4ABA-8175-2AD13C5F5318}"/>
              </a:ext>
            </a:extLst>
          </p:cNvPr>
          <p:cNvSpPr txBox="1"/>
          <p:nvPr/>
        </p:nvSpPr>
        <p:spPr>
          <a:xfrm>
            <a:off x="503238" y="1389697"/>
            <a:ext cx="6068060" cy="32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lang="es-419" sz="16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ANTES DE EMPEZAR:</a:t>
            </a:r>
            <a:endParaRPr sz="1600" b="1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¿He entrevistado usuarios? ¿Entiendo su dolor?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¿Tengo datos? ¿Están etiquetados? ¿Cuál es la calidad?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¿He establecido una métrica clara y una línea base?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¿El problema se ajusta a uno de los 3 arquetipos (mejora/complemento/automatización)?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¿He evaluado riesgos (sesgo, privacidad, escalabilidad)?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¿El ROI esperado justifica el esfuerzo?​</a:t>
            </a:r>
            <a:endParaRPr sz="1600" dirty="0"/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lang="es-419" sz="16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FASE INICIAL:</a:t>
            </a:r>
            <a:endParaRPr sz="1600" b="1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Construir MVP en 1-2 semanas.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Validar con usuarios reales.</a:t>
            </a:r>
            <a:endParaRPr sz="1600" dirty="0"/>
          </a:p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Documentar resultados y lecciones aprendidas.</a:t>
            </a:r>
            <a:endParaRPr sz="1600" dirty="0"/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96A13C-C766-42AD-9DF1-20D7CB70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542" y="920728"/>
            <a:ext cx="2928220" cy="435182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DDB53C99-98F8-40A0-A938-293B262C5C89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extLst>
      <p:ext uri="{BB962C8B-B14F-4D97-AF65-F5344CB8AC3E}">
        <p14:creationId xmlns:p14="http://schemas.microsoft.com/office/powerpoint/2010/main" val="9712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503238" y="920364"/>
            <a:ext cx="4875007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CONCLUSIÓN: FORMULAR ES MAYOR A RESOLVER</a:t>
            </a:r>
          </a:p>
          <a:p>
            <a:pPr lvl="0"/>
            <a:endParaRPr lang="es-MX" sz="16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 mitad del éxito de un proyecto de IA es formular bien el problema; la otra mitad es resolverlo correctamente.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Design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thinking</a:t>
            </a: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no es una metodología corporativa más: es una forma de pensar centrada en empatía + iteración rápida.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Los mejores equipos de IA son interdisciplinarios</a:t>
            </a:r>
          </a:p>
          <a:p>
            <a:pPr marL="541338" lvl="0" indent="-276225">
              <a:buClr>
                <a:srgbClr val="7150A0"/>
              </a:buClr>
              <a:buFont typeface="Wingdings" panose="05000000000000000000" pitchFamily="2" charset="2"/>
              <a:buChar char="Ø"/>
            </a:pPr>
            <a:r>
              <a:rPr lang="es-MX" sz="1600" b="1" dirty="0">
                <a:solidFill>
                  <a:srgbClr val="715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Ingenieros.</a:t>
            </a:r>
          </a:p>
          <a:p>
            <a:pPr marL="541338" lvl="0" indent="-276225">
              <a:buClr>
                <a:srgbClr val="7150A0"/>
              </a:buClr>
              <a:buFont typeface="Wingdings" panose="05000000000000000000" pitchFamily="2" charset="2"/>
              <a:buChar char="Ø"/>
            </a:pPr>
            <a:r>
              <a:rPr lang="es-MX" sz="1600" b="1" dirty="0" err="1">
                <a:solidFill>
                  <a:srgbClr val="715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Domain</a:t>
            </a:r>
            <a:r>
              <a:rPr lang="es-MX" sz="1600" b="1" dirty="0">
                <a:solidFill>
                  <a:srgbClr val="715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MX" sz="1600" b="1" dirty="0" err="1">
                <a:solidFill>
                  <a:srgbClr val="715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experts</a:t>
            </a:r>
            <a:r>
              <a:rPr lang="es-MX" sz="1600" b="1" dirty="0">
                <a:solidFill>
                  <a:srgbClr val="715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 marL="541338" lvl="0" indent="-276225">
              <a:buClr>
                <a:srgbClr val="7150A0"/>
              </a:buClr>
              <a:buFont typeface="Wingdings" panose="05000000000000000000" pitchFamily="2" charset="2"/>
              <a:buChar char="Ø"/>
            </a:pPr>
            <a:r>
              <a:rPr lang="es-MX" sz="1600" b="1" dirty="0">
                <a:solidFill>
                  <a:srgbClr val="715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Usuarios finales.</a:t>
            </a:r>
          </a:p>
        </p:txBody>
      </p:sp>
      <p:pic>
        <p:nvPicPr>
          <p:cNvPr id="6" name="Google Shape;618;p30">
            <a:extLst>
              <a:ext uri="{FF2B5EF4-FFF2-40B4-BE49-F238E27FC236}">
                <a16:creationId xmlns:a16="http://schemas.microsoft.com/office/drawing/2014/main" id="{C8B40713-B38A-4352-B7C4-703ADB34A20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7512" y="920364"/>
            <a:ext cx="3143250" cy="33508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7152888D-CB92-4982-9F78-AE44F80F3E95}"/>
              </a:ext>
            </a:extLst>
          </p:cNvPr>
          <p:cNvSpPr/>
          <p:nvPr/>
        </p:nvSpPr>
        <p:spPr>
          <a:xfrm>
            <a:off x="503238" y="380615"/>
            <a:ext cx="312450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TALLER DE IDEACIÓN DE PROBLEMAS (DESIGN THINKING)</a:t>
            </a:r>
          </a:p>
        </p:txBody>
      </p:sp>
    </p:spTree>
    <p:extLst>
      <p:ext uri="{BB962C8B-B14F-4D97-AF65-F5344CB8AC3E}">
        <p14:creationId xmlns:p14="http://schemas.microsoft.com/office/powerpoint/2010/main" val="330134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9" r="27730"/>
          <a:stretch/>
        </p:blipFill>
        <p:spPr>
          <a:xfrm flipH="1">
            <a:off x="6006351" y="912813"/>
            <a:ext cx="2596200" cy="432117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211768" y="2277499"/>
            <a:ext cx="3599053" cy="2767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MX" sz="3200" dirty="0">
                <a:latin typeface="Graphik-Medium" charset="0"/>
                <a:ea typeface="Graphik-Medium" charset="0"/>
                <a:cs typeface="Graphik-Medium" charset="0"/>
              </a:rPr>
              <a:t>¿CUÁL ES EL PROBLEMA EN TU TRABAJO O CARRERA QUE PODRÍA </a:t>
            </a:r>
            <a:br>
              <a:rPr lang="es-ES" sz="3200" b="1" dirty="0">
                <a:solidFill>
                  <a:srgbClr val="8EC540"/>
                </a:solidFill>
                <a:latin typeface="Graphik Bold" charset="0"/>
                <a:ea typeface="Graphik Bold" charset="0"/>
                <a:cs typeface="Graphik Bold" charset="0"/>
              </a:rPr>
            </a:br>
            <a:r>
              <a:rPr lang="es-MX" sz="3200" b="1" dirty="0">
                <a:solidFill>
                  <a:srgbClr val="8EC540"/>
                </a:solidFill>
                <a:latin typeface="Graphik Bold" charset="0"/>
                <a:ea typeface="Graphik Bold" charset="0"/>
                <a:cs typeface="Graphik Bold" charset="0"/>
              </a:rPr>
              <a:t>BENEFICIARSE DE UNA SOLUCIÓN DE IA?</a:t>
            </a:r>
            <a:endParaRPr lang="es-ES" sz="3200" b="1" dirty="0">
              <a:solidFill>
                <a:srgbClr val="8EC540"/>
              </a:solidFill>
              <a:latin typeface="Graphik Bold" charset="0"/>
              <a:ea typeface="Graphik Bold" charset="0"/>
              <a:cs typeface="Graphik Bold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76" y="2441396"/>
            <a:ext cx="329184" cy="54178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91" y="2149609"/>
            <a:ext cx="1222115" cy="120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2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endPara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endParaRP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279545" y="912813"/>
            <a:ext cx="570545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ideación es una etapa crítica en el diseño de soluciones con IA.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valor para el negocio debe guiar la formulación del problema.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todos los problemas son aptos para IA: evaluar tipos, limitaciones y riesgos es esencial.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técnicas estructuradas y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thinking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ayudan a reducir errores tempranos.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problema bien definido facilita el éxito del modelo IA en etapas posteriores.</a:t>
            </a:r>
          </a:p>
        </p:txBody>
      </p:sp>
      <p:pic>
        <p:nvPicPr>
          <p:cNvPr id="429" name="Google Shape;4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139443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2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434" name="Google Shape;43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1795177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472901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35;p32">
            <a:extLst>
              <a:ext uri="{FF2B5EF4-FFF2-40B4-BE49-F238E27FC236}">
                <a16:creationId xmlns:a16="http://schemas.microsoft.com/office/drawing/2014/main" id="{2C764F30-ED79-4EF0-9049-4366F9E7B6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3124553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4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1279009" y="917823"/>
            <a:ext cx="5773921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Domínguez-Caiza, J. L. (2025).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Reto de la Inteligencia Artificial ante la Investigación en Ciencias Sociales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 Científica Hallazgos21, 10(1), 60-70.</a:t>
            </a:r>
            <a:endParaRPr lang="es-MX" dirty="0"/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Galarza-Sánchez, P. C.,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Boné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-Andrade, M. F., &amp; Pinargote-Bravo, V. J. (2023).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de inteligencia artificial generativa en la transformación digital empresarial.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Revista Científica Ciencia y Método, 1(1), 28-41.</a:t>
            </a:r>
            <a:endParaRPr lang="es-MX" dirty="0"/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García, N. R. P., Parrales, E. M. B., Cantos, M. A. B., &amp; Ponce, M. R. M. (2024).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la Inteligencia artificial en la formulación de proyectos: Oportunidades, desafíos y perspectivas futuras. 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RECIAMUC, 8(1), 463-477.</a:t>
            </a:r>
            <a:endParaRPr lang="es-MX" dirty="0"/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Guillén, G. C. E., &amp; Rodríguez, O. R. O. (2025).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Transformación metodológica en la era digital: el rol de la inteligencia artificial (IA) en el diseño de soluciones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Cuadernos del Centro de Estudios en Diseño y Comunicación. Ensayos, (269), 105-116</a:t>
            </a:r>
            <a:endParaRPr lang="es-MX" dirty="0"/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Romero, Y. M., &amp; Oltra, G. Y. (2025). </a:t>
            </a:r>
            <a:r>
              <a:rPr lang="es-MX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thinking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inteligencia artificial: dúo disruptivo para innovar en la formación docente del administrador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 FACES, 7(2).</a:t>
            </a:r>
            <a:endParaRPr lang="es-MX" dirty="0"/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1612673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456" name="Google Shape;45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2480166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3317455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57;p34">
            <a:extLst>
              <a:ext uri="{FF2B5EF4-FFF2-40B4-BE49-F238E27FC236}">
                <a16:creationId xmlns:a16="http://schemas.microsoft.com/office/drawing/2014/main" id="{2B615D84-87E0-439A-976A-013397EDE1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4380164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1279009" y="917823"/>
            <a:ext cx="577392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85"/>
            </a:pP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Satama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F. L. V., &amp; Terán, G. A. F. (2023).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Artificial: El reto contemporáneo de la gestión empresarial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ComHumanitas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14(1), 94-111.</a:t>
            </a:r>
            <a:endParaRPr lang="es-MX" dirty="0"/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Torres, M. S. C., Quinche, E. J. F., Aguiar, A. E. N., Peralta, D. J. C., Hidalgo, L. E. C., &amp; Moreno, J. S. E. (2025).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automatizada mediante inteligencia artificial: beneficios y limitaciones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South Florida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Journal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6(8), e5725-e5725.</a:t>
            </a:r>
            <a:endParaRPr lang="es-MX" dirty="0"/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Valverde Gómez, D. (2024).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 de un proyecto de aprendizaje automático: Clasificación de incidencias.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Repositorio Institucional de la Universidad de La Laguna.</a:t>
            </a:r>
            <a:endParaRPr lang="es-MX" dirty="0"/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1790056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456" name="Google Shape;45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2883965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329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2889</Words>
  <Application>Microsoft Office PowerPoint</Application>
  <PresentationFormat>Presentación en pantalla (16:10)</PresentationFormat>
  <Paragraphs>362</Paragraphs>
  <Slides>39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6" baseType="lpstr">
      <vt:lpstr>Arial</vt:lpstr>
      <vt:lpstr>Calibri</vt:lpstr>
      <vt:lpstr>Graphik Bold</vt:lpstr>
      <vt:lpstr>Graphik Regular</vt:lpstr>
      <vt:lpstr>Graphik-Medium</vt:lpstr>
      <vt:lpstr>Wingdings</vt:lpstr>
      <vt:lpstr>1_Diseño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Eddy Marcelo Bejarano Carranza</cp:lastModifiedBy>
  <cp:revision>96</cp:revision>
  <dcterms:created xsi:type="dcterms:W3CDTF">2006-06-01T21:36:00Z</dcterms:created>
  <dcterms:modified xsi:type="dcterms:W3CDTF">2026-02-16T20:20:52Z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F81A883DB9774FB69B2D160EEB34C9D0_13</vt:lpwstr>
  </property>
  <property fmtid="{D5CDD505-2E9C-101B-9397-08002B2CF9AE}" pid="3" name="KSOProductBuildVer">
    <vt:lpwstr>2058-12.2.0.23196</vt:lpwstr>
  </property>
</Properties>
</file>