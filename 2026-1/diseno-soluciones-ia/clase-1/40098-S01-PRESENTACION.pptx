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7"/>
  </p:notesMasterIdLst>
  <p:sldIdLst>
    <p:sldId id="697" r:id="rId2"/>
    <p:sldId id="627" r:id="rId3"/>
    <p:sldId id="258" r:id="rId4"/>
    <p:sldId id="741" r:id="rId5"/>
    <p:sldId id="260" r:id="rId6"/>
    <p:sldId id="261" r:id="rId7"/>
    <p:sldId id="262" r:id="rId8"/>
    <p:sldId id="742" r:id="rId9"/>
    <p:sldId id="743" r:id="rId10"/>
    <p:sldId id="633" r:id="rId11"/>
    <p:sldId id="744" r:id="rId12"/>
    <p:sldId id="745" r:id="rId13"/>
    <p:sldId id="746" r:id="rId14"/>
    <p:sldId id="747" r:id="rId15"/>
    <p:sldId id="629" r:id="rId16"/>
    <p:sldId id="748" r:id="rId17"/>
    <p:sldId id="749" r:id="rId18"/>
    <p:sldId id="750" r:id="rId19"/>
    <p:sldId id="751" r:id="rId20"/>
    <p:sldId id="752" r:id="rId21"/>
    <p:sldId id="753" r:id="rId22"/>
    <p:sldId id="754" r:id="rId23"/>
    <p:sldId id="755" r:id="rId24"/>
    <p:sldId id="756" r:id="rId25"/>
    <p:sldId id="757" r:id="rId26"/>
    <p:sldId id="758" r:id="rId27"/>
    <p:sldId id="759" r:id="rId28"/>
    <p:sldId id="760" r:id="rId29"/>
    <p:sldId id="761" r:id="rId30"/>
    <p:sldId id="762" r:id="rId31"/>
    <p:sldId id="588" r:id="rId32"/>
    <p:sldId id="287" r:id="rId33"/>
    <p:sldId id="590" r:id="rId34"/>
    <p:sldId id="289" r:id="rId35"/>
    <p:sldId id="290" r:id="rId36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6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j5tNFU/XgnW9/e3mEIUXuPN9vU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50A0"/>
    <a:srgbClr val="FF7828"/>
    <a:srgbClr val="EE4639"/>
    <a:srgbClr val="00B0F0"/>
    <a:srgbClr val="92C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099E4D-27D5-4A78-BA8A-4D5D030B51D8}">
  <a:tblStyle styleId="{65099E4D-27D5-4A78-BA8A-4D5D030B51D8}" styleName="Table_0">
    <a:wholeTbl>
      <a:tcTxStyle b="off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</a:tcBdr>
      </a:tcStyle>
    </a:lastCol>
    <a:firstCol>
      <a:tcTxStyle b="on" i="off"/>
      <a:tcStyle>
        <a:tcBdr>
          <a:right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firstCol>
    <a:lastRow>
      <a:tcTxStyle b="on" i="off"/>
      <a:tcStyle>
        <a:tcBdr>
          <a:top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seCell>
    <a:swCell>
      <a:tcTxStyle/>
      <a:tcStyle>
        <a:tcBdr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swCell>
    <a:firstRow>
      <a:tcTxStyle b="on" i="off"/>
      <a:tcStyle>
        <a:tcBdr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4" autoAdjust="0"/>
    <p:restoredTop sz="90405" autoAdjust="0"/>
  </p:normalViewPr>
  <p:slideViewPr>
    <p:cSldViewPr snapToGrid="0">
      <p:cViewPr varScale="1">
        <p:scale>
          <a:sx n="92" d="100"/>
          <a:sy n="92" d="100"/>
        </p:scale>
        <p:origin x="11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276" y="78"/>
      </p:cViewPr>
      <p:guideLst>
        <p:guide orient="horz" pos="286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834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5267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0168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2797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6289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62442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6197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0618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2627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57001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4831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0675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52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7712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44406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5218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16954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1740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57328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44499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5700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2862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96275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6448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02274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32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>
  <p:cSld name="Título y objeto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ema - Video">
  <p:cSld name="Subtema - Vide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/>
          <p:nvPr/>
        </p:nvSpPr>
        <p:spPr>
          <a:xfrm>
            <a:off x="7249886" y="5371562"/>
            <a:ext cx="1498548" cy="18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ISIL. Todos los derechos reservados.</a:t>
            </a:r>
            <a:endParaRPr dirty="0"/>
          </a:p>
        </p:txBody>
      </p:sp>
      <p:sp>
        <p:nvSpPr>
          <p:cNvPr id="11" name="Google Shape;11;p36"/>
          <p:cNvSpPr txBox="1"/>
          <p:nvPr/>
        </p:nvSpPr>
        <p:spPr>
          <a:xfrm>
            <a:off x="876300" y="5343295"/>
            <a:ext cx="31825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DISEÑO DE SOLUCIONES CON INTELIGENCIA ARTIFICIAL </a:t>
            </a:r>
            <a:r>
              <a:rPr lang="es-419" sz="8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• TEMA 01</a:t>
            </a:r>
            <a:endParaRPr sz="800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36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>
            <a:off x="506316" y="5349405"/>
            <a:ext cx="369984" cy="20682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MX" sz="900" b="1" dirty="0">
                <a:solidFill>
                  <a:schemeClr val="bg1">
                    <a:lumMod val="50000"/>
                  </a:schemeClr>
                </a:solidFill>
                <a:latin typeface="Calibri" charset="0"/>
                <a:cs typeface="Calibri" charset="0"/>
              </a:rPr>
              <a:t>DISEÑO DE SOLUCIONES CON INTELIGENCIA ARTIFICIAL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503239" y="2177570"/>
            <a:ext cx="3056852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3200" dirty="0">
                <a:latin typeface="Graphik-Medium" charset="0"/>
                <a:ea typeface="Graphik-Medium" charset="0"/>
                <a:cs typeface="Graphik-Medium" charset="0"/>
              </a:rPr>
              <a:t>INTELIGENCIA</a:t>
            </a:r>
          </a:p>
          <a:p>
            <a:pPr>
              <a:lnSpc>
                <a:spcPct val="90000"/>
              </a:lnSpc>
            </a:pPr>
            <a:r>
              <a:rPr lang="es-PE" sz="3200" b="1" dirty="0">
                <a:latin typeface="Graphik Bold" charset="0"/>
                <a:ea typeface="Graphik Bold" charset="0"/>
                <a:cs typeface="Graphik Bold" charset="0"/>
              </a:rPr>
              <a:t>ARTIFICIAL (IA)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503238" y="3219842"/>
            <a:ext cx="2845526" cy="1314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Ramas de la IA: machine </a:t>
            </a:r>
            <a:r>
              <a:rPr lang="es-MX" sz="1200" dirty="0" err="1">
                <a:latin typeface="Graphik-Medium" charset="0"/>
                <a:ea typeface="Graphik-Medium" charset="0"/>
                <a:cs typeface="Graphik-Medium" charset="0"/>
              </a:rPr>
              <a:t>learning</a:t>
            </a: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, NLP, visión computacional, generativos</a:t>
            </a:r>
          </a:p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Panorama actual y aplicaciones de la IA</a:t>
            </a:r>
          </a:p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Herramientas y plataformas comunes en la industria (AWS, Azure, Google, </a:t>
            </a:r>
            <a:r>
              <a:rPr lang="es-MX" sz="1200" dirty="0" err="1">
                <a:latin typeface="Graphik-Medium" charset="0"/>
                <a:ea typeface="Graphik-Medium" charset="0"/>
                <a:cs typeface="Graphik-Medium" charset="0"/>
              </a:rPr>
              <a:t>Vertex</a:t>
            </a: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 AI)</a:t>
            </a:r>
          </a:p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Tendencias emergentes en IA (Gen IA)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FC3217-3DCC-0941-BA6B-6CEEC9F1D080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TEMA 01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C937C660-3232-41E7-8A52-BE773BC86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8087" y="0"/>
            <a:ext cx="539591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4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1282298" y="918372"/>
            <a:ext cx="5521727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inteligencia artificial está transformando la forma en que las organizaciones toman decisiones.</a:t>
            </a:r>
            <a:endParaRPr dirty="0"/>
          </a:p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Hoy, la IA no solo es una tecnología avanzada, sino también una herramienta estratégica para resolver problemas reales. </a:t>
            </a:r>
            <a:endParaRPr dirty="0"/>
          </a:p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Comprender sus fundamentos es clave para diseñar soluciones responsables, eficientes y con impacto.</a:t>
            </a:r>
            <a:endParaRPr dirty="0"/>
          </a:p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esta sesión, conoceremos qué es la IA, sus principales ramas y su aplicación en la industria actual.</a:t>
            </a:r>
            <a:endParaRPr sz="14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0839" y="954885"/>
            <a:ext cx="117851" cy="121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01" y="1602352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3"/>
          <p:cNvPicPr preferRelativeResize="0"/>
          <p:nvPr/>
        </p:nvPicPr>
        <p:blipFill rotWithShape="1">
          <a:blip r:embed="rId4">
            <a:alphaModFix amt="42000"/>
          </a:blip>
          <a:srcRect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00" y="2249819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00" y="2880070"/>
            <a:ext cx="117851" cy="121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4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RAMAS DE LA IA:  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400" b="1" dirty="0">
                <a:solidFill>
                  <a:schemeClr val="bg1"/>
                </a:solidFill>
                <a:latin typeface="Graphik Bold" charset="0"/>
              </a:rPr>
              <a:t>MACHINE LEARNING, NLP, 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4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VISIÓN COMPUTACIONAL, GENERATIVOS</a:t>
            </a:r>
            <a:endParaRPr lang="es-ES" sz="14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83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3711913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¿QUÉ ES LA INTELIGENCIA ARTIFICIAL?</a:t>
            </a: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419" sz="1600" b="1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inteligencia artificial (IA) </a:t>
            </a: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 una disciplina de la informática que busca crear sistemas capaces de aprender, adaptarse y mejorar su rendimiento al ejecutar tareas típicamente humanas.</a:t>
            </a: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endParaRPr dirty="0"/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Estas tareas incluyen las siguientes:</a:t>
            </a: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endParaRPr lang="es-419"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36575" marR="0" lvl="0" indent="-268288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Wingdings" panose="05000000000000000000" pitchFamily="2" charset="2"/>
              <a:buChar char="Ø"/>
            </a:pP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Reconocer patrones.</a:t>
            </a:r>
          </a:p>
          <a:p>
            <a:pPr marL="536575" marR="0" lvl="0" indent="-268288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Wingdings" panose="05000000000000000000" pitchFamily="2" charset="2"/>
              <a:buChar char="Ø"/>
            </a:pP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Entender lenguaje. </a:t>
            </a:r>
          </a:p>
          <a:p>
            <a:pPr marL="536575" marR="0" lvl="0" indent="-268288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Wingdings" panose="05000000000000000000" pitchFamily="2" charset="2"/>
              <a:buChar char="Ø"/>
            </a:pP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Tomar decisiones. </a:t>
            </a:r>
          </a:p>
          <a:p>
            <a:pPr marL="536575" marR="0" lvl="0" indent="-268288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Wingdings" panose="05000000000000000000" pitchFamily="2" charset="2"/>
              <a:buChar char="Ø"/>
            </a:pP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Resolver problemas complejos.</a:t>
            </a:r>
          </a:p>
        </p:txBody>
      </p:sp>
      <p:sp>
        <p:nvSpPr>
          <p:cNvPr id="77" name="Google Shape;77;p5"/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RAMAS DE LA IA: MACHINE LEARNING, NLP, VISIÓN COMPUTACIONAL, GENERATIVOS</a:t>
            </a:r>
          </a:p>
        </p:txBody>
      </p:sp>
      <p:pic>
        <p:nvPicPr>
          <p:cNvPr id="78" name="Google Shape;78;p5" descr="Retos y aplicaciones de inteligencia artificial en empresa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8710" y="932951"/>
            <a:ext cx="3528493" cy="1924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Inteligencia Artificial en las empresas: ventajas y desafío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8712" y="3129499"/>
            <a:ext cx="3528492" cy="19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/>
        </p:nvSpPr>
        <p:spPr>
          <a:xfrm>
            <a:off x="506796" y="918372"/>
            <a:ext cx="3560379" cy="3247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 COMO DISCIPLINA CIENTÍFICA</a:t>
            </a:r>
            <a:endParaRPr dirty="0"/>
          </a:p>
          <a:p>
            <a:pPr marL="179705" marR="0" lvl="0" indent="-66675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168275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IA combina matemáticas, estadística, ciencias de la computación y ciencias cognitivas.</a:t>
            </a:r>
          </a:p>
          <a:p>
            <a:pPr marL="179705" marR="0" lvl="0" indent="-168275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endParaRPr dirty="0"/>
          </a:p>
          <a:p>
            <a:pPr marL="179705" marR="0" lvl="0" indent="-168275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Su objetivo es </a:t>
            </a:r>
            <a:r>
              <a:rPr lang="es-419" sz="1600" b="1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simular capacidades humanas</a:t>
            </a: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como el razonamiento, la planificación y el aprendizaje autónomo.</a:t>
            </a:r>
          </a:p>
          <a:p>
            <a:pPr marL="179705" marR="0" lvl="0" indent="-168275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endParaRPr sz="1600" b="1" dirty="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168275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 la última década, ha crecido gracias al </a:t>
            </a:r>
            <a:r>
              <a:rPr lang="es-419" sz="1600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big</a:t>
            </a: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data, poder de cómputo y algoritmos avanzados.</a:t>
            </a:r>
            <a:endParaRPr sz="1600" b="1" dirty="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0209" y="918372"/>
            <a:ext cx="3846996" cy="441601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EB9FFE35-1057-41DD-B633-2602FC2CF698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RAMAS DE LA IA: MACHINE LEARNING, NLP, VISIÓN COMPUTACIONAL, GENERATIVOS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7"/>
          <p:cNvGrpSpPr/>
          <p:nvPr/>
        </p:nvGrpSpPr>
        <p:grpSpPr>
          <a:xfrm>
            <a:off x="1786270" y="1506720"/>
            <a:ext cx="5571460" cy="3148470"/>
            <a:chOff x="0" y="243193"/>
            <a:chExt cx="5571460" cy="3148470"/>
          </a:xfrm>
        </p:grpSpPr>
        <p:sp>
          <p:nvSpPr>
            <p:cNvPr id="98" name="Google Shape;98;p7"/>
            <p:cNvSpPr/>
            <p:nvPr/>
          </p:nvSpPr>
          <p:spPr>
            <a:xfrm>
              <a:off x="0" y="435073"/>
              <a:ext cx="5571460" cy="542587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" name="Google Shape;99;p7"/>
            <p:cNvSpPr txBox="1"/>
            <p:nvPr/>
          </p:nvSpPr>
          <p:spPr>
            <a:xfrm>
              <a:off x="0" y="435073"/>
              <a:ext cx="5571460" cy="542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2400" tIns="270750" rIns="432400" bIns="9245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s-419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Mejora su desempeño analizando grandes volúmenes de datos.</a:t>
              </a:r>
              <a:endParaRPr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78573" y="243193"/>
              <a:ext cx="3900022" cy="38376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" name="Google Shape;101;p7"/>
            <p:cNvSpPr txBox="1"/>
            <p:nvPr/>
          </p:nvSpPr>
          <p:spPr>
            <a:xfrm>
              <a:off x="297307" y="261927"/>
              <a:ext cx="3862554" cy="346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400" tIns="0" rIns="1474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None/>
              </a:pPr>
              <a:r>
                <a:rPr lang="es-419" b="0" i="0">
                  <a:solidFill>
                    <a:schemeClr val="lt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Aprendizaje</a:t>
              </a:r>
              <a:endParaRPr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0" y="1239741"/>
              <a:ext cx="5571460" cy="542587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" name="Google Shape;103;p7"/>
            <p:cNvSpPr txBox="1"/>
            <p:nvPr/>
          </p:nvSpPr>
          <p:spPr>
            <a:xfrm>
              <a:off x="0" y="1239741"/>
              <a:ext cx="5571460" cy="542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2400" tIns="270750" rIns="432400" bIns="9245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s-419" b="0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Aplica reglas lógicas para llegar a conclusiones o decisiones.</a:t>
              </a:r>
              <a:endParaRPr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278573" y="1047861"/>
              <a:ext cx="3900022" cy="38376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" name="Google Shape;105;p7"/>
            <p:cNvSpPr txBox="1"/>
            <p:nvPr/>
          </p:nvSpPr>
          <p:spPr>
            <a:xfrm>
              <a:off x="297307" y="1066595"/>
              <a:ext cx="3862554" cy="346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400" tIns="0" rIns="1474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None/>
              </a:pPr>
              <a:r>
                <a:rPr lang="es-419" b="0" i="0">
                  <a:solidFill>
                    <a:schemeClr val="lt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Razonamiento</a:t>
              </a:r>
              <a:endParaRPr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0" y="2044409"/>
              <a:ext cx="5571460" cy="542587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" name="Google Shape;107;p7"/>
            <p:cNvSpPr txBox="1"/>
            <p:nvPr/>
          </p:nvSpPr>
          <p:spPr>
            <a:xfrm>
              <a:off x="0" y="2044409"/>
              <a:ext cx="5571460" cy="542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2400" tIns="270750" rIns="432400" bIns="9245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s-419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Interpreta información de sensores, texto, imágenes o audio.</a:t>
              </a:r>
              <a:endParaRPr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78573" y="1852528"/>
              <a:ext cx="3900022" cy="38376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" name="Google Shape;109;p7"/>
            <p:cNvSpPr txBox="1"/>
            <p:nvPr/>
          </p:nvSpPr>
          <p:spPr>
            <a:xfrm>
              <a:off x="297307" y="1871262"/>
              <a:ext cx="3862554" cy="346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400" tIns="0" rIns="1474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None/>
              </a:pPr>
              <a:r>
                <a:rPr lang="es-419" b="0" i="0">
                  <a:solidFill>
                    <a:schemeClr val="lt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Percepción</a:t>
              </a:r>
              <a:endParaRPr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0" y="2849076"/>
              <a:ext cx="5571460" cy="542587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1" name="Google Shape;111;p7"/>
            <p:cNvSpPr txBox="1"/>
            <p:nvPr/>
          </p:nvSpPr>
          <p:spPr>
            <a:xfrm>
              <a:off x="0" y="2849076"/>
              <a:ext cx="5571460" cy="542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2400" tIns="270750" rIns="432400" bIns="9245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s-419" b="0" i="0" u="none" strike="noStrike" cap="none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Elige acciones óptimas en contextos complejos o inciertos.</a:t>
              </a:r>
              <a:endParaRPr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278573" y="2657196"/>
              <a:ext cx="3900022" cy="38376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Google Shape;113;p7"/>
            <p:cNvSpPr txBox="1"/>
            <p:nvPr/>
          </p:nvSpPr>
          <p:spPr>
            <a:xfrm>
              <a:off x="297307" y="2675930"/>
              <a:ext cx="3862554" cy="346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400" tIns="0" rIns="1474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None/>
              </a:pPr>
              <a:r>
                <a:rPr lang="es-419" b="0" i="0">
                  <a:solidFill>
                    <a:schemeClr val="lt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Toma de decisiones</a:t>
              </a:r>
              <a:endParaRPr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94" name="Google Shape;94;p7"/>
          <p:cNvSpPr txBox="1"/>
          <p:nvPr/>
        </p:nvSpPr>
        <p:spPr>
          <a:xfrm>
            <a:off x="506796" y="918372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419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CAPACIDADES PRINCIPALES DE LA IA</a:t>
            </a:r>
          </a:p>
        </p:txBody>
      </p:sp>
      <p:sp>
        <p:nvSpPr>
          <p:cNvPr id="23" name="Google Shape;77;p5">
            <a:extLst>
              <a:ext uri="{FF2B5EF4-FFF2-40B4-BE49-F238E27FC236}">
                <a16:creationId xmlns:a16="http://schemas.microsoft.com/office/drawing/2014/main" id="{AE740DFD-9F8A-474D-AA8C-B8B75284B935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RAMAS DE LA IA: MACHINE LEARNING, NLP, VISIÓN COMPUTACIONAL, GENERATIVOS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/>
          <p:nvPr/>
        </p:nvSpPr>
        <p:spPr>
          <a:xfrm>
            <a:off x="503238" y="920364"/>
            <a:ext cx="7269162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IA, DATOS Y VALOR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600"/>
              </a:spcBef>
              <a:spcAft>
                <a:spcPts val="0"/>
              </a:spcAft>
              <a:buClr>
                <a:srgbClr val="7150A0"/>
              </a:buClr>
              <a:buSzPts val="1800"/>
            </a:pPr>
            <a:r>
              <a:rPr lang="es-419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¿De qué se alimenta la IA?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Google Shape;77;p5">
            <a:extLst>
              <a:ext uri="{FF2B5EF4-FFF2-40B4-BE49-F238E27FC236}">
                <a16:creationId xmlns:a16="http://schemas.microsoft.com/office/drawing/2014/main" id="{1C113CA0-6ECC-4B8B-8C9A-9301152B65C6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RAMAS DE LA IA: MACHINE LEARNING, NLP, VISIÓN COMPUTACIONAL, GENERATIVOS</a:t>
            </a:r>
          </a:p>
        </p:txBody>
      </p:sp>
      <p:sp>
        <p:nvSpPr>
          <p:cNvPr id="5" name="28 Flecha derecha">
            <a:extLst>
              <a:ext uri="{FF2B5EF4-FFF2-40B4-BE49-F238E27FC236}">
                <a16:creationId xmlns:a16="http://schemas.microsoft.com/office/drawing/2014/main" id="{F3B4BBC1-329B-49F6-BBFC-0F0A02920F99}"/>
              </a:ext>
            </a:extLst>
          </p:cNvPr>
          <p:cNvSpPr/>
          <p:nvPr/>
        </p:nvSpPr>
        <p:spPr>
          <a:xfrm>
            <a:off x="3392436" y="2294173"/>
            <a:ext cx="843086" cy="296706"/>
          </a:xfrm>
          <a:prstGeom prst="rightArrow">
            <a:avLst/>
          </a:prstGeom>
          <a:solidFill>
            <a:srgbClr val="DB4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6" name="Rectángulo redondeado 14">
            <a:extLst>
              <a:ext uri="{FF2B5EF4-FFF2-40B4-BE49-F238E27FC236}">
                <a16:creationId xmlns:a16="http://schemas.microsoft.com/office/drawing/2014/main" id="{6729353F-A91F-42B3-97BD-EE6C386699F5}"/>
              </a:ext>
            </a:extLst>
          </p:cNvPr>
          <p:cNvSpPr/>
          <p:nvPr/>
        </p:nvSpPr>
        <p:spPr>
          <a:xfrm>
            <a:off x="1953856" y="1520528"/>
            <a:ext cx="2518544" cy="1821316"/>
          </a:xfrm>
          <a:prstGeom prst="roundRect">
            <a:avLst>
              <a:gd name="adj" fmla="val 6572"/>
            </a:avLst>
          </a:prstGeom>
          <a:solidFill>
            <a:schemeClr val="bg1"/>
          </a:solidFill>
          <a:ln>
            <a:solidFill>
              <a:srgbClr val="FF77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tlCol="0" anchor="t"/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Sin datos de calidad, los modelos producen resultados erróneos (“</a:t>
            </a:r>
            <a:r>
              <a:rPr lang="es-MX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garbage</a:t>
            </a:r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in, </a:t>
            </a:r>
            <a:r>
              <a:rPr lang="es-MX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garbage</a:t>
            </a:r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MX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out</a:t>
            </a:r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”).</a:t>
            </a:r>
            <a:endParaRPr lang="es-PE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276B4E18-7738-44FC-B895-35FE2DC7B600}"/>
              </a:ext>
            </a:extLst>
          </p:cNvPr>
          <p:cNvSpPr/>
          <p:nvPr/>
        </p:nvSpPr>
        <p:spPr>
          <a:xfrm>
            <a:off x="1945909" y="2887025"/>
            <a:ext cx="2538511" cy="454384"/>
          </a:xfrm>
          <a:prstGeom prst="roundRect">
            <a:avLst>
              <a:gd name="adj" fmla="val 23854"/>
            </a:avLst>
          </a:prstGeom>
          <a:solidFill>
            <a:srgbClr val="FF77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PE" sz="16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Datos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12BDF96-3595-414E-AA02-84C83D26BF69}"/>
              </a:ext>
            </a:extLst>
          </p:cNvPr>
          <p:cNvSpPr/>
          <p:nvPr/>
        </p:nvSpPr>
        <p:spPr>
          <a:xfrm>
            <a:off x="1945909" y="2852431"/>
            <a:ext cx="2538511" cy="162841"/>
          </a:xfrm>
          <a:prstGeom prst="rect">
            <a:avLst/>
          </a:prstGeom>
          <a:solidFill>
            <a:srgbClr val="FF77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9" name="28 Flecha derecha">
            <a:extLst>
              <a:ext uri="{FF2B5EF4-FFF2-40B4-BE49-F238E27FC236}">
                <a16:creationId xmlns:a16="http://schemas.microsoft.com/office/drawing/2014/main" id="{2237753C-080D-4764-BC68-5BD8024099A1}"/>
              </a:ext>
            </a:extLst>
          </p:cNvPr>
          <p:cNvSpPr/>
          <p:nvPr/>
        </p:nvSpPr>
        <p:spPr>
          <a:xfrm>
            <a:off x="3398446" y="4246118"/>
            <a:ext cx="843086" cy="296706"/>
          </a:xfrm>
          <a:prstGeom prst="rightArrow">
            <a:avLst/>
          </a:prstGeom>
          <a:solidFill>
            <a:srgbClr val="DB4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0" name="Rectángulo redondeado 49">
            <a:extLst>
              <a:ext uri="{FF2B5EF4-FFF2-40B4-BE49-F238E27FC236}">
                <a16:creationId xmlns:a16="http://schemas.microsoft.com/office/drawing/2014/main" id="{1BD0D524-79F1-4D96-91A7-22DEECEB8AD5}"/>
              </a:ext>
            </a:extLst>
          </p:cNvPr>
          <p:cNvSpPr/>
          <p:nvPr/>
        </p:nvSpPr>
        <p:spPr>
          <a:xfrm>
            <a:off x="1959866" y="3472473"/>
            <a:ext cx="2518544" cy="1821316"/>
          </a:xfrm>
          <a:prstGeom prst="roundRect">
            <a:avLst>
              <a:gd name="adj" fmla="val 6397"/>
            </a:avLst>
          </a:prstGeom>
          <a:solidFill>
            <a:schemeClr val="bg1"/>
          </a:solidFill>
          <a:ln>
            <a:solidFill>
              <a:srgbClr val="00B1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tlCol="0" anchor="t"/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Procesadores, GPU y hardware especializado que permiten entrenar modelos complejos</a:t>
            </a:r>
            <a:endParaRPr lang="es-PE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Rectángulo redondeado 50">
            <a:extLst>
              <a:ext uri="{FF2B5EF4-FFF2-40B4-BE49-F238E27FC236}">
                <a16:creationId xmlns:a16="http://schemas.microsoft.com/office/drawing/2014/main" id="{34BAB0D6-2998-48E8-973B-93761DBA5763}"/>
              </a:ext>
            </a:extLst>
          </p:cNvPr>
          <p:cNvSpPr/>
          <p:nvPr/>
        </p:nvSpPr>
        <p:spPr>
          <a:xfrm>
            <a:off x="1951920" y="4838970"/>
            <a:ext cx="2522182" cy="454384"/>
          </a:xfrm>
          <a:prstGeom prst="roundRect">
            <a:avLst>
              <a:gd name="adj" fmla="val 25650"/>
            </a:avLst>
          </a:prstGeom>
          <a:solidFill>
            <a:srgbClr val="00B2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PE" sz="16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Capacidad de cómputo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6CAAE60-6B7A-4E97-8CF3-BB12C6597F89}"/>
              </a:ext>
            </a:extLst>
          </p:cNvPr>
          <p:cNvSpPr/>
          <p:nvPr/>
        </p:nvSpPr>
        <p:spPr>
          <a:xfrm>
            <a:off x="1951919" y="4804376"/>
            <a:ext cx="2521027" cy="121339"/>
          </a:xfrm>
          <a:prstGeom prst="rect">
            <a:avLst/>
          </a:prstGeom>
          <a:solidFill>
            <a:srgbClr val="00B2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3" name="28 Flecha derecha">
            <a:extLst>
              <a:ext uri="{FF2B5EF4-FFF2-40B4-BE49-F238E27FC236}">
                <a16:creationId xmlns:a16="http://schemas.microsoft.com/office/drawing/2014/main" id="{6EA800F1-5851-4A58-8E86-8482960B4346}"/>
              </a:ext>
            </a:extLst>
          </p:cNvPr>
          <p:cNvSpPr/>
          <p:nvPr/>
        </p:nvSpPr>
        <p:spPr>
          <a:xfrm>
            <a:off x="6138910" y="2294173"/>
            <a:ext cx="843086" cy="296706"/>
          </a:xfrm>
          <a:prstGeom prst="rightArrow">
            <a:avLst/>
          </a:prstGeom>
          <a:solidFill>
            <a:srgbClr val="DB4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4" name="Rectángulo redondeado 55">
            <a:extLst>
              <a:ext uri="{FF2B5EF4-FFF2-40B4-BE49-F238E27FC236}">
                <a16:creationId xmlns:a16="http://schemas.microsoft.com/office/drawing/2014/main" id="{65EEB74F-BA0B-41BA-BDD8-6C598DF6B25A}"/>
              </a:ext>
            </a:extLst>
          </p:cNvPr>
          <p:cNvSpPr/>
          <p:nvPr/>
        </p:nvSpPr>
        <p:spPr>
          <a:xfrm>
            <a:off x="4700330" y="1520528"/>
            <a:ext cx="2518544" cy="1821316"/>
          </a:xfrm>
          <a:prstGeom prst="roundRect">
            <a:avLst>
              <a:gd name="adj" fmla="val 6397"/>
            </a:avLst>
          </a:prstGeom>
          <a:solidFill>
            <a:schemeClr val="bg1"/>
          </a:solidFill>
          <a:ln>
            <a:solidFill>
              <a:srgbClr val="8EC5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tlCol="0" anchor="t"/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Métodos de machine </a:t>
            </a:r>
            <a:r>
              <a:rPr lang="es-MX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learning</a:t>
            </a:r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y </a:t>
            </a:r>
            <a:r>
              <a:rPr lang="es-MX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deep</a:t>
            </a:r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MX" b="1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learning</a:t>
            </a:r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que extraen patrones de los datos.</a:t>
            </a:r>
          </a:p>
        </p:txBody>
      </p:sp>
      <p:sp>
        <p:nvSpPr>
          <p:cNvPr id="15" name="Rectángulo redondeado 56">
            <a:extLst>
              <a:ext uri="{FF2B5EF4-FFF2-40B4-BE49-F238E27FC236}">
                <a16:creationId xmlns:a16="http://schemas.microsoft.com/office/drawing/2014/main" id="{3D955744-577A-4009-B762-51C12B8852F9}"/>
              </a:ext>
            </a:extLst>
          </p:cNvPr>
          <p:cNvSpPr/>
          <p:nvPr/>
        </p:nvSpPr>
        <p:spPr>
          <a:xfrm>
            <a:off x="4697478" y="2887025"/>
            <a:ext cx="2511227" cy="454384"/>
          </a:xfrm>
          <a:prstGeom prst="roundRect">
            <a:avLst>
              <a:gd name="adj" fmla="val 22057"/>
            </a:avLst>
          </a:prstGeom>
          <a:solidFill>
            <a:srgbClr val="8E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PE" sz="16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Algoritmos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4AE90B-31CF-4A0E-A36B-64A65F9507E4}"/>
              </a:ext>
            </a:extLst>
          </p:cNvPr>
          <p:cNvSpPr/>
          <p:nvPr/>
        </p:nvSpPr>
        <p:spPr>
          <a:xfrm>
            <a:off x="4692383" y="2852431"/>
            <a:ext cx="2516321" cy="146513"/>
          </a:xfrm>
          <a:prstGeom prst="rect">
            <a:avLst/>
          </a:prstGeom>
          <a:solidFill>
            <a:srgbClr val="8E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7" name="28 Flecha derecha">
            <a:extLst>
              <a:ext uri="{FF2B5EF4-FFF2-40B4-BE49-F238E27FC236}">
                <a16:creationId xmlns:a16="http://schemas.microsoft.com/office/drawing/2014/main" id="{AC9F7C5B-6922-48CB-B34B-7CFA07F0E5C5}"/>
              </a:ext>
            </a:extLst>
          </p:cNvPr>
          <p:cNvSpPr/>
          <p:nvPr/>
        </p:nvSpPr>
        <p:spPr>
          <a:xfrm>
            <a:off x="6138910" y="4246118"/>
            <a:ext cx="843086" cy="296706"/>
          </a:xfrm>
          <a:prstGeom prst="rightArrow">
            <a:avLst/>
          </a:prstGeom>
          <a:solidFill>
            <a:srgbClr val="DB4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8" name="Rectángulo redondeado 61">
            <a:extLst>
              <a:ext uri="{FF2B5EF4-FFF2-40B4-BE49-F238E27FC236}">
                <a16:creationId xmlns:a16="http://schemas.microsoft.com/office/drawing/2014/main" id="{9337026C-DE2B-4BAA-9A69-4BBA485B5DA5}"/>
              </a:ext>
            </a:extLst>
          </p:cNvPr>
          <p:cNvSpPr/>
          <p:nvPr/>
        </p:nvSpPr>
        <p:spPr>
          <a:xfrm>
            <a:off x="4700330" y="3472473"/>
            <a:ext cx="2518544" cy="1821316"/>
          </a:xfrm>
          <a:prstGeom prst="roundRect">
            <a:avLst>
              <a:gd name="adj" fmla="val 6746"/>
            </a:avLst>
          </a:prstGeom>
          <a:solidFill>
            <a:schemeClr val="bg1"/>
          </a:solidFill>
          <a:ln>
            <a:solidFill>
              <a:srgbClr val="EE4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tlCol="0" anchor="t"/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Generación de valor en forma de automatización, predicciones y apoyo a la toma de decisiones.</a:t>
            </a:r>
            <a:endParaRPr lang="es-PE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D0E3CEE-CAD8-49F5-98FE-C70CDBE2F2D2}"/>
              </a:ext>
            </a:extLst>
          </p:cNvPr>
          <p:cNvSpPr/>
          <p:nvPr/>
        </p:nvSpPr>
        <p:spPr>
          <a:xfrm>
            <a:off x="4692383" y="4804376"/>
            <a:ext cx="2516321" cy="145832"/>
          </a:xfrm>
          <a:prstGeom prst="rect">
            <a:avLst/>
          </a:prstGeom>
          <a:solidFill>
            <a:srgbClr val="EE4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0" name="Rectángulo redondeado 62">
            <a:extLst>
              <a:ext uri="{FF2B5EF4-FFF2-40B4-BE49-F238E27FC236}">
                <a16:creationId xmlns:a16="http://schemas.microsoft.com/office/drawing/2014/main" id="{C3EFD532-5CA7-4A9C-8165-901572F2542C}"/>
              </a:ext>
            </a:extLst>
          </p:cNvPr>
          <p:cNvSpPr/>
          <p:nvPr/>
        </p:nvSpPr>
        <p:spPr>
          <a:xfrm>
            <a:off x="4692383" y="4838970"/>
            <a:ext cx="2516321" cy="454384"/>
          </a:xfrm>
          <a:prstGeom prst="roundRect">
            <a:avLst>
              <a:gd name="adj" fmla="val 23855"/>
            </a:avLst>
          </a:prstGeom>
          <a:solidFill>
            <a:srgbClr val="EE4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PE" sz="16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97129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/>
        </p:nvSpPr>
        <p:spPr>
          <a:xfrm>
            <a:off x="506796" y="918372"/>
            <a:ext cx="3885817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PRINCIPALES RAMAS DE LA IA</a:t>
            </a:r>
            <a:endParaRPr sz="1600" dirty="0"/>
          </a:p>
          <a:p>
            <a:pPr marL="179705" marR="0" lvl="0" indent="-66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MX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66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66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66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66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66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66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66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66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66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66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dirty="0">
              <a:solidFill>
                <a:srgbClr val="714F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705" marR="0" lvl="0" indent="-168275" algn="l" rtl="0">
              <a:spcBef>
                <a:spcPts val="0"/>
              </a:spcBef>
              <a:spcAft>
                <a:spcPts val="0"/>
              </a:spcAft>
              <a:buClr>
                <a:srgbClr val="714FA0"/>
              </a:buClr>
              <a:buSzPts val="1600"/>
              <a:buFont typeface="Arial"/>
              <a:buChar char="•"/>
            </a:pPr>
            <a:r>
              <a:rPr lang="es-419" sz="1600" b="1" dirty="0">
                <a:solidFill>
                  <a:srgbClr val="714FA0"/>
                </a:solidFill>
                <a:latin typeface="Calibri"/>
                <a:ea typeface="Calibri"/>
                <a:cs typeface="Calibri"/>
                <a:sym typeface="Calibri"/>
              </a:rPr>
              <a:t>Otras áreas</a:t>
            </a:r>
            <a:r>
              <a:rPr lang="es-419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: IA simbólica, sistemas de recomendación, robótica e IA explicable.</a:t>
            </a:r>
            <a:endParaRPr dirty="0"/>
          </a:p>
          <a:p>
            <a:pPr marL="179705" marR="0" lvl="0" indent="-793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0490" y="918372"/>
            <a:ext cx="3386714" cy="1990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0490" y="3006947"/>
            <a:ext cx="3386714" cy="199022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7;p5">
            <a:extLst>
              <a:ext uri="{FF2B5EF4-FFF2-40B4-BE49-F238E27FC236}">
                <a16:creationId xmlns:a16="http://schemas.microsoft.com/office/drawing/2014/main" id="{B2F77FA0-183D-4D30-9660-2504E055E802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RAMAS DE LA IA: MACHINE LEARNING, NLP, VISIÓN COMPUTACIONAL, GENERATIVOS</a:t>
            </a:r>
          </a:p>
        </p:txBody>
      </p:sp>
      <p:sp>
        <p:nvSpPr>
          <p:cNvPr id="7" name="Rectángulo redondeado 3">
            <a:extLst>
              <a:ext uri="{FF2B5EF4-FFF2-40B4-BE49-F238E27FC236}">
                <a16:creationId xmlns:a16="http://schemas.microsoft.com/office/drawing/2014/main" id="{9F4AC6EC-ACC2-4A82-91F8-3A8AEF94FAB8}"/>
              </a:ext>
            </a:extLst>
          </p:cNvPr>
          <p:cNvSpPr/>
          <p:nvPr/>
        </p:nvSpPr>
        <p:spPr>
          <a:xfrm>
            <a:off x="503237" y="2621768"/>
            <a:ext cx="4164473" cy="500394"/>
          </a:xfrm>
          <a:prstGeom prst="roundRect">
            <a:avLst>
              <a:gd name="adj" fmla="val 24207"/>
            </a:avLst>
          </a:prstGeom>
          <a:solidFill>
            <a:srgbClr val="71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indent="-1588" algn="ctr">
              <a:tabLst>
                <a:tab pos="569913" algn="l"/>
              </a:tabLst>
            </a:pPr>
            <a:r>
              <a:rPr lang="es-ES_tradnl" sz="1600" b="1" dirty="0">
                <a:latin typeface="Calibri" charset="0"/>
                <a:ea typeface="Calibri" charset="0"/>
                <a:cs typeface="Calibri" charset="0"/>
              </a:rPr>
              <a:t>Visión computacional</a:t>
            </a:r>
          </a:p>
        </p:txBody>
      </p:sp>
      <p:grpSp>
        <p:nvGrpSpPr>
          <p:cNvPr id="8" name="Agrupar 4">
            <a:extLst>
              <a:ext uri="{FF2B5EF4-FFF2-40B4-BE49-F238E27FC236}">
                <a16:creationId xmlns:a16="http://schemas.microsoft.com/office/drawing/2014/main" id="{0872887E-40D1-4FFD-9B0D-7E9AE41C734D}"/>
              </a:ext>
            </a:extLst>
          </p:cNvPr>
          <p:cNvGrpSpPr/>
          <p:nvPr/>
        </p:nvGrpSpPr>
        <p:grpSpPr>
          <a:xfrm>
            <a:off x="287220" y="2670054"/>
            <a:ext cx="459474" cy="403823"/>
            <a:chOff x="5892512" y="2805541"/>
            <a:chExt cx="459474" cy="403823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657F5F92-60A8-4158-B353-CDBF52ED6B5A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593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89A6B081-45B8-438D-BAA1-D17DE3C63FCF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11" name="Triángulo 7">
              <a:extLst>
                <a:ext uri="{FF2B5EF4-FFF2-40B4-BE49-F238E27FC236}">
                  <a16:creationId xmlns:a16="http://schemas.microsoft.com/office/drawing/2014/main" id="{F282F506-455E-4E8C-8DF7-A2AC7117C370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714F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Rectángulo redondeado 8">
            <a:extLst>
              <a:ext uri="{FF2B5EF4-FFF2-40B4-BE49-F238E27FC236}">
                <a16:creationId xmlns:a16="http://schemas.microsoft.com/office/drawing/2014/main" id="{EED77FCB-E395-49C3-AB70-1B3E97EEFEAB}"/>
              </a:ext>
            </a:extLst>
          </p:cNvPr>
          <p:cNvSpPr/>
          <p:nvPr/>
        </p:nvSpPr>
        <p:spPr>
          <a:xfrm>
            <a:off x="503236" y="1998346"/>
            <a:ext cx="4164474" cy="500394"/>
          </a:xfrm>
          <a:prstGeom prst="roundRect">
            <a:avLst>
              <a:gd name="adj" fmla="val 26745"/>
            </a:avLst>
          </a:prstGeom>
          <a:solidFill>
            <a:srgbClr val="92C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indent="-1588" algn="ctr">
              <a:tabLst>
                <a:tab pos="569913" algn="l"/>
              </a:tabLst>
            </a:pPr>
            <a:endParaRPr lang="es-MX" sz="1600" b="1" dirty="0">
              <a:latin typeface="Calibri" charset="0"/>
              <a:ea typeface="Calibri" charset="0"/>
              <a:cs typeface="Calibri" charset="0"/>
            </a:endParaRPr>
          </a:p>
          <a:p>
            <a:pPr marL="6350" indent="-1588" algn="ctr">
              <a:tabLst>
                <a:tab pos="569913" algn="l"/>
              </a:tabLs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Procesamiento de lenguaje natural (NLP)</a:t>
            </a:r>
          </a:p>
          <a:p>
            <a:pPr marL="6350" indent="-1588" algn="ctr">
              <a:tabLst>
                <a:tab pos="569913" algn="l"/>
              </a:tabLst>
            </a:pPr>
            <a:endParaRPr lang="es-ES_tradnl" sz="1600" b="1" dirty="0"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13" name="Agrupar 9">
            <a:extLst>
              <a:ext uri="{FF2B5EF4-FFF2-40B4-BE49-F238E27FC236}">
                <a16:creationId xmlns:a16="http://schemas.microsoft.com/office/drawing/2014/main" id="{650CAA33-25B2-4E46-9EF0-30CFF5412271}"/>
              </a:ext>
            </a:extLst>
          </p:cNvPr>
          <p:cNvGrpSpPr/>
          <p:nvPr/>
        </p:nvGrpSpPr>
        <p:grpSpPr>
          <a:xfrm>
            <a:off x="287220" y="2046632"/>
            <a:ext cx="459474" cy="403823"/>
            <a:chOff x="5892512" y="2805541"/>
            <a:chExt cx="459474" cy="403823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E7B4EC49-C1CA-4A70-8536-3FE8B82FEDB1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6A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0DB31781-1124-44E6-950A-41D075597297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16" name="Triángulo 12">
              <a:extLst>
                <a:ext uri="{FF2B5EF4-FFF2-40B4-BE49-F238E27FC236}">
                  <a16:creationId xmlns:a16="http://schemas.microsoft.com/office/drawing/2014/main" id="{79E5EBC3-DB93-4B9F-9762-AE433A8282C4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92C2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7" name="Rectángulo redondeado 13">
            <a:extLst>
              <a:ext uri="{FF2B5EF4-FFF2-40B4-BE49-F238E27FC236}">
                <a16:creationId xmlns:a16="http://schemas.microsoft.com/office/drawing/2014/main" id="{8516C781-5915-4268-922C-60957A4EBD40}"/>
              </a:ext>
            </a:extLst>
          </p:cNvPr>
          <p:cNvSpPr/>
          <p:nvPr/>
        </p:nvSpPr>
        <p:spPr>
          <a:xfrm>
            <a:off x="503237" y="1370685"/>
            <a:ext cx="4164473" cy="500394"/>
          </a:xfrm>
          <a:prstGeom prst="roundRect">
            <a:avLst>
              <a:gd name="adj" fmla="val 24841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indent="-1588" algn="ctr">
              <a:tabLst>
                <a:tab pos="569913" algn="l"/>
              </a:tabLst>
            </a:pPr>
            <a:r>
              <a:rPr lang="es-ES_tradnl" sz="1600" b="1" dirty="0">
                <a:latin typeface="Calibri" charset="0"/>
                <a:ea typeface="Calibri" charset="0"/>
                <a:cs typeface="Calibri" charset="0"/>
              </a:rPr>
              <a:t>Machine </a:t>
            </a:r>
            <a:r>
              <a:rPr lang="es-ES_tradnl" sz="1600" b="1" dirty="0" err="1">
                <a:latin typeface="Calibri" charset="0"/>
                <a:ea typeface="Calibri" charset="0"/>
                <a:cs typeface="Calibri" charset="0"/>
              </a:rPr>
              <a:t>learning</a:t>
            </a:r>
            <a:r>
              <a:rPr lang="es-ES_tradnl" sz="1600" b="1" dirty="0">
                <a:latin typeface="Calibri" charset="0"/>
                <a:ea typeface="Calibri" charset="0"/>
                <a:cs typeface="Calibri" charset="0"/>
              </a:rPr>
              <a:t> (ML)</a:t>
            </a:r>
          </a:p>
        </p:txBody>
      </p:sp>
      <p:grpSp>
        <p:nvGrpSpPr>
          <p:cNvPr id="18" name="Agrupar 14">
            <a:extLst>
              <a:ext uri="{FF2B5EF4-FFF2-40B4-BE49-F238E27FC236}">
                <a16:creationId xmlns:a16="http://schemas.microsoft.com/office/drawing/2014/main" id="{5925874C-D4FE-4BED-B4C8-91CD27CE3A33}"/>
              </a:ext>
            </a:extLst>
          </p:cNvPr>
          <p:cNvGrpSpPr/>
          <p:nvPr/>
        </p:nvGrpSpPr>
        <p:grpSpPr>
          <a:xfrm>
            <a:off x="287220" y="1418971"/>
            <a:ext cx="459474" cy="403823"/>
            <a:chOff x="5892512" y="2805541"/>
            <a:chExt cx="459474" cy="40382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654ED2CC-6640-4904-8CBB-306C99F57A3B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C73A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35DDCA40-4A63-4441-98B0-CA55A6163EA0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21" name="Triángulo 17">
              <a:extLst>
                <a:ext uri="{FF2B5EF4-FFF2-40B4-BE49-F238E27FC236}">
                  <a16:creationId xmlns:a16="http://schemas.microsoft.com/office/drawing/2014/main" id="{14ACFC46-E2B2-4ECC-9572-AD2894011B77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sp>
        <p:nvSpPr>
          <p:cNvPr id="22" name="Rectángulo redondeado 3">
            <a:extLst>
              <a:ext uri="{FF2B5EF4-FFF2-40B4-BE49-F238E27FC236}">
                <a16:creationId xmlns:a16="http://schemas.microsoft.com/office/drawing/2014/main" id="{EFBF2A74-2215-4CF3-81C9-570DAAD5153C}"/>
              </a:ext>
            </a:extLst>
          </p:cNvPr>
          <p:cNvSpPr/>
          <p:nvPr/>
        </p:nvSpPr>
        <p:spPr>
          <a:xfrm>
            <a:off x="503237" y="3245190"/>
            <a:ext cx="4164473" cy="500394"/>
          </a:xfrm>
          <a:prstGeom prst="roundRect">
            <a:avLst>
              <a:gd name="adj" fmla="val 2420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indent="-1588" algn="ctr">
              <a:tabLst>
                <a:tab pos="569913" algn="l"/>
              </a:tabLst>
            </a:pPr>
            <a:r>
              <a:rPr lang="pt-BR" sz="1600" b="1" dirty="0">
                <a:latin typeface="Calibri" charset="0"/>
                <a:ea typeface="Calibri" charset="0"/>
                <a:cs typeface="Calibri" charset="0"/>
              </a:rPr>
              <a:t>Modelos generativos e IA generativa</a:t>
            </a:r>
            <a:endParaRPr lang="es-ES_tradnl" sz="1600" b="1" dirty="0"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23" name="Agrupar 4">
            <a:extLst>
              <a:ext uri="{FF2B5EF4-FFF2-40B4-BE49-F238E27FC236}">
                <a16:creationId xmlns:a16="http://schemas.microsoft.com/office/drawing/2014/main" id="{9E5F521E-0E13-4121-B10F-8BFDA4CCA57A}"/>
              </a:ext>
            </a:extLst>
          </p:cNvPr>
          <p:cNvGrpSpPr/>
          <p:nvPr/>
        </p:nvGrpSpPr>
        <p:grpSpPr>
          <a:xfrm>
            <a:off x="287220" y="3293476"/>
            <a:ext cx="459474" cy="403823"/>
            <a:chOff x="5892512" y="2805541"/>
            <a:chExt cx="459474" cy="403823"/>
          </a:xfrm>
        </p:grpSpPr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A3766A0A-87B4-45FC-B660-A9F8AFFD788C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A667EC03-E251-40D6-8546-E0A21EF9368E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26" name="Triángulo 7">
              <a:extLst>
                <a:ext uri="{FF2B5EF4-FFF2-40B4-BE49-F238E27FC236}">
                  <a16:creationId xmlns:a16="http://schemas.microsoft.com/office/drawing/2014/main" id="{BEC553DF-543A-4660-9403-D890F6EE8CD8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1256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B0EA93BC-92A9-4AA0-A468-6EBD5F6B030A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RAMAS DE LA IA: MACHINE LEARNING, NLP, VISIÓN COMPUTACIONAL, GENERATIVOS</a:t>
            </a:r>
          </a:p>
        </p:txBody>
      </p:sp>
      <p:sp>
        <p:nvSpPr>
          <p:cNvPr id="6" name="Rectángulo redondeado 13">
            <a:extLst>
              <a:ext uri="{FF2B5EF4-FFF2-40B4-BE49-F238E27FC236}">
                <a16:creationId xmlns:a16="http://schemas.microsoft.com/office/drawing/2014/main" id="{DB69F77F-4936-40E1-BBB4-7F8D30AFDC7F}"/>
              </a:ext>
            </a:extLst>
          </p:cNvPr>
          <p:cNvSpPr/>
          <p:nvPr/>
        </p:nvSpPr>
        <p:spPr>
          <a:xfrm>
            <a:off x="503237" y="914396"/>
            <a:ext cx="4164473" cy="500394"/>
          </a:xfrm>
          <a:prstGeom prst="roundRect">
            <a:avLst>
              <a:gd name="adj" fmla="val 24841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indent="-1588" algn="ctr">
              <a:tabLst>
                <a:tab pos="569913" algn="l"/>
              </a:tabLst>
            </a:pPr>
            <a:r>
              <a:rPr lang="es-ES_tradnl" sz="1600" b="1" dirty="0">
                <a:latin typeface="Calibri" charset="0"/>
                <a:ea typeface="Calibri" charset="0"/>
                <a:cs typeface="Calibri" charset="0"/>
              </a:rPr>
              <a:t>Machine </a:t>
            </a:r>
            <a:r>
              <a:rPr lang="es-ES_tradnl" sz="1600" b="1" dirty="0" err="1">
                <a:latin typeface="Calibri" charset="0"/>
                <a:ea typeface="Calibri" charset="0"/>
                <a:cs typeface="Calibri" charset="0"/>
              </a:rPr>
              <a:t>learning</a:t>
            </a:r>
            <a:r>
              <a:rPr lang="es-ES_tradnl" sz="1600" b="1" dirty="0">
                <a:latin typeface="Calibri" charset="0"/>
                <a:ea typeface="Calibri" charset="0"/>
                <a:cs typeface="Calibri" charset="0"/>
              </a:rPr>
              <a:t> (ML)</a:t>
            </a:r>
          </a:p>
        </p:txBody>
      </p:sp>
      <p:grpSp>
        <p:nvGrpSpPr>
          <p:cNvPr id="7" name="Agrupar 14">
            <a:extLst>
              <a:ext uri="{FF2B5EF4-FFF2-40B4-BE49-F238E27FC236}">
                <a16:creationId xmlns:a16="http://schemas.microsoft.com/office/drawing/2014/main" id="{E7D8A17E-45DE-40EC-9891-F54CB149A85A}"/>
              </a:ext>
            </a:extLst>
          </p:cNvPr>
          <p:cNvGrpSpPr/>
          <p:nvPr/>
        </p:nvGrpSpPr>
        <p:grpSpPr>
          <a:xfrm>
            <a:off x="287220" y="962682"/>
            <a:ext cx="459474" cy="403823"/>
            <a:chOff x="5892512" y="2805541"/>
            <a:chExt cx="459474" cy="403823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71EE1B30-2A81-4CD3-A3A4-3BA2EE97307C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C73A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F83CEFD6-EB94-425C-A343-D46A5B825603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10" name="Triángulo 17">
              <a:extLst>
                <a:ext uri="{FF2B5EF4-FFF2-40B4-BE49-F238E27FC236}">
                  <a16:creationId xmlns:a16="http://schemas.microsoft.com/office/drawing/2014/main" id="{ED457075-0DDC-43EF-8038-E092644C9E03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object 7">
            <a:extLst>
              <a:ext uri="{FF2B5EF4-FFF2-40B4-BE49-F238E27FC236}">
                <a16:creationId xmlns:a16="http://schemas.microsoft.com/office/drawing/2014/main" id="{4A0C14C7-C886-46A0-A992-629807E9C73D}"/>
              </a:ext>
            </a:extLst>
          </p:cNvPr>
          <p:cNvSpPr txBox="1"/>
          <p:nvPr/>
        </p:nvSpPr>
        <p:spPr>
          <a:xfrm>
            <a:off x="499673" y="1524014"/>
            <a:ext cx="8145563" cy="81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spcAft>
                <a:spcPts val="600"/>
              </a:spcAft>
              <a:buSzPct val="100000"/>
              <a:tabLst>
                <a:tab pos="121285" algn="l"/>
              </a:tabLst>
              <a:defRPr/>
            </a:pPr>
            <a:r>
              <a:rPr lang="es-PE" sz="1600" dirty="0">
                <a:latin typeface="Calibri" charset="0"/>
                <a:ea typeface="Calibri" charset="0"/>
                <a:cs typeface="Calibri" charset="0"/>
              </a:rPr>
              <a:t>Subrama de la IA que permite que los sistemas aprendan a partir de datos sin ser programados explícitamente.</a:t>
            </a:r>
          </a:p>
          <a:p>
            <a:pPr marL="11725">
              <a:spcAft>
                <a:spcPts val="600"/>
              </a:spcAft>
              <a:buSzPct val="100000"/>
              <a:tabLst>
                <a:tab pos="121285" algn="l"/>
              </a:tabLst>
              <a:defRPr/>
            </a:pPr>
            <a:r>
              <a:rPr lang="es-PE" sz="1600" b="1" dirty="0">
                <a:latin typeface="Calibri" charset="0"/>
                <a:ea typeface="Calibri" charset="0"/>
                <a:cs typeface="Calibri" charset="0"/>
              </a:rPr>
              <a:t>Tipos de aprendizaje</a:t>
            </a:r>
          </a:p>
        </p:txBody>
      </p:sp>
      <p:sp>
        <p:nvSpPr>
          <p:cNvPr id="12" name="Rectángulo redondeado 3">
            <a:extLst>
              <a:ext uri="{FF2B5EF4-FFF2-40B4-BE49-F238E27FC236}">
                <a16:creationId xmlns:a16="http://schemas.microsoft.com/office/drawing/2014/main" id="{8737DEFF-C55B-4AD5-A920-83088D0B03F9}"/>
              </a:ext>
            </a:extLst>
          </p:cNvPr>
          <p:cNvSpPr/>
          <p:nvPr/>
        </p:nvSpPr>
        <p:spPr>
          <a:xfrm>
            <a:off x="499672" y="2497131"/>
            <a:ext cx="5630963" cy="2235809"/>
          </a:xfrm>
          <a:prstGeom prst="roundRect">
            <a:avLst>
              <a:gd name="adj" fmla="val 4231"/>
            </a:avLst>
          </a:prstGeom>
          <a:solidFill>
            <a:srgbClr val="FCC7C4">
              <a:alpha val="80000"/>
            </a:srgb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36000" rtlCol="0" anchor="t"/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</a:pPr>
            <a:r>
              <a:rPr lang="es-MX" sz="1500" b="1" dirty="0">
                <a:solidFill>
                  <a:srgbClr val="ED46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SUPERVISADO</a:t>
            </a:r>
            <a:endParaRPr lang="es-PE" sz="1500" dirty="0">
              <a:solidFill>
                <a:srgbClr val="ED463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indent="-174625" defTabSz="663575">
              <a:spcAft>
                <a:spcPts val="600"/>
              </a:spcAft>
              <a:buClr>
                <a:srgbClr val="ED4637"/>
              </a:buClr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algoritmo aprende a partir de un conjunto de datos etiquetados. Es decir, se le dan ejemplos de "entrada" y su correspondiente "respuesta correcta".</a:t>
            </a:r>
          </a:p>
          <a:p>
            <a:pPr marL="180975" indent="-174625" defTabSz="663575">
              <a:spcAft>
                <a:spcPts val="600"/>
              </a:spcAft>
              <a:buClr>
                <a:srgbClr val="ED4637"/>
              </a:buClr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Objetivo: predecir resultados para datos nuevos basados en patrones previos.</a:t>
            </a:r>
          </a:p>
          <a:p>
            <a:pPr marL="180975" indent="-174625" defTabSz="663575">
              <a:spcAft>
                <a:spcPts val="600"/>
              </a:spcAft>
              <a:buClr>
                <a:srgbClr val="ED4637"/>
              </a:buClr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Ejemplo: clasificar correos como spam o no spam.</a:t>
            </a:r>
          </a:p>
        </p:txBody>
      </p:sp>
    </p:spTree>
    <p:extLst>
      <p:ext uri="{BB962C8B-B14F-4D97-AF65-F5344CB8AC3E}">
        <p14:creationId xmlns:p14="http://schemas.microsoft.com/office/powerpoint/2010/main" val="55219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B0EA93BC-92A9-4AA0-A468-6EBD5F6B030A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RAMAS DE LA IA: MACHINE LEARNING, NLP, VISIÓN COMPUTACIONAL, GENERATIVOS</a:t>
            </a:r>
          </a:p>
        </p:txBody>
      </p:sp>
      <p:sp>
        <p:nvSpPr>
          <p:cNvPr id="6" name="Rectángulo redondeado 13">
            <a:extLst>
              <a:ext uri="{FF2B5EF4-FFF2-40B4-BE49-F238E27FC236}">
                <a16:creationId xmlns:a16="http://schemas.microsoft.com/office/drawing/2014/main" id="{DB69F77F-4936-40E1-BBB4-7F8D30AFDC7F}"/>
              </a:ext>
            </a:extLst>
          </p:cNvPr>
          <p:cNvSpPr/>
          <p:nvPr/>
        </p:nvSpPr>
        <p:spPr>
          <a:xfrm>
            <a:off x="503237" y="914396"/>
            <a:ext cx="4164473" cy="500394"/>
          </a:xfrm>
          <a:prstGeom prst="roundRect">
            <a:avLst>
              <a:gd name="adj" fmla="val 24841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indent="-1588" algn="ctr">
              <a:tabLst>
                <a:tab pos="569913" algn="l"/>
              </a:tabLst>
            </a:pPr>
            <a:r>
              <a:rPr lang="es-ES_tradnl" sz="1600" b="1" dirty="0">
                <a:latin typeface="Calibri" charset="0"/>
                <a:ea typeface="Calibri" charset="0"/>
                <a:cs typeface="Calibri" charset="0"/>
              </a:rPr>
              <a:t>Machine </a:t>
            </a:r>
            <a:r>
              <a:rPr lang="es-ES_tradnl" sz="1600" b="1" dirty="0" err="1">
                <a:latin typeface="Calibri" charset="0"/>
                <a:ea typeface="Calibri" charset="0"/>
                <a:cs typeface="Calibri" charset="0"/>
              </a:rPr>
              <a:t>learning</a:t>
            </a:r>
            <a:r>
              <a:rPr lang="es-ES_tradnl" sz="1600" b="1" dirty="0">
                <a:latin typeface="Calibri" charset="0"/>
                <a:ea typeface="Calibri" charset="0"/>
                <a:cs typeface="Calibri" charset="0"/>
              </a:rPr>
              <a:t> (ML)</a:t>
            </a:r>
          </a:p>
        </p:txBody>
      </p:sp>
      <p:grpSp>
        <p:nvGrpSpPr>
          <p:cNvPr id="7" name="Agrupar 14">
            <a:extLst>
              <a:ext uri="{FF2B5EF4-FFF2-40B4-BE49-F238E27FC236}">
                <a16:creationId xmlns:a16="http://schemas.microsoft.com/office/drawing/2014/main" id="{E7D8A17E-45DE-40EC-9891-F54CB149A85A}"/>
              </a:ext>
            </a:extLst>
          </p:cNvPr>
          <p:cNvGrpSpPr/>
          <p:nvPr/>
        </p:nvGrpSpPr>
        <p:grpSpPr>
          <a:xfrm>
            <a:off x="287220" y="962682"/>
            <a:ext cx="459474" cy="403823"/>
            <a:chOff x="5892512" y="2805541"/>
            <a:chExt cx="459474" cy="403823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71EE1B30-2A81-4CD3-A3A4-3BA2EE97307C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C73A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F83CEFD6-EB94-425C-A343-D46A5B825603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10" name="Triángulo 17">
              <a:extLst>
                <a:ext uri="{FF2B5EF4-FFF2-40B4-BE49-F238E27FC236}">
                  <a16:creationId xmlns:a16="http://schemas.microsoft.com/office/drawing/2014/main" id="{ED457075-0DDC-43EF-8038-E092644C9E03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object 7">
            <a:extLst>
              <a:ext uri="{FF2B5EF4-FFF2-40B4-BE49-F238E27FC236}">
                <a16:creationId xmlns:a16="http://schemas.microsoft.com/office/drawing/2014/main" id="{4A0C14C7-C886-46A0-A992-629807E9C73D}"/>
              </a:ext>
            </a:extLst>
          </p:cNvPr>
          <p:cNvSpPr txBox="1"/>
          <p:nvPr/>
        </p:nvSpPr>
        <p:spPr>
          <a:xfrm>
            <a:off x="499673" y="1524014"/>
            <a:ext cx="814556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spcAft>
                <a:spcPts val="600"/>
              </a:spcAft>
              <a:buSzPct val="100000"/>
              <a:tabLst>
                <a:tab pos="121285" algn="l"/>
              </a:tabLst>
              <a:defRPr/>
            </a:pPr>
            <a:r>
              <a:rPr lang="es-PE" sz="1600" b="1" dirty="0">
                <a:latin typeface="Calibri" charset="0"/>
                <a:ea typeface="Calibri" charset="0"/>
                <a:cs typeface="Calibri" charset="0"/>
              </a:rPr>
              <a:t>Tipos de aprendizaje</a:t>
            </a:r>
          </a:p>
        </p:txBody>
      </p:sp>
      <p:sp>
        <p:nvSpPr>
          <p:cNvPr id="12" name="Rectángulo redondeado 3">
            <a:extLst>
              <a:ext uri="{FF2B5EF4-FFF2-40B4-BE49-F238E27FC236}">
                <a16:creationId xmlns:a16="http://schemas.microsoft.com/office/drawing/2014/main" id="{8737DEFF-C55B-4AD5-A920-83088D0B03F9}"/>
              </a:ext>
            </a:extLst>
          </p:cNvPr>
          <p:cNvSpPr/>
          <p:nvPr/>
        </p:nvSpPr>
        <p:spPr>
          <a:xfrm>
            <a:off x="499674" y="1927744"/>
            <a:ext cx="3324182" cy="3132629"/>
          </a:xfrm>
          <a:prstGeom prst="roundRect">
            <a:avLst>
              <a:gd name="adj" fmla="val 4231"/>
            </a:avLst>
          </a:prstGeom>
          <a:solidFill>
            <a:srgbClr val="FCC7C4">
              <a:alpha val="80000"/>
            </a:srgb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36000" rtlCol="0" anchor="t"/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</a:pPr>
            <a:r>
              <a:rPr lang="es-MX" sz="1500" b="1" dirty="0">
                <a:solidFill>
                  <a:srgbClr val="ED46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NO SUPERVISADO</a:t>
            </a:r>
            <a:endParaRPr lang="es-PE" sz="1500" dirty="0">
              <a:solidFill>
                <a:srgbClr val="ED463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indent="-174625" defTabSz="663575">
              <a:spcAft>
                <a:spcPts val="600"/>
              </a:spcAft>
              <a:buClr>
                <a:srgbClr val="ED4637"/>
              </a:buClr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Aquí los datos no tienen etiquetas. El algoritmo debe encontrar estructuras, patrones o grupos ocultos por sí mismo, sin una guía externa sobre qué buscar.</a:t>
            </a:r>
          </a:p>
          <a:p>
            <a:pPr marL="180975" indent="-174625" defTabSz="663575">
              <a:spcAft>
                <a:spcPts val="600"/>
              </a:spcAft>
              <a:buClr>
                <a:srgbClr val="ED4637"/>
              </a:buClr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Objetivo: agrupar datos por similitudes (</a:t>
            </a:r>
            <a:r>
              <a:rPr lang="es-MX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clustering</a:t>
            </a:r>
            <a:r>
              <a:rPr lang="es-MX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o reducir la complejidad de la información.</a:t>
            </a:r>
          </a:p>
          <a:p>
            <a:pPr marL="180975" indent="-174625" defTabSz="663575">
              <a:spcAft>
                <a:spcPts val="600"/>
              </a:spcAft>
              <a:buClr>
                <a:srgbClr val="ED4637"/>
              </a:buClr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Ejemplo: segmentar clientes de una tienda por sus hábitos de compra.</a:t>
            </a:r>
          </a:p>
        </p:txBody>
      </p:sp>
      <p:sp>
        <p:nvSpPr>
          <p:cNvPr id="13" name="Rectángulo redondeado 3">
            <a:extLst>
              <a:ext uri="{FF2B5EF4-FFF2-40B4-BE49-F238E27FC236}">
                <a16:creationId xmlns:a16="http://schemas.microsoft.com/office/drawing/2014/main" id="{ABE25797-2958-4E61-ACC9-D951A539B682}"/>
              </a:ext>
            </a:extLst>
          </p:cNvPr>
          <p:cNvSpPr/>
          <p:nvPr/>
        </p:nvSpPr>
        <p:spPr>
          <a:xfrm>
            <a:off x="4372020" y="1927744"/>
            <a:ext cx="3324182" cy="3132629"/>
          </a:xfrm>
          <a:prstGeom prst="roundRect">
            <a:avLst>
              <a:gd name="adj" fmla="val 4231"/>
            </a:avLst>
          </a:prstGeom>
          <a:solidFill>
            <a:srgbClr val="FCC7C4">
              <a:alpha val="80000"/>
            </a:srgb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36000" rtlCol="0" anchor="t"/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</a:pPr>
            <a:r>
              <a:rPr lang="es-MX" sz="1500" b="1" dirty="0">
                <a:solidFill>
                  <a:srgbClr val="ED46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POR REFUERZO</a:t>
            </a:r>
            <a:endParaRPr lang="es-PE" sz="1500" dirty="0">
              <a:solidFill>
                <a:srgbClr val="ED463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indent="-174625" defTabSz="663575">
              <a:spcAft>
                <a:spcPts val="600"/>
              </a:spcAft>
              <a:buClr>
                <a:srgbClr val="ED4637"/>
              </a:buClr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basa en un ciclo de ensayo y error. Un "agente" interactúa con un entorno y recibe "premios" (refuerzos positivos) o "castigos" según sus acciones.</a:t>
            </a:r>
          </a:p>
          <a:p>
            <a:pPr marL="180975" indent="-174625" defTabSz="663575">
              <a:spcAft>
                <a:spcPts val="600"/>
              </a:spcAft>
              <a:buClr>
                <a:srgbClr val="ED4637"/>
              </a:buClr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Objetivo: aprender una estrategia o política que maximice la recompensa a largo plazo.</a:t>
            </a:r>
          </a:p>
          <a:p>
            <a:pPr marL="180975" indent="-174625" defTabSz="663575">
              <a:spcAft>
                <a:spcPts val="600"/>
              </a:spcAft>
              <a:buClr>
                <a:srgbClr val="ED4637"/>
              </a:buClr>
              <a:buFont typeface="Arial" panose="020B0604020202020204" pitchFamily="34" charset="0"/>
              <a:buChar char="•"/>
              <a:tabLst>
                <a:tab pos="3228975" algn="l"/>
              </a:tabLst>
            </a:pPr>
            <a:r>
              <a:rPr lang="es-MX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Ejemplo: una IA aprendiendo a jugar ajedrez o un robot aprendiendo a caminar.</a:t>
            </a:r>
          </a:p>
        </p:txBody>
      </p:sp>
    </p:spTree>
    <p:extLst>
      <p:ext uri="{BB962C8B-B14F-4D97-AF65-F5344CB8AC3E}">
        <p14:creationId xmlns:p14="http://schemas.microsoft.com/office/powerpoint/2010/main" val="238812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redondeado 8">
            <a:extLst>
              <a:ext uri="{FF2B5EF4-FFF2-40B4-BE49-F238E27FC236}">
                <a16:creationId xmlns:a16="http://schemas.microsoft.com/office/drawing/2014/main" id="{7CEF73D1-87DB-4564-96B5-F652B601308A}"/>
              </a:ext>
            </a:extLst>
          </p:cNvPr>
          <p:cNvSpPr/>
          <p:nvPr/>
        </p:nvSpPr>
        <p:spPr>
          <a:xfrm>
            <a:off x="503236" y="914396"/>
            <a:ext cx="4164474" cy="500394"/>
          </a:xfrm>
          <a:prstGeom prst="roundRect">
            <a:avLst>
              <a:gd name="adj" fmla="val 26745"/>
            </a:avLst>
          </a:prstGeom>
          <a:solidFill>
            <a:srgbClr val="92C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indent="-1588" algn="ctr">
              <a:tabLst>
                <a:tab pos="569913" algn="l"/>
              </a:tabLst>
            </a:pPr>
            <a:endParaRPr lang="es-MX" sz="1600" b="1" dirty="0">
              <a:latin typeface="Calibri" charset="0"/>
              <a:ea typeface="Calibri" charset="0"/>
              <a:cs typeface="Calibri" charset="0"/>
            </a:endParaRPr>
          </a:p>
          <a:p>
            <a:pPr marL="6350" indent="-1588" algn="ctr">
              <a:tabLst>
                <a:tab pos="569913" algn="l"/>
              </a:tabLs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Procesamiento de lenguaje natural (NLP)</a:t>
            </a:r>
          </a:p>
          <a:p>
            <a:pPr marL="6350" indent="-1588" algn="ctr">
              <a:tabLst>
                <a:tab pos="569913" algn="l"/>
              </a:tabLst>
            </a:pPr>
            <a:endParaRPr lang="es-ES_tradnl" sz="1600" b="1" dirty="0"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14" name="Agrupar 9">
            <a:extLst>
              <a:ext uri="{FF2B5EF4-FFF2-40B4-BE49-F238E27FC236}">
                <a16:creationId xmlns:a16="http://schemas.microsoft.com/office/drawing/2014/main" id="{54886CFD-85A2-4146-B717-8464560D8E5A}"/>
              </a:ext>
            </a:extLst>
          </p:cNvPr>
          <p:cNvGrpSpPr/>
          <p:nvPr/>
        </p:nvGrpSpPr>
        <p:grpSpPr>
          <a:xfrm>
            <a:off x="287220" y="962682"/>
            <a:ext cx="459474" cy="403823"/>
            <a:chOff x="5892512" y="2805541"/>
            <a:chExt cx="459474" cy="403823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D00BC9BF-A977-4626-A0EC-38E3B9883FD1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6A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0B7D755B-9CBC-4675-859B-2002DCCACA56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17" name="Triángulo 12">
              <a:extLst>
                <a:ext uri="{FF2B5EF4-FFF2-40B4-BE49-F238E27FC236}">
                  <a16:creationId xmlns:a16="http://schemas.microsoft.com/office/drawing/2014/main" id="{48C8582F-A952-4ED4-8FA9-4FD700BF85E3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92C2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B0EA93BC-92A9-4AA0-A468-6EBD5F6B030A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RAMAS DE LA IA: MACHINE LEARNING, NLP, VISIÓN COMPUTACIONAL, GENERATIVOS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4A0C14C7-C886-46A0-A992-629807E9C73D}"/>
              </a:ext>
            </a:extLst>
          </p:cNvPr>
          <p:cNvSpPr txBox="1"/>
          <p:nvPr/>
        </p:nvSpPr>
        <p:spPr>
          <a:xfrm>
            <a:off x="499674" y="1524014"/>
            <a:ext cx="4164474" cy="28469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475" indent="-285750">
              <a:spcAft>
                <a:spcPts val="600"/>
              </a:spcAft>
              <a:buClr>
                <a:srgbClr val="92C24E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Rama que se centra en la comprensión y generación de lenguaje humano.</a:t>
            </a:r>
          </a:p>
          <a:p>
            <a:pPr marL="297475" indent="-285750">
              <a:spcAft>
                <a:spcPts val="600"/>
              </a:spcAft>
              <a:buClr>
                <a:srgbClr val="92C24E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7475" indent="-285750">
              <a:spcAft>
                <a:spcPts val="600"/>
              </a:spcAft>
              <a:buClr>
                <a:srgbClr val="92C24E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Utiliza modelos como Transformers y LLM para tareas de traducción, resumen y respuesta a preguntas.</a:t>
            </a:r>
          </a:p>
          <a:p>
            <a:pPr marL="297475" indent="-285750">
              <a:spcAft>
                <a:spcPts val="600"/>
              </a:spcAft>
              <a:buClr>
                <a:srgbClr val="92C24E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7475" indent="-285750">
              <a:spcAft>
                <a:spcPts val="600"/>
              </a:spcAft>
              <a:buClr>
                <a:srgbClr val="92C24E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Ejemplos: </a:t>
            </a:r>
            <a:r>
              <a:rPr lang="es-MX" sz="1600" dirty="0" err="1">
                <a:latin typeface="Calibri" charset="0"/>
                <a:ea typeface="Calibri" charset="0"/>
                <a:cs typeface="Calibri" charset="0"/>
              </a:rPr>
              <a:t>chatbots</a:t>
            </a: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, asistentes virtuales, correctores gramaticales.</a:t>
            </a:r>
          </a:p>
          <a:p>
            <a:pPr marL="11725">
              <a:spcAft>
                <a:spcPts val="600"/>
              </a:spcAft>
              <a:buClr>
                <a:srgbClr val="92C24E"/>
              </a:buClr>
              <a:buSzPct val="100000"/>
              <a:tabLst>
                <a:tab pos="121285" algn="l"/>
              </a:tabLst>
              <a:defRPr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Google Shape;166;p11">
            <a:extLst>
              <a:ext uri="{FF2B5EF4-FFF2-40B4-BE49-F238E27FC236}">
                <a16:creationId xmlns:a16="http://schemas.microsoft.com/office/drawing/2014/main" id="{9753E32B-59E9-45EF-894E-6F0BDA3667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4230" y="1560436"/>
            <a:ext cx="4070096" cy="25941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200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3">
            <a:extLst>
              <a:ext uri="{FF2B5EF4-FFF2-40B4-BE49-F238E27FC236}">
                <a16:creationId xmlns:a16="http://schemas.microsoft.com/office/drawing/2014/main" id="{2F7883EB-1F10-4660-AFF8-EE2189F7B3F3}"/>
              </a:ext>
            </a:extLst>
          </p:cNvPr>
          <p:cNvSpPr/>
          <p:nvPr/>
        </p:nvSpPr>
        <p:spPr>
          <a:xfrm>
            <a:off x="503237" y="914396"/>
            <a:ext cx="4164473" cy="500394"/>
          </a:xfrm>
          <a:prstGeom prst="roundRect">
            <a:avLst>
              <a:gd name="adj" fmla="val 24207"/>
            </a:avLst>
          </a:prstGeom>
          <a:solidFill>
            <a:srgbClr val="71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indent="-1588" algn="ctr">
              <a:tabLst>
                <a:tab pos="569913" algn="l"/>
              </a:tabLst>
            </a:pPr>
            <a:r>
              <a:rPr lang="es-ES_tradnl" sz="1600" b="1" dirty="0">
                <a:latin typeface="Calibri" charset="0"/>
                <a:ea typeface="Calibri" charset="0"/>
                <a:cs typeface="Calibri" charset="0"/>
              </a:rPr>
              <a:t>Visión computacional</a:t>
            </a:r>
          </a:p>
        </p:txBody>
      </p:sp>
      <p:grpSp>
        <p:nvGrpSpPr>
          <p:cNvPr id="12" name="Agrupar 4">
            <a:extLst>
              <a:ext uri="{FF2B5EF4-FFF2-40B4-BE49-F238E27FC236}">
                <a16:creationId xmlns:a16="http://schemas.microsoft.com/office/drawing/2014/main" id="{458D0D43-7EC2-4C20-A1DF-19E6F720D2BC}"/>
              </a:ext>
            </a:extLst>
          </p:cNvPr>
          <p:cNvGrpSpPr/>
          <p:nvPr/>
        </p:nvGrpSpPr>
        <p:grpSpPr>
          <a:xfrm>
            <a:off x="287220" y="962682"/>
            <a:ext cx="459474" cy="403823"/>
            <a:chOff x="5892512" y="2805541"/>
            <a:chExt cx="459474" cy="40382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BA0EA339-D9AA-4457-BA27-47B521371C27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593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DF6D9C64-A768-4570-8034-DEA0F28FAA95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21" name="Triángulo 7">
              <a:extLst>
                <a:ext uri="{FF2B5EF4-FFF2-40B4-BE49-F238E27FC236}">
                  <a16:creationId xmlns:a16="http://schemas.microsoft.com/office/drawing/2014/main" id="{4650202D-DC0A-4BE8-A6E1-B4C4FA9FBCCC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714F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B0EA93BC-92A9-4AA0-A468-6EBD5F6B030A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RAMAS DE LA IA: MACHINE LEARNING, NLP, VISIÓN COMPUTACIONAL, GENERATIVOS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4A0C14C7-C886-46A0-A992-629807E9C73D}"/>
              </a:ext>
            </a:extLst>
          </p:cNvPr>
          <p:cNvSpPr txBox="1"/>
          <p:nvPr/>
        </p:nvSpPr>
        <p:spPr>
          <a:xfrm>
            <a:off x="499674" y="1524014"/>
            <a:ext cx="3926853" cy="3093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475" indent="-285750">
              <a:spcAft>
                <a:spcPts val="600"/>
              </a:spcAft>
              <a:buClr>
                <a:srgbClr val="7150A0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Enseña a las máquinas a interpretar imágenes y videos para reconocer objetos, personas y patrones.</a:t>
            </a:r>
          </a:p>
          <a:p>
            <a:pPr marL="297475" indent="-285750">
              <a:spcAft>
                <a:spcPts val="600"/>
              </a:spcAft>
              <a:buClr>
                <a:srgbClr val="7150A0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7475" indent="-285750">
              <a:spcAft>
                <a:spcPts val="600"/>
              </a:spcAft>
              <a:buClr>
                <a:srgbClr val="7150A0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Se apoya en redes neuronales </a:t>
            </a:r>
            <a:r>
              <a:rPr lang="es-MX" sz="1600" dirty="0" err="1">
                <a:latin typeface="Calibri" charset="0"/>
                <a:ea typeface="Calibri" charset="0"/>
                <a:cs typeface="Calibri" charset="0"/>
              </a:rPr>
              <a:t>convolucionales</a:t>
            </a: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 (CNN) y técnicas de </a:t>
            </a:r>
            <a:r>
              <a:rPr lang="es-MX" sz="1600" dirty="0" err="1">
                <a:latin typeface="Calibri" charset="0"/>
                <a:ea typeface="Calibri" charset="0"/>
                <a:cs typeface="Calibri" charset="0"/>
              </a:rPr>
              <a:t>deep</a:t>
            </a: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MX" sz="1600" dirty="0" err="1">
                <a:latin typeface="Calibri" charset="0"/>
                <a:ea typeface="Calibri" charset="0"/>
                <a:cs typeface="Calibri" charset="0"/>
              </a:rPr>
              <a:t>learning</a:t>
            </a: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pPr marL="297475" indent="-285750">
              <a:spcAft>
                <a:spcPts val="600"/>
              </a:spcAft>
              <a:buClr>
                <a:srgbClr val="7150A0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7475" indent="-285750">
              <a:spcAft>
                <a:spcPts val="600"/>
              </a:spcAft>
              <a:buClr>
                <a:srgbClr val="7150A0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Ejemplos: </a:t>
            </a: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reconocimiento facial, vehículos autónomos, análisis de imágenes médicas.</a:t>
            </a:r>
          </a:p>
          <a:p>
            <a:pPr marL="11725">
              <a:spcAft>
                <a:spcPts val="600"/>
              </a:spcAft>
              <a:buClr>
                <a:srgbClr val="92C24E"/>
              </a:buClr>
              <a:buSzPct val="100000"/>
              <a:tabLst>
                <a:tab pos="121285" algn="l"/>
              </a:tabLst>
              <a:defRPr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2" name="Google Shape;179;p12">
            <a:extLst>
              <a:ext uri="{FF2B5EF4-FFF2-40B4-BE49-F238E27FC236}">
                <a16:creationId xmlns:a16="http://schemas.microsoft.com/office/drawing/2014/main" id="{EE273770-10CE-404A-A5F7-E28562999B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385" y="1560436"/>
            <a:ext cx="3157941" cy="33212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919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redondeado 3">
            <a:extLst>
              <a:ext uri="{FF2B5EF4-FFF2-40B4-BE49-F238E27FC236}">
                <a16:creationId xmlns:a16="http://schemas.microsoft.com/office/drawing/2014/main" id="{B84A06F8-3C03-4B29-ACEF-88F47E402AA2}"/>
              </a:ext>
            </a:extLst>
          </p:cNvPr>
          <p:cNvSpPr/>
          <p:nvPr/>
        </p:nvSpPr>
        <p:spPr>
          <a:xfrm>
            <a:off x="499674" y="914396"/>
            <a:ext cx="4164473" cy="500394"/>
          </a:xfrm>
          <a:prstGeom prst="roundRect">
            <a:avLst>
              <a:gd name="adj" fmla="val 2420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indent="-1588" algn="ctr">
              <a:tabLst>
                <a:tab pos="569913" algn="l"/>
              </a:tabLst>
            </a:pPr>
            <a:r>
              <a:rPr lang="pt-BR" sz="1600" b="1" dirty="0">
                <a:latin typeface="Calibri" charset="0"/>
                <a:ea typeface="Calibri" charset="0"/>
                <a:cs typeface="Calibri" charset="0"/>
              </a:rPr>
              <a:t>Modelos generativos e IA generativa</a:t>
            </a:r>
            <a:endParaRPr lang="es-ES_tradnl" sz="1600" b="1" dirty="0"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14" name="Agrupar 4">
            <a:extLst>
              <a:ext uri="{FF2B5EF4-FFF2-40B4-BE49-F238E27FC236}">
                <a16:creationId xmlns:a16="http://schemas.microsoft.com/office/drawing/2014/main" id="{7165177E-8373-432B-84E2-A60F3474690C}"/>
              </a:ext>
            </a:extLst>
          </p:cNvPr>
          <p:cNvGrpSpPr/>
          <p:nvPr/>
        </p:nvGrpSpPr>
        <p:grpSpPr>
          <a:xfrm>
            <a:off x="283657" y="962682"/>
            <a:ext cx="459474" cy="403823"/>
            <a:chOff x="5892512" y="2805541"/>
            <a:chExt cx="459474" cy="403823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1DE3990-298A-4ED0-8F7B-51366119FFF6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C005C937-CF2A-4B04-9947-0D6307B5384F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  <p:sp>
          <p:nvSpPr>
            <p:cNvPr id="17" name="Triángulo 7">
              <a:extLst>
                <a:ext uri="{FF2B5EF4-FFF2-40B4-BE49-F238E27FC236}">
                  <a16:creationId xmlns:a16="http://schemas.microsoft.com/office/drawing/2014/main" id="{59F04E06-DFD5-432C-9890-20420E0C36EC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Google Shape;77;p5">
            <a:extLst>
              <a:ext uri="{FF2B5EF4-FFF2-40B4-BE49-F238E27FC236}">
                <a16:creationId xmlns:a16="http://schemas.microsoft.com/office/drawing/2014/main" id="{B0EA93BC-92A9-4AA0-A468-6EBD5F6B030A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RAMAS DE LA IA: MACHINE LEARNING, NLP, VISIÓN COMPUTACIONAL, GENERATIVOS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4A0C14C7-C886-46A0-A992-629807E9C73D}"/>
              </a:ext>
            </a:extLst>
          </p:cNvPr>
          <p:cNvSpPr txBox="1"/>
          <p:nvPr/>
        </p:nvSpPr>
        <p:spPr>
          <a:xfrm>
            <a:off x="499674" y="1524014"/>
            <a:ext cx="8374162" cy="203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475" indent="-285750">
              <a:spcAft>
                <a:spcPts val="600"/>
              </a:spcAft>
              <a:buClr>
                <a:srgbClr val="00B0F0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Modelos capaces de crear contenido nuevo (texto, imágenes, música, código) a partir de patrones aprendidos. </a:t>
            </a:r>
          </a:p>
          <a:p>
            <a:pPr marL="297475" indent="-285750">
              <a:spcAft>
                <a:spcPts val="600"/>
              </a:spcAft>
              <a:buClr>
                <a:srgbClr val="00B0F0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7475" indent="-285750">
              <a:spcAft>
                <a:spcPts val="600"/>
              </a:spcAft>
              <a:buClr>
                <a:srgbClr val="00B0F0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Ejemplos: </a:t>
            </a: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LLM para texto, generadores de imágenes a partir de descripciones. </a:t>
            </a:r>
          </a:p>
          <a:p>
            <a:pPr marL="297475" indent="-285750">
              <a:spcAft>
                <a:spcPts val="600"/>
              </a:spcAft>
              <a:buClr>
                <a:srgbClr val="00B0F0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7475" indent="-285750">
              <a:spcAft>
                <a:spcPts val="600"/>
              </a:spcAft>
              <a:buClr>
                <a:srgbClr val="00B0F0"/>
              </a:buClr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  <a:defRPr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Se usa frecuentemente en creación de material educativo, prototipos de diseño, apoyo a la programación y creatividad.</a:t>
            </a:r>
          </a:p>
        </p:txBody>
      </p:sp>
      <p:sp>
        <p:nvSpPr>
          <p:cNvPr id="18" name="Google Shape;192;p13">
            <a:extLst>
              <a:ext uri="{FF2B5EF4-FFF2-40B4-BE49-F238E27FC236}">
                <a16:creationId xmlns:a16="http://schemas.microsoft.com/office/drawing/2014/main" id="{687A3ABC-5F96-4FEC-A964-0811AFF28B25}"/>
              </a:ext>
            </a:extLst>
          </p:cNvPr>
          <p:cNvSpPr/>
          <p:nvPr/>
        </p:nvSpPr>
        <p:spPr>
          <a:xfrm>
            <a:off x="1229832" y="3664563"/>
            <a:ext cx="6684335" cy="1504754"/>
          </a:xfrm>
          <a:prstGeom prst="roundRect">
            <a:avLst>
              <a:gd name="adj" fmla="val 16667"/>
            </a:avLst>
          </a:prstGeom>
          <a:blipFill rotWithShape="1">
            <a:blip r:embed="rId3">
              <a:alphaModFix/>
            </a:blip>
            <a:tile tx="0" ty="0" sx="40000" sy="40000" flip="none" algn="tl"/>
          </a:blip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95000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194;p13" descr="Free Google Gemini Logomark SVG, PNG Icon, Symbol. Download Image.">
            <a:extLst>
              <a:ext uri="{FF2B5EF4-FFF2-40B4-BE49-F238E27FC236}">
                <a16:creationId xmlns:a16="http://schemas.microsoft.com/office/drawing/2014/main" id="{20500F9B-3B35-442E-A143-DB2BC9C5F0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0275"/>
          <a:stretch/>
        </p:blipFill>
        <p:spPr>
          <a:xfrm>
            <a:off x="3128456" y="3781545"/>
            <a:ext cx="1149376" cy="103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95;p13" descr="Claude App icon PNG HD Download With Transparent Background | PNGHDPro">
            <a:extLst>
              <a:ext uri="{FF2B5EF4-FFF2-40B4-BE49-F238E27FC236}">
                <a16:creationId xmlns:a16="http://schemas.microsoft.com/office/drawing/2014/main" id="{454474A2-B14B-47AD-878E-B96CE23BCE4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9080" y="3781545"/>
            <a:ext cx="1031272" cy="103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96;p13" descr="Perplexity Ai Icon SVG Vector &amp; PNG Free Download | UXWing">
            <a:extLst>
              <a:ext uri="{FF2B5EF4-FFF2-40B4-BE49-F238E27FC236}">
                <a16:creationId xmlns:a16="http://schemas.microsoft.com/office/drawing/2014/main" id="{6FF328D3-8BCC-4F3D-863D-F56F0AB182B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0559" y="3781545"/>
            <a:ext cx="1023400" cy="10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97;p13">
            <a:extLst>
              <a:ext uri="{FF2B5EF4-FFF2-40B4-BE49-F238E27FC236}">
                <a16:creationId xmlns:a16="http://schemas.microsoft.com/office/drawing/2014/main" id="{B925855B-6FC8-4A69-B886-3A5B5C1D940E}"/>
              </a:ext>
            </a:extLst>
          </p:cNvPr>
          <p:cNvSpPr txBox="1"/>
          <p:nvPr/>
        </p:nvSpPr>
        <p:spPr>
          <a:xfrm>
            <a:off x="1569099" y="4789704"/>
            <a:ext cx="11493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CHATGPT</a:t>
            </a: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98;p13">
            <a:extLst>
              <a:ext uri="{FF2B5EF4-FFF2-40B4-BE49-F238E27FC236}">
                <a16:creationId xmlns:a16="http://schemas.microsoft.com/office/drawing/2014/main" id="{86A098F7-0A1F-479D-A9EC-A5C0F5DF1210}"/>
              </a:ext>
            </a:extLst>
          </p:cNvPr>
          <p:cNvSpPr txBox="1"/>
          <p:nvPr/>
        </p:nvSpPr>
        <p:spPr>
          <a:xfrm>
            <a:off x="3214089" y="4798443"/>
            <a:ext cx="11493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199;p13">
            <a:extLst>
              <a:ext uri="{FF2B5EF4-FFF2-40B4-BE49-F238E27FC236}">
                <a16:creationId xmlns:a16="http://schemas.microsoft.com/office/drawing/2014/main" id="{F3190B18-75AE-482B-8C6A-E09A4131E4D2}"/>
              </a:ext>
            </a:extLst>
          </p:cNvPr>
          <p:cNvSpPr txBox="1"/>
          <p:nvPr/>
        </p:nvSpPr>
        <p:spPr>
          <a:xfrm>
            <a:off x="4903807" y="4798380"/>
            <a:ext cx="11493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200;p13">
            <a:extLst>
              <a:ext uri="{FF2B5EF4-FFF2-40B4-BE49-F238E27FC236}">
                <a16:creationId xmlns:a16="http://schemas.microsoft.com/office/drawing/2014/main" id="{1704D8F1-A37E-41F6-A82D-0E4EE1B6BEDE}"/>
              </a:ext>
            </a:extLst>
          </p:cNvPr>
          <p:cNvSpPr txBox="1"/>
          <p:nvPr/>
        </p:nvSpPr>
        <p:spPr>
          <a:xfrm>
            <a:off x="6279907" y="4797182"/>
            <a:ext cx="13679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PERPLEXITY</a:t>
            </a: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05372F-2EAA-49C0-A398-4D97808DBB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4848" y="3786558"/>
            <a:ext cx="1023400" cy="102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20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PANORAMA ACTUAL Y </a:t>
            </a:r>
            <a:br>
              <a:rPr lang="es-PE" sz="28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APLICACIONES DE LA IA</a:t>
            </a:r>
            <a:endParaRPr lang="es-ES" sz="16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16;p15">
            <a:extLst>
              <a:ext uri="{FF2B5EF4-FFF2-40B4-BE49-F238E27FC236}">
                <a16:creationId xmlns:a16="http://schemas.microsoft.com/office/drawing/2014/main" id="{7B791DDE-05BA-44B9-BAA5-566FB258E5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8710" y="932951"/>
            <a:ext cx="3560379" cy="401379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 txBox="1"/>
          <p:nvPr/>
        </p:nvSpPr>
        <p:spPr>
          <a:xfrm>
            <a:off x="506796" y="918372"/>
            <a:ext cx="3711913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IA HOY</a:t>
            </a:r>
          </a:p>
          <a:p>
            <a:pPr lvl="0"/>
            <a:endParaRPr lang="es-MX" sz="16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IA y el ML se han convertido en </a:t>
            </a:r>
            <a:r>
              <a:rPr lang="es-MX" sz="1600" b="1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tecnologías clave en la economía digital.</a:t>
            </a: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endParaRPr lang="es-MX"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 aplican en sectores como los siguientes:</a:t>
            </a:r>
          </a:p>
          <a:p>
            <a:pPr marL="623888" lvl="0" indent="-260350">
              <a:buClr>
                <a:srgbClr val="262626"/>
              </a:buClr>
              <a:buSzPts val="1600"/>
              <a:buFont typeface="Wingdings" panose="05000000000000000000" pitchFamily="2" charset="2"/>
              <a:buChar char="Ø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Salud</a:t>
            </a:r>
          </a:p>
          <a:p>
            <a:pPr marL="623888" lvl="0" indent="-260350">
              <a:buClr>
                <a:srgbClr val="262626"/>
              </a:buClr>
              <a:buSzPts val="1600"/>
              <a:buFont typeface="Wingdings" panose="05000000000000000000" pitchFamily="2" charset="2"/>
              <a:buChar char="Ø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Finanzas</a:t>
            </a:r>
          </a:p>
          <a:p>
            <a:pPr marL="623888" lvl="0" indent="-260350">
              <a:buClr>
                <a:srgbClr val="262626"/>
              </a:buClr>
              <a:buSzPts val="1600"/>
              <a:buFont typeface="Wingdings" panose="05000000000000000000" pitchFamily="2" charset="2"/>
              <a:buChar char="Ø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Transporte</a:t>
            </a:r>
          </a:p>
          <a:p>
            <a:pPr marL="623888" lvl="0" indent="-260350">
              <a:buClr>
                <a:srgbClr val="262626"/>
              </a:buClr>
              <a:buSzPts val="1600"/>
              <a:buFont typeface="Wingdings" panose="05000000000000000000" pitchFamily="2" charset="2"/>
              <a:buChar char="Ø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Educación </a:t>
            </a:r>
          </a:p>
          <a:p>
            <a:pPr marL="623888" lvl="0" indent="-260350">
              <a:buClr>
                <a:srgbClr val="262626"/>
              </a:buClr>
              <a:buSzPts val="1600"/>
              <a:buFont typeface="Wingdings" panose="05000000000000000000" pitchFamily="2" charset="2"/>
              <a:buChar char="Ø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Entretenimiento</a:t>
            </a: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endParaRPr lang="es-MX"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Su desarrollo está impulsado por grandes conjuntos de datos y mejoras en hardware.</a:t>
            </a:r>
          </a:p>
        </p:txBody>
      </p:sp>
      <p:sp>
        <p:nvSpPr>
          <p:cNvPr id="7" name="Google Shape;215;p15">
            <a:extLst>
              <a:ext uri="{FF2B5EF4-FFF2-40B4-BE49-F238E27FC236}">
                <a16:creationId xmlns:a16="http://schemas.microsoft.com/office/drawing/2014/main" id="{ED8B51FF-BFEF-4C21-8C86-CE07A33B8D1A}"/>
              </a:ext>
            </a:extLst>
          </p:cNvPr>
          <p:cNvSpPr/>
          <p:nvPr/>
        </p:nvSpPr>
        <p:spPr>
          <a:xfrm>
            <a:off x="503237" y="380615"/>
            <a:ext cx="272833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PANORAMA ACTUAL Y APLICACIONES DE LA IA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686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371191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IA EN DIFERENTES SECTORES</a:t>
            </a:r>
          </a:p>
        </p:txBody>
      </p:sp>
      <p:grpSp>
        <p:nvGrpSpPr>
          <p:cNvPr id="5" name="Google Shape;221;p16">
            <a:extLst>
              <a:ext uri="{FF2B5EF4-FFF2-40B4-BE49-F238E27FC236}">
                <a16:creationId xmlns:a16="http://schemas.microsoft.com/office/drawing/2014/main" id="{74549B44-8DEE-4AAB-A7D6-13A0E9F07CD9}"/>
              </a:ext>
            </a:extLst>
          </p:cNvPr>
          <p:cNvGrpSpPr/>
          <p:nvPr/>
        </p:nvGrpSpPr>
        <p:grpSpPr>
          <a:xfrm>
            <a:off x="4751392" y="1597026"/>
            <a:ext cx="1107997" cy="1107997"/>
            <a:chOff x="4751388" y="948615"/>
            <a:chExt cx="1170848" cy="1170848"/>
          </a:xfrm>
        </p:grpSpPr>
        <p:sp>
          <p:nvSpPr>
            <p:cNvPr id="7" name="Google Shape;222;p16">
              <a:extLst>
                <a:ext uri="{FF2B5EF4-FFF2-40B4-BE49-F238E27FC236}">
                  <a16:creationId xmlns:a16="http://schemas.microsoft.com/office/drawing/2014/main" id="{680BD829-27AA-4257-9A6E-387E9BD12B6E}"/>
                </a:ext>
              </a:extLst>
            </p:cNvPr>
            <p:cNvSpPr/>
            <p:nvPr/>
          </p:nvSpPr>
          <p:spPr>
            <a:xfrm>
              <a:off x="4751388" y="948615"/>
              <a:ext cx="1170848" cy="1170848"/>
            </a:xfrm>
            <a:prstGeom prst="roundRect">
              <a:avLst>
                <a:gd name="adj" fmla="val 11306"/>
              </a:avLst>
            </a:prstGeom>
            <a:solidFill>
              <a:srgbClr val="00B1C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" name="Google Shape;223;p16">
              <a:extLst>
                <a:ext uri="{FF2B5EF4-FFF2-40B4-BE49-F238E27FC236}">
                  <a16:creationId xmlns:a16="http://schemas.microsoft.com/office/drawing/2014/main" id="{7D9CDB60-9604-4152-80F7-C0892803EB9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08163" y="1105390"/>
              <a:ext cx="857298" cy="8572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Google Shape;224;p16">
            <a:extLst>
              <a:ext uri="{FF2B5EF4-FFF2-40B4-BE49-F238E27FC236}">
                <a16:creationId xmlns:a16="http://schemas.microsoft.com/office/drawing/2014/main" id="{FAD5A33B-7BB1-40FB-8146-CB54898EF0B7}"/>
              </a:ext>
            </a:extLst>
          </p:cNvPr>
          <p:cNvSpPr/>
          <p:nvPr/>
        </p:nvSpPr>
        <p:spPr>
          <a:xfrm>
            <a:off x="6081934" y="1597025"/>
            <a:ext cx="204543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>
                <a:solidFill>
                  <a:srgbClr val="00B1C3"/>
                </a:solidFill>
                <a:latin typeface="Calibri"/>
                <a:ea typeface="Calibri"/>
                <a:cs typeface="Calibri"/>
                <a:sym typeface="Calibri"/>
              </a:rPr>
              <a:t>Negocios y marketing </a:t>
            </a:r>
            <a:r>
              <a:rPr lang="es-419" sz="1600" dirty="0">
                <a:solidFill>
                  <a:srgbClr val="00B1C3"/>
                </a:solidFill>
                <a:latin typeface="Calibri"/>
                <a:ea typeface="Calibri"/>
                <a:cs typeface="Calibri"/>
                <a:sym typeface="Calibri"/>
              </a:rPr>
              <a:t>Análisis de clientes, segmentación y campañas personalizadas</a:t>
            </a:r>
            <a:r>
              <a:rPr lang="es-419" sz="1600" b="1" dirty="0">
                <a:solidFill>
                  <a:srgbClr val="00B1C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b="1" dirty="0">
              <a:solidFill>
                <a:srgbClr val="00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25;p16">
            <a:extLst>
              <a:ext uri="{FF2B5EF4-FFF2-40B4-BE49-F238E27FC236}">
                <a16:creationId xmlns:a16="http://schemas.microsoft.com/office/drawing/2014/main" id="{D50B6A89-02DA-4A1C-AD39-15430EEAA8EE}"/>
              </a:ext>
            </a:extLst>
          </p:cNvPr>
          <p:cNvSpPr/>
          <p:nvPr/>
        </p:nvSpPr>
        <p:spPr>
          <a:xfrm>
            <a:off x="1997904" y="1597025"/>
            <a:ext cx="204543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>
                <a:solidFill>
                  <a:srgbClr val="00B1C3"/>
                </a:solidFill>
                <a:latin typeface="Calibri"/>
                <a:ea typeface="Calibri"/>
                <a:cs typeface="Calibri"/>
                <a:sym typeface="Calibri"/>
              </a:rPr>
              <a:t>Educación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>
                <a:solidFill>
                  <a:srgbClr val="00B1C3"/>
                </a:solidFill>
                <a:latin typeface="Calibri"/>
                <a:ea typeface="Calibri"/>
                <a:cs typeface="Calibri"/>
                <a:sym typeface="Calibri"/>
              </a:rPr>
              <a:t>Plataformas adaptativas, análisis de desempeño y generación de contenidos.</a:t>
            </a:r>
            <a:endParaRPr sz="1600" dirty="0">
              <a:solidFill>
                <a:srgbClr val="00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" name="Google Shape;226;p16">
            <a:extLst>
              <a:ext uri="{FF2B5EF4-FFF2-40B4-BE49-F238E27FC236}">
                <a16:creationId xmlns:a16="http://schemas.microsoft.com/office/drawing/2014/main" id="{02EEAB69-1C8B-4900-8A0B-47CA9582946A}"/>
              </a:ext>
            </a:extLst>
          </p:cNvPr>
          <p:cNvGrpSpPr/>
          <p:nvPr/>
        </p:nvGrpSpPr>
        <p:grpSpPr>
          <a:xfrm>
            <a:off x="684213" y="1597025"/>
            <a:ext cx="1107996" cy="1107996"/>
            <a:chOff x="597294" y="1013797"/>
            <a:chExt cx="982735" cy="982735"/>
          </a:xfrm>
        </p:grpSpPr>
        <p:sp>
          <p:nvSpPr>
            <p:cNvPr id="12" name="Google Shape;227;p16">
              <a:extLst>
                <a:ext uri="{FF2B5EF4-FFF2-40B4-BE49-F238E27FC236}">
                  <a16:creationId xmlns:a16="http://schemas.microsoft.com/office/drawing/2014/main" id="{38705DD1-B448-483B-A733-958E2EB3A54B}"/>
                </a:ext>
              </a:extLst>
            </p:cNvPr>
            <p:cNvSpPr/>
            <p:nvPr/>
          </p:nvSpPr>
          <p:spPr>
            <a:xfrm>
              <a:off x="597294" y="1013797"/>
              <a:ext cx="982735" cy="982735"/>
            </a:xfrm>
            <a:prstGeom prst="roundRect">
              <a:avLst>
                <a:gd name="adj" fmla="val 10564"/>
              </a:avLst>
            </a:prstGeom>
            <a:solidFill>
              <a:srgbClr val="00B1C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" name="Google Shape;228;p16">
              <a:extLst>
                <a:ext uri="{FF2B5EF4-FFF2-40B4-BE49-F238E27FC236}">
                  <a16:creationId xmlns:a16="http://schemas.microsoft.com/office/drawing/2014/main" id="{2F8BEBF3-68AC-420F-BC40-AB01A01988F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7264" y="1145384"/>
              <a:ext cx="688275" cy="71956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oogle Shape;231;p16">
            <a:extLst>
              <a:ext uri="{FF2B5EF4-FFF2-40B4-BE49-F238E27FC236}">
                <a16:creationId xmlns:a16="http://schemas.microsoft.com/office/drawing/2014/main" id="{2220378B-AD8C-45A1-B6A3-2F298733D33D}"/>
              </a:ext>
            </a:extLst>
          </p:cNvPr>
          <p:cNvGrpSpPr/>
          <p:nvPr/>
        </p:nvGrpSpPr>
        <p:grpSpPr>
          <a:xfrm>
            <a:off x="4751392" y="3287602"/>
            <a:ext cx="1107997" cy="1107997"/>
            <a:chOff x="4751388" y="948615"/>
            <a:chExt cx="1170848" cy="1170848"/>
          </a:xfrm>
        </p:grpSpPr>
        <p:sp>
          <p:nvSpPr>
            <p:cNvPr id="15" name="Google Shape;232;p16">
              <a:extLst>
                <a:ext uri="{FF2B5EF4-FFF2-40B4-BE49-F238E27FC236}">
                  <a16:creationId xmlns:a16="http://schemas.microsoft.com/office/drawing/2014/main" id="{7AD5C0B0-1A9B-413A-90D2-66665ACF6936}"/>
                </a:ext>
              </a:extLst>
            </p:cNvPr>
            <p:cNvSpPr/>
            <p:nvPr/>
          </p:nvSpPr>
          <p:spPr>
            <a:xfrm>
              <a:off x="4751388" y="948615"/>
              <a:ext cx="1170848" cy="1170848"/>
            </a:xfrm>
            <a:prstGeom prst="roundRect">
              <a:avLst>
                <a:gd name="adj" fmla="val 11306"/>
              </a:avLst>
            </a:prstGeom>
            <a:solidFill>
              <a:srgbClr val="00B1C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" name="Google Shape;233;p16">
              <a:extLst>
                <a:ext uri="{FF2B5EF4-FFF2-40B4-BE49-F238E27FC236}">
                  <a16:creationId xmlns:a16="http://schemas.microsoft.com/office/drawing/2014/main" id="{2721B2EE-D1D6-454B-A10C-D3DC8B5DD17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885184" y="1124946"/>
              <a:ext cx="903256" cy="8181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" name="Google Shape;234;p16">
            <a:extLst>
              <a:ext uri="{FF2B5EF4-FFF2-40B4-BE49-F238E27FC236}">
                <a16:creationId xmlns:a16="http://schemas.microsoft.com/office/drawing/2014/main" id="{4D6A41E0-D034-4B5A-BAF5-36B148C8A8FC}"/>
              </a:ext>
            </a:extLst>
          </p:cNvPr>
          <p:cNvSpPr/>
          <p:nvPr/>
        </p:nvSpPr>
        <p:spPr>
          <a:xfrm>
            <a:off x="6123381" y="3388649"/>
            <a:ext cx="204543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>
                <a:solidFill>
                  <a:srgbClr val="00B1C3"/>
                </a:solidFill>
                <a:latin typeface="Calibri"/>
                <a:ea typeface="Calibri"/>
                <a:cs typeface="Calibri"/>
                <a:sym typeface="Calibri"/>
              </a:rPr>
              <a:t>Finanzas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>
                <a:solidFill>
                  <a:srgbClr val="00B1C3"/>
                </a:solidFill>
                <a:latin typeface="Calibri"/>
                <a:ea typeface="Calibri"/>
                <a:cs typeface="Calibri"/>
                <a:sym typeface="Calibri"/>
              </a:rPr>
              <a:t>Detección de fraude, </a:t>
            </a:r>
            <a:r>
              <a:rPr lang="es-419" sz="1600" dirty="0" err="1">
                <a:solidFill>
                  <a:srgbClr val="00B1C3"/>
                </a:solidFill>
                <a:latin typeface="Calibri"/>
                <a:ea typeface="Calibri"/>
                <a:cs typeface="Calibri"/>
                <a:sym typeface="Calibri"/>
              </a:rPr>
              <a:t>scoring</a:t>
            </a:r>
            <a:r>
              <a:rPr lang="es-419" sz="1600" dirty="0">
                <a:solidFill>
                  <a:srgbClr val="00B1C3"/>
                </a:solidFill>
                <a:latin typeface="Calibri"/>
                <a:ea typeface="Calibri"/>
                <a:cs typeface="Calibri"/>
                <a:sym typeface="Calibri"/>
              </a:rPr>
              <a:t> de crédito y trading algorítmico.</a:t>
            </a:r>
            <a:endParaRPr sz="1600" dirty="0">
              <a:solidFill>
                <a:srgbClr val="00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35;p16">
            <a:extLst>
              <a:ext uri="{FF2B5EF4-FFF2-40B4-BE49-F238E27FC236}">
                <a16:creationId xmlns:a16="http://schemas.microsoft.com/office/drawing/2014/main" id="{AA9FCEC0-6B43-4CA8-8BFA-BC9AB0FF50A1}"/>
              </a:ext>
            </a:extLst>
          </p:cNvPr>
          <p:cNvSpPr/>
          <p:nvPr/>
        </p:nvSpPr>
        <p:spPr>
          <a:xfrm>
            <a:off x="1997904" y="3392026"/>
            <a:ext cx="204543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>
                <a:solidFill>
                  <a:srgbClr val="00B1C3"/>
                </a:solidFill>
                <a:latin typeface="Calibri"/>
                <a:ea typeface="Calibri"/>
                <a:cs typeface="Calibri"/>
                <a:sym typeface="Calibri"/>
              </a:rPr>
              <a:t>Salud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>
                <a:solidFill>
                  <a:srgbClr val="00B1C3"/>
                </a:solidFill>
                <a:latin typeface="Calibri"/>
                <a:ea typeface="Calibri"/>
                <a:cs typeface="Calibri"/>
                <a:sym typeface="Calibri"/>
              </a:rPr>
              <a:t>Apoyo en diagnósticos, análisis de imágenes médicas y predicción de riesgos.</a:t>
            </a:r>
            <a:endParaRPr sz="1600" dirty="0">
              <a:solidFill>
                <a:srgbClr val="00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236;p16">
            <a:extLst>
              <a:ext uri="{FF2B5EF4-FFF2-40B4-BE49-F238E27FC236}">
                <a16:creationId xmlns:a16="http://schemas.microsoft.com/office/drawing/2014/main" id="{EB14EDC4-4E07-4E1D-866C-2A04A9004E64}"/>
              </a:ext>
            </a:extLst>
          </p:cNvPr>
          <p:cNvGrpSpPr/>
          <p:nvPr/>
        </p:nvGrpSpPr>
        <p:grpSpPr>
          <a:xfrm>
            <a:off x="684213" y="3287601"/>
            <a:ext cx="1107996" cy="1107996"/>
            <a:chOff x="597294" y="1013797"/>
            <a:chExt cx="982735" cy="982735"/>
          </a:xfrm>
        </p:grpSpPr>
        <p:sp>
          <p:nvSpPr>
            <p:cNvPr id="20" name="Google Shape;237;p16">
              <a:extLst>
                <a:ext uri="{FF2B5EF4-FFF2-40B4-BE49-F238E27FC236}">
                  <a16:creationId xmlns:a16="http://schemas.microsoft.com/office/drawing/2014/main" id="{0A754FCA-3546-4F96-8CD1-85ED3AB68524}"/>
                </a:ext>
              </a:extLst>
            </p:cNvPr>
            <p:cNvSpPr/>
            <p:nvPr/>
          </p:nvSpPr>
          <p:spPr>
            <a:xfrm>
              <a:off x="597294" y="1013797"/>
              <a:ext cx="982735" cy="982735"/>
            </a:xfrm>
            <a:prstGeom prst="roundRect">
              <a:avLst>
                <a:gd name="adj" fmla="val 10564"/>
              </a:avLst>
            </a:prstGeom>
            <a:solidFill>
              <a:srgbClr val="00B1C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38;p16">
              <a:extLst>
                <a:ext uri="{FF2B5EF4-FFF2-40B4-BE49-F238E27FC236}">
                  <a16:creationId xmlns:a16="http://schemas.microsoft.com/office/drawing/2014/main" id="{B6D9B6DD-CF7B-477D-B707-2C998AA9C4B8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21622" y="1145384"/>
              <a:ext cx="719561" cy="7195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15;p15">
            <a:extLst>
              <a:ext uri="{FF2B5EF4-FFF2-40B4-BE49-F238E27FC236}">
                <a16:creationId xmlns:a16="http://schemas.microsoft.com/office/drawing/2014/main" id="{DFF15930-807D-48A9-9FC6-50E29B690E53}"/>
              </a:ext>
            </a:extLst>
          </p:cNvPr>
          <p:cNvSpPr/>
          <p:nvPr/>
        </p:nvSpPr>
        <p:spPr>
          <a:xfrm>
            <a:off x="503237" y="380615"/>
            <a:ext cx="272833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PANORAMA ACTUAL Y APLICACIONES DE LA IA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480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/>
          <p:nvPr/>
        </p:nvSpPr>
        <p:spPr>
          <a:xfrm>
            <a:off x="503238" y="852114"/>
            <a:ext cx="827708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COMUNES DE LA IA 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inteligencia artificial potencia herramientas cotidianas como los asistentes de voz, motores de recomendación en plataformas de </a:t>
            </a:r>
            <a:r>
              <a:rPr lang="es-419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streaming</a:t>
            </a:r>
            <a:r>
              <a:rPr lang="es-419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sistemas de navegación GPS en tiempo real. Sus usos más comunes son los siguientes: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15;p15">
            <a:extLst>
              <a:ext uri="{FF2B5EF4-FFF2-40B4-BE49-F238E27FC236}">
                <a16:creationId xmlns:a16="http://schemas.microsoft.com/office/drawing/2014/main" id="{CDE1EF11-7E09-43A1-8E45-9CFF3A6A0F5A}"/>
              </a:ext>
            </a:extLst>
          </p:cNvPr>
          <p:cNvSpPr/>
          <p:nvPr/>
        </p:nvSpPr>
        <p:spPr>
          <a:xfrm>
            <a:off x="503237" y="380615"/>
            <a:ext cx="272833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PANORAMA ACTUAL Y APLICACIONES DE LA IA</a:t>
            </a:r>
            <a:endParaRPr dirty="0"/>
          </a:p>
        </p:txBody>
      </p:sp>
      <p:sp>
        <p:nvSpPr>
          <p:cNvPr id="17" name="28 Flecha derecha">
            <a:extLst>
              <a:ext uri="{FF2B5EF4-FFF2-40B4-BE49-F238E27FC236}">
                <a16:creationId xmlns:a16="http://schemas.microsoft.com/office/drawing/2014/main" id="{786BA550-4712-4819-BD63-7F7FED454F6F}"/>
              </a:ext>
            </a:extLst>
          </p:cNvPr>
          <p:cNvSpPr/>
          <p:nvPr/>
        </p:nvSpPr>
        <p:spPr>
          <a:xfrm>
            <a:off x="3236572" y="3781293"/>
            <a:ext cx="843086" cy="296706"/>
          </a:xfrm>
          <a:prstGeom prst="rightArrow">
            <a:avLst/>
          </a:prstGeom>
          <a:solidFill>
            <a:srgbClr val="DB4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8" name="Rectángulo redondeado 14">
            <a:extLst>
              <a:ext uri="{FF2B5EF4-FFF2-40B4-BE49-F238E27FC236}">
                <a16:creationId xmlns:a16="http://schemas.microsoft.com/office/drawing/2014/main" id="{404FB297-F837-4182-A0BB-ADF3684FECAE}"/>
              </a:ext>
            </a:extLst>
          </p:cNvPr>
          <p:cNvSpPr/>
          <p:nvPr/>
        </p:nvSpPr>
        <p:spPr>
          <a:xfrm>
            <a:off x="1797992" y="2261667"/>
            <a:ext cx="2518544" cy="2567297"/>
          </a:xfrm>
          <a:prstGeom prst="roundRect">
            <a:avLst>
              <a:gd name="adj" fmla="val 6572"/>
            </a:avLst>
          </a:prstGeom>
          <a:solidFill>
            <a:schemeClr val="bg1"/>
          </a:solidFill>
          <a:ln>
            <a:solidFill>
              <a:srgbClr val="FF77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tlCol="0" anchor="t"/>
          <a:lstStyle/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MX" sz="12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MX" sz="12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Sugieren películas, música o productos basados en preferencias.</a:t>
            </a:r>
            <a:endParaRPr lang="es-PE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192B31C-6017-43EC-A481-739582A804FA}"/>
              </a:ext>
            </a:extLst>
          </p:cNvPr>
          <p:cNvSpPr/>
          <p:nvPr/>
        </p:nvSpPr>
        <p:spPr>
          <a:xfrm>
            <a:off x="1790045" y="4339551"/>
            <a:ext cx="2538511" cy="162841"/>
          </a:xfrm>
          <a:prstGeom prst="rect">
            <a:avLst/>
          </a:prstGeom>
          <a:solidFill>
            <a:srgbClr val="FF77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1" name="28 Flecha derecha">
            <a:extLst>
              <a:ext uri="{FF2B5EF4-FFF2-40B4-BE49-F238E27FC236}">
                <a16:creationId xmlns:a16="http://schemas.microsoft.com/office/drawing/2014/main" id="{B5E2B96D-840A-4131-A07B-5BD8E924800D}"/>
              </a:ext>
            </a:extLst>
          </p:cNvPr>
          <p:cNvSpPr/>
          <p:nvPr/>
        </p:nvSpPr>
        <p:spPr>
          <a:xfrm>
            <a:off x="5983046" y="3781293"/>
            <a:ext cx="843086" cy="296706"/>
          </a:xfrm>
          <a:prstGeom prst="rightArrow">
            <a:avLst/>
          </a:prstGeom>
          <a:solidFill>
            <a:srgbClr val="DB4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22" name="Rectángulo redondeado 55">
            <a:extLst>
              <a:ext uri="{FF2B5EF4-FFF2-40B4-BE49-F238E27FC236}">
                <a16:creationId xmlns:a16="http://schemas.microsoft.com/office/drawing/2014/main" id="{84C5D0CC-6382-4972-B27C-6427ABFFDE7F}"/>
              </a:ext>
            </a:extLst>
          </p:cNvPr>
          <p:cNvSpPr/>
          <p:nvPr/>
        </p:nvSpPr>
        <p:spPr>
          <a:xfrm>
            <a:off x="4544466" y="2261667"/>
            <a:ext cx="2518544" cy="2567297"/>
          </a:xfrm>
          <a:prstGeom prst="roundRect">
            <a:avLst>
              <a:gd name="adj" fmla="val 6397"/>
            </a:avLst>
          </a:prstGeom>
          <a:solidFill>
            <a:schemeClr val="bg1"/>
          </a:solidFill>
          <a:ln>
            <a:solidFill>
              <a:srgbClr val="8EC5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tlCol="0" anchor="t"/>
          <a:lstStyle/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MX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MX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r>
              <a:rPr lang="es-MX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Atienden consultas 24/7 en webs y aplicaciones.</a:t>
            </a:r>
            <a:endParaRPr lang="es-PE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Rectángulo redondeado 56">
            <a:extLst>
              <a:ext uri="{FF2B5EF4-FFF2-40B4-BE49-F238E27FC236}">
                <a16:creationId xmlns:a16="http://schemas.microsoft.com/office/drawing/2014/main" id="{5BED93AA-F6FD-4E9D-A035-8A4D7F0C7E39}"/>
              </a:ext>
            </a:extLst>
          </p:cNvPr>
          <p:cNvSpPr/>
          <p:nvPr/>
        </p:nvSpPr>
        <p:spPr>
          <a:xfrm>
            <a:off x="4541614" y="4374145"/>
            <a:ext cx="2511227" cy="454384"/>
          </a:xfrm>
          <a:prstGeom prst="roundRect">
            <a:avLst>
              <a:gd name="adj" fmla="val 22057"/>
            </a:avLst>
          </a:prstGeom>
          <a:solidFill>
            <a:srgbClr val="8E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PE" sz="16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CHATBOTS INTELIGENTES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B191B7F-1562-451B-B44B-9F6AC184ADE3}"/>
              </a:ext>
            </a:extLst>
          </p:cNvPr>
          <p:cNvSpPr/>
          <p:nvPr/>
        </p:nvSpPr>
        <p:spPr>
          <a:xfrm>
            <a:off x="4536519" y="4339551"/>
            <a:ext cx="2516321" cy="146513"/>
          </a:xfrm>
          <a:prstGeom prst="rect">
            <a:avLst/>
          </a:prstGeom>
          <a:solidFill>
            <a:srgbClr val="8E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9" name="Rectángulo redondeado 15">
            <a:extLst>
              <a:ext uri="{FF2B5EF4-FFF2-40B4-BE49-F238E27FC236}">
                <a16:creationId xmlns:a16="http://schemas.microsoft.com/office/drawing/2014/main" id="{9B9C0E5D-C998-408C-A613-88012DB00B31}"/>
              </a:ext>
            </a:extLst>
          </p:cNvPr>
          <p:cNvSpPr/>
          <p:nvPr/>
        </p:nvSpPr>
        <p:spPr>
          <a:xfrm>
            <a:off x="1790045" y="4374145"/>
            <a:ext cx="2538511" cy="454384"/>
          </a:xfrm>
          <a:prstGeom prst="roundRect">
            <a:avLst>
              <a:gd name="adj" fmla="val 23854"/>
            </a:avLst>
          </a:prstGeom>
          <a:solidFill>
            <a:srgbClr val="FF77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PE" sz="16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SISTEMAS DE RECOMENDACIÓN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272A63-E92A-47B4-9F51-1C34F9EE7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76" y="2057983"/>
            <a:ext cx="2619375" cy="17430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FC8002F-E03B-46F4-9017-6300A3BDD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098" y="2261667"/>
            <a:ext cx="2349279" cy="132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07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/>
          <p:nvPr/>
        </p:nvSpPr>
        <p:spPr>
          <a:xfrm>
            <a:off x="503238" y="852114"/>
            <a:ext cx="82770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COMUNES DE LA IA </a:t>
            </a:r>
            <a:endParaRPr dirty="0"/>
          </a:p>
        </p:txBody>
      </p:sp>
      <p:sp>
        <p:nvSpPr>
          <p:cNvPr id="16" name="Google Shape;215;p15">
            <a:extLst>
              <a:ext uri="{FF2B5EF4-FFF2-40B4-BE49-F238E27FC236}">
                <a16:creationId xmlns:a16="http://schemas.microsoft.com/office/drawing/2014/main" id="{CDE1EF11-7E09-43A1-8E45-9CFF3A6A0F5A}"/>
              </a:ext>
            </a:extLst>
          </p:cNvPr>
          <p:cNvSpPr/>
          <p:nvPr/>
        </p:nvSpPr>
        <p:spPr>
          <a:xfrm>
            <a:off x="503237" y="380615"/>
            <a:ext cx="272833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PANORAMA ACTUAL Y APLICACIONES DE LA IA</a:t>
            </a:r>
            <a:endParaRPr dirty="0"/>
          </a:p>
        </p:txBody>
      </p:sp>
      <p:sp>
        <p:nvSpPr>
          <p:cNvPr id="14" name="28 Flecha derecha">
            <a:extLst>
              <a:ext uri="{FF2B5EF4-FFF2-40B4-BE49-F238E27FC236}">
                <a16:creationId xmlns:a16="http://schemas.microsoft.com/office/drawing/2014/main" id="{DA28CAF7-53BA-4400-9F17-63280CE94A62}"/>
              </a:ext>
            </a:extLst>
          </p:cNvPr>
          <p:cNvSpPr/>
          <p:nvPr/>
        </p:nvSpPr>
        <p:spPr>
          <a:xfrm>
            <a:off x="3210624" y="3093477"/>
            <a:ext cx="843086" cy="296706"/>
          </a:xfrm>
          <a:prstGeom prst="rightArrow">
            <a:avLst/>
          </a:prstGeom>
          <a:solidFill>
            <a:srgbClr val="DB4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5" name="Rectángulo redondeado 49">
            <a:extLst>
              <a:ext uri="{FF2B5EF4-FFF2-40B4-BE49-F238E27FC236}">
                <a16:creationId xmlns:a16="http://schemas.microsoft.com/office/drawing/2014/main" id="{37FB8BFD-3A2A-4402-9EDA-1A64ACDFABA3}"/>
              </a:ext>
            </a:extLst>
          </p:cNvPr>
          <p:cNvSpPr/>
          <p:nvPr/>
        </p:nvSpPr>
        <p:spPr>
          <a:xfrm>
            <a:off x="1772044" y="1573851"/>
            <a:ext cx="2518544" cy="2567297"/>
          </a:xfrm>
          <a:prstGeom prst="roundRect">
            <a:avLst>
              <a:gd name="adj" fmla="val 6397"/>
            </a:avLst>
          </a:prstGeom>
          <a:solidFill>
            <a:schemeClr val="bg1"/>
          </a:solidFill>
          <a:ln>
            <a:solidFill>
              <a:srgbClr val="00B1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tlCol="0" anchor="t"/>
          <a:lstStyle/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r>
              <a:rPr lang="es-PE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Anticipa comportamientos futuros a partir de datos históricos.</a:t>
            </a:r>
          </a:p>
        </p:txBody>
      </p:sp>
      <p:sp>
        <p:nvSpPr>
          <p:cNvPr id="25" name="Rectángulo redondeado 50">
            <a:extLst>
              <a:ext uri="{FF2B5EF4-FFF2-40B4-BE49-F238E27FC236}">
                <a16:creationId xmlns:a16="http://schemas.microsoft.com/office/drawing/2014/main" id="{801C803D-AFFE-422B-AAA4-63370BC9EFA7}"/>
              </a:ext>
            </a:extLst>
          </p:cNvPr>
          <p:cNvSpPr/>
          <p:nvPr/>
        </p:nvSpPr>
        <p:spPr>
          <a:xfrm>
            <a:off x="1764098" y="3686329"/>
            <a:ext cx="2522182" cy="454384"/>
          </a:xfrm>
          <a:prstGeom prst="roundRect">
            <a:avLst>
              <a:gd name="adj" fmla="val 25650"/>
            </a:avLst>
          </a:prstGeom>
          <a:solidFill>
            <a:srgbClr val="00B2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PE" sz="16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ANÁLISIS PREDICTIVO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0BA30EB-D89C-493A-BC59-74E5564ED127}"/>
              </a:ext>
            </a:extLst>
          </p:cNvPr>
          <p:cNvSpPr/>
          <p:nvPr/>
        </p:nvSpPr>
        <p:spPr>
          <a:xfrm>
            <a:off x="1764097" y="3651735"/>
            <a:ext cx="2521027" cy="121339"/>
          </a:xfrm>
          <a:prstGeom prst="rect">
            <a:avLst/>
          </a:prstGeom>
          <a:solidFill>
            <a:srgbClr val="00B2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7" name="28 Flecha derecha">
            <a:extLst>
              <a:ext uri="{FF2B5EF4-FFF2-40B4-BE49-F238E27FC236}">
                <a16:creationId xmlns:a16="http://schemas.microsoft.com/office/drawing/2014/main" id="{8837953D-882B-4FD3-9E96-841354BC535F}"/>
              </a:ext>
            </a:extLst>
          </p:cNvPr>
          <p:cNvSpPr/>
          <p:nvPr/>
        </p:nvSpPr>
        <p:spPr>
          <a:xfrm>
            <a:off x="5951088" y="3093477"/>
            <a:ext cx="843086" cy="296706"/>
          </a:xfrm>
          <a:prstGeom prst="rightArrow">
            <a:avLst/>
          </a:prstGeom>
          <a:solidFill>
            <a:srgbClr val="DB4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28" name="Rectángulo redondeado 61">
            <a:extLst>
              <a:ext uri="{FF2B5EF4-FFF2-40B4-BE49-F238E27FC236}">
                <a16:creationId xmlns:a16="http://schemas.microsoft.com/office/drawing/2014/main" id="{11772C25-417F-4023-86C5-6B0AD7B9137F}"/>
              </a:ext>
            </a:extLst>
          </p:cNvPr>
          <p:cNvSpPr/>
          <p:nvPr/>
        </p:nvSpPr>
        <p:spPr>
          <a:xfrm>
            <a:off x="4512508" y="1573851"/>
            <a:ext cx="2518544" cy="2567297"/>
          </a:xfrm>
          <a:prstGeom prst="roundRect">
            <a:avLst>
              <a:gd name="adj" fmla="val 6746"/>
            </a:avLst>
          </a:prstGeom>
          <a:solidFill>
            <a:schemeClr val="bg1"/>
          </a:solidFill>
          <a:ln>
            <a:solidFill>
              <a:srgbClr val="EE4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tlCol="0" anchor="t"/>
          <a:lstStyle/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sz="1000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endParaRPr lang="es-PE" b="1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r>
              <a:rPr lang="es-PE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Robots de software que realizan tareas repetitivas.​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3608753-01A8-48B5-A277-542765251F5A}"/>
              </a:ext>
            </a:extLst>
          </p:cNvPr>
          <p:cNvSpPr/>
          <p:nvPr/>
        </p:nvSpPr>
        <p:spPr>
          <a:xfrm>
            <a:off x="4504561" y="3651735"/>
            <a:ext cx="2516321" cy="145832"/>
          </a:xfrm>
          <a:prstGeom prst="rect">
            <a:avLst/>
          </a:prstGeom>
          <a:solidFill>
            <a:srgbClr val="EE4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30" name="Rectángulo redondeado 62">
            <a:extLst>
              <a:ext uri="{FF2B5EF4-FFF2-40B4-BE49-F238E27FC236}">
                <a16:creationId xmlns:a16="http://schemas.microsoft.com/office/drawing/2014/main" id="{93D875A4-6374-4401-AC07-7B92CBB02409}"/>
              </a:ext>
            </a:extLst>
          </p:cNvPr>
          <p:cNvSpPr/>
          <p:nvPr/>
        </p:nvSpPr>
        <p:spPr>
          <a:xfrm>
            <a:off x="4504561" y="3686329"/>
            <a:ext cx="2516321" cy="454384"/>
          </a:xfrm>
          <a:prstGeom prst="roundRect">
            <a:avLst>
              <a:gd name="adj" fmla="val 23855"/>
            </a:avLst>
          </a:prstGeom>
          <a:solidFill>
            <a:srgbClr val="EE4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PE" sz="16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AUTOMATIZACIÓN DE PROCESOS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D82ED8B-1FD2-4203-9F82-388484025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621" y="2102143"/>
            <a:ext cx="2009089" cy="51581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2140F9-E468-4A41-8EB9-036E9A694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381" y="2117503"/>
            <a:ext cx="2097793" cy="53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5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4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HERRAMIENTAS Y PLATAFORMAS COMUNES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MX" sz="2400" b="1" dirty="0">
                <a:solidFill>
                  <a:schemeClr val="bg1"/>
                </a:solidFill>
                <a:latin typeface="Graphik Bold" charset="0"/>
              </a:rPr>
              <a:t>EN LA INDUSTRIA (AWS, AZURE,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MX" sz="24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GOOGLE, VERTEX AI)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92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371191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¿POR QUÉ USAR PLATAFORMAS DE IA?</a:t>
            </a:r>
          </a:p>
        </p:txBody>
      </p:sp>
      <p:sp>
        <p:nvSpPr>
          <p:cNvPr id="7" name="Google Shape;215;p15">
            <a:extLst>
              <a:ext uri="{FF2B5EF4-FFF2-40B4-BE49-F238E27FC236}">
                <a16:creationId xmlns:a16="http://schemas.microsoft.com/office/drawing/2014/main" id="{ED8B51FF-BFEF-4C21-8C86-CE07A33B8D1A}"/>
              </a:ext>
            </a:extLst>
          </p:cNvPr>
          <p:cNvSpPr/>
          <p:nvPr/>
        </p:nvSpPr>
        <p:spPr>
          <a:xfrm>
            <a:off x="503237" y="380615"/>
            <a:ext cx="51598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HERRAMIENTAS Y PLATAFORMAS COMUNES EN LA INDUSTRIA (AWS, AZURE, GOOGLE, VERTEX AI)</a:t>
            </a:r>
          </a:p>
        </p:txBody>
      </p:sp>
      <p:grpSp>
        <p:nvGrpSpPr>
          <p:cNvPr id="5" name="Google Shape;273;p19">
            <a:extLst>
              <a:ext uri="{FF2B5EF4-FFF2-40B4-BE49-F238E27FC236}">
                <a16:creationId xmlns:a16="http://schemas.microsoft.com/office/drawing/2014/main" id="{29A1DF9F-003A-48E1-88AD-D27661868AB6}"/>
              </a:ext>
            </a:extLst>
          </p:cNvPr>
          <p:cNvGrpSpPr/>
          <p:nvPr/>
        </p:nvGrpSpPr>
        <p:grpSpPr>
          <a:xfrm>
            <a:off x="446566" y="1559083"/>
            <a:ext cx="4397928" cy="2804926"/>
            <a:chOff x="0" y="0"/>
            <a:chExt cx="4397928" cy="2804926"/>
          </a:xfrm>
        </p:grpSpPr>
        <p:sp>
          <p:nvSpPr>
            <p:cNvPr id="8" name="Google Shape;274;p19">
              <a:extLst>
                <a:ext uri="{FF2B5EF4-FFF2-40B4-BE49-F238E27FC236}">
                  <a16:creationId xmlns:a16="http://schemas.microsoft.com/office/drawing/2014/main" id="{84BF1E99-C299-49BA-9FB8-6707FD95381B}"/>
                </a:ext>
              </a:extLst>
            </p:cNvPr>
            <p:cNvSpPr/>
            <p:nvPr/>
          </p:nvSpPr>
          <p:spPr>
            <a:xfrm>
              <a:off x="0" y="0"/>
              <a:ext cx="4397928" cy="895050"/>
            </a:xfrm>
            <a:prstGeom prst="roundRect">
              <a:avLst>
                <a:gd name="adj" fmla="val 16667"/>
              </a:avLst>
            </a:prstGeom>
            <a:solidFill>
              <a:srgbClr val="EE4535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Google Shape;275;p19">
              <a:extLst>
                <a:ext uri="{FF2B5EF4-FFF2-40B4-BE49-F238E27FC236}">
                  <a16:creationId xmlns:a16="http://schemas.microsoft.com/office/drawing/2014/main" id="{CF1498A2-7345-4FE4-84CB-B120FAAF6687}"/>
                </a:ext>
              </a:extLst>
            </p:cNvPr>
            <p:cNvSpPr txBox="1"/>
            <p:nvPr/>
          </p:nvSpPr>
          <p:spPr>
            <a:xfrm>
              <a:off x="43693" y="43693"/>
              <a:ext cx="4310542" cy="807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s-419" sz="1600" b="1" dirty="0">
                  <a:solidFill>
                    <a:schemeClr val="lt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Facilitan el desarrollo, entrenamiento y despliegue de modelos de machine </a:t>
              </a:r>
              <a:r>
                <a:rPr lang="es-419" sz="1600" b="1" dirty="0" err="1">
                  <a:solidFill>
                    <a:schemeClr val="lt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</a:t>
              </a:r>
              <a:r>
                <a:rPr lang="es-419" sz="1600" b="1" dirty="0">
                  <a:solidFill>
                    <a:schemeClr val="lt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.</a:t>
              </a:r>
              <a:endParaRPr sz="1600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10" name="Google Shape;276;p19">
              <a:extLst>
                <a:ext uri="{FF2B5EF4-FFF2-40B4-BE49-F238E27FC236}">
                  <a16:creationId xmlns:a16="http://schemas.microsoft.com/office/drawing/2014/main" id="{420436A2-048F-4424-920B-793B1C8C400E}"/>
                </a:ext>
              </a:extLst>
            </p:cNvPr>
            <p:cNvSpPr/>
            <p:nvPr/>
          </p:nvSpPr>
          <p:spPr>
            <a:xfrm>
              <a:off x="0" y="965866"/>
              <a:ext cx="4397928" cy="895050"/>
            </a:xfrm>
            <a:prstGeom prst="roundRect">
              <a:avLst>
                <a:gd name="adj" fmla="val 16667"/>
              </a:avLst>
            </a:prstGeom>
            <a:solidFill>
              <a:srgbClr val="92C14D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Google Shape;277;p19">
              <a:extLst>
                <a:ext uri="{FF2B5EF4-FFF2-40B4-BE49-F238E27FC236}">
                  <a16:creationId xmlns:a16="http://schemas.microsoft.com/office/drawing/2014/main" id="{0D425797-3019-44FC-A263-FCF9C5855A81}"/>
                </a:ext>
              </a:extLst>
            </p:cNvPr>
            <p:cNvSpPr txBox="1"/>
            <p:nvPr/>
          </p:nvSpPr>
          <p:spPr>
            <a:xfrm>
              <a:off x="43693" y="1009559"/>
              <a:ext cx="4310542" cy="807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s-419" sz="1600" b="1" dirty="0">
                  <a:solidFill>
                    <a:schemeClr val="lt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Integran servicios preconstruidos (visión, lenguaje, análisis) que aceleran proyectos.</a:t>
              </a:r>
              <a:endParaRPr sz="1600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12" name="Google Shape;278;p19">
              <a:extLst>
                <a:ext uri="{FF2B5EF4-FFF2-40B4-BE49-F238E27FC236}">
                  <a16:creationId xmlns:a16="http://schemas.microsoft.com/office/drawing/2014/main" id="{6B221CE5-FA62-4402-A421-0B34EFD4C8B8}"/>
                </a:ext>
              </a:extLst>
            </p:cNvPr>
            <p:cNvSpPr/>
            <p:nvPr/>
          </p:nvSpPr>
          <p:spPr>
            <a:xfrm>
              <a:off x="0" y="1909876"/>
              <a:ext cx="4397928" cy="89505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279;p19">
              <a:extLst>
                <a:ext uri="{FF2B5EF4-FFF2-40B4-BE49-F238E27FC236}">
                  <a16:creationId xmlns:a16="http://schemas.microsoft.com/office/drawing/2014/main" id="{B892A877-79B5-483F-A94E-75D9BC18AB88}"/>
                </a:ext>
              </a:extLst>
            </p:cNvPr>
            <p:cNvSpPr txBox="1"/>
            <p:nvPr/>
          </p:nvSpPr>
          <p:spPr>
            <a:xfrm>
              <a:off x="43693" y="1953569"/>
              <a:ext cx="4310542" cy="807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s-419" sz="1600" b="1" dirty="0">
                  <a:solidFill>
                    <a:schemeClr val="lt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Se apoyan en la nube para ofrecer escalabilidad y alto rendimiento.</a:t>
              </a:r>
              <a:endParaRPr sz="1600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pic>
        <p:nvPicPr>
          <p:cNvPr id="14" name="Google Shape;271;p19">
            <a:extLst>
              <a:ext uri="{FF2B5EF4-FFF2-40B4-BE49-F238E27FC236}">
                <a16:creationId xmlns:a16="http://schemas.microsoft.com/office/drawing/2014/main" id="{0B0F1FF8-7EE6-4045-9F73-C99EB5C956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5057148" y="1762008"/>
            <a:ext cx="3640286" cy="24209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0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C9E03AB4-26A3-4237-95F9-3B54C3A8E27E}"/>
              </a:ext>
            </a:extLst>
          </p:cNvPr>
          <p:cNvSpPr/>
          <p:nvPr/>
        </p:nvSpPr>
        <p:spPr>
          <a:xfrm>
            <a:off x="503238" y="916472"/>
            <a:ext cx="3497262" cy="3339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AWS Y AMAZON SAGEMAKER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AWS ofrece uno de los ecosistemas de nube más maduros para proyectos de IA y ML.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 err="1">
                <a:latin typeface="Calibri" charset="0"/>
                <a:ea typeface="Calibri" charset="0"/>
                <a:cs typeface="Calibri" charset="0"/>
              </a:rPr>
              <a:t>SageMaker</a:t>
            </a: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 permite desarrollar, entrenar y desplegar modelos de forma gestionada.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Está orientado a proyectos empresariales a gran escala y </a:t>
            </a:r>
            <a:r>
              <a:rPr lang="es-MX" sz="1600" dirty="0" err="1">
                <a:latin typeface="Calibri" charset="0"/>
                <a:ea typeface="Calibri" charset="0"/>
                <a:cs typeface="Calibri" charset="0"/>
              </a:rPr>
              <a:t>MLOps</a:t>
            </a: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 complejos.</a:t>
            </a:r>
          </a:p>
        </p:txBody>
      </p:sp>
      <p:pic>
        <p:nvPicPr>
          <p:cNvPr id="17" name="Google Shape;288;p20" descr="Building secure machine learning environments with Amazon SageMaker |  Artificial Intelligence">
            <a:extLst>
              <a:ext uri="{FF2B5EF4-FFF2-40B4-BE49-F238E27FC236}">
                <a16:creationId xmlns:a16="http://schemas.microsoft.com/office/drawing/2014/main" id="{A9B62389-6117-4ADD-A8E3-21DE16F57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9023" y="2727188"/>
            <a:ext cx="3966090" cy="2616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89;p20" descr="Machine Learning Service - Free Amazon SageMaker AI - AWS">
            <a:extLst>
              <a:ext uri="{FF2B5EF4-FFF2-40B4-BE49-F238E27FC236}">
                <a16:creationId xmlns:a16="http://schemas.microsoft.com/office/drawing/2014/main" id="{F4CB15B8-ABBF-40D9-89CC-D60E829FFD9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4945" y="916472"/>
            <a:ext cx="3885817" cy="181071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5;p15">
            <a:extLst>
              <a:ext uri="{FF2B5EF4-FFF2-40B4-BE49-F238E27FC236}">
                <a16:creationId xmlns:a16="http://schemas.microsoft.com/office/drawing/2014/main" id="{3F0A49D5-3B93-4358-8091-21D4452E6542}"/>
              </a:ext>
            </a:extLst>
          </p:cNvPr>
          <p:cNvSpPr/>
          <p:nvPr/>
        </p:nvSpPr>
        <p:spPr>
          <a:xfrm>
            <a:off x="503237" y="380615"/>
            <a:ext cx="51598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HERRAMIENTAS Y PLATAFORMAS COMUNES EN LA INDUSTRIA (AWS, AZURE, GOOGLE, VERTEX AI)</a:t>
            </a:r>
          </a:p>
        </p:txBody>
      </p:sp>
    </p:spTree>
    <p:extLst>
      <p:ext uri="{BB962C8B-B14F-4D97-AF65-F5344CB8AC3E}">
        <p14:creationId xmlns:p14="http://schemas.microsoft.com/office/powerpoint/2010/main" val="331191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C9E03AB4-26A3-4237-95F9-3B54C3A8E27E}"/>
              </a:ext>
            </a:extLst>
          </p:cNvPr>
          <p:cNvSpPr/>
          <p:nvPr/>
        </p:nvSpPr>
        <p:spPr>
          <a:xfrm>
            <a:off x="503238" y="916472"/>
            <a:ext cx="3497262" cy="3339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+ 02.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MX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MICROSOFT AZURE Y AZURE ML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Plataforma integrada con el ecosistema Microsoft (Office, </a:t>
            </a:r>
            <a:r>
              <a:rPr lang="es-MX" sz="1600" dirty="0" err="1">
                <a:latin typeface="Calibri" charset="0"/>
                <a:ea typeface="Calibri" charset="0"/>
                <a:cs typeface="Calibri" charset="0"/>
              </a:rPr>
              <a:t>Power</a:t>
            </a: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 BI, herramientas empresariales).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Facilita la implementación de soluciones híbridas (nube y centros de datos locales).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Incluye servicios cognitivos para añadir visión, voz y lenguaje sin entrenar modelos desde cero.</a:t>
            </a:r>
          </a:p>
        </p:txBody>
      </p:sp>
      <p:pic>
        <p:nvPicPr>
          <p:cNvPr id="6" name="Google Shape;297;p21">
            <a:extLst>
              <a:ext uri="{FF2B5EF4-FFF2-40B4-BE49-F238E27FC236}">
                <a16:creationId xmlns:a16="http://schemas.microsoft.com/office/drawing/2014/main" id="{80ADDFCF-9842-45A1-A074-A6F3DD6D1B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4098" y="2474685"/>
            <a:ext cx="4426664" cy="1781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98;p21" descr="Formación en Azure Machine Learning">
            <a:extLst>
              <a:ext uri="{FF2B5EF4-FFF2-40B4-BE49-F238E27FC236}">
                <a16:creationId xmlns:a16="http://schemas.microsoft.com/office/drawing/2014/main" id="{AB228951-DE11-44AC-8551-3EE60EBA0E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6969" b="20642"/>
          <a:stretch/>
        </p:blipFill>
        <p:spPr>
          <a:xfrm>
            <a:off x="4273500" y="1225073"/>
            <a:ext cx="4367262" cy="124961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15;p15">
            <a:extLst>
              <a:ext uri="{FF2B5EF4-FFF2-40B4-BE49-F238E27FC236}">
                <a16:creationId xmlns:a16="http://schemas.microsoft.com/office/drawing/2014/main" id="{ED2ECF27-92CC-4DFD-B3ED-91C9C970CFD7}"/>
              </a:ext>
            </a:extLst>
          </p:cNvPr>
          <p:cNvSpPr/>
          <p:nvPr/>
        </p:nvSpPr>
        <p:spPr>
          <a:xfrm>
            <a:off x="503237" y="380615"/>
            <a:ext cx="51598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HERRAMIENTAS Y PLATAFORMAS COMUNES EN LA INDUSTRIA (AWS, AZURE, GOOGLE, VERTEX AI)</a:t>
            </a:r>
          </a:p>
        </p:txBody>
      </p:sp>
    </p:spTree>
    <p:extLst>
      <p:ext uri="{BB962C8B-B14F-4D97-AF65-F5344CB8AC3E}">
        <p14:creationId xmlns:p14="http://schemas.microsoft.com/office/powerpoint/2010/main" val="4084913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C9E03AB4-26A3-4237-95F9-3B54C3A8E27E}"/>
              </a:ext>
            </a:extLst>
          </p:cNvPr>
          <p:cNvSpPr/>
          <p:nvPr/>
        </p:nvSpPr>
        <p:spPr>
          <a:xfrm>
            <a:off x="503238" y="916472"/>
            <a:ext cx="3497262" cy="3339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+ 03.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MX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GOOGLE CLOUD Y VERTEX AI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 err="1">
                <a:latin typeface="Calibri" charset="0"/>
                <a:ea typeface="Calibri" charset="0"/>
                <a:cs typeface="Calibri" charset="0"/>
              </a:rPr>
              <a:t>Vertex</a:t>
            </a: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 AI es la plataforma unificada de Google para construir y escalar modelos de ML.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Destaca en analítica avanzada, </a:t>
            </a:r>
            <a:r>
              <a:rPr lang="es-MX" sz="1600" dirty="0" err="1">
                <a:latin typeface="Calibri" charset="0"/>
                <a:ea typeface="Calibri" charset="0"/>
                <a:cs typeface="Calibri" charset="0"/>
              </a:rPr>
              <a:t>BigQuery</a:t>
            </a: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 y uso de hardware especializado como TPU.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Integra modelos avanzados de IA generativa que pueden personalizarse con datos propios.</a:t>
            </a:r>
          </a:p>
        </p:txBody>
      </p:sp>
      <p:pic>
        <p:nvPicPr>
          <p:cNvPr id="9" name="Google Shape;307;p22" descr="Acerca del acceso a los servicios de Vertex AI a través del acceso privado  a servicios | Google Cloud Documentation">
            <a:extLst>
              <a:ext uri="{FF2B5EF4-FFF2-40B4-BE49-F238E27FC236}">
                <a16:creationId xmlns:a16="http://schemas.microsoft.com/office/drawing/2014/main" id="{BF582220-84D4-4EB0-949B-F27AAC3805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0227" y="2860398"/>
            <a:ext cx="4020535" cy="2151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08;p22" descr="Google I/O: Vertex AI, the new Google Cloud MLOps Platform, announced">
            <a:extLst>
              <a:ext uri="{FF2B5EF4-FFF2-40B4-BE49-F238E27FC236}">
                <a16:creationId xmlns:a16="http://schemas.microsoft.com/office/drawing/2014/main" id="{C0933E08-EBFB-41C1-804A-7F0A4621DDB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0292" y="1157954"/>
            <a:ext cx="3760404" cy="169664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15;p15">
            <a:extLst>
              <a:ext uri="{FF2B5EF4-FFF2-40B4-BE49-F238E27FC236}">
                <a16:creationId xmlns:a16="http://schemas.microsoft.com/office/drawing/2014/main" id="{A0BEB9AF-3087-4D08-AC8B-611A2BBABD86}"/>
              </a:ext>
            </a:extLst>
          </p:cNvPr>
          <p:cNvSpPr/>
          <p:nvPr/>
        </p:nvSpPr>
        <p:spPr>
          <a:xfrm>
            <a:off x="503237" y="380615"/>
            <a:ext cx="51598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HERRAMIENTAS Y PLATAFORMAS COMUNES EN LA INDUSTRIA (AWS, AZURE, GOOGLE, VERTEX AI)</a:t>
            </a:r>
          </a:p>
        </p:txBody>
      </p:sp>
    </p:spTree>
    <p:extLst>
      <p:ext uri="{BB962C8B-B14F-4D97-AF65-F5344CB8AC3E}">
        <p14:creationId xmlns:p14="http://schemas.microsoft.com/office/powerpoint/2010/main" val="411877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5;p15">
            <a:extLst>
              <a:ext uri="{FF2B5EF4-FFF2-40B4-BE49-F238E27FC236}">
                <a16:creationId xmlns:a16="http://schemas.microsoft.com/office/drawing/2014/main" id="{ED8B51FF-BFEF-4C21-8C86-CE07A33B8D1A}"/>
              </a:ext>
            </a:extLst>
          </p:cNvPr>
          <p:cNvSpPr/>
          <p:nvPr/>
        </p:nvSpPr>
        <p:spPr>
          <a:xfrm>
            <a:off x="503237" y="380615"/>
            <a:ext cx="51598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HERRAMIENTAS Y PLATAFORMAS COMUNES EN LA INDUSTRIA (AWS, AZURE, GOOGLE, VERTEX AI)</a:t>
            </a:r>
          </a:p>
        </p:txBody>
      </p:sp>
      <p:pic>
        <p:nvPicPr>
          <p:cNvPr id="15" name="Google Shape;316;p23" descr="Herramientas clave de IA para el éxito profesional - eLearning Actual">
            <a:extLst>
              <a:ext uri="{FF2B5EF4-FFF2-40B4-BE49-F238E27FC236}">
                <a16:creationId xmlns:a16="http://schemas.microsoft.com/office/drawing/2014/main" id="{BA973C41-5825-4A9E-BF6D-A4AD7BEFC3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212" r="20575"/>
          <a:stretch/>
        </p:blipFill>
        <p:spPr>
          <a:xfrm>
            <a:off x="419579" y="519114"/>
            <a:ext cx="4713769" cy="444618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14;p23">
            <a:extLst>
              <a:ext uri="{FF2B5EF4-FFF2-40B4-BE49-F238E27FC236}">
                <a16:creationId xmlns:a16="http://schemas.microsoft.com/office/drawing/2014/main" id="{E74B44DC-EE89-43AB-B310-B3CA92E846F7}"/>
              </a:ext>
            </a:extLst>
          </p:cNvPr>
          <p:cNvSpPr txBox="1"/>
          <p:nvPr/>
        </p:nvSpPr>
        <p:spPr>
          <a:xfrm>
            <a:off x="5365258" y="1602845"/>
            <a:ext cx="3238415" cy="30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TENDENCIAS: IA GENERATIVA</a:t>
            </a:r>
            <a:endParaRPr dirty="0"/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Font typeface="Arial" panose="020B0604020202020204" pitchFamily="34" charset="0"/>
              <a:buChar char="•"/>
            </a:pPr>
            <a:r>
              <a:rPr lang="es-41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IA generativa es una tecnología capaz de crear contenido original como texto, audio o imágenes basándose en patrones de datos previos, lo que facilita tareas clave en sectores como la educación, el diseño y la programación. 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Font typeface="Arial" panose="020B0604020202020204" pitchFamily="34" charset="0"/>
              <a:buChar char="•"/>
            </a:pPr>
            <a:endParaRPr lang="es-41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Font typeface="Arial" panose="020B0604020202020204" pitchFamily="34" charset="0"/>
              <a:buChar char="•"/>
            </a:pPr>
            <a:r>
              <a:rPr lang="es-41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bien esta capacidad impulsa la productividad y la innovación creativa, su avance también exige una gestión crítica frente a importantes dilemas éticos relacionados con la autoría y la veracidad de la información producida.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22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TENDENCIAS EMERGENTES </a:t>
            </a:r>
            <a:br>
              <a:rPr lang="es-PE" sz="28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EN IA (GEN IA)</a:t>
            </a:r>
            <a:endParaRPr lang="es-ES" sz="16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8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339;p26">
            <a:extLst>
              <a:ext uri="{FF2B5EF4-FFF2-40B4-BE49-F238E27FC236}">
                <a16:creationId xmlns:a16="http://schemas.microsoft.com/office/drawing/2014/main" id="{88E92914-0796-4A04-AF1B-1A2B4C795F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5293" y="918372"/>
            <a:ext cx="3774969" cy="403569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 txBox="1"/>
          <p:nvPr/>
        </p:nvSpPr>
        <p:spPr>
          <a:xfrm>
            <a:off x="506796" y="918372"/>
            <a:ext cx="3711913" cy="270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IA Y TRANSFORMACIÓN DIGITAL</a:t>
            </a:r>
          </a:p>
          <a:p>
            <a:pPr lvl="0"/>
            <a:endParaRPr lang="es-MX" sz="16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IA es un habilitador clave de la transformación digital en organizaciones públicas y privadas.</a:t>
            </a: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endParaRPr lang="es-MX"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Permite tomar decisiones más rápidas y basadas en datos para optimizar recursos.</a:t>
            </a: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endParaRPr lang="es-MX"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lvl="0" indent="-180975"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Plantea, al mismo tiempo, retos éticos sobre privacidad, sesgos y transparencia.</a:t>
            </a:r>
          </a:p>
        </p:txBody>
      </p:sp>
      <p:sp>
        <p:nvSpPr>
          <p:cNvPr id="7" name="Google Shape;215;p15">
            <a:extLst>
              <a:ext uri="{FF2B5EF4-FFF2-40B4-BE49-F238E27FC236}">
                <a16:creationId xmlns:a16="http://schemas.microsoft.com/office/drawing/2014/main" id="{ED8B51FF-BFEF-4C21-8C86-CE07A33B8D1A}"/>
              </a:ext>
            </a:extLst>
          </p:cNvPr>
          <p:cNvSpPr/>
          <p:nvPr/>
        </p:nvSpPr>
        <p:spPr>
          <a:xfrm>
            <a:off x="503237" y="380615"/>
            <a:ext cx="272833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pt-BR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TENDENCIAS EMERGENTES EN IA (GEN IA)</a:t>
            </a:r>
          </a:p>
        </p:txBody>
      </p:sp>
    </p:spTree>
    <p:extLst>
      <p:ext uri="{BB962C8B-B14F-4D97-AF65-F5344CB8AC3E}">
        <p14:creationId xmlns:p14="http://schemas.microsoft.com/office/powerpoint/2010/main" val="301795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8283913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IA GENERATIVA DE TEXTO</a:t>
            </a:r>
          </a:p>
          <a:p>
            <a:pPr lvl="0"/>
            <a:endParaRPr lang="es-MX" sz="16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262626"/>
              </a:buClr>
              <a:buSzPts val="1600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Modelos de lenguaje diseñados para razonar, escribir código, resumir o mantener conversaciones fluidas.</a:t>
            </a:r>
          </a:p>
        </p:txBody>
      </p:sp>
      <p:sp>
        <p:nvSpPr>
          <p:cNvPr id="7" name="Google Shape;215;p15">
            <a:extLst>
              <a:ext uri="{FF2B5EF4-FFF2-40B4-BE49-F238E27FC236}">
                <a16:creationId xmlns:a16="http://schemas.microsoft.com/office/drawing/2014/main" id="{ED8B51FF-BFEF-4C21-8C86-CE07A33B8D1A}"/>
              </a:ext>
            </a:extLst>
          </p:cNvPr>
          <p:cNvSpPr/>
          <p:nvPr/>
        </p:nvSpPr>
        <p:spPr>
          <a:xfrm>
            <a:off x="503237" y="380615"/>
            <a:ext cx="272833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pt-BR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TENDENCIAS EMERGENTES EN IA (GEN IA)</a:t>
            </a:r>
          </a:p>
        </p:txBody>
      </p:sp>
      <p:sp>
        <p:nvSpPr>
          <p:cNvPr id="6" name="Rectángulo redondeado 43">
            <a:extLst>
              <a:ext uri="{FF2B5EF4-FFF2-40B4-BE49-F238E27FC236}">
                <a16:creationId xmlns:a16="http://schemas.microsoft.com/office/drawing/2014/main" id="{812F10D9-8037-4155-A769-E7C7FFF377FD}"/>
              </a:ext>
            </a:extLst>
          </p:cNvPr>
          <p:cNvSpPr/>
          <p:nvPr/>
        </p:nvSpPr>
        <p:spPr>
          <a:xfrm>
            <a:off x="5647174" y="2052733"/>
            <a:ext cx="1973019" cy="2743895"/>
          </a:xfrm>
          <a:prstGeom prst="roundRect">
            <a:avLst>
              <a:gd name="adj" fmla="val 74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marL="4763" lvl="0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GROK-3 (</a:t>
            </a:r>
            <a:r>
              <a:rPr lang="es-PE" b="1" dirty="0" err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xAI</a:t>
            </a:r>
            <a:r>
              <a:rPr lang="es-PE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)</a:t>
            </a:r>
          </a:p>
          <a:p>
            <a:pPr marL="4763" lvl="0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</a:pPr>
            <a:r>
              <a:rPr lang="es-MX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Enfocada en la inmediatez y el acceso a información en tiempo real, ofreciendo un tono de respuesta más directo y audaz.</a:t>
            </a:r>
            <a:endParaRPr lang="es-PE" sz="14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61D6363-3C57-4850-A932-162B3DBB73AC}"/>
              </a:ext>
            </a:extLst>
          </p:cNvPr>
          <p:cNvSpPr/>
          <p:nvPr/>
        </p:nvSpPr>
        <p:spPr>
          <a:xfrm>
            <a:off x="5493361" y="3236643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114D106-FDA0-4344-9FC8-B29754439FA9}"/>
              </a:ext>
            </a:extLst>
          </p:cNvPr>
          <p:cNvSpPr/>
          <p:nvPr/>
        </p:nvSpPr>
        <p:spPr>
          <a:xfrm>
            <a:off x="5429596" y="3222769"/>
            <a:ext cx="424906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0" name="Triángulo 46">
            <a:extLst>
              <a:ext uri="{FF2B5EF4-FFF2-40B4-BE49-F238E27FC236}">
                <a16:creationId xmlns:a16="http://schemas.microsoft.com/office/drawing/2014/main" id="{EDFAEBBB-8C06-4AAB-A375-444598ADB0DF}"/>
              </a:ext>
            </a:extLst>
          </p:cNvPr>
          <p:cNvSpPr/>
          <p:nvPr/>
        </p:nvSpPr>
        <p:spPr>
          <a:xfrm rot="5400000">
            <a:off x="5613368" y="3363490"/>
            <a:ext cx="186870" cy="122381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1" name="Rectángulo redondeado 39">
            <a:extLst>
              <a:ext uri="{FF2B5EF4-FFF2-40B4-BE49-F238E27FC236}">
                <a16:creationId xmlns:a16="http://schemas.microsoft.com/office/drawing/2014/main" id="{7FA53E10-D02C-45A9-91A5-F967AC9F679E}"/>
              </a:ext>
            </a:extLst>
          </p:cNvPr>
          <p:cNvSpPr/>
          <p:nvPr/>
        </p:nvSpPr>
        <p:spPr>
          <a:xfrm>
            <a:off x="3585490" y="2052733"/>
            <a:ext cx="1973019" cy="2743895"/>
          </a:xfrm>
          <a:prstGeom prst="roundRect">
            <a:avLst>
              <a:gd name="adj" fmla="val 74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marL="4763" lvl="0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GEMINI (GOOGLE)</a:t>
            </a:r>
          </a:p>
          <a:p>
            <a:pPr marL="4763" lvl="0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</a:pPr>
            <a:r>
              <a:rPr lang="es-MX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Esta IA de Google sobresale por procesar grandes cantidades de datos y su integración total con herramientas de productividad.</a:t>
            </a:r>
            <a:endParaRPr lang="es-PE" sz="14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DF6F346-FA8F-4EDA-A4F2-C3434D9C8F6D}"/>
              </a:ext>
            </a:extLst>
          </p:cNvPr>
          <p:cNvSpPr/>
          <p:nvPr/>
        </p:nvSpPr>
        <p:spPr>
          <a:xfrm>
            <a:off x="3436062" y="3236643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90AC174-80EF-47BA-B291-D99703D5B3D0}"/>
              </a:ext>
            </a:extLst>
          </p:cNvPr>
          <p:cNvSpPr/>
          <p:nvPr/>
        </p:nvSpPr>
        <p:spPr>
          <a:xfrm>
            <a:off x="3372296" y="3222769"/>
            <a:ext cx="424906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4" name="Triángulo 42">
            <a:extLst>
              <a:ext uri="{FF2B5EF4-FFF2-40B4-BE49-F238E27FC236}">
                <a16:creationId xmlns:a16="http://schemas.microsoft.com/office/drawing/2014/main" id="{AB9EF56E-1E29-47D0-A458-DE0898F4E962}"/>
              </a:ext>
            </a:extLst>
          </p:cNvPr>
          <p:cNvSpPr/>
          <p:nvPr/>
        </p:nvSpPr>
        <p:spPr>
          <a:xfrm rot="5400000">
            <a:off x="3556069" y="3363490"/>
            <a:ext cx="186870" cy="122381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5" name="Rectángulo redondeado 35">
            <a:extLst>
              <a:ext uri="{FF2B5EF4-FFF2-40B4-BE49-F238E27FC236}">
                <a16:creationId xmlns:a16="http://schemas.microsoft.com/office/drawing/2014/main" id="{16BA47DF-0425-4132-9BAA-064EF64F3BE4}"/>
              </a:ext>
            </a:extLst>
          </p:cNvPr>
          <p:cNvSpPr/>
          <p:nvPr/>
        </p:nvSpPr>
        <p:spPr>
          <a:xfrm>
            <a:off x="1523807" y="2052733"/>
            <a:ext cx="1973019" cy="2743895"/>
          </a:xfrm>
          <a:prstGeom prst="roundRect">
            <a:avLst>
              <a:gd name="adj" fmla="val 74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marL="4763" lvl="0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CHATGPT (GPT 5.2) </a:t>
            </a:r>
          </a:p>
          <a:p>
            <a:pPr marL="4763" lvl="0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</a:pPr>
            <a:r>
              <a:rPr lang="es-MX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La herramienta más versátil y conocida, excelente para razonamiento lógico complejo, creatividad y asistencia.</a:t>
            </a:r>
            <a:endParaRPr lang="es-PE" sz="14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FDB6003-B3B3-406A-B64A-AF9DE71BC521}"/>
              </a:ext>
            </a:extLst>
          </p:cNvPr>
          <p:cNvSpPr/>
          <p:nvPr/>
        </p:nvSpPr>
        <p:spPr>
          <a:xfrm>
            <a:off x="1364131" y="3236643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FFDEA83-D662-47D0-810C-6E881D23DE4D}"/>
              </a:ext>
            </a:extLst>
          </p:cNvPr>
          <p:cNvSpPr/>
          <p:nvPr/>
        </p:nvSpPr>
        <p:spPr>
          <a:xfrm>
            <a:off x="1300366" y="3222769"/>
            <a:ext cx="424906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8" name="Triángulo 38">
            <a:extLst>
              <a:ext uri="{FF2B5EF4-FFF2-40B4-BE49-F238E27FC236}">
                <a16:creationId xmlns:a16="http://schemas.microsoft.com/office/drawing/2014/main" id="{AB343776-18C9-4753-9E3A-A367A77F5EFD}"/>
              </a:ext>
            </a:extLst>
          </p:cNvPr>
          <p:cNvSpPr/>
          <p:nvPr/>
        </p:nvSpPr>
        <p:spPr>
          <a:xfrm rot="5400000">
            <a:off x="1484139" y="3363490"/>
            <a:ext cx="186870" cy="122381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09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F48EC0DA-48B6-46BF-BA46-AE98EC92B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692" y="2491912"/>
            <a:ext cx="2991483" cy="1121027"/>
          </a:xfrm>
          <a:prstGeom prst="rect">
            <a:avLst/>
          </a:prstGeom>
        </p:spPr>
      </p:pic>
      <p:sp>
        <p:nvSpPr>
          <p:cNvPr id="76" name="Google Shape;76;p5"/>
          <p:cNvSpPr txBox="1"/>
          <p:nvPr/>
        </p:nvSpPr>
        <p:spPr>
          <a:xfrm>
            <a:off x="506796" y="918372"/>
            <a:ext cx="82839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IA GENERATIVA DE IMAGEN</a:t>
            </a:r>
          </a:p>
          <a:p>
            <a:pPr lvl="0"/>
            <a:endParaRPr lang="es-MX" sz="16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262626"/>
              </a:buClr>
              <a:buSzPts val="1600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Estas IA transforman tus palabras en obras de arte, fotografías hiperrealistas o diseños gráficos.</a:t>
            </a:r>
          </a:p>
        </p:txBody>
      </p:sp>
      <p:sp>
        <p:nvSpPr>
          <p:cNvPr id="7" name="Google Shape;215;p15">
            <a:extLst>
              <a:ext uri="{FF2B5EF4-FFF2-40B4-BE49-F238E27FC236}">
                <a16:creationId xmlns:a16="http://schemas.microsoft.com/office/drawing/2014/main" id="{ED8B51FF-BFEF-4C21-8C86-CE07A33B8D1A}"/>
              </a:ext>
            </a:extLst>
          </p:cNvPr>
          <p:cNvSpPr/>
          <p:nvPr/>
        </p:nvSpPr>
        <p:spPr>
          <a:xfrm>
            <a:off x="503237" y="380615"/>
            <a:ext cx="272833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pt-BR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TENDENCIAS EMERGENTES EN IA (GEN IA)</a:t>
            </a:r>
          </a:p>
        </p:txBody>
      </p:sp>
      <p:sp>
        <p:nvSpPr>
          <p:cNvPr id="19" name="Google Shape;76;p5">
            <a:extLst>
              <a:ext uri="{FF2B5EF4-FFF2-40B4-BE49-F238E27FC236}">
                <a16:creationId xmlns:a16="http://schemas.microsoft.com/office/drawing/2014/main" id="{A2E5BF91-DDC5-41A3-BA1D-6A0601161242}"/>
              </a:ext>
            </a:extLst>
          </p:cNvPr>
          <p:cNvSpPr txBox="1"/>
          <p:nvPr/>
        </p:nvSpPr>
        <p:spPr>
          <a:xfrm>
            <a:off x="1081323" y="4333516"/>
            <a:ext cx="13156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MIDJOURNEY</a:t>
            </a:r>
          </a:p>
        </p:txBody>
      </p:sp>
      <p:sp>
        <p:nvSpPr>
          <p:cNvPr id="20" name="Google Shape;76;p5">
            <a:extLst>
              <a:ext uri="{FF2B5EF4-FFF2-40B4-BE49-F238E27FC236}">
                <a16:creationId xmlns:a16="http://schemas.microsoft.com/office/drawing/2014/main" id="{A059EE39-89A9-45E8-AA3F-8B4091375F56}"/>
              </a:ext>
            </a:extLst>
          </p:cNvPr>
          <p:cNvSpPr txBox="1"/>
          <p:nvPr/>
        </p:nvSpPr>
        <p:spPr>
          <a:xfrm>
            <a:off x="3722898" y="4333516"/>
            <a:ext cx="184875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DALL-E 3 (OPENAI)</a:t>
            </a:r>
          </a:p>
        </p:txBody>
      </p:sp>
      <p:sp>
        <p:nvSpPr>
          <p:cNvPr id="21" name="Google Shape;76;p5">
            <a:extLst>
              <a:ext uri="{FF2B5EF4-FFF2-40B4-BE49-F238E27FC236}">
                <a16:creationId xmlns:a16="http://schemas.microsoft.com/office/drawing/2014/main" id="{107D30A4-64BD-49E4-9FD9-2B2EA3A51752}"/>
              </a:ext>
            </a:extLst>
          </p:cNvPr>
          <p:cNvSpPr txBox="1"/>
          <p:nvPr/>
        </p:nvSpPr>
        <p:spPr>
          <a:xfrm>
            <a:off x="6330056" y="4333516"/>
            <a:ext cx="184875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FLUX.1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D8262C-017D-493F-B27B-43D76EA1C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25" y="1963112"/>
            <a:ext cx="2178627" cy="217862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3AA3151-8D3F-4F95-BC5E-DB8F37E96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1572" y="2146968"/>
            <a:ext cx="2527120" cy="181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06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8283913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IA GENERATIVA DE VIDEOS</a:t>
            </a:r>
          </a:p>
          <a:p>
            <a:pPr lvl="0"/>
            <a:endParaRPr lang="es-MX" sz="16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262626"/>
              </a:buClr>
              <a:buSzPts val="1600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Estas herramientas permiten crear clips realistas o estilizados a partir de descripciones de texto o imágenes estáticas.</a:t>
            </a:r>
          </a:p>
        </p:txBody>
      </p:sp>
      <p:sp>
        <p:nvSpPr>
          <p:cNvPr id="7" name="Google Shape;215;p15">
            <a:extLst>
              <a:ext uri="{FF2B5EF4-FFF2-40B4-BE49-F238E27FC236}">
                <a16:creationId xmlns:a16="http://schemas.microsoft.com/office/drawing/2014/main" id="{ED8B51FF-BFEF-4C21-8C86-CE07A33B8D1A}"/>
              </a:ext>
            </a:extLst>
          </p:cNvPr>
          <p:cNvSpPr/>
          <p:nvPr/>
        </p:nvSpPr>
        <p:spPr>
          <a:xfrm>
            <a:off x="503237" y="380615"/>
            <a:ext cx="272833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pt-BR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TENDENCIAS EMERGENTES EN IA (GEN IA)</a:t>
            </a:r>
          </a:p>
        </p:txBody>
      </p:sp>
      <p:sp>
        <p:nvSpPr>
          <p:cNvPr id="10" name="Google Shape;389;p29">
            <a:extLst>
              <a:ext uri="{FF2B5EF4-FFF2-40B4-BE49-F238E27FC236}">
                <a16:creationId xmlns:a16="http://schemas.microsoft.com/office/drawing/2014/main" id="{2EB45D9E-EBF5-4360-9C12-4ACA84F3A6C9}"/>
              </a:ext>
            </a:extLst>
          </p:cNvPr>
          <p:cNvSpPr/>
          <p:nvPr/>
        </p:nvSpPr>
        <p:spPr>
          <a:xfrm>
            <a:off x="793980" y="2083435"/>
            <a:ext cx="4186619" cy="774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Calibri"/>
              <a:buNone/>
            </a:pPr>
            <a:r>
              <a:rPr lang="es-419" sz="1400" b="1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RUNWAY (GEN-3 ALPHA)</a:t>
            </a:r>
            <a:br>
              <a:rPr lang="es-419" sz="1400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Referente en el sector cinematográfico por su gran fidelidad visual y control avanzado sobre el movimiento de cámara.</a:t>
            </a:r>
            <a:endParaRPr dirty="0"/>
          </a:p>
        </p:txBody>
      </p:sp>
      <p:cxnSp>
        <p:nvCxnSpPr>
          <p:cNvPr id="11" name="Google Shape;390;p29">
            <a:extLst>
              <a:ext uri="{FF2B5EF4-FFF2-40B4-BE49-F238E27FC236}">
                <a16:creationId xmlns:a16="http://schemas.microsoft.com/office/drawing/2014/main" id="{3169A8E0-4B69-4D26-A78E-D101C9E6E45D}"/>
              </a:ext>
            </a:extLst>
          </p:cNvPr>
          <p:cNvCxnSpPr/>
          <p:nvPr/>
        </p:nvCxnSpPr>
        <p:spPr>
          <a:xfrm>
            <a:off x="579579" y="2286305"/>
            <a:ext cx="0" cy="839469"/>
          </a:xfrm>
          <a:prstGeom prst="straightConnector1">
            <a:avLst/>
          </a:prstGeom>
          <a:noFill/>
          <a:ln w="127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391;p29">
            <a:extLst>
              <a:ext uri="{FF2B5EF4-FFF2-40B4-BE49-F238E27FC236}">
                <a16:creationId xmlns:a16="http://schemas.microsoft.com/office/drawing/2014/main" id="{610A3D13-9B6F-42A7-AE24-FEB02AB6615C}"/>
              </a:ext>
            </a:extLst>
          </p:cNvPr>
          <p:cNvSpPr/>
          <p:nvPr/>
        </p:nvSpPr>
        <p:spPr>
          <a:xfrm>
            <a:off x="793980" y="3151034"/>
            <a:ext cx="4186619" cy="58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Calibri"/>
              <a:buNone/>
            </a:pPr>
            <a:r>
              <a:rPr lang="es-419" sz="1400" b="1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LUMA DREAM MACHINE </a:t>
            </a:r>
            <a:br>
              <a:rPr lang="es-419" sz="1400" b="1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Destaca por su rapidez para generar escenas de alta calidad que respetan de forma fluida las leyes de la física.</a:t>
            </a:r>
            <a:endParaRPr dirty="0"/>
          </a:p>
        </p:txBody>
      </p:sp>
      <p:sp>
        <p:nvSpPr>
          <p:cNvPr id="13" name="Google Shape;392;p29">
            <a:extLst>
              <a:ext uri="{FF2B5EF4-FFF2-40B4-BE49-F238E27FC236}">
                <a16:creationId xmlns:a16="http://schemas.microsoft.com/office/drawing/2014/main" id="{3C39F578-C516-45AD-8FF6-DFC7FB3EF4B5}"/>
              </a:ext>
            </a:extLst>
          </p:cNvPr>
          <p:cNvSpPr/>
          <p:nvPr/>
        </p:nvSpPr>
        <p:spPr>
          <a:xfrm>
            <a:off x="793980" y="4110147"/>
            <a:ext cx="4186619" cy="774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Calibri"/>
              <a:buNone/>
            </a:pPr>
            <a:r>
              <a:rPr lang="es-419" sz="1400" b="1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KLING AI </a:t>
            </a:r>
            <a:br>
              <a:rPr lang="es-419" sz="1400" b="1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herramienta potente capaz de crear videos con un nivel de realismo y detalle impresionante en los movimientos humanos.</a:t>
            </a:r>
            <a:endParaRPr dirty="0"/>
          </a:p>
        </p:txBody>
      </p:sp>
      <p:sp>
        <p:nvSpPr>
          <p:cNvPr id="14" name="Google Shape;393;p29">
            <a:extLst>
              <a:ext uri="{FF2B5EF4-FFF2-40B4-BE49-F238E27FC236}">
                <a16:creationId xmlns:a16="http://schemas.microsoft.com/office/drawing/2014/main" id="{9B02773C-89D6-424A-8AAF-393750DE9198}"/>
              </a:ext>
            </a:extLst>
          </p:cNvPr>
          <p:cNvSpPr/>
          <p:nvPr/>
        </p:nvSpPr>
        <p:spPr>
          <a:xfrm>
            <a:off x="503237" y="2093207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394;p29">
            <a:extLst>
              <a:ext uri="{FF2B5EF4-FFF2-40B4-BE49-F238E27FC236}">
                <a16:creationId xmlns:a16="http://schemas.microsoft.com/office/drawing/2014/main" id="{6542E4A6-4A88-417F-A8E2-D0CC958EDCC4}"/>
              </a:ext>
            </a:extLst>
          </p:cNvPr>
          <p:cNvCxnSpPr/>
          <p:nvPr/>
        </p:nvCxnSpPr>
        <p:spPr>
          <a:xfrm>
            <a:off x="579579" y="3344671"/>
            <a:ext cx="0" cy="750320"/>
          </a:xfrm>
          <a:prstGeom prst="straightConnector1">
            <a:avLst/>
          </a:prstGeom>
          <a:noFill/>
          <a:ln w="127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395;p29">
            <a:extLst>
              <a:ext uri="{FF2B5EF4-FFF2-40B4-BE49-F238E27FC236}">
                <a16:creationId xmlns:a16="http://schemas.microsoft.com/office/drawing/2014/main" id="{5939D162-68E1-453B-84BD-1268EC9542EA}"/>
              </a:ext>
            </a:extLst>
          </p:cNvPr>
          <p:cNvSpPr/>
          <p:nvPr/>
        </p:nvSpPr>
        <p:spPr>
          <a:xfrm>
            <a:off x="503237" y="3161922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96;p29">
            <a:extLst>
              <a:ext uri="{FF2B5EF4-FFF2-40B4-BE49-F238E27FC236}">
                <a16:creationId xmlns:a16="http://schemas.microsoft.com/office/drawing/2014/main" id="{92F92D73-D3A3-4CBC-BAFC-51D2AED9E10E}"/>
              </a:ext>
            </a:extLst>
          </p:cNvPr>
          <p:cNvSpPr/>
          <p:nvPr/>
        </p:nvSpPr>
        <p:spPr>
          <a:xfrm>
            <a:off x="503237" y="4110147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399;p29">
            <a:extLst>
              <a:ext uri="{FF2B5EF4-FFF2-40B4-BE49-F238E27FC236}">
                <a16:creationId xmlns:a16="http://schemas.microsoft.com/office/drawing/2014/main" id="{CCD092BF-C9DC-41C6-B653-2E13F67E79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742" r="11989"/>
          <a:stretch/>
        </p:blipFill>
        <p:spPr>
          <a:xfrm>
            <a:off x="5337351" y="1903257"/>
            <a:ext cx="3227070" cy="32245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665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endPara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endParaRP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1279545" y="912813"/>
            <a:ext cx="5705454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inteligencia artificial es una disciplina amplia con múltiples ramas y aplicaciones.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Comprender sus fundamentos permite identificar oportunidades reales de uso.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plataformas actuales facilitan el acceso a soluciones IA sin necesidad de infraestructuras complejas.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IA generativa marca una nueva etapa en la adopción masiva de estas tecnologías.</a:t>
            </a:r>
            <a:endParaRPr dirty="0"/>
          </a:p>
        </p:txBody>
      </p:sp>
      <p:pic>
        <p:nvPicPr>
          <p:cNvPr id="429" name="Google Shape;42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954885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1601956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2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32"/>
          <p:cNvPicPr preferRelativeResize="0"/>
          <p:nvPr/>
        </p:nvPicPr>
        <p:blipFill rotWithShape="1">
          <a:blip r:embed="rId4">
            <a:alphaModFix amt="42000"/>
          </a:blip>
          <a:srcRect/>
          <a:stretch/>
        </p:blipFill>
        <p:spPr>
          <a:xfrm>
            <a:off x="6984999" y="3048772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2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pic>
        <p:nvPicPr>
          <p:cNvPr id="434" name="Google Shape;43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2257326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2873118"/>
            <a:ext cx="114138" cy="117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4"/>
          <p:cNvSpPr txBox="1"/>
          <p:nvPr/>
        </p:nvSpPr>
        <p:spPr>
          <a:xfrm>
            <a:off x="1279009" y="917823"/>
            <a:ext cx="5773921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Galiana, L. I., </a:t>
            </a:r>
            <a:r>
              <a:rPr lang="es-419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Gudino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L. C., &amp; González, P. M. (2024). </a:t>
            </a:r>
            <a:r>
              <a:rPr lang="es-419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Ética e inteligencia artificial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Revista Clínica Española, 224(3), 178-186.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López, M. T. (2021). </a:t>
            </a:r>
            <a:r>
              <a:rPr lang="es-419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Tendencias e impacto de la inteligencia artificial en comunicación: </a:t>
            </a:r>
            <a:r>
              <a:rPr lang="es-419" sz="14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cobotización</a:t>
            </a:r>
            <a:r>
              <a:rPr lang="es-419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419" sz="14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gig</a:t>
            </a:r>
            <a:r>
              <a:rPr lang="es-419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sz="14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economy</a:t>
            </a:r>
            <a:r>
              <a:rPr lang="es-419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419" sz="14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co-creación</a:t>
            </a:r>
            <a:r>
              <a:rPr lang="es-419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gobernanza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Fonseca, </a:t>
            </a:r>
            <a:r>
              <a:rPr lang="es-419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Journal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(22).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Vicente, A. T. D., Camperos, M. C., &amp; De La Mata, D. Á. C. (2025). </a:t>
            </a:r>
            <a:r>
              <a:rPr lang="es-419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evolución del procesamiento del lenguaje natural y su influencia en la inteligencia artificial: Una revisión y líneas de investigación futura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s-419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European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&amp; Social </a:t>
            </a:r>
            <a:r>
              <a:rPr lang="es-419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10, 1-23.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Acuña, R. S. A., Montiel, E. P., Silva, E. A. T., &amp; Arenas, D. A. M. (2024). </a:t>
            </a:r>
            <a:r>
              <a:rPr lang="es-419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Procesamiento de lenguaje natural en la Salud Mental: Revisión de alcance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Revista Iberoamericana de Psicología, 17(2), 11-22.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4" y="1620119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4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34"/>
          <p:cNvPicPr preferRelativeResize="0"/>
          <p:nvPr/>
        </p:nvPicPr>
        <p:blipFill rotWithShape="1">
          <a:blip r:embed="rId4">
            <a:alphaModFix amt="42000"/>
          </a:blip>
          <a:srcRect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4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456" name="Google Shape;45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4" y="2480166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063" y="3532789"/>
            <a:ext cx="103867" cy="106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5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1_Diseño predeterminado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2166</Words>
  <Application>Microsoft Office PowerPoint</Application>
  <PresentationFormat>Presentación en pantalla (16:10)</PresentationFormat>
  <Paragraphs>282</Paragraphs>
  <Slides>35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2" baseType="lpstr">
      <vt:lpstr>Arial</vt:lpstr>
      <vt:lpstr>Calibri</vt:lpstr>
      <vt:lpstr>Graphik Bold</vt:lpstr>
      <vt:lpstr>Graphik Regular</vt:lpstr>
      <vt:lpstr>Graphik-Medium</vt:lpstr>
      <vt:lpstr>Wingdings</vt:lpstr>
      <vt:lpstr>1_Diseño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Eddy Marcelo Bejarano Carranza</cp:lastModifiedBy>
  <cp:revision>41</cp:revision>
  <dcterms:created xsi:type="dcterms:W3CDTF">2006-06-01T21:36:00Z</dcterms:created>
  <dcterms:modified xsi:type="dcterms:W3CDTF">2026-02-16T20:22:08Z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F81A883DB9774FB69B2D160EEB34C9D0_13</vt:lpwstr>
  </property>
  <property fmtid="{D5CDD505-2E9C-101B-9397-08002B2CF9AE}" pid="3" name="KSOProductBuildVer">
    <vt:lpwstr>2058-12.2.0.23196</vt:lpwstr>
  </property>
</Properties>
</file>