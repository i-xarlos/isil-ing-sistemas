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783" r:id="rId2"/>
    <p:sldId id="627" r:id="rId3"/>
    <p:sldId id="258" r:id="rId4"/>
    <p:sldId id="763" r:id="rId5"/>
    <p:sldId id="260" r:id="rId6"/>
    <p:sldId id="784" r:id="rId7"/>
    <p:sldId id="785" r:id="rId8"/>
    <p:sldId id="786" r:id="rId9"/>
    <p:sldId id="711" r:id="rId10"/>
    <p:sldId id="787" r:id="rId11"/>
    <p:sldId id="788" r:id="rId12"/>
    <p:sldId id="789" r:id="rId13"/>
    <p:sldId id="261" r:id="rId14"/>
    <p:sldId id="790" r:id="rId15"/>
    <p:sldId id="791" r:id="rId16"/>
    <p:sldId id="792" r:id="rId17"/>
    <p:sldId id="793" r:id="rId18"/>
    <p:sldId id="794" r:id="rId19"/>
    <p:sldId id="795" r:id="rId20"/>
    <p:sldId id="796" r:id="rId21"/>
    <p:sldId id="797" r:id="rId22"/>
    <p:sldId id="798" r:id="rId23"/>
    <p:sldId id="799" r:id="rId24"/>
    <p:sldId id="800" r:id="rId25"/>
    <p:sldId id="801" r:id="rId26"/>
    <p:sldId id="802" r:id="rId27"/>
    <p:sldId id="803" r:id="rId28"/>
    <p:sldId id="804" r:id="rId29"/>
    <p:sldId id="805" r:id="rId30"/>
    <p:sldId id="806" r:id="rId31"/>
    <p:sldId id="807" r:id="rId32"/>
    <p:sldId id="808" r:id="rId33"/>
    <p:sldId id="809" r:id="rId34"/>
    <p:sldId id="588" r:id="rId35"/>
    <p:sldId id="287" r:id="rId36"/>
    <p:sldId id="780" r:id="rId37"/>
    <p:sldId id="289" r:id="rId38"/>
    <p:sldId id="781" r:id="rId39"/>
    <p:sldId id="593" r:id="rId40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6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j5tNFU/XgnW9/e3mEIUXuPN9vU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50A0"/>
    <a:srgbClr val="92C24E"/>
    <a:srgbClr val="FF8D41"/>
    <a:srgbClr val="EE4639"/>
    <a:srgbClr val="FFD966"/>
    <a:srgbClr val="C4E0B2"/>
    <a:srgbClr val="FF7828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099E4D-27D5-4A78-BA8A-4D5D030B51D8}">
  <a:tblStyle styleId="{65099E4D-27D5-4A78-BA8A-4D5D030B51D8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D1E3C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</a:tcBdr>
      </a:tcStyle>
    </a:lastCol>
    <a:firstCol>
      <a:tcTxStyle b="on" i="off"/>
      <a:tcStyle>
        <a:tcBdr>
          <a:right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firstCol>
    <a:lastRow>
      <a:tcTxStyle b="on" i="off"/>
      <a:tcStyle>
        <a:tcBdr>
          <a:top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eCell>
    <a:swCell>
      <a:tcTxStyle/>
      <a:tcStyle>
        <a:tcBdr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swCell>
    <a:firstRow>
      <a:tcTxStyle b="on" i="off"/>
      <a:tcStyle>
        <a:tcBdr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4" autoAdjust="0"/>
    <p:restoredTop sz="92054" autoAdjust="0"/>
  </p:normalViewPr>
  <p:slideViewPr>
    <p:cSldViewPr snapToGrid="0">
      <p:cViewPr varScale="1">
        <p:scale>
          <a:sx n="94" d="100"/>
          <a:sy n="94" d="100"/>
        </p:scale>
        <p:origin x="1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276" y="78"/>
      </p:cViewPr>
      <p:guideLst>
        <p:guide orient="horz" pos="286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34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7718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3003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principios basados en valores + 5 recomendaciones de política.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1759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Fuente de imagen: https://mexico.unir.net/noticias/ingenieria/que-es-g20/</a:t>
            </a:r>
            <a:endParaRPr dirty="0"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2733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5226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Puedes enterarte de más detalles del caso en esta nota periodística: https://www.infobae.com/colombia/2025/11/12/historico-fallo-de-la-corte-suprema-sobre-el-uso-de-la-ia-en-colombia-por-primera-vez-anulo-una-decision-judicial-apoyada-en-citas-falsas/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108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4674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5264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b="0" dirty="0"/>
              <a:t>El año 2023 marcó un hito en la protección de la privacidad mental con la consolidación de los </a:t>
            </a:r>
            <a:r>
              <a:rPr lang="es-MX" b="0" dirty="0" err="1"/>
              <a:t>neuroderechos</a:t>
            </a:r>
            <a:r>
              <a:rPr lang="es-MX" b="0" dirty="0"/>
              <a:t> en la agenda internacional y la regulación de la inteligencia artificial. Durante este periodo, organismos globales y legislaciones de vanguardia (como la Ley de IA de la Unión Europea y avances en países pioneros como Chile) categorizaron formalmente a los </a:t>
            </a:r>
            <a:r>
              <a:rPr lang="es-MX" b="1" dirty="0" err="1"/>
              <a:t>neurodatos</a:t>
            </a:r>
            <a:r>
              <a:rPr lang="es-MX" b="1" dirty="0"/>
              <a:t> </a:t>
            </a:r>
            <a:r>
              <a:rPr lang="es-MX" b="0" dirty="0"/>
              <a:t>como una categoría de datos sensibles protegidos. Esta medida busca evitar que el uso de algoritmos y tecnologías de interfaz cerebro-computadora capturen, manipulen o comercialicen la actividad neuronal de las personas sin un consentimiento expreso y un marco ético riguroso.</a:t>
            </a:r>
            <a:endParaRPr b="0" dirty="0"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0423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2057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dirty="0"/>
              <a:t>La </a:t>
            </a:r>
            <a:r>
              <a:rPr lang="es-MX" b="1" dirty="0"/>
              <a:t>Declaración de la RIPD (2023)</a:t>
            </a:r>
            <a:r>
              <a:rPr lang="es-MX" dirty="0"/>
              <a:t> reconoce a los </a:t>
            </a:r>
            <a:r>
              <a:rPr lang="es-MX" b="1" dirty="0" err="1"/>
              <a:t>neurodatos</a:t>
            </a:r>
            <a:r>
              <a:rPr lang="es-MX" dirty="0"/>
              <a:t> como información altamente sensible y destaca la necesidad de </a:t>
            </a:r>
            <a:r>
              <a:rPr lang="es-MX" b="1" dirty="0"/>
              <a:t>protecciones reforzadas</a:t>
            </a:r>
            <a:r>
              <a:rPr lang="es-MX" dirty="0"/>
              <a:t> frente a su recolección, tratamiento y uso, a fin de salvaguardar la privacidad, la dignidad humana y los derechos fundamentales en el contexto de las tecnologías emergentes y la inteligencia artificial.</a:t>
            </a: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3210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6756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96316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077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8040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b="0" dirty="0"/>
              <a:t>El Índice Latinoamericano de Inteligencia Artificial (ILIA) es una herramienta comparativa que evalúa el nivel de madurez y preparación de los países de América Latina en el desarrollo, adopción y gobernanza de la IA, considerando dimensiones como marco regulatorio, políticas públicas, capacidad institucional, infraestructura digital, talento humano, innovación y adopción sectorial. En su edición 2024, Colombia obtuvo 52,64 puntos, lo que la ubica en la categoría de “adoptante”, reflejando un nivel intermedio-alto de avance: el país ya integra la IA en políticas y estrategias nacionales, con progresos regulatorios e institucionales, aunque aún enfrenta desafíos para consolidar su implementación a gran escala.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MX" b="0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b="0" dirty="0"/>
              <a:t>Categorías: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es-MX" b="0" dirty="0"/>
              <a:t>Líderes: 70-100 puntos: e</a:t>
            </a:r>
            <a:r>
              <a:rPr lang="es-MX" dirty="0"/>
              <a:t>cosistemas de IA consolidados, marcos regulatorios avanzados, alta adopción y fuerte capacidad institucional.</a:t>
            </a:r>
            <a:endParaRPr lang="es-MX" b="0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es-MX" b="0" dirty="0"/>
              <a:t>Adoptantes 40-69 puntos: uso activo de IA con políticas y regulación en desarrollo; retos en implementación y escalabilidad.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  <a:tabLst/>
              <a:defRPr/>
            </a:pPr>
            <a:r>
              <a:rPr lang="es-MX" b="0" dirty="0"/>
              <a:t>Exploradores: 0-39 puntos: etapa inicial de desarrollo de IA, con capacidades, regulación y adopción limitadas.</a:t>
            </a: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83532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2833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5741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96928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88082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7801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8465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46657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89729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85543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17432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19567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_tradnl" b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9175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35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283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>
  <p:cSld name="Título y objeto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7249886" y="5371562"/>
            <a:ext cx="1498548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reservados.</a:t>
            </a:r>
            <a:endParaRPr dirty="0"/>
          </a:p>
        </p:txBody>
      </p:sp>
      <p:sp>
        <p:nvSpPr>
          <p:cNvPr id="11" name="Google Shape;11;p36"/>
          <p:cNvSpPr txBox="1"/>
          <p:nvPr/>
        </p:nvSpPr>
        <p:spPr>
          <a:xfrm>
            <a:off x="876300" y="5343295"/>
            <a:ext cx="31825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DISEÑO DE SOLUCIONES CON INTELIGENCIA ARTIFICIAL </a:t>
            </a:r>
            <a:r>
              <a:rPr lang="es-419" sz="8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• TEMA 03</a:t>
            </a:r>
            <a:endParaRPr sz="800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6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alnet.unirioja.es/servlet/articulo?codigo=8479007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8543/ed.3108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MX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DISEÑO DE SOLUCIONES CON INTELIGENCIA ARTIFICIAL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056852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dirty="0">
                <a:latin typeface="Graphik-Medium" charset="0"/>
                <a:ea typeface="Graphik-Medium" charset="0"/>
                <a:cs typeface="Graphik-Medium" charset="0"/>
              </a:rPr>
              <a:t> </a:t>
            </a:r>
            <a:r>
              <a:rPr lang="es-PE" sz="3200" b="1" dirty="0">
                <a:latin typeface="Graphik Bold" charset="0"/>
                <a:ea typeface="Graphik Bold" charset="0"/>
                <a:cs typeface="Graphik Bold" charset="0"/>
              </a:rPr>
              <a:t>USO DE IA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871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Ética y transparencia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Data sensible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Marcos de referencia</a:t>
            </a:r>
          </a:p>
          <a:p>
            <a:pPr marL="177800" indent="-177800">
              <a:lnSpc>
                <a:spcPct val="120000"/>
              </a:lnSpc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Impactos sociales y riesgos en IA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TEMA 03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9E92208-B8A1-424C-82BA-B93D1303F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087" y="0"/>
            <a:ext cx="539591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3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282298" y="918372"/>
            <a:ext cx="5521727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adopción de la inteligencia artificial conlleva grandes beneficios, pero también importantes responsabilidades. 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decisiones tomadas por sistemas IA pueden afectar directamente a personas, organizaciones y a la sociedad. 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ese sentido, la ética y la transparencia son pilares fundamentales en el diseño de soluciones basadas en datos.</a:t>
            </a:r>
          </a:p>
          <a:p>
            <a:pPr marL="12700"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esta sesión, analizaremos los principales desafíos éticos y sociales asociados al uso de la IA.</a:t>
            </a:r>
          </a:p>
        </p:txBody>
      </p:sp>
      <p:pic>
        <p:nvPicPr>
          <p:cNvPr id="56" name="Google Shape;5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839" y="954885"/>
            <a:ext cx="117851" cy="121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1" y="1602352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249819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500" y="2880070"/>
            <a:ext cx="117851" cy="12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ÉTICA Y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TRANSPARENCIA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3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659209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ÉTICA Y TRANSPARENCIA EN IA</a:t>
            </a:r>
          </a:p>
          <a:p>
            <a:pPr lvl="0"/>
            <a:endParaRPr lang="es-MX" sz="16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262626"/>
              </a:buClr>
              <a:buSzPts val="1600"/>
            </a:pPr>
            <a:r>
              <a:rPr lang="es-MX" sz="16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ética aplicada a IA se enfoca en lo siguiente: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ÉTICA Y TRANSPARENCIA </a:t>
            </a:r>
          </a:p>
        </p:txBody>
      </p:sp>
      <p:pic>
        <p:nvPicPr>
          <p:cNvPr id="8" name="Google Shape;137;p5">
            <a:extLst>
              <a:ext uri="{FF2B5EF4-FFF2-40B4-BE49-F238E27FC236}">
                <a16:creationId xmlns:a16="http://schemas.microsoft.com/office/drawing/2014/main" id="{1BE166C1-6FCE-41BD-BC6E-897189CA409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6294" t="5967" r="6320" b="5967"/>
          <a:stretch/>
        </p:blipFill>
        <p:spPr>
          <a:xfrm>
            <a:off x="4984955" y="2138907"/>
            <a:ext cx="3655173" cy="23298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08;p7">
            <a:extLst>
              <a:ext uri="{FF2B5EF4-FFF2-40B4-BE49-F238E27FC236}">
                <a16:creationId xmlns:a16="http://schemas.microsoft.com/office/drawing/2014/main" id="{210C4A14-AF54-443B-B4B8-4DC945320555}"/>
              </a:ext>
            </a:extLst>
          </p:cNvPr>
          <p:cNvSpPr/>
          <p:nvPr/>
        </p:nvSpPr>
        <p:spPr>
          <a:xfrm>
            <a:off x="503237" y="1871872"/>
            <a:ext cx="4068763" cy="655074"/>
          </a:xfrm>
          <a:prstGeom prst="roundRect">
            <a:avLst>
              <a:gd name="adj" fmla="val 16667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lvl="0">
              <a:buClr>
                <a:srgbClr val="00B2C4"/>
              </a:buClr>
              <a:buSzPts val="1325"/>
            </a:pPr>
            <a:r>
              <a:rPr lang="es-419" b="1" dirty="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Desarrollo responsable de sistemas de IA.</a:t>
            </a:r>
          </a:p>
        </p:txBody>
      </p:sp>
      <p:sp>
        <p:nvSpPr>
          <p:cNvPr id="10" name="Google Shape;210;p7">
            <a:extLst>
              <a:ext uri="{FF2B5EF4-FFF2-40B4-BE49-F238E27FC236}">
                <a16:creationId xmlns:a16="http://schemas.microsoft.com/office/drawing/2014/main" id="{9CE3AA4F-2C7D-496A-ACF9-E49306651E3D}"/>
              </a:ext>
            </a:extLst>
          </p:cNvPr>
          <p:cNvSpPr/>
          <p:nvPr/>
        </p:nvSpPr>
        <p:spPr>
          <a:xfrm rot="-5400000">
            <a:off x="538602" y="1837139"/>
            <a:ext cx="655076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B2C4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7087E600-136F-4D84-818C-0E01881B1826}"/>
              </a:ext>
            </a:extLst>
          </p:cNvPr>
          <p:cNvSpPr/>
          <p:nvPr/>
        </p:nvSpPr>
        <p:spPr>
          <a:xfrm>
            <a:off x="640469" y="1993682"/>
            <a:ext cx="451341" cy="411447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3" name="Google Shape;208;p7">
            <a:extLst>
              <a:ext uri="{FF2B5EF4-FFF2-40B4-BE49-F238E27FC236}">
                <a16:creationId xmlns:a16="http://schemas.microsoft.com/office/drawing/2014/main" id="{B73AA781-03DB-43A6-9FB8-7074785F0AE9}"/>
              </a:ext>
            </a:extLst>
          </p:cNvPr>
          <p:cNvSpPr/>
          <p:nvPr/>
        </p:nvSpPr>
        <p:spPr>
          <a:xfrm>
            <a:off x="503237" y="2648758"/>
            <a:ext cx="4068763" cy="655074"/>
          </a:xfrm>
          <a:prstGeom prst="roundRect">
            <a:avLst>
              <a:gd name="adj" fmla="val 16667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lvl="0">
              <a:buClr>
                <a:srgbClr val="00B2C4"/>
              </a:buClr>
              <a:buSzPts val="1325"/>
            </a:pPr>
            <a:r>
              <a:rPr lang="es-MX" b="1" dirty="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Protección de derechos fundamentales y autonomía humana.</a:t>
            </a:r>
          </a:p>
        </p:txBody>
      </p:sp>
      <p:sp>
        <p:nvSpPr>
          <p:cNvPr id="14" name="Google Shape;210;p7">
            <a:extLst>
              <a:ext uri="{FF2B5EF4-FFF2-40B4-BE49-F238E27FC236}">
                <a16:creationId xmlns:a16="http://schemas.microsoft.com/office/drawing/2014/main" id="{0D70F500-BC8E-44E3-9310-47C4919F0492}"/>
              </a:ext>
            </a:extLst>
          </p:cNvPr>
          <p:cNvSpPr/>
          <p:nvPr/>
        </p:nvSpPr>
        <p:spPr>
          <a:xfrm rot="-5400000">
            <a:off x="538602" y="2614025"/>
            <a:ext cx="655076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B2C4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F23DFECB-73B8-4E34-94E9-59CD338FBB88}"/>
              </a:ext>
            </a:extLst>
          </p:cNvPr>
          <p:cNvSpPr/>
          <p:nvPr/>
        </p:nvSpPr>
        <p:spPr>
          <a:xfrm>
            <a:off x="640469" y="2770568"/>
            <a:ext cx="451341" cy="411447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6" name="Google Shape;208;p7">
            <a:extLst>
              <a:ext uri="{FF2B5EF4-FFF2-40B4-BE49-F238E27FC236}">
                <a16:creationId xmlns:a16="http://schemas.microsoft.com/office/drawing/2014/main" id="{C1D039DA-6FB3-490B-BDBA-73BD506BB9DB}"/>
              </a:ext>
            </a:extLst>
          </p:cNvPr>
          <p:cNvSpPr/>
          <p:nvPr/>
        </p:nvSpPr>
        <p:spPr>
          <a:xfrm>
            <a:off x="503237" y="3425642"/>
            <a:ext cx="4068763" cy="655074"/>
          </a:xfrm>
          <a:prstGeom prst="roundRect">
            <a:avLst>
              <a:gd name="adj" fmla="val 16667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lvl="0">
              <a:buClr>
                <a:srgbClr val="00B2C4"/>
              </a:buClr>
              <a:buSzPts val="1325"/>
            </a:pPr>
            <a:r>
              <a:rPr lang="es-MX" b="1" dirty="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Transparencia en algoritmos y decisiones automatizadas.</a:t>
            </a:r>
          </a:p>
        </p:txBody>
      </p:sp>
      <p:sp>
        <p:nvSpPr>
          <p:cNvPr id="17" name="Google Shape;210;p7">
            <a:extLst>
              <a:ext uri="{FF2B5EF4-FFF2-40B4-BE49-F238E27FC236}">
                <a16:creationId xmlns:a16="http://schemas.microsoft.com/office/drawing/2014/main" id="{636F13C5-602E-46D4-9F50-767F528C9001}"/>
              </a:ext>
            </a:extLst>
          </p:cNvPr>
          <p:cNvSpPr/>
          <p:nvPr/>
        </p:nvSpPr>
        <p:spPr>
          <a:xfrm rot="-5400000">
            <a:off x="538602" y="3390909"/>
            <a:ext cx="655076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B2C4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9DD8C166-8550-4FF0-8EF2-7E127E6F2F12}"/>
              </a:ext>
            </a:extLst>
          </p:cNvPr>
          <p:cNvSpPr/>
          <p:nvPr/>
        </p:nvSpPr>
        <p:spPr>
          <a:xfrm>
            <a:off x="640469" y="3547452"/>
            <a:ext cx="451341" cy="411447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9" name="Google Shape;208;p7">
            <a:extLst>
              <a:ext uri="{FF2B5EF4-FFF2-40B4-BE49-F238E27FC236}">
                <a16:creationId xmlns:a16="http://schemas.microsoft.com/office/drawing/2014/main" id="{00E949F1-4574-42BB-98C5-FB64D52760DC}"/>
              </a:ext>
            </a:extLst>
          </p:cNvPr>
          <p:cNvSpPr/>
          <p:nvPr/>
        </p:nvSpPr>
        <p:spPr>
          <a:xfrm>
            <a:off x="503237" y="4202528"/>
            <a:ext cx="4068763" cy="655074"/>
          </a:xfrm>
          <a:prstGeom prst="roundRect">
            <a:avLst>
              <a:gd name="adj" fmla="val 16667"/>
            </a:avLst>
          </a:prstGeom>
          <a:solidFill>
            <a:srgbClr val="D1EFF4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lvl="0">
              <a:buClr>
                <a:srgbClr val="00B2C4"/>
              </a:buClr>
              <a:buSzPts val="1325"/>
            </a:pPr>
            <a:r>
              <a:rPr lang="es-MX" b="1" dirty="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Equidad y no discriminación en la implementación.</a:t>
            </a:r>
          </a:p>
        </p:txBody>
      </p:sp>
      <p:sp>
        <p:nvSpPr>
          <p:cNvPr id="20" name="Google Shape;210;p7">
            <a:extLst>
              <a:ext uri="{FF2B5EF4-FFF2-40B4-BE49-F238E27FC236}">
                <a16:creationId xmlns:a16="http://schemas.microsoft.com/office/drawing/2014/main" id="{3B79DE79-F360-4A6C-A219-A2CEC197E811}"/>
              </a:ext>
            </a:extLst>
          </p:cNvPr>
          <p:cNvSpPr/>
          <p:nvPr/>
        </p:nvSpPr>
        <p:spPr>
          <a:xfrm rot="-5400000">
            <a:off x="538602" y="4167795"/>
            <a:ext cx="655076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B2C4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0D131A66-31F8-4E42-9BF6-B5939ED5B69A}"/>
              </a:ext>
            </a:extLst>
          </p:cNvPr>
          <p:cNvSpPr/>
          <p:nvPr/>
        </p:nvSpPr>
        <p:spPr>
          <a:xfrm>
            <a:off x="640469" y="4324338"/>
            <a:ext cx="451341" cy="411447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65920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MARCOS ÉTICOS GLOBALES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ÉTICA Y TRANSPARENCIA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80763E0-9DB8-4E9C-A9C2-304B7A9965F7}"/>
              </a:ext>
            </a:extLst>
          </p:cNvPr>
          <p:cNvSpPr/>
          <p:nvPr/>
        </p:nvSpPr>
        <p:spPr>
          <a:xfrm>
            <a:off x="503236" y="1240937"/>
            <a:ext cx="4068764" cy="4078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dirty="0">
                <a:solidFill>
                  <a:srgbClr val="EE4639"/>
                </a:solidFill>
                <a:latin typeface="Calibri" charset="0"/>
                <a:cs typeface="Calibri" charset="0"/>
              </a:rPr>
              <a:t>UNESCO – RECOMENDACIÓN SOBRE LA ÉTICA DE </a:t>
            </a: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LA IA (2021)</a:t>
            </a: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: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Es el primer marco ético global sobre inteligencia artificial adoptado por 193 Estados, con un enfoque normativo centrado en la dignidad humana, los derechos fundamentales y el desarrollo sostenible. 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Asimismo, busca guiar a los países en el diseño, uso y regulación de la IA al promover la equidad, la no discriminación, la transparencia, la rendición de cuentas y la protección de datos, considerando además las brechas entre países desarrollados y en desarrollo.</a:t>
            </a:r>
            <a:endParaRPr lang="es-PE" sz="16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F05729-0258-467C-A709-8BDB246DE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471" y="1240937"/>
            <a:ext cx="2775952" cy="373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3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65920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MARCOS ÉTICOS GLOBALES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ÉTICA Y TRANSPARENCIA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80763E0-9DB8-4E9C-A9C2-304B7A9965F7}"/>
              </a:ext>
            </a:extLst>
          </p:cNvPr>
          <p:cNvSpPr/>
          <p:nvPr/>
        </p:nvSpPr>
        <p:spPr>
          <a:xfrm>
            <a:off x="503235" y="1240937"/>
            <a:ext cx="4167087" cy="38318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dirty="0">
                <a:solidFill>
                  <a:srgbClr val="EE4639"/>
                </a:solidFill>
                <a:latin typeface="Calibri" charset="0"/>
                <a:cs typeface="Calibri" charset="0"/>
              </a:rPr>
              <a:t>OCDE – PRINCIPIOS SOBRE INTELIGENCIA </a:t>
            </a: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ARTIFICIAL (2019):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Este marco establece principios y recomendaciones de política para promover una IA innovadora, confiable y responsable, compatible con los valores democráticos y el bienestar social. 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Combina criterios éticos (transparencia, responsabilidad, seguridad) con lineamientos prácticos de política pública, orientando a los Estados a regular la IA bajo un enfoque basado en riesgos y a fomentar la cooperación internacional y el desarrollo de capacidades.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44E7C4-E829-4011-9CB5-80A6FE5FD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1" y="2573805"/>
            <a:ext cx="3592390" cy="116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4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06796" y="918372"/>
            <a:ext cx="65920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sz="16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MARCOS ÉTICOS GLOBALES</a:t>
            </a:r>
          </a:p>
        </p:txBody>
      </p:sp>
      <p:sp>
        <p:nvSpPr>
          <p:cNvPr id="77" name="Google Shape;77;p5"/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ÉTICA Y TRANSPARENCIA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80763E0-9DB8-4E9C-A9C2-304B7A9965F7}"/>
              </a:ext>
            </a:extLst>
          </p:cNvPr>
          <p:cNvSpPr/>
          <p:nvPr/>
        </p:nvSpPr>
        <p:spPr>
          <a:xfrm>
            <a:off x="503235" y="1240937"/>
            <a:ext cx="4167087" cy="38318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MX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G20 – PRINCIPIOS ÉTICOS DE LA IA (2019):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Los principios del G20 representan un consenso político entre las principales economías del mundo para impulsar una gobernanza de la IA centrada en el ser humano. </a:t>
            </a: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endParaRPr lang="es-MX" sz="1600" dirty="0">
              <a:latin typeface="Calibri" charset="0"/>
              <a:ea typeface="Calibri" charset="0"/>
              <a:cs typeface="Calibri" charset="0"/>
            </a:endParaRPr>
          </a:p>
          <a:p>
            <a:pPr marL="296863" lvl="0" indent="-285750">
              <a:buClr>
                <a:srgbClr val="EE4639"/>
              </a:buClr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Enfatizan que la IA debe apoyar el crecimiento económico, la innovación y el bienestar social para, de esta manera, garantizar el respeto a los derechos humanos, la seguridad, la transparencia y la responsabilidad, con el objetivo de fortalecer la confianza pública en estas tecnologías.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88EFBFC-86F0-4749-AB5B-365562FA5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46" y="2224005"/>
            <a:ext cx="3880019" cy="21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93980" y="1567835"/>
            <a:ext cx="4186619" cy="8510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ES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INTERPRETABILIDAD DE MODELOS</a:t>
            </a:r>
            <a:br>
              <a:rPr lang="es-ES" sz="1400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s-MX" dirty="0">
                <a:latin typeface="Calibri" charset="0"/>
                <a:ea typeface="Calibri" charset="0"/>
                <a:cs typeface="Calibri" charset="0"/>
              </a:rPr>
              <a:t>Capacidad de entender cómo un sistema de IA toma decisiones.</a:t>
            </a:r>
          </a:p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endParaRPr lang="es-ES" sz="1400" dirty="0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2" name="Conector recto 11"/>
          <p:cNvCxnSpPr>
            <a:cxnSpLocks/>
          </p:cNvCxnSpPr>
          <p:nvPr/>
        </p:nvCxnSpPr>
        <p:spPr>
          <a:xfrm>
            <a:off x="579579" y="1770705"/>
            <a:ext cx="0" cy="503986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/>
          <p:cNvSpPr/>
          <p:nvPr/>
        </p:nvSpPr>
        <p:spPr>
          <a:xfrm>
            <a:off x="793980" y="2313056"/>
            <a:ext cx="4186619" cy="581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77900">
              <a:lnSpc>
                <a:spcPct val="90000"/>
              </a:lnSpc>
            </a:pPr>
            <a:r>
              <a:rPr lang="es-ES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RENDICIÓN DE CUENTAS</a:t>
            </a:r>
            <a:br>
              <a:rPr lang="es-ES" sz="14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s-MX" dirty="0">
                <a:latin typeface="Calibri" charset="0"/>
                <a:ea typeface="Calibri" charset="0"/>
                <a:cs typeface="Calibri" charset="0"/>
              </a:rPr>
              <a:t>Los desarrolladores deben documentar y justificar decisiones algorítmicas</a:t>
            </a:r>
          </a:p>
        </p:txBody>
      </p:sp>
      <p:sp>
        <p:nvSpPr>
          <p:cNvPr id="22" name="Rectángulo 21"/>
          <p:cNvSpPr/>
          <p:nvPr/>
        </p:nvSpPr>
        <p:spPr>
          <a:xfrm>
            <a:off x="793980" y="3125693"/>
            <a:ext cx="4186619" cy="581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ES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DIVULGACIÓN DE RIESGOS</a:t>
            </a:r>
            <a:br>
              <a:rPr lang="es-ES" sz="14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s-MX" dirty="0">
                <a:latin typeface="Calibri" charset="0"/>
                <a:ea typeface="Calibri" charset="0"/>
                <a:cs typeface="Calibri" charset="0"/>
              </a:rPr>
              <a:t>Informar a usuarios sobre limitaciones y sesgos potenciales</a:t>
            </a:r>
            <a:r>
              <a:rPr lang="es-PE" dirty="0">
                <a:latin typeface="Calibri" charset="0"/>
                <a:ea typeface="Calibri" charset="0"/>
                <a:cs typeface="Calibri" charset="0"/>
              </a:rPr>
              <a:t>.</a:t>
            </a:r>
            <a:endParaRPr lang="es-MX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TRANSPARENCIA Y EXPLICABILIDAD</a:t>
            </a:r>
          </a:p>
        </p:txBody>
      </p:sp>
      <p:sp>
        <p:nvSpPr>
          <p:cNvPr id="5" name="Más 4"/>
          <p:cNvSpPr/>
          <p:nvPr/>
        </p:nvSpPr>
        <p:spPr>
          <a:xfrm>
            <a:off x="503237" y="157760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34" name="Conector recto 33"/>
          <p:cNvCxnSpPr>
            <a:cxnSpLocks/>
          </p:cNvCxnSpPr>
          <p:nvPr/>
        </p:nvCxnSpPr>
        <p:spPr>
          <a:xfrm>
            <a:off x="574037" y="2538222"/>
            <a:ext cx="0" cy="529883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ás 36"/>
          <p:cNvSpPr/>
          <p:nvPr/>
        </p:nvSpPr>
        <p:spPr>
          <a:xfrm>
            <a:off x="503237" y="2322856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38" name="Más 37"/>
          <p:cNvSpPr/>
          <p:nvPr/>
        </p:nvSpPr>
        <p:spPr>
          <a:xfrm>
            <a:off x="503237" y="3125693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0" name="Google Shape;77;p5">
            <a:extLst>
              <a:ext uri="{FF2B5EF4-FFF2-40B4-BE49-F238E27FC236}">
                <a16:creationId xmlns:a16="http://schemas.microsoft.com/office/drawing/2014/main" id="{370DFE85-C973-4A16-B264-E1AD9EFF1EE1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ÉTICA Y TRANSPARENCIA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34FB3DB-73B2-4756-B46F-E925DAFB8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196" y="920364"/>
            <a:ext cx="2779314" cy="397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99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7972169" cy="1631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TRANSPARENCIA Y EXPLICABILIDAD: SENTENCIA T-323 DE 2024</a:t>
            </a:r>
          </a:p>
          <a:p>
            <a:pPr marL="285750" lvl="0" indent="-285750" defTabSz="711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Este fallo constituye un hito jurídico porque fija por primera vez lineamientos claros sobre el uso de IA en la administración de justicia, a partir de un caso en Colombia sobre el derecho a la salud de un menor, en el cual </a:t>
            </a:r>
            <a:r>
              <a:rPr lang="es-MX" sz="16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un juez utilizó </a:t>
            </a:r>
            <a:r>
              <a:rPr lang="es-MX" sz="1600" b="1" dirty="0" err="1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ChatGPT</a:t>
            </a:r>
            <a:r>
              <a:rPr lang="es-MX" sz="16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 como herramienta de apoyo en su decisión. </a:t>
            </a:r>
          </a:p>
          <a:p>
            <a:pPr marL="285750" lvl="0" indent="-285750" defTabSz="711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La sentencia T-323 de 2024 de Colombia reconoce lo siguiente:</a:t>
            </a:r>
          </a:p>
        </p:txBody>
      </p:sp>
      <p:sp>
        <p:nvSpPr>
          <p:cNvPr id="20" name="Google Shape;77;p5">
            <a:extLst>
              <a:ext uri="{FF2B5EF4-FFF2-40B4-BE49-F238E27FC236}">
                <a16:creationId xmlns:a16="http://schemas.microsoft.com/office/drawing/2014/main" id="{370DFE85-C973-4A16-B264-E1AD9EFF1EE1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ÉTICA Y TRANSPARENCIA 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AE06E9A-D36E-4DBD-9FB9-3960C6BE714E}"/>
              </a:ext>
            </a:extLst>
          </p:cNvPr>
          <p:cNvSpPr/>
          <p:nvPr/>
        </p:nvSpPr>
        <p:spPr>
          <a:xfrm>
            <a:off x="1185879" y="2947977"/>
            <a:ext cx="403505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El uso de inteligencia artificial en la justicia es viable, siempre que exista supervisión humana obligatoria. </a:t>
            </a:r>
            <a:endParaRPr lang="es-PE" sz="1400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311A4D5-F1CE-492B-A5D9-796D4C0A1983}"/>
              </a:ext>
            </a:extLst>
          </p:cNvPr>
          <p:cNvSpPr/>
          <p:nvPr/>
        </p:nvSpPr>
        <p:spPr>
          <a:xfrm>
            <a:off x="411403" y="2879928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3A68250-F49F-41DB-8C0E-D7C702D8DED4}"/>
              </a:ext>
            </a:extLst>
          </p:cNvPr>
          <p:cNvCxnSpPr>
            <a:cxnSpLocks/>
            <a:endCxn id="54" idx="4"/>
          </p:cNvCxnSpPr>
          <p:nvPr/>
        </p:nvCxnSpPr>
        <p:spPr>
          <a:xfrm>
            <a:off x="967428" y="3005844"/>
            <a:ext cx="0" cy="1656802"/>
          </a:xfrm>
          <a:prstGeom prst="line">
            <a:avLst/>
          </a:prstGeom>
          <a:ln>
            <a:solidFill>
              <a:srgbClr val="01B1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7202F04D-2BE9-4533-BCB1-53DAA4BD2841}"/>
              </a:ext>
            </a:extLst>
          </p:cNvPr>
          <p:cNvSpPr/>
          <p:nvPr/>
        </p:nvSpPr>
        <p:spPr>
          <a:xfrm>
            <a:off x="411403" y="3649579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s-PE" sz="24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60C66F5-71AC-491F-9301-591891AD6916}"/>
              </a:ext>
            </a:extLst>
          </p:cNvPr>
          <p:cNvSpPr/>
          <p:nvPr/>
        </p:nvSpPr>
        <p:spPr>
          <a:xfrm>
            <a:off x="411403" y="4431643"/>
            <a:ext cx="40081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ES" sz="2400" b="1" dirty="0">
                <a:solidFill>
                  <a:srgbClr val="01B1C3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s-PE" sz="2800" b="1" dirty="0">
              <a:solidFill>
                <a:srgbClr val="01B1C3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447CA2C-8148-4572-8062-505D8AA81443}"/>
              </a:ext>
            </a:extLst>
          </p:cNvPr>
          <p:cNvSpPr/>
          <p:nvPr/>
        </p:nvSpPr>
        <p:spPr>
          <a:xfrm>
            <a:off x="1185879" y="3709673"/>
            <a:ext cx="365158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ES" dirty="0">
                <a:latin typeface="Calibri" charset="0"/>
                <a:ea typeface="Calibri" charset="0"/>
                <a:cs typeface="Calibri" charset="0"/>
              </a:rPr>
              <a:t>Las decisiones finales no deben ser adoptadas de forma autónoma por sistemas de IA. </a:t>
            </a:r>
            <a:endParaRPr lang="es-PE" sz="1400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CD1C6F1-2FD6-4F77-A9F7-E6D20D5B7B04}"/>
              </a:ext>
            </a:extLst>
          </p:cNvPr>
          <p:cNvSpPr/>
          <p:nvPr/>
        </p:nvSpPr>
        <p:spPr>
          <a:xfrm>
            <a:off x="1185879" y="4482593"/>
            <a:ext cx="3922834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es-MX" dirty="0">
                <a:latin typeface="Calibri" charset="0"/>
                <a:ea typeface="Calibri" charset="0"/>
                <a:cs typeface="Calibri" charset="0"/>
              </a:rPr>
              <a:t>La intervención humana es insustituible para garantizar el debido proceso y la protección de los derechos fundamentales.</a:t>
            </a:r>
            <a:endParaRPr lang="es-PE" sz="1400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43" name="Agrupar 29">
            <a:extLst>
              <a:ext uri="{FF2B5EF4-FFF2-40B4-BE49-F238E27FC236}">
                <a16:creationId xmlns:a16="http://schemas.microsoft.com/office/drawing/2014/main" id="{7C9EE1B4-0272-4028-84D0-9540DAD65CE9}"/>
              </a:ext>
            </a:extLst>
          </p:cNvPr>
          <p:cNvGrpSpPr/>
          <p:nvPr/>
        </p:nvGrpSpPr>
        <p:grpSpPr>
          <a:xfrm>
            <a:off x="897032" y="2983967"/>
            <a:ext cx="140792" cy="140258"/>
            <a:chOff x="3427964" y="2244682"/>
            <a:chExt cx="225891" cy="225034"/>
          </a:xfrm>
        </p:grpSpPr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AA536F81-5CE9-43AE-8FDF-618E72BE7F41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A22BA493-8425-4B84-808C-4C78E202DBED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0" name="Agrupar 29">
            <a:extLst>
              <a:ext uri="{FF2B5EF4-FFF2-40B4-BE49-F238E27FC236}">
                <a16:creationId xmlns:a16="http://schemas.microsoft.com/office/drawing/2014/main" id="{47B4754A-408B-4632-A56B-64A579B84315}"/>
              </a:ext>
            </a:extLst>
          </p:cNvPr>
          <p:cNvGrpSpPr/>
          <p:nvPr/>
        </p:nvGrpSpPr>
        <p:grpSpPr>
          <a:xfrm>
            <a:off x="897032" y="3751389"/>
            <a:ext cx="140792" cy="140258"/>
            <a:chOff x="3427964" y="2244682"/>
            <a:chExt cx="225891" cy="225034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4C639473-A424-49B5-931E-775FBA06172E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CB66C015-76D9-4B35-9A49-D4C646CD7E39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53" name="Agrupar 29">
            <a:extLst>
              <a:ext uri="{FF2B5EF4-FFF2-40B4-BE49-F238E27FC236}">
                <a16:creationId xmlns:a16="http://schemas.microsoft.com/office/drawing/2014/main" id="{A2D48E9D-1EEE-4DB4-936F-0DD582E91844}"/>
              </a:ext>
            </a:extLst>
          </p:cNvPr>
          <p:cNvGrpSpPr/>
          <p:nvPr/>
        </p:nvGrpSpPr>
        <p:grpSpPr>
          <a:xfrm>
            <a:off x="897032" y="4522388"/>
            <a:ext cx="140792" cy="140258"/>
            <a:chOff x="3427964" y="2244682"/>
            <a:chExt cx="225891" cy="225034"/>
          </a:xfrm>
        </p:grpSpPr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376D41A0-FA8B-47F0-B2A2-818EB2CEC0D8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1B1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C382E4E4-4DCE-4897-8A14-D0AD31279259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pic>
        <p:nvPicPr>
          <p:cNvPr id="62" name="Google Shape;209;p8">
            <a:extLst>
              <a:ext uri="{FF2B5EF4-FFF2-40B4-BE49-F238E27FC236}">
                <a16:creationId xmlns:a16="http://schemas.microsoft.com/office/drawing/2014/main" id="{A299F708-529B-4D4D-9907-EE1645D6EF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8226" y="2733550"/>
            <a:ext cx="2518742" cy="2316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445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6311449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TENSIONES ÉTICAS Y PRIVACIDAD</a:t>
            </a:r>
          </a:p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Dilemas entre utilidad y ética:</a:t>
            </a:r>
          </a:p>
        </p:txBody>
      </p:sp>
      <p:sp>
        <p:nvSpPr>
          <p:cNvPr id="20" name="Google Shape;77;p5">
            <a:extLst>
              <a:ext uri="{FF2B5EF4-FFF2-40B4-BE49-F238E27FC236}">
                <a16:creationId xmlns:a16="http://schemas.microsoft.com/office/drawing/2014/main" id="{370DFE85-C973-4A16-B264-E1AD9EFF1EE1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ÉTICA Y TRANSPARENCIA </a:t>
            </a:r>
          </a:p>
        </p:txBody>
      </p:sp>
      <p:sp>
        <p:nvSpPr>
          <p:cNvPr id="13" name="Google Shape;217;p9">
            <a:extLst>
              <a:ext uri="{FF2B5EF4-FFF2-40B4-BE49-F238E27FC236}">
                <a16:creationId xmlns:a16="http://schemas.microsoft.com/office/drawing/2014/main" id="{328D67B5-8934-4A45-A2E1-B17AB16227AA}"/>
              </a:ext>
            </a:extLst>
          </p:cNvPr>
          <p:cNvSpPr/>
          <p:nvPr/>
        </p:nvSpPr>
        <p:spPr>
          <a:xfrm>
            <a:off x="503237" y="1891001"/>
            <a:ext cx="3764768" cy="70232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" marR="0" lvl="0" indent="6572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s-419" sz="1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Privacidad vs. Análisis de datos</a:t>
            </a:r>
            <a:endParaRPr sz="15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18;p9">
            <a:extLst>
              <a:ext uri="{FF2B5EF4-FFF2-40B4-BE49-F238E27FC236}">
                <a16:creationId xmlns:a16="http://schemas.microsoft.com/office/drawing/2014/main" id="{FD1061D2-06AE-421F-AC17-BBFA77786553}"/>
              </a:ext>
            </a:extLst>
          </p:cNvPr>
          <p:cNvSpPr/>
          <p:nvPr/>
        </p:nvSpPr>
        <p:spPr>
          <a:xfrm>
            <a:off x="554563" y="1901546"/>
            <a:ext cx="643765" cy="668390"/>
          </a:xfrm>
          <a:prstGeom prst="ellipse">
            <a:avLst/>
          </a:prstGeom>
          <a:solidFill>
            <a:srgbClr val="1E4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19;p9">
            <a:extLst>
              <a:ext uri="{FF2B5EF4-FFF2-40B4-BE49-F238E27FC236}">
                <a16:creationId xmlns:a16="http://schemas.microsoft.com/office/drawing/2014/main" id="{EACE81F8-F1A8-4BF0-93A2-CE91C26E7EE2}"/>
              </a:ext>
            </a:extLst>
          </p:cNvPr>
          <p:cNvSpPr/>
          <p:nvPr/>
        </p:nvSpPr>
        <p:spPr>
          <a:xfrm>
            <a:off x="503236" y="1903702"/>
            <a:ext cx="643765" cy="66839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2E75B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20;p9">
            <a:extLst>
              <a:ext uri="{FF2B5EF4-FFF2-40B4-BE49-F238E27FC236}">
                <a16:creationId xmlns:a16="http://schemas.microsoft.com/office/drawing/2014/main" id="{0D3784C9-AF4C-4F6D-B152-5290B4D93D35}"/>
              </a:ext>
            </a:extLst>
          </p:cNvPr>
          <p:cNvSpPr/>
          <p:nvPr/>
        </p:nvSpPr>
        <p:spPr>
          <a:xfrm>
            <a:off x="503237" y="2773375"/>
            <a:ext cx="3764768" cy="706836"/>
          </a:xfrm>
          <a:prstGeom prst="roundRect">
            <a:avLst>
              <a:gd name="adj" fmla="val 50000"/>
            </a:avLst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6865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s-419" sz="1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Innovación vs. Regulación</a:t>
            </a:r>
            <a:endParaRPr sz="15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21;p9">
            <a:extLst>
              <a:ext uri="{FF2B5EF4-FFF2-40B4-BE49-F238E27FC236}">
                <a16:creationId xmlns:a16="http://schemas.microsoft.com/office/drawing/2014/main" id="{79641ABE-43BD-4949-86D6-B9AFD4FF9478}"/>
              </a:ext>
            </a:extLst>
          </p:cNvPr>
          <p:cNvSpPr/>
          <p:nvPr/>
        </p:nvSpPr>
        <p:spPr>
          <a:xfrm>
            <a:off x="503236" y="3660259"/>
            <a:ext cx="3764768" cy="704816"/>
          </a:xfrm>
          <a:prstGeom prst="roundRect">
            <a:avLst>
              <a:gd name="adj" fmla="val 50000"/>
            </a:avLst>
          </a:prstGeom>
          <a:solidFill>
            <a:srgbClr val="714F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6865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s-419" sz="15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Eficiencia de máquinas vs. Autonomía humana</a:t>
            </a:r>
            <a:endParaRPr sz="15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22;p9">
            <a:extLst>
              <a:ext uri="{FF2B5EF4-FFF2-40B4-BE49-F238E27FC236}">
                <a16:creationId xmlns:a16="http://schemas.microsoft.com/office/drawing/2014/main" id="{D9F57928-5FA9-4EA0-82BA-393BC8240B20}"/>
              </a:ext>
            </a:extLst>
          </p:cNvPr>
          <p:cNvSpPr/>
          <p:nvPr/>
        </p:nvSpPr>
        <p:spPr>
          <a:xfrm>
            <a:off x="551376" y="3672990"/>
            <a:ext cx="643765" cy="668390"/>
          </a:xfrm>
          <a:prstGeom prst="ellipse">
            <a:avLst/>
          </a:prstGeom>
          <a:solidFill>
            <a:srgbClr val="5139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23;p9">
            <a:extLst>
              <a:ext uri="{FF2B5EF4-FFF2-40B4-BE49-F238E27FC236}">
                <a16:creationId xmlns:a16="http://schemas.microsoft.com/office/drawing/2014/main" id="{8B8C8C82-63F4-434E-92A9-2F8515233A91}"/>
              </a:ext>
            </a:extLst>
          </p:cNvPr>
          <p:cNvSpPr/>
          <p:nvPr/>
        </p:nvSpPr>
        <p:spPr>
          <a:xfrm>
            <a:off x="500050" y="3672990"/>
            <a:ext cx="643765" cy="66839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714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24;p9">
            <a:extLst>
              <a:ext uri="{FF2B5EF4-FFF2-40B4-BE49-F238E27FC236}">
                <a16:creationId xmlns:a16="http://schemas.microsoft.com/office/drawing/2014/main" id="{9D748C22-432F-4ACF-96C6-D9E02B875DCE}"/>
              </a:ext>
            </a:extLst>
          </p:cNvPr>
          <p:cNvSpPr/>
          <p:nvPr/>
        </p:nvSpPr>
        <p:spPr>
          <a:xfrm>
            <a:off x="554562" y="2786074"/>
            <a:ext cx="643765" cy="6683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25;p9">
            <a:extLst>
              <a:ext uri="{FF2B5EF4-FFF2-40B4-BE49-F238E27FC236}">
                <a16:creationId xmlns:a16="http://schemas.microsoft.com/office/drawing/2014/main" id="{95A3754A-951D-4260-B6A8-9197AC20FB1B}"/>
              </a:ext>
            </a:extLst>
          </p:cNvPr>
          <p:cNvSpPr/>
          <p:nvPr/>
        </p:nvSpPr>
        <p:spPr>
          <a:xfrm>
            <a:off x="503236" y="2786074"/>
            <a:ext cx="643765" cy="66839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26;p9">
            <a:extLst>
              <a:ext uri="{FF2B5EF4-FFF2-40B4-BE49-F238E27FC236}">
                <a16:creationId xmlns:a16="http://schemas.microsoft.com/office/drawing/2014/main" id="{F25E6CFC-A807-4BD1-BA86-554E6C3759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171" y="3796507"/>
            <a:ext cx="398219" cy="43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29;p9">
            <a:extLst>
              <a:ext uri="{FF2B5EF4-FFF2-40B4-BE49-F238E27FC236}">
                <a16:creationId xmlns:a16="http://schemas.microsoft.com/office/drawing/2014/main" id="{323C6093-6498-42AE-B6B9-786F1EC1C1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0012" t="9372" r="17837" b="12127"/>
          <a:stretch/>
        </p:blipFill>
        <p:spPr>
          <a:xfrm>
            <a:off x="625961" y="1994506"/>
            <a:ext cx="398145" cy="45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30;p9" descr="ChatGPT Image 1 ene 2026, 13_27_08">
            <a:extLst>
              <a:ext uri="{FF2B5EF4-FFF2-40B4-BE49-F238E27FC236}">
                <a16:creationId xmlns:a16="http://schemas.microsoft.com/office/drawing/2014/main" id="{C61BDBAB-D5D4-4413-941C-6E6346550B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9397" t="25891" r="11557" b="29677"/>
          <a:stretch/>
        </p:blipFill>
        <p:spPr>
          <a:xfrm>
            <a:off x="625961" y="2923511"/>
            <a:ext cx="398145" cy="40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31;p9">
            <a:extLst>
              <a:ext uri="{FF2B5EF4-FFF2-40B4-BE49-F238E27FC236}">
                <a16:creationId xmlns:a16="http://schemas.microsoft.com/office/drawing/2014/main" id="{5AF2DF19-5289-4CB2-8EE2-1F6327C7E4E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>
            <a:alphaModFix/>
          </a:blip>
          <a:srcRect b="28051"/>
          <a:stretch/>
        </p:blipFill>
        <p:spPr>
          <a:xfrm>
            <a:off x="5209858" y="1581029"/>
            <a:ext cx="3430905" cy="307848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28;p9">
            <a:extLst>
              <a:ext uri="{FF2B5EF4-FFF2-40B4-BE49-F238E27FC236}">
                <a16:creationId xmlns:a16="http://schemas.microsoft.com/office/drawing/2014/main" id="{578B3112-1AAF-49E6-8078-EF0EFD413257}"/>
              </a:ext>
            </a:extLst>
          </p:cNvPr>
          <p:cNvSpPr txBox="1"/>
          <p:nvPr/>
        </p:nvSpPr>
        <p:spPr>
          <a:xfrm>
            <a:off x="500050" y="4852256"/>
            <a:ext cx="55233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ética </a:t>
            </a: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estática, sino dinámica y adaptable.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673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DATA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SENSIBLE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40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/>
        </p:nvSpPr>
        <p:spPr>
          <a:xfrm>
            <a:off x="506796" y="918372"/>
            <a:ext cx="482228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" lvl="0"/>
            <a:r>
              <a:rPr lang="es-MX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LA DATA SENSIBLE EN IA?</a:t>
            </a:r>
          </a:p>
        </p:txBody>
      </p:sp>
      <p:sp>
        <p:nvSpPr>
          <p:cNvPr id="6" name="Google Shape;77;p5">
            <a:extLst>
              <a:ext uri="{FF2B5EF4-FFF2-40B4-BE49-F238E27FC236}">
                <a16:creationId xmlns:a16="http://schemas.microsoft.com/office/drawing/2014/main" id="{A4907B53-A6FE-4447-9B51-38C567FDDA9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DATA SENSIBLE</a:t>
            </a:r>
          </a:p>
        </p:txBody>
      </p:sp>
      <p:sp>
        <p:nvSpPr>
          <p:cNvPr id="19" name="Google Shape;247;p11">
            <a:extLst>
              <a:ext uri="{FF2B5EF4-FFF2-40B4-BE49-F238E27FC236}">
                <a16:creationId xmlns:a16="http://schemas.microsoft.com/office/drawing/2014/main" id="{1EC3CC9A-0B97-4E30-8E83-DBEB794165F5}"/>
              </a:ext>
            </a:extLst>
          </p:cNvPr>
          <p:cNvSpPr txBox="1"/>
          <p:nvPr/>
        </p:nvSpPr>
        <p:spPr>
          <a:xfrm>
            <a:off x="282391" y="3607784"/>
            <a:ext cx="1490345" cy="899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Datos personales que revelan origen étnico, opiniones políticas, creencias religiosas.</a:t>
            </a:r>
            <a:endParaRPr sz="1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48;p11">
            <a:extLst>
              <a:ext uri="{FF2B5EF4-FFF2-40B4-BE49-F238E27FC236}">
                <a16:creationId xmlns:a16="http://schemas.microsoft.com/office/drawing/2014/main" id="{167BE00A-0400-493F-A610-0ABEA7894290}"/>
              </a:ext>
            </a:extLst>
          </p:cNvPr>
          <p:cNvSpPr/>
          <p:nvPr/>
        </p:nvSpPr>
        <p:spPr>
          <a:xfrm>
            <a:off x="4148180" y="2827170"/>
            <a:ext cx="637481" cy="637481"/>
          </a:xfrm>
          <a:prstGeom prst="ellipse">
            <a:avLst/>
          </a:prstGeom>
          <a:solidFill>
            <a:srgbClr val="FFFFFF">
              <a:alpha val="84313"/>
            </a:srgbClr>
          </a:solidFill>
          <a:ln>
            <a:noFill/>
          </a:ln>
          <a:effectLst>
            <a:outerShdw blurRad="63500" dist="38100" dir="2700000" algn="tl" rotWithShape="0">
              <a:srgbClr val="1F3864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 b="1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49;p11">
            <a:extLst>
              <a:ext uri="{FF2B5EF4-FFF2-40B4-BE49-F238E27FC236}">
                <a16:creationId xmlns:a16="http://schemas.microsoft.com/office/drawing/2014/main" id="{2204DD56-1FBB-4202-87C3-7D4918267D05}"/>
              </a:ext>
            </a:extLst>
          </p:cNvPr>
          <p:cNvSpPr/>
          <p:nvPr/>
        </p:nvSpPr>
        <p:spPr>
          <a:xfrm>
            <a:off x="653966" y="2827329"/>
            <a:ext cx="637481" cy="637481"/>
          </a:xfrm>
          <a:prstGeom prst="ellipse">
            <a:avLst/>
          </a:prstGeom>
          <a:solidFill>
            <a:srgbClr val="FFFFFF">
              <a:alpha val="84313"/>
            </a:srgbClr>
          </a:solidFill>
          <a:ln>
            <a:noFill/>
          </a:ln>
          <a:effectLst>
            <a:outerShdw blurRad="63500" dist="38100" dir="2700000" algn="tl" rotWithShape="0">
              <a:srgbClr val="1F3864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1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 b="1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50;p11">
            <a:extLst>
              <a:ext uri="{FF2B5EF4-FFF2-40B4-BE49-F238E27FC236}">
                <a16:creationId xmlns:a16="http://schemas.microsoft.com/office/drawing/2014/main" id="{25D77EBC-D6C8-4054-96FF-87F5C156E752}"/>
              </a:ext>
            </a:extLst>
          </p:cNvPr>
          <p:cNvSpPr/>
          <p:nvPr/>
        </p:nvSpPr>
        <p:spPr>
          <a:xfrm>
            <a:off x="7484278" y="2827170"/>
            <a:ext cx="637481" cy="637481"/>
          </a:xfrm>
          <a:prstGeom prst="ellipse">
            <a:avLst/>
          </a:prstGeom>
          <a:solidFill>
            <a:srgbClr val="FFFFFF">
              <a:alpha val="84313"/>
            </a:srgbClr>
          </a:solidFill>
          <a:ln>
            <a:noFill/>
          </a:ln>
          <a:effectLst>
            <a:outerShdw blurRad="63500" dist="38100" dir="2700000" algn="tl" rotWithShape="0">
              <a:srgbClr val="1F3864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800" b="1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51;p11">
            <a:extLst>
              <a:ext uri="{FF2B5EF4-FFF2-40B4-BE49-F238E27FC236}">
                <a16:creationId xmlns:a16="http://schemas.microsoft.com/office/drawing/2014/main" id="{4A94554E-307E-4498-874A-7D3153FCEB81}"/>
              </a:ext>
            </a:extLst>
          </p:cNvPr>
          <p:cNvSpPr/>
          <p:nvPr/>
        </p:nvSpPr>
        <p:spPr>
          <a:xfrm>
            <a:off x="2402121" y="2827329"/>
            <a:ext cx="637481" cy="637481"/>
          </a:xfrm>
          <a:prstGeom prst="ellipse">
            <a:avLst/>
          </a:prstGeom>
          <a:solidFill>
            <a:srgbClr val="FFFFFF">
              <a:alpha val="84313"/>
            </a:srgbClr>
          </a:solidFill>
          <a:ln>
            <a:noFill/>
          </a:ln>
          <a:effectLst>
            <a:outerShdw blurRad="63500" dist="38100" dir="2700000" algn="tl" rotWithShape="0">
              <a:srgbClr val="1F3864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 b="1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52;p11">
            <a:extLst>
              <a:ext uri="{FF2B5EF4-FFF2-40B4-BE49-F238E27FC236}">
                <a16:creationId xmlns:a16="http://schemas.microsoft.com/office/drawing/2014/main" id="{E1069A3D-4A09-4DFC-AA56-AF937806E488}"/>
              </a:ext>
            </a:extLst>
          </p:cNvPr>
          <p:cNvSpPr/>
          <p:nvPr/>
        </p:nvSpPr>
        <p:spPr>
          <a:xfrm>
            <a:off x="5895256" y="2827329"/>
            <a:ext cx="637481" cy="637481"/>
          </a:xfrm>
          <a:prstGeom prst="ellipse">
            <a:avLst/>
          </a:prstGeom>
          <a:solidFill>
            <a:srgbClr val="FFFFFF">
              <a:alpha val="84313"/>
            </a:srgbClr>
          </a:solidFill>
          <a:ln>
            <a:noFill/>
          </a:ln>
          <a:effectLst>
            <a:outerShdw blurRad="63500" dist="38100" dir="2700000" algn="tl" rotWithShape="0">
              <a:srgbClr val="1F3864">
                <a:alpha val="20000"/>
              </a:srgbClr>
            </a:outerShdw>
          </a:effectLst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1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800" b="1" i="0" u="none" strike="noStrik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3;p11">
            <a:extLst>
              <a:ext uri="{FF2B5EF4-FFF2-40B4-BE49-F238E27FC236}">
                <a16:creationId xmlns:a16="http://schemas.microsoft.com/office/drawing/2014/main" id="{33CF84FC-FB9F-4BF4-A2AC-7DBD18F89D0A}"/>
              </a:ext>
            </a:extLst>
          </p:cNvPr>
          <p:cNvSpPr txBox="1"/>
          <p:nvPr/>
        </p:nvSpPr>
        <p:spPr>
          <a:xfrm>
            <a:off x="1994351" y="3607784"/>
            <a:ext cx="1490345" cy="899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Información sobre salud, vida sexual y datos genéticos.</a:t>
            </a:r>
            <a:endParaRPr sz="1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54;p11">
            <a:extLst>
              <a:ext uri="{FF2B5EF4-FFF2-40B4-BE49-F238E27FC236}">
                <a16:creationId xmlns:a16="http://schemas.microsoft.com/office/drawing/2014/main" id="{29989BC8-9BD4-4F5C-B583-3EE9FEB2AB15}"/>
              </a:ext>
            </a:extLst>
          </p:cNvPr>
          <p:cNvSpPr txBox="1"/>
          <p:nvPr/>
        </p:nvSpPr>
        <p:spPr>
          <a:xfrm>
            <a:off x="3706311" y="3607784"/>
            <a:ext cx="1490345" cy="899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Neurodatos</a:t>
            </a:r>
            <a:r>
              <a:rPr lang="es-419" sz="1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- nueva categoría protegida (2023).</a:t>
            </a:r>
            <a:endParaRPr sz="1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55;p11">
            <a:extLst>
              <a:ext uri="{FF2B5EF4-FFF2-40B4-BE49-F238E27FC236}">
                <a16:creationId xmlns:a16="http://schemas.microsoft.com/office/drawing/2014/main" id="{AC7E58EB-3624-4F40-A8B2-9A8D22183922}"/>
              </a:ext>
            </a:extLst>
          </p:cNvPr>
          <p:cNvSpPr txBox="1"/>
          <p:nvPr/>
        </p:nvSpPr>
        <p:spPr>
          <a:xfrm>
            <a:off x="5469071" y="3607784"/>
            <a:ext cx="1490345" cy="899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Datos de menores de edad.</a:t>
            </a:r>
            <a:endParaRPr sz="1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56;p11">
            <a:extLst>
              <a:ext uri="{FF2B5EF4-FFF2-40B4-BE49-F238E27FC236}">
                <a16:creationId xmlns:a16="http://schemas.microsoft.com/office/drawing/2014/main" id="{0CA2B1E0-DEFE-4FB5-89CE-69667087B947}"/>
              </a:ext>
            </a:extLst>
          </p:cNvPr>
          <p:cNvSpPr txBox="1"/>
          <p:nvPr/>
        </p:nvSpPr>
        <p:spPr>
          <a:xfrm>
            <a:off x="7231831" y="3607784"/>
            <a:ext cx="1490345" cy="899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Información financiera y biométrica.</a:t>
            </a:r>
            <a:endParaRPr sz="1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58;p11">
            <a:extLst>
              <a:ext uri="{FF2B5EF4-FFF2-40B4-BE49-F238E27FC236}">
                <a16:creationId xmlns:a16="http://schemas.microsoft.com/office/drawing/2014/main" id="{869598D0-656F-4342-8391-5778050AEC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811" y="1641189"/>
            <a:ext cx="1431925" cy="1043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259;p11">
            <a:extLst>
              <a:ext uri="{FF2B5EF4-FFF2-40B4-BE49-F238E27FC236}">
                <a16:creationId xmlns:a16="http://schemas.microsoft.com/office/drawing/2014/main" id="{528E2191-430F-42A5-AE22-3BFC7AEA3C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4351" y="1641824"/>
            <a:ext cx="1431290" cy="1042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260;p11">
            <a:extLst>
              <a:ext uri="{FF2B5EF4-FFF2-40B4-BE49-F238E27FC236}">
                <a16:creationId xmlns:a16="http://schemas.microsoft.com/office/drawing/2014/main" id="{E947F6F7-7584-4C41-865C-A64D72536F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6311" y="1648809"/>
            <a:ext cx="1512000" cy="1035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261;p11">
            <a:extLst>
              <a:ext uri="{FF2B5EF4-FFF2-40B4-BE49-F238E27FC236}">
                <a16:creationId xmlns:a16="http://schemas.microsoft.com/office/drawing/2014/main" id="{791AF776-1DAA-4875-B60A-93651D8101A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03666" y="1668494"/>
            <a:ext cx="1620000" cy="1016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262;p11">
            <a:extLst>
              <a:ext uri="{FF2B5EF4-FFF2-40B4-BE49-F238E27FC236}">
                <a16:creationId xmlns:a16="http://schemas.microsoft.com/office/drawing/2014/main" id="{49055B0F-6164-4D9B-B5AD-4936AADC8D6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8971" y="1668494"/>
            <a:ext cx="1261745" cy="1042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PROTECCIÓN DE DATOS: MARCO LEGAL ANDINO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DATA SENSIBLE</a:t>
            </a:r>
          </a:p>
        </p:txBody>
      </p:sp>
      <p:grpSp>
        <p:nvGrpSpPr>
          <p:cNvPr id="22" name="Agrupar 8">
            <a:extLst>
              <a:ext uri="{FF2B5EF4-FFF2-40B4-BE49-F238E27FC236}">
                <a16:creationId xmlns:a16="http://schemas.microsoft.com/office/drawing/2014/main" id="{A6BC9742-0B2A-4532-B42D-BEC10F5D2EE8}"/>
              </a:ext>
            </a:extLst>
          </p:cNvPr>
          <p:cNvGrpSpPr/>
          <p:nvPr/>
        </p:nvGrpSpPr>
        <p:grpSpPr>
          <a:xfrm>
            <a:off x="2292291" y="1567835"/>
            <a:ext cx="4882147" cy="586212"/>
            <a:chOff x="503237" y="1655543"/>
            <a:chExt cx="4598317" cy="365282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3766D7BE-D13A-443E-B24E-042135B4A08E}"/>
                </a:ext>
              </a:extLst>
            </p:cNvPr>
            <p:cNvSpPr/>
            <p:nvPr/>
          </p:nvSpPr>
          <p:spPr>
            <a:xfrm>
              <a:off x="503237" y="1655543"/>
              <a:ext cx="1499299" cy="365282"/>
            </a:xfrm>
            <a:prstGeom prst="rect">
              <a:avLst/>
            </a:prstGeom>
            <a:solidFill>
              <a:srgbClr val="00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Perú</a:t>
              </a: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D0749D61-E8C3-4EAE-9B4E-E8370890CD33}"/>
                </a:ext>
              </a:extLst>
            </p:cNvPr>
            <p:cNvSpPr/>
            <p:nvPr/>
          </p:nvSpPr>
          <p:spPr>
            <a:xfrm>
              <a:off x="2052746" y="1655543"/>
              <a:ext cx="1499299" cy="365282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Colombia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26C64DAA-2220-49F7-AF70-F8733FAC9E99}"/>
                </a:ext>
              </a:extLst>
            </p:cNvPr>
            <p:cNvSpPr/>
            <p:nvPr/>
          </p:nvSpPr>
          <p:spPr>
            <a:xfrm>
              <a:off x="3602255" y="1655543"/>
              <a:ext cx="1499299" cy="365282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dirty="0">
                  <a:latin typeface="Calibri" charset="0"/>
                  <a:ea typeface="Calibri" charset="0"/>
                  <a:cs typeface="Calibri" charset="0"/>
                </a:rPr>
                <a:t>Ecuador-Bolivia</a:t>
              </a:r>
            </a:p>
          </p:txBody>
        </p:sp>
      </p:grp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B46C5A2-AA11-4D5D-BCAE-7FFFD0215523}"/>
              </a:ext>
            </a:extLst>
          </p:cNvPr>
          <p:cNvSpPr/>
          <p:nvPr/>
        </p:nvSpPr>
        <p:spPr>
          <a:xfrm>
            <a:off x="2292291" y="2248713"/>
            <a:ext cx="1591843" cy="2280256"/>
          </a:xfrm>
          <a:prstGeom prst="rect">
            <a:avLst/>
          </a:prstGeom>
          <a:solidFill>
            <a:srgbClr val="B9E7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Ley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N.°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29733, Ley de Protección de Datos Personales (2011), aplicable también al tratamiento de datos mediante sistemas de inteligencia artificial.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D1E94B4-8132-4568-8E43-99AABD433DA5}"/>
              </a:ext>
            </a:extLst>
          </p:cNvPr>
          <p:cNvSpPr/>
          <p:nvPr/>
        </p:nvSpPr>
        <p:spPr>
          <a:xfrm>
            <a:off x="3937443" y="2248713"/>
            <a:ext cx="1591843" cy="2280256"/>
          </a:xfrm>
          <a:prstGeom prst="rect">
            <a:avLst/>
          </a:prstGeom>
          <a:solidFill>
            <a:srgbClr val="DDE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Ley Estatutaria </a:t>
            </a:r>
            <a:r>
              <a:rPr lang="es-MX" dirty="0" err="1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N.°</a:t>
            </a:r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 1581 de 2012, Ley de Protección de Datos Personales, aplicable también al uso de sistemas de inteligencia artificial.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3A0B342-2ED8-4441-A17B-B203FF90DED1}"/>
              </a:ext>
            </a:extLst>
          </p:cNvPr>
          <p:cNvSpPr/>
          <p:nvPr/>
        </p:nvSpPr>
        <p:spPr>
          <a:xfrm>
            <a:off x="5582595" y="2248713"/>
            <a:ext cx="1591843" cy="2280256"/>
          </a:xfrm>
          <a:prstGeom prst="rect">
            <a:avLst/>
          </a:prstGeom>
          <a:solidFill>
            <a:srgbClr val="D4C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Marcos emergentes, aún en desarrollo.</a:t>
            </a:r>
          </a:p>
        </p:txBody>
      </p:sp>
    </p:spTree>
    <p:extLst>
      <p:ext uri="{BB962C8B-B14F-4D97-AF65-F5344CB8AC3E}">
        <p14:creationId xmlns:p14="http://schemas.microsoft.com/office/powerpoint/2010/main" val="319999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PRINCIPIOS PARA EL TRATAMIENTO DE DATOS EN IA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DATA SENSIBLE</a:t>
            </a:r>
          </a:p>
        </p:txBody>
      </p:sp>
      <p:grpSp>
        <p:nvGrpSpPr>
          <p:cNvPr id="11" name="Google Shape;301;p13">
            <a:extLst>
              <a:ext uri="{FF2B5EF4-FFF2-40B4-BE49-F238E27FC236}">
                <a16:creationId xmlns:a16="http://schemas.microsoft.com/office/drawing/2014/main" id="{6574F51B-71D2-4BEB-888B-BBEFE7AA2BF9}"/>
              </a:ext>
            </a:extLst>
          </p:cNvPr>
          <p:cNvGrpSpPr/>
          <p:nvPr/>
        </p:nvGrpSpPr>
        <p:grpSpPr>
          <a:xfrm>
            <a:off x="954052" y="3489984"/>
            <a:ext cx="2384423" cy="1404438"/>
            <a:chOff x="5713245" y="1491617"/>
            <a:chExt cx="2924570" cy="1722587"/>
          </a:xfrm>
        </p:grpSpPr>
        <p:sp>
          <p:nvSpPr>
            <p:cNvPr id="12" name="Google Shape;302;p13">
              <a:extLst>
                <a:ext uri="{FF2B5EF4-FFF2-40B4-BE49-F238E27FC236}">
                  <a16:creationId xmlns:a16="http://schemas.microsoft.com/office/drawing/2014/main" id="{F5934A09-A4F1-48E2-9E54-3CE607C4E989}"/>
                </a:ext>
              </a:extLst>
            </p:cNvPr>
            <p:cNvSpPr/>
            <p:nvPr/>
          </p:nvSpPr>
          <p:spPr>
            <a:xfrm>
              <a:off x="6102595" y="1491617"/>
              <a:ext cx="2535220" cy="1722587"/>
            </a:xfrm>
            <a:prstGeom prst="roundRect">
              <a:avLst>
                <a:gd name="adj" fmla="val 6512"/>
              </a:avLst>
            </a:prstGeom>
            <a:solidFill>
              <a:srgbClr val="FCD7D5"/>
            </a:solidFill>
            <a:ln w="381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43650" tIns="170625" rIns="34125" bIns="433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1" i="0" u="none" strike="noStrike" cap="none" dirty="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PROPÓSITO LIMITADO</a:t>
              </a:r>
              <a:endParaRPr b="1" i="0" u="none" strike="noStrike" cap="none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reutilizar más allá de lo autorizado.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3;p13">
              <a:extLst>
                <a:ext uri="{FF2B5EF4-FFF2-40B4-BE49-F238E27FC236}">
                  <a16:creationId xmlns:a16="http://schemas.microsoft.com/office/drawing/2014/main" id="{00921033-96DA-4310-B9B0-9276683A5D7D}"/>
                </a:ext>
              </a:extLst>
            </p:cNvPr>
            <p:cNvSpPr/>
            <p:nvPr/>
          </p:nvSpPr>
          <p:spPr>
            <a:xfrm rot="-9000000">
              <a:off x="5831802" y="202549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4;p13">
              <a:extLst>
                <a:ext uri="{FF2B5EF4-FFF2-40B4-BE49-F238E27FC236}">
                  <a16:creationId xmlns:a16="http://schemas.microsoft.com/office/drawing/2014/main" id="{32EC4179-7A7A-4B17-B545-69615F9A97AB}"/>
                </a:ext>
              </a:extLst>
            </p:cNvPr>
            <p:cNvSpPr txBox="1"/>
            <p:nvPr/>
          </p:nvSpPr>
          <p:spPr>
            <a:xfrm>
              <a:off x="6034603" y="1996255"/>
              <a:ext cx="370681" cy="75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650" tIns="43300" rIns="86650" bIns="433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15"/>
                <a:buFont typeface="Calibri"/>
                <a:buNone/>
              </a:pPr>
              <a:r>
                <a:rPr lang="es-419" sz="3415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341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305;p13">
            <a:extLst>
              <a:ext uri="{FF2B5EF4-FFF2-40B4-BE49-F238E27FC236}">
                <a16:creationId xmlns:a16="http://schemas.microsoft.com/office/drawing/2014/main" id="{239B799F-4340-4B84-8208-7E825B893AB4}"/>
              </a:ext>
            </a:extLst>
          </p:cNvPr>
          <p:cNvGrpSpPr/>
          <p:nvPr/>
        </p:nvGrpSpPr>
        <p:grpSpPr>
          <a:xfrm>
            <a:off x="3489875" y="3492924"/>
            <a:ext cx="2282898" cy="1401452"/>
            <a:chOff x="3054263" y="1481981"/>
            <a:chExt cx="2806011" cy="1722587"/>
          </a:xfrm>
        </p:grpSpPr>
        <p:sp>
          <p:nvSpPr>
            <p:cNvPr id="16" name="Google Shape;306;p13">
              <a:extLst>
                <a:ext uri="{FF2B5EF4-FFF2-40B4-BE49-F238E27FC236}">
                  <a16:creationId xmlns:a16="http://schemas.microsoft.com/office/drawing/2014/main" id="{1733E0C7-DD79-4B9A-938C-D904E5634A51}"/>
                </a:ext>
              </a:extLst>
            </p:cNvPr>
            <p:cNvSpPr/>
            <p:nvPr/>
          </p:nvSpPr>
          <p:spPr>
            <a:xfrm>
              <a:off x="3325054" y="1481981"/>
              <a:ext cx="2535220" cy="1722587"/>
            </a:xfrm>
            <a:prstGeom prst="roundRect">
              <a:avLst>
                <a:gd name="adj" fmla="val 7758"/>
              </a:avLst>
            </a:prstGeom>
            <a:solidFill>
              <a:srgbClr val="9CC2E5"/>
            </a:solidFill>
            <a:ln w="38100" cap="flat" cmpd="sng">
              <a:solidFill>
                <a:srgbClr val="1F386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43650" tIns="170625" rIns="34125" bIns="433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1" i="0" u="none" strike="noStrike" cap="none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SEGURIDAD</a:t>
              </a:r>
              <a:endParaRPr b="1" i="0" u="none" strike="noStrike" cap="none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Protección contra acceso no autorizado.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7;p13">
              <a:extLst>
                <a:ext uri="{FF2B5EF4-FFF2-40B4-BE49-F238E27FC236}">
                  <a16:creationId xmlns:a16="http://schemas.microsoft.com/office/drawing/2014/main" id="{81189B6A-4B60-49D1-B8D0-61E7539A2300}"/>
                </a:ext>
              </a:extLst>
            </p:cNvPr>
            <p:cNvSpPr/>
            <p:nvPr/>
          </p:nvSpPr>
          <p:spPr>
            <a:xfrm rot="-9000000">
              <a:off x="3054263" y="20158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1E4E79"/>
            </a:solidFill>
            <a:ln w="9525" cap="flat" cmpd="sng">
              <a:solidFill>
                <a:srgbClr val="1F386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8;p13">
              <a:extLst>
                <a:ext uri="{FF2B5EF4-FFF2-40B4-BE49-F238E27FC236}">
                  <a16:creationId xmlns:a16="http://schemas.microsoft.com/office/drawing/2014/main" id="{6D9BE853-4C0D-4510-A33A-DE0BE5488ADC}"/>
                </a:ext>
              </a:extLst>
            </p:cNvPr>
            <p:cNvSpPr txBox="1"/>
            <p:nvPr/>
          </p:nvSpPr>
          <p:spPr>
            <a:xfrm>
              <a:off x="3228965" y="1986547"/>
              <a:ext cx="370681" cy="752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650" tIns="43300" rIns="86650" bIns="433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15"/>
                <a:buFont typeface="Calibri"/>
                <a:buNone/>
              </a:pPr>
              <a:r>
                <a:rPr lang="es-419" sz="3415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341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309;p13">
            <a:extLst>
              <a:ext uri="{FF2B5EF4-FFF2-40B4-BE49-F238E27FC236}">
                <a16:creationId xmlns:a16="http://schemas.microsoft.com/office/drawing/2014/main" id="{AB34F6E2-F8B8-4ACE-985B-209DDB266C41}"/>
              </a:ext>
            </a:extLst>
          </p:cNvPr>
          <p:cNvGrpSpPr/>
          <p:nvPr/>
        </p:nvGrpSpPr>
        <p:grpSpPr>
          <a:xfrm>
            <a:off x="2205995" y="1411629"/>
            <a:ext cx="2384422" cy="1404438"/>
            <a:chOff x="158166" y="1465697"/>
            <a:chExt cx="2924569" cy="1722587"/>
          </a:xfrm>
        </p:grpSpPr>
        <p:sp>
          <p:nvSpPr>
            <p:cNvPr id="20" name="Google Shape;310;p13">
              <a:extLst>
                <a:ext uri="{FF2B5EF4-FFF2-40B4-BE49-F238E27FC236}">
                  <a16:creationId xmlns:a16="http://schemas.microsoft.com/office/drawing/2014/main" id="{E65130F9-BA7F-4ED6-B027-98A80F6FF334}"/>
                </a:ext>
              </a:extLst>
            </p:cNvPr>
            <p:cNvSpPr/>
            <p:nvPr/>
          </p:nvSpPr>
          <p:spPr>
            <a:xfrm>
              <a:off x="547515" y="1465697"/>
              <a:ext cx="2535220" cy="1722587"/>
            </a:xfrm>
            <a:prstGeom prst="roundRect">
              <a:avLst>
                <a:gd name="adj" fmla="val 6762"/>
              </a:avLst>
            </a:prstGeom>
            <a:solidFill>
              <a:srgbClr val="CCEFF2"/>
            </a:solidFill>
            <a:ln w="38100" cap="flat" cmpd="sng">
              <a:solidFill>
                <a:srgbClr val="00B1C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43650" tIns="170625" rIns="34125" bIns="43300" anchor="t" anchorCtr="0">
              <a:noAutofit/>
            </a:bodyPr>
            <a:lstStyle/>
            <a:p>
              <a:pPr marL="508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1" i="0" u="none" strike="noStrike" cap="none" dirty="0">
                  <a:solidFill>
                    <a:srgbClr val="00B1C2"/>
                  </a:solidFill>
                  <a:latin typeface="Calibri"/>
                  <a:ea typeface="Calibri"/>
                  <a:cs typeface="Calibri"/>
                  <a:sym typeface="Calibri"/>
                </a:rPr>
                <a:t>MINIMIZACIÓN</a:t>
              </a:r>
              <a:endParaRPr b="1" i="0" u="none" strike="noStrike" cap="none" dirty="0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508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Usar solo datos necesarios.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1;p13">
              <a:extLst>
                <a:ext uri="{FF2B5EF4-FFF2-40B4-BE49-F238E27FC236}">
                  <a16:creationId xmlns:a16="http://schemas.microsoft.com/office/drawing/2014/main" id="{1EA88A7F-CC5F-425B-BCB4-FD4697CB73B0}"/>
                </a:ext>
              </a:extLst>
            </p:cNvPr>
            <p:cNvSpPr/>
            <p:nvPr/>
          </p:nvSpPr>
          <p:spPr>
            <a:xfrm rot="-9000000">
              <a:off x="276723" y="2017867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312;p13">
              <a:extLst>
                <a:ext uri="{FF2B5EF4-FFF2-40B4-BE49-F238E27FC236}">
                  <a16:creationId xmlns:a16="http://schemas.microsoft.com/office/drawing/2014/main" id="{337251B6-E648-4E1F-A550-BFBD98842B28}"/>
                </a:ext>
              </a:extLst>
            </p:cNvPr>
            <p:cNvSpPr txBox="1"/>
            <p:nvPr/>
          </p:nvSpPr>
          <p:spPr>
            <a:xfrm>
              <a:off x="479524" y="1970335"/>
              <a:ext cx="370681" cy="75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650" tIns="43300" rIns="86650" bIns="433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15"/>
                <a:buFont typeface="Calibri"/>
                <a:buNone/>
              </a:pPr>
              <a:r>
                <a:rPr lang="es-419" sz="3415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341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313;p13">
            <a:extLst>
              <a:ext uri="{FF2B5EF4-FFF2-40B4-BE49-F238E27FC236}">
                <a16:creationId xmlns:a16="http://schemas.microsoft.com/office/drawing/2014/main" id="{ABCD6053-9D92-4FD9-980E-FFE873A7B364}"/>
              </a:ext>
            </a:extLst>
          </p:cNvPr>
          <p:cNvGrpSpPr/>
          <p:nvPr/>
        </p:nvGrpSpPr>
        <p:grpSpPr>
          <a:xfrm>
            <a:off x="4648648" y="1411456"/>
            <a:ext cx="2384425" cy="1404620"/>
            <a:chOff x="2935706" y="1481981"/>
            <a:chExt cx="3025823" cy="1722810"/>
          </a:xfrm>
        </p:grpSpPr>
        <p:sp>
          <p:nvSpPr>
            <p:cNvPr id="27" name="Google Shape;314;p13">
              <a:extLst>
                <a:ext uri="{FF2B5EF4-FFF2-40B4-BE49-F238E27FC236}">
                  <a16:creationId xmlns:a16="http://schemas.microsoft.com/office/drawing/2014/main" id="{4F87472C-81A5-49B9-B6CE-E5AAAFA8F621}"/>
                </a:ext>
              </a:extLst>
            </p:cNvPr>
            <p:cNvSpPr/>
            <p:nvPr/>
          </p:nvSpPr>
          <p:spPr>
            <a:xfrm>
              <a:off x="3325130" y="1481981"/>
              <a:ext cx="2636399" cy="1722810"/>
            </a:xfrm>
            <a:prstGeom prst="roundRect">
              <a:avLst>
                <a:gd name="adj" fmla="val 7758"/>
              </a:avLst>
            </a:prstGeom>
            <a:solidFill>
              <a:srgbClr val="E6F3D6"/>
            </a:solidFill>
            <a:ln w="38100" cap="flat" cmpd="sng">
              <a:solidFill>
                <a:srgbClr val="8EC5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43650" tIns="170625" rIns="34125" bIns="433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1" i="0" u="none" strike="noStrike" cap="none" dirty="0">
                  <a:solidFill>
                    <a:srgbClr val="8EC540"/>
                  </a:solidFill>
                  <a:latin typeface="Calibri"/>
                  <a:ea typeface="Calibri"/>
                  <a:cs typeface="Calibri"/>
                  <a:sym typeface="Calibri"/>
                </a:rPr>
                <a:t>CONSENTIMIENTO</a:t>
              </a:r>
              <a:endParaRPr b="1" i="0" u="none" strike="noStrike" cap="none" dirty="0">
                <a:solidFill>
                  <a:srgbClr val="8EC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30"/>
                <a:buFont typeface="Calibri"/>
                <a:buNone/>
              </a:pPr>
              <a:r>
                <a:rPr lang="es-419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Autorización explícita de usuarios.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15;p13">
              <a:extLst>
                <a:ext uri="{FF2B5EF4-FFF2-40B4-BE49-F238E27FC236}">
                  <a16:creationId xmlns:a16="http://schemas.microsoft.com/office/drawing/2014/main" id="{9F8F4997-AFEB-4B06-A903-329D92666CAA}"/>
                </a:ext>
              </a:extLst>
            </p:cNvPr>
            <p:cNvSpPr/>
            <p:nvPr/>
          </p:nvSpPr>
          <p:spPr>
            <a:xfrm rot="-9000000">
              <a:off x="3054263" y="20158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8EC540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316;p13">
              <a:extLst>
                <a:ext uri="{FF2B5EF4-FFF2-40B4-BE49-F238E27FC236}">
                  <a16:creationId xmlns:a16="http://schemas.microsoft.com/office/drawing/2014/main" id="{5F797219-6A5E-445D-B395-EF225D65F43D}"/>
                </a:ext>
              </a:extLst>
            </p:cNvPr>
            <p:cNvSpPr txBox="1"/>
            <p:nvPr/>
          </p:nvSpPr>
          <p:spPr>
            <a:xfrm>
              <a:off x="3257063" y="1986619"/>
              <a:ext cx="370681" cy="75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650" tIns="43300" rIns="86650" bIns="433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15"/>
                <a:buFont typeface="Calibri"/>
                <a:buNone/>
              </a:pPr>
              <a:r>
                <a:rPr lang="es-419" sz="3415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41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17;p13">
            <a:extLst>
              <a:ext uri="{FF2B5EF4-FFF2-40B4-BE49-F238E27FC236}">
                <a16:creationId xmlns:a16="http://schemas.microsoft.com/office/drawing/2014/main" id="{07D3E90D-7864-495B-93BF-C1459AFACE42}"/>
              </a:ext>
            </a:extLst>
          </p:cNvPr>
          <p:cNvGrpSpPr/>
          <p:nvPr/>
        </p:nvGrpSpPr>
        <p:grpSpPr>
          <a:xfrm>
            <a:off x="5826765" y="3492878"/>
            <a:ext cx="2384422" cy="1404438"/>
            <a:chOff x="158166" y="3467193"/>
            <a:chExt cx="2924569" cy="1722587"/>
          </a:xfrm>
        </p:grpSpPr>
        <p:sp>
          <p:nvSpPr>
            <p:cNvPr id="34" name="Google Shape;318;p13">
              <a:extLst>
                <a:ext uri="{FF2B5EF4-FFF2-40B4-BE49-F238E27FC236}">
                  <a16:creationId xmlns:a16="http://schemas.microsoft.com/office/drawing/2014/main" id="{1B70E4B1-275C-4F2B-8CF6-B496E3DE190E}"/>
                </a:ext>
              </a:extLst>
            </p:cNvPr>
            <p:cNvSpPr/>
            <p:nvPr/>
          </p:nvSpPr>
          <p:spPr>
            <a:xfrm>
              <a:off x="547515" y="3467193"/>
              <a:ext cx="2535220" cy="1722587"/>
            </a:xfrm>
            <a:prstGeom prst="roundRect">
              <a:avLst>
                <a:gd name="adj" fmla="val 6762"/>
              </a:avLst>
            </a:prstGeom>
            <a:solidFill>
              <a:srgbClr val="FFE2D2"/>
            </a:solidFill>
            <a:ln w="38100" cap="flat" cmpd="sng">
              <a:solidFill>
                <a:srgbClr val="FF7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43650" tIns="170625" rIns="34125" bIns="433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30"/>
                <a:buFont typeface="Calibri"/>
                <a:buNone/>
              </a:pPr>
              <a:r>
                <a:rPr lang="es-419" b="1" i="0" u="none" strike="noStrike" cap="none" dirty="0">
                  <a:solidFill>
                    <a:srgbClr val="FF7828"/>
                  </a:solidFill>
                  <a:latin typeface="Calibri"/>
                  <a:ea typeface="Calibri"/>
                  <a:cs typeface="Calibri"/>
                  <a:sym typeface="Calibri"/>
                </a:rPr>
                <a:t>DERECHOS</a:t>
              </a:r>
              <a:endParaRPr b="1" i="0" u="none" strike="noStrike" cap="none" dirty="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30"/>
                <a:buFont typeface="Calibri"/>
                <a:buNone/>
              </a:pPr>
              <a:r>
                <a:rPr lang="es-419" b="0" i="0" u="none" strike="noStrike" cap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Acceso, rectificación, olvido.</a:t>
              </a:r>
              <a:endParaRPr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19;p13">
              <a:extLst>
                <a:ext uri="{FF2B5EF4-FFF2-40B4-BE49-F238E27FC236}">
                  <a16:creationId xmlns:a16="http://schemas.microsoft.com/office/drawing/2014/main" id="{D0EFDCBE-D263-45B1-A635-611579243620}"/>
                </a:ext>
              </a:extLst>
            </p:cNvPr>
            <p:cNvSpPr/>
            <p:nvPr/>
          </p:nvSpPr>
          <p:spPr>
            <a:xfrm rot="-9000000">
              <a:off x="276723" y="40193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FF7828"/>
            </a:solidFill>
            <a:ln>
              <a:noFill/>
            </a:ln>
          </p:spPr>
          <p:txBody>
            <a:bodyPr spcFirstLastPara="1" wrap="square" lIns="86650" tIns="43300" rIns="86650" bIns="43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5"/>
                <a:buFont typeface="Calibri"/>
                <a:buNone/>
              </a:pPr>
              <a:endParaRPr sz="170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20;p13">
              <a:extLst>
                <a:ext uri="{FF2B5EF4-FFF2-40B4-BE49-F238E27FC236}">
                  <a16:creationId xmlns:a16="http://schemas.microsoft.com/office/drawing/2014/main" id="{9B7A69C1-722C-49B4-B7B0-50E3B3DEC44F}"/>
                </a:ext>
              </a:extLst>
            </p:cNvPr>
            <p:cNvSpPr txBox="1"/>
            <p:nvPr/>
          </p:nvSpPr>
          <p:spPr>
            <a:xfrm>
              <a:off x="479524" y="4005321"/>
              <a:ext cx="370681" cy="75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6650" tIns="43300" rIns="86650" bIns="433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415"/>
                <a:buFont typeface="Calibri"/>
                <a:buNone/>
              </a:pPr>
              <a:r>
                <a:rPr lang="es-419" sz="3415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3415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931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NEURODATOS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DATA SENSIBLE</a:t>
            </a:r>
          </a:p>
        </p:txBody>
      </p:sp>
      <p:sp>
        <p:nvSpPr>
          <p:cNvPr id="33" name="Google Shape;328;p14">
            <a:extLst>
              <a:ext uri="{FF2B5EF4-FFF2-40B4-BE49-F238E27FC236}">
                <a16:creationId xmlns:a16="http://schemas.microsoft.com/office/drawing/2014/main" id="{A19E0AD0-1E40-4F95-9ECF-87E19F13C5F0}"/>
              </a:ext>
            </a:extLst>
          </p:cNvPr>
          <p:cNvSpPr/>
          <p:nvPr/>
        </p:nvSpPr>
        <p:spPr>
          <a:xfrm>
            <a:off x="3775411" y="1381730"/>
            <a:ext cx="3690336" cy="1102360"/>
          </a:xfrm>
          <a:prstGeom prst="roundRect">
            <a:avLst>
              <a:gd name="adj" fmla="val 3764"/>
            </a:avLst>
          </a:prstGeom>
          <a:solidFill>
            <a:srgbClr val="C4E0B2"/>
          </a:solidFill>
          <a:ln>
            <a:noFill/>
          </a:ln>
          <a:effectLst>
            <a:outerShdw blurRad="254000" dist="254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endParaRPr sz="128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31;p14">
            <a:extLst>
              <a:ext uri="{FF2B5EF4-FFF2-40B4-BE49-F238E27FC236}">
                <a16:creationId xmlns:a16="http://schemas.microsoft.com/office/drawing/2014/main" id="{C71B318B-7502-41BB-81BA-E7EDA1CDFD9D}"/>
              </a:ext>
            </a:extLst>
          </p:cNvPr>
          <p:cNvSpPr/>
          <p:nvPr/>
        </p:nvSpPr>
        <p:spPr>
          <a:xfrm>
            <a:off x="3775411" y="2686020"/>
            <a:ext cx="3690336" cy="1102360"/>
          </a:xfrm>
          <a:prstGeom prst="roundRect">
            <a:avLst>
              <a:gd name="adj" fmla="val 3764"/>
            </a:avLst>
          </a:prstGeom>
          <a:solidFill>
            <a:srgbClr val="C4E0B2"/>
          </a:solidFill>
          <a:ln>
            <a:noFill/>
          </a:ln>
          <a:effectLst>
            <a:outerShdw blurRad="254000" dist="254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endParaRPr sz="128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332;p14">
            <a:extLst>
              <a:ext uri="{FF2B5EF4-FFF2-40B4-BE49-F238E27FC236}">
                <a16:creationId xmlns:a16="http://schemas.microsoft.com/office/drawing/2014/main" id="{4841E9AE-1B16-4CAA-8EE2-506E6C508E3C}"/>
              </a:ext>
            </a:extLst>
          </p:cNvPr>
          <p:cNvSpPr/>
          <p:nvPr/>
        </p:nvSpPr>
        <p:spPr>
          <a:xfrm>
            <a:off x="3775411" y="3990310"/>
            <a:ext cx="3690336" cy="1102360"/>
          </a:xfrm>
          <a:prstGeom prst="roundRect">
            <a:avLst>
              <a:gd name="adj" fmla="val 3764"/>
            </a:avLst>
          </a:prstGeom>
          <a:solidFill>
            <a:srgbClr val="C4E0B2"/>
          </a:solidFill>
          <a:ln>
            <a:noFill/>
          </a:ln>
          <a:effectLst>
            <a:outerShdw blurRad="254000" dist="254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endParaRPr sz="128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333;p14">
            <a:extLst>
              <a:ext uri="{FF2B5EF4-FFF2-40B4-BE49-F238E27FC236}">
                <a16:creationId xmlns:a16="http://schemas.microsoft.com/office/drawing/2014/main" id="{45FC5F16-C226-42EC-9849-75FAA0829DBB}"/>
              </a:ext>
            </a:extLst>
          </p:cNvPr>
          <p:cNvSpPr txBox="1"/>
          <p:nvPr/>
        </p:nvSpPr>
        <p:spPr>
          <a:xfrm>
            <a:off x="3775351" y="1521780"/>
            <a:ext cx="355854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Definición: datos del cerebro capturados mediante dispositivos como </a:t>
            </a:r>
            <a:r>
              <a:rPr lang="es-419" sz="1515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Brain-Computer</a:t>
            </a:r>
            <a:r>
              <a:rPr lang="es-419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Interfaces (BCI).</a:t>
            </a:r>
            <a:endParaRPr sz="151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334;p14">
            <a:extLst>
              <a:ext uri="{FF2B5EF4-FFF2-40B4-BE49-F238E27FC236}">
                <a16:creationId xmlns:a16="http://schemas.microsoft.com/office/drawing/2014/main" id="{ECCBC51E-B7BC-4599-A576-4E257F1D8516}"/>
              </a:ext>
            </a:extLst>
          </p:cNvPr>
          <p:cNvSpPr txBox="1"/>
          <p:nvPr/>
        </p:nvSpPr>
        <p:spPr>
          <a:xfrm>
            <a:off x="3775411" y="2818100"/>
            <a:ext cx="3558480" cy="79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Riesgos: manipulación mental, discriminación neurológica, pérdida de privacidad mental.</a:t>
            </a:r>
            <a:endParaRPr sz="151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35;p14">
            <a:extLst>
              <a:ext uri="{FF2B5EF4-FFF2-40B4-BE49-F238E27FC236}">
                <a16:creationId xmlns:a16="http://schemas.microsoft.com/office/drawing/2014/main" id="{DD18E326-D3BB-4018-94B3-5B53E91924A3}"/>
              </a:ext>
            </a:extLst>
          </p:cNvPr>
          <p:cNvSpPr txBox="1"/>
          <p:nvPr/>
        </p:nvSpPr>
        <p:spPr>
          <a:xfrm>
            <a:off x="3775351" y="4048592"/>
            <a:ext cx="3690396" cy="1024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515"/>
            </a:pPr>
            <a:r>
              <a:rPr lang="es-419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Respuesta: declaración </a:t>
            </a:r>
            <a:r>
              <a:rPr lang="es-MX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la </a:t>
            </a:r>
            <a:r>
              <a:rPr lang="es-MX" sz="151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 Iberoamericana de Protección de Datos (RIPD) de</a:t>
            </a:r>
            <a:r>
              <a:rPr lang="es-419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2023 sobre </a:t>
            </a:r>
            <a:r>
              <a:rPr lang="es-419" sz="1515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s-419" sz="1515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eurodatos</a:t>
            </a:r>
            <a:r>
              <a:rPr lang="es-419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contexto de protección de datos personales.</a:t>
            </a:r>
            <a:endParaRPr sz="151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336;p14">
            <a:extLst>
              <a:ext uri="{FF2B5EF4-FFF2-40B4-BE49-F238E27FC236}">
                <a16:creationId xmlns:a16="http://schemas.microsoft.com/office/drawing/2014/main" id="{4EC531F3-6F97-40E5-9ABD-1D980607324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t="14212" b="14212"/>
          <a:stretch/>
        </p:blipFill>
        <p:spPr>
          <a:xfrm>
            <a:off x="2001670" y="1367020"/>
            <a:ext cx="1521460" cy="110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338;p14">
            <a:extLst>
              <a:ext uri="{FF2B5EF4-FFF2-40B4-BE49-F238E27FC236}">
                <a16:creationId xmlns:a16="http://schemas.microsoft.com/office/drawing/2014/main" id="{E7D4575F-5825-49AB-9595-89C727A0B0B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1670" y="2686020"/>
            <a:ext cx="1521460" cy="110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339;p14">
            <a:extLst>
              <a:ext uri="{FF2B5EF4-FFF2-40B4-BE49-F238E27FC236}">
                <a16:creationId xmlns:a16="http://schemas.microsoft.com/office/drawing/2014/main" id="{FBBC5420-7F9B-4393-B526-C9DF2B50B80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1670" y="3990310"/>
            <a:ext cx="1521460" cy="1102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098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358;p15">
            <a:extLst>
              <a:ext uri="{FF2B5EF4-FFF2-40B4-BE49-F238E27FC236}">
                <a16:creationId xmlns:a16="http://schemas.microsoft.com/office/drawing/2014/main" id="{365F0CC6-CC51-40F1-AD88-9243FAE0F9F5}"/>
              </a:ext>
            </a:extLst>
          </p:cNvPr>
          <p:cNvCxnSpPr/>
          <p:nvPr/>
        </p:nvCxnSpPr>
        <p:spPr>
          <a:xfrm>
            <a:off x="209961" y="3594248"/>
            <a:ext cx="8797164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24" name="Rectángulo 23"/>
          <p:cNvSpPr/>
          <p:nvPr/>
        </p:nvSpPr>
        <p:spPr>
          <a:xfrm>
            <a:off x="503237" y="920364"/>
            <a:ext cx="6311449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IA Y DATOS DE MENORES</a:t>
            </a:r>
          </a:p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Ecuador propuso en 2024 el proyecto de ley sobre IA para menores: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DATA SENSIBLE</a:t>
            </a:r>
          </a:p>
        </p:txBody>
      </p:sp>
      <p:sp>
        <p:nvSpPr>
          <p:cNvPr id="13" name="Google Shape;346;p15">
            <a:extLst>
              <a:ext uri="{FF2B5EF4-FFF2-40B4-BE49-F238E27FC236}">
                <a16:creationId xmlns:a16="http://schemas.microsoft.com/office/drawing/2014/main" id="{B4B792A2-4A2C-419A-82E1-F41A3816DD50}"/>
              </a:ext>
            </a:extLst>
          </p:cNvPr>
          <p:cNvSpPr/>
          <p:nvPr/>
        </p:nvSpPr>
        <p:spPr>
          <a:xfrm rot="10800000" flipH="1">
            <a:off x="2270964" y="3926205"/>
            <a:ext cx="2929890" cy="1306830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FF8D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47;p15">
            <a:extLst>
              <a:ext uri="{FF2B5EF4-FFF2-40B4-BE49-F238E27FC236}">
                <a16:creationId xmlns:a16="http://schemas.microsoft.com/office/drawing/2014/main" id="{95F3420D-DAD4-4FCE-BA5C-0FE1754AB854}"/>
              </a:ext>
            </a:extLst>
          </p:cNvPr>
          <p:cNvSpPr/>
          <p:nvPr/>
        </p:nvSpPr>
        <p:spPr>
          <a:xfrm>
            <a:off x="1866682" y="3484075"/>
            <a:ext cx="203276" cy="203276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48;p15">
            <a:extLst>
              <a:ext uri="{FF2B5EF4-FFF2-40B4-BE49-F238E27FC236}">
                <a16:creationId xmlns:a16="http://schemas.microsoft.com/office/drawing/2014/main" id="{AB91A297-F51E-474E-ADF4-A9ADAC97C60F}"/>
              </a:ext>
            </a:extLst>
          </p:cNvPr>
          <p:cNvSpPr/>
          <p:nvPr/>
        </p:nvSpPr>
        <p:spPr>
          <a:xfrm>
            <a:off x="1916338" y="3533731"/>
            <a:ext cx="103449" cy="103449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49;p15">
            <a:extLst>
              <a:ext uri="{FF2B5EF4-FFF2-40B4-BE49-F238E27FC236}">
                <a16:creationId xmlns:a16="http://schemas.microsoft.com/office/drawing/2014/main" id="{7018F55A-4C5F-4C5D-AED4-A6BEE48F1CF3}"/>
              </a:ext>
            </a:extLst>
          </p:cNvPr>
          <p:cNvSpPr/>
          <p:nvPr/>
        </p:nvSpPr>
        <p:spPr>
          <a:xfrm>
            <a:off x="503237" y="1633906"/>
            <a:ext cx="2929656" cy="1612756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FF8D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350;p15">
            <a:extLst>
              <a:ext uri="{FF2B5EF4-FFF2-40B4-BE49-F238E27FC236}">
                <a16:creationId xmlns:a16="http://schemas.microsoft.com/office/drawing/2014/main" id="{F248AE51-1BC7-4CD3-AB55-69FB07E0B9AC}"/>
              </a:ext>
            </a:extLst>
          </p:cNvPr>
          <p:cNvCxnSpPr/>
          <p:nvPr/>
        </p:nvCxnSpPr>
        <p:spPr>
          <a:xfrm rot="10800000">
            <a:off x="1968061" y="3244593"/>
            <a:ext cx="1" cy="239140"/>
          </a:xfrm>
          <a:prstGeom prst="straightConnector1">
            <a:avLst/>
          </a:prstGeom>
          <a:noFill/>
          <a:ln w="12700" cap="flat" cmpd="sng">
            <a:solidFill>
              <a:srgbClr val="FF8D4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351;p15">
            <a:extLst>
              <a:ext uri="{FF2B5EF4-FFF2-40B4-BE49-F238E27FC236}">
                <a16:creationId xmlns:a16="http://schemas.microsoft.com/office/drawing/2014/main" id="{52EEADB9-D3BF-4B30-B98D-6CC598E357A4}"/>
              </a:ext>
            </a:extLst>
          </p:cNvPr>
          <p:cNvSpPr/>
          <p:nvPr/>
        </p:nvSpPr>
        <p:spPr>
          <a:xfrm>
            <a:off x="809960" y="2132527"/>
            <a:ext cx="2323962" cy="87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Garantizar uso seguro de internet y redes sociales.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52;p15">
            <a:extLst>
              <a:ext uri="{FF2B5EF4-FFF2-40B4-BE49-F238E27FC236}">
                <a16:creationId xmlns:a16="http://schemas.microsoft.com/office/drawing/2014/main" id="{A8BE1E76-BD91-4E6D-97C8-2DE9B549D010}"/>
              </a:ext>
            </a:extLst>
          </p:cNvPr>
          <p:cNvSpPr/>
          <p:nvPr/>
        </p:nvSpPr>
        <p:spPr>
          <a:xfrm>
            <a:off x="809960" y="1636492"/>
            <a:ext cx="2323962" cy="43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419" sz="1725" b="1" i="0" u="none" strike="noStrike" cap="none" dirty="0">
                <a:solidFill>
                  <a:srgbClr val="FF8D41"/>
                </a:solidFill>
                <a:latin typeface="Calibri"/>
                <a:ea typeface="Calibri"/>
                <a:cs typeface="Calibri"/>
                <a:sym typeface="Calibri"/>
              </a:rPr>
              <a:t>ENTORNOS SEGUROS</a:t>
            </a:r>
            <a:endParaRPr sz="1725" b="1" i="0" u="none" strike="noStrike" cap="none" dirty="0">
              <a:solidFill>
                <a:srgbClr val="FF8D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53;p15">
            <a:extLst>
              <a:ext uri="{FF2B5EF4-FFF2-40B4-BE49-F238E27FC236}">
                <a16:creationId xmlns:a16="http://schemas.microsoft.com/office/drawing/2014/main" id="{22E0E5D1-FF41-4D05-881B-8FD77601F4CD}"/>
              </a:ext>
            </a:extLst>
          </p:cNvPr>
          <p:cNvSpPr/>
          <p:nvPr/>
        </p:nvSpPr>
        <p:spPr>
          <a:xfrm rot="10800000" flipH="1">
            <a:off x="3633576" y="3484075"/>
            <a:ext cx="203276" cy="203276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54;p15">
            <a:extLst>
              <a:ext uri="{FF2B5EF4-FFF2-40B4-BE49-F238E27FC236}">
                <a16:creationId xmlns:a16="http://schemas.microsoft.com/office/drawing/2014/main" id="{67BAC65D-5569-43A2-876F-242F6A7DE74C}"/>
              </a:ext>
            </a:extLst>
          </p:cNvPr>
          <p:cNvSpPr/>
          <p:nvPr/>
        </p:nvSpPr>
        <p:spPr>
          <a:xfrm rot="10800000" flipH="1">
            <a:off x="3683749" y="3533731"/>
            <a:ext cx="103449" cy="103449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355;p15">
            <a:extLst>
              <a:ext uri="{FF2B5EF4-FFF2-40B4-BE49-F238E27FC236}">
                <a16:creationId xmlns:a16="http://schemas.microsoft.com/office/drawing/2014/main" id="{6B2B624A-2D6D-407B-A89D-7697E30B8707}"/>
              </a:ext>
            </a:extLst>
          </p:cNvPr>
          <p:cNvCxnSpPr/>
          <p:nvPr/>
        </p:nvCxnSpPr>
        <p:spPr>
          <a:xfrm flipH="1">
            <a:off x="3738576" y="3678558"/>
            <a:ext cx="1" cy="23914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25" name="Google Shape;357;p15">
            <a:extLst>
              <a:ext uri="{FF2B5EF4-FFF2-40B4-BE49-F238E27FC236}">
                <a16:creationId xmlns:a16="http://schemas.microsoft.com/office/drawing/2014/main" id="{E0D2342B-F3FE-4871-9A36-D44F702AB944}"/>
              </a:ext>
            </a:extLst>
          </p:cNvPr>
          <p:cNvSpPr/>
          <p:nvPr/>
        </p:nvSpPr>
        <p:spPr>
          <a:xfrm>
            <a:off x="2573233" y="3950627"/>
            <a:ext cx="2323962" cy="43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419" sz="1725" b="1" i="0" u="none" strike="noStrike" cap="none" dirty="0">
                <a:solidFill>
                  <a:srgbClr val="FF8D41"/>
                </a:solidFill>
                <a:latin typeface="Calibri"/>
                <a:ea typeface="Calibri"/>
                <a:cs typeface="Calibri"/>
                <a:sym typeface="Calibri"/>
              </a:rPr>
              <a:t>DATOS PROTEGIDOS</a:t>
            </a:r>
            <a:endParaRPr sz="1725" b="1" i="0" u="none" strike="noStrike" cap="none" dirty="0">
              <a:solidFill>
                <a:srgbClr val="FF8D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59;p15">
            <a:extLst>
              <a:ext uri="{FF2B5EF4-FFF2-40B4-BE49-F238E27FC236}">
                <a16:creationId xmlns:a16="http://schemas.microsoft.com/office/drawing/2014/main" id="{5CF2BEDE-3FA4-49A8-AF32-1E5AB278D855}"/>
              </a:ext>
            </a:extLst>
          </p:cNvPr>
          <p:cNvSpPr/>
          <p:nvPr/>
        </p:nvSpPr>
        <p:spPr>
          <a:xfrm rot="10800000" flipH="1">
            <a:off x="5794579" y="3923030"/>
            <a:ext cx="2929890" cy="1316355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FF8D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360;p15">
            <a:extLst>
              <a:ext uri="{FF2B5EF4-FFF2-40B4-BE49-F238E27FC236}">
                <a16:creationId xmlns:a16="http://schemas.microsoft.com/office/drawing/2014/main" id="{DAB7E23E-773B-4357-9685-DCA5B13318CA}"/>
              </a:ext>
            </a:extLst>
          </p:cNvPr>
          <p:cNvSpPr/>
          <p:nvPr/>
        </p:nvSpPr>
        <p:spPr>
          <a:xfrm>
            <a:off x="5397884" y="3490800"/>
            <a:ext cx="203276" cy="203276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361;p15">
            <a:extLst>
              <a:ext uri="{FF2B5EF4-FFF2-40B4-BE49-F238E27FC236}">
                <a16:creationId xmlns:a16="http://schemas.microsoft.com/office/drawing/2014/main" id="{B9EF51E1-626D-4EB5-818F-349087C6014A}"/>
              </a:ext>
            </a:extLst>
          </p:cNvPr>
          <p:cNvSpPr/>
          <p:nvPr/>
        </p:nvSpPr>
        <p:spPr>
          <a:xfrm>
            <a:off x="5447539" y="3540455"/>
            <a:ext cx="103449" cy="103449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62;p15">
            <a:extLst>
              <a:ext uri="{FF2B5EF4-FFF2-40B4-BE49-F238E27FC236}">
                <a16:creationId xmlns:a16="http://schemas.microsoft.com/office/drawing/2014/main" id="{E03545B9-E16C-4446-8DA2-AC474E368D6B}"/>
              </a:ext>
            </a:extLst>
          </p:cNvPr>
          <p:cNvSpPr/>
          <p:nvPr/>
        </p:nvSpPr>
        <p:spPr>
          <a:xfrm>
            <a:off x="4027196" y="1633906"/>
            <a:ext cx="2929656" cy="1612756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rgbClr val="FF8D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63;p15">
            <a:extLst>
              <a:ext uri="{FF2B5EF4-FFF2-40B4-BE49-F238E27FC236}">
                <a16:creationId xmlns:a16="http://schemas.microsoft.com/office/drawing/2014/main" id="{904BBD90-9B63-457B-89C6-9E57E7854155}"/>
              </a:ext>
            </a:extLst>
          </p:cNvPr>
          <p:cNvCxnSpPr/>
          <p:nvPr/>
        </p:nvCxnSpPr>
        <p:spPr>
          <a:xfrm rot="10800000">
            <a:off x="5492022" y="3246662"/>
            <a:ext cx="3621" cy="248276"/>
          </a:xfrm>
          <a:prstGeom prst="straightConnector1">
            <a:avLst/>
          </a:prstGeom>
          <a:noFill/>
          <a:ln w="12700" cap="flat" cmpd="sng">
            <a:solidFill>
              <a:srgbClr val="FF8D4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64;p15">
            <a:extLst>
              <a:ext uri="{FF2B5EF4-FFF2-40B4-BE49-F238E27FC236}">
                <a16:creationId xmlns:a16="http://schemas.microsoft.com/office/drawing/2014/main" id="{2729F8A1-0842-48A5-A5AB-A204722C2B39}"/>
              </a:ext>
            </a:extLst>
          </p:cNvPr>
          <p:cNvSpPr/>
          <p:nvPr/>
        </p:nvSpPr>
        <p:spPr>
          <a:xfrm>
            <a:off x="4330299" y="2132527"/>
            <a:ext cx="2323962" cy="111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Regular desarrollo de sistemas de IA orientados a niños/adolescentes.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65;p15">
            <a:extLst>
              <a:ext uri="{FF2B5EF4-FFF2-40B4-BE49-F238E27FC236}">
                <a16:creationId xmlns:a16="http://schemas.microsoft.com/office/drawing/2014/main" id="{3C5F67CF-50D0-4B0F-ADAA-D8D8CB2CFBA4}"/>
              </a:ext>
            </a:extLst>
          </p:cNvPr>
          <p:cNvSpPr/>
          <p:nvPr/>
        </p:nvSpPr>
        <p:spPr>
          <a:xfrm>
            <a:off x="4330299" y="1636492"/>
            <a:ext cx="2323962" cy="43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419" sz="1725" b="1" i="0" u="none" strike="noStrike" cap="none" dirty="0">
                <a:solidFill>
                  <a:srgbClr val="FF8D41"/>
                </a:solidFill>
                <a:latin typeface="Calibri"/>
                <a:ea typeface="Calibri"/>
                <a:cs typeface="Calibri"/>
                <a:sym typeface="Calibri"/>
              </a:rPr>
              <a:t>IA INFANTIL</a:t>
            </a:r>
            <a:endParaRPr sz="1725" b="1" i="0" u="none" strike="noStrike" cap="none" dirty="0">
              <a:solidFill>
                <a:srgbClr val="FF8D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66;p15">
            <a:extLst>
              <a:ext uri="{FF2B5EF4-FFF2-40B4-BE49-F238E27FC236}">
                <a16:creationId xmlns:a16="http://schemas.microsoft.com/office/drawing/2014/main" id="{1D498C39-2ACD-4AB1-923A-E03BE16F62D8}"/>
              </a:ext>
            </a:extLst>
          </p:cNvPr>
          <p:cNvSpPr/>
          <p:nvPr/>
        </p:nvSpPr>
        <p:spPr>
          <a:xfrm rot="10800000" flipH="1">
            <a:off x="7157536" y="3501662"/>
            <a:ext cx="203276" cy="203276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7;p15">
            <a:extLst>
              <a:ext uri="{FF2B5EF4-FFF2-40B4-BE49-F238E27FC236}">
                <a16:creationId xmlns:a16="http://schemas.microsoft.com/office/drawing/2014/main" id="{8BC36F17-56AD-429D-A1A4-AB78206FA561}"/>
              </a:ext>
            </a:extLst>
          </p:cNvPr>
          <p:cNvSpPr/>
          <p:nvPr/>
        </p:nvSpPr>
        <p:spPr>
          <a:xfrm rot="10800000" flipH="1">
            <a:off x="7207709" y="3551317"/>
            <a:ext cx="103449" cy="103449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endParaRPr sz="15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68;p15">
            <a:extLst>
              <a:ext uri="{FF2B5EF4-FFF2-40B4-BE49-F238E27FC236}">
                <a16:creationId xmlns:a16="http://schemas.microsoft.com/office/drawing/2014/main" id="{07643DC6-2E16-454E-9D35-3CD267FAD4F4}"/>
              </a:ext>
            </a:extLst>
          </p:cNvPr>
          <p:cNvCxnSpPr/>
          <p:nvPr/>
        </p:nvCxnSpPr>
        <p:spPr>
          <a:xfrm flipH="1">
            <a:off x="7259433" y="3679076"/>
            <a:ext cx="1" cy="23914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cxnSp>
      <p:sp>
        <p:nvSpPr>
          <p:cNvPr id="39" name="Google Shape;369;p15">
            <a:extLst>
              <a:ext uri="{FF2B5EF4-FFF2-40B4-BE49-F238E27FC236}">
                <a16:creationId xmlns:a16="http://schemas.microsoft.com/office/drawing/2014/main" id="{07826CEB-AC0F-4D93-9A59-C2F60ABE2012}"/>
              </a:ext>
            </a:extLst>
          </p:cNvPr>
          <p:cNvSpPr/>
          <p:nvPr/>
        </p:nvSpPr>
        <p:spPr>
          <a:xfrm>
            <a:off x="6100649" y="4420870"/>
            <a:ext cx="2324100" cy="81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Protección especial en algoritmos de recomendación.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70;p15">
            <a:extLst>
              <a:ext uri="{FF2B5EF4-FFF2-40B4-BE49-F238E27FC236}">
                <a16:creationId xmlns:a16="http://schemas.microsoft.com/office/drawing/2014/main" id="{1966C321-0BEA-4514-8A81-4DF32509F9D1}"/>
              </a:ext>
            </a:extLst>
          </p:cNvPr>
          <p:cNvSpPr/>
          <p:nvPr/>
        </p:nvSpPr>
        <p:spPr>
          <a:xfrm>
            <a:off x="6100814" y="3921661"/>
            <a:ext cx="2323963" cy="433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lang="es-419" sz="1725" b="1" i="0" u="none" strike="noStrike" cap="none" dirty="0">
                <a:solidFill>
                  <a:srgbClr val="FF8D41"/>
                </a:solidFill>
                <a:latin typeface="Calibri"/>
                <a:ea typeface="Calibri"/>
                <a:cs typeface="Calibri"/>
                <a:sym typeface="Calibri"/>
              </a:rPr>
              <a:t>FILTROS ALGORÍTMICOS</a:t>
            </a:r>
            <a:endParaRPr sz="1725" b="1" i="0" u="none" strike="noStrike" cap="none" dirty="0">
              <a:solidFill>
                <a:srgbClr val="FF8D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56;p15">
            <a:extLst>
              <a:ext uri="{FF2B5EF4-FFF2-40B4-BE49-F238E27FC236}">
                <a16:creationId xmlns:a16="http://schemas.microsoft.com/office/drawing/2014/main" id="{03028CB7-9945-416C-AE2E-DDAD96F1DC14}"/>
              </a:ext>
            </a:extLst>
          </p:cNvPr>
          <p:cNvSpPr/>
          <p:nvPr/>
        </p:nvSpPr>
        <p:spPr>
          <a:xfrm>
            <a:off x="2573232" y="4452789"/>
            <a:ext cx="2323962" cy="692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Prohibir recopilación de datos sin consentimiento parental.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759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MARCOS DE 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REFERENCIA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2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631144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MARCOS REGULATORIOS: ENFOQUES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MARCOS DE REFERENCIA</a:t>
            </a:r>
          </a:p>
        </p:txBody>
      </p:sp>
      <p:pic>
        <p:nvPicPr>
          <p:cNvPr id="11" name="Google Shape;396;p17">
            <a:extLst>
              <a:ext uri="{FF2B5EF4-FFF2-40B4-BE49-F238E27FC236}">
                <a16:creationId xmlns:a16="http://schemas.microsoft.com/office/drawing/2014/main" id="{F792A678-2E03-4674-8EE1-DD33560BA5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4755" y="1764722"/>
            <a:ext cx="3336290" cy="2508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Conector angular 3">
            <a:extLst>
              <a:ext uri="{FF2B5EF4-FFF2-40B4-BE49-F238E27FC236}">
                <a16:creationId xmlns:a16="http://schemas.microsoft.com/office/drawing/2014/main" id="{F3FE8DC6-0CE4-4CCE-9BA8-181E98095E31}"/>
              </a:ext>
            </a:extLst>
          </p:cNvPr>
          <p:cNvCxnSpPr>
            <a:stCxn id="18" idx="1"/>
            <a:endCxn id="17" idx="1"/>
          </p:cNvCxnSpPr>
          <p:nvPr/>
        </p:nvCxnSpPr>
        <p:spPr>
          <a:xfrm rot="10800000" flipV="1">
            <a:off x="2410602" y="2079673"/>
            <a:ext cx="12700" cy="1839370"/>
          </a:xfrm>
          <a:prstGeom prst="bentConnector3">
            <a:avLst>
              <a:gd name="adj1" fmla="val 1800000"/>
            </a:avLst>
          </a:prstGeom>
          <a:ln w="1905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3EDD525-92EE-46AD-997E-A6C4696FD66E}"/>
              </a:ext>
            </a:extLst>
          </p:cNvPr>
          <p:cNvCxnSpPr>
            <a:cxnSpLocks/>
          </p:cNvCxnSpPr>
          <p:nvPr/>
        </p:nvCxnSpPr>
        <p:spPr>
          <a:xfrm>
            <a:off x="1880292" y="2991053"/>
            <a:ext cx="35729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redondeado 19">
            <a:extLst>
              <a:ext uri="{FF2B5EF4-FFF2-40B4-BE49-F238E27FC236}">
                <a16:creationId xmlns:a16="http://schemas.microsoft.com/office/drawing/2014/main" id="{AB74AA42-57BD-4D03-ABAA-CC45F2F4979F}"/>
              </a:ext>
            </a:extLst>
          </p:cNvPr>
          <p:cNvSpPr/>
          <p:nvPr/>
        </p:nvSpPr>
        <p:spPr>
          <a:xfrm>
            <a:off x="503237" y="2631484"/>
            <a:ext cx="1377055" cy="735748"/>
          </a:xfrm>
          <a:prstGeom prst="roundRect">
            <a:avLst>
              <a:gd name="adj" fmla="val 16896"/>
            </a:avLst>
          </a:prstGeom>
          <a:solidFill>
            <a:srgbClr val="71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es-PE" sz="1400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ENFOQUES</a:t>
            </a:r>
          </a:p>
        </p:txBody>
      </p:sp>
      <p:sp>
        <p:nvSpPr>
          <p:cNvPr id="17" name="Rectángulo redondeado 26">
            <a:extLst>
              <a:ext uri="{FF2B5EF4-FFF2-40B4-BE49-F238E27FC236}">
                <a16:creationId xmlns:a16="http://schemas.microsoft.com/office/drawing/2014/main" id="{00C6FEA4-D3CF-4687-BEA7-BFEABBCCEE43}"/>
              </a:ext>
            </a:extLst>
          </p:cNvPr>
          <p:cNvSpPr/>
          <p:nvPr/>
        </p:nvSpPr>
        <p:spPr>
          <a:xfrm>
            <a:off x="2410602" y="3551169"/>
            <a:ext cx="1377055" cy="735748"/>
          </a:xfrm>
          <a:prstGeom prst="roundRect">
            <a:avLst>
              <a:gd name="adj" fmla="val 16464"/>
            </a:avLst>
          </a:prstGeom>
          <a:solidFill>
            <a:srgbClr val="71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defRPr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SOFT - LAW (NO VINCULANTE)</a:t>
            </a:r>
          </a:p>
        </p:txBody>
      </p:sp>
      <p:sp>
        <p:nvSpPr>
          <p:cNvPr id="18" name="Rectángulo redondeado 33">
            <a:extLst>
              <a:ext uri="{FF2B5EF4-FFF2-40B4-BE49-F238E27FC236}">
                <a16:creationId xmlns:a16="http://schemas.microsoft.com/office/drawing/2014/main" id="{45DDEFF2-8E44-4D4E-B9BF-89A584A64F2F}"/>
              </a:ext>
            </a:extLst>
          </p:cNvPr>
          <p:cNvSpPr/>
          <p:nvPr/>
        </p:nvSpPr>
        <p:spPr>
          <a:xfrm>
            <a:off x="2410602" y="1711799"/>
            <a:ext cx="1377055" cy="735748"/>
          </a:xfrm>
          <a:prstGeom prst="roundRect">
            <a:avLst>
              <a:gd name="adj" fmla="val 17327"/>
            </a:avLst>
          </a:prstGeom>
          <a:solidFill>
            <a:srgbClr val="71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HARD - LAW (VINCULANTE)</a:t>
            </a:r>
          </a:p>
        </p:txBody>
      </p:sp>
      <p:sp>
        <p:nvSpPr>
          <p:cNvPr id="23" name="17 CuadroTexto">
            <a:extLst>
              <a:ext uri="{FF2B5EF4-FFF2-40B4-BE49-F238E27FC236}">
                <a16:creationId xmlns:a16="http://schemas.microsoft.com/office/drawing/2014/main" id="{11B948A4-6FE8-459C-AF28-215C97E97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591" y="1554266"/>
            <a:ext cx="158416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Leyes y regulaciones obligatorias. Brindan mayor seguridad jurídica, aunque con menor flexibilidad.</a:t>
            </a:r>
          </a:p>
        </p:txBody>
      </p:sp>
      <p:sp>
        <p:nvSpPr>
          <p:cNvPr id="25" name="17 CuadroTexto">
            <a:extLst>
              <a:ext uri="{FF2B5EF4-FFF2-40B4-BE49-F238E27FC236}">
                <a16:creationId xmlns:a16="http://schemas.microsoft.com/office/drawing/2014/main" id="{A787E4CE-E025-4106-B244-149766AFA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591" y="3334231"/>
            <a:ext cx="163497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sz="1400" dirty="0">
                <a:latin typeface="Calibri" charset="0"/>
                <a:ea typeface="Calibri" charset="0"/>
                <a:cs typeface="Calibri" charset="0"/>
              </a:rPr>
              <a:t>Directrices, estándares y códigos de conducta. Ofrecen mayor flexibilidad, pero con menor exigibilidad jurídica.</a:t>
            </a:r>
          </a:p>
        </p:txBody>
      </p:sp>
    </p:spTree>
    <p:extLst>
      <p:ext uri="{BB962C8B-B14F-4D97-AF65-F5344CB8AC3E}">
        <p14:creationId xmlns:p14="http://schemas.microsoft.com/office/powerpoint/2010/main" val="389104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EU AI ACT: CLASIFICACIÓN POR NIVELES DE RIESGO</a:t>
            </a:r>
          </a:p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El Reglamento de Inteligencia Artificial de la Unión Europea (EU AI </a:t>
            </a:r>
            <a:r>
              <a:rPr lang="es-MX" sz="1600" dirty="0" err="1">
                <a:latin typeface="Calibri" charset="0"/>
                <a:ea typeface="Calibri" charset="0"/>
                <a:cs typeface="Calibri" charset="0"/>
              </a:rPr>
              <a:t>Act</a:t>
            </a: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) clasifica los sistemas de IA según el nivel de riesgo que representan para los derechos fundamentales y la seguridad.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MARCOS DE REFERENCIA</a:t>
            </a:r>
          </a:p>
        </p:txBody>
      </p:sp>
      <p:grpSp>
        <p:nvGrpSpPr>
          <p:cNvPr id="12" name="Agrupar 50">
            <a:extLst>
              <a:ext uri="{FF2B5EF4-FFF2-40B4-BE49-F238E27FC236}">
                <a16:creationId xmlns:a16="http://schemas.microsoft.com/office/drawing/2014/main" id="{52A95E7C-47A7-4DB7-8658-1D6A3AA23C29}"/>
              </a:ext>
            </a:extLst>
          </p:cNvPr>
          <p:cNvGrpSpPr/>
          <p:nvPr/>
        </p:nvGrpSpPr>
        <p:grpSpPr>
          <a:xfrm>
            <a:off x="1765988" y="2013881"/>
            <a:ext cx="2806012" cy="1464771"/>
            <a:chOff x="276723" y="1465697"/>
            <a:chExt cx="2806012" cy="1464771"/>
          </a:xfrm>
        </p:grpSpPr>
        <p:sp>
          <p:nvSpPr>
            <p:cNvPr id="16" name="Rectángulo redondeado 4">
              <a:extLst>
                <a:ext uri="{FF2B5EF4-FFF2-40B4-BE49-F238E27FC236}">
                  <a16:creationId xmlns:a16="http://schemas.microsoft.com/office/drawing/2014/main" id="{7BF6F749-D6AD-44A9-ABE8-2F5777B60FBD}"/>
                </a:ext>
              </a:extLst>
            </p:cNvPr>
            <p:cNvSpPr/>
            <p:nvPr/>
          </p:nvSpPr>
          <p:spPr>
            <a:xfrm>
              <a:off x="547515" y="1465697"/>
              <a:ext cx="2535220" cy="1464771"/>
            </a:xfrm>
            <a:prstGeom prst="roundRect">
              <a:avLst>
                <a:gd name="adj" fmla="val 6762"/>
              </a:avLst>
            </a:prstGeom>
            <a:solidFill>
              <a:srgbClr val="CCEFF2"/>
            </a:solidFill>
            <a:ln w="38100">
              <a:solidFill>
                <a:srgbClr val="00B1C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marL="4763" lvl="0"/>
              <a:r>
                <a:rPr lang="es-PE" sz="1300" b="1" dirty="0">
                  <a:solidFill>
                    <a:srgbClr val="00B1C2"/>
                  </a:solidFill>
                  <a:latin typeface="Calibri" charset="0"/>
                  <a:ea typeface="Calibri" charset="0"/>
                  <a:cs typeface="Calibri" charset="0"/>
                </a:rPr>
                <a:t>RIESGO INACEPTABLE</a:t>
              </a:r>
            </a:p>
            <a:p>
              <a:pPr marL="4763"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Prohibición absoluta (vigilancia biométrica masiva, manipulación psicológica).</a:t>
              </a:r>
            </a:p>
          </p:txBody>
        </p:sp>
        <p:sp>
          <p:nvSpPr>
            <p:cNvPr id="19" name="Acorde 18">
              <a:extLst>
                <a:ext uri="{FF2B5EF4-FFF2-40B4-BE49-F238E27FC236}">
                  <a16:creationId xmlns:a16="http://schemas.microsoft.com/office/drawing/2014/main" id="{5A6D4E89-E96C-4AAA-BF6A-F4EA37722EA6}"/>
                </a:ext>
              </a:extLst>
            </p:cNvPr>
            <p:cNvSpPr/>
            <p:nvPr/>
          </p:nvSpPr>
          <p:spPr>
            <a:xfrm rot="12600000">
              <a:off x="276723" y="2017867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6344C4F-38DB-4984-A00B-BBEEB0E9F90D}"/>
                </a:ext>
              </a:extLst>
            </p:cNvPr>
            <p:cNvSpPr txBox="1"/>
            <p:nvPr/>
          </p:nvSpPr>
          <p:spPr>
            <a:xfrm>
              <a:off x="479524" y="200382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1</a:t>
              </a:r>
            </a:p>
          </p:txBody>
        </p:sp>
      </p:grpSp>
      <p:grpSp>
        <p:nvGrpSpPr>
          <p:cNvPr id="22" name="Agrupar 49">
            <a:extLst>
              <a:ext uri="{FF2B5EF4-FFF2-40B4-BE49-F238E27FC236}">
                <a16:creationId xmlns:a16="http://schemas.microsoft.com/office/drawing/2014/main" id="{A1FF4CAA-4172-442A-BFFC-139F057D0BB4}"/>
              </a:ext>
            </a:extLst>
          </p:cNvPr>
          <p:cNvGrpSpPr/>
          <p:nvPr/>
        </p:nvGrpSpPr>
        <p:grpSpPr>
          <a:xfrm>
            <a:off x="4543528" y="2013881"/>
            <a:ext cx="2806012" cy="1464771"/>
            <a:chOff x="3054263" y="1481981"/>
            <a:chExt cx="2806012" cy="1464771"/>
          </a:xfrm>
        </p:grpSpPr>
        <p:sp>
          <p:nvSpPr>
            <p:cNvPr id="26" name="Rectángulo redondeado 25">
              <a:extLst>
                <a:ext uri="{FF2B5EF4-FFF2-40B4-BE49-F238E27FC236}">
                  <a16:creationId xmlns:a16="http://schemas.microsoft.com/office/drawing/2014/main" id="{5B4BA3E0-9BAD-4495-A304-6C8A0F76C4F6}"/>
                </a:ext>
              </a:extLst>
            </p:cNvPr>
            <p:cNvSpPr/>
            <p:nvPr/>
          </p:nvSpPr>
          <p:spPr>
            <a:xfrm>
              <a:off x="3325055" y="1481981"/>
              <a:ext cx="2535220" cy="1464771"/>
            </a:xfrm>
            <a:prstGeom prst="roundRect">
              <a:avLst>
                <a:gd name="adj" fmla="val 7758"/>
              </a:avLst>
            </a:prstGeom>
            <a:solidFill>
              <a:srgbClr val="E6F3D6"/>
            </a:solidFill>
            <a:ln w="38100">
              <a:solidFill>
                <a:srgbClr val="8EC5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MX" sz="1300" b="1" dirty="0">
                  <a:solidFill>
                    <a:srgbClr val="8EC540"/>
                  </a:solidFill>
                  <a:latin typeface="Calibri" charset="0"/>
                  <a:ea typeface="Calibri" charset="0"/>
                  <a:cs typeface="Calibri" charset="0"/>
                </a:rPr>
                <a:t>ALTO RIESGO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Regulación estricta (IA en contratación, justicia, educación).</a:t>
              </a:r>
            </a:p>
          </p:txBody>
        </p:sp>
        <p:sp>
          <p:nvSpPr>
            <p:cNvPr id="27" name="Acorde 26">
              <a:extLst>
                <a:ext uri="{FF2B5EF4-FFF2-40B4-BE49-F238E27FC236}">
                  <a16:creationId xmlns:a16="http://schemas.microsoft.com/office/drawing/2014/main" id="{013EC0A9-B7CE-49A3-9FF7-3C6DAAF66DF7}"/>
                </a:ext>
              </a:extLst>
            </p:cNvPr>
            <p:cNvSpPr/>
            <p:nvPr/>
          </p:nvSpPr>
          <p:spPr>
            <a:xfrm rot="12600000">
              <a:off x="3054263" y="20158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8E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D1A064EE-8C11-4B29-8C12-DC06344C8894}"/>
                </a:ext>
              </a:extLst>
            </p:cNvPr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2</a:t>
              </a:r>
            </a:p>
          </p:txBody>
        </p:sp>
      </p:grpSp>
      <p:grpSp>
        <p:nvGrpSpPr>
          <p:cNvPr id="29" name="Agrupar 51">
            <a:extLst>
              <a:ext uri="{FF2B5EF4-FFF2-40B4-BE49-F238E27FC236}">
                <a16:creationId xmlns:a16="http://schemas.microsoft.com/office/drawing/2014/main" id="{D81455D9-3AF0-42D9-82CE-BDE79911D855}"/>
              </a:ext>
            </a:extLst>
          </p:cNvPr>
          <p:cNvGrpSpPr/>
          <p:nvPr/>
        </p:nvGrpSpPr>
        <p:grpSpPr>
          <a:xfrm>
            <a:off x="1765988" y="3611798"/>
            <a:ext cx="2806012" cy="1464771"/>
            <a:chOff x="276723" y="3467193"/>
            <a:chExt cx="2806012" cy="1464771"/>
          </a:xfrm>
        </p:grpSpPr>
        <p:sp>
          <p:nvSpPr>
            <p:cNvPr id="30" name="Rectángulo redondeado 36">
              <a:extLst>
                <a:ext uri="{FF2B5EF4-FFF2-40B4-BE49-F238E27FC236}">
                  <a16:creationId xmlns:a16="http://schemas.microsoft.com/office/drawing/2014/main" id="{A4E2B6FE-5449-4895-AAFA-87179623BB9F}"/>
                </a:ext>
              </a:extLst>
            </p:cNvPr>
            <p:cNvSpPr/>
            <p:nvPr/>
          </p:nvSpPr>
          <p:spPr>
            <a:xfrm>
              <a:off x="547515" y="3467193"/>
              <a:ext cx="2535220" cy="1464771"/>
            </a:xfrm>
            <a:prstGeom prst="roundRect">
              <a:avLst>
                <a:gd name="adj" fmla="val 6762"/>
              </a:avLst>
            </a:prstGeom>
            <a:solidFill>
              <a:srgbClr val="FFE2D2"/>
            </a:solidFill>
            <a:ln w="38100">
              <a:solidFill>
                <a:srgbClr val="FF78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FF7828"/>
                  </a:solidFill>
                  <a:latin typeface="Calibri" charset="0"/>
                  <a:ea typeface="Calibri" charset="0"/>
                  <a:cs typeface="Calibri" charset="0"/>
                </a:rPr>
                <a:t>RIESGO LIMITADO</a:t>
              </a:r>
            </a:p>
            <a:p>
              <a:pPr lvl="0"/>
              <a:r>
                <a:rPr lang="es-MX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Transparencia y documentación (</a:t>
              </a:r>
              <a:r>
                <a:rPr lang="es-MX" sz="13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chatbots</a:t>
              </a:r>
              <a:r>
                <a:rPr lang="es-MX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, sistemas </a:t>
              </a:r>
              <a:r>
                <a:rPr lang="es-MX" sz="13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recomendadores</a:t>
              </a:r>
              <a:r>
                <a:rPr lang="es-MX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).</a:t>
              </a:r>
            </a:p>
          </p:txBody>
        </p:sp>
        <p:sp>
          <p:nvSpPr>
            <p:cNvPr id="31" name="Acorde 30">
              <a:extLst>
                <a:ext uri="{FF2B5EF4-FFF2-40B4-BE49-F238E27FC236}">
                  <a16:creationId xmlns:a16="http://schemas.microsoft.com/office/drawing/2014/main" id="{BB6D9821-AA5C-472F-9376-F24729307A79}"/>
                </a:ext>
              </a:extLst>
            </p:cNvPr>
            <p:cNvSpPr/>
            <p:nvPr/>
          </p:nvSpPr>
          <p:spPr>
            <a:xfrm rot="12600000">
              <a:off x="276723" y="4019363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FF7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FE49F77E-B47F-44D3-80F1-C4A8EAC3ECC8}"/>
                </a:ext>
              </a:extLst>
            </p:cNvPr>
            <p:cNvSpPr txBox="1"/>
            <p:nvPr/>
          </p:nvSpPr>
          <p:spPr>
            <a:xfrm>
              <a:off x="479524" y="4005321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3</a:t>
              </a:r>
            </a:p>
          </p:txBody>
        </p:sp>
      </p:grpSp>
      <p:grpSp>
        <p:nvGrpSpPr>
          <p:cNvPr id="33" name="Agrupar 52">
            <a:extLst>
              <a:ext uri="{FF2B5EF4-FFF2-40B4-BE49-F238E27FC236}">
                <a16:creationId xmlns:a16="http://schemas.microsoft.com/office/drawing/2014/main" id="{4B78E1A3-F2BF-4E21-A1F8-2DE3465AB5FF}"/>
              </a:ext>
            </a:extLst>
          </p:cNvPr>
          <p:cNvGrpSpPr/>
          <p:nvPr/>
        </p:nvGrpSpPr>
        <p:grpSpPr>
          <a:xfrm>
            <a:off x="4543528" y="3611798"/>
            <a:ext cx="2806012" cy="1464771"/>
            <a:chOff x="3054263" y="3483477"/>
            <a:chExt cx="2806012" cy="1464771"/>
          </a:xfrm>
        </p:grpSpPr>
        <p:sp>
          <p:nvSpPr>
            <p:cNvPr id="34" name="Rectángulo redondeado 39">
              <a:extLst>
                <a:ext uri="{FF2B5EF4-FFF2-40B4-BE49-F238E27FC236}">
                  <a16:creationId xmlns:a16="http://schemas.microsoft.com/office/drawing/2014/main" id="{8D11AE60-26BB-4D13-A955-5C77E9B49A7F}"/>
                </a:ext>
              </a:extLst>
            </p:cNvPr>
            <p:cNvSpPr/>
            <p:nvPr/>
          </p:nvSpPr>
          <p:spPr>
            <a:xfrm>
              <a:off x="3325055" y="3483477"/>
              <a:ext cx="2535220" cy="1464771"/>
            </a:xfrm>
            <a:prstGeom prst="roundRect">
              <a:avLst>
                <a:gd name="adj" fmla="val 8008"/>
              </a:avLst>
            </a:prstGeom>
            <a:solidFill>
              <a:srgbClr val="FFF2D1"/>
            </a:solidFill>
            <a:ln w="38100">
              <a:solidFill>
                <a:srgbClr val="FEC2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0" tIns="180000" rIns="36000" rtlCol="0" anchor="t"/>
            <a:lstStyle/>
            <a:p>
              <a:pPr lvl="0"/>
              <a:r>
                <a:rPr lang="es-PE" sz="1300" b="1" dirty="0">
                  <a:solidFill>
                    <a:srgbClr val="FEC212"/>
                  </a:solidFill>
                  <a:latin typeface="Calibri" charset="0"/>
                  <a:ea typeface="Calibri" charset="0"/>
                  <a:cs typeface="Calibri" charset="0"/>
                </a:rPr>
                <a:t>RIESGO MÍNIMO</a:t>
              </a:r>
            </a:p>
            <a:p>
              <a:pPr lvl="0"/>
              <a:r>
                <a:rPr lang="es-MX" sz="13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Uso libre pero monitorizado.</a:t>
              </a:r>
            </a:p>
          </p:txBody>
        </p:sp>
        <p:sp>
          <p:nvSpPr>
            <p:cNvPr id="35" name="Acorde 34">
              <a:extLst>
                <a:ext uri="{FF2B5EF4-FFF2-40B4-BE49-F238E27FC236}">
                  <a16:creationId xmlns:a16="http://schemas.microsoft.com/office/drawing/2014/main" id="{43175E4F-AE65-4C74-B82F-A37A659C15CC}"/>
                </a:ext>
              </a:extLst>
            </p:cNvPr>
            <p:cNvSpPr/>
            <p:nvPr/>
          </p:nvSpPr>
          <p:spPr>
            <a:xfrm rot="12600000">
              <a:off x="3054263" y="4017359"/>
              <a:ext cx="673990" cy="654822"/>
            </a:xfrm>
            <a:prstGeom prst="chord">
              <a:avLst>
                <a:gd name="adj1" fmla="val 2700000"/>
                <a:gd name="adj2" fmla="val 15233344"/>
              </a:avLst>
            </a:prstGeom>
            <a:solidFill>
              <a:srgbClr val="FEC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8BACB212-190F-4BB8-A84F-7A6BD253B20F}"/>
                </a:ext>
              </a:extLst>
            </p:cNvPr>
            <p:cNvSpPr txBox="1"/>
            <p:nvPr/>
          </p:nvSpPr>
          <p:spPr>
            <a:xfrm>
              <a:off x="3257063" y="4021605"/>
              <a:ext cx="3706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600" b="1" dirty="0">
                  <a:solidFill>
                    <a:schemeClr val="bg1"/>
                  </a:solidFill>
                  <a:latin typeface="Calibri" charset="0"/>
                  <a:ea typeface="Calibri" charset="0"/>
                  <a:cs typeface="Calibri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531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COLOMBIA: LÍDER REGULATORIO ANDINO</a:t>
            </a:r>
          </a:p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Categoría en el Índice Latinoamericano de Inteligencia Artificial (ILIA) en 2024: adoptante (52.64 puntos).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MARCOS DE REFERENCIA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5EEFD4C-BA4D-499B-A908-58317A715357}"/>
              </a:ext>
            </a:extLst>
          </p:cNvPr>
          <p:cNvSpPr/>
          <p:nvPr/>
        </p:nvSpPr>
        <p:spPr>
          <a:xfrm>
            <a:off x="793980" y="1992327"/>
            <a:ext cx="4186619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Proyecto ley de IA Ética y Sostenible (2024).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EE59F88-E087-4F5A-962E-F91220008F3C}"/>
              </a:ext>
            </a:extLst>
          </p:cNvPr>
          <p:cNvCxnSpPr>
            <a:cxnSpLocks/>
          </p:cNvCxnSpPr>
          <p:nvPr/>
        </p:nvCxnSpPr>
        <p:spPr>
          <a:xfrm flipH="1">
            <a:off x="579578" y="2195197"/>
            <a:ext cx="1" cy="528234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F211688-94B3-4750-AA6A-571CA5085A40}"/>
              </a:ext>
            </a:extLst>
          </p:cNvPr>
          <p:cNvSpPr/>
          <p:nvPr/>
        </p:nvSpPr>
        <p:spPr>
          <a:xfrm>
            <a:off x="793979" y="2723431"/>
            <a:ext cx="4186619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77900">
              <a:lnSpc>
                <a:spcPct val="90000"/>
              </a:lnSpc>
            </a:pPr>
            <a:r>
              <a:rPr lang="pt-BR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Política Nacional de IA (2025-2030) - 6 ejes estratégicos.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99F8E93-BCD3-4B6E-AF22-C485317DC660}"/>
              </a:ext>
            </a:extLst>
          </p:cNvPr>
          <p:cNvSpPr/>
          <p:nvPr/>
        </p:nvSpPr>
        <p:spPr>
          <a:xfrm>
            <a:off x="793979" y="3454536"/>
            <a:ext cx="4186619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Comisión Accidental sobre Proyectos de Ley de IA.</a:t>
            </a:r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" name="Más 4">
            <a:extLst>
              <a:ext uri="{FF2B5EF4-FFF2-40B4-BE49-F238E27FC236}">
                <a16:creationId xmlns:a16="http://schemas.microsoft.com/office/drawing/2014/main" id="{6FFCD1D1-F29A-466C-8B0E-14BCA15FE41B}"/>
              </a:ext>
            </a:extLst>
          </p:cNvPr>
          <p:cNvSpPr/>
          <p:nvPr/>
        </p:nvSpPr>
        <p:spPr>
          <a:xfrm>
            <a:off x="503237" y="2002099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00A69A4-A029-42AE-9D1E-48934EEC252C}"/>
              </a:ext>
            </a:extLst>
          </p:cNvPr>
          <p:cNvCxnSpPr>
            <a:cxnSpLocks/>
          </p:cNvCxnSpPr>
          <p:nvPr/>
        </p:nvCxnSpPr>
        <p:spPr>
          <a:xfrm>
            <a:off x="579578" y="2970112"/>
            <a:ext cx="0" cy="484424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ás 36">
            <a:extLst>
              <a:ext uri="{FF2B5EF4-FFF2-40B4-BE49-F238E27FC236}">
                <a16:creationId xmlns:a16="http://schemas.microsoft.com/office/drawing/2014/main" id="{7245537E-F7B4-4B76-9F81-F58DF1776B83}"/>
              </a:ext>
            </a:extLst>
          </p:cNvPr>
          <p:cNvSpPr/>
          <p:nvPr/>
        </p:nvSpPr>
        <p:spPr>
          <a:xfrm>
            <a:off x="503237" y="2758411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2" name="Más 37">
            <a:extLst>
              <a:ext uri="{FF2B5EF4-FFF2-40B4-BE49-F238E27FC236}">
                <a16:creationId xmlns:a16="http://schemas.microsoft.com/office/drawing/2014/main" id="{A825D886-7A93-4ECA-A878-CF658A9CECE0}"/>
              </a:ext>
            </a:extLst>
          </p:cNvPr>
          <p:cNvSpPr/>
          <p:nvPr/>
        </p:nvSpPr>
        <p:spPr>
          <a:xfrm>
            <a:off x="503237" y="3475143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B8B0989-FAD4-4EDA-A1E5-46343644F556}"/>
              </a:ext>
            </a:extLst>
          </p:cNvPr>
          <p:cNvSpPr/>
          <p:nvPr/>
        </p:nvSpPr>
        <p:spPr>
          <a:xfrm>
            <a:off x="793978" y="4187992"/>
            <a:ext cx="4186619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PE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Suscriptor de principios OCDE sobre IA.</a:t>
            </a:r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119906C-98A0-4925-82AB-CBD457F570A1}"/>
              </a:ext>
            </a:extLst>
          </p:cNvPr>
          <p:cNvCxnSpPr>
            <a:cxnSpLocks/>
          </p:cNvCxnSpPr>
          <p:nvPr/>
        </p:nvCxnSpPr>
        <p:spPr>
          <a:xfrm>
            <a:off x="579578" y="3681917"/>
            <a:ext cx="0" cy="484424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Más 37">
            <a:extLst>
              <a:ext uri="{FF2B5EF4-FFF2-40B4-BE49-F238E27FC236}">
                <a16:creationId xmlns:a16="http://schemas.microsoft.com/office/drawing/2014/main" id="{1700F6EE-A0C4-446B-9098-1323BF3D91B4}"/>
              </a:ext>
            </a:extLst>
          </p:cNvPr>
          <p:cNvSpPr/>
          <p:nvPr/>
        </p:nvSpPr>
        <p:spPr>
          <a:xfrm>
            <a:off x="503237" y="418694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46" name="Google Shape;433;p19">
            <a:extLst>
              <a:ext uri="{FF2B5EF4-FFF2-40B4-BE49-F238E27FC236}">
                <a16:creationId xmlns:a16="http://schemas.microsoft.com/office/drawing/2014/main" id="{5F9FFB61-111F-41B3-8E79-DE98D9B487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1403" y="1647576"/>
            <a:ext cx="3769360" cy="3147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946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PERÚ Y ECUADOR: EN ASCENSO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MARCOS DE REFERENCIA</a:t>
            </a:r>
          </a:p>
        </p:txBody>
      </p:sp>
      <p:sp>
        <p:nvSpPr>
          <p:cNvPr id="16" name="Google Shape;440;p20">
            <a:extLst>
              <a:ext uri="{FF2B5EF4-FFF2-40B4-BE49-F238E27FC236}">
                <a16:creationId xmlns:a16="http://schemas.microsoft.com/office/drawing/2014/main" id="{451E3837-C588-47F5-8D5B-99BA93AF8B1C}"/>
              </a:ext>
            </a:extLst>
          </p:cNvPr>
          <p:cNvSpPr/>
          <p:nvPr/>
        </p:nvSpPr>
        <p:spPr>
          <a:xfrm>
            <a:off x="504507" y="1350645"/>
            <a:ext cx="7248525" cy="960755"/>
          </a:xfrm>
          <a:prstGeom prst="roundRect">
            <a:avLst>
              <a:gd name="adj" fmla="val 16667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325"/>
              <a:buFont typeface="Calibri"/>
              <a:buNone/>
            </a:pPr>
            <a:r>
              <a:rPr lang="es-419" sz="1325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PERÚ (ADOPTANTE - 45.52 </a:t>
            </a:r>
            <a:r>
              <a:rPr lang="es-419" sz="1325" b="1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PUNTOS</a:t>
            </a:r>
            <a:r>
              <a:rPr lang="es-419" sz="1325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25" b="1" i="0" u="none" strike="noStrike" cap="none" dirty="0">
              <a:solidFill>
                <a:srgbClr val="00B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None/>
            </a:pPr>
            <a:endParaRPr sz="13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None/>
            </a:pPr>
            <a:r>
              <a:rPr lang="es-419" sz="132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Ley </a:t>
            </a:r>
            <a:r>
              <a:rPr lang="es-419" sz="1325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N.°</a:t>
            </a:r>
            <a:r>
              <a:rPr lang="es-419" sz="132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31814 (2023) junto con la Estrategia Nacional y la Participación en ISO.</a:t>
            </a:r>
            <a:endParaRPr sz="13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41;p20">
            <a:extLst>
              <a:ext uri="{FF2B5EF4-FFF2-40B4-BE49-F238E27FC236}">
                <a16:creationId xmlns:a16="http://schemas.microsoft.com/office/drawing/2014/main" id="{12E6FF75-7D07-48F3-BB1E-128555EF6CD4}"/>
              </a:ext>
            </a:extLst>
          </p:cNvPr>
          <p:cNvSpPr/>
          <p:nvPr/>
        </p:nvSpPr>
        <p:spPr>
          <a:xfrm rot="-5400000">
            <a:off x="386397" y="1468755"/>
            <a:ext cx="960755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442;p20">
            <a:extLst>
              <a:ext uri="{FF2B5EF4-FFF2-40B4-BE49-F238E27FC236}">
                <a16:creationId xmlns:a16="http://schemas.microsoft.com/office/drawing/2014/main" id="{5E1C92AD-5AE5-4470-8D3F-6B29E873E477}"/>
              </a:ext>
            </a:extLst>
          </p:cNvPr>
          <p:cNvSpPr/>
          <p:nvPr/>
        </p:nvSpPr>
        <p:spPr>
          <a:xfrm>
            <a:off x="504507" y="2478405"/>
            <a:ext cx="7248525" cy="1017905"/>
          </a:xfrm>
          <a:prstGeom prst="roundRect">
            <a:avLst>
              <a:gd name="adj" fmla="val 11518"/>
            </a:avLst>
          </a:prstGeom>
          <a:solidFill>
            <a:srgbClr val="F7CAAC"/>
          </a:solidFill>
          <a:ln>
            <a:noFill/>
          </a:ln>
        </p:spPr>
        <p:txBody>
          <a:bodyPr spcFirstLastPara="1" wrap="square" lIns="81905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325"/>
              <a:buFont typeface="Calibri"/>
              <a:buNone/>
            </a:pPr>
            <a:r>
              <a:rPr lang="es-419" sz="1325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ECUADOR (ADOPTANTE - 34.69 PUNTOS)</a:t>
            </a:r>
            <a:endParaRPr sz="1325" b="1" i="0" u="none" strike="noStrike" cap="none" dirty="0">
              <a:solidFill>
                <a:srgbClr val="00B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3350" marR="0" lvl="0" indent="-44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None/>
            </a:pPr>
            <a:endParaRPr sz="13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2C4"/>
              </a:buClr>
              <a:buSzPts val="1400"/>
              <a:buFont typeface="Arial"/>
              <a:buNone/>
            </a:pPr>
            <a:r>
              <a:rPr lang="es-419" sz="132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Proyectos ambiciosos pero fragmentados (3 leyes paralelas).</a:t>
            </a:r>
            <a:endParaRPr sz="132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443;p20">
            <a:extLst>
              <a:ext uri="{FF2B5EF4-FFF2-40B4-BE49-F238E27FC236}">
                <a16:creationId xmlns:a16="http://schemas.microsoft.com/office/drawing/2014/main" id="{834B39CA-07D3-4038-8AD0-C5C45E92395D}"/>
              </a:ext>
            </a:extLst>
          </p:cNvPr>
          <p:cNvSpPr/>
          <p:nvPr/>
        </p:nvSpPr>
        <p:spPr>
          <a:xfrm rot="-5400000">
            <a:off x="354647" y="2623185"/>
            <a:ext cx="1021715" cy="72453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5"/>
              <a:buFont typeface="Calibri"/>
              <a:buNone/>
            </a:pPr>
            <a:endParaRPr sz="170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445;p20">
            <a:extLst>
              <a:ext uri="{FF2B5EF4-FFF2-40B4-BE49-F238E27FC236}">
                <a16:creationId xmlns:a16="http://schemas.microsoft.com/office/drawing/2014/main" id="{D1488F68-7FC3-499B-8075-9583EF71C9FF}"/>
              </a:ext>
            </a:extLst>
          </p:cNvPr>
          <p:cNvSpPr/>
          <p:nvPr/>
        </p:nvSpPr>
        <p:spPr>
          <a:xfrm>
            <a:off x="720407" y="2748915"/>
            <a:ext cx="300990" cy="47688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446;p20">
            <a:extLst>
              <a:ext uri="{FF2B5EF4-FFF2-40B4-BE49-F238E27FC236}">
                <a16:creationId xmlns:a16="http://schemas.microsoft.com/office/drawing/2014/main" id="{01EC4D6F-5ED5-4B4E-A4DB-D60FBDAB7930}"/>
              </a:ext>
            </a:extLst>
          </p:cNvPr>
          <p:cNvSpPr/>
          <p:nvPr/>
        </p:nvSpPr>
        <p:spPr>
          <a:xfrm>
            <a:off x="720407" y="1586230"/>
            <a:ext cx="300990" cy="47688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B894F34-862C-4B99-9C18-B1661C0F367F}"/>
              </a:ext>
            </a:extLst>
          </p:cNvPr>
          <p:cNvSpPr/>
          <p:nvPr/>
        </p:nvSpPr>
        <p:spPr>
          <a:xfrm>
            <a:off x="503237" y="4009004"/>
            <a:ext cx="8070608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¿QUÉ SUCEDE CON BOLIVIA?</a:t>
            </a:r>
          </a:p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Se encuentra en la categoría “explorador” (26 puntos), ya que no cuenta aún con legislación específica.</a:t>
            </a:r>
          </a:p>
        </p:txBody>
      </p:sp>
    </p:spTree>
    <p:extLst>
      <p:ext uri="{BB962C8B-B14F-4D97-AF65-F5344CB8AC3E}">
        <p14:creationId xmlns:p14="http://schemas.microsoft.com/office/powerpoint/2010/main" val="298120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SOFT-LAW REGIONAL: INICIATIVAS CLAVE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MARCOS DE REFERENCIA</a:t>
            </a:r>
          </a:p>
        </p:txBody>
      </p:sp>
      <p:grpSp>
        <p:nvGrpSpPr>
          <p:cNvPr id="11" name="Google Shape;454;p21">
            <a:extLst>
              <a:ext uri="{FF2B5EF4-FFF2-40B4-BE49-F238E27FC236}">
                <a16:creationId xmlns:a16="http://schemas.microsoft.com/office/drawing/2014/main" id="{1526F095-233D-49DF-8D43-1EC5DFF5A9A9}"/>
              </a:ext>
            </a:extLst>
          </p:cNvPr>
          <p:cNvGrpSpPr/>
          <p:nvPr/>
        </p:nvGrpSpPr>
        <p:grpSpPr>
          <a:xfrm>
            <a:off x="468312" y="1221195"/>
            <a:ext cx="8172451" cy="811377"/>
            <a:chOff x="503237" y="1655543"/>
            <a:chExt cx="7697335" cy="365282"/>
          </a:xfrm>
        </p:grpSpPr>
        <p:sp>
          <p:nvSpPr>
            <p:cNvPr id="12" name="Google Shape;455;p21">
              <a:extLst>
                <a:ext uri="{FF2B5EF4-FFF2-40B4-BE49-F238E27FC236}">
                  <a16:creationId xmlns:a16="http://schemas.microsoft.com/office/drawing/2014/main" id="{7AC4F27F-07C7-4410-9F3A-775A0A28B9E7}"/>
                </a:ext>
              </a:extLst>
            </p:cNvPr>
            <p:cNvSpPr/>
            <p:nvPr/>
          </p:nvSpPr>
          <p:spPr>
            <a:xfrm>
              <a:off x="503237" y="1655543"/>
              <a:ext cx="1499299" cy="365282"/>
            </a:xfrm>
            <a:prstGeom prst="rect">
              <a:avLst/>
            </a:prstGeom>
            <a:solidFill>
              <a:srgbClr val="00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s-419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RIPD 2019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56;p21">
              <a:extLst>
                <a:ext uri="{FF2B5EF4-FFF2-40B4-BE49-F238E27FC236}">
                  <a16:creationId xmlns:a16="http://schemas.microsoft.com/office/drawing/2014/main" id="{43C9B719-335E-4F6F-8B5A-E425ED4702A3}"/>
                </a:ext>
              </a:extLst>
            </p:cNvPr>
            <p:cNvSpPr/>
            <p:nvPr/>
          </p:nvSpPr>
          <p:spPr>
            <a:xfrm>
              <a:off x="2052746" y="1655543"/>
              <a:ext cx="1499299" cy="365282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s-419" sz="1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OEA</a:t>
              </a:r>
              <a:endPara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457;p21">
              <a:extLst>
                <a:ext uri="{FF2B5EF4-FFF2-40B4-BE49-F238E27FC236}">
                  <a16:creationId xmlns:a16="http://schemas.microsoft.com/office/drawing/2014/main" id="{3CA49360-752D-47DD-9A92-D12D15F10C2B}"/>
                </a:ext>
              </a:extLst>
            </p:cNvPr>
            <p:cNvSpPr/>
            <p:nvPr/>
          </p:nvSpPr>
          <p:spPr>
            <a:xfrm>
              <a:off x="3602255" y="1655543"/>
              <a:ext cx="1499299" cy="365282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s-419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Unesco 2021</a:t>
              </a:r>
              <a:endParaRPr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58;p21">
              <a:extLst>
                <a:ext uri="{FF2B5EF4-FFF2-40B4-BE49-F238E27FC236}">
                  <a16:creationId xmlns:a16="http://schemas.microsoft.com/office/drawing/2014/main" id="{17A9FB9E-91DB-4816-810B-50EC98383369}"/>
                </a:ext>
              </a:extLst>
            </p:cNvPr>
            <p:cNvSpPr/>
            <p:nvPr/>
          </p:nvSpPr>
          <p:spPr>
            <a:xfrm>
              <a:off x="5151764" y="1655543"/>
              <a:ext cx="1499299" cy="365282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s-419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Declaración de Montevideo (2024)</a:t>
              </a:r>
              <a:endParaRPr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59;p21">
              <a:extLst>
                <a:ext uri="{FF2B5EF4-FFF2-40B4-BE49-F238E27FC236}">
                  <a16:creationId xmlns:a16="http://schemas.microsoft.com/office/drawing/2014/main" id="{7C8797B0-AFAB-4B36-9292-03B27E1FBBC5}"/>
                </a:ext>
              </a:extLst>
            </p:cNvPr>
            <p:cNvSpPr/>
            <p:nvPr/>
          </p:nvSpPr>
          <p:spPr>
            <a:xfrm>
              <a:off x="6701273" y="1655543"/>
              <a:ext cx="1499299" cy="365282"/>
            </a:xfrm>
            <a:prstGeom prst="rect">
              <a:avLst/>
            </a:prstGeom>
            <a:solidFill>
              <a:srgbClr val="FDC21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s-419" sz="1600" b="1" i="0" u="none" strike="noStrike" cap="none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IAméricas</a:t>
              </a:r>
              <a:r>
                <a:rPr lang="es-419" sz="16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(2024)</a:t>
              </a:r>
              <a:endParaRPr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460;p21">
            <a:extLst>
              <a:ext uri="{FF2B5EF4-FFF2-40B4-BE49-F238E27FC236}">
                <a16:creationId xmlns:a16="http://schemas.microsoft.com/office/drawing/2014/main" id="{B1DB5D26-4B0D-452B-B358-5676389B6E16}"/>
              </a:ext>
            </a:extLst>
          </p:cNvPr>
          <p:cNvSpPr/>
          <p:nvPr/>
        </p:nvSpPr>
        <p:spPr>
          <a:xfrm>
            <a:off x="468630" y="3508692"/>
            <a:ext cx="1591945" cy="1611948"/>
          </a:xfrm>
          <a:prstGeom prst="rect">
            <a:avLst/>
          </a:prstGeom>
          <a:solidFill>
            <a:srgbClr val="B9E7ED"/>
          </a:solidFill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Recomendaciones para tratamiento de datos en IA.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461;p21">
            <a:extLst>
              <a:ext uri="{FF2B5EF4-FFF2-40B4-BE49-F238E27FC236}">
                <a16:creationId xmlns:a16="http://schemas.microsoft.com/office/drawing/2014/main" id="{2ABEDEF3-A588-4CFF-8B22-83A4C677E91E}"/>
              </a:ext>
            </a:extLst>
          </p:cNvPr>
          <p:cNvSpPr/>
          <p:nvPr/>
        </p:nvSpPr>
        <p:spPr>
          <a:xfrm>
            <a:off x="2113280" y="3508692"/>
            <a:ext cx="1591945" cy="1611948"/>
          </a:xfrm>
          <a:prstGeom prst="rect">
            <a:avLst/>
          </a:prstGeom>
          <a:solidFill>
            <a:srgbClr val="DDEEC7"/>
          </a:solidFill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Principios Interamericanos sobre Neurociencias y Derechos Humanos.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462;p21">
            <a:extLst>
              <a:ext uri="{FF2B5EF4-FFF2-40B4-BE49-F238E27FC236}">
                <a16:creationId xmlns:a16="http://schemas.microsoft.com/office/drawing/2014/main" id="{0F3212BE-4A3F-45B4-B1D4-CCBE821C2210}"/>
              </a:ext>
            </a:extLst>
          </p:cNvPr>
          <p:cNvSpPr/>
          <p:nvPr/>
        </p:nvSpPr>
        <p:spPr>
          <a:xfrm>
            <a:off x="3758565" y="3508692"/>
            <a:ext cx="1591945" cy="1611948"/>
          </a:xfrm>
          <a:prstGeom prst="rect">
            <a:avLst/>
          </a:prstGeom>
          <a:solidFill>
            <a:srgbClr val="D4CBE3"/>
          </a:solidFill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Recomendación sobre ética (193 Estados).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463;p21">
            <a:extLst>
              <a:ext uri="{FF2B5EF4-FFF2-40B4-BE49-F238E27FC236}">
                <a16:creationId xmlns:a16="http://schemas.microsoft.com/office/drawing/2014/main" id="{71A18FCB-3F92-477F-8B2B-3A18674AB20D}"/>
              </a:ext>
            </a:extLst>
          </p:cNvPr>
          <p:cNvSpPr/>
          <p:nvPr/>
        </p:nvSpPr>
        <p:spPr>
          <a:xfrm>
            <a:off x="5403850" y="3508692"/>
            <a:ext cx="1591945" cy="1611948"/>
          </a:xfrm>
          <a:prstGeom prst="rect">
            <a:avLst/>
          </a:prstGeom>
          <a:solidFill>
            <a:srgbClr val="FBC8C4"/>
          </a:solidFill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Hoja de ruta para ética de IA en ALC.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464;p21">
            <a:extLst>
              <a:ext uri="{FF2B5EF4-FFF2-40B4-BE49-F238E27FC236}">
                <a16:creationId xmlns:a16="http://schemas.microsoft.com/office/drawing/2014/main" id="{D26ACEE9-6DA3-43D8-840E-6CB82B76CDF4}"/>
              </a:ext>
            </a:extLst>
          </p:cNvPr>
          <p:cNvSpPr/>
          <p:nvPr/>
        </p:nvSpPr>
        <p:spPr>
          <a:xfrm>
            <a:off x="7049135" y="3508692"/>
            <a:ext cx="1591945" cy="1611948"/>
          </a:xfrm>
          <a:prstGeom prst="rect">
            <a:avLst/>
          </a:prstGeom>
          <a:solidFill>
            <a:srgbClr val="FFEDBF"/>
          </a:solidFill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Alianza para IA responsable (Colombia, Ecuador, España).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465;p21">
            <a:extLst>
              <a:ext uri="{FF2B5EF4-FFF2-40B4-BE49-F238E27FC236}">
                <a16:creationId xmlns:a16="http://schemas.microsoft.com/office/drawing/2014/main" id="{4378710D-EF95-4017-9203-0D9A40CE54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135" y="2032317"/>
            <a:ext cx="1594485" cy="146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466;p21">
            <a:extLst>
              <a:ext uri="{FF2B5EF4-FFF2-40B4-BE49-F238E27FC236}">
                <a16:creationId xmlns:a16="http://schemas.microsoft.com/office/drawing/2014/main" id="{F612D758-9BDD-469E-B049-EC58A43FAE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6493"/>
          <a:stretch/>
        </p:blipFill>
        <p:spPr>
          <a:xfrm>
            <a:off x="468630" y="2092007"/>
            <a:ext cx="159131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467;p21">
            <a:extLst>
              <a:ext uri="{FF2B5EF4-FFF2-40B4-BE49-F238E27FC236}">
                <a16:creationId xmlns:a16="http://schemas.microsoft.com/office/drawing/2014/main" id="{62B69F89-EA99-410E-A496-03846C0433A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56660" y="2059622"/>
            <a:ext cx="1596390" cy="1421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468;p21">
            <a:extLst>
              <a:ext uri="{FF2B5EF4-FFF2-40B4-BE49-F238E27FC236}">
                <a16:creationId xmlns:a16="http://schemas.microsoft.com/office/drawing/2014/main" id="{5D0F268F-C792-43C7-B859-F04E0F03861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3375" y="2077402"/>
            <a:ext cx="1583055" cy="1385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469;p21">
            <a:extLst>
              <a:ext uri="{FF2B5EF4-FFF2-40B4-BE49-F238E27FC236}">
                <a16:creationId xmlns:a16="http://schemas.microsoft.com/office/drawing/2014/main" id="{39AD0345-2087-4E66-A324-F1E3ACB40F2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3280" y="2092007"/>
            <a:ext cx="1576705" cy="1359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662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FRAGMENTACIÓN REGULATORIA EN LA CAN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MARCOS DE REFERENCIA</a:t>
            </a:r>
          </a:p>
        </p:txBody>
      </p:sp>
      <p:sp>
        <p:nvSpPr>
          <p:cNvPr id="20" name="Google Shape;476;p22">
            <a:extLst>
              <a:ext uri="{FF2B5EF4-FFF2-40B4-BE49-F238E27FC236}">
                <a16:creationId xmlns:a16="http://schemas.microsoft.com/office/drawing/2014/main" id="{E8750B1E-440C-4EAF-B27A-B7E9778F43F4}"/>
              </a:ext>
            </a:extLst>
          </p:cNvPr>
          <p:cNvSpPr txBox="1"/>
          <p:nvPr/>
        </p:nvSpPr>
        <p:spPr>
          <a:xfrm>
            <a:off x="511629" y="4794636"/>
            <a:ext cx="552323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Oportunidad: </a:t>
            </a: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Agenda Digital Andina (ADA) coherente.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477;p22">
            <a:extLst>
              <a:ext uri="{FF2B5EF4-FFF2-40B4-BE49-F238E27FC236}">
                <a16:creationId xmlns:a16="http://schemas.microsoft.com/office/drawing/2014/main" id="{B4EE0CC6-8A44-4B81-BCEB-9DF3B8D1E63D}"/>
              </a:ext>
            </a:extLst>
          </p:cNvPr>
          <p:cNvSpPr/>
          <p:nvPr/>
        </p:nvSpPr>
        <p:spPr>
          <a:xfrm>
            <a:off x="511629" y="1362075"/>
            <a:ext cx="7872095" cy="395605"/>
          </a:xfrm>
          <a:prstGeom prst="roundRect">
            <a:avLst>
              <a:gd name="adj" fmla="val 50000"/>
            </a:avLst>
          </a:prstGeom>
          <a:solidFill>
            <a:srgbClr val="C4E0B2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478;p22">
            <a:extLst>
              <a:ext uri="{FF2B5EF4-FFF2-40B4-BE49-F238E27FC236}">
                <a16:creationId xmlns:a16="http://schemas.microsoft.com/office/drawing/2014/main" id="{11DCA38C-A89E-4D08-95DD-070A252D9F08}"/>
              </a:ext>
            </a:extLst>
          </p:cNvPr>
          <p:cNvSpPr/>
          <p:nvPr/>
        </p:nvSpPr>
        <p:spPr>
          <a:xfrm>
            <a:off x="511629" y="1362075"/>
            <a:ext cx="2085975" cy="149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existe tratado vinculante regional sobre IA.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479;p22">
            <a:extLst>
              <a:ext uri="{FF2B5EF4-FFF2-40B4-BE49-F238E27FC236}">
                <a16:creationId xmlns:a16="http://schemas.microsoft.com/office/drawing/2014/main" id="{A182B137-54D8-434F-BA29-0C97D85676F2}"/>
              </a:ext>
            </a:extLst>
          </p:cNvPr>
          <p:cNvSpPr/>
          <p:nvPr/>
        </p:nvSpPr>
        <p:spPr>
          <a:xfrm>
            <a:off x="3405324" y="1357630"/>
            <a:ext cx="2134870" cy="149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Consecuencia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Emprendedores enfrentan múltiples marcos legales distintos.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480;p22">
            <a:extLst>
              <a:ext uri="{FF2B5EF4-FFF2-40B4-BE49-F238E27FC236}">
                <a16:creationId xmlns:a16="http://schemas.microsoft.com/office/drawing/2014/main" id="{8464DB40-5CDF-414C-B400-C8436FFFEE3E}"/>
              </a:ext>
            </a:extLst>
          </p:cNvPr>
          <p:cNvSpPr/>
          <p:nvPr/>
        </p:nvSpPr>
        <p:spPr>
          <a:xfrm>
            <a:off x="6129459" y="1362080"/>
            <a:ext cx="22632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1080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41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operativos elevados, barreras de entrada, incertidumbre jurídica.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481;p22">
            <a:extLst>
              <a:ext uri="{FF2B5EF4-FFF2-40B4-BE49-F238E27FC236}">
                <a16:creationId xmlns:a16="http://schemas.microsoft.com/office/drawing/2014/main" id="{B3313C83-6B88-4F47-8079-FB63285A40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149" y="2913380"/>
            <a:ext cx="1854200" cy="1537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482;p22">
            <a:extLst>
              <a:ext uri="{FF2B5EF4-FFF2-40B4-BE49-F238E27FC236}">
                <a16:creationId xmlns:a16="http://schemas.microsoft.com/office/drawing/2014/main" id="{DF0416AC-DF05-40F5-A740-6794143A526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4879" y="3049270"/>
            <a:ext cx="1620520" cy="1367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83;p22">
            <a:extLst>
              <a:ext uri="{FF2B5EF4-FFF2-40B4-BE49-F238E27FC236}">
                <a16:creationId xmlns:a16="http://schemas.microsoft.com/office/drawing/2014/main" id="{8E289B43-710E-429B-857B-2F5599C1471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02879" y="3004820"/>
            <a:ext cx="1391285" cy="14116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20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ESTÁNDARES TÉCNICOS: ISO/IEC</a:t>
            </a:r>
          </a:p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La ISO y la Comisión Electrotécnica Internacional desarrollan lo siguiente: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MARCOS DE REFERENCIA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5EEFD4C-BA4D-499B-A908-58317A715357}"/>
              </a:ext>
            </a:extLst>
          </p:cNvPr>
          <p:cNvSpPr/>
          <p:nvPr/>
        </p:nvSpPr>
        <p:spPr>
          <a:xfrm>
            <a:off x="793980" y="1992327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ISO/IEC TR 24028:2020: descripción general de IA y su seguridad.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EE59F88-E087-4F5A-962E-F91220008F3C}"/>
              </a:ext>
            </a:extLst>
          </p:cNvPr>
          <p:cNvCxnSpPr>
            <a:cxnSpLocks/>
          </p:cNvCxnSpPr>
          <p:nvPr/>
        </p:nvCxnSpPr>
        <p:spPr>
          <a:xfrm flipH="1">
            <a:off x="579578" y="2195197"/>
            <a:ext cx="1" cy="528234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F211688-94B3-4750-AA6A-571CA5085A40}"/>
              </a:ext>
            </a:extLst>
          </p:cNvPr>
          <p:cNvSpPr/>
          <p:nvPr/>
        </p:nvSpPr>
        <p:spPr>
          <a:xfrm>
            <a:off x="793979" y="2723431"/>
            <a:ext cx="4186619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77900">
              <a:lnSpc>
                <a:spcPct val="90000"/>
              </a:lnSpc>
            </a:pPr>
            <a:r>
              <a:rPr lang="pt-BR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ISO/IEC 42001: sistema de </a:t>
            </a:r>
            <a:r>
              <a:rPr lang="es-PE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gestión</a:t>
            </a:r>
            <a:r>
              <a:rPr lang="pt-BR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 para IA. 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99F8E93-BCD3-4B6E-AF22-C485317DC660}"/>
              </a:ext>
            </a:extLst>
          </p:cNvPr>
          <p:cNvSpPr/>
          <p:nvPr/>
        </p:nvSpPr>
        <p:spPr>
          <a:xfrm>
            <a:off x="793979" y="3454536"/>
            <a:ext cx="4186619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MX" b="1" dirty="0">
                <a:solidFill>
                  <a:srgbClr val="EE4639"/>
                </a:solidFill>
                <a:latin typeface="Calibri" charset="0"/>
                <a:ea typeface="Calibri" charset="0"/>
                <a:cs typeface="Calibri" charset="0"/>
              </a:rPr>
              <a:t>ISO/IEC 23894: riesgos de seguridad de la información en IA.</a:t>
            </a:r>
          </a:p>
        </p:txBody>
      </p:sp>
      <p:sp>
        <p:nvSpPr>
          <p:cNvPr id="39" name="Más 4">
            <a:extLst>
              <a:ext uri="{FF2B5EF4-FFF2-40B4-BE49-F238E27FC236}">
                <a16:creationId xmlns:a16="http://schemas.microsoft.com/office/drawing/2014/main" id="{6FFCD1D1-F29A-466C-8B0E-14BCA15FE41B}"/>
              </a:ext>
            </a:extLst>
          </p:cNvPr>
          <p:cNvSpPr/>
          <p:nvPr/>
        </p:nvSpPr>
        <p:spPr>
          <a:xfrm>
            <a:off x="503237" y="2002099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00A69A4-A029-42AE-9D1E-48934EEC252C}"/>
              </a:ext>
            </a:extLst>
          </p:cNvPr>
          <p:cNvCxnSpPr>
            <a:cxnSpLocks/>
          </p:cNvCxnSpPr>
          <p:nvPr/>
        </p:nvCxnSpPr>
        <p:spPr>
          <a:xfrm>
            <a:off x="579578" y="2970112"/>
            <a:ext cx="0" cy="484424"/>
          </a:xfrm>
          <a:prstGeom prst="line">
            <a:avLst/>
          </a:prstGeom>
          <a:ln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ás 36">
            <a:extLst>
              <a:ext uri="{FF2B5EF4-FFF2-40B4-BE49-F238E27FC236}">
                <a16:creationId xmlns:a16="http://schemas.microsoft.com/office/drawing/2014/main" id="{7245537E-F7B4-4B76-9F81-F58DF1776B83}"/>
              </a:ext>
            </a:extLst>
          </p:cNvPr>
          <p:cNvSpPr/>
          <p:nvPr/>
        </p:nvSpPr>
        <p:spPr>
          <a:xfrm>
            <a:off x="503237" y="2758411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2" name="Más 37">
            <a:extLst>
              <a:ext uri="{FF2B5EF4-FFF2-40B4-BE49-F238E27FC236}">
                <a16:creationId xmlns:a16="http://schemas.microsoft.com/office/drawing/2014/main" id="{A825D886-7A93-4ECA-A878-CF658A9CECE0}"/>
              </a:ext>
            </a:extLst>
          </p:cNvPr>
          <p:cNvSpPr/>
          <p:nvPr/>
        </p:nvSpPr>
        <p:spPr>
          <a:xfrm>
            <a:off x="503237" y="3475143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D1E39BA-EEDF-4C25-AD8B-D3B2C2B1FA73}"/>
              </a:ext>
            </a:extLst>
          </p:cNvPr>
          <p:cNvSpPr/>
          <p:nvPr/>
        </p:nvSpPr>
        <p:spPr>
          <a:xfrm>
            <a:off x="503237" y="4416706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Perú participa activamente en estos estándares.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B6A12D5-AB02-4D52-8A77-438F635E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358" y="1586675"/>
            <a:ext cx="2585403" cy="363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4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IMPACTOS SOCIALES </a:t>
            </a:r>
            <a:br>
              <a:rPr lang="es-PE" sz="28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Y RIESGOS EN IA</a:t>
            </a:r>
            <a:endParaRPr lang="es-ES" sz="1600" dirty="0">
              <a:solidFill>
                <a:schemeClr val="bg1"/>
              </a:solidFill>
              <a:latin typeface="Calibri" panose="020F0502020204030204" pitchFamily="34" charset="0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3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IA Y MERCADO DE TRABAJO</a:t>
            </a:r>
          </a:p>
          <a:p>
            <a:pPr lvl="0" defTabSz="711200">
              <a:spcAft>
                <a:spcPts val="600"/>
              </a:spcAft>
            </a:pPr>
            <a:r>
              <a:rPr lang="es-MX" sz="1600" dirty="0">
                <a:latin typeface="Calibri" charset="0"/>
                <a:ea typeface="Calibri" charset="0"/>
                <a:cs typeface="Calibri" charset="0"/>
              </a:rPr>
              <a:t>Según una estimación del FMI, la IA afectará al 40% de los empleos globales.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IMPACTOS SOCIALES Y RIESGOS EN IA</a:t>
            </a:r>
          </a:p>
        </p:txBody>
      </p:sp>
      <p:sp>
        <p:nvSpPr>
          <p:cNvPr id="20" name="Google Shape;508;p25">
            <a:extLst>
              <a:ext uri="{FF2B5EF4-FFF2-40B4-BE49-F238E27FC236}">
                <a16:creationId xmlns:a16="http://schemas.microsoft.com/office/drawing/2014/main" id="{31B4E6C0-54EB-44B9-B169-4B8621EE3118}"/>
              </a:ext>
            </a:extLst>
          </p:cNvPr>
          <p:cNvSpPr/>
          <p:nvPr/>
        </p:nvSpPr>
        <p:spPr>
          <a:xfrm>
            <a:off x="1292429" y="2270792"/>
            <a:ext cx="2395170" cy="31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40% de exposición laboral.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509;p25">
            <a:extLst>
              <a:ext uri="{FF2B5EF4-FFF2-40B4-BE49-F238E27FC236}">
                <a16:creationId xmlns:a16="http://schemas.microsoft.com/office/drawing/2014/main" id="{CB77BF22-4ED9-42B4-905B-9EBD6B0E680C}"/>
              </a:ext>
            </a:extLst>
          </p:cNvPr>
          <p:cNvSpPr/>
          <p:nvPr/>
        </p:nvSpPr>
        <p:spPr>
          <a:xfrm>
            <a:off x="1292429" y="2001225"/>
            <a:ext cx="3177946" cy="24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MERCADOS EMERGENTES</a:t>
            </a:r>
            <a:endParaRPr sz="1600" b="1" i="0" u="none" strike="noStrike" cap="none" dirty="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510;p25">
            <a:extLst>
              <a:ext uri="{FF2B5EF4-FFF2-40B4-BE49-F238E27FC236}">
                <a16:creationId xmlns:a16="http://schemas.microsoft.com/office/drawing/2014/main" id="{8D07D9F6-BDB1-40C4-AB06-C04B6CDE928E}"/>
              </a:ext>
            </a:extLst>
          </p:cNvPr>
          <p:cNvSpPr/>
          <p:nvPr/>
        </p:nvSpPr>
        <p:spPr>
          <a:xfrm>
            <a:off x="494635" y="1959949"/>
            <a:ext cx="545762" cy="545762"/>
          </a:xfrm>
          <a:prstGeom prst="ellipse">
            <a:avLst/>
          </a:prstGeom>
          <a:solidFill>
            <a:srgbClr val="5481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419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512;p25">
            <a:extLst>
              <a:ext uri="{FF2B5EF4-FFF2-40B4-BE49-F238E27FC236}">
                <a16:creationId xmlns:a16="http://schemas.microsoft.com/office/drawing/2014/main" id="{FC53A5C7-4BE4-406A-B93B-D103C6BCA39F}"/>
              </a:ext>
            </a:extLst>
          </p:cNvPr>
          <p:cNvSpPr/>
          <p:nvPr/>
        </p:nvSpPr>
        <p:spPr>
          <a:xfrm>
            <a:off x="494635" y="3238800"/>
            <a:ext cx="545762" cy="545762"/>
          </a:xfrm>
          <a:prstGeom prst="ellipse">
            <a:avLst/>
          </a:prstGeom>
          <a:solidFill>
            <a:srgbClr val="5481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419" sz="15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509;p25">
            <a:extLst>
              <a:ext uri="{FF2B5EF4-FFF2-40B4-BE49-F238E27FC236}">
                <a16:creationId xmlns:a16="http://schemas.microsoft.com/office/drawing/2014/main" id="{54CE9DEC-32B4-46B2-9964-AA59B3A5D9BB}"/>
              </a:ext>
            </a:extLst>
          </p:cNvPr>
          <p:cNvSpPr/>
          <p:nvPr/>
        </p:nvSpPr>
        <p:spPr>
          <a:xfrm>
            <a:off x="1292429" y="3256626"/>
            <a:ext cx="3177946" cy="24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>
              <a:buSzPts val="1500"/>
            </a:pPr>
            <a:r>
              <a:rPr lang="es-419" sz="1600" b="1" dirty="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PAÍSES DE BAJOS INGRESOS</a:t>
            </a:r>
          </a:p>
        </p:txBody>
      </p:sp>
      <p:sp>
        <p:nvSpPr>
          <p:cNvPr id="31" name="Google Shape;508;p25">
            <a:extLst>
              <a:ext uri="{FF2B5EF4-FFF2-40B4-BE49-F238E27FC236}">
                <a16:creationId xmlns:a16="http://schemas.microsoft.com/office/drawing/2014/main" id="{AD06082B-C29E-4894-B2E0-C2AA018CA528}"/>
              </a:ext>
            </a:extLst>
          </p:cNvPr>
          <p:cNvSpPr/>
          <p:nvPr/>
        </p:nvSpPr>
        <p:spPr>
          <a:xfrm>
            <a:off x="1292429" y="3537808"/>
            <a:ext cx="2395170" cy="312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lvl="0">
              <a:lnSpc>
                <a:spcPct val="150000"/>
              </a:lnSpc>
              <a:buSzPts val="1350"/>
            </a:pPr>
            <a:r>
              <a:rPr lang="es-419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26% de exposición.</a:t>
            </a:r>
          </a:p>
        </p:txBody>
      </p:sp>
      <p:pic>
        <p:nvPicPr>
          <p:cNvPr id="32" name="Google Shape;506;p25" descr="C:/Users/USER/OneDrive/Escritorio/1.png1">
            <a:extLst>
              <a:ext uri="{FF2B5EF4-FFF2-40B4-BE49-F238E27FC236}">
                <a16:creationId xmlns:a16="http://schemas.microsoft.com/office/drawing/2014/main" id="{4AB11F36-02F9-4014-BC5C-9D02AF7910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293" r="14293"/>
          <a:stretch/>
        </p:blipFill>
        <p:spPr>
          <a:xfrm>
            <a:off x="4994641" y="1829328"/>
            <a:ext cx="1522095" cy="3364706"/>
          </a:xfrm>
          <a:custGeom>
            <a:avLst/>
            <a:gdLst/>
            <a:ahLst/>
            <a:cxnLst/>
            <a:rect l="l" t="t" r="r" b="b"/>
            <a:pathLst>
              <a:path w="3762" h="8314" extrusionOk="0">
                <a:moveTo>
                  <a:pt x="476" y="0"/>
                </a:moveTo>
                <a:lnTo>
                  <a:pt x="3286" y="0"/>
                </a:lnTo>
                <a:lnTo>
                  <a:pt x="3307" y="2"/>
                </a:lnTo>
                <a:cubicBezTo>
                  <a:pt x="3563" y="28"/>
                  <a:pt x="3762" y="243"/>
                  <a:pt x="3762" y="506"/>
                </a:cubicBezTo>
                <a:lnTo>
                  <a:pt x="3762" y="7808"/>
                </a:lnTo>
                <a:cubicBezTo>
                  <a:pt x="3762" y="8071"/>
                  <a:pt x="3563" y="8286"/>
                  <a:pt x="3307" y="8312"/>
                </a:cubicBezTo>
                <a:lnTo>
                  <a:pt x="3286" y="8314"/>
                </a:lnTo>
                <a:lnTo>
                  <a:pt x="476" y="8314"/>
                </a:lnTo>
                <a:lnTo>
                  <a:pt x="455" y="8312"/>
                </a:lnTo>
                <a:cubicBezTo>
                  <a:pt x="199" y="8286"/>
                  <a:pt x="0" y="8071"/>
                  <a:pt x="0" y="7808"/>
                </a:cubicBezTo>
                <a:lnTo>
                  <a:pt x="0" y="506"/>
                </a:lnTo>
                <a:cubicBezTo>
                  <a:pt x="0" y="243"/>
                  <a:pt x="199" y="28"/>
                  <a:pt x="455" y="2"/>
                </a:cubicBezTo>
                <a:lnTo>
                  <a:pt x="476" y="0"/>
                </a:lnTo>
                <a:close/>
              </a:path>
            </a:pathLst>
          </a:custGeom>
          <a:noFill/>
          <a:ln w="9525" cap="flat" cmpd="sng">
            <a:solidFill>
              <a:srgbClr val="999999">
                <a:alpha val="49411"/>
              </a:srgbClr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3" name="Google Shape;507;p25" descr="C:/Users/USER/OneDrive/Escritorio/2.png2">
            <a:extLst>
              <a:ext uri="{FF2B5EF4-FFF2-40B4-BE49-F238E27FC236}">
                <a16:creationId xmlns:a16="http://schemas.microsoft.com/office/drawing/2014/main" id="{DF572897-B7E8-4835-9394-84270BBA8A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045" r="7046"/>
          <a:stretch/>
        </p:blipFill>
        <p:spPr>
          <a:xfrm>
            <a:off x="6666940" y="1829328"/>
            <a:ext cx="1906905" cy="3364706"/>
          </a:xfrm>
          <a:custGeom>
            <a:avLst/>
            <a:gdLst/>
            <a:ahLst/>
            <a:cxnLst/>
            <a:rect l="l" t="t" r="r" b="b"/>
            <a:pathLst>
              <a:path w="4221" h="7065" extrusionOk="0">
                <a:moveTo>
                  <a:pt x="476" y="0"/>
                </a:moveTo>
                <a:lnTo>
                  <a:pt x="3745" y="0"/>
                </a:lnTo>
                <a:cubicBezTo>
                  <a:pt x="4008" y="0"/>
                  <a:pt x="4221" y="213"/>
                  <a:pt x="4221" y="476"/>
                </a:cubicBezTo>
                <a:lnTo>
                  <a:pt x="4221" y="6589"/>
                </a:lnTo>
                <a:cubicBezTo>
                  <a:pt x="4221" y="6852"/>
                  <a:pt x="4008" y="7065"/>
                  <a:pt x="3745" y="7065"/>
                </a:cubicBezTo>
                <a:lnTo>
                  <a:pt x="476" y="7065"/>
                </a:lnTo>
                <a:cubicBezTo>
                  <a:pt x="213" y="7065"/>
                  <a:pt x="0" y="6852"/>
                  <a:pt x="0" y="6589"/>
                </a:cubicBezTo>
                <a:lnTo>
                  <a:pt x="0" y="476"/>
                </a:lnTo>
                <a:cubicBezTo>
                  <a:pt x="0" y="213"/>
                  <a:pt x="213" y="0"/>
                  <a:pt x="476" y="0"/>
                </a:cubicBezTo>
                <a:close/>
              </a:path>
            </a:pathLst>
          </a:custGeom>
          <a:noFill/>
          <a:ln w="9525" cap="flat" cmpd="sng">
            <a:solidFill>
              <a:srgbClr val="999999">
                <a:alpha val="49411"/>
              </a:srgbClr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" name="Google Shape;514;p25">
            <a:extLst>
              <a:ext uri="{FF2B5EF4-FFF2-40B4-BE49-F238E27FC236}">
                <a16:creationId xmlns:a16="http://schemas.microsoft.com/office/drawing/2014/main" id="{EB101DA5-8EB1-493D-9975-804E4F04AF9E}"/>
              </a:ext>
            </a:extLst>
          </p:cNvPr>
          <p:cNvSpPr txBox="1"/>
          <p:nvPr/>
        </p:nvSpPr>
        <p:spPr>
          <a:xfrm>
            <a:off x="503237" y="4457640"/>
            <a:ext cx="426030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515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Riesgo: </a:t>
            </a:r>
            <a:r>
              <a:rPr lang="es-419" sz="1515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aumento de desigualdad si no hay políticas de capacitación.</a:t>
            </a:r>
            <a:endParaRPr sz="151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820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ASIMETRÍAS TECNOLÓGICAS EN LA CAN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IMPACTOS SOCIALES Y RIESGOS EN IA</a:t>
            </a:r>
          </a:p>
        </p:txBody>
      </p:sp>
      <p:sp>
        <p:nvSpPr>
          <p:cNvPr id="13" name="Google Shape;522;p26">
            <a:extLst>
              <a:ext uri="{FF2B5EF4-FFF2-40B4-BE49-F238E27FC236}">
                <a16:creationId xmlns:a16="http://schemas.microsoft.com/office/drawing/2014/main" id="{D16A8AD6-50C8-4A48-BF5C-5EEC542DB721}"/>
              </a:ext>
            </a:extLst>
          </p:cNvPr>
          <p:cNvSpPr/>
          <p:nvPr/>
        </p:nvSpPr>
        <p:spPr>
          <a:xfrm>
            <a:off x="4832192" y="1352570"/>
            <a:ext cx="31423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400"/>
            </a:pPr>
            <a:r>
              <a:rPr lang="es-MX" dirty="0">
                <a:latin typeface="Calibri"/>
                <a:ea typeface="Calibri"/>
                <a:cs typeface="Calibri"/>
                <a:sym typeface="Calibri"/>
              </a:rPr>
              <a:t>La CAN cuenta con 15 centros de datos, mientras que los países del mundo desarrollado superan los 100.</a:t>
            </a:r>
          </a:p>
        </p:txBody>
      </p:sp>
      <p:sp>
        <p:nvSpPr>
          <p:cNvPr id="14" name="Google Shape;523;p26">
            <a:extLst>
              <a:ext uri="{FF2B5EF4-FFF2-40B4-BE49-F238E27FC236}">
                <a16:creationId xmlns:a16="http://schemas.microsoft.com/office/drawing/2014/main" id="{92344CCF-F314-4F42-AD0D-D9A771536F53}"/>
              </a:ext>
            </a:extLst>
          </p:cNvPr>
          <p:cNvSpPr/>
          <p:nvPr/>
        </p:nvSpPr>
        <p:spPr>
          <a:xfrm>
            <a:off x="4083277" y="1259057"/>
            <a:ext cx="391946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B1C3"/>
              </a:buClr>
              <a:buSzPts val="2400"/>
              <a:buFont typeface="Calibri"/>
              <a:buNone/>
            </a:pPr>
            <a:r>
              <a:rPr lang="es-419" sz="2400" b="1" i="0" u="none" strike="noStrike" cap="none" dirty="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400" b="1" i="0" u="none" strike="noStrike" cap="none" dirty="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524;p26">
            <a:extLst>
              <a:ext uri="{FF2B5EF4-FFF2-40B4-BE49-F238E27FC236}">
                <a16:creationId xmlns:a16="http://schemas.microsoft.com/office/drawing/2014/main" id="{32BC83EB-E4CE-4A36-882B-A121BDFC8B3D}"/>
              </a:ext>
            </a:extLst>
          </p:cNvPr>
          <p:cNvCxnSpPr>
            <a:cxnSpLocks/>
          </p:cNvCxnSpPr>
          <p:nvPr/>
        </p:nvCxnSpPr>
        <p:spPr>
          <a:xfrm>
            <a:off x="4618875" y="1413375"/>
            <a:ext cx="0" cy="2865600"/>
          </a:xfrm>
          <a:prstGeom prst="straightConnector1">
            <a:avLst/>
          </a:prstGeom>
          <a:noFill/>
          <a:ln w="12700" cap="flat" cmpd="sng">
            <a:solidFill>
              <a:srgbClr val="01B1C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525;p26">
            <a:extLst>
              <a:ext uri="{FF2B5EF4-FFF2-40B4-BE49-F238E27FC236}">
                <a16:creationId xmlns:a16="http://schemas.microsoft.com/office/drawing/2014/main" id="{5D67E399-E0A0-465C-B959-74FD6428E898}"/>
              </a:ext>
            </a:extLst>
          </p:cNvPr>
          <p:cNvSpPr/>
          <p:nvPr/>
        </p:nvSpPr>
        <p:spPr>
          <a:xfrm>
            <a:off x="4075156" y="1967438"/>
            <a:ext cx="391946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B1C3"/>
              </a:buClr>
              <a:buSzPts val="2400"/>
              <a:buFont typeface="Calibri"/>
              <a:buNone/>
            </a:pPr>
            <a:r>
              <a:rPr lang="es-419" sz="2400" b="1" i="0" u="none" strike="noStrike" cap="none" dirty="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400" b="1" i="0" u="none" strike="noStrike" cap="none" dirty="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526;p26">
            <a:extLst>
              <a:ext uri="{FF2B5EF4-FFF2-40B4-BE49-F238E27FC236}">
                <a16:creationId xmlns:a16="http://schemas.microsoft.com/office/drawing/2014/main" id="{63CCD927-12DC-4AF8-9CC9-38E5909D7F8C}"/>
              </a:ext>
            </a:extLst>
          </p:cNvPr>
          <p:cNvSpPr/>
          <p:nvPr/>
        </p:nvSpPr>
        <p:spPr>
          <a:xfrm>
            <a:off x="4083277" y="2768291"/>
            <a:ext cx="391946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B1C3"/>
              </a:buClr>
              <a:buSzPts val="2400"/>
              <a:buFont typeface="Calibri"/>
              <a:buNone/>
            </a:pPr>
            <a:r>
              <a:rPr lang="es-419" sz="2400" b="1" i="0" u="none" strike="noStrike" cap="none" dirty="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800" b="1" i="0" u="none" strike="noStrike" cap="none" dirty="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527;p26">
            <a:extLst>
              <a:ext uri="{FF2B5EF4-FFF2-40B4-BE49-F238E27FC236}">
                <a16:creationId xmlns:a16="http://schemas.microsoft.com/office/drawing/2014/main" id="{D64D5158-0769-4EAC-8B2B-6E9B4A2CCC2E}"/>
              </a:ext>
            </a:extLst>
          </p:cNvPr>
          <p:cNvSpPr/>
          <p:nvPr/>
        </p:nvSpPr>
        <p:spPr>
          <a:xfrm>
            <a:off x="4832192" y="2089401"/>
            <a:ext cx="31291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400"/>
            </a:pPr>
            <a:r>
              <a:rPr lang="es-MX" dirty="0">
                <a:latin typeface="Calibri"/>
                <a:ea typeface="Calibri"/>
                <a:cs typeface="Calibri"/>
                <a:sym typeface="Calibri"/>
              </a:rPr>
              <a:t>En América Latina y el Caribe (ALC) hay 41 proveedores de servicios en la nube, frente a más de 300 en Europa.</a:t>
            </a:r>
          </a:p>
        </p:txBody>
      </p:sp>
      <p:sp>
        <p:nvSpPr>
          <p:cNvPr id="19" name="Google Shape;528;p26">
            <a:extLst>
              <a:ext uri="{FF2B5EF4-FFF2-40B4-BE49-F238E27FC236}">
                <a16:creationId xmlns:a16="http://schemas.microsoft.com/office/drawing/2014/main" id="{535739B9-217D-4B80-84D5-50E74857C695}"/>
              </a:ext>
            </a:extLst>
          </p:cNvPr>
          <p:cNvSpPr/>
          <p:nvPr/>
        </p:nvSpPr>
        <p:spPr>
          <a:xfrm>
            <a:off x="4840545" y="2881885"/>
            <a:ext cx="30017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400"/>
            </a:pPr>
            <a:r>
              <a:rPr lang="es-MX" dirty="0">
                <a:latin typeface="Calibri"/>
                <a:ea typeface="Calibri"/>
                <a:cs typeface="Calibri"/>
                <a:sym typeface="Calibri"/>
              </a:rPr>
              <a:t>Existe una fuerte dependencia de gigantes tecnológicos extranjeros, principalmente de EE. UU. y China.</a:t>
            </a:r>
          </a:p>
        </p:txBody>
      </p:sp>
      <p:grpSp>
        <p:nvGrpSpPr>
          <p:cNvPr id="23" name="Google Shape;529;p26">
            <a:extLst>
              <a:ext uri="{FF2B5EF4-FFF2-40B4-BE49-F238E27FC236}">
                <a16:creationId xmlns:a16="http://schemas.microsoft.com/office/drawing/2014/main" id="{79BA52E1-39EE-45E5-93BB-62FE99105B10}"/>
              </a:ext>
            </a:extLst>
          </p:cNvPr>
          <p:cNvGrpSpPr/>
          <p:nvPr/>
        </p:nvGrpSpPr>
        <p:grpSpPr>
          <a:xfrm>
            <a:off x="4550039" y="1387779"/>
            <a:ext cx="137675" cy="137153"/>
            <a:chOff x="3427964" y="2244682"/>
            <a:chExt cx="225891" cy="225034"/>
          </a:xfrm>
        </p:grpSpPr>
        <p:sp>
          <p:nvSpPr>
            <p:cNvPr id="25" name="Google Shape;530;p26">
              <a:extLst>
                <a:ext uri="{FF2B5EF4-FFF2-40B4-BE49-F238E27FC236}">
                  <a16:creationId xmlns:a16="http://schemas.microsoft.com/office/drawing/2014/main" id="{64B9736E-48E6-4202-9224-404B1FDC2A0B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1B1C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531;p26">
              <a:extLst>
                <a:ext uri="{FF2B5EF4-FFF2-40B4-BE49-F238E27FC236}">
                  <a16:creationId xmlns:a16="http://schemas.microsoft.com/office/drawing/2014/main" id="{A9E80078-757E-4338-8FA6-4A1F1376BCFB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532;p26">
            <a:extLst>
              <a:ext uri="{FF2B5EF4-FFF2-40B4-BE49-F238E27FC236}">
                <a16:creationId xmlns:a16="http://schemas.microsoft.com/office/drawing/2014/main" id="{D256F495-3977-41F0-AA37-A27ABCFF2CE4}"/>
              </a:ext>
            </a:extLst>
          </p:cNvPr>
          <p:cNvSpPr/>
          <p:nvPr/>
        </p:nvSpPr>
        <p:spPr>
          <a:xfrm>
            <a:off x="4840545" y="3674369"/>
            <a:ext cx="30018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400"/>
            </a:pPr>
            <a:r>
              <a:rPr lang="es-MX" dirty="0">
                <a:latin typeface="Calibri"/>
                <a:ea typeface="Calibri"/>
                <a:cs typeface="Calibri"/>
                <a:sym typeface="Calibri"/>
              </a:rPr>
              <a:t>La inversión pública en ciencia y tecnología es baja.</a:t>
            </a:r>
          </a:p>
        </p:txBody>
      </p:sp>
      <p:sp>
        <p:nvSpPr>
          <p:cNvPr id="35" name="Google Shape;533;p26">
            <a:extLst>
              <a:ext uri="{FF2B5EF4-FFF2-40B4-BE49-F238E27FC236}">
                <a16:creationId xmlns:a16="http://schemas.microsoft.com/office/drawing/2014/main" id="{548C726C-3108-490D-A763-26732BE06228}"/>
              </a:ext>
            </a:extLst>
          </p:cNvPr>
          <p:cNvSpPr/>
          <p:nvPr/>
        </p:nvSpPr>
        <p:spPr>
          <a:xfrm>
            <a:off x="4840545" y="4251022"/>
            <a:ext cx="30018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400"/>
            </a:pPr>
            <a:r>
              <a:rPr lang="es-MX" dirty="0">
                <a:latin typeface="Calibri"/>
                <a:ea typeface="Calibri"/>
                <a:cs typeface="Calibri"/>
                <a:sym typeface="Calibri"/>
              </a:rPr>
              <a:t>Las economías informales están dominadas por pymes con baja madurez digital.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534;p26">
            <a:extLst>
              <a:ext uri="{FF2B5EF4-FFF2-40B4-BE49-F238E27FC236}">
                <a16:creationId xmlns:a16="http://schemas.microsoft.com/office/drawing/2014/main" id="{8FAE7CE4-11C1-49F0-B62E-7E1B96CA549A}"/>
              </a:ext>
            </a:extLst>
          </p:cNvPr>
          <p:cNvSpPr/>
          <p:nvPr/>
        </p:nvSpPr>
        <p:spPr>
          <a:xfrm>
            <a:off x="4068834" y="3569144"/>
            <a:ext cx="3918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B1C3"/>
              </a:buClr>
              <a:buSzPts val="2400"/>
              <a:buFont typeface="Calibri"/>
              <a:buNone/>
            </a:pPr>
            <a:r>
              <a:rPr lang="es-419" sz="2400" b="1" i="0" u="none" strike="noStrike" cap="none" dirty="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800" b="1" i="0" u="none" strike="noStrike" cap="none" dirty="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535;p26">
            <a:extLst>
              <a:ext uri="{FF2B5EF4-FFF2-40B4-BE49-F238E27FC236}">
                <a16:creationId xmlns:a16="http://schemas.microsoft.com/office/drawing/2014/main" id="{2A98AF1D-EEC3-4752-8A38-CE7FA91D8C5E}"/>
              </a:ext>
            </a:extLst>
          </p:cNvPr>
          <p:cNvSpPr/>
          <p:nvPr/>
        </p:nvSpPr>
        <p:spPr>
          <a:xfrm>
            <a:off x="4075156" y="4163054"/>
            <a:ext cx="3918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B1C3"/>
              </a:buClr>
              <a:buSzPts val="2400"/>
              <a:buFont typeface="Calibri"/>
              <a:buNone/>
            </a:pPr>
            <a:r>
              <a:rPr lang="es-419" sz="2400" b="1" i="0" u="none" strike="noStrike" cap="none" dirty="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2800" b="1" i="0" u="none" strike="noStrike" cap="none" dirty="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" name="Google Shape;536;p26">
            <a:extLst>
              <a:ext uri="{FF2B5EF4-FFF2-40B4-BE49-F238E27FC236}">
                <a16:creationId xmlns:a16="http://schemas.microsoft.com/office/drawing/2014/main" id="{854FC497-2C25-4C30-AEA9-D6657424502F}"/>
              </a:ext>
            </a:extLst>
          </p:cNvPr>
          <p:cNvGrpSpPr/>
          <p:nvPr/>
        </p:nvGrpSpPr>
        <p:grpSpPr>
          <a:xfrm>
            <a:off x="4550039" y="2114783"/>
            <a:ext cx="137675" cy="137153"/>
            <a:chOff x="3427964" y="2244682"/>
            <a:chExt cx="225891" cy="225034"/>
          </a:xfrm>
        </p:grpSpPr>
        <p:sp>
          <p:nvSpPr>
            <p:cNvPr id="39" name="Google Shape;537;p26">
              <a:extLst>
                <a:ext uri="{FF2B5EF4-FFF2-40B4-BE49-F238E27FC236}">
                  <a16:creationId xmlns:a16="http://schemas.microsoft.com/office/drawing/2014/main" id="{BFA85F3C-8328-4649-93B8-3DBA2AF9C102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1B1C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538;p26">
              <a:extLst>
                <a:ext uri="{FF2B5EF4-FFF2-40B4-BE49-F238E27FC236}">
                  <a16:creationId xmlns:a16="http://schemas.microsoft.com/office/drawing/2014/main" id="{6C968569-134F-4DE0-95CB-7E68C3D142F7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539;p26">
            <a:extLst>
              <a:ext uri="{FF2B5EF4-FFF2-40B4-BE49-F238E27FC236}">
                <a16:creationId xmlns:a16="http://schemas.microsoft.com/office/drawing/2014/main" id="{4AD5E2E5-1B7A-4FFA-99AF-1B5B5F69B31E}"/>
              </a:ext>
            </a:extLst>
          </p:cNvPr>
          <p:cNvGrpSpPr/>
          <p:nvPr/>
        </p:nvGrpSpPr>
        <p:grpSpPr>
          <a:xfrm>
            <a:off x="4550039" y="2917050"/>
            <a:ext cx="137675" cy="137153"/>
            <a:chOff x="3427964" y="2244682"/>
            <a:chExt cx="225891" cy="225034"/>
          </a:xfrm>
        </p:grpSpPr>
        <p:sp>
          <p:nvSpPr>
            <p:cNvPr id="42" name="Google Shape;540;p26">
              <a:extLst>
                <a:ext uri="{FF2B5EF4-FFF2-40B4-BE49-F238E27FC236}">
                  <a16:creationId xmlns:a16="http://schemas.microsoft.com/office/drawing/2014/main" id="{2BDDD510-4440-4D15-A6F3-1ECFAD7B6EB9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1B1C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541;p26">
              <a:extLst>
                <a:ext uri="{FF2B5EF4-FFF2-40B4-BE49-F238E27FC236}">
                  <a16:creationId xmlns:a16="http://schemas.microsoft.com/office/drawing/2014/main" id="{3C73431F-35A6-40F1-B392-EDFB4B9A36E4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542;p26">
            <a:extLst>
              <a:ext uri="{FF2B5EF4-FFF2-40B4-BE49-F238E27FC236}">
                <a16:creationId xmlns:a16="http://schemas.microsoft.com/office/drawing/2014/main" id="{0BA43179-64FC-436A-B5B1-2C239D9675CF}"/>
              </a:ext>
            </a:extLst>
          </p:cNvPr>
          <p:cNvGrpSpPr/>
          <p:nvPr/>
        </p:nvGrpSpPr>
        <p:grpSpPr>
          <a:xfrm>
            <a:off x="4554936" y="3687249"/>
            <a:ext cx="137681" cy="137158"/>
            <a:chOff x="3427964" y="2244682"/>
            <a:chExt cx="225891" cy="225034"/>
          </a:xfrm>
        </p:grpSpPr>
        <p:sp>
          <p:nvSpPr>
            <p:cNvPr id="45" name="Google Shape;543;p26">
              <a:extLst>
                <a:ext uri="{FF2B5EF4-FFF2-40B4-BE49-F238E27FC236}">
                  <a16:creationId xmlns:a16="http://schemas.microsoft.com/office/drawing/2014/main" id="{8FAFFC32-9D57-473B-A313-93DD47325BEF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1B1C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544;p26">
              <a:extLst>
                <a:ext uri="{FF2B5EF4-FFF2-40B4-BE49-F238E27FC236}">
                  <a16:creationId xmlns:a16="http://schemas.microsoft.com/office/drawing/2014/main" id="{B2AB70D3-4C50-45D8-A50A-B711A23887B9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545;p26">
            <a:extLst>
              <a:ext uri="{FF2B5EF4-FFF2-40B4-BE49-F238E27FC236}">
                <a16:creationId xmlns:a16="http://schemas.microsoft.com/office/drawing/2014/main" id="{BEE6B194-CA61-45B5-853B-8C3DADD7A969}"/>
              </a:ext>
            </a:extLst>
          </p:cNvPr>
          <p:cNvGrpSpPr/>
          <p:nvPr/>
        </p:nvGrpSpPr>
        <p:grpSpPr>
          <a:xfrm>
            <a:off x="4554936" y="4278975"/>
            <a:ext cx="137681" cy="137158"/>
            <a:chOff x="3427964" y="2244682"/>
            <a:chExt cx="225891" cy="225034"/>
          </a:xfrm>
        </p:grpSpPr>
        <p:sp>
          <p:nvSpPr>
            <p:cNvPr id="48" name="Google Shape;546;p26">
              <a:extLst>
                <a:ext uri="{FF2B5EF4-FFF2-40B4-BE49-F238E27FC236}">
                  <a16:creationId xmlns:a16="http://schemas.microsoft.com/office/drawing/2014/main" id="{21A73777-41BD-4EDB-ABA8-2005E4A46309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rgbClr val="01B1C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547;p26">
              <a:extLst>
                <a:ext uri="{FF2B5EF4-FFF2-40B4-BE49-F238E27FC236}">
                  <a16:creationId xmlns:a16="http://schemas.microsoft.com/office/drawing/2014/main" id="{0528E119-86A5-4AE6-AC9A-148D9440D3FB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4A891BED-1248-4758-AC5D-40070645D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22" y="1259057"/>
            <a:ext cx="2980623" cy="393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2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DISCRIMINACIÓN Y SESGOS EN IA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IMPACTOS SOCIALES Y RIESGOS EN IA</a:t>
            </a:r>
          </a:p>
        </p:txBody>
      </p:sp>
      <p:sp>
        <p:nvSpPr>
          <p:cNvPr id="13" name="Google Shape;555;p27">
            <a:extLst>
              <a:ext uri="{FF2B5EF4-FFF2-40B4-BE49-F238E27FC236}">
                <a16:creationId xmlns:a16="http://schemas.microsoft.com/office/drawing/2014/main" id="{1F413B38-6D39-40D4-A688-949E01FA64BC}"/>
              </a:ext>
            </a:extLst>
          </p:cNvPr>
          <p:cNvSpPr/>
          <p:nvPr/>
        </p:nvSpPr>
        <p:spPr>
          <a:xfrm>
            <a:off x="503237" y="1567835"/>
            <a:ext cx="7045643" cy="2062480"/>
          </a:xfrm>
          <a:prstGeom prst="rect">
            <a:avLst/>
          </a:prstGeom>
          <a:solidFill>
            <a:srgbClr val="ACB8CA"/>
          </a:solidFill>
          <a:ln>
            <a:noFill/>
          </a:ln>
        </p:spPr>
        <p:txBody>
          <a:bodyPr spcFirstLastPara="1" wrap="square" lIns="81325" tIns="40625" rIns="81325" bIns="40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556;p27">
            <a:extLst>
              <a:ext uri="{FF2B5EF4-FFF2-40B4-BE49-F238E27FC236}">
                <a16:creationId xmlns:a16="http://schemas.microsoft.com/office/drawing/2014/main" id="{D90510DF-6E72-4C06-9933-F3328BCCDAFD}"/>
              </a:ext>
            </a:extLst>
          </p:cNvPr>
          <p:cNvSpPr txBox="1"/>
          <p:nvPr/>
        </p:nvSpPr>
        <p:spPr>
          <a:xfrm>
            <a:off x="503236" y="4051320"/>
            <a:ext cx="655796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515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</a:t>
            </a:r>
            <a:r>
              <a:rPr lang="es-419" sz="16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contratación, aprobación crediticia, justicia penal.</a:t>
            </a:r>
            <a:endParaRPr sz="1515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557;p27">
            <a:extLst>
              <a:ext uri="{FF2B5EF4-FFF2-40B4-BE49-F238E27FC236}">
                <a16:creationId xmlns:a16="http://schemas.microsoft.com/office/drawing/2014/main" id="{63B990D7-4352-4DE0-A80F-17B63D799170}"/>
              </a:ext>
            </a:extLst>
          </p:cNvPr>
          <p:cNvSpPr txBox="1"/>
          <p:nvPr/>
        </p:nvSpPr>
        <p:spPr>
          <a:xfrm>
            <a:off x="639127" y="1832630"/>
            <a:ext cx="6818313" cy="179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03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419" sz="16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¿De dónde vienen los sesgos?</a:t>
            </a:r>
            <a:endParaRPr sz="16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608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718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Datos de entrenamiento históricos (reproducen discriminación del pasado).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608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</a:pP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718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Decisiones de diseñadores no inclusivas. 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8608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</a:pP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718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Falta de diversidad en equipos de desarrollo.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4FA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135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SEGURIDAD Y AMENAZAS CIBERNÉTICAS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IMPACTOS SOCIALES Y RIESGOS EN IA</a:t>
            </a:r>
          </a:p>
        </p:txBody>
      </p:sp>
      <p:sp>
        <p:nvSpPr>
          <p:cNvPr id="7" name="Google Shape;565;p28">
            <a:extLst>
              <a:ext uri="{FF2B5EF4-FFF2-40B4-BE49-F238E27FC236}">
                <a16:creationId xmlns:a16="http://schemas.microsoft.com/office/drawing/2014/main" id="{85D38A13-2159-486A-9501-ABB31775ADE4}"/>
              </a:ext>
            </a:extLst>
          </p:cNvPr>
          <p:cNvSpPr/>
          <p:nvPr/>
        </p:nvSpPr>
        <p:spPr>
          <a:xfrm>
            <a:off x="3491865" y="1330345"/>
            <a:ext cx="2328545" cy="474980"/>
          </a:xfrm>
          <a:prstGeom prst="roundRect">
            <a:avLst>
              <a:gd name="adj" fmla="val 1832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5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MANIPULACIÓN DE MODELOS 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66;p28">
            <a:extLst>
              <a:ext uri="{FF2B5EF4-FFF2-40B4-BE49-F238E27FC236}">
                <a16:creationId xmlns:a16="http://schemas.microsoft.com/office/drawing/2014/main" id="{51493E75-1E56-400A-B11F-30CBFEDE937F}"/>
              </a:ext>
            </a:extLst>
          </p:cNvPr>
          <p:cNvSpPr/>
          <p:nvPr/>
        </p:nvSpPr>
        <p:spPr>
          <a:xfrm>
            <a:off x="1058545" y="1330345"/>
            <a:ext cx="2329180" cy="474980"/>
          </a:xfrm>
          <a:prstGeom prst="roundRect">
            <a:avLst>
              <a:gd name="adj" fmla="val 1832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ROBO DE DATOS </a:t>
            </a:r>
            <a:endParaRPr sz="16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567;p28">
            <a:extLst>
              <a:ext uri="{FF2B5EF4-FFF2-40B4-BE49-F238E27FC236}">
                <a16:creationId xmlns:a16="http://schemas.microsoft.com/office/drawing/2014/main" id="{215DD353-60A5-4CDC-81B8-B0B9DB8FE359}"/>
              </a:ext>
            </a:extLst>
          </p:cNvPr>
          <p:cNvSpPr/>
          <p:nvPr/>
        </p:nvSpPr>
        <p:spPr>
          <a:xfrm>
            <a:off x="1057910" y="1875175"/>
            <a:ext cx="2329180" cy="1304925"/>
          </a:xfrm>
          <a:prstGeom prst="roundRect">
            <a:avLst>
              <a:gd name="adj" fmla="val 2748"/>
            </a:avLst>
          </a:prstGeom>
          <a:solidFill>
            <a:srgbClr val="FBE4D4"/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Ataques contra sistemas de IA para extraer información sensible.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568;p28">
            <a:extLst>
              <a:ext uri="{FF2B5EF4-FFF2-40B4-BE49-F238E27FC236}">
                <a16:creationId xmlns:a16="http://schemas.microsoft.com/office/drawing/2014/main" id="{75A460F3-80DD-4A9B-9944-1F8734B4F09C}"/>
              </a:ext>
            </a:extLst>
          </p:cNvPr>
          <p:cNvSpPr/>
          <p:nvPr/>
        </p:nvSpPr>
        <p:spPr>
          <a:xfrm>
            <a:off x="3491230" y="1875175"/>
            <a:ext cx="2329180" cy="1304925"/>
          </a:xfrm>
          <a:prstGeom prst="roundRect">
            <a:avLst>
              <a:gd name="adj" fmla="val 2748"/>
            </a:avLst>
          </a:prstGeom>
          <a:solidFill>
            <a:srgbClr val="FBE4D4"/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Envenenamiento de datos de entrenamiento.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569;p28">
            <a:extLst>
              <a:ext uri="{FF2B5EF4-FFF2-40B4-BE49-F238E27FC236}">
                <a16:creationId xmlns:a16="http://schemas.microsoft.com/office/drawing/2014/main" id="{07D37034-0C1D-4FF2-9241-1B07FF0C3C13}"/>
              </a:ext>
            </a:extLst>
          </p:cNvPr>
          <p:cNvSpPr/>
          <p:nvPr/>
        </p:nvSpPr>
        <p:spPr>
          <a:xfrm>
            <a:off x="5924550" y="1875175"/>
            <a:ext cx="2329180" cy="1304925"/>
          </a:xfrm>
          <a:prstGeom prst="roundRect">
            <a:avLst>
              <a:gd name="adj" fmla="val 2748"/>
            </a:avLst>
          </a:prstGeom>
          <a:solidFill>
            <a:srgbClr val="FBE4D4"/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Contenido falso generado por IA para desinformación.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70;p28">
            <a:extLst>
              <a:ext uri="{FF2B5EF4-FFF2-40B4-BE49-F238E27FC236}">
                <a16:creationId xmlns:a16="http://schemas.microsoft.com/office/drawing/2014/main" id="{544A51B9-50B1-4020-95E4-C3642D2AC34E}"/>
              </a:ext>
            </a:extLst>
          </p:cNvPr>
          <p:cNvSpPr/>
          <p:nvPr/>
        </p:nvSpPr>
        <p:spPr>
          <a:xfrm>
            <a:off x="5924550" y="1330345"/>
            <a:ext cx="2328545" cy="474980"/>
          </a:xfrm>
          <a:prstGeom prst="roundRect">
            <a:avLst>
              <a:gd name="adj" fmla="val 1832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25"/>
              <a:buFont typeface="Calibri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DEEPFAKES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571;p28">
            <a:extLst>
              <a:ext uri="{FF2B5EF4-FFF2-40B4-BE49-F238E27FC236}">
                <a16:creationId xmlns:a16="http://schemas.microsoft.com/office/drawing/2014/main" id="{0F7CCFD1-FC28-41A9-96A0-0591679B9073}"/>
              </a:ext>
            </a:extLst>
          </p:cNvPr>
          <p:cNvSpPr/>
          <p:nvPr/>
        </p:nvSpPr>
        <p:spPr>
          <a:xfrm>
            <a:off x="1059180" y="3299480"/>
            <a:ext cx="7196455" cy="474980"/>
          </a:xfrm>
          <a:prstGeom prst="roundRect">
            <a:avLst>
              <a:gd name="adj" fmla="val 1832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86650" tIns="43300" rIns="86650" bIns="43300" anchor="ctr" anchorCtr="0">
            <a:noAutofit/>
          </a:bodyPr>
          <a:lstStyle/>
          <a:p>
            <a:pPr marL="1143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Calibri"/>
              <a:buNone/>
            </a:pPr>
            <a:r>
              <a:rPr lang="es-419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GUERRA CIBERNÉTICA</a:t>
            </a:r>
            <a:endParaRPr sz="1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572;p28">
            <a:extLst>
              <a:ext uri="{FF2B5EF4-FFF2-40B4-BE49-F238E27FC236}">
                <a16:creationId xmlns:a16="http://schemas.microsoft.com/office/drawing/2014/main" id="{88F66306-558D-408C-B542-1C245F0DA0BB}"/>
              </a:ext>
            </a:extLst>
          </p:cNvPr>
          <p:cNvSpPr/>
          <p:nvPr/>
        </p:nvSpPr>
        <p:spPr>
          <a:xfrm>
            <a:off x="1059180" y="3844310"/>
            <a:ext cx="7195185" cy="501015"/>
          </a:xfrm>
          <a:prstGeom prst="roundRect">
            <a:avLst>
              <a:gd name="adj" fmla="val 2748"/>
            </a:avLst>
          </a:prstGeom>
          <a:solidFill>
            <a:srgbClr val="FBE4D4"/>
          </a:solidFill>
          <a:ln>
            <a:noFill/>
          </a:ln>
        </p:spPr>
        <p:txBody>
          <a:bodyPr spcFirstLastPara="1" wrap="square" lIns="102375" tIns="102375" rIns="102375" bIns="43300" anchor="t" anchorCtr="0">
            <a:noAutofit/>
          </a:bodyPr>
          <a:lstStyle/>
          <a:p>
            <a:pPr marL="95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IA como arma en conflictos internacionales.</a:t>
            </a: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724"/>
              </a:buClr>
              <a:buSzPts val="1400"/>
              <a:buFont typeface="Arial"/>
              <a:buNone/>
            </a:pPr>
            <a:endParaRPr sz="16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573;p28">
            <a:extLst>
              <a:ext uri="{FF2B5EF4-FFF2-40B4-BE49-F238E27FC236}">
                <a16:creationId xmlns:a16="http://schemas.microsoft.com/office/drawing/2014/main" id="{8485B372-590D-4E3B-AC39-C01E6D30665A}"/>
              </a:ext>
            </a:extLst>
          </p:cNvPr>
          <p:cNvSpPr txBox="1"/>
          <p:nvPr/>
        </p:nvSpPr>
        <p:spPr>
          <a:xfrm>
            <a:off x="1626870" y="4575830"/>
            <a:ext cx="606171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Colombia, Perú, Ecuador desarrollan estrategias de ciberseguridad.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220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IA Y DERECHOS HUMANOS</a:t>
            </a:r>
          </a:p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Poblaciones afectadas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IMPACTOS SOCIALES Y RIESGOS EN IA</a:t>
            </a:r>
          </a:p>
        </p:txBody>
      </p:sp>
      <p:grpSp>
        <p:nvGrpSpPr>
          <p:cNvPr id="39" name="Agrupar 8">
            <a:extLst>
              <a:ext uri="{FF2B5EF4-FFF2-40B4-BE49-F238E27FC236}">
                <a16:creationId xmlns:a16="http://schemas.microsoft.com/office/drawing/2014/main" id="{7D2BFCBB-6D98-4D5F-9921-F3ED4A2D0B80}"/>
              </a:ext>
            </a:extLst>
          </p:cNvPr>
          <p:cNvGrpSpPr/>
          <p:nvPr/>
        </p:nvGrpSpPr>
        <p:grpSpPr>
          <a:xfrm>
            <a:off x="503238" y="1737360"/>
            <a:ext cx="8172451" cy="689865"/>
            <a:chOff x="503237" y="1655543"/>
            <a:chExt cx="7697335" cy="365282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2D8F9D7D-D78B-4687-BBF6-D337DEEB02DC}"/>
                </a:ext>
              </a:extLst>
            </p:cNvPr>
            <p:cNvSpPr/>
            <p:nvPr/>
          </p:nvSpPr>
          <p:spPr>
            <a:xfrm>
              <a:off x="503237" y="1655543"/>
              <a:ext cx="1499299" cy="365282"/>
            </a:xfrm>
            <a:prstGeom prst="rect">
              <a:avLst/>
            </a:prstGeom>
            <a:solidFill>
              <a:srgbClr val="00B1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latin typeface="Calibri" charset="0"/>
                  <a:ea typeface="Calibri" charset="0"/>
                  <a:cs typeface="Calibri" charset="0"/>
                </a:rPr>
                <a:t>MENORES</a:t>
              </a:r>
              <a:endParaRPr lang="es-PE" sz="16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D8CFF4B5-C5D4-463C-A5F0-1017F836AA73}"/>
                </a:ext>
              </a:extLst>
            </p:cNvPr>
            <p:cNvSpPr/>
            <p:nvPr/>
          </p:nvSpPr>
          <p:spPr>
            <a:xfrm>
              <a:off x="2052746" y="1655543"/>
              <a:ext cx="1499299" cy="365282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latin typeface="Calibri" charset="0"/>
                  <a:ea typeface="Calibri" charset="0"/>
                  <a:cs typeface="Calibri" charset="0"/>
                </a:rPr>
                <a:t>MINORÍAS ÉTNICAS</a:t>
              </a:r>
              <a:endParaRPr lang="es-PE" sz="16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580ED980-32BE-4AE0-AC07-F91AF15D4EFA}"/>
                </a:ext>
              </a:extLst>
            </p:cNvPr>
            <p:cNvSpPr/>
            <p:nvPr/>
          </p:nvSpPr>
          <p:spPr>
            <a:xfrm>
              <a:off x="3602255" y="1655543"/>
              <a:ext cx="1499299" cy="365282"/>
            </a:xfrm>
            <a:prstGeom prst="rect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latin typeface="Calibri" charset="0"/>
                  <a:ea typeface="Calibri" charset="0"/>
                  <a:cs typeface="Calibri" charset="0"/>
                </a:rPr>
                <a:t>GÉNERO</a:t>
              </a:r>
              <a:endParaRPr lang="es-PE" sz="16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A1430515-B62A-4519-82F6-FDD4670B29DF}"/>
                </a:ext>
              </a:extLst>
            </p:cNvPr>
            <p:cNvSpPr/>
            <p:nvPr/>
          </p:nvSpPr>
          <p:spPr>
            <a:xfrm>
              <a:off x="5151764" y="1655543"/>
              <a:ext cx="1499299" cy="365282"/>
            </a:xfrm>
            <a:prstGeom prst="rect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latin typeface="Calibri" charset="0"/>
                  <a:ea typeface="Calibri" charset="0"/>
                  <a:cs typeface="Calibri" charset="0"/>
                </a:rPr>
                <a:t>TRABAJADORES</a:t>
              </a:r>
              <a:endParaRPr lang="es-PE" sz="16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90F5A266-DF92-4C86-9EAB-CE6CEC5C55F0}"/>
                </a:ext>
              </a:extLst>
            </p:cNvPr>
            <p:cNvSpPr/>
            <p:nvPr/>
          </p:nvSpPr>
          <p:spPr>
            <a:xfrm>
              <a:off x="6701273" y="1655543"/>
              <a:ext cx="1499299" cy="365282"/>
            </a:xfrm>
            <a:prstGeom prst="rect">
              <a:avLst/>
            </a:prstGeom>
            <a:solidFill>
              <a:srgbClr val="FDC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latin typeface="Calibri" charset="0"/>
                  <a:ea typeface="Calibri" charset="0"/>
                  <a:cs typeface="Calibri" charset="0"/>
                </a:rPr>
                <a:t>ZONAS RURALES</a:t>
              </a:r>
              <a:endParaRPr lang="es-PE" sz="1600" dirty="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FE8BA37-787D-41A1-A897-01891FB146B7}"/>
              </a:ext>
            </a:extLst>
          </p:cNvPr>
          <p:cNvSpPr/>
          <p:nvPr/>
        </p:nvSpPr>
        <p:spPr>
          <a:xfrm>
            <a:off x="503237" y="2487890"/>
            <a:ext cx="1591843" cy="1737360"/>
          </a:xfrm>
          <a:prstGeom prst="rect">
            <a:avLst/>
          </a:prstGeom>
          <a:solidFill>
            <a:srgbClr val="B9E7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Exposición a algoritmos de recomendación, privacidad en redes sociales.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9955306-BE14-4CB2-A9AC-F12358FF71B6}"/>
              </a:ext>
            </a:extLst>
          </p:cNvPr>
          <p:cNvSpPr/>
          <p:nvPr/>
        </p:nvSpPr>
        <p:spPr>
          <a:xfrm>
            <a:off x="2148389" y="2487890"/>
            <a:ext cx="1591843" cy="1737360"/>
          </a:xfrm>
          <a:prstGeom prst="rect">
            <a:avLst/>
          </a:prstGeom>
          <a:solidFill>
            <a:srgbClr val="DDEE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PE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Reconocimiento facial sesgado, vigilancia discriminatoria.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211EB7F-D1DE-4AB3-815B-4E1B15AC322B}"/>
              </a:ext>
            </a:extLst>
          </p:cNvPr>
          <p:cNvSpPr/>
          <p:nvPr/>
        </p:nvSpPr>
        <p:spPr>
          <a:xfrm>
            <a:off x="3793541" y="2487890"/>
            <a:ext cx="1591843" cy="1737360"/>
          </a:xfrm>
          <a:prstGeom prst="rect">
            <a:avLst/>
          </a:prstGeom>
          <a:solidFill>
            <a:srgbClr val="D4C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Sesgos en sistemas de recursos humanos y educativos.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3745706-5D99-4D1E-AC0F-FC85D36DA3AC}"/>
              </a:ext>
            </a:extLst>
          </p:cNvPr>
          <p:cNvSpPr/>
          <p:nvPr/>
        </p:nvSpPr>
        <p:spPr>
          <a:xfrm>
            <a:off x="5438693" y="2487890"/>
            <a:ext cx="1591843" cy="1737360"/>
          </a:xfrm>
          <a:prstGeom prst="rect">
            <a:avLst/>
          </a:prstGeom>
          <a:solidFill>
            <a:srgbClr val="FBC8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MX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Automatización sin alternativas de empleo.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213DDE47-CD01-4A96-81E1-A0CAF3B4FEEC}"/>
              </a:ext>
            </a:extLst>
          </p:cNvPr>
          <p:cNvSpPr/>
          <p:nvPr/>
        </p:nvSpPr>
        <p:spPr>
          <a:xfrm>
            <a:off x="7083845" y="2487890"/>
            <a:ext cx="1591843" cy="1737360"/>
          </a:xfrm>
          <a:prstGeom prst="rect">
            <a:avLst/>
          </a:prstGeom>
          <a:solidFill>
            <a:srgbClr val="FFED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tlCol="0" anchor="t"/>
          <a:lstStyle/>
          <a:p>
            <a:r>
              <a:rPr lang="es-PE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rPr>
              <a:t>Brecha digital, falta de conectividad.</a:t>
            </a:r>
          </a:p>
        </p:txBody>
      </p:sp>
    </p:spTree>
    <p:extLst>
      <p:ext uri="{BB962C8B-B14F-4D97-AF65-F5344CB8AC3E}">
        <p14:creationId xmlns:p14="http://schemas.microsoft.com/office/powerpoint/2010/main" val="54966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EMPRENDIMIENTO EN IA: OPORTUNIDADES REALES</a:t>
            </a:r>
          </a:p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Empresas unicornio y startups exitosas en ALC:</a:t>
            </a:r>
          </a:p>
          <a:p>
            <a:pPr lvl="0" defTabSz="711200">
              <a:spcAft>
                <a:spcPts val="600"/>
              </a:spcAft>
            </a:pPr>
            <a:endParaRPr lang="es-MX" sz="1600" b="1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IMPACTOS SOCIALES Y RIESGOS EN IA</a:t>
            </a:r>
          </a:p>
        </p:txBody>
      </p:sp>
      <p:sp>
        <p:nvSpPr>
          <p:cNvPr id="15" name="Google Shape;608;p30">
            <a:extLst>
              <a:ext uri="{FF2B5EF4-FFF2-40B4-BE49-F238E27FC236}">
                <a16:creationId xmlns:a16="http://schemas.microsoft.com/office/drawing/2014/main" id="{4DBB5EBB-7F6A-4932-AFEB-1A5BDDB30E9A}"/>
              </a:ext>
            </a:extLst>
          </p:cNvPr>
          <p:cNvSpPr/>
          <p:nvPr/>
        </p:nvSpPr>
        <p:spPr>
          <a:xfrm rot="3600000">
            <a:off x="4230321" y="1870538"/>
            <a:ext cx="1214991" cy="1058574"/>
          </a:xfrm>
          <a:custGeom>
            <a:avLst/>
            <a:gdLst/>
            <a:ahLst/>
            <a:cxnLst/>
            <a:rect l="l" t="t" r="r" b="b"/>
            <a:pathLst>
              <a:path w="1721649" h="1500006" extrusionOk="0">
                <a:moveTo>
                  <a:pt x="26" y="533323"/>
                </a:moveTo>
                <a:cubicBezTo>
                  <a:pt x="789" y="506604"/>
                  <a:pt x="18511" y="478986"/>
                  <a:pt x="42483" y="467160"/>
                </a:cubicBezTo>
                <a:cubicBezTo>
                  <a:pt x="42483" y="467160"/>
                  <a:pt x="973106" y="8056"/>
                  <a:pt x="973106" y="8056"/>
                </a:cubicBezTo>
                <a:cubicBezTo>
                  <a:pt x="996206" y="-3340"/>
                  <a:pt x="1021993" y="-2625"/>
                  <a:pt x="1044405" y="10069"/>
                </a:cubicBezTo>
                <a:cubicBezTo>
                  <a:pt x="1044405" y="10070"/>
                  <a:pt x="1598243" y="323777"/>
                  <a:pt x="1598243" y="323776"/>
                </a:cubicBezTo>
                <a:cubicBezTo>
                  <a:pt x="1620655" y="336471"/>
                  <a:pt x="1634570" y="358201"/>
                  <a:pt x="1636674" y="383872"/>
                </a:cubicBezTo>
                <a:cubicBezTo>
                  <a:pt x="1636674" y="383873"/>
                  <a:pt x="1721434" y="1418113"/>
                  <a:pt x="1721434" y="1418112"/>
                </a:cubicBezTo>
                <a:cubicBezTo>
                  <a:pt x="1723617" y="1444753"/>
                  <a:pt x="1709046" y="1474201"/>
                  <a:pt x="1686522" y="1488592"/>
                </a:cubicBezTo>
                <a:cubicBezTo>
                  <a:pt x="1663998" y="1502986"/>
                  <a:pt x="1631195" y="1503860"/>
                  <a:pt x="1607936" y="1490685"/>
                </a:cubicBezTo>
                <a:cubicBezTo>
                  <a:pt x="1607936" y="1490686"/>
                  <a:pt x="38670" y="601818"/>
                  <a:pt x="38670" y="601817"/>
                </a:cubicBezTo>
                <a:cubicBezTo>
                  <a:pt x="15411" y="588644"/>
                  <a:pt x="-736" y="560042"/>
                  <a:pt x="26" y="533323"/>
                </a:cubicBezTo>
                <a:close/>
              </a:path>
            </a:pathLst>
          </a:custGeom>
          <a:solidFill>
            <a:srgbClr val="A8D08C"/>
          </a:solidFill>
          <a:ln>
            <a:noFill/>
          </a:ln>
        </p:spPr>
        <p:txBody>
          <a:bodyPr spcFirstLastPara="1" wrap="square" lIns="78850" tIns="39425" rIns="78850" bIns="39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609;p30">
            <a:extLst>
              <a:ext uri="{FF2B5EF4-FFF2-40B4-BE49-F238E27FC236}">
                <a16:creationId xmlns:a16="http://schemas.microsoft.com/office/drawing/2014/main" id="{E1245EED-5119-444D-A516-320CDA230162}"/>
              </a:ext>
            </a:extLst>
          </p:cNvPr>
          <p:cNvSpPr/>
          <p:nvPr/>
        </p:nvSpPr>
        <p:spPr>
          <a:xfrm rot="9210463">
            <a:off x="4245112" y="1950215"/>
            <a:ext cx="466684" cy="404118"/>
          </a:xfrm>
          <a:prstGeom prst="triangle">
            <a:avLst>
              <a:gd name="adj" fmla="val 42509"/>
            </a:avLst>
          </a:prstGeom>
          <a:solidFill>
            <a:srgbClr val="CCE0F2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endParaRPr sz="86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610;p30">
            <a:extLst>
              <a:ext uri="{FF2B5EF4-FFF2-40B4-BE49-F238E27FC236}">
                <a16:creationId xmlns:a16="http://schemas.microsoft.com/office/drawing/2014/main" id="{43FC8701-CEA9-4FCB-9C54-41F0EA669205}"/>
              </a:ext>
            </a:extLst>
          </p:cNvPr>
          <p:cNvSpPr/>
          <p:nvPr/>
        </p:nvSpPr>
        <p:spPr>
          <a:xfrm rot="7920000">
            <a:off x="4874892" y="2905381"/>
            <a:ext cx="1214991" cy="1058574"/>
          </a:xfrm>
          <a:custGeom>
            <a:avLst/>
            <a:gdLst/>
            <a:ahLst/>
            <a:cxnLst/>
            <a:rect l="l" t="t" r="r" b="b"/>
            <a:pathLst>
              <a:path w="1721649" h="1500006" extrusionOk="0">
                <a:moveTo>
                  <a:pt x="26" y="533323"/>
                </a:moveTo>
                <a:cubicBezTo>
                  <a:pt x="789" y="506604"/>
                  <a:pt x="18511" y="478986"/>
                  <a:pt x="42483" y="467160"/>
                </a:cubicBezTo>
                <a:cubicBezTo>
                  <a:pt x="42483" y="467160"/>
                  <a:pt x="973106" y="8056"/>
                  <a:pt x="973106" y="8056"/>
                </a:cubicBezTo>
                <a:cubicBezTo>
                  <a:pt x="996206" y="-3340"/>
                  <a:pt x="1021993" y="-2625"/>
                  <a:pt x="1044405" y="10069"/>
                </a:cubicBezTo>
                <a:cubicBezTo>
                  <a:pt x="1044405" y="10070"/>
                  <a:pt x="1598243" y="323777"/>
                  <a:pt x="1598243" y="323776"/>
                </a:cubicBezTo>
                <a:cubicBezTo>
                  <a:pt x="1620655" y="336471"/>
                  <a:pt x="1634570" y="358201"/>
                  <a:pt x="1636674" y="383872"/>
                </a:cubicBezTo>
                <a:cubicBezTo>
                  <a:pt x="1636674" y="383873"/>
                  <a:pt x="1721434" y="1418113"/>
                  <a:pt x="1721434" y="1418112"/>
                </a:cubicBezTo>
                <a:cubicBezTo>
                  <a:pt x="1723617" y="1444753"/>
                  <a:pt x="1709046" y="1474201"/>
                  <a:pt x="1686522" y="1488592"/>
                </a:cubicBezTo>
                <a:cubicBezTo>
                  <a:pt x="1663998" y="1502986"/>
                  <a:pt x="1631195" y="1503860"/>
                  <a:pt x="1607936" y="1490685"/>
                </a:cubicBezTo>
                <a:cubicBezTo>
                  <a:pt x="1607936" y="1490686"/>
                  <a:pt x="38670" y="601818"/>
                  <a:pt x="38670" y="601817"/>
                </a:cubicBezTo>
                <a:cubicBezTo>
                  <a:pt x="15411" y="588644"/>
                  <a:pt x="-736" y="560042"/>
                  <a:pt x="26" y="533323"/>
                </a:cubicBezTo>
                <a:close/>
              </a:path>
            </a:pathLst>
          </a:custGeom>
          <a:solidFill>
            <a:srgbClr val="FEE599"/>
          </a:solidFill>
          <a:ln>
            <a:noFill/>
          </a:ln>
        </p:spPr>
        <p:txBody>
          <a:bodyPr spcFirstLastPara="1" wrap="square" lIns="78850" tIns="39425" rIns="78850" bIns="39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11;p30">
            <a:extLst>
              <a:ext uri="{FF2B5EF4-FFF2-40B4-BE49-F238E27FC236}">
                <a16:creationId xmlns:a16="http://schemas.microsoft.com/office/drawing/2014/main" id="{5F002D53-8443-4DE4-806C-601875687CA7}"/>
              </a:ext>
            </a:extLst>
          </p:cNvPr>
          <p:cNvSpPr/>
          <p:nvPr/>
        </p:nvSpPr>
        <p:spPr>
          <a:xfrm rot="-5040000">
            <a:off x="2941658" y="3342410"/>
            <a:ext cx="1214991" cy="1058574"/>
          </a:xfrm>
          <a:custGeom>
            <a:avLst/>
            <a:gdLst/>
            <a:ahLst/>
            <a:cxnLst/>
            <a:rect l="l" t="t" r="r" b="b"/>
            <a:pathLst>
              <a:path w="1721649" h="1500006" extrusionOk="0">
                <a:moveTo>
                  <a:pt x="26" y="533323"/>
                </a:moveTo>
                <a:cubicBezTo>
                  <a:pt x="789" y="506604"/>
                  <a:pt x="18511" y="478986"/>
                  <a:pt x="42483" y="467160"/>
                </a:cubicBezTo>
                <a:cubicBezTo>
                  <a:pt x="42483" y="467160"/>
                  <a:pt x="973106" y="8056"/>
                  <a:pt x="973106" y="8056"/>
                </a:cubicBezTo>
                <a:cubicBezTo>
                  <a:pt x="996206" y="-3340"/>
                  <a:pt x="1021993" y="-2625"/>
                  <a:pt x="1044405" y="10069"/>
                </a:cubicBezTo>
                <a:cubicBezTo>
                  <a:pt x="1044405" y="10070"/>
                  <a:pt x="1598243" y="323777"/>
                  <a:pt x="1598243" y="323776"/>
                </a:cubicBezTo>
                <a:cubicBezTo>
                  <a:pt x="1620655" y="336471"/>
                  <a:pt x="1634570" y="358201"/>
                  <a:pt x="1636674" y="383872"/>
                </a:cubicBezTo>
                <a:cubicBezTo>
                  <a:pt x="1636674" y="383873"/>
                  <a:pt x="1721434" y="1418113"/>
                  <a:pt x="1721434" y="1418112"/>
                </a:cubicBezTo>
                <a:cubicBezTo>
                  <a:pt x="1723617" y="1444753"/>
                  <a:pt x="1709046" y="1474201"/>
                  <a:pt x="1686522" y="1488592"/>
                </a:cubicBezTo>
                <a:cubicBezTo>
                  <a:pt x="1663998" y="1502986"/>
                  <a:pt x="1631195" y="1503860"/>
                  <a:pt x="1607936" y="1490685"/>
                </a:cubicBezTo>
                <a:cubicBezTo>
                  <a:pt x="1607936" y="1490686"/>
                  <a:pt x="38670" y="601818"/>
                  <a:pt x="38670" y="601817"/>
                </a:cubicBezTo>
                <a:cubicBezTo>
                  <a:pt x="15411" y="588644"/>
                  <a:pt x="-736" y="560042"/>
                  <a:pt x="26" y="533323"/>
                </a:cubicBezTo>
                <a:close/>
              </a:path>
            </a:pathLst>
          </a:custGeom>
          <a:solidFill>
            <a:srgbClr val="2E75B5"/>
          </a:solidFill>
          <a:ln>
            <a:noFill/>
          </a:ln>
        </p:spPr>
        <p:txBody>
          <a:bodyPr spcFirstLastPara="1" wrap="square" lIns="78850" tIns="39425" rIns="78850" bIns="39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612;p30">
            <a:extLst>
              <a:ext uri="{FF2B5EF4-FFF2-40B4-BE49-F238E27FC236}">
                <a16:creationId xmlns:a16="http://schemas.microsoft.com/office/drawing/2014/main" id="{BC38DA2C-C1B5-43A3-BD22-1674AFD3370F}"/>
              </a:ext>
            </a:extLst>
          </p:cNvPr>
          <p:cNvSpPr/>
          <p:nvPr/>
        </p:nvSpPr>
        <p:spPr>
          <a:xfrm rot="-720000">
            <a:off x="3055965" y="2146305"/>
            <a:ext cx="1214991" cy="1058574"/>
          </a:xfrm>
          <a:custGeom>
            <a:avLst/>
            <a:gdLst/>
            <a:ahLst/>
            <a:cxnLst/>
            <a:rect l="l" t="t" r="r" b="b"/>
            <a:pathLst>
              <a:path w="1721649" h="1500006" extrusionOk="0">
                <a:moveTo>
                  <a:pt x="26" y="533323"/>
                </a:moveTo>
                <a:cubicBezTo>
                  <a:pt x="789" y="506604"/>
                  <a:pt x="18511" y="478986"/>
                  <a:pt x="42483" y="467160"/>
                </a:cubicBezTo>
                <a:cubicBezTo>
                  <a:pt x="42483" y="467160"/>
                  <a:pt x="973106" y="8056"/>
                  <a:pt x="973106" y="8056"/>
                </a:cubicBezTo>
                <a:cubicBezTo>
                  <a:pt x="996206" y="-3340"/>
                  <a:pt x="1021993" y="-2625"/>
                  <a:pt x="1044405" y="10069"/>
                </a:cubicBezTo>
                <a:cubicBezTo>
                  <a:pt x="1044405" y="10070"/>
                  <a:pt x="1598243" y="323777"/>
                  <a:pt x="1598243" y="323776"/>
                </a:cubicBezTo>
                <a:cubicBezTo>
                  <a:pt x="1620655" y="336471"/>
                  <a:pt x="1634570" y="358201"/>
                  <a:pt x="1636674" y="383872"/>
                </a:cubicBezTo>
                <a:cubicBezTo>
                  <a:pt x="1636674" y="383873"/>
                  <a:pt x="1721434" y="1418113"/>
                  <a:pt x="1721434" y="1418112"/>
                </a:cubicBezTo>
                <a:cubicBezTo>
                  <a:pt x="1723617" y="1444753"/>
                  <a:pt x="1709046" y="1474201"/>
                  <a:pt x="1686522" y="1488592"/>
                </a:cubicBezTo>
                <a:cubicBezTo>
                  <a:pt x="1663998" y="1502986"/>
                  <a:pt x="1631195" y="1503860"/>
                  <a:pt x="1607936" y="1490685"/>
                </a:cubicBezTo>
                <a:cubicBezTo>
                  <a:pt x="1607936" y="1490686"/>
                  <a:pt x="38670" y="601818"/>
                  <a:pt x="38670" y="601817"/>
                </a:cubicBezTo>
                <a:cubicBezTo>
                  <a:pt x="15411" y="588644"/>
                  <a:pt x="-736" y="560042"/>
                  <a:pt x="26" y="533323"/>
                </a:cubicBezTo>
                <a:close/>
              </a:path>
            </a:pathLst>
          </a:custGeom>
          <a:solidFill>
            <a:srgbClr val="F4C3F1"/>
          </a:solidFill>
          <a:ln>
            <a:noFill/>
          </a:ln>
        </p:spPr>
        <p:txBody>
          <a:bodyPr spcFirstLastPara="1" wrap="square" lIns="78850" tIns="39425" rIns="78850" bIns="39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13;p30">
            <a:extLst>
              <a:ext uri="{FF2B5EF4-FFF2-40B4-BE49-F238E27FC236}">
                <a16:creationId xmlns:a16="http://schemas.microsoft.com/office/drawing/2014/main" id="{8E20122E-CC14-4CDA-873D-88A1DD0BA961}"/>
              </a:ext>
            </a:extLst>
          </p:cNvPr>
          <p:cNvSpPr/>
          <p:nvPr/>
        </p:nvSpPr>
        <p:spPr>
          <a:xfrm rot="-9360000">
            <a:off x="4059040" y="3786119"/>
            <a:ext cx="1214991" cy="1058574"/>
          </a:xfrm>
          <a:custGeom>
            <a:avLst/>
            <a:gdLst/>
            <a:ahLst/>
            <a:cxnLst/>
            <a:rect l="l" t="t" r="r" b="b"/>
            <a:pathLst>
              <a:path w="1721649" h="1500006" extrusionOk="0">
                <a:moveTo>
                  <a:pt x="26" y="533323"/>
                </a:moveTo>
                <a:cubicBezTo>
                  <a:pt x="789" y="506604"/>
                  <a:pt x="18511" y="478986"/>
                  <a:pt x="42483" y="467160"/>
                </a:cubicBezTo>
                <a:cubicBezTo>
                  <a:pt x="42483" y="467160"/>
                  <a:pt x="973106" y="8056"/>
                  <a:pt x="973106" y="8056"/>
                </a:cubicBezTo>
                <a:cubicBezTo>
                  <a:pt x="996206" y="-3340"/>
                  <a:pt x="1021993" y="-2625"/>
                  <a:pt x="1044405" y="10069"/>
                </a:cubicBezTo>
                <a:cubicBezTo>
                  <a:pt x="1044405" y="10070"/>
                  <a:pt x="1598243" y="323777"/>
                  <a:pt x="1598243" y="323776"/>
                </a:cubicBezTo>
                <a:cubicBezTo>
                  <a:pt x="1620655" y="336471"/>
                  <a:pt x="1634570" y="358201"/>
                  <a:pt x="1636674" y="383872"/>
                </a:cubicBezTo>
                <a:cubicBezTo>
                  <a:pt x="1636674" y="383873"/>
                  <a:pt x="1721434" y="1418113"/>
                  <a:pt x="1721434" y="1418112"/>
                </a:cubicBezTo>
                <a:cubicBezTo>
                  <a:pt x="1723617" y="1444753"/>
                  <a:pt x="1709046" y="1474201"/>
                  <a:pt x="1686522" y="1488592"/>
                </a:cubicBezTo>
                <a:cubicBezTo>
                  <a:pt x="1663998" y="1502986"/>
                  <a:pt x="1631195" y="1503860"/>
                  <a:pt x="1607936" y="1490685"/>
                </a:cubicBezTo>
                <a:cubicBezTo>
                  <a:pt x="1607936" y="1490686"/>
                  <a:pt x="38670" y="601818"/>
                  <a:pt x="38670" y="601817"/>
                </a:cubicBezTo>
                <a:cubicBezTo>
                  <a:pt x="15411" y="588644"/>
                  <a:pt x="-736" y="560042"/>
                  <a:pt x="26" y="533323"/>
                </a:cubicBezTo>
                <a:close/>
              </a:path>
            </a:pathLst>
          </a:custGeom>
          <a:solidFill>
            <a:srgbClr val="F4B081"/>
          </a:solidFill>
          <a:ln>
            <a:noFill/>
          </a:ln>
        </p:spPr>
        <p:txBody>
          <a:bodyPr spcFirstLastPara="1" wrap="square" lIns="78850" tIns="39425" rIns="78850" bIns="39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614;p30">
            <a:extLst>
              <a:ext uri="{FF2B5EF4-FFF2-40B4-BE49-F238E27FC236}">
                <a16:creationId xmlns:a16="http://schemas.microsoft.com/office/drawing/2014/main" id="{C10FF571-F4B5-4A36-8E71-88B0328FB3BD}"/>
              </a:ext>
            </a:extLst>
          </p:cNvPr>
          <p:cNvSpPr/>
          <p:nvPr/>
        </p:nvSpPr>
        <p:spPr>
          <a:xfrm>
            <a:off x="6501346" y="2142782"/>
            <a:ext cx="2217895" cy="51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Pagos digitales en múltiples países.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615;p30">
            <a:extLst>
              <a:ext uri="{FF2B5EF4-FFF2-40B4-BE49-F238E27FC236}">
                <a16:creationId xmlns:a16="http://schemas.microsoft.com/office/drawing/2014/main" id="{5C7FEA8A-2866-43B8-A91F-07873C38C362}"/>
              </a:ext>
            </a:extLst>
          </p:cNvPr>
          <p:cNvSpPr/>
          <p:nvPr/>
        </p:nvSpPr>
        <p:spPr>
          <a:xfrm>
            <a:off x="6501346" y="1792295"/>
            <a:ext cx="24498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lang="es-419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02 - KUSHKI (ECUADOR/FINTECH)</a:t>
            </a:r>
          </a:p>
        </p:txBody>
      </p:sp>
      <p:sp>
        <p:nvSpPr>
          <p:cNvPr id="25" name="Google Shape;616;p30">
            <a:extLst>
              <a:ext uri="{FF2B5EF4-FFF2-40B4-BE49-F238E27FC236}">
                <a16:creationId xmlns:a16="http://schemas.microsoft.com/office/drawing/2014/main" id="{3E6290DE-03FF-4527-8E6D-542E0F0AA992}"/>
              </a:ext>
            </a:extLst>
          </p:cNvPr>
          <p:cNvSpPr/>
          <p:nvPr/>
        </p:nvSpPr>
        <p:spPr>
          <a:xfrm>
            <a:off x="6501346" y="3207867"/>
            <a:ext cx="1993631" cy="51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Validación digital más firma electrónica.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17;p30">
            <a:extLst>
              <a:ext uri="{FF2B5EF4-FFF2-40B4-BE49-F238E27FC236}">
                <a16:creationId xmlns:a16="http://schemas.microsoft.com/office/drawing/2014/main" id="{A19E3437-EE11-4954-A4C7-D97F6B974038}"/>
              </a:ext>
            </a:extLst>
          </p:cNvPr>
          <p:cNvSpPr/>
          <p:nvPr/>
        </p:nvSpPr>
        <p:spPr>
          <a:xfrm>
            <a:off x="6501341" y="2946420"/>
            <a:ext cx="22179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lang="es-419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03 - TRUORA (COLOMBIA)</a:t>
            </a:r>
          </a:p>
        </p:txBody>
      </p:sp>
      <p:sp>
        <p:nvSpPr>
          <p:cNvPr id="27" name="Google Shape;618;p30">
            <a:extLst>
              <a:ext uri="{FF2B5EF4-FFF2-40B4-BE49-F238E27FC236}">
                <a16:creationId xmlns:a16="http://schemas.microsoft.com/office/drawing/2014/main" id="{69E6A556-91EE-48CC-85FD-3F515EA281D5}"/>
              </a:ext>
            </a:extLst>
          </p:cNvPr>
          <p:cNvSpPr/>
          <p:nvPr/>
        </p:nvSpPr>
        <p:spPr>
          <a:xfrm>
            <a:off x="6501346" y="4361509"/>
            <a:ext cx="1993631" cy="51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Logística e IA. Opera en 4 países.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619;p30">
            <a:extLst>
              <a:ext uri="{FF2B5EF4-FFF2-40B4-BE49-F238E27FC236}">
                <a16:creationId xmlns:a16="http://schemas.microsoft.com/office/drawing/2014/main" id="{AE6D2DEC-19E1-4D27-B459-9FA0CE882A15}"/>
              </a:ext>
            </a:extLst>
          </p:cNvPr>
          <p:cNvSpPr/>
          <p:nvPr/>
        </p:nvSpPr>
        <p:spPr>
          <a:xfrm>
            <a:off x="6501341" y="4100045"/>
            <a:ext cx="20922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lang="es-419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04 - CHAZKI (PERÚ)</a:t>
            </a:r>
          </a:p>
        </p:txBody>
      </p:sp>
      <p:sp>
        <p:nvSpPr>
          <p:cNvPr id="29" name="Google Shape;620;p30">
            <a:extLst>
              <a:ext uri="{FF2B5EF4-FFF2-40B4-BE49-F238E27FC236}">
                <a16:creationId xmlns:a16="http://schemas.microsoft.com/office/drawing/2014/main" id="{7682FCA2-81FD-4BC5-BD7D-2C90017E19E0}"/>
              </a:ext>
            </a:extLst>
          </p:cNvPr>
          <p:cNvSpPr/>
          <p:nvPr/>
        </p:nvSpPr>
        <p:spPr>
          <a:xfrm>
            <a:off x="587919" y="2432367"/>
            <a:ext cx="2218055" cy="71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rPr lang="es-419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Entregas a domicilio. Su valor supera los 1,000 millones de dólares.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621;p30">
            <a:extLst>
              <a:ext uri="{FF2B5EF4-FFF2-40B4-BE49-F238E27FC236}">
                <a16:creationId xmlns:a16="http://schemas.microsoft.com/office/drawing/2014/main" id="{BD9E11F7-1BD9-4401-A8EB-C48B7DEF8CF5}"/>
              </a:ext>
            </a:extLst>
          </p:cNvPr>
          <p:cNvSpPr/>
          <p:nvPr/>
        </p:nvSpPr>
        <p:spPr>
          <a:xfrm>
            <a:off x="493745" y="2151070"/>
            <a:ext cx="18864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lang="es-419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01 -  RAPPI (COLOMBIA)</a:t>
            </a:r>
          </a:p>
        </p:txBody>
      </p:sp>
      <p:sp>
        <p:nvSpPr>
          <p:cNvPr id="31" name="Google Shape;622;p30">
            <a:extLst>
              <a:ext uri="{FF2B5EF4-FFF2-40B4-BE49-F238E27FC236}">
                <a16:creationId xmlns:a16="http://schemas.microsoft.com/office/drawing/2014/main" id="{7F39728B-DA5D-401B-85F2-A390C9BC210F}"/>
              </a:ext>
            </a:extLst>
          </p:cNvPr>
          <p:cNvSpPr/>
          <p:nvPr/>
        </p:nvSpPr>
        <p:spPr>
          <a:xfrm>
            <a:off x="587919" y="3839420"/>
            <a:ext cx="2189908" cy="51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1242"/>
            </a:pPr>
            <a:r>
              <a:rPr lang="es-MX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Edtech</a:t>
            </a:r>
            <a:r>
              <a:rPr lang="es-MX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enfocada en educación rural, en proceso de expansión regional.</a:t>
            </a:r>
            <a:endParaRPr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623;p30">
            <a:extLst>
              <a:ext uri="{FF2B5EF4-FFF2-40B4-BE49-F238E27FC236}">
                <a16:creationId xmlns:a16="http://schemas.microsoft.com/office/drawing/2014/main" id="{765C6A0A-D210-466C-8A88-821457735730}"/>
              </a:ext>
            </a:extLst>
          </p:cNvPr>
          <p:cNvSpPr/>
          <p:nvPr/>
        </p:nvSpPr>
        <p:spPr>
          <a:xfrm>
            <a:off x="386445" y="3583820"/>
            <a:ext cx="19935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9"/>
              <a:buFont typeface="Arial"/>
              <a:buNone/>
            </a:pPr>
            <a:r>
              <a:rPr lang="es-419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05 - MINKEDU (BOLIVIA)</a:t>
            </a:r>
          </a:p>
        </p:txBody>
      </p:sp>
      <p:sp>
        <p:nvSpPr>
          <p:cNvPr id="33" name="Google Shape;624;p30">
            <a:extLst>
              <a:ext uri="{FF2B5EF4-FFF2-40B4-BE49-F238E27FC236}">
                <a16:creationId xmlns:a16="http://schemas.microsoft.com/office/drawing/2014/main" id="{131D471E-ADD3-411F-BB3E-0361760AF9FF}"/>
              </a:ext>
            </a:extLst>
          </p:cNvPr>
          <p:cNvSpPr/>
          <p:nvPr/>
        </p:nvSpPr>
        <p:spPr>
          <a:xfrm rot="-8069537">
            <a:off x="5373468" y="2814731"/>
            <a:ext cx="466684" cy="404118"/>
          </a:xfrm>
          <a:prstGeom prst="triangle">
            <a:avLst>
              <a:gd name="adj" fmla="val 42509"/>
            </a:avLst>
          </a:prstGeom>
          <a:solidFill>
            <a:srgbClr val="CCE0F2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endParaRPr sz="86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625;p30">
            <a:extLst>
              <a:ext uri="{FF2B5EF4-FFF2-40B4-BE49-F238E27FC236}">
                <a16:creationId xmlns:a16="http://schemas.microsoft.com/office/drawing/2014/main" id="{D2E1C029-3D42-4912-9C81-EABDC601D114}"/>
              </a:ext>
            </a:extLst>
          </p:cNvPr>
          <p:cNvSpPr/>
          <p:nvPr/>
        </p:nvSpPr>
        <p:spPr>
          <a:xfrm rot="-3749537">
            <a:off x="4869166" y="4102441"/>
            <a:ext cx="466684" cy="404118"/>
          </a:xfrm>
          <a:prstGeom prst="triangle">
            <a:avLst>
              <a:gd name="adj" fmla="val 42509"/>
            </a:avLst>
          </a:prstGeom>
          <a:solidFill>
            <a:srgbClr val="CCE0F2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endParaRPr sz="86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626;p30">
            <a:extLst>
              <a:ext uri="{FF2B5EF4-FFF2-40B4-BE49-F238E27FC236}">
                <a16:creationId xmlns:a16="http://schemas.microsoft.com/office/drawing/2014/main" id="{F3453333-66A5-4D73-A6BD-A1FF2AC8E92A}"/>
              </a:ext>
            </a:extLst>
          </p:cNvPr>
          <p:cNvSpPr/>
          <p:nvPr/>
        </p:nvSpPr>
        <p:spPr>
          <a:xfrm rot="570463">
            <a:off x="3460749" y="4080970"/>
            <a:ext cx="466684" cy="404118"/>
          </a:xfrm>
          <a:prstGeom prst="triangle">
            <a:avLst>
              <a:gd name="adj" fmla="val 42509"/>
            </a:avLst>
          </a:prstGeom>
          <a:solidFill>
            <a:srgbClr val="CCE0F2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endParaRPr sz="86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627;p30">
            <a:extLst>
              <a:ext uri="{FF2B5EF4-FFF2-40B4-BE49-F238E27FC236}">
                <a16:creationId xmlns:a16="http://schemas.microsoft.com/office/drawing/2014/main" id="{1BF9E857-EA40-466F-830D-DB66B0AD514C}"/>
              </a:ext>
            </a:extLst>
          </p:cNvPr>
          <p:cNvSpPr/>
          <p:nvPr/>
        </p:nvSpPr>
        <p:spPr>
          <a:xfrm rot="4890463">
            <a:off x="3064274" y="2738394"/>
            <a:ext cx="466684" cy="404118"/>
          </a:xfrm>
          <a:prstGeom prst="triangle">
            <a:avLst>
              <a:gd name="adj" fmla="val 42509"/>
            </a:avLst>
          </a:prstGeom>
          <a:solidFill>
            <a:srgbClr val="CCE0F2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endParaRPr sz="86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628;p30">
            <a:extLst>
              <a:ext uri="{FF2B5EF4-FFF2-40B4-BE49-F238E27FC236}">
                <a16:creationId xmlns:a16="http://schemas.microsoft.com/office/drawing/2014/main" id="{9160CC39-3996-4DB3-AC0B-C8365884AA62}"/>
              </a:ext>
            </a:extLst>
          </p:cNvPr>
          <p:cNvSpPr/>
          <p:nvPr/>
        </p:nvSpPr>
        <p:spPr>
          <a:xfrm>
            <a:off x="3896347" y="2790399"/>
            <a:ext cx="1092549" cy="1092549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629;p30">
            <a:extLst>
              <a:ext uri="{FF2B5EF4-FFF2-40B4-BE49-F238E27FC236}">
                <a16:creationId xmlns:a16="http://schemas.microsoft.com/office/drawing/2014/main" id="{2F68E799-4DF3-4A76-9FF1-E396F262F55B}"/>
              </a:ext>
            </a:extLst>
          </p:cNvPr>
          <p:cNvSpPr/>
          <p:nvPr/>
        </p:nvSpPr>
        <p:spPr>
          <a:xfrm>
            <a:off x="4252268" y="3146319"/>
            <a:ext cx="381085" cy="381085"/>
          </a:xfrm>
          <a:custGeom>
            <a:avLst/>
            <a:gdLst/>
            <a:ahLst/>
            <a:cxnLst/>
            <a:rect l="l" t="t" r="r" b="b"/>
            <a:pathLst>
              <a:path w="539999" h="539999" extrusionOk="0">
                <a:moveTo>
                  <a:pt x="60132" y="115"/>
                </a:moveTo>
                <a:lnTo>
                  <a:pt x="480098" y="115"/>
                </a:lnTo>
                <a:cubicBezTo>
                  <a:pt x="513268" y="115"/>
                  <a:pt x="540115" y="26961"/>
                  <a:pt x="540115" y="60132"/>
                </a:cubicBezTo>
                <a:lnTo>
                  <a:pt x="540115" y="360102"/>
                </a:lnTo>
                <a:cubicBezTo>
                  <a:pt x="540115" y="393274"/>
                  <a:pt x="513268" y="420119"/>
                  <a:pt x="480098" y="420119"/>
                </a:cubicBezTo>
                <a:lnTo>
                  <a:pt x="60132" y="420119"/>
                </a:lnTo>
                <a:cubicBezTo>
                  <a:pt x="26961" y="420119"/>
                  <a:pt x="115" y="393235"/>
                  <a:pt x="115" y="360102"/>
                </a:cubicBezTo>
                <a:lnTo>
                  <a:pt x="115" y="60132"/>
                </a:lnTo>
                <a:cubicBezTo>
                  <a:pt x="115" y="26961"/>
                  <a:pt x="26961" y="115"/>
                  <a:pt x="60132" y="115"/>
                </a:cubicBezTo>
                <a:moveTo>
                  <a:pt x="30124" y="480098"/>
                </a:moveTo>
                <a:lnTo>
                  <a:pt x="510105" y="480098"/>
                </a:lnTo>
                <a:cubicBezTo>
                  <a:pt x="526679" y="480098"/>
                  <a:pt x="540115" y="493534"/>
                  <a:pt x="540115" y="510105"/>
                </a:cubicBezTo>
                <a:cubicBezTo>
                  <a:pt x="540115" y="526679"/>
                  <a:pt x="526679" y="540115"/>
                  <a:pt x="510105" y="540115"/>
                </a:cubicBezTo>
                <a:lnTo>
                  <a:pt x="30124" y="540115"/>
                </a:lnTo>
                <a:cubicBezTo>
                  <a:pt x="13550" y="540115"/>
                  <a:pt x="115" y="526679"/>
                  <a:pt x="115" y="510105"/>
                </a:cubicBezTo>
                <a:cubicBezTo>
                  <a:pt x="115" y="493534"/>
                  <a:pt x="13550" y="480098"/>
                  <a:pt x="30124" y="480098"/>
                </a:cubicBezTo>
                <a:moveTo>
                  <a:pt x="270115" y="210098"/>
                </a:moveTo>
                <a:cubicBezTo>
                  <a:pt x="253529" y="210098"/>
                  <a:pt x="240105" y="223521"/>
                  <a:pt x="240105" y="240105"/>
                </a:cubicBezTo>
                <a:lnTo>
                  <a:pt x="240105" y="270115"/>
                </a:lnTo>
                <a:cubicBezTo>
                  <a:pt x="240105" y="286689"/>
                  <a:pt x="253541" y="300124"/>
                  <a:pt x="270115" y="300124"/>
                </a:cubicBezTo>
                <a:cubicBezTo>
                  <a:pt x="286689" y="300124"/>
                  <a:pt x="300124" y="286689"/>
                  <a:pt x="300124" y="270115"/>
                </a:cubicBezTo>
                <a:lnTo>
                  <a:pt x="300124" y="240105"/>
                </a:lnTo>
                <a:cubicBezTo>
                  <a:pt x="300124" y="223559"/>
                  <a:pt x="286701" y="210098"/>
                  <a:pt x="270115" y="210098"/>
                </a:cubicBezTo>
                <a:moveTo>
                  <a:pt x="390111" y="180128"/>
                </a:moveTo>
                <a:cubicBezTo>
                  <a:pt x="373564" y="180128"/>
                  <a:pt x="360102" y="193512"/>
                  <a:pt x="360102" y="210098"/>
                </a:cubicBezTo>
                <a:lnTo>
                  <a:pt x="360102" y="270115"/>
                </a:lnTo>
                <a:cubicBezTo>
                  <a:pt x="360104" y="286687"/>
                  <a:pt x="373539" y="300120"/>
                  <a:pt x="390111" y="300120"/>
                </a:cubicBezTo>
                <a:cubicBezTo>
                  <a:pt x="406683" y="300120"/>
                  <a:pt x="420116" y="286687"/>
                  <a:pt x="420119" y="270115"/>
                </a:cubicBezTo>
                <a:lnTo>
                  <a:pt x="420119" y="210098"/>
                </a:lnTo>
                <a:cubicBezTo>
                  <a:pt x="420119" y="193551"/>
                  <a:pt x="406695" y="180128"/>
                  <a:pt x="390111" y="180128"/>
                </a:cubicBezTo>
                <a:moveTo>
                  <a:pt x="150158" y="120072"/>
                </a:moveTo>
                <a:lnTo>
                  <a:pt x="150081" y="120111"/>
                </a:lnTo>
                <a:cubicBezTo>
                  <a:pt x="133495" y="120111"/>
                  <a:pt x="120072" y="133534"/>
                  <a:pt x="120072" y="150119"/>
                </a:cubicBezTo>
                <a:lnTo>
                  <a:pt x="120072" y="270115"/>
                </a:lnTo>
                <a:cubicBezTo>
                  <a:pt x="120072" y="286710"/>
                  <a:pt x="133525" y="300162"/>
                  <a:pt x="150119" y="300162"/>
                </a:cubicBezTo>
                <a:cubicBezTo>
                  <a:pt x="166714" y="300162"/>
                  <a:pt x="180166" y="286710"/>
                  <a:pt x="180166" y="270115"/>
                </a:cubicBezTo>
                <a:lnTo>
                  <a:pt x="180166" y="150081"/>
                </a:lnTo>
                <a:cubicBezTo>
                  <a:pt x="180166" y="133495"/>
                  <a:pt x="166744" y="120072"/>
                  <a:pt x="150158" y="120072"/>
                </a:cubicBezTo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803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503237" y="920364"/>
            <a:ext cx="807060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711200">
              <a:spcAft>
                <a:spcPts val="600"/>
              </a:spcAft>
            </a:pPr>
            <a:r>
              <a:rPr lang="es-MX" sz="1600" b="1" dirty="0">
                <a:latin typeface="Calibri" charset="0"/>
                <a:ea typeface="Calibri" charset="0"/>
                <a:cs typeface="Calibri" charset="0"/>
              </a:rPr>
              <a:t>SÍNTESIS: HACIA UNA IA RESPONSABLE EN LOS ANDES</a:t>
            </a:r>
          </a:p>
        </p:txBody>
      </p:sp>
      <p:sp>
        <p:nvSpPr>
          <p:cNvPr id="21" name="Google Shape;77;p5">
            <a:extLst>
              <a:ext uri="{FF2B5EF4-FFF2-40B4-BE49-F238E27FC236}">
                <a16:creationId xmlns:a16="http://schemas.microsoft.com/office/drawing/2014/main" id="{D94A4286-739E-4DC4-B1CA-995013167173}"/>
              </a:ext>
            </a:extLst>
          </p:cNvPr>
          <p:cNvSpPr/>
          <p:nvPr/>
        </p:nvSpPr>
        <p:spPr>
          <a:xfrm>
            <a:off x="503237" y="380615"/>
            <a:ext cx="4605475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419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MX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IMPACTOS SOCIALES Y RIESGOS EN IA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7E5267-A647-4A85-9823-4130F06FA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06" y="1353628"/>
            <a:ext cx="7806042" cy="2743583"/>
          </a:xfrm>
          <a:prstGeom prst="rect">
            <a:avLst/>
          </a:prstGeom>
        </p:spPr>
      </p:pic>
      <p:sp>
        <p:nvSpPr>
          <p:cNvPr id="40" name="Rectángulo 39">
            <a:extLst>
              <a:ext uri="{FF2B5EF4-FFF2-40B4-BE49-F238E27FC236}">
                <a16:creationId xmlns:a16="http://schemas.microsoft.com/office/drawing/2014/main" id="{4F8542D5-4E07-4C9E-A999-F9CA54CA3490}"/>
              </a:ext>
            </a:extLst>
          </p:cNvPr>
          <p:cNvSpPr/>
          <p:nvPr/>
        </p:nvSpPr>
        <p:spPr>
          <a:xfrm>
            <a:off x="767803" y="3111691"/>
            <a:ext cx="1874203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 defTabSz="711200">
              <a:spcAft>
                <a:spcPts val="600"/>
              </a:spcAft>
            </a:pPr>
            <a:r>
              <a:rPr lang="es-MX" sz="1200" b="1" dirty="0">
                <a:latin typeface="Calibri" charset="0"/>
                <a:ea typeface="Calibri" charset="0"/>
                <a:cs typeface="Calibri" charset="0"/>
              </a:rPr>
              <a:t>NECESIDAD URGENTE</a:t>
            </a:r>
          </a:p>
          <a:p>
            <a:pPr lvl="0" algn="ctr" defTabSz="711200">
              <a:spcAft>
                <a:spcPts val="600"/>
              </a:spcAft>
            </a:pPr>
            <a:r>
              <a:rPr lang="es-MX" sz="1200" dirty="0">
                <a:latin typeface="Calibri" charset="0"/>
                <a:ea typeface="Calibri" charset="0"/>
                <a:cs typeface="Calibri" charset="0"/>
              </a:rPr>
              <a:t>Marco regulatorio regional armonizado (Agenda Digital Andina).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B865AFC-A64B-4A52-8A57-5BC47E20DFC1}"/>
              </a:ext>
            </a:extLst>
          </p:cNvPr>
          <p:cNvSpPr/>
          <p:nvPr/>
        </p:nvSpPr>
        <p:spPr>
          <a:xfrm>
            <a:off x="2515323" y="1407623"/>
            <a:ext cx="1874203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 defTabSz="711200">
              <a:spcAft>
                <a:spcPts val="600"/>
              </a:spcAft>
            </a:pPr>
            <a:r>
              <a:rPr lang="es-MX" sz="1200" b="1" dirty="0">
                <a:latin typeface="Calibri" charset="0"/>
                <a:ea typeface="Calibri" charset="0"/>
                <a:cs typeface="Calibri" charset="0"/>
              </a:rPr>
              <a:t>INVERSIÓN CRÍTICA</a:t>
            </a:r>
          </a:p>
          <a:p>
            <a:pPr lvl="0" algn="ctr" defTabSz="711200">
              <a:spcAft>
                <a:spcPts val="600"/>
              </a:spcAft>
            </a:pPr>
            <a:r>
              <a:rPr lang="es-MX" sz="1200" dirty="0">
                <a:latin typeface="Calibri" charset="0"/>
                <a:ea typeface="Calibri" charset="0"/>
                <a:cs typeface="Calibri" charset="0"/>
              </a:rPr>
              <a:t>Infraestructura digital, talento, investigación local.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7B67E5A-1F9E-40B5-A841-72FF694F629D}"/>
              </a:ext>
            </a:extLst>
          </p:cNvPr>
          <p:cNvSpPr/>
          <p:nvPr/>
        </p:nvSpPr>
        <p:spPr>
          <a:xfrm>
            <a:off x="3452424" y="4029232"/>
            <a:ext cx="1874203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 defTabSz="711200">
              <a:spcAft>
                <a:spcPts val="600"/>
              </a:spcAft>
            </a:pPr>
            <a:r>
              <a:rPr lang="es-MX" sz="1200" b="1" dirty="0">
                <a:latin typeface="Calibri" charset="0"/>
                <a:ea typeface="Calibri" charset="0"/>
                <a:cs typeface="Calibri" charset="0"/>
              </a:rPr>
              <a:t>EQUILIBRIO ESENCIAL</a:t>
            </a:r>
          </a:p>
          <a:p>
            <a:pPr lvl="0" algn="ctr" defTabSz="711200">
              <a:spcAft>
                <a:spcPts val="600"/>
              </a:spcAft>
            </a:pPr>
            <a:r>
              <a:rPr lang="es-MX" sz="1200" dirty="0">
                <a:latin typeface="Calibri" charset="0"/>
                <a:ea typeface="Calibri" charset="0"/>
                <a:cs typeface="Calibri" charset="0"/>
              </a:rPr>
              <a:t>Innovación vs. protección de derechos.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EE67F6CB-F254-4BEA-A5FF-308C32AFE51B}"/>
              </a:ext>
            </a:extLst>
          </p:cNvPr>
          <p:cNvSpPr/>
          <p:nvPr/>
        </p:nvSpPr>
        <p:spPr>
          <a:xfrm>
            <a:off x="4801323" y="1926536"/>
            <a:ext cx="1874203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 defTabSz="711200">
              <a:spcAft>
                <a:spcPts val="600"/>
              </a:spcAft>
            </a:pPr>
            <a:r>
              <a:rPr lang="es-MX" sz="1200" b="1" dirty="0">
                <a:latin typeface="Calibri" charset="0"/>
                <a:ea typeface="Calibri" charset="0"/>
                <a:cs typeface="Calibri" charset="0"/>
              </a:rPr>
              <a:t>VIGILANCIA PERMANENTE</a:t>
            </a:r>
          </a:p>
          <a:p>
            <a:pPr lvl="0" algn="ctr" defTabSz="711200">
              <a:spcAft>
                <a:spcPts val="600"/>
              </a:spcAft>
            </a:pPr>
            <a:r>
              <a:rPr lang="es-MX" sz="1200" dirty="0">
                <a:latin typeface="Calibri" charset="0"/>
                <a:ea typeface="Calibri" charset="0"/>
                <a:cs typeface="Calibri" charset="0"/>
              </a:rPr>
              <a:t>Supervisión humana, transparencia, rendición de cuentas.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ADCB382D-41B7-401B-8BA2-31197B37A061}"/>
              </a:ext>
            </a:extLst>
          </p:cNvPr>
          <p:cNvSpPr/>
          <p:nvPr/>
        </p:nvSpPr>
        <p:spPr>
          <a:xfrm>
            <a:off x="6699642" y="3281603"/>
            <a:ext cx="1874203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 defTabSz="711200">
              <a:spcAft>
                <a:spcPts val="600"/>
              </a:spcAft>
            </a:pPr>
            <a:r>
              <a:rPr lang="es-MX" sz="1200" b="1" dirty="0">
                <a:latin typeface="Calibri" charset="0"/>
                <a:ea typeface="Calibri" charset="0"/>
                <a:cs typeface="Calibri" charset="0"/>
              </a:rPr>
              <a:t>COOPERACIÓN REGIONAL</a:t>
            </a:r>
          </a:p>
          <a:p>
            <a:pPr lvl="0" algn="ctr" defTabSz="711200">
              <a:spcAft>
                <a:spcPts val="600"/>
              </a:spcAft>
            </a:pPr>
            <a:r>
              <a:rPr lang="pt-BR" sz="1200" dirty="0">
                <a:latin typeface="Calibri" charset="0"/>
                <a:ea typeface="Calibri" charset="0"/>
                <a:cs typeface="Calibri" charset="0"/>
              </a:rPr>
              <a:t>Aprender de Estados Unidos, adaptar a contexto ALC.</a:t>
            </a:r>
            <a:endParaRPr lang="es-MX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5" name="Google Shape;636;p31">
            <a:extLst>
              <a:ext uri="{FF2B5EF4-FFF2-40B4-BE49-F238E27FC236}">
                <a16:creationId xmlns:a16="http://schemas.microsoft.com/office/drawing/2014/main" id="{B1DBD070-54C1-4CE7-9AFD-D94CA828A7FD}"/>
              </a:ext>
            </a:extLst>
          </p:cNvPr>
          <p:cNvSpPr txBox="1"/>
          <p:nvPr/>
        </p:nvSpPr>
        <p:spPr>
          <a:xfrm>
            <a:off x="1770468" y="4875873"/>
            <a:ext cx="606171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5"/>
              <a:buFont typeface="Calibri"/>
              <a:buNone/>
            </a:pPr>
            <a:r>
              <a:rPr lang="es-419" sz="16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IA es inevitable: su regulación es RESPONSABILIDAD COLECTIVA.</a:t>
            </a:r>
            <a:endParaRPr sz="1600" b="1" i="0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093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endPara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endParaRP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1279545" y="912813"/>
            <a:ext cx="5705454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ética y la transparencia son elementos esenciales en el diseño de soluciones con IA.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uso de datos sensibles requiere especial cuidado y responsabilidad.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marcos de referencia ayudan a guiar el desarrollo ético de soluciones tecnológicas.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Comprender los impactos sociales y riesgos permite anticipar problemas y mitigarlos.</a:t>
            </a:r>
          </a:p>
          <a:p>
            <a:pPr lvl="0"/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problema bien definido facilita el éxito del modelo IA en etapas posteriores.</a:t>
            </a:r>
          </a:p>
        </p:txBody>
      </p:sp>
      <p:pic>
        <p:nvPicPr>
          <p:cNvPr id="429" name="Google Shape;4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1620875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2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2"/>
          <p:cNvPicPr preferRelativeResize="0"/>
          <p:nvPr/>
        </p:nvPicPr>
        <p:blipFill rotWithShape="1">
          <a:blip r:embed="rId4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434" name="Google Shape;43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2003510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265123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35;p32">
            <a:extLst>
              <a:ext uri="{FF2B5EF4-FFF2-40B4-BE49-F238E27FC236}">
                <a16:creationId xmlns:a16="http://schemas.microsoft.com/office/drawing/2014/main" id="{2C764F30-ED79-4EF0-9049-4366F9E7B6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260" y="3298960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4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1279009" y="917823"/>
            <a:ext cx="5773921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Alvarado, H. P. L., &amp; Villavicencio, O. E. C. (2024).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Regulación del Manejo de la Inteligencia Artificial, Consecuencias y Daños a la Sociedad por su Mal Uso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Ciencia Latina Revista Científica Multidisciplinar, 8(1), 1966-1978.</a:t>
            </a:r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Cotino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Hueso, L., &amp; Castellanos Claramunt, J. (Eds.). (2022).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Transparencia y </a:t>
            </a:r>
            <a:r>
              <a:rPr lang="es-MX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explicabilidad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inteligencia artificial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Tirant lo Blanch.</a:t>
            </a:r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Ester Sánchez, A. T. (2023).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desafío de la Inteligencia Artificial a la vigencia de los derechos fundamentales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Cuadernos electrónicos de Filosofía del Derecho.</a:t>
            </a:r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Herrera, G.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Gobernanza Global en la Era de la Inteligencia Artificial desde la Perspectiva de las Relaciones Internacionales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Inteligencia Artificial y Diplomacia: Las relaciones internacionales en la era, 47.</a:t>
            </a:r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Megías Quirós, J. J. (2022). Derechos humanos e inteligencia artificial. </a:t>
            </a:r>
            <a:r>
              <a:rPr lang="es-MX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Dikaiosyne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(37), 140-163. </a:t>
            </a: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https://dialnet.unirioja.es/servlet/articulo?codigo=8479007</a:t>
            </a:r>
            <a:endParaRPr lang="es-MX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1802146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4"/>
          <p:cNvPicPr preferRelativeResize="0"/>
          <p:nvPr/>
        </p:nvPicPr>
        <p:blipFill rotWithShape="1">
          <a:blip r:embed="rId5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456" name="Google Shape;45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4" y="2480166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3086588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57;p34">
            <a:extLst>
              <a:ext uri="{FF2B5EF4-FFF2-40B4-BE49-F238E27FC236}">
                <a16:creationId xmlns:a16="http://schemas.microsoft.com/office/drawing/2014/main" id="{2B615D84-87E0-439A-976A-013397EDE1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2" y="3947734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1279009" y="917823"/>
            <a:ext cx="5773921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Pérez-Ugena, M. (2024). La inteligencia artificial: definición, regulación y riesgos para los derechos fundamentales. Estudios de Deusto, 72(1), 307-337. </a:t>
            </a:r>
            <a:r>
              <a:rPr lang="es-MX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https://doi.org/10.18543/ed.3108</a:t>
            </a:r>
            <a:endParaRPr lang="es-MX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endParaRPr lang="es-MX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285"/>
            </a:pP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Zambrano, O., Ruz, M. T., &amp; Peñalosa, J. A. N. (2025). </a:t>
            </a:r>
            <a:r>
              <a:rPr lang="es-MX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Desafíos regulatorios de la inteligencia artificial en la comunidad andina y oportunidades para el emprendimiento digital</a:t>
            </a:r>
            <a:r>
              <a:rPr lang="es-MX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Revista Ciencia UNEMI, 18(49), 122-136.</a:t>
            </a:r>
          </a:p>
        </p:txBody>
      </p:sp>
      <p:pic>
        <p:nvPicPr>
          <p:cNvPr id="451" name="Google Shape;45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1790056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4"/>
          <p:cNvPicPr preferRelativeResize="0"/>
          <p:nvPr/>
        </p:nvPicPr>
        <p:blipFill rotWithShape="1">
          <a:blip r:embed="rId5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419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329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2771</Words>
  <Application>Microsoft Office PowerPoint</Application>
  <PresentationFormat>Presentación en pantalla (16:10)</PresentationFormat>
  <Paragraphs>341</Paragraphs>
  <Slides>39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5" baseType="lpstr">
      <vt:lpstr>Arial</vt:lpstr>
      <vt:lpstr>Calibri</vt:lpstr>
      <vt:lpstr>Graphik Bold</vt:lpstr>
      <vt:lpstr>Graphik Regular</vt:lpstr>
      <vt:lpstr>Graphik-Medium</vt:lpstr>
      <vt:lpstr>1_Diseño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Eddy Marcelo Bejarano Carranza</cp:lastModifiedBy>
  <cp:revision>148</cp:revision>
  <dcterms:created xsi:type="dcterms:W3CDTF">2006-06-01T21:36:00Z</dcterms:created>
  <dcterms:modified xsi:type="dcterms:W3CDTF">2026-02-16T20:20:15Z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F81A883DB9774FB69B2D160EEB34C9D0_13</vt:lpwstr>
  </property>
  <property fmtid="{D5CDD505-2E9C-101B-9397-08002B2CF9AE}" pid="3" name="KSOProductBuildVer">
    <vt:lpwstr>2058-12.2.0.23196</vt:lpwstr>
  </property>
</Properties>
</file>