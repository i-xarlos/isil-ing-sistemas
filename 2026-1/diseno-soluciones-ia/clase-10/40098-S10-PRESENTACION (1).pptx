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8"/>
  </p:notesMasterIdLst>
  <p:sldIdLst>
    <p:sldId id="697" r:id="rId2"/>
    <p:sldId id="627" r:id="rId3"/>
    <p:sldId id="258" r:id="rId4"/>
    <p:sldId id="741" r:id="rId5"/>
    <p:sldId id="763" r:id="rId6"/>
    <p:sldId id="260" r:id="rId7"/>
    <p:sldId id="764" r:id="rId8"/>
    <p:sldId id="765" r:id="rId9"/>
    <p:sldId id="766" r:id="rId10"/>
    <p:sldId id="767" r:id="rId11"/>
    <p:sldId id="261" r:id="rId12"/>
    <p:sldId id="768" r:id="rId13"/>
    <p:sldId id="769" r:id="rId14"/>
    <p:sldId id="770" r:id="rId15"/>
    <p:sldId id="771" r:id="rId16"/>
    <p:sldId id="772" r:id="rId17"/>
    <p:sldId id="262" r:id="rId18"/>
    <p:sldId id="773" r:id="rId19"/>
    <p:sldId id="774" r:id="rId20"/>
    <p:sldId id="775" r:id="rId21"/>
    <p:sldId id="776" r:id="rId22"/>
    <p:sldId id="777" r:id="rId23"/>
    <p:sldId id="778" r:id="rId24"/>
    <p:sldId id="779" r:id="rId25"/>
    <p:sldId id="780" r:id="rId26"/>
    <p:sldId id="781" r:id="rId27"/>
    <p:sldId id="782" r:id="rId28"/>
    <p:sldId id="742" r:id="rId29"/>
    <p:sldId id="783" r:id="rId30"/>
    <p:sldId id="784" r:id="rId31"/>
    <p:sldId id="785" r:id="rId32"/>
    <p:sldId id="588" r:id="rId33"/>
    <p:sldId id="287" r:id="rId34"/>
    <p:sldId id="590" r:id="rId35"/>
    <p:sldId id="289" r:id="rId36"/>
    <p:sldId id="290" r:id="rId37"/>
  </p:sldIdLst>
  <p:sldSz cx="9144000" cy="5715000" type="screen16x1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63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2" roundtripDataSignature="AMtx7mj5tNFU/XgnW9/e3mEIUXuPN9vU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50A0"/>
    <a:srgbClr val="EE4639"/>
    <a:srgbClr val="00B0F0"/>
    <a:srgbClr val="ED7E7B"/>
    <a:srgbClr val="CC99FF"/>
    <a:srgbClr val="FF7828"/>
    <a:srgbClr val="92C2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099E4D-27D5-4A78-BA8A-4D5D030B51D8}">
  <a:tblStyle styleId="{65099E4D-27D5-4A78-BA8A-4D5D030B51D8}" styleName="Table_0">
    <a:wholeTbl>
      <a:tcTxStyle b="off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w="9525" cap="flat" cmpd="sng">
              <a:solidFill>
                <a:srgbClr val="D1E3C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D1E3C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D1E3C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D1E3C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l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lt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</a:tcBdr>
      </a:tcStyle>
    </a:lastCol>
    <a:firstCol>
      <a:tcTxStyle b="on" i="off"/>
      <a:tcStyle>
        <a:tcBdr>
          <a:right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firstCol>
    <a:lastRow>
      <a:tcTxStyle b="on" i="off"/>
      <a:tcStyle>
        <a:tcBdr>
          <a:top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seCell>
    <a:swCell>
      <a:tcTxStyle/>
      <a:tcStyle>
        <a:tcBdr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swCell>
    <a:firstRow>
      <a:tcTxStyle b="on" i="off"/>
      <a:tcStyle>
        <a:tcBdr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64" autoAdjust="0"/>
    <p:restoredTop sz="90405" autoAdjust="0"/>
  </p:normalViewPr>
  <p:slideViewPr>
    <p:cSldViewPr snapToGrid="0">
      <p:cViewPr varScale="1">
        <p:scale>
          <a:sx n="92" d="100"/>
          <a:sy n="92" d="100"/>
        </p:scale>
        <p:origin x="11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276" y="78"/>
      </p:cViewPr>
      <p:guideLst>
        <p:guide orient="horz" pos="2863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834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15267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7801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22441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09599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09263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713914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7963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80688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3696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47041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624852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17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72338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08590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69109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73033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27534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71469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46596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32966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26629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86227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01687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47022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11182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97175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4" name="Google Shape;42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33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objetos">
  <p:cSld name="Título y objetos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>
  <p:cSld name="Diapositiva de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/>
          <p:nvPr/>
        </p:nvSpPr>
        <p:spPr>
          <a:xfrm>
            <a:off x="7249886" y="5371562"/>
            <a:ext cx="1498548" cy="18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0" i="0" u="none" strike="noStrike" cap="none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© ISIL. Todos los derechos reservados.</a:t>
            </a:r>
            <a:endParaRPr dirty="0"/>
          </a:p>
        </p:txBody>
      </p:sp>
      <p:sp>
        <p:nvSpPr>
          <p:cNvPr id="11" name="Google Shape;11;p36"/>
          <p:cNvSpPr txBox="1"/>
          <p:nvPr/>
        </p:nvSpPr>
        <p:spPr>
          <a:xfrm>
            <a:off x="876300" y="5343295"/>
            <a:ext cx="3182516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" b="0" i="0" u="none" strike="noStrike" cap="none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DISEÑO DE SOLUCIONES CON INTELIGENCIA ARTIFICIAL </a:t>
            </a:r>
            <a:r>
              <a:rPr lang="es-419" sz="800" b="0" i="0" u="none" strike="noStrike" cap="none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• TEMA 10</a:t>
            </a:r>
            <a:endParaRPr sz="800" dirty="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36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506316" y="5349405"/>
            <a:ext cx="369984" cy="20682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ángulo 40"/>
          <p:cNvSpPr/>
          <p:nvPr/>
        </p:nvSpPr>
        <p:spPr>
          <a:xfrm>
            <a:off x="182879" y="5120640"/>
            <a:ext cx="4304965" cy="46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0376003-8003-B944-8B01-9A232A7A385C}"/>
              </a:ext>
            </a:extLst>
          </p:cNvPr>
          <p:cNvSpPr txBox="1"/>
          <p:nvPr/>
        </p:nvSpPr>
        <p:spPr>
          <a:xfrm>
            <a:off x="503238" y="808689"/>
            <a:ext cx="310474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MX" sz="900" b="1" dirty="0">
                <a:solidFill>
                  <a:schemeClr val="bg1">
                    <a:lumMod val="50000"/>
                  </a:schemeClr>
                </a:solidFill>
                <a:latin typeface="Calibri" charset="0"/>
                <a:cs typeface="Calibri" charset="0"/>
              </a:rPr>
              <a:t>DISEÑO DE SOLUCIONES CON INTELIGENCIA ARTIFICIAL</a:t>
            </a:r>
          </a:p>
        </p:txBody>
      </p:sp>
      <p:sp>
        <p:nvSpPr>
          <p:cNvPr id="25" name="Rectángulo 24"/>
          <p:cNvSpPr/>
          <p:nvPr/>
        </p:nvSpPr>
        <p:spPr>
          <a:xfrm>
            <a:off x="503239" y="2177570"/>
            <a:ext cx="3056852" cy="7755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s-PE" sz="2800" dirty="0">
                <a:latin typeface="Graphik-Medium" charset="0"/>
                <a:ea typeface="Graphik-Medium" charset="0"/>
                <a:cs typeface="Graphik-Medium" charset="0"/>
              </a:rPr>
              <a:t>ELECCIÓN DEL </a:t>
            </a:r>
            <a:r>
              <a:rPr lang="es-PE" sz="2800" b="1" dirty="0">
                <a:latin typeface="Graphik Bold" charset="0"/>
                <a:ea typeface="Graphik Bold" charset="0"/>
                <a:cs typeface="Graphik Bold" charset="0"/>
              </a:rPr>
              <a:t>MODELO CORRECTO</a:t>
            </a:r>
          </a:p>
        </p:txBody>
      </p:sp>
      <p:sp>
        <p:nvSpPr>
          <p:cNvPr id="27" name="Rectángulo 26"/>
          <p:cNvSpPr/>
          <p:nvPr/>
        </p:nvSpPr>
        <p:spPr>
          <a:xfrm>
            <a:off x="503238" y="3219842"/>
            <a:ext cx="2845526" cy="1758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7800" indent="-177800">
              <a:lnSpc>
                <a:spcPct val="120000"/>
              </a:lnSpc>
              <a:buClr>
                <a:srgbClr val="7150A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Fundamentos y clasificación de los modelos de aprendizaje automático</a:t>
            </a:r>
          </a:p>
          <a:p>
            <a:pPr marL="177800" indent="-177800">
              <a:lnSpc>
                <a:spcPct val="120000"/>
              </a:lnSpc>
              <a:buClr>
                <a:srgbClr val="7150A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Principios y características de los modelos básicos (regresión lineal, árboles de decisión, entre otros)</a:t>
            </a:r>
          </a:p>
          <a:p>
            <a:pPr marL="177800" indent="-177800">
              <a:lnSpc>
                <a:spcPct val="120000"/>
              </a:lnSpc>
              <a:buClr>
                <a:srgbClr val="7150A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Criterios teóricos para la selección y adecuación de modelos a distintos tipos de datos y problemas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3FC3217-3DCC-0941-BA6B-6CEEC9F1D080}"/>
              </a:ext>
            </a:extLst>
          </p:cNvPr>
          <p:cNvSpPr txBox="1"/>
          <p:nvPr/>
        </p:nvSpPr>
        <p:spPr>
          <a:xfrm>
            <a:off x="743902" y="1819386"/>
            <a:ext cx="14576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20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TEMA 10</a:t>
            </a:r>
          </a:p>
        </p:txBody>
      </p:sp>
      <p:pic>
        <p:nvPicPr>
          <p:cNvPr id="29" name="Imagen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64" y="1883411"/>
            <a:ext cx="166865" cy="17045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E1D29D3-1902-43C8-8C5A-9C26533DC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8087" y="0"/>
            <a:ext cx="5395913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840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46969"/>
            <a:ext cx="2072213" cy="3898064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s-ES_tradnl" sz="33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INTRODUCCIÓN</a:t>
            </a:r>
          </a:p>
          <a:p>
            <a:pPr>
              <a:lnSpc>
                <a:spcPct val="80000"/>
              </a:lnSpc>
            </a:pPr>
            <a:r>
              <a:rPr lang="es-ES_tradnl" sz="33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DE LA SESIÓN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334433" y="3817749"/>
            <a:ext cx="809264" cy="80926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CD7628C-6304-5D4B-BA7D-591238143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559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6918960" y="5364480"/>
            <a:ext cx="2133600" cy="2244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 txBox="1"/>
          <p:nvPr/>
        </p:nvSpPr>
        <p:spPr>
          <a:xfrm>
            <a:off x="1282298" y="918372"/>
            <a:ext cx="5521727" cy="236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/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Existen múltiples modelos de aprendizaje automático, cada uno con fortalezas y limitaciones.</a:t>
            </a:r>
          </a:p>
          <a:p>
            <a:pPr marL="12700" lvl="0"/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lvl="0"/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hay un modelo “mejor” en todos los casos; la elección depende del problema y los datos.</a:t>
            </a:r>
          </a:p>
          <a:p>
            <a:pPr marL="12700" lvl="0"/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lvl="0"/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Seleccionar adecuadamente un modelo impacta directamente en la calidad de los resultados.</a:t>
            </a:r>
          </a:p>
          <a:p>
            <a:pPr marL="12700" lvl="0"/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lvl="0"/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esta sesión, revisaremos criterios y fundamentos para elegir y comparar modelos básicos IA.</a:t>
            </a:r>
          </a:p>
        </p:txBody>
      </p:sp>
      <p:pic>
        <p:nvPicPr>
          <p:cNvPr id="56" name="Google Shape;5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0839" y="954885"/>
            <a:ext cx="117851" cy="121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4501" y="1602352"/>
            <a:ext cx="117851" cy="12136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3"/>
          <p:cNvPicPr preferRelativeResize="0"/>
          <p:nvPr/>
        </p:nvPicPr>
        <p:blipFill rotWithShape="1">
          <a:blip r:embed="rId4">
            <a:alphaModFix amt="42000"/>
          </a:blip>
          <a:srcRect/>
          <a:stretch/>
        </p:blipFill>
        <p:spPr>
          <a:xfrm>
            <a:off x="6986661" y="3052731"/>
            <a:ext cx="1689027" cy="2181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4500" y="2249819"/>
            <a:ext cx="117851" cy="12136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419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INTRODUCCIÓN </a:t>
            </a:r>
            <a:endParaRPr/>
          </a:p>
        </p:txBody>
      </p:sp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4500" y="2880070"/>
            <a:ext cx="117851" cy="121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5993558" cy="997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4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FUNDAMENTOS Y CLASIFICACIÓN </a:t>
            </a:r>
            <a:br>
              <a:rPr lang="es-PE" sz="2400" dirty="0">
                <a:solidFill>
                  <a:schemeClr val="bg1"/>
                </a:solidFill>
                <a:latin typeface="Graphik Regular" charset="0"/>
              </a:rPr>
            </a:br>
            <a:r>
              <a:rPr lang="es-PE" sz="2400" b="1" dirty="0">
                <a:solidFill>
                  <a:schemeClr val="bg1"/>
                </a:solidFill>
                <a:latin typeface="Graphik Bold" charset="0"/>
              </a:rPr>
              <a:t>DE LOS MODELOS DE</a:t>
            </a:r>
            <a:br>
              <a:rPr lang="es-PE" sz="2400" dirty="0">
                <a:solidFill>
                  <a:schemeClr val="bg1"/>
                </a:solidFill>
                <a:latin typeface="Graphik Regular" charset="0"/>
              </a:rPr>
            </a:br>
            <a:r>
              <a:rPr lang="es-PE" sz="24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APRENDIZAJE AUTOMÁTICO</a:t>
            </a:r>
            <a:endParaRPr lang="es-ES" sz="1400" dirty="0">
              <a:solidFill>
                <a:schemeClr val="bg1"/>
              </a:solidFill>
              <a:latin typeface="Calibri" panose="020F0502020204030204" pitchFamily="34" charset="0"/>
              <a:cs typeface="Calibri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283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/>
        </p:nvSpPr>
        <p:spPr>
          <a:xfrm>
            <a:off x="506795" y="918372"/>
            <a:ext cx="819039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INTRODUCCIÓN AL APRENDIZAJE AUTOMÁTICO</a:t>
            </a:r>
          </a:p>
          <a:p>
            <a:pPr lvl="0">
              <a:buClr>
                <a:srgbClr val="262626"/>
              </a:buClr>
              <a:buSzPts val="1600"/>
            </a:pPr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El aprendizaje automático (ML) es un subconjunto de la inteligencia artificial que permite a los sistemas aprender y mejorar automáticamente a partir de datos sin programación explícita.</a:t>
            </a:r>
          </a:p>
        </p:txBody>
      </p:sp>
      <p:sp>
        <p:nvSpPr>
          <p:cNvPr id="77" name="Google Shape;77;p5"/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FUNDAMENTOS Y CLASIFICACIÓN DE LOS MODELOS DE APRENDIZAJE AUTOMÁTICO</a:t>
            </a:r>
          </a:p>
        </p:txBody>
      </p:sp>
      <p:sp>
        <p:nvSpPr>
          <p:cNvPr id="6" name="Google Shape;333;p23">
            <a:extLst>
              <a:ext uri="{FF2B5EF4-FFF2-40B4-BE49-F238E27FC236}">
                <a16:creationId xmlns:a16="http://schemas.microsoft.com/office/drawing/2014/main" id="{E01FCC02-AAFE-4DC6-9CF3-D09AED70A6B6}"/>
              </a:ext>
            </a:extLst>
          </p:cNvPr>
          <p:cNvSpPr/>
          <p:nvPr/>
        </p:nvSpPr>
        <p:spPr>
          <a:xfrm>
            <a:off x="4666064" y="1805791"/>
            <a:ext cx="3175640" cy="501005"/>
          </a:xfrm>
          <a:prstGeom prst="roundRect">
            <a:avLst>
              <a:gd name="adj" fmla="val 18326"/>
            </a:avLst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" algn="ctr"/>
            <a:r>
              <a:rPr lang="es-ES_tradnl" sz="1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Aprendizaje no supervisado</a:t>
            </a:r>
          </a:p>
        </p:txBody>
      </p:sp>
      <p:sp>
        <p:nvSpPr>
          <p:cNvPr id="7" name="Google Shape;335;p23">
            <a:extLst>
              <a:ext uri="{FF2B5EF4-FFF2-40B4-BE49-F238E27FC236}">
                <a16:creationId xmlns:a16="http://schemas.microsoft.com/office/drawing/2014/main" id="{DA9FF26B-3B81-474C-97ED-40AF34060CD4}"/>
              </a:ext>
            </a:extLst>
          </p:cNvPr>
          <p:cNvSpPr/>
          <p:nvPr/>
        </p:nvSpPr>
        <p:spPr>
          <a:xfrm>
            <a:off x="4666064" y="2380342"/>
            <a:ext cx="3175640" cy="1027863"/>
          </a:xfrm>
          <a:prstGeom prst="roundRect">
            <a:avLst>
              <a:gd name="adj" fmla="val 2748"/>
            </a:avLst>
          </a:prstGeom>
          <a:solidFill>
            <a:srgbClr val="D1EFF4"/>
          </a:solidFill>
          <a:ln>
            <a:noFill/>
          </a:ln>
        </p:spPr>
        <p:txBody>
          <a:bodyPr spcFirstLastPara="1" wrap="square" lIns="108000" tIns="108000" rIns="108000" bIns="45700" anchor="t" anchorCtr="0">
            <a:noAutofit/>
          </a:bodyPr>
          <a:lstStyle/>
          <a:p>
            <a:pPr marL="222250" indent="-134938">
              <a:buClr>
                <a:srgbClr val="00B1C2"/>
              </a:buClr>
              <a:buSzPct val="100000"/>
              <a:buFont typeface="Arial" panose="020B0604020202020204" pitchFamily="34" charset="0"/>
              <a:buChar char="•"/>
            </a:pPr>
            <a:r>
              <a:rPr lang="es-MX" dirty="0">
                <a:latin typeface="Calibri" panose="020F0502020204030204" pitchFamily="34" charset="0"/>
                <a:ea typeface="+mj-lt"/>
                <a:cs typeface="Calibri" panose="020F0502020204030204" pitchFamily="34" charset="0"/>
                <a:sym typeface="Calibri"/>
              </a:rPr>
              <a:t>Explora datos sin etiquetas.</a:t>
            </a:r>
          </a:p>
          <a:p>
            <a:pPr marL="222250" indent="-134938">
              <a:buClr>
                <a:srgbClr val="00B1C2"/>
              </a:buClr>
              <a:buSzPct val="100000"/>
              <a:buFont typeface="Arial" panose="020B0604020202020204" pitchFamily="34" charset="0"/>
              <a:buChar char="•"/>
            </a:pPr>
            <a:endParaRPr lang="es-MX" dirty="0">
              <a:latin typeface="Calibri" panose="020F0502020204030204" pitchFamily="34" charset="0"/>
              <a:ea typeface="+mj-lt"/>
              <a:cs typeface="Calibri" panose="020F0502020204030204" pitchFamily="34" charset="0"/>
              <a:sym typeface="Calibri"/>
            </a:endParaRPr>
          </a:p>
          <a:p>
            <a:pPr marL="222250" indent="-134938">
              <a:buClr>
                <a:srgbClr val="00B1C2"/>
              </a:buClr>
              <a:buSzPct val="100000"/>
              <a:buFont typeface="Arial" panose="020B0604020202020204" pitchFamily="34" charset="0"/>
              <a:buChar char="•"/>
            </a:pPr>
            <a:r>
              <a:rPr lang="es-MX" dirty="0">
                <a:latin typeface="Calibri" panose="020F0502020204030204" pitchFamily="34" charset="0"/>
                <a:ea typeface="+mj-lt"/>
                <a:cs typeface="Calibri" panose="020F0502020204030204" pitchFamily="34" charset="0"/>
                <a:sym typeface="Calibri"/>
              </a:rPr>
              <a:t>Analogía: agrupa patrones sin guía.</a:t>
            </a:r>
          </a:p>
          <a:p>
            <a:pPr marL="222250" indent="-134938">
              <a:buClr>
                <a:srgbClr val="00B1C2"/>
              </a:buClr>
              <a:buSzPct val="100000"/>
              <a:buFont typeface="Arial" panose="020B0604020202020204" pitchFamily="34" charset="0"/>
              <a:buChar char="•"/>
            </a:pPr>
            <a:endParaRPr lang="es-ES_tradnl" sz="1400" dirty="0">
              <a:latin typeface="Calibri" panose="020F0502020204030204" pitchFamily="34" charset="0"/>
              <a:ea typeface="+mj-lt"/>
              <a:cs typeface="Calibri" panose="020F0502020204030204" pitchFamily="34" charset="0"/>
              <a:sym typeface="Calibri"/>
            </a:endParaRPr>
          </a:p>
        </p:txBody>
      </p:sp>
      <p:grpSp>
        <p:nvGrpSpPr>
          <p:cNvPr id="8" name="Agrupar 9">
            <a:extLst>
              <a:ext uri="{FF2B5EF4-FFF2-40B4-BE49-F238E27FC236}">
                <a16:creationId xmlns:a16="http://schemas.microsoft.com/office/drawing/2014/main" id="{B1BCE88A-CEC3-4FC2-A0BB-6C87D5AFB783}"/>
              </a:ext>
            </a:extLst>
          </p:cNvPr>
          <p:cNvGrpSpPr/>
          <p:nvPr/>
        </p:nvGrpSpPr>
        <p:grpSpPr>
          <a:xfrm>
            <a:off x="4450298" y="1854420"/>
            <a:ext cx="459474" cy="403823"/>
            <a:chOff x="5892512" y="2805541"/>
            <a:chExt cx="459474" cy="403823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4E6C93B0-FEDF-41B8-94A0-9EF8D3B116C6}"/>
                </a:ext>
              </a:extLst>
            </p:cNvPr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0B82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A411BD5F-6F97-4EA4-846A-028D2C9CD1FC}"/>
                </a:ext>
              </a:extLst>
            </p:cNvPr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  <p:sp>
          <p:nvSpPr>
            <p:cNvPr id="11" name="Triángulo 13">
              <a:extLst>
                <a:ext uri="{FF2B5EF4-FFF2-40B4-BE49-F238E27FC236}">
                  <a16:creationId xmlns:a16="http://schemas.microsoft.com/office/drawing/2014/main" id="{0151F497-3BDC-475C-AFCD-2B04852B7982}"/>
                </a:ext>
              </a:extLst>
            </p:cNvPr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</p:grpSp>
      <p:sp>
        <p:nvSpPr>
          <p:cNvPr id="12" name="Google Shape;332;p23">
            <a:extLst>
              <a:ext uri="{FF2B5EF4-FFF2-40B4-BE49-F238E27FC236}">
                <a16:creationId xmlns:a16="http://schemas.microsoft.com/office/drawing/2014/main" id="{9C715070-98FA-43A3-BF92-72B630839A24}"/>
              </a:ext>
            </a:extLst>
          </p:cNvPr>
          <p:cNvSpPr/>
          <p:nvPr/>
        </p:nvSpPr>
        <p:spPr>
          <a:xfrm>
            <a:off x="1280458" y="1805791"/>
            <a:ext cx="3175640" cy="501005"/>
          </a:xfrm>
          <a:prstGeom prst="roundRect">
            <a:avLst>
              <a:gd name="adj" fmla="val 18326"/>
            </a:avLst>
          </a:prstGeom>
          <a:solidFill>
            <a:srgbClr val="EE46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" algn="ctr"/>
            <a:r>
              <a:rPr lang="es-ES_tradnl" sz="1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Aprendizaje supervisado</a:t>
            </a:r>
          </a:p>
        </p:txBody>
      </p:sp>
      <p:sp>
        <p:nvSpPr>
          <p:cNvPr id="13" name="Google Shape;334;p23">
            <a:extLst>
              <a:ext uri="{FF2B5EF4-FFF2-40B4-BE49-F238E27FC236}">
                <a16:creationId xmlns:a16="http://schemas.microsoft.com/office/drawing/2014/main" id="{8630E1DF-FE52-4AF0-8A9C-2C34F37DD02E}"/>
              </a:ext>
            </a:extLst>
          </p:cNvPr>
          <p:cNvSpPr/>
          <p:nvPr/>
        </p:nvSpPr>
        <p:spPr>
          <a:xfrm>
            <a:off x="1280458" y="2380342"/>
            <a:ext cx="3175640" cy="1027863"/>
          </a:xfrm>
          <a:prstGeom prst="roundRect">
            <a:avLst>
              <a:gd name="adj" fmla="val 2748"/>
            </a:avLst>
          </a:prstGeom>
          <a:solidFill>
            <a:srgbClr val="FFD8D4"/>
          </a:solidFill>
          <a:ln>
            <a:noFill/>
          </a:ln>
        </p:spPr>
        <p:txBody>
          <a:bodyPr spcFirstLastPara="1" wrap="square" lIns="108000" tIns="108000" rIns="108000" bIns="45700" anchor="t" anchorCtr="0">
            <a:noAutofit/>
          </a:bodyPr>
          <a:lstStyle/>
          <a:p>
            <a:pPr marL="138113" indent="-128588" defTabSz="457200">
              <a:buClr>
                <a:srgbClr val="EE4639"/>
              </a:buClr>
              <a:buSzPct val="100000"/>
              <a:buFont typeface="Arial" panose="020B0604020202020204" pitchFamily="34" charset="0"/>
              <a:buChar char="•"/>
              <a:tabLst>
                <a:tab pos="3228975" algn="l"/>
              </a:tabLst>
            </a:pPr>
            <a:r>
              <a:rPr lang="es-MX" dirty="0">
                <a:solidFill>
                  <a:srgbClr val="262626"/>
                </a:solidFill>
                <a:latin typeface="Calibri"/>
                <a:ea typeface="+mn-ea"/>
                <a:cs typeface="Calibri"/>
                <a:sym typeface="Calibri"/>
              </a:rPr>
              <a:t>Aprende con datos etiquetados.</a:t>
            </a:r>
          </a:p>
          <a:p>
            <a:pPr marL="138113" indent="-128588" defTabSz="457200">
              <a:buClr>
                <a:srgbClr val="EE4639"/>
              </a:buClr>
              <a:buSzPct val="100000"/>
              <a:buFont typeface="Arial" panose="020B0604020202020204" pitchFamily="34" charset="0"/>
              <a:buChar char="•"/>
              <a:tabLst>
                <a:tab pos="3228975" algn="l"/>
              </a:tabLst>
            </a:pPr>
            <a:endParaRPr lang="es-MX" dirty="0">
              <a:solidFill>
                <a:srgbClr val="262626"/>
              </a:solidFill>
              <a:latin typeface="Calibri"/>
              <a:ea typeface="+mn-ea"/>
              <a:cs typeface="Calibri"/>
              <a:sym typeface="Calibri"/>
            </a:endParaRPr>
          </a:p>
          <a:p>
            <a:pPr marL="138113" indent="-128588" defTabSz="457200">
              <a:buClr>
                <a:srgbClr val="EE4639"/>
              </a:buClr>
              <a:buSzPct val="100000"/>
              <a:buFont typeface="Arial" panose="020B0604020202020204" pitchFamily="34" charset="0"/>
              <a:buChar char="•"/>
              <a:tabLst>
                <a:tab pos="3228975" algn="l"/>
              </a:tabLst>
            </a:pPr>
            <a:r>
              <a:rPr lang="es-MX" dirty="0">
                <a:solidFill>
                  <a:srgbClr val="262626"/>
                </a:solidFill>
                <a:latin typeface="Calibri"/>
                <a:ea typeface="+mn-ea"/>
                <a:cs typeface="Calibri"/>
                <a:sym typeface="Calibri"/>
              </a:rPr>
              <a:t>Analogía: profesor corrige ejercicios.</a:t>
            </a:r>
          </a:p>
          <a:p>
            <a:pPr marL="138113" indent="-128588" defTabSz="457200">
              <a:buClr>
                <a:srgbClr val="EE4639"/>
              </a:buClr>
              <a:buSzPct val="100000"/>
              <a:buFont typeface="Arial" panose="020B0604020202020204" pitchFamily="34" charset="0"/>
              <a:buChar char="•"/>
              <a:tabLst>
                <a:tab pos="3228975" algn="l"/>
              </a:tabLst>
            </a:pPr>
            <a:endParaRPr lang="es-ES_tradnl" sz="1400" dirty="0">
              <a:solidFill>
                <a:srgbClr val="262626"/>
              </a:solidFill>
              <a:latin typeface="Calibri"/>
              <a:ea typeface="+mn-ea"/>
              <a:cs typeface="Calibri"/>
            </a:endParaRPr>
          </a:p>
        </p:txBody>
      </p:sp>
      <p:grpSp>
        <p:nvGrpSpPr>
          <p:cNvPr id="14" name="Agrupar 4">
            <a:extLst>
              <a:ext uri="{FF2B5EF4-FFF2-40B4-BE49-F238E27FC236}">
                <a16:creationId xmlns:a16="http://schemas.microsoft.com/office/drawing/2014/main" id="{90E0C4DB-19C2-4ECB-8416-35D71602341C}"/>
              </a:ext>
            </a:extLst>
          </p:cNvPr>
          <p:cNvGrpSpPr/>
          <p:nvPr/>
        </p:nvGrpSpPr>
        <p:grpSpPr>
          <a:xfrm>
            <a:off x="1065543" y="1854420"/>
            <a:ext cx="459474" cy="403823"/>
            <a:chOff x="5892512" y="2805541"/>
            <a:chExt cx="459474" cy="403823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1E73169C-C26F-418B-89D7-C1932606F75A}"/>
                </a:ext>
              </a:extLst>
            </p:cNvPr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B736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C6B5083D-2338-4167-95E9-1E2B740089B5}"/>
                </a:ext>
              </a:extLst>
            </p:cNvPr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  <p:sp>
          <p:nvSpPr>
            <p:cNvPr id="17" name="Triángulo 9">
              <a:extLst>
                <a:ext uri="{FF2B5EF4-FFF2-40B4-BE49-F238E27FC236}">
                  <a16:creationId xmlns:a16="http://schemas.microsoft.com/office/drawing/2014/main" id="{8B3EDC8C-59F8-437E-B17F-3DA0030AC7D2}"/>
                </a:ext>
              </a:extLst>
            </p:cNvPr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</p:grpSp>
      <p:pic>
        <p:nvPicPr>
          <p:cNvPr id="18" name="Google Shape;106;p5">
            <a:extLst>
              <a:ext uri="{FF2B5EF4-FFF2-40B4-BE49-F238E27FC236}">
                <a16:creationId xmlns:a16="http://schemas.microsoft.com/office/drawing/2014/main" id="{2B126445-A449-4D41-AF0D-7FD4D9E474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6251" y="3411437"/>
            <a:ext cx="1579446" cy="1806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05;p5">
            <a:extLst>
              <a:ext uri="{FF2B5EF4-FFF2-40B4-BE49-F238E27FC236}">
                <a16:creationId xmlns:a16="http://schemas.microsoft.com/office/drawing/2014/main" id="{B82386B1-CCEF-4CFB-B8CE-7C4C5B85F87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9459" y="3408205"/>
            <a:ext cx="1708850" cy="18383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47741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/>
        </p:nvSpPr>
        <p:spPr>
          <a:xfrm>
            <a:off x="506795" y="918372"/>
            <a:ext cx="819039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TIPOS DE APRENDIZAJE </a:t>
            </a:r>
          </a:p>
        </p:txBody>
      </p:sp>
      <p:sp>
        <p:nvSpPr>
          <p:cNvPr id="77" name="Google Shape;77;p5"/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FUNDAMENTOS Y CLASIFICACIÓN DE LOS MODELOS DE APRENDIZAJE AUTOMÁTICO</a:t>
            </a:r>
          </a:p>
        </p:txBody>
      </p:sp>
      <p:cxnSp>
        <p:nvCxnSpPr>
          <p:cNvPr id="20" name="Google Shape;118;p6">
            <a:extLst>
              <a:ext uri="{FF2B5EF4-FFF2-40B4-BE49-F238E27FC236}">
                <a16:creationId xmlns:a16="http://schemas.microsoft.com/office/drawing/2014/main" id="{AA5916B0-3038-4A3E-AB90-6BC516AF6D9E}"/>
              </a:ext>
            </a:extLst>
          </p:cNvPr>
          <p:cNvCxnSpPr/>
          <p:nvPr/>
        </p:nvCxnSpPr>
        <p:spPr>
          <a:xfrm>
            <a:off x="3024699" y="1465471"/>
            <a:ext cx="0" cy="3366779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1" name="Google Shape;119;p6">
            <a:extLst>
              <a:ext uri="{FF2B5EF4-FFF2-40B4-BE49-F238E27FC236}">
                <a16:creationId xmlns:a16="http://schemas.microsoft.com/office/drawing/2014/main" id="{4945E13E-C5BA-4385-BB82-14988972205C}"/>
              </a:ext>
            </a:extLst>
          </p:cNvPr>
          <p:cNvCxnSpPr/>
          <p:nvPr/>
        </p:nvCxnSpPr>
        <p:spPr>
          <a:xfrm>
            <a:off x="6063883" y="1465471"/>
            <a:ext cx="0" cy="3366779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2" name="Google Shape;120;p6">
            <a:extLst>
              <a:ext uri="{FF2B5EF4-FFF2-40B4-BE49-F238E27FC236}">
                <a16:creationId xmlns:a16="http://schemas.microsoft.com/office/drawing/2014/main" id="{27445383-D62B-491F-92BC-D1E25FDF3478}"/>
              </a:ext>
            </a:extLst>
          </p:cNvPr>
          <p:cNvSpPr/>
          <p:nvPr/>
        </p:nvSpPr>
        <p:spPr>
          <a:xfrm>
            <a:off x="257231" y="2871077"/>
            <a:ext cx="2531603" cy="453422"/>
          </a:xfrm>
          <a:prstGeom prst="roundRect">
            <a:avLst>
              <a:gd name="adj" fmla="val 16667"/>
            </a:avLst>
          </a:prstGeom>
          <a:solidFill>
            <a:srgbClr val="A8D08C"/>
          </a:solidFill>
          <a:ln>
            <a:noFill/>
          </a:ln>
        </p:spPr>
        <p:txBody>
          <a:bodyPr spcFirstLastPara="1" wrap="square" lIns="81325" tIns="40625" rIns="81325" bIns="40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None/>
            </a:pPr>
            <a:r>
              <a:rPr lang="es-419" sz="1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APRENDIZAJE SUPERVISADO</a:t>
            </a:r>
          </a:p>
        </p:txBody>
      </p:sp>
      <p:sp>
        <p:nvSpPr>
          <p:cNvPr id="23" name="Google Shape;121;p6">
            <a:extLst>
              <a:ext uri="{FF2B5EF4-FFF2-40B4-BE49-F238E27FC236}">
                <a16:creationId xmlns:a16="http://schemas.microsoft.com/office/drawing/2014/main" id="{A3203C3E-F352-4D88-B645-11CC3FCB472D}"/>
              </a:ext>
            </a:extLst>
          </p:cNvPr>
          <p:cNvSpPr/>
          <p:nvPr/>
        </p:nvSpPr>
        <p:spPr>
          <a:xfrm>
            <a:off x="3248863" y="2871077"/>
            <a:ext cx="2590856" cy="453422"/>
          </a:xfrm>
          <a:prstGeom prst="roundRect">
            <a:avLst>
              <a:gd name="adj" fmla="val 16667"/>
            </a:avLst>
          </a:prstGeom>
          <a:solidFill>
            <a:srgbClr val="F4B081"/>
          </a:solidFill>
          <a:ln>
            <a:noFill/>
          </a:ln>
        </p:spPr>
        <p:txBody>
          <a:bodyPr spcFirstLastPara="1" wrap="square" lIns="81325" tIns="40625" rIns="81325" bIns="40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None/>
            </a:pPr>
            <a:r>
              <a:rPr lang="es-419" sz="1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APRENDIZAJE NO SUPERVISADO</a:t>
            </a:r>
          </a:p>
        </p:txBody>
      </p:sp>
      <p:sp>
        <p:nvSpPr>
          <p:cNvPr id="24" name="Google Shape;122;p6">
            <a:extLst>
              <a:ext uri="{FF2B5EF4-FFF2-40B4-BE49-F238E27FC236}">
                <a16:creationId xmlns:a16="http://schemas.microsoft.com/office/drawing/2014/main" id="{062C58D8-617D-4094-88EB-3DD26F9A6414}"/>
              </a:ext>
            </a:extLst>
          </p:cNvPr>
          <p:cNvSpPr/>
          <p:nvPr/>
        </p:nvSpPr>
        <p:spPr>
          <a:xfrm>
            <a:off x="6361514" y="2871077"/>
            <a:ext cx="2506784" cy="453422"/>
          </a:xfrm>
          <a:prstGeom prst="roundRect">
            <a:avLst>
              <a:gd name="adj" fmla="val 16667"/>
            </a:avLst>
          </a:prstGeom>
          <a:solidFill>
            <a:srgbClr val="FB776D"/>
          </a:solidFill>
          <a:ln>
            <a:noFill/>
          </a:ln>
        </p:spPr>
        <p:txBody>
          <a:bodyPr spcFirstLastPara="1" wrap="square" lIns="81325" tIns="40625" rIns="81325" bIns="40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None/>
            </a:pPr>
            <a:r>
              <a:rPr lang="es-419" sz="1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APRENDIZAJE POR REFUERZO</a:t>
            </a:r>
          </a:p>
        </p:txBody>
      </p:sp>
      <p:pic>
        <p:nvPicPr>
          <p:cNvPr id="25" name="Google Shape;123;p6">
            <a:extLst>
              <a:ext uri="{FF2B5EF4-FFF2-40B4-BE49-F238E27FC236}">
                <a16:creationId xmlns:a16="http://schemas.microsoft.com/office/drawing/2014/main" id="{E3F02D32-FC33-405B-AF83-F02F911052F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8470" y="1434933"/>
            <a:ext cx="1302309" cy="1436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124;p6">
            <a:extLst>
              <a:ext uri="{FF2B5EF4-FFF2-40B4-BE49-F238E27FC236}">
                <a16:creationId xmlns:a16="http://schemas.microsoft.com/office/drawing/2014/main" id="{2B5A7401-9CE8-4822-A649-DE598B975B1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50408" y="1448510"/>
            <a:ext cx="1404148" cy="1408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125;p6">
            <a:extLst>
              <a:ext uri="{FF2B5EF4-FFF2-40B4-BE49-F238E27FC236}">
                <a16:creationId xmlns:a16="http://schemas.microsoft.com/office/drawing/2014/main" id="{AA6F7551-2E06-46A3-A435-6CA3DC3E19C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19747" y="1349452"/>
            <a:ext cx="1531743" cy="143494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126;p6">
            <a:extLst>
              <a:ext uri="{FF2B5EF4-FFF2-40B4-BE49-F238E27FC236}">
                <a16:creationId xmlns:a16="http://schemas.microsoft.com/office/drawing/2014/main" id="{4CFE0B06-4007-4EB3-8A29-81BF29F76C39}"/>
              </a:ext>
            </a:extLst>
          </p:cNvPr>
          <p:cNvSpPr txBox="1"/>
          <p:nvPr/>
        </p:nvSpPr>
        <p:spPr>
          <a:xfrm>
            <a:off x="183258" y="3539999"/>
            <a:ext cx="2617272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419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Entrena con datos etiquetados (se conocen las salidas).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127;p6">
            <a:extLst>
              <a:ext uri="{FF2B5EF4-FFF2-40B4-BE49-F238E27FC236}">
                <a16:creationId xmlns:a16="http://schemas.microsoft.com/office/drawing/2014/main" id="{3C978A3C-1062-4737-93EE-5C0E1248EEE3}"/>
              </a:ext>
            </a:extLst>
          </p:cNvPr>
          <p:cNvSpPr txBox="1"/>
          <p:nvPr/>
        </p:nvSpPr>
        <p:spPr>
          <a:xfrm>
            <a:off x="3161358" y="3539999"/>
            <a:ext cx="276586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419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Explora datos sin etiquetas para descubrir patrones o grupos.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128;p6">
            <a:extLst>
              <a:ext uri="{FF2B5EF4-FFF2-40B4-BE49-F238E27FC236}">
                <a16:creationId xmlns:a16="http://schemas.microsoft.com/office/drawing/2014/main" id="{F86EAF48-5E39-41A7-A88A-641B4BF92F7A}"/>
              </a:ext>
            </a:extLst>
          </p:cNvPr>
          <p:cNvSpPr txBox="1"/>
          <p:nvPr/>
        </p:nvSpPr>
        <p:spPr>
          <a:xfrm>
            <a:off x="6306269" y="3546065"/>
            <a:ext cx="265824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419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agente aprueba mediante prueba y error, y recompensas.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/>
        </p:nvSpPr>
        <p:spPr>
          <a:xfrm>
            <a:off x="506795" y="918372"/>
            <a:ext cx="819039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TAREAS DE CLASIFICACIÓN Y REGRESIÓN</a:t>
            </a:r>
          </a:p>
        </p:txBody>
      </p:sp>
      <p:sp>
        <p:nvSpPr>
          <p:cNvPr id="77" name="Google Shape;77;p5"/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FUNDAMENTOS Y CLASIFICACIÓN DE LOS MODELOS DE APRENDIZAJE AUTOMÁTICO</a:t>
            </a:r>
          </a:p>
        </p:txBody>
      </p:sp>
      <p:sp>
        <p:nvSpPr>
          <p:cNvPr id="15" name="Rectángulo redondeado 31">
            <a:extLst>
              <a:ext uri="{FF2B5EF4-FFF2-40B4-BE49-F238E27FC236}">
                <a16:creationId xmlns:a16="http://schemas.microsoft.com/office/drawing/2014/main" id="{27C18CF9-424A-462A-B692-A31220CD5070}"/>
              </a:ext>
            </a:extLst>
          </p:cNvPr>
          <p:cNvSpPr/>
          <p:nvPr/>
        </p:nvSpPr>
        <p:spPr>
          <a:xfrm>
            <a:off x="503237" y="1351390"/>
            <a:ext cx="7646257" cy="923356"/>
          </a:xfrm>
          <a:prstGeom prst="roundRect">
            <a:avLst/>
          </a:prstGeom>
          <a:solidFill>
            <a:srgbClr val="D1E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4000" tIns="0" rIns="0" bIns="0" rtlCol="0" anchor="ctr"/>
          <a:lstStyle/>
          <a:p>
            <a:pPr lvl="0">
              <a:buClr>
                <a:srgbClr val="00B2C4"/>
              </a:buClr>
            </a:pPr>
            <a:r>
              <a:rPr lang="es-PE" b="1" dirty="0">
                <a:solidFill>
                  <a:srgbClr val="00B2C4"/>
                </a:solidFill>
                <a:latin typeface="Calibri" charset="0"/>
                <a:ea typeface="Calibri" charset="0"/>
                <a:cs typeface="Calibri" charset="0"/>
              </a:rPr>
              <a:t>CLASIFICACIÓN</a:t>
            </a:r>
          </a:p>
          <a:p>
            <a:pPr marL="134938" indent="-134938">
              <a:buClr>
                <a:srgbClr val="00B2C4"/>
              </a:buClr>
              <a:buFont typeface="Arial" charset="0"/>
              <a:buChar char="•"/>
            </a:pPr>
            <a:r>
              <a:rPr lang="es-PE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Predecir etiquetas discretas (diagnóstico médico: enfermo/sano).</a:t>
            </a:r>
          </a:p>
          <a:p>
            <a:pPr marL="134938" indent="-134938">
              <a:buClr>
                <a:srgbClr val="00B2C4"/>
              </a:buClr>
              <a:buFont typeface="Arial" charset="0"/>
              <a:buChar char="•"/>
            </a:pPr>
            <a:r>
              <a:rPr lang="es-PE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Asigna cada instancia a una de varias clases.</a:t>
            </a:r>
          </a:p>
        </p:txBody>
      </p:sp>
      <p:sp>
        <p:nvSpPr>
          <p:cNvPr id="16" name="Redondear rectángulo de esquina del mismo lado 33">
            <a:extLst>
              <a:ext uri="{FF2B5EF4-FFF2-40B4-BE49-F238E27FC236}">
                <a16:creationId xmlns:a16="http://schemas.microsoft.com/office/drawing/2014/main" id="{F54373F5-90C3-4E9C-A823-05ACDDA70945}"/>
              </a:ext>
            </a:extLst>
          </p:cNvPr>
          <p:cNvSpPr/>
          <p:nvPr/>
        </p:nvSpPr>
        <p:spPr>
          <a:xfrm rot="16200000">
            <a:off x="420746" y="1427873"/>
            <a:ext cx="929364" cy="764381"/>
          </a:xfrm>
          <a:prstGeom prst="round2SameRect">
            <a:avLst/>
          </a:prstGeom>
          <a:solidFill>
            <a:srgbClr val="00B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87F68C9-3080-4872-89F0-9767C901A18F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623026" y="1529517"/>
            <a:ext cx="524802" cy="561091"/>
          </a:xfrm>
          <a:prstGeom prst="rect">
            <a:avLst/>
          </a:prstGeom>
        </p:spPr>
      </p:pic>
      <p:sp>
        <p:nvSpPr>
          <p:cNvPr id="18" name="Rectángulo redondeado 31">
            <a:extLst>
              <a:ext uri="{FF2B5EF4-FFF2-40B4-BE49-F238E27FC236}">
                <a16:creationId xmlns:a16="http://schemas.microsoft.com/office/drawing/2014/main" id="{52F26D70-B6D9-484E-8790-7508E8DAA5A8}"/>
              </a:ext>
            </a:extLst>
          </p:cNvPr>
          <p:cNvSpPr/>
          <p:nvPr/>
        </p:nvSpPr>
        <p:spPr>
          <a:xfrm>
            <a:off x="503237" y="2395822"/>
            <a:ext cx="7646257" cy="923356"/>
          </a:xfrm>
          <a:prstGeom prst="roundRect">
            <a:avLst/>
          </a:prstGeom>
          <a:solidFill>
            <a:srgbClr val="D1E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4000" tIns="0" rIns="0" bIns="0" rtlCol="0" anchor="ctr"/>
          <a:lstStyle/>
          <a:p>
            <a:pPr lvl="0">
              <a:buClr>
                <a:srgbClr val="00B2C4"/>
              </a:buClr>
            </a:pPr>
            <a:r>
              <a:rPr lang="es-PE" b="1" dirty="0">
                <a:solidFill>
                  <a:srgbClr val="00B2C4"/>
                </a:solidFill>
                <a:latin typeface="Calibri" charset="0"/>
                <a:ea typeface="Calibri" charset="0"/>
                <a:cs typeface="Calibri" charset="0"/>
              </a:rPr>
              <a:t>REGRESIÓN</a:t>
            </a:r>
          </a:p>
          <a:p>
            <a:pPr marL="134938" indent="-134938">
              <a:buClr>
                <a:srgbClr val="00B2C4"/>
              </a:buClr>
              <a:buFont typeface="Arial" charset="0"/>
              <a:buChar char="•"/>
            </a:pPr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Predecir valores continuos (estimar el precio de una casa dada su superficie).</a:t>
            </a:r>
          </a:p>
          <a:p>
            <a:pPr marL="134938" indent="-134938">
              <a:buClr>
                <a:srgbClr val="00B2C4"/>
              </a:buClr>
              <a:buFont typeface="Arial" charset="0"/>
              <a:buChar char="•"/>
            </a:pPr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Ajusta una función para estimar resultados numéricos.</a:t>
            </a:r>
          </a:p>
        </p:txBody>
      </p:sp>
      <p:sp>
        <p:nvSpPr>
          <p:cNvPr id="19" name="Redondear rectángulo de esquina del mismo lado 33">
            <a:extLst>
              <a:ext uri="{FF2B5EF4-FFF2-40B4-BE49-F238E27FC236}">
                <a16:creationId xmlns:a16="http://schemas.microsoft.com/office/drawing/2014/main" id="{EA2F334E-5C78-45B2-A540-C7491E0C8EE0}"/>
              </a:ext>
            </a:extLst>
          </p:cNvPr>
          <p:cNvSpPr/>
          <p:nvPr/>
        </p:nvSpPr>
        <p:spPr>
          <a:xfrm rot="16200000">
            <a:off x="420746" y="2472305"/>
            <a:ext cx="929364" cy="764381"/>
          </a:xfrm>
          <a:prstGeom prst="round2SameRect">
            <a:avLst/>
          </a:prstGeom>
          <a:solidFill>
            <a:srgbClr val="00B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3F950D32-F264-456E-A854-D1724DCDAD15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623026" y="2573949"/>
            <a:ext cx="524802" cy="561091"/>
          </a:xfrm>
          <a:prstGeom prst="rect">
            <a:avLst/>
          </a:prstGeom>
        </p:spPr>
      </p:pic>
      <p:sp>
        <p:nvSpPr>
          <p:cNvPr id="32" name="Rectángulo redondeado 31">
            <a:extLst>
              <a:ext uri="{FF2B5EF4-FFF2-40B4-BE49-F238E27FC236}">
                <a16:creationId xmlns:a16="http://schemas.microsoft.com/office/drawing/2014/main" id="{48C8BE37-14F3-4644-A7A4-2BA4764D7A4F}"/>
              </a:ext>
            </a:extLst>
          </p:cNvPr>
          <p:cNvSpPr/>
          <p:nvPr/>
        </p:nvSpPr>
        <p:spPr>
          <a:xfrm>
            <a:off x="503237" y="3434245"/>
            <a:ext cx="7646257" cy="923356"/>
          </a:xfrm>
          <a:prstGeom prst="roundRect">
            <a:avLst/>
          </a:prstGeom>
          <a:solidFill>
            <a:srgbClr val="D1E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4000" tIns="0" rIns="0" bIns="0" rtlCol="0" anchor="ctr"/>
          <a:lstStyle/>
          <a:p>
            <a:pPr lvl="0">
              <a:buClr>
                <a:srgbClr val="00B2C4"/>
              </a:buClr>
            </a:pPr>
            <a:r>
              <a:rPr lang="es-PE" b="1" dirty="0">
                <a:solidFill>
                  <a:srgbClr val="00B2C4"/>
                </a:solidFill>
                <a:latin typeface="Calibri" charset="0"/>
                <a:ea typeface="Calibri" charset="0"/>
                <a:cs typeface="Calibri" charset="0"/>
              </a:rPr>
              <a:t>CLUSTERING</a:t>
            </a:r>
          </a:p>
          <a:p>
            <a:pPr marL="134938" indent="-134938">
              <a:buClr>
                <a:srgbClr val="00B2C4"/>
              </a:buClr>
              <a:buFont typeface="Arial" charset="0"/>
              <a:buChar char="•"/>
            </a:pPr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Agrupar datos similares en categorías naturales sin etiquetas (segmentación de mercados).</a:t>
            </a:r>
          </a:p>
          <a:p>
            <a:pPr marL="134938" indent="-134938">
              <a:buClr>
                <a:srgbClr val="00B2C4"/>
              </a:buClr>
              <a:buFont typeface="Arial" charset="0"/>
              <a:buChar char="•"/>
            </a:pPr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Útil para explorar estructuras en los datos.</a:t>
            </a:r>
          </a:p>
        </p:txBody>
      </p:sp>
      <p:sp>
        <p:nvSpPr>
          <p:cNvPr id="33" name="Redondear rectángulo de esquina del mismo lado 33">
            <a:extLst>
              <a:ext uri="{FF2B5EF4-FFF2-40B4-BE49-F238E27FC236}">
                <a16:creationId xmlns:a16="http://schemas.microsoft.com/office/drawing/2014/main" id="{6EF7A0C6-2AAD-4959-B3EE-E07F7CCEE020}"/>
              </a:ext>
            </a:extLst>
          </p:cNvPr>
          <p:cNvSpPr/>
          <p:nvPr/>
        </p:nvSpPr>
        <p:spPr>
          <a:xfrm rot="16200000">
            <a:off x="420746" y="3510728"/>
            <a:ext cx="929364" cy="764381"/>
          </a:xfrm>
          <a:prstGeom prst="round2SameRect">
            <a:avLst/>
          </a:prstGeom>
          <a:solidFill>
            <a:srgbClr val="00B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B27AE4D0-4CBB-477C-903F-B8A13898759F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623026" y="3612372"/>
            <a:ext cx="524802" cy="56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854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/>
        </p:nvSpPr>
        <p:spPr>
          <a:xfrm>
            <a:off x="506795" y="918372"/>
            <a:ext cx="819039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MODELOS CAJA BLANCA VS. CAJA NEGRA</a:t>
            </a:r>
          </a:p>
        </p:txBody>
      </p:sp>
      <p:sp>
        <p:nvSpPr>
          <p:cNvPr id="77" name="Google Shape;77;p5"/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FUNDAMENTOS Y CLASIFICACIÓN DE LOS MODELOS DE APRENDIZAJE AUTOMÁTICO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F0735D2A-4459-4FCC-BCA3-E60616627384}"/>
              </a:ext>
            </a:extLst>
          </p:cNvPr>
          <p:cNvGrpSpPr/>
          <p:nvPr/>
        </p:nvGrpSpPr>
        <p:grpSpPr>
          <a:xfrm>
            <a:off x="1342032" y="1285751"/>
            <a:ext cx="6459937" cy="3348594"/>
            <a:chOff x="976707" y="1285751"/>
            <a:chExt cx="6459937" cy="3348594"/>
          </a:xfrm>
        </p:grpSpPr>
        <p:sp>
          <p:nvSpPr>
            <p:cNvPr id="20" name="Rectángulo redondeado 3">
              <a:extLst>
                <a:ext uri="{FF2B5EF4-FFF2-40B4-BE49-F238E27FC236}">
                  <a16:creationId xmlns:a16="http://schemas.microsoft.com/office/drawing/2014/main" id="{0E2897C6-1990-487F-80DA-18B109BA9533}"/>
                </a:ext>
              </a:extLst>
            </p:cNvPr>
            <p:cNvSpPr/>
            <p:nvPr/>
          </p:nvSpPr>
          <p:spPr>
            <a:xfrm>
              <a:off x="976707" y="1285751"/>
              <a:ext cx="3176196" cy="3348594"/>
            </a:xfrm>
            <a:prstGeom prst="roundRect">
              <a:avLst>
                <a:gd name="adj" fmla="val 4231"/>
              </a:avLst>
            </a:prstGeom>
            <a:solidFill>
              <a:srgbClr val="FCC7C4">
                <a:alpha val="80000"/>
              </a:srgb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36000" rtlCol="0" anchor="t"/>
            <a:lstStyle/>
            <a:p>
              <a:pPr>
                <a:spcAft>
                  <a:spcPts val="1200"/>
                </a:spcAft>
                <a:buClr>
                  <a:schemeClr val="accent2"/>
                </a:buClr>
              </a:pPr>
              <a:r>
                <a:rPr lang="es-MX" sz="1500" b="1" dirty="0">
                  <a:solidFill>
                    <a:srgbClr val="ED4637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MODELOS CAJA BLANCA (INTERPRETABLES)</a:t>
              </a:r>
            </a:p>
            <a:p>
              <a:pPr marL="180975" indent="-174625" defTabSz="663575">
                <a:spcAft>
                  <a:spcPts val="600"/>
                </a:spcAft>
                <a:buClr>
                  <a:srgbClr val="ED4637"/>
                </a:buClr>
                <a:buFont typeface="Arial" panose="020B0604020202020204" pitchFamily="34" charset="0"/>
                <a:buChar char="•"/>
                <a:tabLst>
                  <a:tab pos="3228975" algn="l"/>
                </a:tabLst>
              </a:pPr>
              <a:r>
                <a:rPr lang="es-MX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Son transparentes por diseño; representan lógicas sencillas.</a:t>
              </a:r>
            </a:p>
            <a:p>
              <a:pPr marL="180975" indent="-174625" defTabSz="663575">
                <a:spcAft>
                  <a:spcPts val="600"/>
                </a:spcAft>
                <a:buClr>
                  <a:srgbClr val="ED4637"/>
                </a:buClr>
                <a:buFont typeface="Arial" panose="020B0604020202020204" pitchFamily="34" charset="0"/>
                <a:buChar char="•"/>
                <a:tabLst>
                  <a:tab pos="3228975" algn="l"/>
                </a:tabLst>
              </a:pPr>
              <a:r>
                <a:rPr lang="es-MX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Ejemplo: árboles de decisión, modelos lineales.</a:t>
              </a:r>
            </a:p>
            <a:p>
              <a:pPr marL="180975" indent="-174625" defTabSz="663575">
                <a:spcAft>
                  <a:spcPts val="600"/>
                </a:spcAft>
                <a:buClr>
                  <a:srgbClr val="ED4637"/>
                </a:buClr>
                <a:buFont typeface="Arial" panose="020B0604020202020204" pitchFamily="34" charset="0"/>
                <a:buChar char="•"/>
                <a:tabLst>
                  <a:tab pos="3228975" algn="l"/>
                </a:tabLst>
              </a:pPr>
              <a:r>
                <a:rPr lang="es-MX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Analogía: libro abierto (fácil de leer y entender).</a:t>
              </a:r>
            </a:p>
          </p:txBody>
        </p:sp>
        <p:sp>
          <p:nvSpPr>
            <p:cNvPr id="22" name="Rectángulo redondeado 11">
              <a:extLst>
                <a:ext uri="{FF2B5EF4-FFF2-40B4-BE49-F238E27FC236}">
                  <a16:creationId xmlns:a16="http://schemas.microsoft.com/office/drawing/2014/main" id="{27DA0DE7-9A6D-4E72-AB9E-CC254FC377F6}"/>
                </a:ext>
              </a:extLst>
            </p:cNvPr>
            <p:cNvSpPr/>
            <p:nvPr/>
          </p:nvSpPr>
          <p:spPr>
            <a:xfrm>
              <a:off x="4260448" y="1285751"/>
              <a:ext cx="3176196" cy="3348594"/>
            </a:xfrm>
            <a:prstGeom prst="roundRect">
              <a:avLst>
                <a:gd name="adj" fmla="val 4231"/>
              </a:avLst>
            </a:prstGeom>
            <a:solidFill>
              <a:srgbClr val="D1EFF4"/>
            </a:solidFill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36000" rtlCol="0" anchor="t"/>
            <a:lstStyle/>
            <a:p>
              <a:pPr>
                <a:spcAft>
                  <a:spcPts val="1200"/>
                </a:spcAft>
                <a:buClr>
                  <a:schemeClr val="accent5"/>
                </a:buClr>
              </a:pPr>
              <a:r>
                <a:rPr lang="es-MX" sz="1500" b="1" dirty="0">
                  <a:solidFill>
                    <a:schemeClr val="accent5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MODELOS CAJA NEGRA</a:t>
              </a:r>
            </a:p>
            <a:p>
              <a:pPr marL="180975" indent="-174625" defTabSz="663575">
                <a:spcAft>
                  <a:spcPts val="600"/>
                </a:spcAft>
                <a:buClr>
                  <a:schemeClr val="accent5"/>
                </a:buClr>
                <a:buFont typeface="Arial" panose="020B0604020202020204" pitchFamily="34" charset="0"/>
                <a:buChar char="•"/>
                <a:tabLst>
                  <a:tab pos="3228975" algn="l"/>
                </a:tabLst>
              </a:pPr>
              <a:r>
                <a:rPr lang="es-MX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Alta complejidad interna; su lógica no es evidente sin herramientas de explicación.</a:t>
              </a:r>
            </a:p>
            <a:p>
              <a:pPr marL="180975" indent="-174625" defTabSz="663575">
                <a:spcAft>
                  <a:spcPts val="600"/>
                </a:spcAft>
                <a:buClr>
                  <a:schemeClr val="accent5"/>
                </a:buClr>
                <a:buFont typeface="Arial" panose="020B0604020202020204" pitchFamily="34" charset="0"/>
                <a:buChar char="•"/>
                <a:tabLst>
                  <a:tab pos="3228975" algn="l"/>
                </a:tabLst>
              </a:pPr>
              <a:r>
                <a:rPr lang="es-MX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Ejemplo: redes neuronales profundas, ensambles de modelos.</a:t>
              </a:r>
            </a:p>
            <a:p>
              <a:pPr marL="180975" indent="-174625" defTabSz="663575">
                <a:spcAft>
                  <a:spcPts val="600"/>
                </a:spcAft>
                <a:buClr>
                  <a:schemeClr val="accent5"/>
                </a:buClr>
                <a:buFont typeface="Arial" panose="020B0604020202020204" pitchFamily="34" charset="0"/>
                <a:buChar char="•"/>
                <a:tabLst>
                  <a:tab pos="3228975" algn="l"/>
                </a:tabLst>
              </a:pPr>
              <a:r>
                <a:rPr lang="es-MX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Analogía: caja cerrada (solo ves la salida, no cómo se procesa la entrada).</a:t>
              </a:r>
            </a:p>
            <a:p>
              <a:pPr marL="180975" indent="-174625" defTabSz="663575">
                <a:spcAft>
                  <a:spcPts val="600"/>
                </a:spcAft>
                <a:buClr>
                  <a:schemeClr val="accent5"/>
                </a:buClr>
                <a:buFont typeface="Arial" panose="020B0604020202020204" pitchFamily="34" charset="0"/>
                <a:buChar char="•"/>
                <a:tabLst>
                  <a:tab pos="3228975" algn="l"/>
                </a:tabLst>
              </a:pPr>
              <a:r>
                <a:rPr lang="es-MX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Criterio: en dominios de alto riesgo se suele preferir un modelo más simple y explicable.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46936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5A31B52-D1A9-42AB-8A91-989107DDA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292" y="1657036"/>
            <a:ext cx="2675913" cy="3664120"/>
          </a:xfrm>
          <a:prstGeom prst="rect">
            <a:avLst/>
          </a:prstGeom>
        </p:spPr>
      </p:pic>
      <p:sp>
        <p:nvSpPr>
          <p:cNvPr id="76" name="Google Shape;76;p5"/>
          <p:cNvSpPr txBox="1"/>
          <p:nvPr/>
        </p:nvSpPr>
        <p:spPr>
          <a:xfrm>
            <a:off x="506795" y="918372"/>
            <a:ext cx="819039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CASO PRÁCTICO: DETECCIÓN DE FRAUDE</a:t>
            </a:r>
          </a:p>
          <a:p>
            <a:pPr lvl="0"/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La IA puede procesar enormes volúmenes de transacciones financieras para detectar fraudes en tiempo real.</a:t>
            </a:r>
          </a:p>
        </p:txBody>
      </p:sp>
      <p:sp>
        <p:nvSpPr>
          <p:cNvPr id="77" name="Google Shape;77;p5"/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FUNDAMENTOS Y CLASIFICACIÓN DE LOS MODELOS DE APRENDIZAJE AUTOMÁTICO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5620679-53FB-4BB8-AAC6-5EB9E6E311A6}"/>
              </a:ext>
            </a:extLst>
          </p:cNvPr>
          <p:cNvSpPr/>
          <p:nvPr/>
        </p:nvSpPr>
        <p:spPr>
          <a:xfrm>
            <a:off x="1307802" y="1994319"/>
            <a:ext cx="4186619" cy="5816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977900">
              <a:lnSpc>
                <a:spcPct val="90000"/>
              </a:lnSpc>
              <a:spcAft>
                <a:spcPct val="35000"/>
              </a:spcAft>
            </a:pPr>
            <a:r>
              <a:rPr lang="es-MX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Por ejemplo, </a:t>
            </a:r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redes neuronales entrenadas con casos históricos de fraude identifican patrones inusuales que un auditor manual podría pasar por alto.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B37C931-2ABB-49F5-A20E-8DBA0CA35A2F}"/>
              </a:ext>
            </a:extLst>
          </p:cNvPr>
          <p:cNvSpPr/>
          <p:nvPr/>
        </p:nvSpPr>
        <p:spPr>
          <a:xfrm>
            <a:off x="503237" y="1896273"/>
            <a:ext cx="4008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" sz="28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01</a:t>
            </a:r>
            <a:endParaRPr lang="es-PE" sz="2800" b="1" dirty="0">
              <a:solidFill>
                <a:srgbClr val="7150A0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DA9264F0-8B3F-4E49-849A-00FB6FE85A4F}"/>
              </a:ext>
            </a:extLst>
          </p:cNvPr>
          <p:cNvCxnSpPr>
            <a:cxnSpLocks/>
          </p:cNvCxnSpPr>
          <p:nvPr/>
        </p:nvCxnSpPr>
        <p:spPr>
          <a:xfrm flipH="1">
            <a:off x="1086128" y="2070557"/>
            <a:ext cx="14542" cy="1885283"/>
          </a:xfrm>
          <a:prstGeom prst="line">
            <a:avLst/>
          </a:prstGeom>
          <a:ln>
            <a:solidFill>
              <a:srgbClr val="715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90021F36-9A4A-4BC1-8504-F5B47D17991E}"/>
              </a:ext>
            </a:extLst>
          </p:cNvPr>
          <p:cNvSpPr/>
          <p:nvPr/>
        </p:nvSpPr>
        <p:spPr>
          <a:xfrm>
            <a:off x="503237" y="2642056"/>
            <a:ext cx="4008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" sz="28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02</a:t>
            </a:r>
            <a:endParaRPr lang="es-PE" sz="2800" b="1" dirty="0">
              <a:solidFill>
                <a:srgbClr val="7150A0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F51B06A-34CA-4920-B5CE-CA49E5C5EE99}"/>
              </a:ext>
            </a:extLst>
          </p:cNvPr>
          <p:cNvSpPr/>
          <p:nvPr/>
        </p:nvSpPr>
        <p:spPr>
          <a:xfrm>
            <a:off x="503237" y="3172395"/>
            <a:ext cx="4008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" sz="28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03</a:t>
            </a:r>
            <a:endParaRPr lang="es-PE" sz="2800" b="1" dirty="0">
              <a:solidFill>
                <a:srgbClr val="7150A0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2884769-EC53-433E-8C5C-FD800FCCD0CE}"/>
              </a:ext>
            </a:extLst>
          </p:cNvPr>
          <p:cNvSpPr/>
          <p:nvPr/>
        </p:nvSpPr>
        <p:spPr>
          <a:xfrm>
            <a:off x="1307802" y="2751186"/>
            <a:ext cx="4186619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77900">
              <a:lnSpc>
                <a:spcPct val="90000"/>
              </a:lnSpc>
            </a:pPr>
            <a:r>
              <a:rPr lang="es-MX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Proceso: </a:t>
            </a:r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se recopilan y limpian datos relevantes (montos, ubicaciones, historial de pagos).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A2625C4-4F91-4C62-9235-F05057EE073B}"/>
              </a:ext>
            </a:extLst>
          </p:cNvPr>
          <p:cNvSpPr/>
          <p:nvPr/>
        </p:nvSpPr>
        <p:spPr>
          <a:xfrm>
            <a:off x="1307802" y="3314153"/>
            <a:ext cx="4186619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977900">
              <a:lnSpc>
                <a:spcPct val="90000"/>
              </a:lnSpc>
              <a:spcAft>
                <a:spcPct val="35000"/>
              </a:spcAft>
            </a:pPr>
            <a:r>
              <a:rPr lang="es-MX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Luego, </a:t>
            </a:r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se entrena un modelo supervisado con transiciones etiquetadas como “fraude” o “no fraude”.</a:t>
            </a:r>
          </a:p>
        </p:txBody>
      </p:sp>
      <p:grpSp>
        <p:nvGrpSpPr>
          <p:cNvPr id="15" name="Agrupar 16">
            <a:extLst>
              <a:ext uri="{FF2B5EF4-FFF2-40B4-BE49-F238E27FC236}">
                <a16:creationId xmlns:a16="http://schemas.microsoft.com/office/drawing/2014/main" id="{9F16B75A-9286-492E-86E8-EB66E2CC83B2}"/>
              </a:ext>
            </a:extLst>
          </p:cNvPr>
          <p:cNvGrpSpPr/>
          <p:nvPr/>
        </p:nvGrpSpPr>
        <p:grpSpPr>
          <a:xfrm>
            <a:off x="1023005" y="2787371"/>
            <a:ext cx="140792" cy="140258"/>
            <a:chOff x="3427964" y="2244682"/>
            <a:chExt cx="225891" cy="225034"/>
          </a:xfrm>
        </p:grpSpPr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1270B6BB-7CBF-4E39-8435-57BED9A00A46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714F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9983CC28-E03B-42CF-AF09-3F2769167D0A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8" name="Agrupar 26">
            <a:extLst>
              <a:ext uri="{FF2B5EF4-FFF2-40B4-BE49-F238E27FC236}">
                <a16:creationId xmlns:a16="http://schemas.microsoft.com/office/drawing/2014/main" id="{C9EA2AB5-FACE-43C8-8F27-EFE64FFB3287}"/>
              </a:ext>
            </a:extLst>
          </p:cNvPr>
          <p:cNvGrpSpPr/>
          <p:nvPr/>
        </p:nvGrpSpPr>
        <p:grpSpPr>
          <a:xfrm>
            <a:off x="1023005" y="3322177"/>
            <a:ext cx="140792" cy="140258"/>
            <a:chOff x="3427964" y="2244682"/>
            <a:chExt cx="225891" cy="225034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9D4209BA-3029-4E9D-B2C0-7083A693AF21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714F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3486DFCB-9AFE-4A1C-BFED-155F689FBFC8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23" name="Agrupar 29">
            <a:extLst>
              <a:ext uri="{FF2B5EF4-FFF2-40B4-BE49-F238E27FC236}">
                <a16:creationId xmlns:a16="http://schemas.microsoft.com/office/drawing/2014/main" id="{A6FCA259-0245-458D-9989-A08540BBFE87}"/>
              </a:ext>
            </a:extLst>
          </p:cNvPr>
          <p:cNvGrpSpPr/>
          <p:nvPr/>
        </p:nvGrpSpPr>
        <p:grpSpPr>
          <a:xfrm>
            <a:off x="1023005" y="2011464"/>
            <a:ext cx="140792" cy="140258"/>
            <a:chOff x="3427964" y="2244682"/>
            <a:chExt cx="225891" cy="225034"/>
          </a:xfrm>
        </p:grpSpPr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768FBB68-0C73-4828-82B9-696B521E9CC1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714F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D10F1788-D6E4-4E62-A995-49831019949C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614901F-96F1-4852-84AE-DA457AAE3584}"/>
              </a:ext>
            </a:extLst>
          </p:cNvPr>
          <p:cNvSpPr/>
          <p:nvPr/>
        </p:nvSpPr>
        <p:spPr>
          <a:xfrm>
            <a:off x="1307801" y="3876762"/>
            <a:ext cx="4186619" cy="7755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977900">
              <a:lnSpc>
                <a:spcPct val="90000"/>
              </a:lnSpc>
              <a:spcAft>
                <a:spcPct val="35000"/>
              </a:spcAft>
            </a:pPr>
            <a:r>
              <a:rPr lang="es-MX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Resultado: </a:t>
            </a:r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el modelo asigna a cada nueva transacción una probabilidad de fraude. Si supera un umbral, la transacción se marca para revisión. Esto automatiza la detección y reduce los errores humanos.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9F6CAF13-CE19-43ED-9F64-2E39C42129D7}"/>
              </a:ext>
            </a:extLst>
          </p:cNvPr>
          <p:cNvGrpSpPr/>
          <p:nvPr/>
        </p:nvGrpSpPr>
        <p:grpSpPr>
          <a:xfrm>
            <a:off x="1023004" y="3887697"/>
            <a:ext cx="140792" cy="140258"/>
            <a:chOff x="3427964" y="2244682"/>
            <a:chExt cx="225891" cy="225034"/>
          </a:xfrm>
        </p:grpSpPr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D86EDA63-163F-4E1E-929A-7341E434F89B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714F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F9854C84-E665-4B0C-9551-A6E7B106ED9D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4779263-0D9B-43DE-99D5-F8EEC0022A27}"/>
              </a:ext>
            </a:extLst>
          </p:cNvPr>
          <p:cNvSpPr/>
          <p:nvPr/>
        </p:nvSpPr>
        <p:spPr>
          <a:xfrm>
            <a:off x="498048" y="3740396"/>
            <a:ext cx="4008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" sz="28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04</a:t>
            </a:r>
            <a:endParaRPr lang="es-PE" sz="2800" b="1" dirty="0">
              <a:solidFill>
                <a:srgbClr val="7150A0"/>
              </a:solidFill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5219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5993558" cy="997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MX" sz="24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PRINCIPIOS Y CARACTERÍSTICAS DE LOS </a:t>
            </a:r>
            <a:br>
              <a:rPr lang="es-PE" sz="2400" dirty="0">
                <a:solidFill>
                  <a:schemeClr val="bg1"/>
                </a:solidFill>
                <a:latin typeface="Graphik Regular" charset="0"/>
              </a:rPr>
            </a:br>
            <a:r>
              <a:rPr lang="es-PE" sz="2400" b="1" dirty="0">
                <a:solidFill>
                  <a:schemeClr val="bg1"/>
                </a:solidFill>
                <a:latin typeface="Graphik Bold" charset="0"/>
              </a:rPr>
              <a:t>MODELOS BÁSICOS (REGRESIÓN LINEAL, </a:t>
            </a:r>
            <a:br>
              <a:rPr lang="es-PE" sz="2400" dirty="0">
                <a:solidFill>
                  <a:schemeClr val="bg1"/>
                </a:solidFill>
                <a:latin typeface="Graphik Regular" charset="0"/>
              </a:rPr>
            </a:br>
            <a:r>
              <a:rPr lang="es-MX" sz="24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ÁRBOLES DE DECISIÓN, ENTRE OTROS)</a:t>
            </a:r>
            <a:endParaRPr lang="es-ES" sz="1400" dirty="0">
              <a:solidFill>
                <a:schemeClr val="bg1"/>
              </a:solidFill>
              <a:latin typeface="Calibri" panose="020F0502020204030204" pitchFamily="34" charset="0"/>
              <a:cs typeface="Calibri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8550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 txBox="1"/>
          <p:nvPr/>
        </p:nvSpPr>
        <p:spPr>
          <a:xfrm>
            <a:off x="506796" y="918372"/>
            <a:ext cx="3560379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" lvl="0"/>
            <a:r>
              <a:rPr lang="es-419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REGRESIÓN LINEAL</a:t>
            </a:r>
          </a:p>
          <a:p>
            <a:pPr marL="11430" lvl="0"/>
            <a:endParaRPr sz="1600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" marR="0" lvl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</a:pPr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El modelo y su propósito</a:t>
            </a:r>
          </a:p>
          <a:p>
            <a:pPr marL="179705" lvl="0" indent="-168275"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Un modelo paramétrico que ajusta una línea recta a los datos: </a:t>
            </a:r>
            <a:r>
              <a:rPr lang="es-MX" sz="1600" b="1" dirty="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𝑦 = m𝑥 + b</a:t>
            </a:r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. Se entrena minimizando el error cuadrático medio (MSE) entre predicciones y valores reales. </a:t>
            </a:r>
          </a:p>
          <a:p>
            <a:pPr marL="179705" lvl="0" indent="-168275">
              <a:buClr>
                <a:srgbClr val="262626"/>
              </a:buClr>
              <a:buSzPts val="1600"/>
              <a:buFont typeface="Arial"/>
              <a:buChar char="•"/>
            </a:pPr>
            <a:endParaRPr lang="es-MX" sz="1600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9705" lvl="0" indent="-168275"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Útil cuando la relación entre variables es aproximadamente lineal (precio de vivienda vs. Área, por ejemplo).</a:t>
            </a:r>
          </a:p>
        </p:txBody>
      </p:sp>
      <p:sp>
        <p:nvSpPr>
          <p:cNvPr id="5" name="Google Shape;77;p5">
            <a:extLst>
              <a:ext uri="{FF2B5EF4-FFF2-40B4-BE49-F238E27FC236}">
                <a16:creationId xmlns:a16="http://schemas.microsoft.com/office/drawing/2014/main" id="{EB9FFE35-1057-41DD-B633-2602FC2CF698}"/>
              </a:ext>
            </a:extLst>
          </p:cNvPr>
          <p:cNvSpPr/>
          <p:nvPr/>
        </p:nvSpPr>
        <p:spPr>
          <a:xfrm>
            <a:off x="503237" y="380615"/>
            <a:ext cx="642749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PRINCIPIOS Y CARACTERÍSTICAS DE LOS MODELOS BÁSICOS (REGRESIÓN LINEAL, ÁRBOLES DE DECISIÓN, ENTRE OTROS)</a:t>
            </a:r>
          </a:p>
        </p:txBody>
      </p:sp>
      <p:pic>
        <p:nvPicPr>
          <p:cNvPr id="6" name="Google Shape;207;p11">
            <a:extLst>
              <a:ext uri="{FF2B5EF4-FFF2-40B4-BE49-F238E27FC236}">
                <a16:creationId xmlns:a16="http://schemas.microsoft.com/office/drawing/2014/main" id="{F128D24A-0F26-4822-9655-F54408C772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57245" y="1278616"/>
            <a:ext cx="4105976" cy="2594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 txBox="1"/>
          <p:nvPr/>
        </p:nvSpPr>
        <p:spPr>
          <a:xfrm>
            <a:off x="506796" y="918372"/>
            <a:ext cx="356037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" lvl="0"/>
            <a:r>
              <a:rPr lang="es-419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REGRESIÓN LOGÍSTICA (CLASIFICACIÓN)</a:t>
            </a:r>
          </a:p>
        </p:txBody>
      </p:sp>
      <p:sp>
        <p:nvSpPr>
          <p:cNvPr id="5" name="Google Shape;77;p5">
            <a:extLst>
              <a:ext uri="{FF2B5EF4-FFF2-40B4-BE49-F238E27FC236}">
                <a16:creationId xmlns:a16="http://schemas.microsoft.com/office/drawing/2014/main" id="{EB9FFE35-1057-41DD-B633-2602FC2CF698}"/>
              </a:ext>
            </a:extLst>
          </p:cNvPr>
          <p:cNvSpPr/>
          <p:nvPr/>
        </p:nvSpPr>
        <p:spPr>
          <a:xfrm>
            <a:off x="503237" y="380615"/>
            <a:ext cx="642749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PRINCIPIOS Y CARACTERÍSTICAS DE LOS MODELOS BÁSICOS (REGRESIÓN LINEAL, ÁRBOLES DE DECISIÓN, ENTRE OTROS)</a:t>
            </a:r>
          </a:p>
        </p:txBody>
      </p:sp>
      <p:sp>
        <p:nvSpPr>
          <p:cNvPr id="31" name="Google Shape;215;p12">
            <a:extLst>
              <a:ext uri="{FF2B5EF4-FFF2-40B4-BE49-F238E27FC236}">
                <a16:creationId xmlns:a16="http://schemas.microsoft.com/office/drawing/2014/main" id="{50AB84FD-DCB0-4719-AEDE-C1986895B9C3}"/>
              </a:ext>
            </a:extLst>
          </p:cNvPr>
          <p:cNvSpPr/>
          <p:nvPr/>
        </p:nvSpPr>
        <p:spPr>
          <a:xfrm>
            <a:off x="169337" y="2267626"/>
            <a:ext cx="2162194" cy="267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0"/>
              <a:buFont typeface="Arial"/>
              <a:buNone/>
            </a:pPr>
            <a:r>
              <a:rPr lang="es-419" sz="1600" b="1" i="0" u="none" strike="noStrike" cap="none" dirty="0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ORIGEN Y USO</a:t>
            </a:r>
          </a:p>
        </p:txBody>
      </p:sp>
      <p:sp>
        <p:nvSpPr>
          <p:cNvPr id="33" name="Google Shape;217;p12">
            <a:extLst>
              <a:ext uri="{FF2B5EF4-FFF2-40B4-BE49-F238E27FC236}">
                <a16:creationId xmlns:a16="http://schemas.microsoft.com/office/drawing/2014/main" id="{424BB321-BA7C-4EE2-8416-88253D54BD2E}"/>
              </a:ext>
            </a:extLst>
          </p:cNvPr>
          <p:cNvSpPr/>
          <p:nvPr/>
        </p:nvSpPr>
        <p:spPr>
          <a:xfrm>
            <a:off x="3318197" y="2267626"/>
            <a:ext cx="2162194" cy="267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0"/>
              <a:buFont typeface="Arial"/>
              <a:buNone/>
            </a:pPr>
            <a:r>
              <a:rPr lang="es-419" sz="1600" b="1" i="0" u="none" strike="noStrike" cap="none" dirty="0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PREDICCIÓN DE PROBABILIDAD</a:t>
            </a:r>
          </a:p>
        </p:txBody>
      </p:sp>
      <p:sp>
        <p:nvSpPr>
          <p:cNvPr id="35" name="Google Shape;219;p12">
            <a:extLst>
              <a:ext uri="{FF2B5EF4-FFF2-40B4-BE49-F238E27FC236}">
                <a16:creationId xmlns:a16="http://schemas.microsoft.com/office/drawing/2014/main" id="{75BF6FC1-A95B-45AC-BDED-8B96CF8233FF}"/>
              </a:ext>
            </a:extLst>
          </p:cNvPr>
          <p:cNvSpPr/>
          <p:nvPr/>
        </p:nvSpPr>
        <p:spPr>
          <a:xfrm>
            <a:off x="1746452" y="3735160"/>
            <a:ext cx="2162194" cy="267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0"/>
              <a:buFont typeface="Arial"/>
              <a:buNone/>
            </a:pPr>
            <a:r>
              <a:rPr lang="es-419" sz="1600" b="1" i="0" u="none" strike="noStrike" cap="none" dirty="0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FUNCIÓN SIGMOIDE</a:t>
            </a:r>
          </a:p>
        </p:txBody>
      </p:sp>
      <p:sp>
        <p:nvSpPr>
          <p:cNvPr id="37" name="Google Shape;221;p12">
            <a:extLst>
              <a:ext uri="{FF2B5EF4-FFF2-40B4-BE49-F238E27FC236}">
                <a16:creationId xmlns:a16="http://schemas.microsoft.com/office/drawing/2014/main" id="{59CD08B5-C39E-4BD7-BFA1-92DDE0AD808F}"/>
              </a:ext>
            </a:extLst>
          </p:cNvPr>
          <p:cNvSpPr/>
          <p:nvPr/>
        </p:nvSpPr>
        <p:spPr>
          <a:xfrm>
            <a:off x="4896924" y="3735160"/>
            <a:ext cx="2162194" cy="267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0"/>
              <a:buFont typeface="Arial"/>
              <a:buNone/>
            </a:pPr>
            <a:r>
              <a:rPr lang="es-419" sz="1600" b="1" i="0" u="none" strike="noStrike" cap="none" dirty="0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ENTRENAMIENTO</a:t>
            </a:r>
          </a:p>
        </p:txBody>
      </p:sp>
      <p:sp>
        <p:nvSpPr>
          <p:cNvPr id="38" name="Google Shape;222;p12">
            <a:extLst>
              <a:ext uri="{FF2B5EF4-FFF2-40B4-BE49-F238E27FC236}">
                <a16:creationId xmlns:a16="http://schemas.microsoft.com/office/drawing/2014/main" id="{A75E9724-9267-4552-BD74-63B9FEBC7096}"/>
              </a:ext>
            </a:extLst>
          </p:cNvPr>
          <p:cNvSpPr/>
          <p:nvPr/>
        </p:nvSpPr>
        <p:spPr>
          <a:xfrm>
            <a:off x="463703" y="2992262"/>
            <a:ext cx="1573893" cy="261062"/>
          </a:xfrm>
          <a:custGeom>
            <a:avLst/>
            <a:gdLst/>
            <a:ahLst/>
            <a:cxnLst/>
            <a:rect l="l" t="t" r="r" b="b"/>
            <a:pathLst>
              <a:path w="1860550" h="308610" extrusionOk="0">
                <a:moveTo>
                  <a:pt x="0" y="77153"/>
                </a:moveTo>
                <a:lnTo>
                  <a:pt x="572471" y="77153"/>
                </a:lnTo>
                <a:lnTo>
                  <a:pt x="556895" y="154305"/>
                </a:lnTo>
                <a:lnTo>
                  <a:pt x="572472" y="231458"/>
                </a:lnTo>
                <a:lnTo>
                  <a:pt x="0" y="231458"/>
                </a:lnTo>
                <a:lnTo>
                  <a:pt x="77153" y="154305"/>
                </a:lnTo>
                <a:close/>
                <a:moveTo>
                  <a:pt x="1706245" y="0"/>
                </a:moveTo>
                <a:lnTo>
                  <a:pt x="1860550" y="154305"/>
                </a:lnTo>
                <a:lnTo>
                  <a:pt x="1706245" y="308610"/>
                </a:lnTo>
                <a:lnTo>
                  <a:pt x="1706245" y="231458"/>
                </a:lnTo>
                <a:lnTo>
                  <a:pt x="1290619" y="231458"/>
                </a:lnTo>
                <a:lnTo>
                  <a:pt x="1306195" y="154305"/>
                </a:lnTo>
                <a:lnTo>
                  <a:pt x="1290619" y="77153"/>
                </a:lnTo>
                <a:lnTo>
                  <a:pt x="1706245" y="77153"/>
                </a:lnTo>
                <a:close/>
              </a:path>
            </a:pathLst>
          </a:custGeom>
          <a:solidFill>
            <a:srgbClr val="FB77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223;p12">
            <a:extLst>
              <a:ext uri="{FF2B5EF4-FFF2-40B4-BE49-F238E27FC236}">
                <a16:creationId xmlns:a16="http://schemas.microsoft.com/office/drawing/2014/main" id="{A0D84E2E-5C3B-4834-81A2-0B11AB8EB9D9}"/>
              </a:ext>
            </a:extLst>
          </p:cNvPr>
          <p:cNvSpPr/>
          <p:nvPr/>
        </p:nvSpPr>
        <p:spPr>
          <a:xfrm>
            <a:off x="2037596" y="2992799"/>
            <a:ext cx="1573893" cy="261062"/>
          </a:xfrm>
          <a:custGeom>
            <a:avLst/>
            <a:gdLst/>
            <a:ahLst/>
            <a:cxnLst/>
            <a:rect l="l" t="t" r="r" b="b"/>
            <a:pathLst>
              <a:path w="1860550" h="308610" extrusionOk="0">
                <a:moveTo>
                  <a:pt x="0" y="77153"/>
                </a:moveTo>
                <a:lnTo>
                  <a:pt x="571073" y="77153"/>
                </a:lnTo>
                <a:lnTo>
                  <a:pt x="555625" y="153670"/>
                </a:lnTo>
                <a:lnTo>
                  <a:pt x="571330" y="231458"/>
                </a:lnTo>
                <a:lnTo>
                  <a:pt x="0" y="231458"/>
                </a:lnTo>
                <a:lnTo>
                  <a:pt x="77153" y="154305"/>
                </a:lnTo>
                <a:close/>
                <a:moveTo>
                  <a:pt x="1706245" y="0"/>
                </a:moveTo>
                <a:lnTo>
                  <a:pt x="1860550" y="154305"/>
                </a:lnTo>
                <a:lnTo>
                  <a:pt x="1706245" y="308610"/>
                </a:lnTo>
                <a:lnTo>
                  <a:pt x="1706245" y="231458"/>
                </a:lnTo>
                <a:lnTo>
                  <a:pt x="1289221" y="231458"/>
                </a:lnTo>
                <a:lnTo>
                  <a:pt x="1304925" y="153670"/>
                </a:lnTo>
                <a:lnTo>
                  <a:pt x="1289477" y="77153"/>
                </a:lnTo>
                <a:lnTo>
                  <a:pt x="1706245" y="77153"/>
                </a:lnTo>
                <a:close/>
              </a:path>
            </a:pathLst>
          </a:custGeom>
          <a:solidFill>
            <a:srgbClr val="F0807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224;p12">
            <a:extLst>
              <a:ext uri="{FF2B5EF4-FFF2-40B4-BE49-F238E27FC236}">
                <a16:creationId xmlns:a16="http://schemas.microsoft.com/office/drawing/2014/main" id="{5ADAFCA0-3064-4058-BE8B-BD2EB40CD8EC}"/>
              </a:ext>
            </a:extLst>
          </p:cNvPr>
          <p:cNvSpPr/>
          <p:nvPr/>
        </p:nvSpPr>
        <p:spPr>
          <a:xfrm>
            <a:off x="3611489" y="2992262"/>
            <a:ext cx="1573893" cy="261062"/>
          </a:xfrm>
          <a:custGeom>
            <a:avLst/>
            <a:gdLst/>
            <a:ahLst/>
            <a:cxnLst/>
            <a:rect l="l" t="t" r="r" b="b"/>
            <a:pathLst>
              <a:path w="1860550" h="308610" extrusionOk="0">
                <a:moveTo>
                  <a:pt x="0" y="77153"/>
                </a:moveTo>
                <a:lnTo>
                  <a:pt x="569932" y="77153"/>
                </a:lnTo>
                <a:lnTo>
                  <a:pt x="554355" y="154305"/>
                </a:lnTo>
                <a:lnTo>
                  <a:pt x="569932" y="231458"/>
                </a:lnTo>
                <a:lnTo>
                  <a:pt x="0" y="231458"/>
                </a:lnTo>
                <a:lnTo>
                  <a:pt x="77153" y="154305"/>
                </a:lnTo>
                <a:close/>
                <a:moveTo>
                  <a:pt x="1706245" y="0"/>
                </a:moveTo>
                <a:lnTo>
                  <a:pt x="1860550" y="154305"/>
                </a:lnTo>
                <a:lnTo>
                  <a:pt x="1706245" y="308610"/>
                </a:lnTo>
                <a:lnTo>
                  <a:pt x="1706245" y="231458"/>
                </a:lnTo>
                <a:lnTo>
                  <a:pt x="1288079" y="231458"/>
                </a:lnTo>
                <a:lnTo>
                  <a:pt x="1303655" y="154305"/>
                </a:lnTo>
                <a:lnTo>
                  <a:pt x="1288079" y="77153"/>
                </a:lnTo>
                <a:lnTo>
                  <a:pt x="1706245" y="77153"/>
                </a:lnTo>
                <a:close/>
              </a:path>
            </a:pathLst>
          </a:custGeom>
          <a:solidFill>
            <a:srgbClr val="F0807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225;p12">
            <a:extLst>
              <a:ext uri="{FF2B5EF4-FFF2-40B4-BE49-F238E27FC236}">
                <a16:creationId xmlns:a16="http://schemas.microsoft.com/office/drawing/2014/main" id="{7B9DC54D-1F4C-4FAA-BD06-B3BDCCC8C8C5}"/>
              </a:ext>
            </a:extLst>
          </p:cNvPr>
          <p:cNvSpPr/>
          <p:nvPr/>
        </p:nvSpPr>
        <p:spPr>
          <a:xfrm>
            <a:off x="5185919" y="2992262"/>
            <a:ext cx="1573893" cy="261062"/>
          </a:xfrm>
          <a:custGeom>
            <a:avLst/>
            <a:gdLst/>
            <a:ahLst/>
            <a:cxnLst/>
            <a:rect l="l" t="t" r="r" b="b"/>
            <a:pathLst>
              <a:path w="1860550" h="308610" extrusionOk="0">
                <a:moveTo>
                  <a:pt x="0" y="77153"/>
                </a:moveTo>
                <a:lnTo>
                  <a:pt x="568027" y="77153"/>
                </a:lnTo>
                <a:lnTo>
                  <a:pt x="552450" y="154305"/>
                </a:lnTo>
                <a:lnTo>
                  <a:pt x="568027" y="231458"/>
                </a:lnTo>
                <a:lnTo>
                  <a:pt x="0" y="231458"/>
                </a:lnTo>
                <a:lnTo>
                  <a:pt x="77153" y="154305"/>
                </a:lnTo>
                <a:close/>
                <a:moveTo>
                  <a:pt x="1706245" y="0"/>
                </a:moveTo>
                <a:lnTo>
                  <a:pt x="1860550" y="154305"/>
                </a:lnTo>
                <a:lnTo>
                  <a:pt x="1706245" y="308610"/>
                </a:lnTo>
                <a:lnTo>
                  <a:pt x="1706245" y="231458"/>
                </a:lnTo>
                <a:lnTo>
                  <a:pt x="1286174" y="231458"/>
                </a:lnTo>
                <a:lnTo>
                  <a:pt x="1301750" y="154305"/>
                </a:lnTo>
                <a:lnTo>
                  <a:pt x="1286174" y="77153"/>
                </a:lnTo>
                <a:lnTo>
                  <a:pt x="1706245" y="77153"/>
                </a:lnTo>
                <a:close/>
              </a:path>
            </a:pathLst>
          </a:custGeom>
          <a:solidFill>
            <a:srgbClr val="F0807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226;p12">
            <a:extLst>
              <a:ext uri="{FF2B5EF4-FFF2-40B4-BE49-F238E27FC236}">
                <a16:creationId xmlns:a16="http://schemas.microsoft.com/office/drawing/2014/main" id="{5633B4EA-9357-45C1-BE1A-D0E1A1C20AC0}"/>
              </a:ext>
            </a:extLst>
          </p:cNvPr>
          <p:cNvSpPr/>
          <p:nvPr/>
        </p:nvSpPr>
        <p:spPr>
          <a:xfrm>
            <a:off x="961655" y="2833798"/>
            <a:ext cx="578527" cy="57852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227;p12">
            <a:extLst>
              <a:ext uri="{FF2B5EF4-FFF2-40B4-BE49-F238E27FC236}">
                <a16:creationId xmlns:a16="http://schemas.microsoft.com/office/drawing/2014/main" id="{B68E82F7-1F62-4DFC-8E63-CE3E6AF47E43}"/>
              </a:ext>
            </a:extLst>
          </p:cNvPr>
          <p:cNvSpPr/>
          <p:nvPr/>
        </p:nvSpPr>
        <p:spPr>
          <a:xfrm>
            <a:off x="2535548" y="2833798"/>
            <a:ext cx="578527" cy="57852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228;p12">
            <a:extLst>
              <a:ext uri="{FF2B5EF4-FFF2-40B4-BE49-F238E27FC236}">
                <a16:creationId xmlns:a16="http://schemas.microsoft.com/office/drawing/2014/main" id="{E2886D42-421A-43DE-866E-7B0D131C3EBE}"/>
              </a:ext>
            </a:extLst>
          </p:cNvPr>
          <p:cNvSpPr/>
          <p:nvPr/>
        </p:nvSpPr>
        <p:spPr>
          <a:xfrm>
            <a:off x="4108904" y="2833798"/>
            <a:ext cx="578527" cy="57852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229;p12">
            <a:extLst>
              <a:ext uri="{FF2B5EF4-FFF2-40B4-BE49-F238E27FC236}">
                <a16:creationId xmlns:a16="http://schemas.microsoft.com/office/drawing/2014/main" id="{777F2422-6297-4122-A5CE-4D5BB056BD6B}"/>
              </a:ext>
            </a:extLst>
          </p:cNvPr>
          <p:cNvSpPr/>
          <p:nvPr/>
        </p:nvSpPr>
        <p:spPr>
          <a:xfrm>
            <a:off x="5682796" y="2833798"/>
            <a:ext cx="578527" cy="57852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230;p12">
            <a:extLst>
              <a:ext uri="{FF2B5EF4-FFF2-40B4-BE49-F238E27FC236}">
                <a16:creationId xmlns:a16="http://schemas.microsoft.com/office/drawing/2014/main" id="{8EB10181-F00F-44D0-A2A6-A52033E3AC37}"/>
              </a:ext>
            </a:extLst>
          </p:cNvPr>
          <p:cNvSpPr/>
          <p:nvPr/>
        </p:nvSpPr>
        <p:spPr>
          <a:xfrm>
            <a:off x="6759812" y="2992262"/>
            <a:ext cx="1573893" cy="261062"/>
          </a:xfrm>
          <a:custGeom>
            <a:avLst/>
            <a:gdLst/>
            <a:ahLst/>
            <a:cxnLst/>
            <a:rect l="l" t="t" r="r" b="b"/>
            <a:pathLst>
              <a:path w="1860550" h="308610" extrusionOk="0">
                <a:moveTo>
                  <a:pt x="0" y="77153"/>
                </a:moveTo>
                <a:lnTo>
                  <a:pt x="574376" y="77153"/>
                </a:lnTo>
                <a:lnTo>
                  <a:pt x="558800" y="154305"/>
                </a:lnTo>
                <a:lnTo>
                  <a:pt x="574377" y="231458"/>
                </a:lnTo>
                <a:lnTo>
                  <a:pt x="0" y="231458"/>
                </a:lnTo>
                <a:lnTo>
                  <a:pt x="77153" y="154305"/>
                </a:lnTo>
                <a:close/>
                <a:moveTo>
                  <a:pt x="1706245" y="0"/>
                </a:moveTo>
                <a:lnTo>
                  <a:pt x="1860550" y="154305"/>
                </a:lnTo>
                <a:lnTo>
                  <a:pt x="1706245" y="308610"/>
                </a:lnTo>
                <a:lnTo>
                  <a:pt x="1706245" y="231458"/>
                </a:lnTo>
                <a:lnTo>
                  <a:pt x="1292523" y="231458"/>
                </a:lnTo>
                <a:lnTo>
                  <a:pt x="1308100" y="154305"/>
                </a:lnTo>
                <a:lnTo>
                  <a:pt x="1292524" y="77153"/>
                </a:lnTo>
                <a:lnTo>
                  <a:pt x="1706245" y="77153"/>
                </a:lnTo>
                <a:close/>
              </a:path>
            </a:pathLst>
          </a:custGeom>
          <a:solidFill>
            <a:srgbClr val="F0807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231;p12">
            <a:extLst>
              <a:ext uri="{FF2B5EF4-FFF2-40B4-BE49-F238E27FC236}">
                <a16:creationId xmlns:a16="http://schemas.microsoft.com/office/drawing/2014/main" id="{DF1E4C2E-E6F2-4270-893E-2DAE0C49CD04}"/>
              </a:ext>
            </a:extLst>
          </p:cNvPr>
          <p:cNvSpPr/>
          <p:nvPr/>
        </p:nvSpPr>
        <p:spPr>
          <a:xfrm>
            <a:off x="7257227" y="2833798"/>
            <a:ext cx="578527" cy="57852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233;p12">
            <a:extLst>
              <a:ext uri="{FF2B5EF4-FFF2-40B4-BE49-F238E27FC236}">
                <a16:creationId xmlns:a16="http://schemas.microsoft.com/office/drawing/2014/main" id="{C925848C-72A8-4E2F-BA52-A8CC82D2D432}"/>
              </a:ext>
            </a:extLst>
          </p:cNvPr>
          <p:cNvSpPr/>
          <p:nvPr/>
        </p:nvSpPr>
        <p:spPr>
          <a:xfrm>
            <a:off x="6236786" y="2218165"/>
            <a:ext cx="2419044" cy="37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0"/>
              <a:buFont typeface="Arial"/>
              <a:buNone/>
            </a:pPr>
            <a:r>
              <a:rPr lang="es-419" sz="1600" b="1" i="0" u="none" strike="noStrike" cap="none" dirty="0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INTERPRETACIÓN DE COEFICIENTES</a:t>
            </a:r>
          </a:p>
        </p:txBody>
      </p:sp>
      <p:sp>
        <p:nvSpPr>
          <p:cNvPr id="50" name="Google Shape;234;p12">
            <a:extLst>
              <a:ext uri="{FF2B5EF4-FFF2-40B4-BE49-F238E27FC236}">
                <a16:creationId xmlns:a16="http://schemas.microsoft.com/office/drawing/2014/main" id="{499AF235-6343-4106-8B92-72B4C515D292}"/>
              </a:ext>
            </a:extLst>
          </p:cNvPr>
          <p:cNvSpPr/>
          <p:nvPr/>
        </p:nvSpPr>
        <p:spPr>
          <a:xfrm>
            <a:off x="1140530" y="3000857"/>
            <a:ext cx="221268" cy="243636"/>
          </a:xfrm>
          <a:custGeom>
            <a:avLst/>
            <a:gdLst/>
            <a:ahLst/>
            <a:cxnLst/>
            <a:rect l="l" t="t" r="r" b="b"/>
            <a:pathLst>
              <a:path w="261567" h="288010" extrusionOk="0">
                <a:moveTo>
                  <a:pt x="23306" y="155664"/>
                </a:moveTo>
                <a:lnTo>
                  <a:pt x="23306" y="232467"/>
                </a:lnTo>
                <a:cubicBezTo>
                  <a:pt x="23306" y="246130"/>
                  <a:pt x="31851" y="257850"/>
                  <a:pt x="43897" y="262523"/>
                </a:cubicBezTo>
                <a:lnTo>
                  <a:pt x="43897" y="155664"/>
                </a:lnTo>
                <a:close/>
                <a:moveTo>
                  <a:pt x="127056" y="154634"/>
                </a:moveTo>
                <a:lnTo>
                  <a:pt x="186857" y="154634"/>
                </a:lnTo>
                <a:cubicBezTo>
                  <a:pt x="193295" y="154634"/>
                  <a:pt x="198518" y="159855"/>
                  <a:pt x="198518" y="166295"/>
                </a:cubicBezTo>
                <a:cubicBezTo>
                  <a:pt x="198518" y="172734"/>
                  <a:pt x="193295" y="177956"/>
                  <a:pt x="186857" y="177956"/>
                </a:cubicBezTo>
                <a:lnTo>
                  <a:pt x="127056" y="177956"/>
                </a:lnTo>
                <a:cubicBezTo>
                  <a:pt x="120618" y="177956"/>
                  <a:pt x="115395" y="172734"/>
                  <a:pt x="115395" y="166295"/>
                </a:cubicBezTo>
                <a:cubicBezTo>
                  <a:pt x="115395" y="159855"/>
                  <a:pt x="120617" y="154634"/>
                  <a:pt x="127056" y="154634"/>
                </a:cubicBezTo>
                <a:close/>
                <a:moveTo>
                  <a:pt x="127056" y="105668"/>
                </a:moveTo>
                <a:lnTo>
                  <a:pt x="186857" y="105668"/>
                </a:lnTo>
                <a:cubicBezTo>
                  <a:pt x="193295" y="105668"/>
                  <a:pt x="198518" y="110889"/>
                  <a:pt x="198518" y="117329"/>
                </a:cubicBezTo>
                <a:cubicBezTo>
                  <a:pt x="198518" y="123768"/>
                  <a:pt x="193295" y="128989"/>
                  <a:pt x="186857" y="128989"/>
                </a:cubicBezTo>
                <a:lnTo>
                  <a:pt x="127056" y="128989"/>
                </a:lnTo>
                <a:cubicBezTo>
                  <a:pt x="120618" y="128989"/>
                  <a:pt x="115395" y="123768"/>
                  <a:pt x="115395" y="117329"/>
                </a:cubicBezTo>
                <a:cubicBezTo>
                  <a:pt x="115395" y="110889"/>
                  <a:pt x="120617" y="105668"/>
                  <a:pt x="127056" y="105668"/>
                </a:cubicBezTo>
                <a:close/>
                <a:moveTo>
                  <a:pt x="67224" y="23307"/>
                </a:moveTo>
                <a:lnTo>
                  <a:pt x="67224" y="264694"/>
                </a:lnTo>
                <a:lnTo>
                  <a:pt x="209956" y="264694"/>
                </a:lnTo>
                <a:cubicBezTo>
                  <a:pt x="225562" y="264694"/>
                  <a:pt x="238262" y="251995"/>
                  <a:pt x="238262" y="236387"/>
                </a:cubicBezTo>
                <a:lnTo>
                  <a:pt x="238262" y="23307"/>
                </a:lnTo>
                <a:close/>
                <a:moveTo>
                  <a:pt x="63218" y="0"/>
                </a:moveTo>
                <a:lnTo>
                  <a:pt x="242252" y="0"/>
                </a:lnTo>
                <a:cubicBezTo>
                  <a:pt x="252904" y="0"/>
                  <a:pt x="261567" y="8664"/>
                  <a:pt x="261567" y="19315"/>
                </a:cubicBezTo>
                <a:lnTo>
                  <a:pt x="261567" y="236387"/>
                </a:lnTo>
                <a:cubicBezTo>
                  <a:pt x="261554" y="264842"/>
                  <a:pt x="238410" y="287999"/>
                  <a:pt x="209956" y="287999"/>
                </a:cubicBezTo>
                <a:lnTo>
                  <a:pt x="67204" y="287999"/>
                </a:lnTo>
                <a:lnTo>
                  <a:pt x="67204" y="288010"/>
                </a:lnTo>
                <a:lnTo>
                  <a:pt x="55543" y="288010"/>
                </a:lnTo>
                <a:cubicBezTo>
                  <a:pt x="24908" y="288010"/>
                  <a:pt x="0" y="263087"/>
                  <a:pt x="0" y="232467"/>
                </a:cubicBezTo>
                <a:lnTo>
                  <a:pt x="0" y="151761"/>
                </a:lnTo>
                <a:cubicBezTo>
                  <a:pt x="0" y="141065"/>
                  <a:pt x="8708" y="132356"/>
                  <a:pt x="19405" y="132356"/>
                </a:cubicBezTo>
                <a:lnTo>
                  <a:pt x="43902" y="132356"/>
                </a:lnTo>
                <a:lnTo>
                  <a:pt x="43902" y="19315"/>
                </a:lnTo>
                <a:cubicBezTo>
                  <a:pt x="43902" y="8663"/>
                  <a:pt x="52567" y="0"/>
                  <a:pt x="6321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235;p12">
            <a:extLst>
              <a:ext uri="{FF2B5EF4-FFF2-40B4-BE49-F238E27FC236}">
                <a16:creationId xmlns:a16="http://schemas.microsoft.com/office/drawing/2014/main" id="{493EAD19-E494-4A50-BEAA-2CBC7E6F3E17}"/>
              </a:ext>
            </a:extLst>
          </p:cNvPr>
          <p:cNvSpPr/>
          <p:nvPr/>
        </p:nvSpPr>
        <p:spPr>
          <a:xfrm>
            <a:off x="2703143" y="3009988"/>
            <a:ext cx="243627" cy="225168"/>
          </a:xfrm>
          <a:custGeom>
            <a:avLst/>
            <a:gdLst/>
            <a:ahLst/>
            <a:cxnLst/>
            <a:rect l="l" t="t" r="r" b="b"/>
            <a:pathLst>
              <a:path w="287999" h="266179" extrusionOk="0">
                <a:moveTo>
                  <a:pt x="112347" y="165856"/>
                </a:moveTo>
                <a:lnTo>
                  <a:pt x="174121" y="165856"/>
                </a:lnTo>
                <a:cubicBezTo>
                  <a:pt x="180773" y="165856"/>
                  <a:pt x="186166" y="171250"/>
                  <a:pt x="186166" y="177901"/>
                </a:cubicBezTo>
                <a:cubicBezTo>
                  <a:pt x="186166" y="184551"/>
                  <a:pt x="180773" y="189946"/>
                  <a:pt x="174121" y="189946"/>
                </a:cubicBezTo>
                <a:lnTo>
                  <a:pt x="112347" y="189946"/>
                </a:lnTo>
                <a:cubicBezTo>
                  <a:pt x="105695" y="189946"/>
                  <a:pt x="100302" y="184552"/>
                  <a:pt x="100302" y="177901"/>
                </a:cubicBezTo>
                <a:cubicBezTo>
                  <a:pt x="100302" y="171250"/>
                  <a:pt x="105695" y="165856"/>
                  <a:pt x="112347" y="165856"/>
                </a:cubicBezTo>
                <a:close/>
                <a:moveTo>
                  <a:pt x="112347" y="112929"/>
                </a:moveTo>
                <a:lnTo>
                  <a:pt x="174121" y="112929"/>
                </a:lnTo>
                <a:cubicBezTo>
                  <a:pt x="180773" y="112929"/>
                  <a:pt x="186166" y="118322"/>
                  <a:pt x="186166" y="124974"/>
                </a:cubicBezTo>
                <a:cubicBezTo>
                  <a:pt x="186166" y="131624"/>
                  <a:pt x="180773" y="137019"/>
                  <a:pt x="174121" y="137019"/>
                </a:cubicBezTo>
                <a:lnTo>
                  <a:pt x="112347" y="137019"/>
                </a:lnTo>
                <a:cubicBezTo>
                  <a:pt x="105695" y="137019"/>
                  <a:pt x="100302" y="131625"/>
                  <a:pt x="100302" y="124974"/>
                </a:cubicBezTo>
                <a:cubicBezTo>
                  <a:pt x="100302" y="118322"/>
                  <a:pt x="105695" y="112929"/>
                  <a:pt x="112347" y="112929"/>
                </a:cubicBezTo>
                <a:close/>
                <a:moveTo>
                  <a:pt x="24075" y="24090"/>
                </a:moveTo>
                <a:lnTo>
                  <a:pt x="24075" y="242103"/>
                </a:lnTo>
                <a:lnTo>
                  <a:pt x="234686" y="242103"/>
                </a:lnTo>
                <a:cubicBezTo>
                  <a:pt x="250808" y="242103"/>
                  <a:pt x="263926" y="228985"/>
                  <a:pt x="263926" y="212863"/>
                </a:cubicBezTo>
                <a:lnTo>
                  <a:pt x="263926" y="68901"/>
                </a:lnTo>
                <a:lnTo>
                  <a:pt x="138645" y="68901"/>
                </a:lnTo>
                <a:cubicBezTo>
                  <a:pt x="131933" y="68901"/>
                  <a:pt x="125726" y="65560"/>
                  <a:pt x="122017" y="59967"/>
                </a:cubicBezTo>
                <a:lnTo>
                  <a:pt x="98247" y="24090"/>
                </a:lnTo>
                <a:close/>
                <a:moveTo>
                  <a:pt x="19952" y="0"/>
                </a:moveTo>
                <a:lnTo>
                  <a:pt x="100453" y="0"/>
                </a:lnTo>
                <a:cubicBezTo>
                  <a:pt x="107165" y="0"/>
                  <a:pt x="113388" y="3341"/>
                  <a:pt x="117081" y="8934"/>
                </a:cubicBezTo>
                <a:lnTo>
                  <a:pt x="140865" y="44809"/>
                </a:lnTo>
                <a:lnTo>
                  <a:pt x="268046" y="44809"/>
                </a:lnTo>
                <a:cubicBezTo>
                  <a:pt x="279049" y="44809"/>
                  <a:pt x="287999" y="53759"/>
                  <a:pt x="287999" y="64762"/>
                </a:cubicBezTo>
                <a:lnTo>
                  <a:pt x="287999" y="212863"/>
                </a:lnTo>
                <a:cubicBezTo>
                  <a:pt x="288002" y="242256"/>
                  <a:pt x="264095" y="266179"/>
                  <a:pt x="234686" y="266179"/>
                </a:cubicBezTo>
                <a:lnTo>
                  <a:pt x="19952" y="266179"/>
                </a:lnTo>
                <a:cubicBezTo>
                  <a:pt x="8949" y="266179"/>
                  <a:pt x="0" y="257229"/>
                  <a:pt x="0" y="246226"/>
                </a:cubicBezTo>
                <a:lnTo>
                  <a:pt x="0" y="19953"/>
                </a:lnTo>
                <a:cubicBezTo>
                  <a:pt x="0" y="8950"/>
                  <a:pt x="8949" y="0"/>
                  <a:pt x="1995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36;p12">
            <a:extLst>
              <a:ext uri="{FF2B5EF4-FFF2-40B4-BE49-F238E27FC236}">
                <a16:creationId xmlns:a16="http://schemas.microsoft.com/office/drawing/2014/main" id="{524473D7-B132-4830-BA5A-12150C7D2365}"/>
              </a:ext>
            </a:extLst>
          </p:cNvPr>
          <p:cNvSpPr/>
          <p:nvPr/>
        </p:nvSpPr>
        <p:spPr>
          <a:xfrm>
            <a:off x="4276499" y="3009450"/>
            <a:ext cx="243628" cy="226637"/>
          </a:xfrm>
          <a:custGeom>
            <a:avLst/>
            <a:gdLst/>
            <a:ahLst/>
            <a:cxnLst/>
            <a:rect l="l" t="t" r="r" b="b"/>
            <a:pathLst>
              <a:path w="288000" h="267915" extrusionOk="0">
                <a:moveTo>
                  <a:pt x="112655" y="122626"/>
                </a:moveTo>
                <a:lnTo>
                  <a:pt x="175265" y="122626"/>
                </a:lnTo>
                <a:cubicBezTo>
                  <a:pt x="182005" y="122626"/>
                  <a:pt x="187473" y="128093"/>
                  <a:pt x="187473" y="134835"/>
                </a:cubicBezTo>
                <a:cubicBezTo>
                  <a:pt x="187458" y="141577"/>
                  <a:pt x="182007" y="147043"/>
                  <a:pt x="175266" y="147043"/>
                </a:cubicBezTo>
                <a:lnTo>
                  <a:pt x="112655" y="147043"/>
                </a:lnTo>
                <a:cubicBezTo>
                  <a:pt x="105914" y="147043"/>
                  <a:pt x="100446" y="141577"/>
                  <a:pt x="100446" y="134835"/>
                </a:cubicBezTo>
                <a:cubicBezTo>
                  <a:pt x="100446" y="128093"/>
                  <a:pt x="105913" y="122626"/>
                  <a:pt x="112655" y="122626"/>
                </a:cubicBezTo>
                <a:close/>
                <a:moveTo>
                  <a:pt x="112655" y="71359"/>
                </a:moveTo>
                <a:lnTo>
                  <a:pt x="175265" y="71359"/>
                </a:lnTo>
                <a:cubicBezTo>
                  <a:pt x="182005" y="71359"/>
                  <a:pt x="187473" y="76826"/>
                  <a:pt x="187473" y="83568"/>
                </a:cubicBezTo>
                <a:cubicBezTo>
                  <a:pt x="187473" y="90309"/>
                  <a:pt x="182007" y="95776"/>
                  <a:pt x="175266" y="95776"/>
                </a:cubicBezTo>
                <a:lnTo>
                  <a:pt x="112655" y="95776"/>
                </a:lnTo>
                <a:cubicBezTo>
                  <a:pt x="105914" y="95776"/>
                  <a:pt x="100446" y="90309"/>
                  <a:pt x="100446" y="83568"/>
                </a:cubicBezTo>
                <a:cubicBezTo>
                  <a:pt x="100446" y="76826"/>
                  <a:pt x="105913" y="71359"/>
                  <a:pt x="112655" y="71359"/>
                </a:cubicBezTo>
                <a:close/>
                <a:moveTo>
                  <a:pt x="24417" y="24401"/>
                </a:moveTo>
                <a:lnTo>
                  <a:pt x="24417" y="189198"/>
                </a:lnTo>
                <a:lnTo>
                  <a:pt x="95616" y="189198"/>
                </a:lnTo>
                <a:cubicBezTo>
                  <a:pt x="103599" y="189198"/>
                  <a:pt x="111086" y="193113"/>
                  <a:pt x="115653" y="199667"/>
                </a:cubicBezTo>
                <a:lnTo>
                  <a:pt x="144078" y="240502"/>
                </a:lnTo>
                <a:lnTo>
                  <a:pt x="173170" y="199202"/>
                </a:lnTo>
                <a:cubicBezTo>
                  <a:pt x="177581" y="192927"/>
                  <a:pt x="184803" y="189200"/>
                  <a:pt x="192460" y="189200"/>
                </a:cubicBezTo>
                <a:lnTo>
                  <a:pt x="233977" y="189200"/>
                </a:lnTo>
                <a:cubicBezTo>
                  <a:pt x="250317" y="189200"/>
                  <a:pt x="263613" y="175904"/>
                  <a:pt x="263613" y="159565"/>
                </a:cubicBezTo>
                <a:lnTo>
                  <a:pt x="263613" y="24401"/>
                </a:lnTo>
                <a:close/>
                <a:moveTo>
                  <a:pt x="20223" y="0"/>
                </a:moveTo>
                <a:lnTo>
                  <a:pt x="267777" y="0"/>
                </a:lnTo>
                <a:cubicBezTo>
                  <a:pt x="278929" y="0"/>
                  <a:pt x="288000" y="9071"/>
                  <a:pt x="288000" y="20223"/>
                </a:cubicBezTo>
                <a:lnTo>
                  <a:pt x="288000" y="159563"/>
                </a:lnTo>
                <a:cubicBezTo>
                  <a:pt x="288000" y="189354"/>
                  <a:pt x="263753" y="213600"/>
                  <a:pt x="233964" y="213600"/>
                </a:cubicBezTo>
                <a:lnTo>
                  <a:pt x="192866" y="213600"/>
                </a:lnTo>
                <a:lnTo>
                  <a:pt x="160698" y="259266"/>
                </a:lnTo>
                <a:cubicBezTo>
                  <a:pt x="156876" y="264684"/>
                  <a:pt x="150662" y="267915"/>
                  <a:pt x="144046" y="267915"/>
                </a:cubicBezTo>
                <a:cubicBezTo>
                  <a:pt x="144031" y="267915"/>
                  <a:pt x="144000" y="267915"/>
                  <a:pt x="143983" y="267915"/>
                </a:cubicBezTo>
                <a:cubicBezTo>
                  <a:pt x="137351" y="267900"/>
                  <a:pt x="131122" y="264638"/>
                  <a:pt x="127332" y="259185"/>
                </a:cubicBezTo>
                <a:lnTo>
                  <a:pt x="95618" y="213614"/>
                </a:lnTo>
                <a:lnTo>
                  <a:pt x="20223" y="213614"/>
                </a:lnTo>
                <a:cubicBezTo>
                  <a:pt x="9071" y="213614"/>
                  <a:pt x="0" y="204543"/>
                  <a:pt x="0" y="193391"/>
                </a:cubicBezTo>
                <a:lnTo>
                  <a:pt x="0" y="20223"/>
                </a:lnTo>
                <a:cubicBezTo>
                  <a:pt x="0" y="9071"/>
                  <a:pt x="9071" y="0"/>
                  <a:pt x="2022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37;p12">
            <a:extLst>
              <a:ext uri="{FF2B5EF4-FFF2-40B4-BE49-F238E27FC236}">
                <a16:creationId xmlns:a16="http://schemas.microsoft.com/office/drawing/2014/main" id="{F8BA470B-0E09-4274-B20E-B2C69BE56EF7}"/>
              </a:ext>
            </a:extLst>
          </p:cNvPr>
          <p:cNvSpPr/>
          <p:nvPr/>
        </p:nvSpPr>
        <p:spPr>
          <a:xfrm>
            <a:off x="5872952" y="3000857"/>
            <a:ext cx="197949" cy="243646"/>
          </a:xfrm>
          <a:custGeom>
            <a:avLst/>
            <a:gdLst/>
            <a:ahLst/>
            <a:cxnLst/>
            <a:rect l="l" t="t" r="r" b="b"/>
            <a:pathLst>
              <a:path w="234002" h="288021" extrusionOk="0">
                <a:moveTo>
                  <a:pt x="86338" y="180939"/>
                </a:moveTo>
                <a:lnTo>
                  <a:pt x="152359" y="180939"/>
                </a:lnTo>
                <a:cubicBezTo>
                  <a:pt x="158799" y="180939"/>
                  <a:pt x="164021" y="186161"/>
                  <a:pt x="164021" y="192600"/>
                </a:cubicBezTo>
                <a:cubicBezTo>
                  <a:pt x="164021" y="199040"/>
                  <a:pt x="158798" y="204262"/>
                  <a:pt x="152359" y="204262"/>
                </a:cubicBezTo>
                <a:lnTo>
                  <a:pt x="86338" y="204262"/>
                </a:lnTo>
                <a:cubicBezTo>
                  <a:pt x="79898" y="204262"/>
                  <a:pt x="74677" y="199040"/>
                  <a:pt x="74677" y="192600"/>
                </a:cubicBezTo>
                <a:cubicBezTo>
                  <a:pt x="74677" y="186161"/>
                  <a:pt x="79898" y="180939"/>
                  <a:pt x="86338" y="180939"/>
                </a:cubicBezTo>
                <a:close/>
                <a:moveTo>
                  <a:pt x="86338" y="130770"/>
                </a:moveTo>
                <a:lnTo>
                  <a:pt x="152359" y="130770"/>
                </a:lnTo>
                <a:cubicBezTo>
                  <a:pt x="158799" y="130770"/>
                  <a:pt x="164021" y="135991"/>
                  <a:pt x="164021" y="142431"/>
                </a:cubicBezTo>
                <a:cubicBezTo>
                  <a:pt x="164021" y="148869"/>
                  <a:pt x="158798" y="154077"/>
                  <a:pt x="152359" y="154077"/>
                </a:cubicBezTo>
                <a:lnTo>
                  <a:pt x="86338" y="154077"/>
                </a:lnTo>
                <a:cubicBezTo>
                  <a:pt x="79898" y="154077"/>
                  <a:pt x="74677" y="148855"/>
                  <a:pt x="74677" y="142431"/>
                </a:cubicBezTo>
                <a:cubicBezTo>
                  <a:pt x="74677" y="136007"/>
                  <a:pt x="79898" y="130770"/>
                  <a:pt x="86338" y="130770"/>
                </a:cubicBezTo>
                <a:close/>
                <a:moveTo>
                  <a:pt x="23579" y="68152"/>
                </a:moveTo>
                <a:lnTo>
                  <a:pt x="23579" y="264714"/>
                </a:lnTo>
                <a:lnTo>
                  <a:pt x="178233" y="264714"/>
                </a:lnTo>
                <a:cubicBezTo>
                  <a:pt x="196140" y="264714"/>
                  <a:pt x="210695" y="251569"/>
                  <a:pt x="210695" y="235427"/>
                </a:cubicBezTo>
                <a:lnTo>
                  <a:pt x="210695" y="73668"/>
                </a:lnTo>
                <a:lnTo>
                  <a:pt x="111811" y="73668"/>
                </a:lnTo>
                <a:lnTo>
                  <a:pt x="111811" y="73647"/>
                </a:lnTo>
                <a:lnTo>
                  <a:pt x="36824" y="73647"/>
                </a:lnTo>
                <a:close/>
                <a:moveTo>
                  <a:pt x="36824" y="23307"/>
                </a:moveTo>
                <a:cubicBezTo>
                  <a:pt x="29376" y="23307"/>
                  <a:pt x="23307" y="29360"/>
                  <a:pt x="23307" y="36824"/>
                </a:cubicBezTo>
                <a:lnTo>
                  <a:pt x="23561" y="37437"/>
                </a:lnTo>
                <a:lnTo>
                  <a:pt x="23579" y="37437"/>
                </a:lnTo>
                <a:lnTo>
                  <a:pt x="23579" y="37480"/>
                </a:lnTo>
                <a:lnTo>
                  <a:pt x="27266" y="46381"/>
                </a:lnTo>
                <a:cubicBezTo>
                  <a:pt x="29713" y="48827"/>
                  <a:pt x="33092" y="50340"/>
                  <a:pt x="36824" y="50340"/>
                </a:cubicBezTo>
                <a:lnTo>
                  <a:pt x="149550" y="50340"/>
                </a:lnTo>
                <a:lnTo>
                  <a:pt x="149550" y="23307"/>
                </a:lnTo>
                <a:close/>
                <a:moveTo>
                  <a:pt x="36824" y="0"/>
                </a:moveTo>
                <a:lnTo>
                  <a:pt x="153362" y="0"/>
                </a:lnTo>
                <a:cubicBezTo>
                  <a:pt x="164119" y="0"/>
                  <a:pt x="172872" y="8753"/>
                  <a:pt x="172872" y="19510"/>
                </a:cubicBezTo>
                <a:lnTo>
                  <a:pt x="172872" y="50345"/>
                </a:lnTo>
                <a:lnTo>
                  <a:pt x="213885" y="50345"/>
                </a:lnTo>
                <a:cubicBezTo>
                  <a:pt x="224967" y="50345"/>
                  <a:pt x="234002" y="59099"/>
                  <a:pt x="234002" y="69855"/>
                </a:cubicBezTo>
                <a:lnTo>
                  <a:pt x="234002" y="235427"/>
                </a:lnTo>
                <a:cubicBezTo>
                  <a:pt x="234002" y="264431"/>
                  <a:pt x="208973" y="288021"/>
                  <a:pt x="178233" y="288021"/>
                </a:cubicBezTo>
                <a:lnTo>
                  <a:pt x="20390" y="288021"/>
                </a:lnTo>
                <a:cubicBezTo>
                  <a:pt x="9308" y="288021"/>
                  <a:pt x="272" y="279268"/>
                  <a:pt x="272" y="268512"/>
                </a:cubicBezTo>
                <a:lnTo>
                  <a:pt x="272" y="37479"/>
                </a:lnTo>
                <a:lnTo>
                  <a:pt x="0" y="36824"/>
                </a:lnTo>
                <a:cubicBezTo>
                  <a:pt x="0" y="16513"/>
                  <a:pt x="16527" y="0"/>
                  <a:pt x="3682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38;p12">
            <a:extLst>
              <a:ext uri="{FF2B5EF4-FFF2-40B4-BE49-F238E27FC236}">
                <a16:creationId xmlns:a16="http://schemas.microsoft.com/office/drawing/2014/main" id="{9E1A6F57-0F77-40CA-923C-1A84465846EB}"/>
              </a:ext>
            </a:extLst>
          </p:cNvPr>
          <p:cNvSpPr/>
          <p:nvPr/>
        </p:nvSpPr>
        <p:spPr>
          <a:xfrm>
            <a:off x="7446308" y="3000857"/>
            <a:ext cx="200881" cy="243648"/>
          </a:xfrm>
          <a:custGeom>
            <a:avLst/>
            <a:gdLst/>
            <a:ahLst/>
            <a:cxnLst/>
            <a:rect l="l" t="t" r="r" b="b"/>
            <a:pathLst>
              <a:path w="237468" h="288023" extrusionOk="0">
                <a:moveTo>
                  <a:pt x="117928" y="131005"/>
                </a:moveTo>
                <a:cubicBezTo>
                  <a:pt x="124288" y="131005"/>
                  <a:pt x="129444" y="136163"/>
                  <a:pt x="129444" y="142520"/>
                </a:cubicBezTo>
                <a:lnTo>
                  <a:pt x="129444" y="160411"/>
                </a:lnTo>
                <a:lnTo>
                  <a:pt x="147465" y="160411"/>
                </a:lnTo>
                <a:cubicBezTo>
                  <a:pt x="153824" y="160411"/>
                  <a:pt x="158981" y="165569"/>
                  <a:pt x="158981" y="171926"/>
                </a:cubicBezTo>
                <a:cubicBezTo>
                  <a:pt x="158981" y="178284"/>
                  <a:pt x="153824" y="183442"/>
                  <a:pt x="147465" y="183442"/>
                </a:cubicBezTo>
                <a:lnTo>
                  <a:pt x="129444" y="183442"/>
                </a:lnTo>
                <a:lnTo>
                  <a:pt x="129444" y="201581"/>
                </a:lnTo>
                <a:cubicBezTo>
                  <a:pt x="129445" y="207938"/>
                  <a:pt x="124288" y="213096"/>
                  <a:pt x="117928" y="213096"/>
                </a:cubicBezTo>
                <a:cubicBezTo>
                  <a:pt x="111569" y="213096"/>
                  <a:pt x="106413" y="207938"/>
                  <a:pt x="106413" y="201581"/>
                </a:cubicBezTo>
                <a:lnTo>
                  <a:pt x="106413" y="183442"/>
                </a:lnTo>
                <a:lnTo>
                  <a:pt x="88406" y="183442"/>
                </a:lnTo>
                <a:cubicBezTo>
                  <a:pt x="82047" y="183442"/>
                  <a:pt x="76891" y="178284"/>
                  <a:pt x="76891" y="171926"/>
                </a:cubicBezTo>
                <a:cubicBezTo>
                  <a:pt x="76891" y="165569"/>
                  <a:pt x="82049" y="160411"/>
                  <a:pt x="88406" y="160411"/>
                </a:cubicBezTo>
                <a:lnTo>
                  <a:pt x="106413" y="160411"/>
                </a:lnTo>
                <a:lnTo>
                  <a:pt x="106413" y="142520"/>
                </a:lnTo>
                <a:cubicBezTo>
                  <a:pt x="106413" y="136161"/>
                  <a:pt x="111571" y="131005"/>
                  <a:pt x="117928" y="131005"/>
                </a:cubicBezTo>
                <a:close/>
                <a:moveTo>
                  <a:pt x="23017" y="82391"/>
                </a:moveTo>
                <a:lnTo>
                  <a:pt x="23017" y="264992"/>
                </a:lnTo>
                <a:lnTo>
                  <a:pt x="186496" y="264992"/>
                </a:lnTo>
                <a:cubicBezTo>
                  <a:pt x="201909" y="264992"/>
                  <a:pt x="214451" y="252449"/>
                  <a:pt x="214451" y="237037"/>
                </a:cubicBezTo>
                <a:lnTo>
                  <a:pt x="214451" y="82391"/>
                </a:lnTo>
                <a:close/>
                <a:moveTo>
                  <a:pt x="156180" y="25331"/>
                </a:moveTo>
                <a:lnTo>
                  <a:pt x="75776" y="59360"/>
                </a:lnTo>
                <a:lnTo>
                  <a:pt x="156180" y="59360"/>
                </a:lnTo>
                <a:close/>
                <a:moveTo>
                  <a:pt x="153542" y="1464"/>
                </a:moveTo>
                <a:cubicBezTo>
                  <a:pt x="159256" y="-953"/>
                  <a:pt x="165762" y="-352"/>
                  <a:pt x="170934" y="3076"/>
                </a:cubicBezTo>
                <a:cubicBezTo>
                  <a:pt x="176105" y="6503"/>
                  <a:pt x="179197" y="12262"/>
                  <a:pt x="179197" y="18459"/>
                </a:cubicBezTo>
                <a:lnTo>
                  <a:pt x="179197" y="59360"/>
                </a:lnTo>
                <a:lnTo>
                  <a:pt x="218393" y="59360"/>
                </a:lnTo>
                <a:cubicBezTo>
                  <a:pt x="228912" y="59360"/>
                  <a:pt x="237468" y="67916"/>
                  <a:pt x="237468" y="78436"/>
                </a:cubicBezTo>
                <a:lnTo>
                  <a:pt x="237468" y="237051"/>
                </a:lnTo>
                <a:cubicBezTo>
                  <a:pt x="237468" y="265152"/>
                  <a:pt x="214598" y="288023"/>
                  <a:pt x="186496" y="288023"/>
                </a:cubicBezTo>
                <a:lnTo>
                  <a:pt x="19076" y="288023"/>
                </a:lnTo>
                <a:cubicBezTo>
                  <a:pt x="8556" y="288023"/>
                  <a:pt x="0" y="279466"/>
                  <a:pt x="0" y="268947"/>
                </a:cubicBezTo>
                <a:lnTo>
                  <a:pt x="0" y="78436"/>
                </a:lnTo>
                <a:cubicBezTo>
                  <a:pt x="0" y="73176"/>
                  <a:pt x="2139" y="68407"/>
                  <a:pt x="5593" y="64953"/>
                </a:cubicBezTo>
                <a:lnTo>
                  <a:pt x="14935" y="61078"/>
                </a:lnTo>
                <a:lnTo>
                  <a:pt x="14589" y="602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126;p6">
            <a:extLst>
              <a:ext uri="{FF2B5EF4-FFF2-40B4-BE49-F238E27FC236}">
                <a16:creationId xmlns:a16="http://schemas.microsoft.com/office/drawing/2014/main" id="{769FC5DC-D3B4-4EF9-B68D-2BA815404611}"/>
              </a:ext>
            </a:extLst>
          </p:cNvPr>
          <p:cNvSpPr txBox="1"/>
          <p:nvPr/>
        </p:nvSpPr>
        <p:spPr>
          <a:xfrm>
            <a:off x="400488" y="1353419"/>
            <a:ext cx="227938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es-MX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Derivado de la regresión lineal, utilizado para clasificación binaria.</a:t>
            </a:r>
          </a:p>
        </p:txBody>
      </p:sp>
      <p:sp>
        <p:nvSpPr>
          <p:cNvPr id="56" name="Google Shape;126;p6">
            <a:extLst>
              <a:ext uri="{FF2B5EF4-FFF2-40B4-BE49-F238E27FC236}">
                <a16:creationId xmlns:a16="http://schemas.microsoft.com/office/drawing/2014/main" id="{160186B9-19D5-4AB8-9AEC-4C32696F0B46}"/>
              </a:ext>
            </a:extLst>
          </p:cNvPr>
          <p:cNvSpPr txBox="1"/>
          <p:nvPr/>
        </p:nvSpPr>
        <p:spPr>
          <a:xfrm>
            <a:off x="3380433" y="1353419"/>
            <a:ext cx="227938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es-MX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Predice la probabilidad de pertenecer a cada clase.</a:t>
            </a:r>
          </a:p>
        </p:txBody>
      </p:sp>
      <p:sp>
        <p:nvSpPr>
          <p:cNvPr id="57" name="Google Shape;126;p6">
            <a:extLst>
              <a:ext uri="{FF2B5EF4-FFF2-40B4-BE49-F238E27FC236}">
                <a16:creationId xmlns:a16="http://schemas.microsoft.com/office/drawing/2014/main" id="{CE7E32A2-F18C-49B7-AEF7-87DFEDD7CDB5}"/>
              </a:ext>
            </a:extLst>
          </p:cNvPr>
          <p:cNvSpPr txBox="1"/>
          <p:nvPr/>
        </p:nvSpPr>
        <p:spPr>
          <a:xfrm>
            <a:off x="6376442" y="1353419"/>
            <a:ext cx="227938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es-MX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Indican la influencia de cada variable en la probabilidad.</a:t>
            </a:r>
          </a:p>
        </p:txBody>
      </p:sp>
      <p:sp>
        <p:nvSpPr>
          <p:cNvPr id="58" name="Google Shape;126;p6">
            <a:extLst>
              <a:ext uri="{FF2B5EF4-FFF2-40B4-BE49-F238E27FC236}">
                <a16:creationId xmlns:a16="http://schemas.microsoft.com/office/drawing/2014/main" id="{87ECF2BB-8100-4E12-9CFD-483FB45314EE}"/>
              </a:ext>
            </a:extLst>
          </p:cNvPr>
          <p:cNvSpPr txBox="1"/>
          <p:nvPr/>
        </p:nvSpPr>
        <p:spPr>
          <a:xfrm>
            <a:off x="1787787" y="4036859"/>
            <a:ext cx="227938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es-MX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 la salida entre 0 y 1, interpreta como probabilidad.</a:t>
            </a:r>
          </a:p>
        </p:txBody>
      </p:sp>
      <p:sp>
        <p:nvSpPr>
          <p:cNvPr id="59" name="Google Shape;126;p6">
            <a:extLst>
              <a:ext uri="{FF2B5EF4-FFF2-40B4-BE49-F238E27FC236}">
                <a16:creationId xmlns:a16="http://schemas.microsoft.com/office/drawing/2014/main" id="{E1A720B3-CE6F-4788-986A-22986FBEE72E}"/>
              </a:ext>
            </a:extLst>
          </p:cNvPr>
          <p:cNvSpPr txBox="1"/>
          <p:nvPr/>
        </p:nvSpPr>
        <p:spPr>
          <a:xfrm>
            <a:off x="4931207" y="4002668"/>
            <a:ext cx="227938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es-MX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modelo se entrena minimizando la log-pérdida (log-</a:t>
            </a:r>
            <a:r>
              <a:rPr lang="es-MX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loss</a:t>
            </a:r>
            <a:r>
              <a:rPr lang="es-MX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1580660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 txBox="1"/>
          <p:nvPr/>
        </p:nvSpPr>
        <p:spPr>
          <a:xfrm>
            <a:off x="506796" y="918372"/>
            <a:ext cx="356037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" lvl="0"/>
            <a:r>
              <a:rPr lang="es-419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ÁRBOLES DE DECISIÓN</a:t>
            </a:r>
          </a:p>
        </p:txBody>
      </p:sp>
      <p:sp>
        <p:nvSpPr>
          <p:cNvPr id="5" name="Google Shape;77;p5">
            <a:extLst>
              <a:ext uri="{FF2B5EF4-FFF2-40B4-BE49-F238E27FC236}">
                <a16:creationId xmlns:a16="http://schemas.microsoft.com/office/drawing/2014/main" id="{EB9FFE35-1057-41DD-B633-2602FC2CF698}"/>
              </a:ext>
            </a:extLst>
          </p:cNvPr>
          <p:cNvSpPr/>
          <p:nvPr/>
        </p:nvSpPr>
        <p:spPr>
          <a:xfrm>
            <a:off x="503237" y="380615"/>
            <a:ext cx="642749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PRINCIPIOS Y CARACTERÍSTICAS DE LOS MODELOS BÁSICOS (REGRESIÓN LINEAL, ÁRBOLES DE DECISIÓN, ENTRE OTROS)</a:t>
            </a: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CF76B191-3CC2-4D53-8F02-7092324E2125}"/>
              </a:ext>
            </a:extLst>
          </p:cNvPr>
          <p:cNvGrpSpPr/>
          <p:nvPr/>
        </p:nvGrpSpPr>
        <p:grpSpPr>
          <a:xfrm>
            <a:off x="1342032" y="1285751"/>
            <a:ext cx="6459937" cy="3348594"/>
            <a:chOff x="976707" y="1285751"/>
            <a:chExt cx="6459937" cy="3348594"/>
          </a:xfrm>
        </p:grpSpPr>
        <p:sp>
          <p:nvSpPr>
            <p:cNvPr id="30" name="Rectángulo redondeado 3">
              <a:extLst>
                <a:ext uri="{FF2B5EF4-FFF2-40B4-BE49-F238E27FC236}">
                  <a16:creationId xmlns:a16="http://schemas.microsoft.com/office/drawing/2014/main" id="{BE4DDF7F-7627-418B-84C4-9AF9F09BFAA5}"/>
                </a:ext>
              </a:extLst>
            </p:cNvPr>
            <p:cNvSpPr/>
            <p:nvPr/>
          </p:nvSpPr>
          <p:spPr>
            <a:xfrm>
              <a:off x="976707" y="1285751"/>
              <a:ext cx="3176196" cy="3348594"/>
            </a:xfrm>
            <a:prstGeom prst="roundRect">
              <a:avLst>
                <a:gd name="adj" fmla="val 4231"/>
              </a:avLst>
            </a:prstGeom>
            <a:solidFill>
              <a:srgbClr val="FCC7C4">
                <a:alpha val="80000"/>
              </a:srgb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36000" rtlCol="0" anchor="t"/>
            <a:lstStyle/>
            <a:p>
              <a:pPr>
                <a:spcAft>
                  <a:spcPts val="1200"/>
                </a:spcAft>
                <a:buClr>
                  <a:schemeClr val="accent2"/>
                </a:buClr>
              </a:pPr>
              <a:r>
                <a:rPr lang="es-MX" sz="1500" b="1" dirty="0">
                  <a:solidFill>
                    <a:srgbClr val="ED4637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PARTICIÓN DE DATOS</a:t>
              </a:r>
            </a:p>
            <a:p>
              <a:pPr marL="180975" indent="-174625" defTabSz="663575">
                <a:spcAft>
                  <a:spcPts val="600"/>
                </a:spcAft>
                <a:buClr>
                  <a:srgbClr val="ED4637"/>
                </a:buClr>
                <a:buFont typeface="Arial" panose="020B0604020202020204" pitchFamily="34" charset="0"/>
                <a:buChar char="•"/>
                <a:tabLst>
                  <a:tab pos="3228975" algn="l"/>
                </a:tabLst>
              </a:pPr>
              <a:r>
                <a:rPr lang="es-MX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Modelos no paramétricos que particionan los datos mediante preguntas binarias.</a:t>
              </a:r>
            </a:p>
            <a:p>
              <a:pPr marL="180975" indent="-174625" defTabSz="663575">
                <a:spcAft>
                  <a:spcPts val="600"/>
                </a:spcAft>
                <a:buClr>
                  <a:srgbClr val="ED4637"/>
                </a:buClr>
                <a:buFont typeface="Arial" panose="020B0604020202020204" pitchFamily="34" charset="0"/>
                <a:buChar char="•"/>
                <a:tabLst>
                  <a:tab pos="3228975" algn="l"/>
                </a:tabLst>
              </a:pPr>
              <a:endParaRPr lang="es-MX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180975" indent="-174625" defTabSz="663575">
                <a:spcAft>
                  <a:spcPts val="600"/>
                </a:spcAft>
                <a:buClr>
                  <a:srgbClr val="ED4637"/>
                </a:buClr>
                <a:buFont typeface="Arial" panose="020B0604020202020204" pitchFamily="34" charset="0"/>
                <a:buChar char="•"/>
                <a:tabLst>
                  <a:tab pos="3228975" algn="l"/>
                </a:tabLst>
              </a:pPr>
              <a:r>
                <a:rPr lang="es-MX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Cada nodo evalúa una condición (por ejemplo, “¿valor mayor que X?”) y se ramifica hasta llegar a una hoja donde se obtiene la predicción.</a:t>
              </a:r>
            </a:p>
          </p:txBody>
        </p:sp>
        <p:sp>
          <p:nvSpPr>
            <p:cNvPr id="32" name="Rectángulo redondeado 11">
              <a:extLst>
                <a:ext uri="{FF2B5EF4-FFF2-40B4-BE49-F238E27FC236}">
                  <a16:creationId xmlns:a16="http://schemas.microsoft.com/office/drawing/2014/main" id="{926826A0-E6EA-4E30-BC23-888498AABF9E}"/>
                </a:ext>
              </a:extLst>
            </p:cNvPr>
            <p:cNvSpPr/>
            <p:nvPr/>
          </p:nvSpPr>
          <p:spPr>
            <a:xfrm>
              <a:off x="4260448" y="1285751"/>
              <a:ext cx="3176196" cy="3348594"/>
            </a:xfrm>
            <a:prstGeom prst="roundRect">
              <a:avLst>
                <a:gd name="adj" fmla="val 4231"/>
              </a:avLst>
            </a:prstGeom>
            <a:solidFill>
              <a:srgbClr val="D1EFF4"/>
            </a:solidFill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36000" rtlCol="0" anchor="t"/>
            <a:lstStyle/>
            <a:p>
              <a:pPr>
                <a:spcAft>
                  <a:spcPts val="1200"/>
                </a:spcAft>
                <a:buClr>
                  <a:schemeClr val="accent5"/>
                </a:buClr>
              </a:pPr>
              <a:r>
                <a:rPr lang="es-MX" sz="1500" b="1" dirty="0">
                  <a:solidFill>
                    <a:schemeClr val="accent5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FLEXIBILIDAD Y REGLAS</a:t>
              </a:r>
            </a:p>
            <a:p>
              <a:pPr marL="180975" indent="-174625" defTabSz="663575">
                <a:spcAft>
                  <a:spcPts val="600"/>
                </a:spcAft>
                <a:buClr>
                  <a:schemeClr val="accent5"/>
                </a:buClr>
                <a:buFont typeface="Arial" panose="020B0604020202020204" pitchFamily="34" charset="0"/>
                <a:buChar char="•"/>
                <a:tabLst>
                  <a:tab pos="3228975" algn="l"/>
                </a:tabLst>
              </a:pPr>
              <a:r>
                <a:rPr lang="es-MX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Pueden manejar variables categóricas y numéricas.</a:t>
              </a:r>
            </a:p>
            <a:p>
              <a:pPr marL="180975" indent="-174625" defTabSz="663575">
                <a:spcAft>
                  <a:spcPts val="600"/>
                </a:spcAft>
                <a:buClr>
                  <a:schemeClr val="accent5"/>
                </a:buClr>
                <a:buFont typeface="Arial" panose="020B0604020202020204" pitchFamily="34" charset="0"/>
                <a:buChar char="•"/>
                <a:tabLst>
                  <a:tab pos="3228975" algn="l"/>
                </a:tabLst>
              </a:pPr>
              <a:endParaRPr lang="es-MX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180975" indent="-174625" defTabSz="663575">
                <a:spcAft>
                  <a:spcPts val="600"/>
                </a:spcAft>
                <a:buClr>
                  <a:schemeClr val="accent5"/>
                </a:buClr>
                <a:buFont typeface="Arial" panose="020B0604020202020204" pitchFamily="34" charset="0"/>
                <a:buChar char="•"/>
                <a:tabLst>
                  <a:tab pos="3228975" algn="l"/>
                </a:tabLst>
              </a:pPr>
              <a:r>
                <a:rPr lang="es-MX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Cada camino raíz-hoja equivale a una regla “si-entonces”.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3039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 txBox="1"/>
          <p:nvPr/>
        </p:nvSpPr>
        <p:spPr>
          <a:xfrm>
            <a:off x="506796" y="918372"/>
            <a:ext cx="356037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" lvl="0"/>
            <a:r>
              <a:rPr lang="es-419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REDES NEURONALES</a:t>
            </a:r>
          </a:p>
        </p:txBody>
      </p:sp>
      <p:sp>
        <p:nvSpPr>
          <p:cNvPr id="5" name="Google Shape;77;p5">
            <a:extLst>
              <a:ext uri="{FF2B5EF4-FFF2-40B4-BE49-F238E27FC236}">
                <a16:creationId xmlns:a16="http://schemas.microsoft.com/office/drawing/2014/main" id="{EB9FFE35-1057-41DD-B633-2602FC2CF698}"/>
              </a:ext>
            </a:extLst>
          </p:cNvPr>
          <p:cNvSpPr/>
          <p:nvPr/>
        </p:nvSpPr>
        <p:spPr>
          <a:xfrm>
            <a:off x="503237" y="380615"/>
            <a:ext cx="642749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PRINCIPIOS Y CARACTERÍSTICAS DE LOS MODELOS BÁSICOS (REGRESIÓN LINEAL, ÁRBOLES DE DECISIÓN, ENTRE OTROS)</a:t>
            </a:r>
          </a:p>
        </p:txBody>
      </p:sp>
      <p:sp>
        <p:nvSpPr>
          <p:cNvPr id="7" name="Google Shape;272;p14">
            <a:extLst>
              <a:ext uri="{FF2B5EF4-FFF2-40B4-BE49-F238E27FC236}">
                <a16:creationId xmlns:a16="http://schemas.microsoft.com/office/drawing/2014/main" id="{748CCEC8-66B6-40A5-87CF-84734CA08382}"/>
              </a:ext>
            </a:extLst>
          </p:cNvPr>
          <p:cNvSpPr/>
          <p:nvPr/>
        </p:nvSpPr>
        <p:spPr>
          <a:xfrm rot="10800000" flipH="1">
            <a:off x="2192485" y="3455592"/>
            <a:ext cx="2977094" cy="1638870"/>
          </a:xfrm>
          <a:prstGeom prst="rect">
            <a:avLst/>
          </a:prstGeom>
          <a:solidFill>
            <a:schemeClr val="lt1">
              <a:alpha val="0"/>
            </a:schemeClr>
          </a:solidFill>
          <a:ln w="12700" cap="flat" cmpd="sng">
            <a:solidFill>
              <a:srgbClr val="D5A3E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endParaRPr sz="16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73;p14">
            <a:extLst>
              <a:ext uri="{FF2B5EF4-FFF2-40B4-BE49-F238E27FC236}">
                <a16:creationId xmlns:a16="http://schemas.microsoft.com/office/drawing/2014/main" id="{30F12243-3128-45CF-9DD0-820A8FA558EE}"/>
              </a:ext>
            </a:extLst>
          </p:cNvPr>
          <p:cNvSpPr/>
          <p:nvPr/>
        </p:nvSpPr>
        <p:spPr>
          <a:xfrm>
            <a:off x="393404" y="1340989"/>
            <a:ext cx="2977094" cy="1638870"/>
          </a:xfrm>
          <a:prstGeom prst="rect">
            <a:avLst/>
          </a:prstGeom>
          <a:solidFill>
            <a:schemeClr val="lt1">
              <a:alpha val="0"/>
            </a:schemeClr>
          </a:solidFill>
          <a:ln w="12700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endParaRPr sz="16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Google Shape;274;p14">
            <a:extLst>
              <a:ext uri="{FF2B5EF4-FFF2-40B4-BE49-F238E27FC236}">
                <a16:creationId xmlns:a16="http://schemas.microsoft.com/office/drawing/2014/main" id="{FD8721D3-1950-4F03-B4B5-2CF700057A58}"/>
              </a:ext>
            </a:extLst>
          </p:cNvPr>
          <p:cNvCxnSpPr/>
          <p:nvPr/>
        </p:nvCxnSpPr>
        <p:spPr>
          <a:xfrm rot="10800000">
            <a:off x="1881947" y="2977757"/>
            <a:ext cx="1" cy="243012"/>
          </a:xfrm>
          <a:prstGeom prst="straightConnector1">
            <a:avLst/>
          </a:prstGeom>
          <a:noFill/>
          <a:ln w="12700" cap="flat" cmpd="sng">
            <a:solidFill>
              <a:srgbClr val="2F549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" name="Google Shape;276;p14">
            <a:extLst>
              <a:ext uri="{FF2B5EF4-FFF2-40B4-BE49-F238E27FC236}">
                <a16:creationId xmlns:a16="http://schemas.microsoft.com/office/drawing/2014/main" id="{7AD69296-8EEE-4A80-AD9A-E5FDF0ECD039}"/>
              </a:ext>
            </a:extLst>
          </p:cNvPr>
          <p:cNvSpPr/>
          <p:nvPr/>
        </p:nvSpPr>
        <p:spPr>
          <a:xfrm>
            <a:off x="705093" y="1343617"/>
            <a:ext cx="2361592" cy="440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s-419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INSPIRACIÓN BIOLÓGICA</a:t>
            </a:r>
          </a:p>
        </p:txBody>
      </p:sp>
      <p:cxnSp>
        <p:nvCxnSpPr>
          <p:cNvPr id="12" name="Google Shape;277;p14">
            <a:extLst>
              <a:ext uri="{FF2B5EF4-FFF2-40B4-BE49-F238E27FC236}">
                <a16:creationId xmlns:a16="http://schemas.microsoft.com/office/drawing/2014/main" id="{641D278A-C605-48EE-9103-8A624B9F0D79}"/>
              </a:ext>
            </a:extLst>
          </p:cNvPr>
          <p:cNvCxnSpPr/>
          <p:nvPr/>
        </p:nvCxnSpPr>
        <p:spPr>
          <a:xfrm flipH="1">
            <a:off x="3684184" y="3203822"/>
            <a:ext cx="1" cy="243012"/>
          </a:xfrm>
          <a:prstGeom prst="straightConnector1">
            <a:avLst/>
          </a:prstGeom>
          <a:noFill/>
          <a:ln w="12700" cap="flat" cmpd="sng">
            <a:solidFill>
              <a:srgbClr val="D5A3E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" name="Google Shape;279;p14">
            <a:extLst>
              <a:ext uri="{FF2B5EF4-FFF2-40B4-BE49-F238E27FC236}">
                <a16:creationId xmlns:a16="http://schemas.microsoft.com/office/drawing/2014/main" id="{7CDA2F49-8164-43F4-B61C-E0611CD445E5}"/>
              </a:ext>
            </a:extLst>
          </p:cNvPr>
          <p:cNvSpPr/>
          <p:nvPr/>
        </p:nvSpPr>
        <p:spPr>
          <a:xfrm>
            <a:off x="2499971" y="3501321"/>
            <a:ext cx="2361592" cy="440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5"/>
              <a:buFont typeface="Arial"/>
              <a:buNone/>
            </a:pPr>
            <a:r>
              <a:rPr lang="es-419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Y FUNCIONAMIENTO</a:t>
            </a:r>
          </a:p>
        </p:txBody>
      </p:sp>
      <p:cxnSp>
        <p:nvCxnSpPr>
          <p:cNvPr id="15" name="Google Shape;280;p14">
            <a:extLst>
              <a:ext uri="{FF2B5EF4-FFF2-40B4-BE49-F238E27FC236}">
                <a16:creationId xmlns:a16="http://schemas.microsoft.com/office/drawing/2014/main" id="{1114E84D-E51E-4899-B40A-BC742E3DFED5}"/>
              </a:ext>
            </a:extLst>
          </p:cNvPr>
          <p:cNvCxnSpPr/>
          <p:nvPr/>
        </p:nvCxnSpPr>
        <p:spPr>
          <a:xfrm>
            <a:off x="74597" y="3210714"/>
            <a:ext cx="8939611" cy="0"/>
          </a:xfrm>
          <a:prstGeom prst="straightConnector1">
            <a:avLst/>
          </a:prstGeom>
          <a:noFill/>
          <a:ln w="25400" cap="flat" cmpd="sng">
            <a:solidFill>
              <a:srgbClr val="9CC2E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" name="Google Shape;281;p14">
            <a:extLst>
              <a:ext uri="{FF2B5EF4-FFF2-40B4-BE49-F238E27FC236}">
                <a16:creationId xmlns:a16="http://schemas.microsoft.com/office/drawing/2014/main" id="{E42D6D19-9AC5-414B-B754-136A7A050ED6}"/>
              </a:ext>
            </a:extLst>
          </p:cNvPr>
          <p:cNvSpPr/>
          <p:nvPr/>
        </p:nvSpPr>
        <p:spPr>
          <a:xfrm rot="10800000" flipH="1">
            <a:off x="5773508" y="3452439"/>
            <a:ext cx="2977094" cy="1638870"/>
          </a:xfrm>
          <a:prstGeom prst="rect">
            <a:avLst/>
          </a:prstGeom>
          <a:solidFill>
            <a:schemeClr val="lt1">
              <a:alpha val="0"/>
            </a:schemeClr>
          </a:solidFill>
          <a:ln w="12700" cap="flat" cmpd="sng">
            <a:solidFill>
              <a:srgbClr val="5481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endParaRPr sz="16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282;p14">
            <a:extLst>
              <a:ext uri="{FF2B5EF4-FFF2-40B4-BE49-F238E27FC236}">
                <a16:creationId xmlns:a16="http://schemas.microsoft.com/office/drawing/2014/main" id="{AFC0D4E6-0AED-4514-BC91-9ABEE0F296B1}"/>
              </a:ext>
            </a:extLst>
          </p:cNvPr>
          <p:cNvSpPr/>
          <p:nvPr/>
        </p:nvSpPr>
        <p:spPr>
          <a:xfrm>
            <a:off x="3974424" y="1340989"/>
            <a:ext cx="2977094" cy="1638870"/>
          </a:xfrm>
          <a:prstGeom prst="rect">
            <a:avLst/>
          </a:prstGeom>
          <a:solidFill>
            <a:schemeClr val="lt1">
              <a:alpha val="0"/>
            </a:schemeClr>
          </a:solidFill>
          <a:ln w="127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endParaRPr sz="16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Google Shape;283;p14">
            <a:extLst>
              <a:ext uri="{FF2B5EF4-FFF2-40B4-BE49-F238E27FC236}">
                <a16:creationId xmlns:a16="http://schemas.microsoft.com/office/drawing/2014/main" id="{44B3E7F2-4F2E-4F18-8FA9-AD0CE70C99F9}"/>
              </a:ext>
            </a:extLst>
          </p:cNvPr>
          <p:cNvCxnSpPr/>
          <p:nvPr/>
        </p:nvCxnSpPr>
        <p:spPr>
          <a:xfrm rot="10800000">
            <a:off x="5462969" y="2979859"/>
            <a:ext cx="3680" cy="252296"/>
          </a:xfrm>
          <a:prstGeom prst="straightConnector1">
            <a:avLst/>
          </a:prstGeom>
          <a:noFill/>
          <a:ln w="127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" name="Google Shape;285;p14">
            <a:extLst>
              <a:ext uri="{FF2B5EF4-FFF2-40B4-BE49-F238E27FC236}">
                <a16:creationId xmlns:a16="http://schemas.microsoft.com/office/drawing/2014/main" id="{BC8C7DD1-8226-40FE-8E21-03EC83AD5E36}"/>
              </a:ext>
            </a:extLst>
          </p:cNvPr>
          <p:cNvSpPr/>
          <p:nvPr/>
        </p:nvSpPr>
        <p:spPr>
          <a:xfrm>
            <a:off x="4282435" y="1343617"/>
            <a:ext cx="2361592" cy="440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s-419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CAPACIDAD DE MODELADO</a:t>
            </a:r>
          </a:p>
        </p:txBody>
      </p:sp>
      <p:cxnSp>
        <p:nvCxnSpPr>
          <p:cNvPr id="21" name="Google Shape;286;p14">
            <a:extLst>
              <a:ext uri="{FF2B5EF4-FFF2-40B4-BE49-F238E27FC236}">
                <a16:creationId xmlns:a16="http://schemas.microsoft.com/office/drawing/2014/main" id="{A0C95374-DD24-40FA-A858-7B00B9DAA785}"/>
              </a:ext>
            </a:extLst>
          </p:cNvPr>
          <p:cNvCxnSpPr/>
          <p:nvPr/>
        </p:nvCxnSpPr>
        <p:spPr>
          <a:xfrm flipH="1">
            <a:off x="7262052" y="3204349"/>
            <a:ext cx="1" cy="243012"/>
          </a:xfrm>
          <a:prstGeom prst="straightConnector1">
            <a:avLst/>
          </a:prstGeom>
          <a:noFill/>
          <a:ln w="127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" name="Google Shape;288;p14">
            <a:extLst>
              <a:ext uri="{FF2B5EF4-FFF2-40B4-BE49-F238E27FC236}">
                <a16:creationId xmlns:a16="http://schemas.microsoft.com/office/drawing/2014/main" id="{1685E74B-186F-43E2-A507-A22E3D073DC7}"/>
              </a:ext>
            </a:extLst>
          </p:cNvPr>
          <p:cNvSpPr/>
          <p:nvPr/>
        </p:nvSpPr>
        <p:spPr>
          <a:xfrm>
            <a:off x="6084672" y="3450862"/>
            <a:ext cx="2361593" cy="440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s-419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ENTRENAMIENTO</a:t>
            </a:r>
          </a:p>
        </p:txBody>
      </p:sp>
      <p:sp>
        <p:nvSpPr>
          <p:cNvPr id="24" name="Google Shape;126;p6">
            <a:extLst>
              <a:ext uri="{FF2B5EF4-FFF2-40B4-BE49-F238E27FC236}">
                <a16:creationId xmlns:a16="http://schemas.microsoft.com/office/drawing/2014/main" id="{DD50FCF9-BE1C-413B-A94A-F2056E01ADCE}"/>
              </a:ext>
            </a:extLst>
          </p:cNvPr>
          <p:cNvSpPr txBox="1"/>
          <p:nvPr/>
        </p:nvSpPr>
        <p:spPr>
          <a:xfrm>
            <a:off x="827301" y="1778141"/>
            <a:ext cx="2279388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es-MX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Inspiradas en el cerebro, consisten en capas de neuronas artificiales conectadas.</a:t>
            </a:r>
          </a:p>
        </p:txBody>
      </p:sp>
      <p:sp>
        <p:nvSpPr>
          <p:cNvPr id="25" name="Google Shape;126;p6">
            <a:extLst>
              <a:ext uri="{FF2B5EF4-FFF2-40B4-BE49-F238E27FC236}">
                <a16:creationId xmlns:a16="http://schemas.microsoft.com/office/drawing/2014/main" id="{D9CB769D-CF21-4EB4-B42B-F5A3D4A7AD90}"/>
              </a:ext>
            </a:extLst>
          </p:cNvPr>
          <p:cNvSpPr txBox="1"/>
          <p:nvPr/>
        </p:nvSpPr>
        <p:spPr>
          <a:xfrm>
            <a:off x="4069666" y="1843382"/>
            <a:ext cx="2786605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es-MX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Capaces de modelar relaciones muy complejas y no lineales; alta precisión en tareas difíciles (visión, lenguaje).</a:t>
            </a:r>
          </a:p>
        </p:txBody>
      </p:sp>
      <p:sp>
        <p:nvSpPr>
          <p:cNvPr id="26" name="Google Shape;126;p6">
            <a:extLst>
              <a:ext uri="{FF2B5EF4-FFF2-40B4-BE49-F238E27FC236}">
                <a16:creationId xmlns:a16="http://schemas.microsoft.com/office/drawing/2014/main" id="{0E08A80B-5F2E-403E-8DD5-FD0923C740AD}"/>
              </a:ext>
            </a:extLst>
          </p:cNvPr>
          <p:cNvSpPr txBox="1"/>
          <p:nvPr/>
        </p:nvSpPr>
        <p:spPr>
          <a:xfrm>
            <a:off x="2456841" y="3959162"/>
            <a:ext cx="2786605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es-MX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neurona suma entradas ponderadas y aplica una función de activación (sigmoide, </a:t>
            </a:r>
            <a:r>
              <a:rPr lang="es-MX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ReLU</a:t>
            </a:r>
            <a:r>
              <a:rPr lang="es-MX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</a:p>
        </p:txBody>
      </p:sp>
      <p:sp>
        <p:nvSpPr>
          <p:cNvPr id="27" name="Google Shape;126;p6">
            <a:extLst>
              <a:ext uri="{FF2B5EF4-FFF2-40B4-BE49-F238E27FC236}">
                <a16:creationId xmlns:a16="http://schemas.microsoft.com/office/drawing/2014/main" id="{B6E71099-43F8-40E6-A3F8-8A79D588E2D6}"/>
              </a:ext>
            </a:extLst>
          </p:cNvPr>
          <p:cNvSpPr txBox="1"/>
          <p:nvPr/>
        </p:nvSpPr>
        <p:spPr>
          <a:xfrm>
            <a:off x="6084672" y="3941788"/>
            <a:ext cx="2786605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es-MX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entrenan ajustando pesos (descenso por gradiente); requieren muchos datos y cómputo.</a:t>
            </a:r>
          </a:p>
        </p:txBody>
      </p:sp>
    </p:spTree>
    <p:extLst>
      <p:ext uri="{BB962C8B-B14F-4D97-AF65-F5344CB8AC3E}">
        <p14:creationId xmlns:p14="http://schemas.microsoft.com/office/powerpoint/2010/main" val="3435606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 txBox="1"/>
          <p:nvPr/>
        </p:nvSpPr>
        <p:spPr>
          <a:xfrm>
            <a:off x="506796" y="918372"/>
            <a:ext cx="356037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" lvl="0"/>
            <a:r>
              <a:rPr lang="es-419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OTROS MODELOS BÁSICOS</a:t>
            </a:r>
          </a:p>
        </p:txBody>
      </p:sp>
      <p:sp>
        <p:nvSpPr>
          <p:cNvPr id="5" name="Google Shape;77;p5">
            <a:extLst>
              <a:ext uri="{FF2B5EF4-FFF2-40B4-BE49-F238E27FC236}">
                <a16:creationId xmlns:a16="http://schemas.microsoft.com/office/drawing/2014/main" id="{EB9FFE35-1057-41DD-B633-2602FC2CF698}"/>
              </a:ext>
            </a:extLst>
          </p:cNvPr>
          <p:cNvSpPr/>
          <p:nvPr/>
        </p:nvSpPr>
        <p:spPr>
          <a:xfrm>
            <a:off x="503237" y="380615"/>
            <a:ext cx="642749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PRINCIPIOS Y CARACTERÍSTICAS DE LOS MODELOS BÁSICOS (REGRESIÓN LINEAL, ÁRBOLES DE DECISIÓN, ENTRE OTROS)</a:t>
            </a:r>
          </a:p>
        </p:txBody>
      </p:sp>
      <p:sp>
        <p:nvSpPr>
          <p:cNvPr id="22" name="Google Shape;295;p15">
            <a:extLst>
              <a:ext uri="{FF2B5EF4-FFF2-40B4-BE49-F238E27FC236}">
                <a16:creationId xmlns:a16="http://schemas.microsoft.com/office/drawing/2014/main" id="{371B6EAC-2020-4702-9EF0-BCF09F1717C4}"/>
              </a:ext>
            </a:extLst>
          </p:cNvPr>
          <p:cNvSpPr/>
          <p:nvPr/>
        </p:nvSpPr>
        <p:spPr>
          <a:xfrm>
            <a:off x="4922334" y="3297421"/>
            <a:ext cx="4054391" cy="1437673"/>
          </a:xfrm>
          <a:prstGeom prst="roundRect">
            <a:avLst>
              <a:gd name="adj" fmla="val 6347"/>
            </a:avLst>
          </a:prstGeom>
          <a:gradFill>
            <a:gsLst>
              <a:gs pos="0">
                <a:srgbClr val="FFF2CC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15875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79400" dist="228600" dir="2700000" algn="tl" rotWithShape="0">
              <a:schemeClr val="accent4">
                <a:alpha val="7843"/>
              </a:schemeClr>
            </a:outerShdw>
          </a:effectLst>
        </p:spPr>
        <p:txBody>
          <a:bodyPr spcFirstLastPara="1" wrap="square" lIns="294550" tIns="462200" rIns="294550" bIns="114525" anchor="ctr" anchorCtr="0">
            <a:no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es-MX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Combinan varios modelos (</a:t>
            </a:r>
            <a:r>
              <a:rPr lang="es-MX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</a:t>
            </a:r>
            <a:r>
              <a:rPr lang="es-MX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forest</a:t>
            </a:r>
            <a:r>
              <a:rPr lang="es-MX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-MX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boosting</a:t>
            </a:r>
            <a:r>
              <a:rPr lang="es-MX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para mejorar precisión. Sacrifica interpretabilidad.</a:t>
            </a:r>
          </a:p>
        </p:txBody>
      </p:sp>
      <p:sp>
        <p:nvSpPr>
          <p:cNvPr id="28" name="Google Shape;296;p15">
            <a:extLst>
              <a:ext uri="{FF2B5EF4-FFF2-40B4-BE49-F238E27FC236}">
                <a16:creationId xmlns:a16="http://schemas.microsoft.com/office/drawing/2014/main" id="{2C7BA935-CEA8-49CB-A976-9554454D2E16}"/>
              </a:ext>
            </a:extLst>
          </p:cNvPr>
          <p:cNvSpPr/>
          <p:nvPr/>
        </p:nvSpPr>
        <p:spPr>
          <a:xfrm>
            <a:off x="5410748" y="3201565"/>
            <a:ext cx="3078520" cy="391315"/>
          </a:xfrm>
          <a:custGeom>
            <a:avLst/>
            <a:gdLst/>
            <a:ahLst/>
            <a:cxnLst/>
            <a:rect l="l" t="t" r="r" b="b"/>
            <a:pathLst>
              <a:path w="2523509" h="489935" extrusionOk="0">
                <a:moveTo>
                  <a:pt x="1" y="0"/>
                </a:moveTo>
                <a:lnTo>
                  <a:pt x="2523508" y="0"/>
                </a:lnTo>
                <a:lnTo>
                  <a:pt x="2523508" y="193313"/>
                </a:lnTo>
                <a:lnTo>
                  <a:pt x="2523508" y="240238"/>
                </a:lnTo>
                <a:lnTo>
                  <a:pt x="2523509" y="240238"/>
                </a:lnTo>
                <a:lnTo>
                  <a:pt x="2523508" y="240243"/>
                </a:lnTo>
                <a:lnTo>
                  <a:pt x="2523508" y="249696"/>
                </a:lnTo>
                <a:lnTo>
                  <a:pt x="2523508" y="324846"/>
                </a:lnTo>
                <a:cubicBezTo>
                  <a:pt x="2523508" y="416022"/>
                  <a:pt x="2449595" y="489935"/>
                  <a:pt x="2358419" y="489935"/>
                </a:cubicBezTo>
                <a:lnTo>
                  <a:pt x="2273812" y="489935"/>
                </a:lnTo>
                <a:lnTo>
                  <a:pt x="249699" y="489935"/>
                </a:lnTo>
                <a:lnTo>
                  <a:pt x="165089" y="489935"/>
                </a:lnTo>
                <a:cubicBezTo>
                  <a:pt x="73913" y="489935"/>
                  <a:pt x="0" y="416022"/>
                  <a:pt x="0" y="324846"/>
                </a:cubicBezTo>
                <a:lnTo>
                  <a:pt x="0" y="193313"/>
                </a:lnTo>
                <a:lnTo>
                  <a:pt x="1" y="193308"/>
                </a:lnTo>
                <a:close/>
              </a:path>
            </a:pathLst>
          </a:custGeom>
          <a:solidFill>
            <a:srgbClr val="F4B081"/>
          </a:solidFill>
          <a:ln>
            <a:noFill/>
          </a:ln>
          <a:effectLst>
            <a:outerShdw blurRad="101600" dist="76200" dir="2700000" algn="tl" rotWithShape="0">
              <a:schemeClr val="accent4">
                <a:alpha val="25098"/>
              </a:scheme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0"/>
              <a:buFont typeface="Arial"/>
              <a:buNone/>
            </a:pPr>
            <a:r>
              <a:rPr lang="es-419" sz="1600" b="1" i="0" u="none" strike="noStrike" cap="none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ENSAMBLES</a:t>
            </a:r>
          </a:p>
        </p:txBody>
      </p:sp>
      <p:sp>
        <p:nvSpPr>
          <p:cNvPr id="29" name="Google Shape;297;p15">
            <a:extLst>
              <a:ext uri="{FF2B5EF4-FFF2-40B4-BE49-F238E27FC236}">
                <a16:creationId xmlns:a16="http://schemas.microsoft.com/office/drawing/2014/main" id="{5F16CB28-AEC7-421B-9F32-BBD8CB6A138A}"/>
              </a:ext>
            </a:extLst>
          </p:cNvPr>
          <p:cNvSpPr/>
          <p:nvPr/>
        </p:nvSpPr>
        <p:spPr>
          <a:xfrm>
            <a:off x="5275838" y="3201565"/>
            <a:ext cx="134631" cy="95940"/>
          </a:xfrm>
          <a:prstGeom prst="triangle">
            <a:avLst>
              <a:gd name="adj" fmla="val 100000"/>
            </a:avLst>
          </a:prstGeom>
          <a:solidFill>
            <a:srgbClr val="F7CA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30" name="Google Shape;298;p15">
            <a:extLst>
              <a:ext uri="{FF2B5EF4-FFF2-40B4-BE49-F238E27FC236}">
                <a16:creationId xmlns:a16="http://schemas.microsoft.com/office/drawing/2014/main" id="{83ED6698-B6E8-4E36-8401-29373B60D7AE}"/>
              </a:ext>
            </a:extLst>
          </p:cNvPr>
          <p:cNvSpPr/>
          <p:nvPr/>
        </p:nvSpPr>
        <p:spPr>
          <a:xfrm flipH="1">
            <a:off x="8488818" y="3201565"/>
            <a:ext cx="134631" cy="95940"/>
          </a:xfrm>
          <a:prstGeom prst="triangle">
            <a:avLst>
              <a:gd name="adj" fmla="val 100000"/>
            </a:avLst>
          </a:prstGeom>
          <a:solidFill>
            <a:srgbClr val="F7CA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31" name="Google Shape;299;p15">
            <a:extLst>
              <a:ext uri="{FF2B5EF4-FFF2-40B4-BE49-F238E27FC236}">
                <a16:creationId xmlns:a16="http://schemas.microsoft.com/office/drawing/2014/main" id="{F0004945-E169-4063-AC3B-8BDEA6A1E5AC}"/>
              </a:ext>
            </a:extLst>
          </p:cNvPr>
          <p:cNvSpPr/>
          <p:nvPr/>
        </p:nvSpPr>
        <p:spPr>
          <a:xfrm>
            <a:off x="346563" y="1482734"/>
            <a:ext cx="4054391" cy="1437673"/>
          </a:xfrm>
          <a:prstGeom prst="roundRect">
            <a:avLst>
              <a:gd name="adj" fmla="val 6347"/>
            </a:avLst>
          </a:prstGeom>
          <a:gradFill>
            <a:gsLst>
              <a:gs pos="0">
                <a:srgbClr val="DDEA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15875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79400" dist="228600" dir="2700000" algn="tl" rotWithShape="0">
              <a:schemeClr val="accent1">
                <a:alpha val="7843"/>
              </a:schemeClr>
            </a:outerShdw>
          </a:effectLst>
        </p:spPr>
        <p:txBody>
          <a:bodyPr spcFirstLastPara="1" wrap="square" lIns="294550" tIns="462200" rIns="294550" bIns="144775" anchor="ctr" anchorCtr="0">
            <a:no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es-MX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Clasifica una instancia según la mayoría de sus k vecinos más próximos. No requiere entrenamiento complejo.</a:t>
            </a:r>
          </a:p>
        </p:txBody>
      </p:sp>
      <p:sp>
        <p:nvSpPr>
          <p:cNvPr id="32" name="Google Shape;300;p15">
            <a:extLst>
              <a:ext uri="{FF2B5EF4-FFF2-40B4-BE49-F238E27FC236}">
                <a16:creationId xmlns:a16="http://schemas.microsoft.com/office/drawing/2014/main" id="{768CD182-7F00-4D03-8BE1-F1E4630A2067}"/>
              </a:ext>
            </a:extLst>
          </p:cNvPr>
          <p:cNvSpPr/>
          <p:nvPr/>
        </p:nvSpPr>
        <p:spPr>
          <a:xfrm>
            <a:off x="840555" y="1386877"/>
            <a:ext cx="3078520" cy="391315"/>
          </a:xfrm>
          <a:custGeom>
            <a:avLst/>
            <a:gdLst/>
            <a:ahLst/>
            <a:cxnLst/>
            <a:rect l="l" t="t" r="r" b="b"/>
            <a:pathLst>
              <a:path w="2523509" h="489935" extrusionOk="0">
                <a:moveTo>
                  <a:pt x="1" y="0"/>
                </a:moveTo>
                <a:lnTo>
                  <a:pt x="2523508" y="0"/>
                </a:lnTo>
                <a:lnTo>
                  <a:pt x="2523508" y="193313"/>
                </a:lnTo>
                <a:lnTo>
                  <a:pt x="2523508" y="240238"/>
                </a:lnTo>
                <a:lnTo>
                  <a:pt x="2523509" y="240238"/>
                </a:lnTo>
                <a:lnTo>
                  <a:pt x="2523508" y="240243"/>
                </a:lnTo>
                <a:lnTo>
                  <a:pt x="2523508" y="249696"/>
                </a:lnTo>
                <a:lnTo>
                  <a:pt x="2523508" y="324846"/>
                </a:lnTo>
                <a:cubicBezTo>
                  <a:pt x="2523508" y="416022"/>
                  <a:pt x="2449595" y="489935"/>
                  <a:pt x="2358419" y="489935"/>
                </a:cubicBezTo>
                <a:lnTo>
                  <a:pt x="2273812" y="489935"/>
                </a:lnTo>
                <a:lnTo>
                  <a:pt x="249699" y="489935"/>
                </a:lnTo>
                <a:lnTo>
                  <a:pt x="165089" y="489935"/>
                </a:lnTo>
                <a:cubicBezTo>
                  <a:pt x="73913" y="489935"/>
                  <a:pt x="0" y="416022"/>
                  <a:pt x="0" y="324846"/>
                </a:cubicBezTo>
                <a:lnTo>
                  <a:pt x="0" y="193313"/>
                </a:lnTo>
                <a:lnTo>
                  <a:pt x="1" y="193308"/>
                </a:lnTo>
                <a:close/>
              </a:path>
            </a:pathLst>
          </a:custGeom>
          <a:solidFill>
            <a:srgbClr val="F4B081"/>
          </a:solidFill>
          <a:ln>
            <a:noFill/>
          </a:ln>
          <a:effectLst>
            <a:outerShdw blurRad="101600" dist="76200" dir="2700000" algn="tl" rotWithShape="0">
              <a:schemeClr val="accent1">
                <a:alpha val="25098"/>
              </a:scheme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0"/>
              <a:buFont typeface="Arial"/>
              <a:buNone/>
            </a:pPr>
            <a:r>
              <a:rPr lang="es-419" sz="1600" b="1" i="0" u="none" strike="noStrike" cap="none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K-NN</a:t>
            </a:r>
            <a:endParaRPr sz="1600" b="1" i="0" u="none" strike="noStrike" cap="none" dirty="0">
              <a:solidFill>
                <a:schemeClr val="l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3" name="Google Shape;301;p15">
            <a:extLst>
              <a:ext uri="{FF2B5EF4-FFF2-40B4-BE49-F238E27FC236}">
                <a16:creationId xmlns:a16="http://schemas.microsoft.com/office/drawing/2014/main" id="{83EADEB9-6A1A-426E-A7D1-B2A799F4EE13}"/>
              </a:ext>
            </a:extLst>
          </p:cNvPr>
          <p:cNvSpPr/>
          <p:nvPr/>
        </p:nvSpPr>
        <p:spPr>
          <a:xfrm>
            <a:off x="705645" y="1386877"/>
            <a:ext cx="134631" cy="95940"/>
          </a:xfrm>
          <a:prstGeom prst="triangle">
            <a:avLst>
              <a:gd name="adj" fmla="val 100000"/>
            </a:avLst>
          </a:prstGeom>
          <a:solidFill>
            <a:srgbClr val="F7CA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34" name="Google Shape;302;p15">
            <a:extLst>
              <a:ext uri="{FF2B5EF4-FFF2-40B4-BE49-F238E27FC236}">
                <a16:creationId xmlns:a16="http://schemas.microsoft.com/office/drawing/2014/main" id="{60118B0A-EF5B-489A-8FAE-92B0DD082A34}"/>
              </a:ext>
            </a:extLst>
          </p:cNvPr>
          <p:cNvSpPr/>
          <p:nvPr/>
        </p:nvSpPr>
        <p:spPr>
          <a:xfrm flipH="1">
            <a:off x="3919133" y="1386877"/>
            <a:ext cx="134631" cy="95940"/>
          </a:xfrm>
          <a:prstGeom prst="triangle">
            <a:avLst>
              <a:gd name="adj" fmla="val 100000"/>
            </a:avLst>
          </a:prstGeom>
          <a:solidFill>
            <a:srgbClr val="F7CA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35" name="Google Shape;303;p15">
            <a:extLst>
              <a:ext uri="{FF2B5EF4-FFF2-40B4-BE49-F238E27FC236}">
                <a16:creationId xmlns:a16="http://schemas.microsoft.com/office/drawing/2014/main" id="{7E15A672-9309-4995-B1FE-A1707E09ED1E}"/>
              </a:ext>
            </a:extLst>
          </p:cNvPr>
          <p:cNvSpPr/>
          <p:nvPr/>
        </p:nvSpPr>
        <p:spPr>
          <a:xfrm>
            <a:off x="4924362" y="1491674"/>
            <a:ext cx="4054500" cy="1437600"/>
          </a:xfrm>
          <a:prstGeom prst="roundRect">
            <a:avLst>
              <a:gd name="adj" fmla="val 6347"/>
            </a:avLst>
          </a:prstGeom>
          <a:gradFill>
            <a:gsLst>
              <a:gs pos="0">
                <a:srgbClr val="FFF2CC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15875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79400" dist="228600" dir="2700000" algn="tl" rotWithShape="0">
              <a:schemeClr val="accent4">
                <a:alpha val="7843"/>
              </a:schemeClr>
            </a:outerShdw>
          </a:effectLst>
        </p:spPr>
        <p:txBody>
          <a:bodyPr spcFirstLastPara="1" wrap="square" lIns="294550" tIns="462200" rIns="294550" bIns="114525" anchor="ctr" anchorCtr="0">
            <a:no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es-MX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Clasificador probabilístico asumiendo independencia entre características. Rápido y útil en texto (spam).</a:t>
            </a:r>
          </a:p>
        </p:txBody>
      </p:sp>
      <p:sp>
        <p:nvSpPr>
          <p:cNvPr id="36" name="Google Shape;304;p15">
            <a:extLst>
              <a:ext uri="{FF2B5EF4-FFF2-40B4-BE49-F238E27FC236}">
                <a16:creationId xmlns:a16="http://schemas.microsoft.com/office/drawing/2014/main" id="{509A4149-2A82-4CBC-BE91-CC02DCE7C0DB}"/>
              </a:ext>
            </a:extLst>
          </p:cNvPr>
          <p:cNvSpPr/>
          <p:nvPr/>
        </p:nvSpPr>
        <p:spPr>
          <a:xfrm>
            <a:off x="5412776" y="1386877"/>
            <a:ext cx="3078520" cy="391315"/>
          </a:xfrm>
          <a:custGeom>
            <a:avLst/>
            <a:gdLst/>
            <a:ahLst/>
            <a:cxnLst/>
            <a:rect l="l" t="t" r="r" b="b"/>
            <a:pathLst>
              <a:path w="2523509" h="489935" extrusionOk="0">
                <a:moveTo>
                  <a:pt x="1" y="0"/>
                </a:moveTo>
                <a:lnTo>
                  <a:pt x="2523508" y="0"/>
                </a:lnTo>
                <a:lnTo>
                  <a:pt x="2523508" y="193313"/>
                </a:lnTo>
                <a:lnTo>
                  <a:pt x="2523508" y="240238"/>
                </a:lnTo>
                <a:lnTo>
                  <a:pt x="2523509" y="240238"/>
                </a:lnTo>
                <a:lnTo>
                  <a:pt x="2523508" y="240243"/>
                </a:lnTo>
                <a:lnTo>
                  <a:pt x="2523508" y="249696"/>
                </a:lnTo>
                <a:lnTo>
                  <a:pt x="2523508" y="324846"/>
                </a:lnTo>
                <a:cubicBezTo>
                  <a:pt x="2523508" y="416022"/>
                  <a:pt x="2449595" y="489935"/>
                  <a:pt x="2358419" y="489935"/>
                </a:cubicBezTo>
                <a:lnTo>
                  <a:pt x="2273812" y="489935"/>
                </a:lnTo>
                <a:lnTo>
                  <a:pt x="249699" y="489935"/>
                </a:lnTo>
                <a:lnTo>
                  <a:pt x="165089" y="489935"/>
                </a:lnTo>
                <a:cubicBezTo>
                  <a:pt x="73913" y="489935"/>
                  <a:pt x="0" y="416022"/>
                  <a:pt x="0" y="324846"/>
                </a:cubicBezTo>
                <a:lnTo>
                  <a:pt x="0" y="193313"/>
                </a:lnTo>
                <a:lnTo>
                  <a:pt x="1" y="193308"/>
                </a:lnTo>
                <a:close/>
              </a:path>
            </a:pathLst>
          </a:custGeom>
          <a:solidFill>
            <a:srgbClr val="F4B081"/>
          </a:solidFill>
          <a:ln>
            <a:noFill/>
          </a:ln>
          <a:effectLst>
            <a:outerShdw blurRad="101600" dist="76200" dir="2700000" algn="tl" rotWithShape="0">
              <a:schemeClr val="accent4">
                <a:alpha val="25098"/>
              </a:scheme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0"/>
              <a:buFont typeface="Arial"/>
              <a:buNone/>
            </a:pPr>
            <a:r>
              <a:rPr lang="es-419" sz="1600" b="1" i="0" u="none" strike="noStrike" cap="none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NAIVE BAYES</a:t>
            </a:r>
          </a:p>
        </p:txBody>
      </p:sp>
      <p:sp>
        <p:nvSpPr>
          <p:cNvPr id="37" name="Google Shape;305;p15">
            <a:extLst>
              <a:ext uri="{FF2B5EF4-FFF2-40B4-BE49-F238E27FC236}">
                <a16:creationId xmlns:a16="http://schemas.microsoft.com/office/drawing/2014/main" id="{1DF41329-1323-411D-9006-26636AD1CDF4}"/>
              </a:ext>
            </a:extLst>
          </p:cNvPr>
          <p:cNvSpPr/>
          <p:nvPr/>
        </p:nvSpPr>
        <p:spPr>
          <a:xfrm>
            <a:off x="5277866" y="1386877"/>
            <a:ext cx="134631" cy="95940"/>
          </a:xfrm>
          <a:prstGeom prst="triangle">
            <a:avLst>
              <a:gd name="adj" fmla="val 100000"/>
            </a:avLst>
          </a:prstGeom>
          <a:solidFill>
            <a:srgbClr val="F7CA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38" name="Google Shape;306;p15">
            <a:extLst>
              <a:ext uri="{FF2B5EF4-FFF2-40B4-BE49-F238E27FC236}">
                <a16:creationId xmlns:a16="http://schemas.microsoft.com/office/drawing/2014/main" id="{5883908B-AA8D-4057-A638-397DF7CDF51C}"/>
              </a:ext>
            </a:extLst>
          </p:cNvPr>
          <p:cNvSpPr/>
          <p:nvPr/>
        </p:nvSpPr>
        <p:spPr>
          <a:xfrm flipH="1">
            <a:off x="8490847" y="1386877"/>
            <a:ext cx="134631" cy="95940"/>
          </a:xfrm>
          <a:prstGeom prst="triangle">
            <a:avLst>
              <a:gd name="adj" fmla="val 100000"/>
            </a:avLst>
          </a:prstGeom>
          <a:solidFill>
            <a:srgbClr val="F7CA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39" name="Google Shape;307;p15">
            <a:extLst>
              <a:ext uri="{FF2B5EF4-FFF2-40B4-BE49-F238E27FC236}">
                <a16:creationId xmlns:a16="http://schemas.microsoft.com/office/drawing/2014/main" id="{C6C5BDA9-4C5C-475A-9FB8-531BBC79E9A9}"/>
              </a:ext>
            </a:extLst>
          </p:cNvPr>
          <p:cNvSpPr/>
          <p:nvPr/>
        </p:nvSpPr>
        <p:spPr>
          <a:xfrm>
            <a:off x="346563" y="3297421"/>
            <a:ext cx="4054391" cy="1437673"/>
          </a:xfrm>
          <a:prstGeom prst="roundRect">
            <a:avLst>
              <a:gd name="adj" fmla="val 6347"/>
            </a:avLst>
          </a:prstGeom>
          <a:gradFill>
            <a:gsLst>
              <a:gs pos="0">
                <a:srgbClr val="DDEA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15875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79400" dist="228600" dir="2700000" algn="tl" rotWithShape="0">
              <a:schemeClr val="accent1">
                <a:alpha val="7843"/>
              </a:schemeClr>
            </a:outerShdw>
          </a:effectLst>
        </p:spPr>
        <p:txBody>
          <a:bodyPr spcFirstLastPara="1" wrap="square" lIns="294550" tIns="462200" rIns="294550" bIns="144775" anchor="ctr" anchorCtr="0">
            <a:no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es-MX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Encuentra un hiperplano que separa las clases maximizando el margen. Se puede usar con </a:t>
            </a:r>
            <a:r>
              <a:rPr lang="es-MX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kernels</a:t>
            </a:r>
            <a:r>
              <a:rPr lang="es-MX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datos no lineales.</a:t>
            </a:r>
          </a:p>
        </p:txBody>
      </p:sp>
      <p:sp>
        <p:nvSpPr>
          <p:cNvPr id="40" name="Google Shape;308;p15">
            <a:extLst>
              <a:ext uri="{FF2B5EF4-FFF2-40B4-BE49-F238E27FC236}">
                <a16:creationId xmlns:a16="http://schemas.microsoft.com/office/drawing/2014/main" id="{369B5265-6726-40AC-86A4-76F61CC4CE47}"/>
              </a:ext>
            </a:extLst>
          </p:cNvPr>
          <p:cNvSpPr/>
          <p:nvPr/>
        </p:nvSpPr>
        <p:spPr>
          <a:xfrm>
            <a:off x="840555" y="3201565"/>
            <a:ext cx="3078520" cy="391315"/>
          </a:xfrm>
          <a:custGeom>
            <a:avLst/>
            <a:gdLst/>
            <a:ahLst/>
            <a:cxnLst/>
            <a:rect l="l" t="t" r="r" b="b"/>
            <a:pathLst>
              <a:path w="2523509" h="489935" extrusionOk="0">
                <a:moveTo>
                  <a:pt x="1" y="0"/>
                </a:moveTo>
                <a:lnTo>
                  <a:pt x="2523508" y="0"/>
                </a:lnTo>
                <a:lnTo>
                  <a:pt x="2523508" y="193313"/>
                </a:lnTo>
                <a:lnTo>
                  <a:pt x="2523508" y="240238"/>
                </a:lnTo>
                <a:lnTo>
                  <a:pt x="2523509" y="240238"/>
                </a:lnTo>
                <a:lnTo>
                  <a:pt x="2523508" y="240243"/>
                </a:lnTo>
                <a:lnTo>
                  <a:pt x="2523508" y="249696"/>
                </a:lnTo>
                <a:lnTo>
                  <a:pt x="2523508" y="324846"/>
                </a:lnTo>
                <a:cubicBezTo>
                  <a:pt x="2523508" y="416022"/>
                  <a:pt x="2449595" y="489935"/>
                  <a:pt x="2358419" y="489935"/>
                </a:cubicBezTo>
                <a:lnTo>
                  <a:pt x="2273812" y="489935"/>
                </a:lnTo>
                <a:lnTo>
                  <a:pt x="249699" y="489935"/>
                </a:lnTo>
                <a:lnTo>
                  <a:pt x="165089" y="489935"/>
                </a:lnTo>
                <a:cubicBezTo>
                  <a:pt x="73913" y="489935"/>
                  <a:pt x="0" y="416022"/>
                  <a:pt x="0" y="324846"/>
                </a:cubicBezTo>
                <a:lnTo>
                  <a:pt x="0" y="193313"/>
                </a:lnTo>
                <a:lnTo>
                  <a:pt x="1" y="193308"/>
                </a:lnTo>
                <a:close/>
              </a:path>
            </a:pathLst>
          </a:custGeom>
          <a:solidFill>
            <a:srgbClr val="F4B081"/>
          </a:solidFill>
          <a:ln>
            <a:noFill/>
          </a:ln>
          <a:effectLst>
            <a:outerShdw blurRad="101600" dist="76200" dir="2700000" algn="tl" rotWithShape="0">
              <a:schemeClr val="accent1">
                <a:alpha val="25098"/>
              </a:scheme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0"/>
              <a:buFont typeface="Arial"/>
              <a:buNone/>
            </a:pPr>
            <a:r>
              <a:rPr lang="es-419" sz="1600" b="1" i="0" u="none" strike="noStrike" cap="none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SVM</a:t>
            </a:r>
            <a:endParaRPr sz="1600" b="1" i="0" u="none" strike="noStrike" cap="none">
              <a:solidFill>
                <a:schemeClr val="l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1" name="Google Shape;309;p15">
            <a:extLst>
              <a:ext uri="{FF2B5EF4-FFF2-40B4-BE49-F238E27FC236}">
                <a16:creationId xmlns:a16="http://schemas.microsoft.com/office/drawing/2014/main" id="{B83BCBAD-6A26-4EB6-AA06-665A20CE6406}"/>
              </a:ext>
            </a:extLst>
          </p:cNvPr>
          <p:cNvSpPr/>
          <p:nvPr/>
        </p:nvSpPr>
        <p:spPr>
          <a:xfrm>
            <a:off x="705645" y="3201565"/>
            <a:ext cx="134631" cy="95940"/>
          </a:xfrm>
          <a:prstGeom prst="triangle">
            <a:avLst>
              <a:gd name="adj" fmla="val 100000"/>
            </a:avLst>
          </a:prstGeom>
          <a:solidFill>
            <a:srgbClr val="F7CA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42" name="Google Shape;310;p15">
            <a:extLst>
              <a:ext uri="{FF2B5EF4-FFF2-40B4-BE49-F238E27FC236}">
                <a16:creationId xmlns:a16="http://schemas.microsoft.com/office/drawing/2014/main" id="{8D499222-AA19-4966-BCFE-D9C613301CA9}"/>
              </a:ext>
            </a:extLst>
          </p:cNvPr>
          <p:cNvSpPr/>
          <p:nvPr/>
        </p:nvSpPr>
        <p:spPr>
          <a:xfrm flipH="1">
            <a:off x="3919133" y="3201565"/>
            <a:ext cx="134631" cy="95940"/>
          </a:xfrm>
          <a:prstGeom prst="triangle">
            <a:avLst>
              <a:gd name="adj" fmla="val 100000"/>
            </a:avLst>
          </a:prstGeom>
          <a:solidFill>
            <a:srgbClr val="F7CA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10445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5993558" cy="997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MX" sz="24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CRITERIOS TEÓRICOS PARA LA SELECCIÓN Y </a:t>
            </a:r>
            <a:br>
              <a:rPr lang="es-PE" sz="2400" dirty="0">
                <a:solidFill>
                  <a:schemeClr val="bg1"/>
                </a:solidFill>
                <a:latin typeface="Graphik Regular" charset="0"/>
              </a:rPr>
            </a:br>
            <a:r>
              <a:rPr lang="es-MX" sz="2400" b="1" dirty="0">
                <a:solidFill>
                  <a:schemeClr val="bg1"/>
                </a:solidFill>
                <a:latin typeface="Graphik Bold" charset="0"/>
              </a:rPr>
              <a:t>ADECUACIÓN DE MODELOS A DISTINTOS </a:t>
            </a:r>
            <a:br>
              <a:rPr lang="es-PE" sz="2400" dirty="0">
                <a:solidFill>
                  <a:schemeClr val="bg1"/>
                </a:solidFill>
                <a:latin typeface="Graphik Regular" charset="0"/>
              </a:rPr>
            </a:br>
            <a:r>
              <a:rPr lang="es-MX" sz="24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TIPOS DE DATOS Y PROBLEMAS</a:t>
            </a:r>
            <a:endParaRPr lang="es-ES" sz="1400" dirty="0">
              <a:solidFill>
                <a:schemeClr val="bg1"/>
              </a:solidFill>
              <a:latin typeface="Calibri" panose="020F0502020204030204" pitchFamily="34" charset="0"/>
              <a:cs typeface="Calibri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82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/>
          <p:nvPr/>
        </p:nvSpPr>
        <p:spPr>
          <a:xfrm>
            <a:off x="506796" y="918372"/>
            <a:ext cx="777766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419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COMPLEJIDAD VS. DATOS</a:t>
            </a:r>
          </a:p>
        </p:txBody>
      </p:sp>
      <p:sp>
        <p:nvSpPr>
          <p:cNvPr id="23" name="Google Shape;77;p5">
            <a:extLst>
              <a:ext uri="{FF2B5EF4-FFF2-40B4-BE49-F238E27FC236}">
                <a16:creationId xmlns:a16="http://schemas.microsoft.com/office/drawing/2014/main" id="{AE740DFD-9F8A-474D-AA8C-B8B75284B935}"/>
              </a:ext>
            </a:extLst>
          </p:cNvPr>
          <p:cNvSpPr/>
          <p:nvPr/>
        </p:nvSpPr>
        <p:spPr>
          <a:xfrm>
            <a:off x="503237" y="380615"/>
            <a:ext cx="618850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CRITERIOS TEÓRICOS PARA LA SELECCIÓN Y ADECUACIÓN DE MODELOS A DISTINTOS TIPOS DE DATOS Y PROBLEMAS</a:t>
            </a:r>
          </a:p>
        </p:txBody>
      </p:sp>
      <p:sp>
        <p:nvSpPr>
          <p:cNvPr id="21" name="Google Shape;326;p17">
            <a:extLst>
              <a:ext uri="{FF2B5EF4-FFF2-40B4-BE49-F238E27FC236}">
                <a16:creationId xmlns:a16="http://schemas.microsoft.com/office/drawing/2014/main" id="{1F5BDE09-1846-435A-9A87-0655BC728D8C}"/>
              </a:ext>
            </a:extLst>
          </p:cNvPr>
          <p:cNvSpPr/>
          <p:nvPr/>
        </p:nvSpPr>
        <p:spPr>
          <a:xfrm>
            <a:off x="377735" y="1403271"/>
            <a:ext cx="3000139" cy="3538538"/>
          </a:xfrm>
          <a:prstGeom prst="roundRect">
            <a:avLst>
              <a:gd name="adj" fmla="val 16667"/>
            </a:avLst>
          </a:prstGeom>
          <a:solidFill>
            <a:srgbClr val="DDEAF6"/>
          </a:solidFill>
          <a:ln w="9525" cap="flat" cmpd="sng">
            <a:solidFill>
              <a:srgbClr val="2E75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325" tIns="40625" rIns="81325" bIns="40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327;p17">
            <a:extLst>
              <a:ext uri="{FF2B5EF4-FFF2-40B4-BE49-F238E27FC236}">
                <a16:creationId xmlns:a16="http://schemas.microsoft.com/office/drawing/2014/main" id="{D22CE733-3752-435E-9854-70F33215B449}"/>
              </a:ext>
            </a:extLst>
          </p:cNvPr>
          <p:cNvSpPr/>
          <p:nvPr/>
        </p:nvSpPr>
        <p:spPr>
          <a:xfrm>
            <a:off x="5717020" y="1414482"/>
            <a:ext cx="3000139" cy="3527328"/>
          </a:xfrm>
          <a:prstGeom prst="roundRect">
            <a:avLst>
              <a:gd name="adj" fmla="val 16667"/>
            </a:avLst>
          </a:prstGeom>
          <a:solidFill>
            <a:srgbClr val="FBE4D4"/>
          </a:solidFill>
          <a:ln w="9525" cap="flat" cmpd="sng">
            <a:solidFill>
              <a:srgbClr val="C55A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325" tIns="40625" rIns="81325" bIns="40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328;p17">
            <a:extLst>
              <a:ext uri="{FF2B5EF4-FFF2-40B4-BE49-F238E27FC236}">
                <a16:creationId xmlns:a16="http://schemas.microsoft.com/office/drawing/2014/main" id="{633ACB3A-4ECF-4C4A-8FF4-55E93C7B2D8E}"/>
              </a:ext>
            </a:extLst>
          </p:cNvPr>
          <p:cNvSpPr/>
          <p:nvPr/>
        </p:nvSpPr>
        <p:spPr>
          <a:xfrm>
            <a:off x="2971800" y="2202638"/>
            <a:ext cx="3097385" cy="1633354"/>
          </a:xfrm>
          <a:prstGeom prst="notched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81325" tIns="40625" rIns="81325" bIns="40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329;p17">
            <a:extLst>
              <a:ext uri="{FF2B5EF4-FFF2-40B4-BE49-F238E27FC236}">
                <a16:creationId xmlns:a16="http://schemas.microsoft.com/office/drawing/2014/main" id="{D7705D12-CF79-4948-AE8C-2E5584146829}"/>
              </a:ext>
            </a:extLst>
          </p:cNvPr>
          <p:cNvSpPr/>
          <p:nvPr/>
        </p:nvSpPr>
        <p:spPr>
          <a:xfrm>
            <a:off x="3377874" y="2467369"/>
            <a:ext cx="2286248" cy="1106349"/>
          </a:xfrm>
          <a:prstGeom prst="notched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FEF8F4"/>
              </a:gs>
              <a:gs pos="35000">
                <a:srgbClr val="DDEAF6"/>
              </a:gs>
              <a:gs pos="80000">
                <a:srgbClr val="F7C4A1"/>
              </a:gs>
              <a:gs pos="100000">
                <a:srgbClr val="DDEAF6"/>
              </a:gs>
            </a:gsLst>
            <a:lin ang="5400000" scaled="0"/>
          </a:gradFill>
          <a:ln>
            <a:noFill/>
          </a:ln>
        </p:spPr>
        <p:txBody>
          <a:bodyPr spcFirstLastPara="1" wrap="square" lIns="81325" tIns="40625" rIns="81325" bIns="40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None/>
            </a:pPr>
            <a:r>
              <a:rPr lang="es-419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Transición por volumen y complejidad</a:t>
            </a:r>
            <a:endParaRPr sz="1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330;p17">
            <a:extLst>
              <a:ext uri="{FF2B5EF4-FFF2-40B4-BE49-F238E27FC236}">
                <a16:creationId xmlns:a16="http://schemas.microsoft.com/office/drawing/2014/main" id="{C8E78985-280E-4438-B08C-40C236B1C212}"/>
              </a:ext>
            </a:extLst>
          </p:cNvPr>
          <p:cNvSpPr txBox="1"/>
          <p:nvPr/>
        </p:nvSpPr>
        <p:spPr>
          <a:xfrm>
            <a:off x="430633" y="2202638"/>
            <a:ext cx="3000139" cy="2739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ENTORNO DE POCOS DATOS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41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 pocos datos, conviene modelos simples para evitar sobreajuste.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general, los modelos paramétricos requieren menos muestras que los modelos no paramétricos para lograr una buena capacidad de generalización.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331;p17">
            <a:extLst>
              <a:ext uri="{FF2B5EF4-FFF2-40B4-BE49-F238E27FC236}">
                <a16:creationId xmlns:a16="http://schemas.microsoft.com/office/drawing/2014/main" id="{B15D0EAA-87C2-41DA-A3F9-D8FE9B15E157}"/>
              </a:ext>
            </a:extLst>
          </p:cNvPr>
          <p:cNvSpPr txBox="1"/>
          <p:nvPr/>
        </p:nvSpPr>
        <p:spPr>
          <a:xfrm>
            <a:off x="5717020" y="2202638"/>
            <a:ext cx="300013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ENTORNO DE MUCHOS DATOS Y PATRONES COMPLEJOS</a:t>
            </a:r>
          </a:p>
        </p:txBody>
      </p:sp>
      <p:sp>
        <p:nvSpPr>
          <p:cNvPr id="28" name="Google Shape;332;p17">
            <a:extLst>
              <a:ext uri="{FF2B5EF4-FFF2-40B4-BE49-F238E27FC236}">
                <a16:creationId xmlns:a16="http://schemas.microsoft.com/office/drawing/2014/main" id="{E2843505-D0A0-4D08-B76A-D34306488DF9}"/>
              </a:ext>
            </a:extLst>
          </p:cNvPr>
          <p:cNvSpPr txBox="1"/>
          <p:nvPr/>
        </p:nvSpPr>
        <p:spPr>
          <a:xfrm>
            <a:off x="6122083" y="2848969"/>
            <a:ext cx="2289779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41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pueden usar modelos sofisticados para capturar relaciones avanzadas.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333;p17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988B8DEB-3EDF-403A-A305-969CCBC4798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2701" t="22317" r="10587" b="29966"/>
          <a:stretch/>
        </p:blipFill>
        <p:spPr>
          <a:xfrm>
            <a:off x="1093204" y="1477602"/>
            <a:ext cx="1569199" cy="650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34;p17" descr="Diagrama&#10;&#10;El contenido generado por IA puede ser incorrecto.">
            <a:extLst>
              <a:ext uri="{FF2B5EF4-FFF2-40B4-BE49-F238E27FC236}">
                <a16:creationId xmlns:a16="http://schemas.microsoft.com/office/drawing/2014/main" id="{D67F500D-8851-442D-9975-16A8933C73D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9353" t="26504" r="10214" b="30576"/>
          <a:stretch/>
        </p:blipFill>
        <p:spPr>
          <a:xfrm rot="10800000" flipH="1">
            <a:off x="6397151" y="1587780"/>
            <a:ext cx="1639875" cy="583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55;p18">
            <a:extLst>
              <a:ext uri="{FF2B5EF4-FFF2-40B4-BE49-F238E27FC236}">
                <a16:creationId xmlns:a16="http://schemas.microsoft.com/office/drawing/2014/main" id="{5713D540-BC3A-4DBF-9980-850E9885B36E}"/>
              </a:ext>
            </a:extLst>
          </p:cNvPr>
          <p:cNvCxnSpPr>
            <a:cxnSpLocks/>
          </p:cNvCxnSpPr>
          <p:nvPr/>
        </p:nvCxnSpPr>
        <p:spPr>
          <a:xfrm rot="16200000" flipH="1">
            <a:off x="2076698" y="2560716"/>
            <a:ext cx="684360" cy="971076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7150A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9" name="Google Shape;357;p18">
            <a:extLst>
              <a:ext uri="{FF2B5EF4-FFF2-40B4-BE49-F238E27FC236}">
                <a16:creationId xmlns:a16="http://schemas.microsoft.com/office/drawing/2014/main" id="{B41467EE-EBEF-415B-98E8-38292BD4E1DC}"/>
              </a:ext>
            </a:extLst>
          </p:cNvPr>
          <p:cNvCxnSpPr>
            <a:cxnSpLocks/>
          </p:cNvCxnSpPr>
          <p:nvPr/>
        </p:nvCxnSpPr>
        <p:spPr>
          <a:xfrm rot="16200000" flipH="1">
            <a:off x="6959219" y="2481838"/>
            <a:ext cx="736619" cy="1052416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7150A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4" name="Google Shape;94;p7"/>
          <p:cNvSpPr txBox="1"/>
          <p:nvPr/>
        </p:nvSpPr>
        <p:spPr>
          <a:xfrm>
            <a:off x="506796" y="918372"/>
            <a:ext cx="777766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MX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TIPOS DE PROBLEMAS VS. VARIABLE</a:t>
            </a:r>
          </a:p>
        </p:txBody>
      </p:sp>
      <p:sp>
        <p:nvSpPr>
          <p:cNvPr id="23" name="Google Shape;77;p5">
            <a:extLst>
              <a:ext uri="{FF2B5EF4-FFF2-40B4-BE49-F238E27FC236}">
                <a16:creationId xmlns:a16="http://schemas.microsoft.com/office/drawing/2014/main" id="{AE740DFD-9F8A-474D-AA8C-B8B75284B935}"/>
              </a:ext>
            </a:extLst>
          </p:cNvPr>
          <p:cNvSpPr/>
          <p:nvPr/>
        </p:nvSpPr>
        <p:spPr>
          <a:xfrm>
            <a:off x="503237" y="380615"/>
            <a:ext cx="618850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CRITERIOS TEÓRICOS PARA LA SELECCIÓN Y ADECUACIÓN DE MODELOS A DISTINTOS TIPOS DE DATOS Y PROBLEMAS</a:t>
            </a:r>
          </a:p>
        </p:txBody>
      </p:sp>
      <p:sp>
        <p:nvSpPr>
          <p:cNvPr id="13" name="Google Shape;341;p18">
            <a:extLst>
              <a:ext uri="{FF2B5EF4-FFF2-40B4-BE49-F238E27FC236}">
                <a16:creationId xmlns:a16="http://schemas.microsoft.com/office/drawing/2014/main" id="{32DE3264-0BC5-453A-9F37-E2E446DC4858}"/>
              </a:ext>
            </a:extLst>
          </p:cNvPr>
          <p:cNvSpPr/>
          <p:nvPr/>
        </p:nvSpPr>
        <p:spPr>
          <a:xfrm>
            <a:off x="3071930" y="1509322"/>
            <a:ext cx="2607173" cy="551663"/>
          </a:xfrm>
          <a:prstGeom prst="roundRect">
            <a:avLst>
              <a:gd name="adj" fmla="val 16667"/>
            </a:avLst>
          </a:prstGeom>
          <a:solidFill>
            <a:srgbClr val="7150A0"/>
          </a:solidFill>
          <a:ln w="9525" cap="flat" cmpd="sng">
            <a:solidFill>
              <a:srgbClr val="715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325" tIns="40625" rIns="81325" bIns="40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None/>
            </a:pPr>
            <a:r>
              <a:rPr lang="es-419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Analizar naturaleza de la tarea y datos</a:t>
            </a:r>
            <a:endParaRPr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42;p18">
            <a:extLst>
              <a:ext uri="{FF2B5EF4-FFF2-40B4-BE49-F238E27FC236}">
                <a16:creationId xmlns:a16="http://schemas.microsoft.com/office/drawing/2014/main" id="{605B97DD-D577-4021-80A0-07B64AA69EA3}"/>
              </a:ext>
            </a:extLst>
          </p:cNvPr>
          <p:cNvSpPr/>
          <p:nvPr/>
        </p:nvSpPr>
        <p:spPr>
          <a:xfrm>
            <a:off x="775854" y="2140332"/>
            <a:ext cx="2296076" cy="551663"/>
          </a:xfrm>
          <a:prstGeom prst="roundRect">
            <a:avLst>
              <a:gd name="adj" fmla="val 16667"/>
            </a:avLst>
          </a:prstGeom>
          <a:solidFill>
            <a:srgbClr val="7150A0"/>
          </a:solidFill>
          <a:ln w="9525" cap="flat" cmpd="sng">
            <a:solidFill>
              <a:srgbClr val="715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325" tIns="40625" rIns="81325" bIns="40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None/>
            </a:pPr>
            <a:r>
              <a:rPr lang="es-419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Según el tipo de problema</a:t>
            </a:r>
            <a:endParaRPr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343;p18">
            <a:extLst>
              <a:ext uri="{FF2B5EF4-FFF2-40B4-BE49-F238E27FC236}">
                <a16:creationId xmlns:a16="http://schemas.microsoft.com/office/drawing/2014/main" id="{74158A7E-6EAE-4B0A-AA27-6AAA87326AB9}"/>
              </a:ext>
            </a:extLst>
          </p:cNvPr>
          <p:cNvSpPr/>
          <p:nvPr/>
        </p:nvSpPr>
        <p:spPr>
          <a:xfrm>
            <a:off x="5679103" y="2140332"/>
            <a:ext cx="2221766" cy="551663"/>
          </a:xfrm>
          <a:prstGeom prst="roundRect">
            <a:avLst>
              <a:gd name="adj" fmla="val 16667"/>
            </a:avLst>
          </a:prstGeom>
          <a:solidFill>
            <a:srgbClr val="7150A0"/>
          </a:solidFill>
          <a:ln w="9525" cap="flat" cmpd="sng">
            <a:solidFill>
              <a:srgbClr val="715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325" tIns="40625" rIns="81325" bIns="40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None/>
            </a:pPr>
            <a:r>
              <a:rPr lang="es-419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Según el tipo de variable</a:t>
            </a:r>
            <a:endParaRPr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344;p18">
            <a:extLst>
              <a:ext uri="{FF2B5EF4-FFF2-40B4-BE49-F238E27FC236}">
                <a16:creationId xmlns:a16="http://schemas.microsoft.com/office/drawing/2014/main" id="{45C8DD13-8A84-44E9-9310-216F93166229}"/>
              </a:ext>
            </a:extLst>
          </p:cNvPr>
          <p:cNvSpPr/>
          <p:nvPr/>
        </p:nvSpPr>
        <p:spPr>
          <a:xfrm>
            <a:off x="2090146" y="3194538"/>
            <a:ext cx="1609646" cy="2088750"/>
          </a:xfrm>
          <a:prstGeom prst="roundRect">
            <a:avLst>
              <a:gd name="adj" fmla="val 16667"/>
            </a:avLst>
          </a:prstGeom>
          <a:solidFill>
            <a:srgbClr val="7150A0"/>
          </a:solidFill>
          <a:ln w="9525" cap="flat" cmpd="sng">
            <a:solidFill>
              <a:srgbClr val="715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325" tIns="40625" rIns="81325" bIns="40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None/>
            </a:pPr>
            <a:endParaRPr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345;p18">
            <a:extLst>
              <a:ext uri="{FF2B5EF4-FFF2-40B4-BE49-F238E27FC236}">
                <a16:creationId xmlns:a16="http://schemas.microsoft.com/office/drawing/2014/main" id="{F7329B84-6E07-49D8-B771-026B172D624E}"/>
              </a:ext>
            </a:extLst>
          </p:cNvPr>
          <p:cNvSpPr/>
          <p:nvPr/>
        </p:nvSpPr>
        <p:spPr>
          <a:xfrm>
            <a:off x="190698" y="3194539"/>
            <a:ext cx="1609646" cy="2088750"/>
          </a:xfrm>
          <a:prstGeom prst="roundRect">
            <a:avLst>
              <a:gd name="adj" fmla="val 16667"/>
            </a:avLst>
          </a:prstGeom>
          <a:solidFill>
            <a:srgbClr val="7150A0"/>
          </a:solidFill>
          <a:ln w="9525" cap="flat" cmpd="sng">
            <a:solidFill>
              <a:srgbClr val="715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325" tIns="40625" rIns="81325" bIns="40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None/>
            </a:pPr>
            <a:endParaRPr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346;p18">
            <a:extLst>
              <a:ext uri="{FF2B5EF4-FFF2-40B4-BE49-F238E27FC236}">
                <a16:creationId xmlns:a16="http://schemas.microsoft.com/office/drawing/2014/main" id="{948A1D69-32DE-4B63-8E67-04C80E68A699}"/>
              </a:ext>
            </a:extLst>
          </p:cNvPr>
          <p:cNvSpPr/>
          <p:nvPr/>
        </p:nvSpPr>
        <p:spPr>
          <a:xfrm>
            <a:off x="5104025" y="3243658"/>
            <a:ext cx="1609646" cy="2039630"/>
          </a:xfrm>
          <a:prstGeom prst="roundRect">
            <a:avLst>
              <a:gd name="adj" fmla="val 16667"/>
            </a:avLst>
          </a:prstGeom>
          <a:solidFill>
            <a:srgbClr val="7150A0"/>
          </a:solidFill>
          <a:ln w="9525" cap="flat" cmpd="sng">
            <a:solidFill>
              <a:srgbClr val="715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325" tIns="40625" rIns="81325" bIns="40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None/>
            </a:pPr>
            <a:endParaRPr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347;p18">
            <a:extLst>
              <a:ext uri="{FF2B5EF4-FFF2-40B4-BE49-F238E27FC236}">
                <a16:creationId xmlns:a16="http://schemas.microsoft.com/office/drawing/2014/main" id="{94280626-7C52-45D8-9A99-9F19D96997D3}"/>
              </a:ext>
            </a:extLst>
          </p:cNvPr>
          <p:cNvSpPr/>
          <p:nvPr/>
        </p:nvSpPr>
        <p:spPr>
          <a:xfrm>
            <a:off x="7003472" y="3243657"/>
            <a:ext cx="1609646" cy="2039630"/>
          </a:xfrm>
          <a:prstGeom prst="roundRect">
            <a:avLst>
              <a:gd name="adj" fmla="val 16667"/>
            </a:avLst>
          </a:prstGeom>
          <a:solidFill>
            <a:srgbClr val="7150A0"/>
          </a:solidFill>
          <a:ln w="9525" cap="flat" cmpd="sng">
            <a:solidFill>
              <a:srgbClr val="715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325" tIns="40625" rIns="81325" bIns="40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None/>
            </a:pPr>
            <a:endParaRPr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348;p18">
            <a:extLst>
              <a:ext uri="{FF2B5EF4-FFF2-40B4-BE49-F238E27FC236}">
                <a16:creationId xmlns:a16="http://schemas.microsoft.com/office/drawing/2014/main" id="{B89CF6EB-B5B8-4710-AA95-B0EFD22D4573}"/>
              </a:ext>
            </a:extLst>
          </p:cNvPr>
          <p:cNvSpPr/>
          <p:nvPr/>
        </p:nvSpPr>
        <p:spPr>
          <a:xfrm>
            <a:off x="190698" y="3388434"/>
            <a:ext cx="1609646" cy="403302"/>
          </a:xfrm>
          <a:prstGeom prst="roundRect">
            <a:avLst>
              <a:gd name="adj" fmla="val 16667"/>
            </a:avLst>
          </a:prstGeom>
          <a:solidFill>
            <a:srgbClr val="7150A0"/>
          </a:solidFill>
          <a:ln w="9525" cap="flat" cmpd="sng">
            <a:solidFill>
              <a:srgbClr val="715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325" tIns="40625" rIns="81325" bIns="40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None/>
            </a:pPr>
            <a:r>
              <a:rPr lang="es-419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Regresión</a:t>
            </a:r>
            <a:endParaRPr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None/>
            </a:pPr>
            <a:r>
              <a:rPr lang="es-419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(variable continua)</a:t>
            </a:r>
            <a:endParaRPr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49;p18">
            <a:extLst>
              <a:ext uri="{FF2B5EF4-FFF2-40B4-BE49-F238E27FC236}">
                <a16:creationId xmlns:a16="http://schemas.microsoft.com/office/drawing/2014/main" id="{869746E3-033E-4FA6-A818-3B57068A37B4}"/>
              </a:ext>
            </a:extLst>
          </p:cNvPr>
          <p:cNvSpPr/>
          <p:nvPr/>
        </p:nvSpPr>
        <p:spPr>
          <a:xfrm>
            <a:off x="2090145" y="3376355"/>
            <a:ext cx="1609646" cy="403302"/>
          </a:xfrm>
          <a:prstGeom prst="roundRect">
            <a:avLst>
              <a:gd name="adj" fmla="val 16667"/>
            </a:avLst>
          </a:prstGeom>
          <a:solidFill>
            <a:srgbClr val="7150A0"/>
          </a:solidFill>
          <a:ln w="9525" cap="flat" cmpd="sng">
            <a:solidFill>
              <a:srgbClr val="715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325" tIns="40625" rIns="81325" bIns="406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650"/>
            </a:pPr>
            <a:r>
              <a:rPr lang="es-419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Clasificación (variable categórica)</a:t>
            </a:r>
            <a:endParaRPr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50;p18">
            <a:extLst>
              <a:ext uri="{FF2B5EF4-FFF2-40B4-BE49-F238E27FC236}">
                <a16:creationId xmlns:a16="http://schemas.microsoft.com/office/drawing/2014/main" id="{5502E885-161F-40A4-ACA9-7800E4D4FEC9}"/>
              </a:ext>
            </a:extLst>
          </p:cNvPr>
          <p:cNvSpPr/>
          <p:nvPr/>
        </p:nvSpPr>
        <p:spPr>
          <a:xfrm>
            <a:off x="5147650" y="3323027"/>
            <a:ext cx="1508770" cy="738663"/>
          </a:xfrm>
          <a:prstGeom prst="roundRect">
            <a:avLst>
              <a:gd name="adj" fmla="val 16667"/>
            </a:avLst>
          </a:prstGeom>
          <a:solidFill>
            <a:srgbClr val="7150A0"/>
          </a:solidFill>
          <a:ln w="9525" cap="flat" cmpd="sng">
            <a:solidFill>
              <a:srgbClr val="715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325" tIns="40625" rIns="81325" bIns="406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650"/>
            </a:pPr>
            <a:r>
              <a:rPr lang="es-419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Variables Numéricas / Continuas</a:t>
            </a:r>
            <a:endParaRPr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51;p18">
            <a:extLst>
              <a:ext uri="{FF2B5EF4-FFF2-40B4-BE49-F238E27FC236}">
                <a16:creationId xmlns:a16="http://schemas.microsoft.com/office/drawing/2014/main" id="{7D65E1E0-C465-4A41-979F-44F12BE57914}"/>
              </a:ext>
            </a:extLst>
          </p:cNvPr>
          <p:cNvSpPr/>
          <p:nvPr/>
        </p:nvSpPr>
        <p:spPr>
          <a:xfrm>
            <a:off x="7053854" y="3428614"/>
            <a:ext cx="1549817" cy="403302"/>
          </a:xfrm>
          <a:prstGeom prst="roundRect">
            <a:avLst>
              <a:gd name="adj" fmla="val 16667"/>
            </a:avLst>
          </a:prstGeom>
          <a:solidFill>
            <a:srgbClr val="7150A0"/>
          </a:solidFill>
          <a:ln w="9525" cap="flat" cmpd="sng">
            <a:solidFill>
              <a:srgbClr val="715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325" tIns="40625" rIns="81325" bIns="406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650"/>
            </a:pPr>
            <a:r>
              <a:rPr lang="es-419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Variables Categóricas / Cualitativas</a:t>
            </a:r>
            <a:endParaRPr lang="es-419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" name="Google Shape;352;p18">
            <a:extLst>
              <a:ext uri="{FF2B5EF4-FFF2-40B4-BE49-F238E27FC236}">
                <a16:creationId xmlns:a16="http://schemas.microsoft.com/office/drawing/2014/main" id="{80826C06-D21D-48C4-9745-E2C889F48D04}"/>
              </a:ext>
            </a:extLst>
          </p:cNvPr>
          <p:cNvCxnSpPr>
            <a:stCxn id="13" idx="1"/>
            <a:endCxn id="14" idx="0"/>
          </p:cNvCxnSpPr>
          <p:nvPr/>
        </p:nvCxnSpPr>
        <p:spPr>
          <a:xfrm flipH="1">
            <a:off x="1923830" y="1785154"/>
            <a:ext cx="1148100" cy="355200"/>
          </a:xfrm>
          <a:prstGeom prst="bentConnector2">
            <a:avLst/>
          </a:prstGeom>
          <a:noFill/>
          <a:ln w="19050" cap="flat" cmpd="sng">
            <a:solidFill>
              <a:srgbClr val="7150A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5" name="Google Shape;353;p18">
            <a:extLst>
              <a:ext uri="{FF2B5EF4-FFF2-40B4-BE49-F238E27FC236}">
                <a16:creationId xmlns:a16="http://schemas.microsoft.com/office/drawing/2014/main" id="{A6A00043-EE02-4CE3-9AE5-549DCA4B4248}"/>
              </a:ext>
            </a:extLst>
          </p:cNvPr>
          <p:cNvCxnSpPr>
            <a:stCxn id="13" idx="3"/>
            <a:endCxn id="15" idx="0"/>
          </p:cNvCxnSpPr>
          <p:nvPr/>
        </p:nvCxnSpPr>
        <p:spPr>
          <a:xfrm>
            <a:off x="5679103" y="1785154"/>
            <a:ext cx="1110900" cy="355200"/>
          </a:xfrm>
          <a:prstGeom prst="bentConnector2">
            <a:avLst/>
          </a:prstGeom>
          <a:noFill/>
          <a:ln w="19050" cap="flat" cmpd="sng">
            <a:solidFill>
              <a:srgbClr val="7150A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6" name="Google Shape;354;p18">
            <a:extLst>
              <a:ext uri="{FF2B5EF4-FFF2-40B4-BE49-F238E27FC236}">
                <a16:creationId xmlns:a16="http://schemas.microsoft.com/office/drawing/2014/main" id="{DDF77AA3-7D35-4885-B955-A46B04728FD5}"/>
              </a:ext>
            </a:extLst>
          </p:cNvPr>
          <p:cNvCxnSpPr>
            <a:stCxn id="14" idx="2"/>
            <a:endCxn id="20" idx="0"/>
          </p:cNvCxnSpPr>
          <p:nvPr/>
        </p:nvCxnSpPr>
        <p:spPr>
          <a:xfrm rot="5400000">
            <a:off x="1111488" y="2576029"/>
            <a:ext cx="696439" cy="928371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7150A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8" name="Google Shape;356;p18">
            <a:extLst>
              <a:ext uri="{FF2B5EF4-FFF2-40B4-BE49-F238E27FC236}">
                <a16:creationId xmlns:a16="http://schemas.microsoft.com/office/drawing/2014/main" id="{63BE4CFD-FF00-4048-8989-80F766729F1E}"/>
              </a:ext>
            </a:extLst>
          </p:cNvPr>
          <p:cNvCxnSpPr>
            <a:cxnSpLocks/>
            <a:stCxn id="15" idx="2"/>
            <a:endCxn id="32" idx="0"/>
          </p:cNvCxnSpPr>
          <p:nvPr/>
        </p:nvCxnSpPr>
        <p:spPr>
          <a:xfrm rot="5400000">
            <a:off x="6030495" y="2563536"/>
            <a:ext cx="631032" cy="887951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7150A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0" name="Google Shape;358;p18">
            <a:extLst>
              <a:ext uri="{FF2B5EF4-FFF2-40B4-BE49-F238E27FC236}">
                <a16:creationId xmlns:a16="http://schemas.microsoft.com/office/drawing/2014/main" id="{B318FA98-7B53-4ADC-B550-159D46D422F0}"/>
              </a:ext>
            </a:extLst>
          </p:cNvPr>
          <p:cNvSpPr txBox="1"/>
          <p:nvPr/>
        </p:nvSpPr>
        <p:spPr>
          <a:xfrm>
            <a:off x="200144" y="3986963"/>
            <a:ext cx="1609646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Se usan regresiones lineales o polinómicas.</a:t>
            </a:r>
            <a:endParaRPr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359;p18">
            <a:extLst>
              <a:ext uri="{FF2B5EF4-FFF2-40B4-BE49-F238E27FC236}">
                <a16:creationId xmlns:a16="http://schemas.microsoft.com/office/drawing/2014/main" id="{E6DDB8C0-ACB5-4485-B2D9-9B0C2C8921BE}"/>
              </a:ext>
            </a:extLst>
          </p:cNvPr>
          <p:cNvSpPr txBox="1"/>
          <p:nvPr/>
        </p:nvSpPr>
        <p:spPr>
          <a:xfrm>
            <a:off x="2090145" y="3986963"/>
            <a:ext cx="1609646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Se eligen un clasificador (regresión logística, árbol, SVM).</a:t>
            </a:r>
            <a:endParaRPr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360;p18">
            <a:extLst>
              <a:ext uri="{FF2B5EF4-FFF2-40B4-BE49-F238E27FC236}">
                <a16:creationId xmlns:a16="http://schemas.microsoft.com/office/drawing/2014/main" id="{62FD62C1-91AF-4E18-A136-994AFA457D9E}"/>
              </a:ext>
            </a:extLst>
          </p:cNvPr>
          <p:cNvSpPr txBox="1"/>
          <p:nvPr/>
        </p:nvSpPr>
        <p:spPr>
          <a:xfrm>
            <a:off x="5113471" y="3972846"/>
            <a:ext cx="1609646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Casi todos los modelos estándar lo soportan.</a:t>
            </a:r>
            <a:endParaRPr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361;p18">
            <a:extLst>
              <a:ext uri="{FF2B5EF4-FFF2-40B4-BE49-F238E27FC236}">
                <a16:creationId xmlns:a16="http://schemas.microsoft.com/office/drawing/2014/main" id="{B484118A-ACFB-4D48-B4BA-393BCA7ED652}"/>
              </a:ext>
            </a:extLst>
          </p:cNvPr>
          <p:cNvSpPr txBox="1"/>
          <p:nvPr/>
        </p:nvSpPr>
        <p:spPr>
          <a:xfrm>
            <a:off x="6994025" y="3972846"/>
            <a:ext cx="160964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419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Usar modelos que los manejen directamente o codificarlos en modelos lineales.</a:t>
            </a:r>
            <a:endParaRPr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46956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/>
          <p:nvPr/>
        </p:nvSpPr>
        <p:spPr>
          <a:xfrm>
            <a:off x="506796" y="918372"/>
            <a:ext cx="777766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MX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SOBREAJUSTE Y REGULARIZACIÓN</a:t>
            </a:r>
          </a:p>
        </p:txBody>
      </p:sp>
      <p:sp>
        <p:nvSpPr>
          <p:cNvPr id="23" name="Google Shape;77;p5">
            <a:extLst>
              <a:ext uri="{FF2B5EF4-FFF2-40B4-BE49-F238E27FC236}">
                <a16:creationId xmlns:a16="http://schemas.microsoft.com/office/drawing/2014/main" id="{AE740DFD-9F8A-474D-AA8C-B8B75284B935}"/>
              </a:ext>
            </a:extLst>
          </p:cNvPr>
          <p:cNvSpPr/>
          <p:nvPr/>
        </p:nvSpPr>
        <p:spPr>
          <a:xfrm>
            <a:off x="503237" y="380615"/>
            <a:ext cx="618850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CRITERIOS TEÓRICOS PARA LA SELECCIÓN Y ADECUACIÓN DE MODELOS A DISTINTOS TIPOS DE DATOS Y PROBLEMAS</a:t>
            </a:r>
          </a:p>
        </p:txBody>
      </p:sp>
      <p:sp>
        <p:nvSpPr>
          <p:cNvPr id="25" name="Google Shape;368;p19">
            <a:extLst>
              <a:ext uri="{FF2B5EF4-FFF2-40B4-BE49-F238E27FC236}">
                <a16:creationId xmlns:a16="http://schemas.microsoft.com/office/drawing/2014/main" id="{62CE964F-FAE5-4C78-90C2-C1013F60ECD3}"/>
              </a:ext>
            </a:extLst>
          </p:cNvPr>
          <p:cNvSpPr/>
          <p:nvPr/>
        </p:nvSpPr>
        <p:spPr>
          <a:xfrm>
            <a:off x="503237" y="1321253"/>
            <a:ext cx="3357324" cy="2201547"/>
          </a:xfrm>
          <a:prstGeom prst="roundRect">
            <a:avLst>
              <a:gd name="adj" fmla="val 16667"/>
            </a:avLst>
          </a:prstGeom>
          <a:solidFill>
            <a:srgbClr val="F08074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325" tIns="40625" rIns="81325" bIns="40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None/>
            </a:pPr>
            <a:endParaRPr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369;p19">
            <a:extLst>
              <a:ext uri="{FF2B5EF4-FFF2-40B4-BE49-F238E27FC236}">
                <a16:creationId xmlns:a16="http://schemas.microsoft.com/office/drawing/2014/main" id="{6A6094D4-B13D-4FB0-B561-3A4330713EDC}"/>
              </a:ext>
            </a:extLst>
          </p:cNvPr>
          <p:cNvSpPr/>
          <p:nvPr/>
        </p:nvSpPr>
        <p:spPr>
          <a:xfrm>
            <a:off x="5449560" y="1377135"/>
            <a:ext cx="3357324" cy="2145665"/>
          </a:xfrm>
          <a:prstGeom prst="roundRect">
            <a:avLst>
              <a:gd name="adj" fmla="val 16667"/>
            </a:avLst>
          </a:prstGeom>
          <a:solidFill>
            <a:srgbClr val="C4E0B2"/>
          </a:solidFill>
          <a:ln w="9525" cap="flat" cmpd="sng">
            <a:solidFill>
              <a:srgbClr val="385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325" tIns="40625" rIns="81325" bIns="40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None/>
            </a:pPr>
            <a:endParaRPr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370;p19">
            <a:extLst>
              <a:ext uri="{FF2B5EF4-FFF2-40B4-BE49-F238E27FC236}">
                <a16:creationId xmlns:a16="http://schemas.microsoft.com/office/drawing/2014/main" id="{01A637AB-8CB8-4550-8BF0-CC929B91401E}"/>
              </a:ext>
            </a:extLst>
          </p:cNvPr>
          <p:cNvSpPr/>
          <p:nvPr/>
        </p:nvSpPr>
        <p:spPr>
          <a:xfrm>
            <a:off x="2617435" y="3820462"/>
            <a:ext cx="4075249" cy="976166"/>
          </a:xfrm>
          <a:prstGeom prst="roundRect">
            <a:avLst>
              <a:gd name="adj" fmla="val 16667"/>
            </a:avLst>
          </a:prstGeom>
          <a:solidFill>
            <a:srgbClr val="B3C6E7"/>
          </a:solidFill>
          <a:ln w="9525" cap="flat" cmpd="sng">
            <a:solidFill>
              <a:srgbClr val="1E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325" tIns="40625" rIns="81325" bIns="40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None/>
            </a:pPr>
            <a:endParaRPr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371;p19">
            <a:extLst>
              <a:ext uri="{FF2B5EF4-FFF2-40B4-BE49-F238E27FC236}">
                <a16:creationId xmlns:a16="http://schemas.microsoft.com/office/drawing/2014/main" id="{81466EB6-D724-44FB-9650-F28220DAAD35}"/>
              </a:ext>
            </a:extLst>
          </p:cNvPr>
          <p:cNvSpPr/>
          <p:nvPr/>
        </p:nvSpPr>
        <p:spPr>
          <a:xfrm rot="10800000">
            <a:off x="3918996" y="2268333"/>
            <a:ext cx="1422743" cy="1390493"/>
          </a:xfrm>
          <a:prstGeom prst="leftRightUpArrow">
            <a:avLst>
              <a:gd name="adj1" fmla="val 20652"/>
              <a:gd name="adj2" fmla="val 10326"/>
              <a:gd name="adj3" fmla="val 6522"/>
            </a:avLst>
          </a:prstGeom>
          <a:gradFill>
            <a:gsLst>
              <a:gs pos="0">
                <a:srgbClr val="8DA9DB"/>
              </a:gs>
              <a:gs pos="42000">
                <a:srgbClr val="8DA9DB"/>
              </a:gs>
              <a:gs pos="86000">
                <a:srgbClr val="FB776D"/>
              </a:gs>
              <a:gs pos="100000">
                <a:schemeClr val="accent6"/>
              </a:gs>
            </a:gsLst>
            <a:lin ang="5400000" scaled="0"/>
          </a:gradFill>
          <a:ln>
            <a:noFill/>
          </a:ln>
        </p:spPr>
        <p:txBody>
          <a:bodyPr spcFirstLastPara="1" wrap="square" lIns="81325" tIns="40625" rIns="81325" bIns="40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None/>
            </a:pPr>
            <a:endParaRPr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376;p19">
            <a:extLst>
              <a:ext uri="{FF2B5EF4-FFF2-40B4-BE49-F238E27FC236}">
                <a16:creationId xmlns:a16="http://schemas.microsoft.com/office/drawing/2014/main" id="{AF29727E-AA12-46A0-B679-3FC858A74EC2}"/>
              </a:ext>
            </a:extLst>
          </p:cNvPr>
          <p:cNvSpPr txBox="1"/>
          <p:nvPr/>
        </p:nvSpPr>
        <p:spPr>
          <a:xfrm>
            <a:off x="5651901" y="1524231"/>
            <a:ext cx="3015253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77;p19">
            <a:extLst>
              <a:ext uri="{FF2B5EF4-FFF2-40B4-BE49-F238E27FC236}">
                <a16:creationId xmlns:a16="http://schemas.microsoft.com/office/drawing/2014/main" id="{681BDE51-F35B-4BA2-A591-E27D1FBE1647}"/>
              </a:ext>
            </a:extLst>
          </p:cNvPr>
          <p:cNvSpPr txBox="1"/>
          <p:nvPr/>
        </p:nvSpPr>
        <p:spPr>
          <a:xfrm>
            <a:off x="2906798" y="3895711"/>
            <a:ext cx="3658734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Validación cruzada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41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Clave para detectar sobreajuste midiendo el rendimiento en datos no vistos.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378;p19">
            <a:extLst>
              <a:ext uri="{FF2B5EF4-FFF2-40B4-BE49-F238E27FC236}">
                <a16:creationId xmlns:a16="http://schemas.microsoft.com/office/drawing/2014/main" id="{1E9C0BC8-5CBE-4780-A789-56CE10FECF95}"/>
              </a:ext>
            </a:extLst>
          </p:cNvPr>
          <p:cNvSpPr txBox="1"/>
          <p:nvPr/>
        </p:nvSpPr>
        <p:spPr>
          <a:xfrm>
            <a:off x="654871" y="1517194"/>
            <a:ext cx="3136299" cy="1846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Sobreajuste (</a:t>
            </a:r>
            <a:r>
              <a:rPr lang="es-419" sz="1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s-419" sz="16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verfitting</a:t>
            </a:r>
            <a:r>
              <a:rPr lang="es-419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41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modelo muy complejo puede aprender ruido en vez de patrones.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41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Ejemplo: un árbol sin poda profunda memoriza los datos de entrenamiento.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379;p19">
            <a:extLst>
              <a:ext uri="{FF2B5EF4-FFF2-40B4-BE49-F238E27FC236}">
                <a16:creationId xmlns:a16="http://schemas.microsoft.com/office/drawing/2014/main" id="{285FF9EE-E4D6-4947-8A9A-A93EB73C478A}"/>
              </a:ext>
            </a:extLst>
          </p:cNvPr>
          <p:cNvSpPr txBox="1"/>
          <p:nvPr/>
        </p:nvSpPr>
        <p:spPr>
          <a:xfrm>
            <a:off x="5591377" y="1524231"/>
            <a:ext cx="3136200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Regularización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41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Penaliza la complejidad para mejorar la generalización.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41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Ejemplo: L1/L2 en regresión, poda en árboles.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1654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/>
          <p:nvPr/>
        </p:nvSpPr>
        <p:spPr>
          <a:xfrm>
            <a:off x="506796" y="918372"/>
            <a:ext cx="777766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MX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COMPENSACIÓN SESGO - VARIANZA</a:t>
            </a:r>
          </a:p>
        </p:txBody>
      </p:sp>
      <p:sp>
        <p:nvSpPr>
          <p:cNvPr id="23" name="Google Shape;77;p5">
            <a:extLst>
              <a:ext uri="{FF2B5EF4-FFF2-40B4-BE49-F238E27FC236}">
                <a16:creationId xmlns:a16="http://schemas.microsoft.com/office/drawing/2014/main" id="{AE740DFD-9F8A-474D-AA8C-B8B75284B935}"/>
              </a:ext>
            </a:extLst>
          </p:cNvPr>
          <p:cNvSpPr/>
          <p:nvPr/>
        </p:nvSpPr>
        <p:spPr>
          <a:xfrm>
            <a:off x="503237" y="380615"/>
            <a:ext cx="618850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CRITERIOS TEÓRICOS PARA LA SELECCIÓN Y ADECUACIÓN DE MODELOS A DISTINTOS TIPOS DE DATOS Y PROBLEMAS</a:t>
            </a:r>
          </a:p>
        </p:txBody>
      </p:sp>
      <p:sp>
        <p:nvSpPr>
          <p:cNvPr id="12" name="Google Shape;386;p20">
            <a:extLst>
              <a:ext uri="{FF2B5EF4-FFF2-40B4-BE49-F238E27FC236}">
                <a16:creationId xmlns:a16="http://schemas.microsoft.com/office/drawing/2014/main" id="{F48671EE-FA60-4A6E-B7C0-70623919FAA7}"/>
              </a:ext>
            </a:extLst>
          </p:cNvPr>
          <p:cNvSpPr/>
          <p:nvPr/>
        </p:nvSpPr>
        <p:spPr>
          <a:xfrm>
            <a:off x="380218" y="1385029"/>
            <a:ext cx="3033372" cy="357643"/>
          </a:xfrm>
          <a:prstGeom prst="roundRect">
            <a:avLst>
              <a:gd name="adj" fmla="val 18326"/>
            </a:avLst>
          </a:prstGeom>
          <a:solidFill>
            <a:srgbClr val="FF62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s-419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Modelos simples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387;p20">
            <a:extLst>
              <a:ext uri="{FF2B5EF4-FFF2-40B4-BE49-F238E27FC236}">
                <a16:creationId xmlns:a16="http://schemas.microsoft.com/office/drawing/2014/main" id="{91F312E0-C55B-4DDF-BB4E-8685050BC8F4}"/>
              </a:ext>
            </a:extLst>
          </p:cNvPr>
          <p:cNvSpPr/>
          <p:nvPr/>
        </p:nvSpPr>
        <p:spPr>
          <a:xfrm>
            <a:off x="401807" y="1824770"/>
            <a:ext cx="3010093" cy="1186368"/>
          </a:xfrm>
          <a:prstGeom prst="roundRect">
            <a:avLst>
              <a:gd name="adj" fmla="val 2748"/>
            </a:avLst>
          </a:prstGeom>
          <a:solidFill>
            <a:srgbClr val="FF624D"/>
          </a:solidFill>
          <a:ln>
            <a:noFill/>
          </a:ln>
        </p:spPr>
        <p:txBody>
          <a:bodyPr spcFirstLastPara="1" wrap="square" lIns="108000" tIns="108000" rIns="108000" bIns="45700" anchor="t" anchorCtr="0">
            <a:noAutofit/>
          </a:bodyPr>
          <a:lstStyle/>
          <a:p>
            <a:pPr marL="222250" marR="0" lvl="0" indent="-13525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Char char="•"/>
            </a:pPr>
            <a:r>
              <a:rPr lang="es-419" sz="16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Suelen tener alto sesgo y baja varianza (subestimación).</a:t>
            </a:r>
            <a:endParaRPr sz="16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" name="Google Shape;388;p20">
            <a:extLst>
              <a:ext uri="{FF2B5EF4-FFF2-40B4-BE49-F238E27FC236}">
                <a16:creationId xmlns:a16="http://schemas.microsoft.com/office/drawing/2014/main" id="{4C77BADC-DCD9-4DE5-8300-AD0C050BEAE8}"/>
              </a:ext>
            </a:extLst>
          </p:cNvPr>
          <p:cNvGrpSpPr/>
          <p:nvPr/>
        </p:nvGrpSpPr>
        <p:grpSpPr>
          <a:xfrm>
            <a:off x="232264" y="1385029"/>
            <a:ext cx="387958" cy="357643"/>
            <a:chOff x="8717" y="1148"/>
            <a:chExt cx="557" cy="636"/>
          </a:xfrm>
        </p:grpSpPr>
        <p:sp>
          <p:nvSpPr>
            <p:cNvPr id="15" name="Google Shape;389;p20">
              <a:extLst>
                <a:ext uri="{FF2B5EF4-FFF2-40B4-BE49-F238E27FC236}">
                  <a16:creationId xmlns:a16="http://schemas.microsoft.com/office/drawing/2014/main" id="{F2C02F65-46BD-4229-9034-B95327338674}"/>
                </a:ext>
              </a:extLst>
            </p:cNvPr>
            <p:cNvSpPr/>
            <p:nvPr/>
          </p:nvSpPr>
          <p:spPr>
            <a:xfrm>
              <a:off x="8794" y="1179"/>
              <a:ext cx="480" cy="59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390;p20">
              <a:extLst>
                <a:ext uri="{FF2B5EF4-FFF2-40B4-BE49-F238E27FC236}">
                  <a16:creationId xmlns:a16="http://schemas.microsoft.com/office/drawing/2014/main" id="{D1388BC6-0A75-411F-AFB4-31A945062855}"/>
                </a:ext>
              </a:extLst>
            </p:cNvPr>
            <p:cNvSpPr/>
            <p:nvPr/>
          </p:nvSpPr>
          <p:spPr>
            <a:xfrm>
              <a:off x="8717" y="1148"/>
              <a:ext cx="515" cy="63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391;p20">
              <a:extLst>
                <a:ext uri="{FF2B5EF4-FFF2-40B4-BE49-F238E27FC236}">
                  <a16:creationId xmlns:a16="http://schemas.microsoft.com/office/drawing/2014/main" id="{86CBFB6F-C60E-4FF9-A37E-79877A2A0100}"/>
                </a:ext>
              </a:extLst>
            </p:cNvPr>
            <p:cNvSpPr/>
            <p:nvPr/>
          </p:nvSpPr>
          <p:spPr>
            <a:xfrm rot="5400000">
              <a:off x="8906" y="1392"/>
              <a:ext cx="294" cy="148"/>
            </a:xfrm>
            <a:prstGeom prst="triangle">
              <a:avLst>
                <a:gd name="adj" fmla="val 50000"/>
              </a:avLst>
            </a:prstGeom>
            <a:solidFill>
              <a:srgbClr val="FF62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392;p20">
            <a:extLst>
              <a:ext uri="{FF2B5EF4-FFF2-40B4-BE49-F238E27FC236}">
                <a16:creationId xmlns:a16="http://schemas.microsoft.com/office/drawing/2014/main" id="{D5C3519C-99DA-4DE6-8C70-D6A18FC3AF4A}"/>
              </a:ext>
            </a:extLst>
          </p:cNvPr>
          <p:cNvSpPr/>
          <p:nvPr/>
        </p:nvSpPr>
        <p:spPr>
          <a:xfrm>
            <a:off x="401807" y="3107296"/>
            <a:ext cx="3010093" cy="330471"/>
          </a:xfrm>
          <a:prstGeom prst="roundRect">
            <a:avLst>
              <a:gd name="adj" fmla="val 18326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s-419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Modelos complejos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393;p20">
            <a:extLst>
              <a:ext uri="{FF2B5EF4-FFF2-40B4-BE49-F238E27FC236}">
                <a16:creationId xmlns:a16="http://schemas.microsoft.com/office/drawing/2014/main" id="{751C2C62-C172-4BF1-A901-64F213FBAF2A}"/>
              </a:ext>
            </a:extLst>
          </p:cNvPr>
          <p:cNvSpPr/>
          <p:nvPr/>
        </p:nvSpPr>
        <p:spPr>
          <a:xfrm>
            <a:off x="401807" y="3498589"/>
            <a:ext cx="3010093" cy="877174"/>
          </a:xfrm>
          <a:prstGeom prst="roundRect">
            <a:avLst>
              <a:gd name="adj" fmla="val 2748"/>
            </a:avLst>
          </a:prstGeom>
          <a:solidFill>
            <a:srgbClr val="A8D08C"/>
          </a:solidFill>
          <a:ln>
            <a:noFill/>
          </a:ln>
        </p:spPr>
        <p:txBody>
          <a:bodyPr spcFirstLastPara="1" wrap="square" lIns="108000" tIns="108000" rIns="108000" bIns="45700" anchor="t" anchorCtr="0">
            <a:noAutofit/>
          </a:bodyPr>
          <a:lstStyle/>
          <a:p>
            <a:pPr marL="138430" marR="0" lvl="0" indent="-12890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1400"/>
              <a:buFont typeface="Arial"/>
              <a:buChar char="•"/>
            </a:pPr>
            <a:r>
              <a:rPr lang="es-419" sz="16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Tienen bajo sesgo y alta varianza (sobreajuste).</a:t>
            </a:r>
            <a:endParaRPr sz="16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" name="Google Shape;394;p20">
            <a:extLst>
              <a:ext uri="{FF2B5EF4-FFF2-40B4-BE49-F238E27FC236}">
                <a16:creationId xmlns:a16="http://schemas.microsoft.com/office/drawing/2014/main" id="{B10076CC-EFC8-4ED9-B48C-79AB2CD2B2C6}"/>
              </a:ext>
            </a:extLst>
          </p:cNvPr>
          <p:cNvGrpSpPr/>
          <p:nvPr/>
        </p:nvGrpSpPr>
        <p:grpSpPr>
          <a:xfrm>
            <a:off x="232262" y="3107297"/>
            <a:ext cx="397123" cy="330470"/>
            <a:chOff x="9126" y="736"/>
            <a:chExt cx="580" cy="636"/>
          </a:xfrm>
        </p:grpSpPr>
        <p:sp>
          <p:nvSpPr>
            <p:cNvPr id="21" name="Google Shape;395;p20">
              <a:extLst>
                <a:ext uri="{FF2B5EF4-FFF2-40B4-BE49-F238E27FC236}">
                  <a16:creationId xmlns:a16="http://schemas.microsoft.com/office/drawing/2014/main" id="{8444D895-41BC-4E67-B22B-EDD77E24C54A}"/>
                </a:ext>
              </a:extLst>
            </p:cNvPr>
            <p:cNvSpPr/>
            <p:nvPr/>
          </p:nvSpPr>
          <p:spPr>
            <a:xfrm>
              <a:off x="9206" y="767"/>
              <a:ext cx="500" cy="592"/>
            </a:xfrm>
            <a:prstGeom prst="ellipse">
              <a:avLst/>
            </a:prstGeom>
            <a:solidFill>
              <a:srgbClr val="38562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396;p20">
              <a:extLst>
                <a:ext uri="{FF2B5EF4-FFF2-40B4-BE49-F238E27FC236}">
                  <a16:creationId xmlns:a16="http://schemas.microsoft.com/office/drawing/2014/main" id="{C3F9561D-C8D7-47CC-8946-47C9C2D0EC98}"/>
                </a:ext>
              </a:extLst>
            </p:cNvPr>
            <p:cNvSpPr/>
            <p:nvPr/>
          </p:nvSpPr>
          <p:spPr>
            <a:xfrm>
              <a:off x="9126" y="736"/>
              <a:ext cx="536" cy="63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397;p20">
              <a:extLst>
                <a:ext uri="{FF2B5EF4-FFF2-40B4-BE49-F238E27FC236}">
                  <a16:creationId xmlns:a16="http://schemas.microsoft.com/office/drawing/2014/main" id="{4FFCB73F-0AD3-43B0-906B-CA16123DE747}"/>
                </a:ext>
              </a:extLst>
            </p:cNvPr>
            <p:cNvSpPr/>
            <p:nvPr/>
          </p:nvSpPr>
          <p:spPr>
            <a:xfrm rot="5400000">
              <a:off x="9329" y="977"/>
              <a:ext cx="294" cy="154"/>
            </a:xfrm>
            <a:prstGeom prst="triangle">
              <a:avLst>
                <a:gd name="adj" fmla="val 50000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" name="Google Shape;398;p20">
            <a:extLst>
              <a:ext uri="{FF2B5EF4-FFF2-40B4-BE49-F238E27FC236}">
                <a16:creationId xmlns:a16="http://schemas.microsoft.com/office/drawing/2014/main" id="{C8C4E1CC-591C-4777-AE8A-4BA6BCC2FD09}"/>
              </a:ext>
            </a:extLst>
          </p:cNvPr>
          <p:cNvSpPr txBox="1"/>
          <p:nvPr/>
        </p:nvSpPr>
        <p:spPr>
          <a:xfrm>
            <a:off x="1087208" y="4717122"/>
            <a:ext cx="719725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419" sz="1600" b="1" i="0" u="none" strike="noStrike" cap="none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El objetivo es encontrar un punto medio: ni muy rígido ni muy adaptado al ruido.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" name="Google Shape;399;p20">
            <a:extLst>
              <a:ext uri="{FF2B5EF4-FFF2-40B4-BE49-F238E27FC236}">
                <a16:creationId xmlns:a16="http://schemas.microsoft.com/office/drawing/2014/main" id="{1D5D6408-F031-401C-A166-17DCA514B9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6669" y="1515573"/>
            <a:ext cx="5106113" cy="30198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6494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/>
          <p:nvPr/>
        </p:nvSpPr>
        <p:spPr>
          <a:xfrm>
            <a:off x="506796" y="918372"/>
            <a:ext cx="777766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MX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LINEALIDAD DE LOS DATOS</a:t>
            </a:r>
          </a:p>
        </p:txBody>
      </p:sp>
      <p:sp>
        <p:nvSpPr>
          <p:cNvPr id="23" name="Google Shape;77;p5">
            <a:extLst>
              <a:ext uri="{FF2B5EF4-FFF2-40B4-BE49-F238E27FC236}">
                <a16:creationId xmlns:a16="http://schemas.microsoft.com/office/drawing/2014/main" id="{AE740DFD-9F8A-474D-AA8C-B8B75284B935}"/>
              </a:ext>
            </a:extLst>
          </p:cNvPr>
          <p:cNvSpPr/>
          <p:nvPr/>
        </p:nvSpPr>
        <p:spPr>
          <a:xfrm>
            <a:off x="503237" y="380615"/>
            <a:ext cx="618850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CRITERIOS TEÓRICOS PARA LA SELECCIÓN Y ADECUACIÓN DE MODELOS A DISTINTOS TIPOS DE DATOS Y PROBLEMAS</a:t>
            </a:r>
          </a:p>
        </p:txBody>
      </p:sp>
      <p:sp>
        <p:nvSpPr>
          <p:cNvPr id="25" name="Google Shape;406;p21">
            <a:extLst>
              <a:ext uri="{FF2B5EF4-FFF2-40B4-BE49-F238E27FC236}">
                <a16:creationId xmlns:a16="http://schemas.microsoft.com/office/drawing/2014/main" id="{3B61A467-5480-445B-A152-582EBF019D92}"/>
              </a:ext>
            </a:extLst>
          </p:cNvPr>
          <p:cNvSpPr/>
          <p:nvPr/>
        </p:nvSpPr>
        <p:spPr>
          <a:xfrm>
            <a:off x="1186764" y="1382902"/>
            <a:ext cx="6644316" cy="802728"/>
          </a:xfrm>
          <a:prstGeom prst="roundRect">
            <a:avLst>
              <a:gd name="adj" fmla="val 50000"/>
            </a:avLst>
          </a:prstGeom>
          <a:solidFill>
            <a:srgbClr val="999999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407;p21">
            <a:extLst>
              <a:ext uri="{FF2B5EF4-FFF2-40B4-BE49-F238E27FC236}">
                <a16:creationId xmlns:a16="http://schemas.microsoft.com/office/drawing/2014/main" id="{C47DDD9E-7B19-4C76-9B9C-CCE909532EE4}"/>
              </a:ext>
            </a:extLst>
          </p:cNvPr>
          <p:cNvSpPr/>
          <p:nvPr/>
        </p:nvSpPr>
        <p:spPr>
          <a:xfrm flipH="1">
            <a:off x="1349894" y="1501138"/>
            <a:ext cx="1375735" cy="566731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s-419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Lineal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408;p21">
            <a:extLst>
              <a:ext uri="{FF2B5EF4-FFF2-40B4-BE49-F238E27FC236}">
                <a16:creationId xmlns:a16="http://schemas.microsoft.com/office/drawing/2014/main" id="{EA1246BD-22F1-4AAA-BCDB-9EED2341EBE8}"/>
              </a:ext>
            </a:extLst>
          </p:cNvPr>
          <p:cNvSpPr/>
          <p:nvPr/>
        </p:nvSpPr>
        <p:spPr>
          <a:xfrm>
            <a:off x="2889182" y="1444243"/>
            <a:ext cx="4542392" cy="680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5"/>
              <a:buFont typeface="Arial"/>
              <a:buNone/>
            </a:pPr>
            <a:r>
              <a:rPr lang="es-419" sz="1600" b="0" i="0" u="none" strike="noStrike" cap="none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Si la relación entre variables es lineal, un modelo lineal es apropiado.</a:t>
            </a:r>
            <a:endParaRPr sz="16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409;p21">
            <a:extLst>
              <a:ext uri="{FF2B5EF4-FFF2-40B4-BE49-F238E27FC236}">
                <a16:creationId xmlns:a16="http://schemas.microsoft.com/office/drawing/2014/main" id="{B4032B4B-2BAA-49E8-8FB8-BF76498BC746}"/>
              </a:ext>
            </a:extLst>
          </p:cNvPr>
          <p:cNvSpPr/>
          <p:nvPr/>
        </p:nvSpPr>
        <p:spPr>
          <a:xfrm>
            <a:off x="1186764" y="2605264"/>
            <a:ext cx="6644316" cy="802728"/>
          </a:xfrm>
          <a:prstGeom prst="roundRect">
            <a:avLst>
              <a:gd name="adj" fmla="val 50000"/>
            </a:avLst>
          </a:prstGeom>
          <a:solidFill>
            <a:srgbClr val="999999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410;p21">
            <a:extLst>
              <a:ext uri="{FF2B5EF4-FFF2-40B4-BE49-F238E27FC236}">
                <a16:creationId xmlns:a16="http://schemas.microsoft.com/office/drawing/2014/main" id="{03E2A770-9AC8-4B0B-A374-A6E7B12FBAC2}"/>
              </a:ext>
            </a:extLst>
          </p:cNvPr>
          <p:cNvSpPr/>
          <p:nvPr/>
        </p:nvSpPr>
        <p:spPr>
          <a:xfrm flipH="1">
            <a:off x="1349894" y="2723500"/>
            <a:ext cx="1375735" cy="566731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s-419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lineal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411;p21">
            <a:extLst>
              <a:ext uri="{FF2B5EF4-FFF2-40B4-BE49-F238E27FC236}">
                <a16:creationId xmlns:a16="http://schemas.microsoft.com/office/drawing/2014/main" id="{56EA6A76-D7DA-4EF2-9643-25A34B41722B}"/>
              </a:ext>
            </a:extLst>
          </p:cNvPr>
          <p:cNvSpPr/>
          <p:nvPr/>
        </p:nvSpPr>
        <p:spPr>
          <a:xfrm>
            <a:off x="2889182" y="2666604"/>
            <a:ext cx="4542392" cy="680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5"/>
              <a:buFont typeface="Arial"/>
              <a:buNone/>
            </a:pPr>
            <a:r>
              <a:rPr lang="es-419" sz="1600" b="0" i="0" u="none" strike="noStrike" cap="none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Si hay patrones no muy lineales o interacciones, conviene usar modelos no paramétricos (árboles de decisión, SVM con </a:t>
            </a:r>
            <a:r>
              <a:rPr lang="es-419" sz="1600" b="0" i="0" u="none" strike="noStrike" cap="none" dirty="0" err="1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kernel</a:t>
            </a:r>
            <a:r>
              <a:rPr lang="es-419" sz="1600" b="0" i="0" u="none" strike="noStrike" cap="none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16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412;p21">
            <a:extLst>
              <a:ext uri="{FF2B5EF4-FFF2-40B4-BE49-F238E27FC236}">
                <a16:creationId xmlns:a16="http://schemas.microsoft.com/office/drawing/2014/main" id="{10222D6D-B397-4C7E-8392-C9721C5C9714}"/>
              </a:ext>
            </a:extLst>
          </p:cNvPr>
          <p:cNvSpPr/>
          <p:nvPr/>
        </p:nvSpPr>
        <p:spPr>
          <a:xfrm>
            <a:off x="1186764" y="3827626"/>
            <a:ext cx="6644316" cy="802728"/>
          </a:xfrm>
          <a:prstGeom prst="roundRect">
            <a:avLst>
              <a:gd name="adj" fmla="val 50000"/>
            </a:avLst>
          </a:prstGeom>
          <a:solidFill>
            <a:srgbClr val="999999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413;p21">
            <a:extLst>
              <a:ext uri="{FF2B5EF4-FFF2-40B4-BE49-F238E27FC236}">
                <a16:creationId xmlns:a16="http://schemas.microsoft.com/office/drawing/2014/main" id="{9E1B4078-2E73-4CB4-AEC9-2A92D077C703}"/>
              </a:ext>
            </a:extLst>
          </p:cNvPr>
          <p:cNvSpPr/>
          <p:nvPr/>
        </p:nvSpPr>
        <p:spPr>
          <a:xfrm flipH="1">
            <a:off x="1349894" y="3945863"/>
            <a:ext cx="1375735" cy="566731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s-419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Ejemplo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414;p21">
            <a:extLst>
              <a:ext uri="{FF2B5EF4-FFF2-40B4-BE49-F238E27FC236}">
                <a16:creationId xmlns:a16="http://schemas.microsoft.com/office/drawing/2014/main" id="{3406F7D3-820C-471A-9B96-7D7E5E855918}"/>
              </a:ext>
            </a:extLst>
          </p:cNvPr>
          <p:cNvSpPr/>
          <p:nvPr/>
        </p:nvSpPr>
        <p:spPr>
          <a:xfrm>
            <a:off x="2889182" y="3888966"/>
            <a:ext cx="4542392" cy="680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sz="1600" b="0" i="0" u="none" strike="noStrike" cap="none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Predecir peso humano (relación casi lineal con la altura) vs. clasificar imágenes (relaciones complejas, usar CNN o árboles).</a:t>
            </a:r>
            <a:endParaRPr sz="16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415;p21">
            <a:extLst>
              <a:ext uri="{FF2B5EF4-FFF2-40B4-BE49-F238E27FC236}">
                <a16:creationId xmlns:a16="http://schemas.microsoft.com/office/drawing/2014/main" id="{57A00CA9-7CC9-42F6-918F-026F18F524A6}"/>
              </a:ext>
            </a:extLst>
          </p:cNvPr>
          <p:cNvCxnSpPr/>
          <p:nvPr/>
        </p:nvCxnSpPr>
        <p:spPr>
          <a:xfrm>
            <a:off x="896509" y="1971858"/>
            <a:ext cx="0" cy="846886"/>
          </a:xfrm>
          <a:prstGeom prst="straightConnector1">
            <a:avLst/>
          </a:prstGeom>
          <a:noFill/>
          <a:ln w="19050" cap="flat" cmpd="sng">
            <a:solidFill>
              <a:srgbClr val="999999">
                <a:alpha val="2000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7" name="Google Shape;416;p21">
            <a:extLst>
              <a:ext uri="{FF2B5EF4-FFF2-40B4-BE49-F238E27FC236}">
                <a16:creationId xmlns:a16="http://schemas.microsoft.com/office/drawing/2014/main" id="{958B3146-A0DC-4EB0-B1D2-9A56DB5B0A98}"/>
              </a:ext>
            </a:extLst>
          </p:cNvPr>
          <p:cNvSpPr/>
          <p:nvPr/>
        </p:nvSpPr>
        <p:spPr>
          <a:xfrm>
            <a:off x="708488" y="1596705"/>
            <a:ext cx="375476" cy="375476"/>
          </a:xfrm>
          <a:prstGeom prst="ellipse">
            <a:avLst/>
          </a:prstGeom>
          <a:solidFill>
            <a:srgbClr val="3F3F3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7"/>
              <a:buFont typeface="Arial"/>
              <a:buNone/>
            </a:pPr>
            <a:r>
              <a:rPr lang="es-419" sz="16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417;p21">
            <a:extLst>
              <a:ext uri="{FF2B5EF4-FFF2-40B4-BE49-F238E27FC236}">
                <a16:creationId xmlns:a16="http://schemas.microsoft.com/office/drawing/2014/main" id="{6A2897B1-D73B-4BB3-807A-A4BB26A5F454}"/>
              </a:ext>
            </a:extLst>
          </p:cNvPr>
          <p:cNvSpPr/>
          <p:nvPr/>
        </p:nvSpPr>
        <p:spPr>
          <a:xfrm>
            <a:off x="708488" y="2819066"/>
            <a:ext cx="375476" cy="375476"/>
          </a:xfrm>
          <a:prstGeom prst="ellipse">
            <a:avLst/>
          </a:prstGeom>
          <a:solidFill>
            <a:srgbClr val="3F3F3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7"/>
              <a:buFont typeface="Arial"/>
              <a:buNone/>
            </a:pPr>
            <a:r>
              <a:rPr lang="es-419" sz="16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418;p21">
            <a:extLst>
              <a:ext uri="{FF2B5EF4-FFF2-40B4-BE49-F238E27FC236}">
                <a16:creationId xmlns:a16="http://schemas.microsoft.com/office/drawing/2014/main" id="{E5FFEB85-7505-4FE3-B89F-5D82009FAB0D}"/>
              </a:ext>
            </a:extLst>
          </p:cNvPr>
          <p:cNvSpPr/>
          <p:nvPr/>
        </p:nvSpPr>
        <p:spPr>
          <a:xfrm>
            <a:off x="708488" y="4041428"/>
            <a:ext cx="375476" cy="375476"/>
          </a:xfrm>
          <a:prstGeom prst="ellipse">
            <a:avLst/>
          </a:prstGeom>
          <a:solidFill>
            <a:srgbClr val="3F3F3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7"/>
              <a:buFont typeface="Arial"/>
              <a:buNone/>
            </a:pPr>
            <a:r>
              <a:rPr lang="es-419" sz="16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" name="Google Shape;419;p21">
            <a:extLst>
              <a:ext uri="{FF2B5EF4-FFF2-40B4-BE49-F238E27FC236}">
                <a16:creationId xmlns:a16="http://schemas.microsoft.com/office/drawing/2014/main" id="{ABA9593F-7567-43F2-9067-DCB24B7EF83D}"/>
              </a:ext>
            </a:extLst>
          </p:cNvPr>
          <p:cNvCxnSpPr/>
          <p:nvPr/>
        </p:nvCxnSpPr>
        <p:spPr>
          <a:xfrm>
            <a:off x="896509" y="3194220"/>
            <a:ext cx="0" cy="846886"/>
          </a:xfrm>
          <a:prstGeom prst="straightConnector1">
            <a:avLst/>
          </a:prstGeom>
          <a:noFill/>
          <a:ln w="19050" cap="flat" cmpd="sng">
            <a:solidFill>
              <a:srgbClr val="999999">
                <a:alpha val="2000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7123203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/>
          <p:nvPr/>
        </p:nvSpPr>
        <p:spPr>
          <a:xfrm>
            <a:off x="506796" y="918372"/>
            <a:ext cx="777766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MX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DE LOS DATOS</a:t>
            </a:r>
          </a:p>
        </p:txBody>
      </p:sp>
      <p:sp>
        <p:nvSpPr>
          <p:cNvPr id="23" name="Google Shape;77;p5">
            <a:extLst>
              <a:ext uri="{FF2B5EF4-FFF2-40B4-BE49-F238E27FC236}">
                <a16:creationId xmlns:a16="http://schemas.microsoft.com/office/drawing/2014/main" id="{AE740DFD-9F8A-474D-AA8C-B8B75284B935}"/>
              </a:ext>
            </a:extLst>
          </p:cNvPr>
          <p:cNvSpPr/>
          <p:nvPr/>
        </p:nvSpPr>
        <p:spPr>
          <a:xfrm>
            <a:off x="503237" y="380615"/>
            <a:ext cx="618850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CRITERIOS TEÓRICOS PARA LA SELECCIÓN Y ADECUACIÓN DE MODELOS A DISTINTOS TIPOS DE DATOS Y PROBLEMAS</a:t>
            </a:r>
          </a:p>
        </p:txBody>
      </p:sp>
      <p:sp>
        <p:nvSpPr>
          <p:cNvPr id="18" name="Google Shape;426;p22">
            <a:extLst>
              <a:ext uri="{FF2B5EF4-FFF2-40B4-BE49-F238E27FC236}">
                <a16:creationId xmlns:a16="http://schemas.microsoft.com/office/drawing/2014/main" id="{D43799F0-82E3-4828-86DF-23B4CDD065E5}"/>
              </a:ext>
            </a:extLst>
          </p:cNvPr>
          <p:cNvSpPr/>
          <p:nvPr/>
        </p:nvSpPr>
        <p:spPr>
          <a:xfrm>
            <a:off x="3069907" y="1494272"/>
            <a:ext cx="3172459" cy="3172459"/>
          </a:xfrm>
          <a:prstGeom prst="ellipse">
            <a:avLst/>
          </a:prstGeom>
          <a:gradFill>
            <a:gsLst>
              <a:gs pos="0">
                <a:srgbClr val="DDEAF6">
                  <a:alpha val="0"/>
                </a:srgbClr>
              </a:gs>
              <a:gs pos="100000">
                <a:srgbClr val="DDEAF6">
                  <a:alpha val="50980"/>
                </a:srgbClr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427;p22">
            <a:extLst>
              <a:ext uri="{FF2B5EF4-FFF2-40B4-BE49-F238E27FC236}">
                <a16:creationId xmlns:a16="http://schemas.microsoft.com/office/drawing/2014/main" id="{DE22DCC2-2C33-4F3D-9696-F11B8E15797B}"/>
              </a:ext>
            </a:extLst>
          </p:cNvPr>
          <p:cNvSpPr/>
          <p:nvPr/>
        </p:nvSpPr>
        <p:spPr>
          <a:xfrm>
            <a:off x="3832060" y="2256427"/>
            <a:ext cx="1648152" cy="1648152"/>
          </a:xfrm>
          <a:prstGeom prst="ellipse">
            <a:avLst/>
          </a:prstGeom>
          <a:solidFill>
            <a:srgbClr val="DDEAF6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428;p22">
            <a:extLst>
              <a:ext uri="{FF2B5EF4-FFF2-40B4-BE49-F238E27FC236}">
                <a16:creationId xmlns:a16="http://schemas.microsoft.com/office/drawing/2014/main" id="{800B9715-5135-419D-830C-DCA483AE82B1}"/>
              </a:ext>
            </a:extLst>
          </p:cNvPr>
          <p:cNvSpPr/>
          <p:nvPr/>
        </p:nvSpPr>
        <p:spPr>
          <a:xfrm>
            <a:off x="3949853" y="2368165"/>
            <a:ext cx="1425333" cy="1425333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215900" dist="38100" dir="2700000" algn="tl" rotWithShape="0">
              <a:srgbClr val="2E75B5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0"/>
              <a:buFont typeface="Arial"/>
              <a:buNone/>
            </a:pPr>
            <a:endParaRPr sz="16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429;p22">
            <a:extLst>
              <a:ext uri="{FF2B5EF4-FFF2-40B4-BE49-F238E27FC236}">
                <a16:creationId xmlns:a16="http://schemas.microsoft.com/office/drawing/2014/main" id="{94910CC4-91AE-4CC6-8320-8FE7F95C6A44}"/>
              </a:ext>
            </a:extLst>
          </p:cNvPr>
          <p:cNvSpPr/>
          <p:nvPr/>
        </p:nvSpPr>
        <p:spPr>
          <a:xfrm>
            <a:off x="3396277" y="1820643"/>
            <a:ext cx="2519717" cy="2520182"/>
          </a:xfrm>
          <a:prstGeom prst="ellipse">
            <a:avLst/>
          </a:prstGeom>
          <a:noFill/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430;p22">
            <a:extLst>
              <a:ext uri="{FF2B5EF4-FFF2-40B4-BE49-F238E27FC236}">
                <a16:creationId xmlns:a16="http://schemas.microsoft.com/office/drawing/2014/main" id="{B3ABC25E-3684-47B2-ACCC-AC549A0CDFDD}"/>
              </a:ext>
            </a:extLst>
          </p:cNvPr>
          <p:cNvSpPr/>
          <p:nvPr/>
        </p:nvSpPr>
        <p:spPr>
          <a:xfrm>
            <a:off x="3658399" y="3797494"/>
            <a:ext cx="428333" cy="428333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139700" dist="50800" dir="2700000" algn="tl" rotWithShape="0">
              <a:srgbClr val="2E75B5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431;p22">
            <a:extLst>
              <a:ext uri="{FF2B5EF4-FFF2-40B4-BE49-F238E27FC236}">
                <a16:creationId xmlns:a16="http://schemas.microsoft.com/office/drawing/2014/main" id="{36F7D2A6-EAFD-4B7A-B9D1-3DEE313670C6}"/>
              </a:ext>
            </a:extLst>
          </p:cNvPr>
          <p:cNvSpPr/>
          <p:nvPr/>
        </p:nvSpPr>
        <p:spPr>
          <a:xfrm>
            <a:off x="3654209" y="1924933"/>
            <a:ext cx="428333" cy="428333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139700" dist="50800" dir="2700000" algn="tl" rotWithShape="0">
              <a:srgbClr val="2E75B5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432;p22">
            <a:extLst>
              <a:ext uri="{FF2B5EF4-FFF2-40B4-BE49-F238E27FC236}">
                <a16:creationId xmlns:a16="http://schemas.microsoft.com/office/drawing/2014/main" id="{1C9C7594-CE3B-4A2E-ADC6-B55AEF5CF928}"/>
              </a:ext>
            </a:extLst>
          </p:cNvPr>
          <p:cNvSpPr/>
          <p:nvPr/>
        </p:nvSpPr>
        <p:spPr>
          <a:xfrm>
            <a:off x="5662253" y="2960383"/>
            <a:ext cx="428333" cy="428333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139700" dist="50800" dir="2700000" algn="tl" rotWithShape="0">
              <a:srgbClr val="2E75B5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34;p22">
            <a:extLst>
              <a:ext uri="{FF2B5EF4-FFF2-40B4-BE49-F238E27FC236}">
                <a16:creationId xmlns:a16="http://schemas.microsoft.com/office/drawing/2014/main" id="{D16FF00F-F9DC-4564-B8C6-2AA413172A96}"/>
              </a:ext>
            </a:extLst>
          </p:cNvPr>
          <p:cNvSpPr/>
          <p:nvPr/>
        </p:nvSpPr>
        <p:spPr>
          <a:xfrm>
            <a:off x="732697" y="1324336"/>
            <a:ext cx="2337209" cy="55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5"/>
              <a:buFont typeface="Arial"/>
              <a:buNone/>
            </a:pPr>
            <a:r>
              <a:rPr lang="es-419" sz="1600" b="1" i="0" u="none" strike="noStrike" cap="none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Datos estructurados</a:t>
            </a:r>
            <a:endParaRPr sz="1600" b="1" i="0" u="none" strike="noStrike" cap="none" dirty="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6;p22">
            <a:extLst>
              <a:ext uri="{FF2B5EF4-FFF2-40B4-BE49-F238E27FC236}">
                <a16:creationId xmlns:a16="http://schemas.microsoft.com/office/drawing/2014/main" id="{8A08F3A7-6EE5-4860-93F3-48DB2EB370F8}"/>
              </a:ext>
            </a:extLst>
          </p:cNvPr>
          <p:cNvSpPr/>
          <p:nvPr/>
        </p:nvSpPr>
        <p:spPr>
          <a:xfrm>
            <a:off x="589449" y="3447378"/>
            <a:ext cx="2479212" cy="55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s-419" sz="1600" b="1" i="0" u="none" strike="noStrike" cap="none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Datos no estructurados</a:t>
            </a:r>
            <a:endParaRPr sz="1600" b="1" i="0" u="none" strike="noStrike" cap="none" dirty="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38;p22">
            <a:extLst>
              <a:ext uri="{FF2B5EF4-FFF2-40B4-BE49-F238E27FC236}">
                <a16:creationId xmlns:a16="http://schemas.microsoft.com/office/drawing/2014/main" id="{364DA68D-D5AB-4516-B26D-091D192A4752}"/>
              </a:ext>
            </a:extLst>
          </p:cNvPr>
          <p:cNvSpPr/>
          <p:nvPr/>
        </p:nvSpPr>
        <p:spPr>
          <a:xfrm>
            <a:off x="6336500" y="2263234"/>
            <a:ext cx="2337209" cy="55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5"/>
              <a:buFont typeface="Arial"/>
              <a:buNone/>
            </a:pPr>
            <a:r>
              <a:rPr lang="es-419" sz="1600" b="1" i="0" u="none" strike="noStrike" cap="none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Ejemplo</a:t>
            </a:r>
            <a:endParaRPr sz="1600" b="1" i="0" u="none" strike="noStrike" cap="none" dirty="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39;p22">
            <a:extLst>
              <a:ext uri="{FF2B5EF4-FFF2-40B4-BE49-F238E27FC236}">
                <a16:creationId xmlns:a16="http://schemas.microsoft.com/office/drawing/2014/main" id="{85C17846-19E1-4995-A3D5-41ED2DE8FA76}"/>
              </a:ext>
            </a:extLst>
          </p:cNvPr>
          <p:cNvSpPr/>
          <p:nvPr/>
        </p:nvSpPr>
        <p:spPr>
          <a:xfrm rot="6328185">
            <a:off x="3641173" y="2065538"/>
            <a:ext cx="2030392" cy="2030392"/>
          </a:xfrm>
          <a:prstGeom prst="arc">
            <a:avLst>
              <a:gd name="adj1" fmla="val 15835561"/>
              <a:gd name="adj2" fmla="val 21121678"/>
            </a:avLst>
          </a:prstGeom>
          <a:noFill/>
          <a:ln w="9525" cap="flat" cmpd="sng">
            <a:solidFill>
              <a:srgbClr val="00B0F0"/>
            </a:solidFill>
            <a:prstDash val="dash"/>
            <a:miter lim="800000"/>
            <a:headEnd type="none" w="sm" len="sm"/>
            <a:tailEnd type="triangle" w="med" len="med"/>
          </a:ln>
          <a:effectLst>
            <a:outerShdw blurRad="50800" dist="38100" dir="2700000" algn="tl" rotWithShape="0">
              <a:srgbClr val="2E75B5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40;p22">
            <a:extLst>
              <a:ext uri="{FF2B5EF4-FFF2-40B4-BE49-F238E27FC236}">
                <a16:creationId xmlns:a16="http://schemas.microsoft.com/office/drawing/2014/main" id="{12E06D55-1CF7-42D8-9D1D-F2FD9F407296}"/>
              </a:ext>
            </a:extLst>
          </p:cNvPr>
          <p:cNvSpPr/>
          <p:nvPr/>
        </p:nvSpPr>
        <p:spPr>
          <a:xfrm rot="-720000">
            <a:off x="3650950" y="2066004"/>
            <a:ext cx="2030392" cy="2030392"/>
          </a:xfrm>
          <a:prstGeom prst="arc">
            <a:avLst>
              <a:gd name="adj1" fmla="val 15835561"/>
              <a:gd name="adj2" fmla="val 21121678"/>
            </a:avLst>
          </a:prstGeom>
          <a:noFill/>
          <a:ln w="9525" cap="flat" cmpd="sng">
            <a:solidFill>
              <a:srgbClr val="00B0F0"/>
            </a:solidFill>
            <a:prstDash val="dash"/>
            <a:miter lim="800000"/>
            <a:headEnd type="none" w="sm" len="sm"/>
            <a:tailEnd type="triangle" w="med" len="med"/>
          </a:ln>
          <a:effectLst>
            <a:outerShdw blurRad="50800" dist="38100" dir="2700000" algn="tl" rotWithShape="0">
              <a:srgbClr val="2E75B5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41;p22">
            <a:extLst>
              <a:ext uri="{FF2B5EF4-FFF2-40B4-BE49-F238E27FC236}">
                <a16:creationId xmlns:a16="http://schemas.microsoft.com/office/drawing/2014/main" id="{31E1453A-B861-4008-9EA5-DA952732C5F5}"/>
              </a:ext>
            </a:extLst>
          </p:cNvPr>
          <p:cNvSpPr/>
          <p:nvPr/>
        </p:nvSpPr>
        <p:spPr>
          <a:xfrm rot="-8460000">
            <a:off x="3650950" y="2066004"/>
            <a:ext cx="2030392" cy="2030392"/>
          </a:xfrm>
          <a:prstGeom prst="arc">
            <a:avLst>
              <a:gd name="adj1" fmla="val 15835561"/>
              <a:gd name="adj2" fmla="val 21121678"/>
            </a:avLst>
          </a:prstGeom>
          <a:noFill/>
          <a:ln w="9525" cap="flat" cmpd="sng">
            <a:solidFill>
              <a:srgbClr val="00B0F0"/>
            </a:solidFill>
            <a:prstDash val="dash"/>
            <a:miter lim="800000"/>
            <a:headEnd type="none" w="sm" len="sm"/>
            <a:tailEnd type="triangle" w="med" len="med"/>
          </a:ln>
          <a:effectLst>
            <a:outerShdw blurRad="50800" dist="38100" dir="2700000" algn="tl" rotWithShape="0">
              <a:srgbClr val="2E75B5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42;p22">
            <a:extLst>
              <a:ext uri="{FF2B5EF4-FFF2-40B4-BE49-F238E27FC236}">
                <a16:creationId xmlns:a16="http://schemas.microsoft.com/office/drawing/2014/main" id="{143ED26D-569C-4FDD-89FC-8F5A8160C48D}"/>
              </a:ext>
            </a:extLst>
          </p:cNvPr>
          <p:cNvSpPr/>
          <p:nvPr/>
        </p:nvSpPr>
        <p:spPr>
          <a:xfrm>
            <a:off x="3770138" y="2044587"/>
            <a:ext cx="193724" cy="193360"/>
          </a:xfrm>
          <a:custGeom>
            <a:avLst/>
            <a:gdLst/>
            <a:ahLst/>
            <a:cxnLst/>
            <a:rect l="l" t="t" r="r" b="b"/>
            <a:pathLst>
              <a:path w="264219" h="263722" extrusionOk="0">
                <a:moveTo>
                  <a:pt x="152509" y="149611"/>
                </a:moveTo>
                <a:lnTo>
                  <a:pt x="230764" y="149611"/>
                </a:lnTo>
                <a:cubicBezTo>
                  <a:pt x="240905" y="149611"/>
                  <a:pt x="249126" y="157769"/>
                  <a:pt x="249126" y="167833"/>
                </a:cubicBezTo>
                <a:lnTo>
                  <a:pt x="249126" y="245499"/>
                </a:lnTo>
                <a:cubicBezTo>
                  <a:pt x="249126" y="255564"/>
                  <a:pt x="240905" y="263722"/>
                  <a:pt x="230764" y="263722"/>
                </a:cubicBezTo>
                <a:lnTo>
                  <a:pt x="152509" y="263722"/>
                </a:lnTo>
                <a:cubicBezTo>
                  <a:pt x="142368" y="263722"/>
                  <a:pt x="134147" y="255564"/>
                  <a:pt x="134147" y="245499"/>
                </a:cubicBezTo>
                <a:lnTo>
                  <a:pt x="134147" y="167833"/>
                </a:lnTo>
                <a:cubicBezTo>
                  <a:pt x="134147" y="157769"/>
                  <a:pt x="142368" y="149611"/>
                  <a:pt x="152509" y="149611"/>
                </a:cubicBezTo>
                <a:close/>
                <a:moveTo>
                  <a:pt x="18361" y="149611"/>
                </a:moveTo>
                <a:lnTo>
                  <a:pt x="96616" y="149611"/>
                </a:lnTo>
                <a:cubicBezTo>
                  <a:pt x="106757" y="149611"/>
                  <a:pt x="114978" y="157769"/>
                  <a:pt x="114978" y="167833"/>
                </a:cubicBezTo>
                <a:lnTo>
                  <a:pt x="114978" y="245499"/>
                </a:lnTo>
                <a:cubicBezTo>
                  <a:pt x="114978" y="255564"/>
                  <a:pt x="106757" y="263722"/>
                  <a:pt x="96616" y="263722"/>
                </a:cubicBezTo>
                <a:lnTo>
                  <a:pt x="18361" y="263722"/>
                </a:lnTo>
                <a:cubicBezTo>
                  <a:pt x="8220" y="263722"/>
                  <a:pt x="0" y="255564"/>
                  <a:pt x="0" y="245499"/>
                </a:cubicBezTo>
                <a:lnTo>
                  <a:pt x="0" y="167833"/>
                </a:lnTo>
                <a:cubicBezTo>
                  <a:pt x="0" y="157769"/>
                  <a:pt x="8220" y="149611"/>
                  <a:pt x="18361" y="149611"/>
                </a:cubicBezTo>
                <a:close/>
                <a:moveTo>
                  <a:pt x="193917" y="43985"/>
                </a:moveTo>
                <a:lnTo>
                  <a:pt x="167955" y="69752"/>
                </a:lnTo>
                <a:lnTo>
                  <a:pt x="193917" y="95520"/>
                </a:lnTo>
                <a:lnTo>
                  <a:pt x="219881" y="69752"/>
                </a:lnTo>
                <a:close/>
                <a:moveTo>
                  <a:pt x="18361" y="16475"/>
                </a:moveTo>
                <a:lnTo>
                  <a:pt x="96616" y="16475"/>
                </a:lnTo>
                <a:cubicBezTo>
                  <a:pt x="106757" y="16475"/>
                  <a:pt x="114978" y="24634"/>
                  <a:pt x="114978" y="34698"/>
                </a:cubicBezTo>
                <a:lnTo>
                  <a:pt x="114978" y="112364"/>
                </a:lnTo>
                <a:cubicBezTo>
                  <a:pt x="114978" y="122427"/>
                  <a:pt x="106757" y="130586"/>
                  <a:pt x="96616" y="130586"/>
                </a:cubicBezTo>
                <a:lnTo>
                  <a:pt x="18361" y="130586"/>
                </a:lnTo>
                <a:cubicBezTo>
                  <a:pt x="8220" y="130586"/>
                  <a:pt x="0" y="122427"/>
                  <a:pt x="0" y="112364"/>
                </a:cubicBezTo>
                <a:lnTo>
                  <a:pt x="0" y="34698"/>
                </a:lnTo>
                <a:cubicBezTo>
                  <a:pt x="0" y="24634"/>
                  <a:pt x="8220" y="16475"/>
                  <a:pt x="18361" y="16475"/>
                </a:cubicBezTo>
                <a:close/>
                <a:moveTo>
                  <a:pt x="193899" y="0"/>
                </a:moveTo>
                <a:cubicBezTo>
                  <a:pt x="198597" y="0"/>
                  <a:pt x="203295" y="1778"/>
                  <a:pt x="206880" y="5335"/>
                </a:cubicBezTo>
                <a:lnTo>
                  <a:pt x="206898" y="5335"/>
                </a:lnTo>
                <a:lnTo>
                  <a:pt x="258843" y="56869"/>
                </a:lnTo>
                <a:cubicBezTo>
                  <a:pt x="266011" y="63985"/>
                  <a:pt x="266011" y="75520"/>
                  <a:pt x="258843" y="82636"/>
                </a:cubicBezTo>
                <a:lnTo>
                  <a:pt x="206898" y="134188"/>
                </a:lnTo>
                <a:cubicBezTo>
                  <a:pt x="199728" y="141302"/>
                  <a:pt x="188106" y="141302"/>
                  <a:pt x="180936" y="134188"/>
                </a:cubicBezTo>
                <a:lnTo>
                  <a:pt x="129010" y="82636"/>
                </a:lnTo>
                <a:cubicBezTo>
                  <a:pt x="121843" y="75520"/>
                  <a:pt x="121843" y="63985"/>
                  <a:pt x="129010" y="56869"/>
                </a:cubicBezTo>
                <a:lnTo>
                  <a:pt x="180918" y="5335"/>
                </a:lnTo>
                <a:cubicBezTo>
                  <a:pt x="184503" y="1778"/>
                  <a:pt x="189201" y="0"/>
                  <a:pt x="19389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443;p22" descr="343439383331313b343532303031393bd2b5bca8b9dcc0ed">
            <a:extLst>
              <a:ext uri="{FF2B5EF4-FFF2-40B4-BE49-F238E27FC236}">
                <a16:creationId xmlns:a16="http://schemas.microsoft.com/office/drawing/2014/main" id="{EE995098-5C8A-4285-81EC-AFB30FDAC8AF}"/>
              </a:ext>
            </a:extLst>
          </p:cNvPr>
          <p:cNvSpPr/>
          <p:nvPr/>
        </p:nvSpPr>
        <p:spPr>
          <a:xfrm>
            <a:off x="3781778" y="3927391"/>
            <a:ext cx="182041" cy="168996"/>
          </a:xfrm>
          <a:custGeom>
            <a:avLst/>
            <a:gdLst/>
            <a:ahLst/>
            <a:cxnLst/>
            <a:rect l="l" t="t" r="r" b="b"/>
            <a:pathLst>
              <a:path w="248284" h="230492" extrusionOk="0">
                <a:moveTo>
                  <a:pt x="219264" y="115"/>
                </a:moveTo>
                <a:lnTo>
                  <a:pt x="28616" y="115"/>
                </a:lnTo>
                <a:cubicBezTo>
                  <a:pt x="12782" y="115"/>
                  <a:pt x="114" y="12884"/>
                  <a:pt x="114" y="28847"/>
                </a:cubicBezTo>
                <a:lnTo>
                  <a:pt x="114" y="152713"/>
                </a:lnTo>
                <a:cubicBezTo>
                  <a:pt x="114" y="168675"/>
                  <a:pt x="12782" y="181444"/>
                  <a:pt x="28616" y="181444"/>
                </a:cubicBezTo>
                <a:lnTo>
                  <a:pt x="100188" y="181444"/>
                </a:lnTo>
                <a:lnTo>
                  <a:pt x="100188" y="216561"/>
                </a:lnTo>
                <a:lnTo>
                  <a:pt x="60918" y="216561"/>
                </a:lnTo>
                <a:cubicBezTo>
                  <a:pt x="57118" y="216561"/>
                  <a:pt x="53951" y="219754"/>
                  <a:pt x="53951" y="223584"/>
                </a:cubicBezTo>
                <a:cubicBezTo>
                  <a:pt x="53951" y="227415"/>
                  <a:pt x="57118" y="230608"/>
                  <a:pt x="60918" y="230608"/>
                </a:cubicBezTo>
                <a:lnTo>
                  <a:pt x="181894" y="230608"/>
                </a:lnTo>
                <a:cubicBezTo>
                  <a:pt x="185695" y="230608"/>
                  <a:pt x="188861" y="227415"/>
                  <a:pt x="188861" y="223584"/>
                </a:cubicBezTo>
                <a:cubicBezTo>
                  <a:pt x="188861" y="219754"/>
                  <a:pt x="185695" y="216561"/>
                  <a:pt x="181894" y="216561"/>
                </a:cubicBezTo>
                <a:lnTo>
                  <a:pt x="143258" y="216561"/>
                </a:lnTo>
                <a:lnTo>
                  <a:pt x="143258" y="181444"/>
                </a:lnTo>
                <a:lnTo>
                  <a:pt x="219897" y="181444"/>
                </a:lnTo>
                <a:cubicBezTo>
                  <a:pt x="235732" y="181444"/>
                  <a:pt x="248399" y="168675"/>
                  <a:pt x="248399" y="152713"/>
                </a:cubicBezTo>
                <a:lnTo>
                  <a:pt x="248399" y="28847"/>
                </a:lnTo>
                <a:cubicBezTo>
                  <a:pt x="247765" y="13523"/>
                  <a:pt x="235098" y="115"/>
                  <a:pt x="219264" y="115"/>
                </a:cubicBezTo>
                <a:moveTo>
                  <a:pt x="206596" y="42893"/>
                </a:moveTo>
                <a:cubicBezTo>
                  <a:pt x="206596" y="42893"/>
                  <a:pt x="206596" y="43532"/>
                  <a:pt x="206596" y="42893"/>
                </a:cubicBezTo>
                <a:lnTo>
                  <a:pt x="206596" y="43532"/>
                </a:lnTo>
                <a:lnTo>
                  <a:pt x="135658" y="138666"/>
                </a:lnTo>
                <a:lnTo>
                  <a:pt x="133758" y="137389"/>
                </a:lnTo>
                <a:lnTo>
                  <a:pt x="78020" y="96526"/>
                </a:lnTo>
                <a:lnTo>
                  <a:pt x="58385" y="122065"/>
                </a:lnTo>
                <a:cubicBezTo>
                  <a:pt x="56485" y="125258"/>
                  <a:pt x="52685" y="126535"/>
                  <a:pt x="49518" y="125258"/>
                </a:cubicBezTo>
                <a:cubicBezTo>
                  <a:pt x="45717" y="123981"/>
                  <a:pt x="43817" y="119511"/>
                  <a:pt x="45084" y="115681"/>
                </a:cubicBezTo>
                <a:cubicBezTo>
                  <a:pt x="45084" y="115043"/>
                  <a:pt x="45084" y="115043"/>
                  <a:pt x="45717" y="114404"/>
                </a:cubicBezTo>
                <a:lnTo>
                  <a:pt x="72319" y="79287"/>
                </a:lnTo>
                <a:lnTo>
                  <a:pt x="74853" y="76095"/>
                </a:lnTo>
                <a:lnTo>
                  <a:pt x="132490" y="118873"/>
                </a:lnTo>
                <a:lnTo>
                  <a:pt x="195195" y="35232"/>
                </a:lnTo>
                <a:cubicBezTo>
                  <a:pt x="197096" y="33316"/>
                  <a:pt x="200262" y="32678"/>
                  <a:pt x="202795" y="33955"/>
                </a:cubicBezTo>
                <a:cubicBezTo>
                  <a:pt x="206596" y="35232"/>
                  <a:pt x="208496" y="39062"/>
                  <a:pt x="206596" y="42893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444;p22" descr="343439383331313b343532303032303bb8f6c8cbd0c5cfa2">
            <a:extLst>
              <a:ext uri="{FF2B5EF4-FFF2-40B4-BE49-F238E27FC236}">
                <a16:creationId xmlns:a16="http://schemas.microsoft.com/office/drawing/2014/main" id="{F29BD06E-86F6-4E3D-8C67-854A8A026BD8}"/>
              </a:ext>
            </a:extLst>
          </p:cNvPr>
          <p:cNvSpPr/>
          <p:nvPr/>
        </p:nvSpPr>
        <p:spPr>
          <a:xfrm>
            <a:off x="5787029" y="3083295"/>
            <a:ext cx="192207" cy="192284"/>
          </a:xfrm>
          <a:custGeom>
            <a:avLst/>
            <a:gdLst/>
            <a:ahLst/>
            <a:cxnLst/>
            <a:rect l="l" t="t" r="r" b="b"/>
            <a:pathLst>
              <a:path w="262149" h="262254" extrusionOk="0">
                <a:moveTo>
                  <a:pt x="238163" y="114"/>
                </a:moveTo>
                <a:lnTo>
                  <a:pt x="191653" y="114"/>
                </a:lnTo>
                <a:lnTo>
                  <a:pt x="190384" y="114"/>
                </a:lnTo>
                <a:lnTo>
                  <a:pt x="41128" y="538"/>
                </a:lnTo>
                <a:cubicBezTo>
                  <a:pt x="28020" y="538"/>
                  <a:pt x="17450" y="11130"/>
                  <a:pt x="17450" y="24264"/>
                </a:cubicBezTo>
                <a:lnTo>
                  <a:pt x="17450" y="59852"/>
                </a:lnTo>
                <a:lnTo>
                  <a:pt x="44510" y="59852"/>
                </a:lnTo>
                <a:cubicBezTo>
                  <a:pt x="49584" y="59852"/>
                  <a:pt x="53390" y="63665"/>
                  <a:pt x="53390" y="68749"/>
                </a:cubicBezTo>
                <a:lnTo>
                  <a:pt x="53390" y="74681"/>
                </a:lnTo>
                <a:cubicBezTo>
                  <a:pt x="53390" y="79765"/>
                  <a:pt x="49584" y="83578"/>
                  <a:pt x="44510" y="83578"/>
                </a:cubicBezTo>
                <a:lnTo>
                  <a:pt x="41551" y="83578"/>
                </a:lnTo>
                <a:lnTo>
                  <a:pt x="41551" y="80612"/>
                </a:lnTo>
                <a:cubicBezTo>
                  <a:pt x="41551" y="75528"/>
                  <a:pt x="37745" y="71715"/>
                  <a:pt x="32671" y="71715"/>
                </a:cubicBezTo>
                <a:lnTo>
                  <a:pt x="8148" y="71715"/>
                </a:lnTo>
                <a:cubicBezTo>
                  <a:pt x="4765" y="72139"/>
                  <a:pt x="1805" y="74257"/>
                  <a:pt x="537" y="77647"/>
                </a:cubicBezTo>
                <a:cubicBezTo>
                  <a:pt x="114" y="78494"/>
                  <a:pt x="114" y="79765"/>
                  <a:pt x="114" y="80612"/>
                </a:cubicBezTo>
                <a:lnTo>
                  <a:pt x="114" y="86544"/>
                </a:lnTo>
                <a:cubicBezTo>
                  <a:pt x="114" y="91628"/>
                  <a:pt x="3919" y="95441"/>
                  <a:pt x="8993" y="95441"/>
                </a:cubicBezTo>
                <a:lnTo>
                  <a:pt x="17873" y="95441"/>
                </a:lnTo>
                <a:lnTo>
                  <a:pt x="17873" y="161111"/>
                </a:lnTo>
                <a:lnTo>
                  <a:pt x="44933" y="161111"/>
                </a:lnTo>
                <a:cubicBezTo>
                  <a:pt x="50007" y="161111"/>
                  <a:pt x="53812" y="164924"/>
                  <a:pt x="53812" y="170008"/>
                </a:cubicBezTo>
                <a:lnTo>
                  <a:pt x="53812" y="175939"/>
                </a:lnTo>
                <a:cubicBezTo>
                  <a:pt x="53812" y="181023"/>
                  <a:pt x="50007" y="184837"/>
                  <a:pt x="44933" y="184837"/>
                </a:cubicBezTo>
                <a:lnTo>
                  <a:pt x="41973" y="184837"/>
                </a:lnTo>
                <a:lnTo>
                  <a:pt x="41973" y="182295"/>
                </a:lnTo>
                <a:cubicBezTo>
                  <a:pt x="41973" y="177211"/>
                  <a:pt x="38168" y="173397"/>
                  <a:pt x="33094" y="173397"/>
                </a:cubicBezTo>
                <a:lnTo>
                  <a:pt x="8570" y="173397"/>
                </a:lnTo>
                <a:cubicBezTo>
                  <a:pt x="5188" y="173821"/>
                  <a:pt x="2228" y="175939"/>
                  <a:pt x="960" y="179329"/>
                </a:cubicBezTo>
                <a:cubicBezTo>
                  <a:pt x="537" y="180176"/>
                  <a:pt x="537" y="181447"/>
                  <a:pt x="537" y="182295"/>
                </a:cubicBezTo>
                <a:lnTo>
                  <a:pt x="537" y="188225"/>
                </a:lnTo>
                <a:cubicBezTo>
                  <a:pt x="537" y="193310"/>
                  <a:pt x="4342" y="197123"/>
                  <a:pt x="9416" y="197123"/>
                </a:cubicBezTo>
                <a:lnTo>
                  <a:pt x="18295" y="197123"/>
                </a:lnTo>
                <a:lnTo>
                  <a:pt x="18295" y="238644"/>
                </a:lnTo>
                <a:cubicBezTo>
                  <a:pt x="18295" y="251777"/>
                  <a:pt x="28866" y="262369"/>
                  <a:pt x="41973" y="262369"/>
                </a:cubicBezTo>
                <a:lnTo>
                  <a:pt x="238585" y="262369"/>
                </a:lnTo>
                <a:cubicBezTo>
                  <a:pt x="251693" y="262369"/>
                  <a:pt x="262264" y="251777"/>
                  <a:pt x="262264" y="238644"/>
                </a:cubicBezTo>
                <a:lnTo>
                  <a:pt x="262264" y="23840"/>
                </a:lnTo>
                <a:cubicBezTo>
                  <a:pt x="261841" y="10706"/>
                  <a:pt x="251270" y="114"/>
                  <a:pt x="238163" y="114"/>
                </a:cubicBezTo>
                <a:moveTo>
                  <a:pt x="220827" y="194157"/>
                </a:moveTo>
                <a:cubicBezTo>
                  <a:pt x="220827" y="194157"/>
                  <a:pt x="220405" y="195005"/>
                  <a:pt x="220405" y="195429"/>
                </a:cubicBezTo>
                <a:cubicBezTo>
                  <a:pt x="219981" y="196276"/>
                  <a:pt x="218713" y="197547"/>
                  <a:pt x="217868" y="198394"/>
                </a:cubicBezTo>
                <a:lnTo>
                  <a:pt x="215331" y="199665"/>
                </a:lnTo>
                <a:lnTo>
                  <a:pt x="213639" y="200088"/>
                </a:lnTo>
                <a:lnTo>
                  <a:pt x="85947" y="200088"/>
                </a:lnTo>
                <a:cubicBezTo>
                  <a:pt x="85101" y="199665"/>
                  <a:pt x="83833" y="199241"/>
                  <a:pt x="82987" y="198818"/>
                </a:cubicBezTo>
                <a:cubicBezTo>
                  <a:pt x="82142" y="198394"/>
                  <a:pt x="81296" y="197123"/>
                  <a:pt x="80873" y="195852"/>
                </a:cubicBezTo>
                <a:cubicBezTo>
                  <a:pt x="80873" y="195429"/>
                  <a:pt x="80450" y="194581"/>
                  <a:pt x="80450" y="194581"/>
                </a:cubicBezTo>
                <a:cubicBezTo>
                  <a:pt x="80027" y="194157"/>
                  <a:pt x="78759" y="188650"/>
                  <a:pt x="80450" y="182719"/>
                </a:cubicBezTo>
                <a:lnTo>
                  <a:pt x="80450" y="182295"/>
                </a:lnTo>
                <a:lnTo>
                  <a:pt x="80873" y="181870"/>
                </a:lnTo>
                <a:cubicBezTo>
                  <a:pt x="85101" y="176363"/>
                  <a:pt x="95249" y="170432"/>
                  <a:pt x="106242" y="164500"/>
                </a:cubicBezTo>
                <a:cubicBezTo>
                  <a:pt x="116390" y="158993"/>
                  <a:pt x="131189" y="150518"/>
                  <a:pt x="131189" y="146282"/>
                </a:cubicBezTo>
                <a:lnTo>
                  <a:pt x="131189" y="143740"/>
                </a:lnTo>
                <a:cubicBezTo>
                  <a:pt x="131189" y="142469"/>
                  <a:pt x="130766" y="141622"/>
                  <a:pt x="129921" y="140774"/>
                </a:cubicBezTo>
                <a:cubicBezTo>
                  <a:pt x="121041" y="131877"/>
                  <a:pt x="116390" y="119590"/>
                  <a:pt x="116390" y="106456"/>
                </a:cubicBezTo>
                <a:cubicBezTo>
                  <a:pt x="116390" y="85273"/>
                  <a:pt x="120618" y="63242"/>
                  <a:pt x="150638" y="63242"/>
                </a:cubicBezTo>
                <a:cubicBezTo>
                  <a:pt x="180659" y="63242"/>
                  <a:pt x="184887" y="84849"/>
                  <a:pt x="184887" y="106456"/>
                </a:cubicBezTo>
                <a:cubicBezTo>
                  <a:pt x="184887" y="119590"/>
                  <a:pt x="180237" y="131877"/>
                  <a:pt x="171357" y="140774"/>
                </a:cubicBezTo>
                <a:cubicBezTo>
                  <a:pt x="170511" y="141622"/>
                  <a:pt x="170089" y="142469"/>
                  <a:pt x="170089" y="143740"/>
                </a:cubicBezTo>
                <a:lnTo>
                  <a:pt x="170089" y="146282"/>
                </a:lnTo>
                <a:cubicBezTo>
                  <a:pt x="170089" y="150518"/>
                  <a:pt x="185310" y="158993"/>
                  <a:pt x="195035" y="164500"/>
                </a:cubicBezTo>
                <a:cubicBezTo>
                  <a:pt x="206028" y="170432"/>
                  <a:pt x="216176" y="176363"/>
                  <a:pt x="220405" y="181870"/>
                </a:cubicBezTo>
                <a:lnTo>
                  <a:pt x="220827" y="182295"/>
                </a:lnTo>
                <a:lnTo>
                  <a:pt x="220827" y="182719"/>
                </a:lnTo>
                <a:cubicBezTo>
                  <a:pt x="222942" y="188225"/>
                  <a:pt x="221250" y="193733"/>
                  <a:pt x="220827" y="194157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445;p22" descr="343439383331313b343532303032373bbfcdbba7b5b5b0b8">
            <a:extLst>
              <a:ext uri="{FF2B5EF4-FFF2-40B4-BE49-F238E27FC236}">
                <a16:creationId xmlns:a16="http://schemas.microsoft.com/office/drawing/2014/main" id="{B9331331-C71C-485E-88C2-B432131D408B}"/>
              </a:ext>
            </a:extLst>
          </p:cNvPr>
          <p:cNvSpPr/>
          <p:nvPr/>
        </p:nvSpPr>
        <p:spPr>
          <a:xfrm>
            <a:off x="4342361" y="2780645"/>
            <a:ext cx="627552" cy="605300"/>
          </a:xfrm>
          <a:custGeom>
            <a:avLst/>
            <a:gdLst/>
            <a:ahLst/>
            <a:cxnLst/>
            <a:rect l="l" t="t" r="r" b="b"/>
            <a:pathLst>
              <a:path w="431406" h="401575" extrusionOk="0">
                <a:moveTo>
                  <a:pt x="377815" y="112603"/>
                </a:moveTo>
                <a:lnTo>
                  <a:pt x="377815" y="84312"/>
                </a:lnTo>
                <a:cubicBezTo>
                  <a:pt x="378039" y="76883"/>
                  <a:pt x="375355" y="69679"/>
                  <a:pt x="370360" y="64276"/>
                </a:cubicBezTo>
                <a:cubicBezTo>
                  <a:pt x="365291" y="58873"/>
                  <a:pt x="358357" y="55646"/>
                  <a:pt x="350977" y="55421"/>
                </a:cubicBezTo>
                <a:lnTo>
                  <a:pt x="189125" y="55421"/>
                </a:lnTo>
                <a:lnTo>
                  <a:pt x="189125" y="29006"/>
                </a:lnTo>
                <a:cubicBezTo>
                  <a:pt x="189349" y="21577"/>
                  <a:pt x="186665" y="14373"/>
                  <a:pt x="181670" y="8970"/>
                </a:cubicBezTo>
                <a:cubicBezTo>
                  <a:pt x="176600" y="3567"/>
                  <a:pt x="169666" y="340"/>
                  <a:pt x="162287" y="115"/>
                </a:cubicBezTo>
                <a:lnTo>
                  <a:pt x="26975" y="115"/>
                </a:lnTo>
                <a:cubicBezTo>
                  <a:pt x="19595" y="340"/>
                  <a:pt x="12661" y="3567"/>
                  <a:pt x="7592" y="8970"/>
                </a:cubicBezTo>
                <a:cubicBezTo>
                  <a:pt x="2524" y="14364"/>
                  <a:pt x="-164" y="21589"/>
                  <a:pt x="137" y="29006"/>
                </a:cubicBezTo>
                <a:lnTo>
                  <a:pt x="137" y="377876"/>
                </a:lnTo>
                <a:cubicBezTo>
                  <a:pt x="510" y="375926"/>
                  <a:pt x="957" y="374050"/>
                  <a:pt x="1330" y="372098"/>
                </a:cubicBezTo>
                <a:cubicBezTo>
                  <a:pt x="2373" y="366846"/>
                  <a:pt x="3492" y="361517"/>
                  <a:pt x="4535" y="356265"/>
                </a:cubicBezTo>
                <a:cubicBezTo>
                  <a:pt x="6101" y="348385"/>
                  <a:pt x="7741" y="340581"/>
                  <a:pt x="9307" y="332701"/>
                </a:cubicBezTo>
                <a:cubicBezTo>
                  <a:pt x="11245" y="323021"/>
                  <a:pt x="13258" y="313341"/>
                  <a:pt x="15196" y="303735"/>
                </a:cubicBezTo>
                <a:cubicBezTo>
                  <a:pt x="17358" y="293004"/>
                  <a:pt x="19520" y="282349"/>
                  <a:pt x="21682" y="271618"/>
                </a:cubicBezTo>
                <a:cubicBezTo>
                  <a:pt x="23919" y="260661"/>
                  <a:pt x="26155" y="249631"/>
                  <a:pt x="28392" y="238674"/>
                </a:cubicBezTo>
                <a:cubicBezTo>
                  <a:pt x="30554" y="228167"/>
                  <a:pt x="32641" y="217662"/>
                  <a:pt x="34803" y="207157"/>
                </a:cubicBezTo>
                <a:cubicBezTo>
                  <a:pt x="36816" y="197175"/>
                  <a:pt x="38904" y="187120"/>
                  <a:pt x="40916" y="177140"/>
                </a:cubicBezTo>
                <a:cubicBezTo>
                  <a:pt x="42780" y="167610"/>
                  <a:pt x="44495" y="158079"/>
                  <a:pt x="46210" y="148473"/>
                </a:cubicBezTo>
                <a:cubicBezTo>
                  <a:pt x="47701" y="140219"/>
                  <a:pt x="49341" y="131364"/>
                  <a:pt x="54187" y="124310"/>
                </a:cubicBezTo>
                <a:cubicBezTo>
                  <a:pt x="59033" y="117181"/>
                  <a:pt x="67382" y="113654"/>
                  <a:pt x="75732" y="112753"/>
                </a:cubicBezTo>
                <a:cubicBezTo>
                  <a:pt x="84529" y="111778"/>
                  <a:pt x="93401" y="112303"/>
                  <a:pt x="102198" y="112453"/>
                </a:cubicBezTo>
                <a:cubicBezTo>
                  <a:pt x="122550" y="112753"/>
                  <a:pt x="142903" y="112603"/>
                  <a:pt x="163256" y="112603"/>
                </a:cubicBezTo>
                <a:lnTo>
                  <a:pt x="377740" y="112603"/>
                </a:lnTo>
                <a:lnTo>
                  <a:pt x="377815" y="112603"/>
                </a:lnTo>
                <a:moveTo>
                  <a:pt x="357686" y="401590"/>
                </a:moveTo>
                <a:cubicBezTo>
                  <a:pt x="354182" y="401815"/>
                  <a:pt x="350530" y="401590"/>
                  <a:pt x="347249" y="401590"/>
                </a:cubicBezTo>
                <a:cubicBezTo>
                  <a:pt x="342179" y="401590"/>
                  <a:pt x="337036" y="401440"/>
                  <a:pt x="331966" y="401516"/>
                </a:cubicBezTo>
                <a:cubicBezTo>
                  <a:pt x="327642" y="401516"/>
                  <a:pt x="323392" y="401590"/>
                  <a:pt x="319068" y="401590"/>
                </a:cubicBezTo>
                <a:lnTo>
                  <a:pt x="21831" y="401590"/>
                </a:lnTo>
                <a:cubicBezTo>
                  <a:pt x="22204" y="399789"/>
                  <a:pt x="22502" y="398063"/>
                  <a:pt x="22875" y="396263"/>
                </a:cubicBezTo>
                <a:cubicBezTo>
                  <a:pt x="23844" y="391384"/>
                  <a:pt x="24739" y="386507"/>
                  <a:pt x="25708" y="381628"/>
                </a:cubicBezTo>
                <a:cubicBezTo>
                  <a:pt x="27124" y="374350"/>
                  <a:pt x="28541" y="366996"/>
                  <a:pt x="29883" y="359717"/>
                </a:cubicBezTo>
                <a:cubicBezTo>
                  <a:pt x="31598" y="350636"/>
                  <a:pt x="33387" y="341632"/>
                  <a:pt x="35101" y="332551"/>
                </a:cubicBezTo>
                <a:cubicBezTo>
                  <a:pt x="37040" y="322421"/>
                  <a:pt x="38978" y="312290"/>
                  <a:pt x="40916" y="302085"/>
                </a:cubicBezTo>
                <a:cubicBezTo>
                  <a:pt x="42929" y="291504"/>
                  <a:pt x="44942" y="280922"/>
                  <a:pt x="47030" y="270417"/>
                </a:cubicBezTo>
                <a:cubicBezTo>
                  <a:pt x="49043" y="260136"/>
                  <a:pt x="50981" y="249781"/>
                  <a:pt x="52994" y="239499"/>
                </a:cubicBezTo>
                <a:cubicBezTo>
                  <a:pt x="56870" y="219388"/>
                  <a:pt x="60598" y="199201"/>
                  <a:pt x="64251" y="179016"/>
                </a:cubicBezTo>
                <a:cubicBezTo>
                  <a:pt x="66413" y="167308"/>
                  <a:pt x="66786" y="153576"/>
                  <a:pt x="74688" y="143971"/>
                </a:cubicBezTo>
                <a:cubicBezTo>
                  <a:pt x="83709" y="132940"/>
                  <a:pt x="99738" y="133540"/>
                  <a:pt x="112635" y="134140"/>
                </a:cubicBezTo>
                <a:cubicBezTo>
                  <a:pt x="130006" y="134891"/>
                  <a:pt x="147525" y="134215"/>
                  <a:pt x="164896" y="134215"/>
                </a:cubicBezTo>
                <a:lnTo>
                  <a:pt x="374311" y="134215"/>
                </a:lnTo>
                <a:cubicBezTo>
                  <a:pt x="383928" y="134215"/>
                  <a:pt x="393769" y="133615"/>
                  <a:pt x="403387" y="134365"/>
                </a:cubicBezTo>
                <a:cubicBezTo>
                  <a:pt x="411661" y="135041"/>
                  <a:pt x="420310" y="138043"/>
                  <a:pt x="425827" y="144571"/>
                </a:cubicBezTo>
                <a:cubicBezTo>
                  <a:pt x="430747" y="150499"/>
                  <a:pt x="432163" y="158379"/>
                  <a:pt x="431268" y="165883"/>
                </a:cubicBezTo>
                <a:cubicBezTo>
                  <a:pt x="430075" y="175639"/>
                  <a:pt x="426944" y="185393"/>
                  <a:pt x="424708" y="194924"/>
                </a:cubicBezTo>
                <a:cubicBezTo>
                  <a:pt x="422322" y="204979"/>
                  <a:pt x="420012" y="215111"/>
                  <a:pt x="417774" y="225242"/>
                </a:cubicBezTo>
                <a:cubicBezTo>
                  <a:pt x="414719" y="238974"/>
                  <a:pt x="411512" y="252707"/>
                  <a:pt x="408381" y="266439"/>
                </a:cubicBezTo>
                <a:cubicBezTo>
                  <a:pt x="405623" y="278447"/>
                  <a:pt x="402865" y="290528"/>
                  <a:pt x="400106" y="302534"/>
                </a:cubicBezTo>
                <a:cubicBezTo>
                  <a:pt x="395558" y="322496"/>
                  <a:pt x="391234" y="342457"/>
                  <a:pt x="386910" y="362418"/>
                </a:cubicBezTo>
                <a:cubicBezTo>
                  <a:pt x="385121" y="370673"/>
                  <a:pt x="383183" y="379229"/>
                  <a:pt x="379380" y="386807"/>
                </a:cubicBezTo>
                <a:cubicBezTo>
                  <a:pt x="376025" y="393486"/>
                  <a:pt x="369763" y="399114"/>
                  <a:pt x="362457" y="400990"/>
                </a:cubicBezTo>
                <a:cubicBezTo>
                  <a:pt x="360817" y="401290"/>
                  <a:pt x="359252" y="401516"/>
                  <a:pt x="357686" y="40159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126;p6">
            <a:extLst>
              <a:ext uri="{FF2B5EF4-FFF2-40B4-BE49-F238E27FC236}">
                <a16:creationId xmlns:a16="http://schemas.microsoft.com/office/drawing/2014/main" id="{4D5C4028-00B3-418A-A71D-9658EC6CA231}"/>
              </a:ext>
            </a:extLst>
          </p:cNvPr>
          <p:cNvSpPr txBox="1"/>
          <p:nvPr/>
        </p:nvSpPr>
        <p:spPr>
          <a:xfrm>
            <a:off x="1022755" y="1949689"/>
            <a:ext cx="2279388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mayoría de los modelos tradicionales funcionan adecuadamente con este tipo de información organizada en tablas (filas y columnas).</a:t>
            </a:r>
          </a:p>
        </p:txBody>
      </p:sp>
      <p:sp>
        <p:nvSpPr>
          <p:cNvPr id="54" name="Google Shape;126;p6">
            <a:extLst>
              <a:ext uri="{FF2B5EF4-FFF2-40B4-BE49-F238E27FC236}">
                <a16:creationId xmlns:a16="http://schemas.microsoft.com/office/drawing/2014/main" id="{2E6A75D8-86AF-4730-9003-F901CBE42B71}"/>
              </a:ext>
            </a:extLst>
          </p:cNvPr>
          <p:cNvSpPr txBox="1"/>
          <p:nvPr/>
        </p:nvSpPr>
        <p:spPr>
          <a:xfrm>
            <a:off x="968129" y="4058676"/>
            <a:ext cx="2279388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Requieren modelos especializados capaces de procesar texto, imágenes o audio.</a:t>
            </a:r>
          </a:p>
        </p:txBody>
      </p:sp>
      <p:sp>
        <p:nvSpPr>
          <p:cNvPr id="55" name="Google Shape;126;p6">
            <a:extLst>
              <a:ext uri="{FF2B5EF4-FFF2-40B4-BE49-F238E27FC236}">
                <a16:creationId xmlns:a16="http://schemas.microsoft.com/office/drawing/2014/main" id="{30235947-A9DA-42CB-8282-CE81DE111AAA}"/>
              </a:ext>
            </a:extLst>
          </p:cNvPr>
          <p:cNvSpPr txBox="1"/>
          <p:nvPr/>
        </p:nvSpPr>
        <p:spPr>
          <a:xfrm>
            <a:off x="6254300" y="2801585"/>
            <a:ext cx="2279388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analizar sentimientos en redes sociales se emplean modelos de procesamiento de lenguaje natural, mientras que para predecir ventas de una tienda pueden utilizarse modelos de regresión o árboles de decisión basados en variables económicas.</a:t>
            </a:r>
          </a:p>
        </p:txBody>
      </p:sp>
    </p:spTree>
    <p:extLst>
      <p:ext uri="{BB962C8B-B14F-4D97-AF65-F5344CB8AC3E}">
        <p14:creationId xmlns:p14="http://schemas.microsoft.com/office/powerpoint/2010/main" val="4699217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468;p23">
            <a:extLst>
              <a:ext uri="{FF2B5EF4-FFF2-40B4-BE49-F238E27FC236}">
                <a16:creationId xmlns:a16="http://schemas.microsoft.com/office/drawing/2014/main" id="{C6FC255B-EBCE-4CD8-A519-5E0C03DB13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31687" y="1810062"/>
            <a:ext cx="3765503" cy="223013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 txBox="1"/>
          <p:nvPr/>
        </p:nvSpPr>
        <p:spPr>
          <a:xfrm>
            <a:off x="506795" y="918372"/>
            <a:ext cx="819039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ESCALA Y PREPROCESAMIENTO</a:t>
            </a:r>
          </a:p>
        </p:txBody>
      </p:sp>
      <p:sp>
        <p:nvSpPr>
          <p:cNvPr id="15" name="Rectángulo redondeado 31">
            <a:extLst>
              <a:ext uri="{FF2B5EF4-FFF2-40B4-BE49-F238E27FC236}">
                <a16:creationId xmlns:a16="http://schemas.microsoft.com/office/drawing/2014/main" id="{27C18CF9-424A-462A-B692-A31220CD5070}"/>
              </a:ext>
            </a:extLst>
          </p:cNvPr>
          <p:cNvSpPr/>
          <p:nvPr/>
        </p:nvSpPr>
        <p:spPr>
          <a:xfrm>
            <a:off x="503237" y="1351390"/>
            <a:ext cx="4546745" cy="923356"/>
          </a:xfrm>
          <a:prstGeom prst="roundRect">
            <a:avLst/>
          </a:prstGeom>
          <a:solidFill>
            <a:srgbClr val="D1E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4000" tIns="0" rIns="0" bIns="0" rtlCol="0" anchor="ctr"/>
          <a:lstStyle/>
          <a:p>
            <a:pPr marL="134938" indent="-134938">
              <a:buClr>
                <a:srgbClr val="00B2C4"/>
              </a:buClr>
              <a:buFont typeface="Arial" charset="0"/>
              <a:buChar char="•"/>
            </a:pPr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Algunos modelos (k-NN, SVM, redes neuronales) requieren que las variables estén normalizadas o escaladas.</a:t>
            </a:r>
          </a:p>
        </p:txBody>
      </p:sp>
      <p:sp>
        <p:nvSpPr>
          <p:cNvPr id="16" name="Redondear rectángulo de esquina del mismo lado 33">
            <a:extLst>
              <a:ext uri="{FF2B5EF4-FFF2-40B4-BE49-F238E27FC236}">
                <a16:creationId xmlns:a16="http://schemas.microsoft.com/office/drawing/2014/main" id="{F54373F5-90C3-4E9C-A823-05ACDDA70945}"/>
              </a:ext>
            </a:extLst>
          </p:cNvPr>
          <p:cNvSpPr/>
          <p:nvPr/>
        </p:nvSpPr>
        <p:spPr>
          <a:xfrm rot="16200000">
            <a:off x="420746" y="1427873"/>
            <a:ext cx="929364" cy="764381"/>
          </a:xfrm>
          <a:prstGeom prst="round2SameRect">
            <a:avLst/>
          </a:prstGeom>
          <a:solidFill>
            <a:srgbClr val="00B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87F68C9-3080-4872-89F0-9767C901A18F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623026" y="1529517"/>
            <a:ext cx="524802" cy="561091"/>
          </a:xfrm>
          <a:prstGeom prst="rect">
            <a:avLst/>
          </a:prstGeom>
        </p:spPr>
      </p:pic>
      <p:sp>
        <p:nvSpPr>
          <p:cNvPr id="18" name="Rectángulo redondeado 31">
            <a:extLst>
              <a:ext uri="{FF2B5EF4-FFF2-40B4-BE49-F238E27FC236}">
                <a16:creationId xmlns:a16="http://schemas.microsoft.com/office/drawing/2014/main" id="{52F26D70-B6D9-484E-8790-7508E8DAA5A8}"/>
              </a:ext>
            </a:extLst>
          </p:cNvPr>
          <p:cNvSpPr/>
          <p:nvPr/>
        </p:nvSpPr>
        <p:spPr>
          <a:xfrm>
            <a:off x="503238" y="2395822"/>
            <a:ext cx="4546744" cy="923356"/>
          </a:xfrm>
          <a:prstGeom prst="roundRect">
            <a:avLst/>
          </a:prstGeom>
          <a:solidFill>
            <a:srgbClr val="D1E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4000" tIns="0" rIns="0" bIns="0" rtlCol="0" anchor="ctr"/>
          <a:lstStyle/>
          <a:p>
            <a:pPr marL="134938" indent="-134938">
              <a:buClr>
                <a:srgbClr val="00B2C4"/>
              </a:buClr>
              <a:buFont typeface="Arial" charset="0"/>
              <a:buChar char="•"/>
            </a:pPr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Modelos basados en árboles no se ven afectados por la escala.</a:t>
            </a:r>
          </a:p>
        </p:txBody>
      </p:sp>
      <p:sp>
        <p:nvSpPr>
          <p:cNvPr id="19" name="Redondear rectángulo de esquina del mismo lado 33">
            <a:extLst>
              <a:ext uri="{FF2B5EF4-FFF2-40B4-BE49-F238E27FC236}">
                <a16:creationId xmlns:a16="http://schemas.microsoft.com/office/drawing/2014/main" id="{EA2F334E-5C78-45B2-A540-C7491E0C8EE0}"/>
              </a:ext>
            </a:extLst>
          </p:cNvPr>
          <p:cNvSpPr/>
          <p:nvPr/>
        </p:nvSpPr>
        <p:spPr>
          <a:xfrm rot="16200000">
            <a:off x="420746" y="2472305"/>
            <a:ext cx="929364" cy="764381"/>
          </a:xfrm>
          <a:prstGeom prst="round2SameRect">
            <a:avLst/>
          </a:prstGeom>
          <a:solidFill>
            <a:srgbClr val="00B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3F950D32-F264-456E-A854-D1724DCDAD15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623026" y="2573949"/>
            <a:ext cx="524802" cy="561091"/>
          </a:xfrm>
          <a:prstGeom prst="rect">
            <a:avLst/>
          </a:prstGeom>
        </p:spPr>
      </p:pic>
      <p:sp>
        <p:nvSpPr>
          <p:cNvPr id="32" name="Rectángulo redondeado 31">
            <a:extLst>
              <a:ext uri="{FF2B5EF4-FFF2-40B4-BE49-F238E27FC236}">
                <a16:creationId xmlns:a16="http://schemas.microsoft.com/office/drawing/2014/main" id="{48C8BE37-14F3-4644-A7A4-2BA4764D7A4F}"/>
              </a:ext>
            </a:extLst>
          </p:cNvPr>
          <p:cNvSpPr/>
          <p:nvPr/>
        </p:nvSpPr>
        <p:spPr>
          <a:xfrm>
            <a:off x="503237" y="3434245"/>
            <a:ext cx="4546743" cy="923356"/>
          </a:xfrm>
          <a:prstGeom prst="roundRect">
            <a:avLst/>
          </a:prstGeom>
          <a:solidFill>
            <a:srgbClr val="D1E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4000" tIns="0" rIns="0" bIns="0" rtlCol="0" anchor="ctr"/>
          <a:lstStyle/>
          <a:p>
            <a:pPr marL="134938" indent="-134938">
              <a:buClr>
                <a:srgbClr val="00B2C4"/>
              </a:buClr>
              <a:buFont typeface="Arial" charset="0"/>
              <a:buChar char="•"/>
            </a:pPr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Variables categóricas: en regresión se codifican como </a:t>
            </a:r>
            <a:r>
              <a:rPr lang="es-MX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dummies</a:t>
            </a:r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; en árboles se pueden usar directamente.</a:t>
            </a:r>
          </a:p>
        </p:txBody>
      </p:sp>
      <p:sp>
        <p:nvSpPr>
          <p:cNvPr id="33" name="Redondear rectángulo de esquina del mismo lado 33">
            <a:extLst>
              <a:ext uri="{FF2B5EF4-FFF2-40B4-BE49-F238E27FC236}">
                <a16:creationId xmlns:a16="http://schemas.microsoft.com/office/drawing/2014/main" id="{6EF7A0C6-2AAD-4959-B3EE-E07F7CCEE020}"/>
              </a:ext>
            </a:extLst>
          </p:cNvPr>
          <p:cNvSpPr/>
          <p:nvPr/>
        </p:nvSpPr>
        <p:spPr>
          <a:xfrm rot="16200000">
            <a:off x="420746" y="3510728"/>
            <a:ext cx="929364" cy="764381"/>
          </a:xfrm>
          <a:prstGeom prst="round2SameRect">
            <a:avLst/>
          </a:prstGeom>
          <a:solidFill>
            <a:srgbClr val="00B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B27AE4D0-4CBB-477C-903F-B8A13898759F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623026" y="3612372"/>
            <a:ext cx="524802" cy="561091"/>
          </a:xfrm>
          <a:prstGeom prst="rect">
            <a:avLst/>
          </a:prstGeom>
        </p:spPr>
      </p:pic>
      <p:sp>
        <p:nvSpPr>
          <p:cNvPr id="13" name="Google Shape;77;p5">
            <a:extLst>
              <a:ext uri="{FF2B5EF4-FFF2-40B4-BE49-F238E27FC236}">
                <a16:creationId xmlns:a16="http://schemas.microsoft.com/office/drawing/2014/main" id="{1062B604-70BC-4CC4-9CD2-1713BCFD6433}"/>
              </a:ext>
            </a:extLst>
          </p:cNvPr>
          <p:cNvSpPr/>
          <p:nvPr/>
        </p:nvSpPr>
        <p:spPr>
          <a:xfrm>
            <a:off x="503237" y="380615"/>
            <a:ext cx="618850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CRITERIOS TEÓRICOS PARA LA SELECCIÓN Y ADECUACIÓN DE MODELOS A DISTINTOS TIPOS DE DATOS Y PROBLEMAS</a:t>
            </a:r>
          </a:p>
        </p:txBody>
      </p:sp>
      <p:sp>
        <p:nvSpPr>
          <p:cNvPr id="20" name="Google Shape;458;p23">
            <a:extLst>
              <a:ext uri="{FF2B5EF4-FFF2-40B4-BE49-F238E27FC236}">
                <a16:creationId xmlns:a16="http://schemas.microsoft.com/office/drawing/2014/main" id="{C6F5AC1B-EF94-4D28-89BA-4B976521985C}"/>
              </a:ext>
            </a:extLst>
          </p:cNvPr>
          <p:cNvSpPr txBox="1"/>
          <p:nvPr/>
        </p:nvSpPr>
        <p:spPr>
          <a:xfrm>
            <a:off x="1726506" y="4685670"/>
            <a:ext cx="641036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600" b="1" i="0" u="none" strike="noStrike" cap="none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El preprocesamiento adecuado es clave para el rendimiento.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3659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/>
        </p:nvSpPr>
        <p:spPr>
          <a:xfrm>
            <a:off x="506795" y="918372"/>
            <a:ext cx="819039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EVALUACIÓN Y MÉTRICAS</a:t>
            </a:r>
          </a:p>
          <a:p>
            <a:pPr lvl="0"/>
            <a:endParaRPr lang="es-MX" sz="1000" b="1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Utilizar métricas acorde al problema:</a:t>
            </a:r>
          </a:p>
        </p:txBody>
      </p:sp>
      <p:sp>
        <p:nvSpPr>
          <p:cNvPr id="13" name="Google Shape;77;p5">
            <a:extLst>
              <a:ext uri="{FF2B5EF4-FFF2-40B4-BE49-F238E27FC236}">
                <a16:creationId xmlns:a16="http://schemas.microsoft.com/office/drawing/2014/main" id="{1062B604-70BC-4CC4-9CD2-1713BCFD6433}"/>
              </a:ext>
            </a:extLst>
          </p:cNvPr>
          <p:cNvSpPr/>
          <p:nvPr/>
        </p:nvSpPr>
        <p:spPr>
          <a:xfrm>
            <a:off x="503237" y="380615"/>
            <a:ext cx="618850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CRITERIOS TEÓRICOS PARA LA SELECCIÓN Y ADECUACIÓN DE MODELOS A DISTINTOS TIPOS DE DATOS Y PROBLEMAS</a:t>
            </a:r>
          </a:p>
        </p:txBody>
      </p:sp>
      <p:sp>
        <p:nvSpPr>
          <p:cNvPr id="22" name="Google Shape;476;p24">
            <a:extLst>
              <a:ext uri="{FF2B5EF4-FFF2-40B4-BE49-F238E27FC236}">
                <a16:creationId xmlns:a16="http://schemas.microsoft.com/office/drawing/2014/main" id="{A777660C-19BB-4B99-A207-6C35EFF5CE14}"/>
              </a:ext>
            </a:extLst>
          </p:cNvPr>
          <p:cNvSpPr/>
          <p:nvPr/>
        </p:nvSpPr>
        <p:spPr>
          <a:xfrm>
            <a:off x="503237" y="1687685"/>
            <a:ext cx="7872095" cy="395605"/>
          </a:xfrm>
          <a:prstGeom prst="roundRect">
            <a:avLst>
              <a:gd name="adj" fmla="val 50000"/>
            </a:avLst>
          </a:prstGeom>
          <a:solidFill>
            <a:srgbClr val="C4E0B2"/>
          </a:solidFill>
          <a:ln>
            <a:noFill/>
          </a:ln>
        </p:spPr>
        <p:txBody>
          <a:bodyPr spcFirstLastPara="1" wrap="square" lIns="81325" tIns="40625" rIns="81325" bIns="40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None/>
            </a:pP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481;p24">
            <a:extLst>
              <a:ext uri="{FF2B5EF4-FFF2-40B4-BE49-F238E27FC236}">
                <a16:creationId xmlns:a16="http://schemas.microsoft.com/office/drawing/2014/main" id="{8EA604D9-843B-4BE3-BE60-0F7AC8FDBA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0856" y="2941630"/>
            <a:ext cx="1666582" cy="128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482;p24">
            <a:extLst>
              <a:ext uri="{FF2B5EF4-FFF2-40B4-BE49-F238E27FC236}">
                <a16:creationId xmlns:a16="http://schemas.microsoft.com/office/drawing/2014/main" id="{74E1B02F-4251-4B0D-B707-8D5AD960313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25777" y="2924472"/>
            <a:ext cx="1854200" cy="1314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483;p24">
            <a:extLst>
              <a:ext uri="{FF2B5EF4-FFF2-40B4-BE49-F238E27FC236}">
                <a16:creationId xmlns:a16="http://schemas.microsoft.com/office/drawing/2014/main" id="{C920539C-8390-4D7B-A954-6CA3EC184FC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70307" y="3020129"/>
            <a:ext cx="1854200" cy="1206702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76;p5">
            <a:extLst>
              <a:ext uri="{FF2B5EF4-FFF2-40B4-BE49-F238E27FC236}">
                <a16:creationId xmlns:a16="http://schemas.microsoft.com/office/drawing/2014/main" id="{4EF48A32-72EA-4A1C-8EB8-A6F542A2F266}"/>
              </a:ext>
            </a:extLst>
          </p:cNvPr>
          <p:cNvSpPr txBox="1"/>
          <p:nvPr/>
        </p:nvSpPr>
        <p:spPr>
          <a:xfrm>
            <a:off x="506795" y="4605052"/>
            <a:ext cx="819039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Validar siempre con datos de prueba o validación cruzada.  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Analizar la matriz de confusión en clasificación para entender errores.</a:t>
            </a:r>
          </a:p>
        </p:txBody>
      </p:sp>
      <p:sp>
        <p:nvSpPr>
          <p:cNvPr id="30" name="Google Shape;126;p6">
            <a:extLst>
              <a:ext uri="{FF2B5EF4-FFF2-40B4-BE49-F238E27FC236}">
                <a16:creationId xmlns:a16="http://schemas.microsoft.com/office/drawing/2014/main" id="{E1062AC4-2151-49CD-B88B-D923DC633FF2}"/>
              </a:ext>
            </a:extLst>
          </p:cNvPr>
          <p:cNvSpPr txBox="1"/>
          <p:nvPr/>
        </p:nvSpPr>
        <p:spPr>
          <a:xfrm>
            <a:off x="3723025" y="1742418"/>
            <a:ext cx="143251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es-MX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Clasificación</a:t>
            </a:r>
          </a:p>
        </p:txBody>
      </p:sp>
      <p:sp>
        <p:nvSpPr>
          <p:cNvPr id="35" name="Google Shape;126;p6">
            <a:extLst>
              <a:ext uri="{FF2B5EF4-FFF2-40B4-BE49-F238E27FC236}">
                <a16:creationId xmlns:a16="http://schemas.microsoft.com/office/drawing/2014/main" id="{C3F92570-B2A3-4BF4-AC6D-F63B35C5642D}"/>
              </a:ext>
            </a:extLst>
          </p:cNvPr>
          <p:cNvSpPr txBox="1"/>
          <p:nvPr/>
        </p:nvSpPr>
        <p:spPr>
          <a:xfrm>
            <a:off x="690856" y="2290119"/>
            <a:ext cx="227938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cuadrático medio (MSE).</a:t>
            </a:r>
          </a:p>
        </p:txBody>
      </p:sp>
      <p:sp>
        <p:nvSpPr>
          <p:cNvPr id="36" name="Google Shape;126;p6">
            <a:extLst>
              <a:ext uri="{FF2B5EF4-FFF2-40B4-BE49-F238E27FC236}">
                <a16:creationId xmlns:a16="http://schemas.microsoft.com/office/drawing/2014/main" id="{96B7016C-216D-4804-AC98-45AE5CAB433B}"/>
              </a:ext>
            </a:extLst>
          </p:cNvPr>
          <p:cNvSpPr txBox="1"/>
          <p:nvPr/>
        </p:nvSpPr>
        <p:spPr>
          <a:xfrm>
            <a:off x="1162736" y="1744164"/>
            <a:ext cx="122066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es-MX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Regresión</a:t>
            </a:r>
          </a:p>
        </p:txBody>
      </p:sp>
      <p:sp>
        <p:nvSpPr>
          <p:cNvPr id="37" name="Google Shape;126;p6">
            <a:extLst>
              <a:ext uri="{FF2B5EF4-FFF2-40B4-BE49-F238E27FC236}">
                <a16:creationId xmlns:a16="http://schemas.microsoft.com/office/drawing/2014/main" id="{0E40EF6E-E5C2-4CFD-AC5D-A03DFDDA6E5E}"/>
              </a:ext>
            </a:extLst>
          </p:cNvPr>
          <p:cNvSpPr txBox="1"/>
          <p:nvPr/>
        </p:nvSpPr>
        <p:spPr>
          <a:xfrm>
            <a:off x="3648939" y="2290119"/>
            <a:ext cx="145260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Precisión, </a:t>
            </a:r>
            <a:r>
              <a:rPr lang="es-MX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F1, AUC.</a:t>
            </a:r>
          </a:p>
        </p:txBody>
      </p:sp>
      <p:sp>
        <p:nvSpPr>
          <p:cNvPr id="38" name="Google Shape;126;p6">
            <a:extLst>
              <a:ext uri="{FF2B5EF4-FFF2-40B4-BE49-F238E27FC236}">
                <a16:creationId xmlns:a16="http://schemas.microsoft.com/office/drawing/2014/main" id="{EE8D5F90-4065-426A-9A4D-846A2B10C013}"/>
              </a:ext>
            </a:extLst>
          </p:cNvPr>
          <p:cNvSpPr txBox="1"/>
          <p:nvPr/>
        </p:nvSpPr>
        <p:spPr>
          <a:xfrm>
            <a:off x="6691745" y="1742418"/>
            <a:ext cx="143251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es-MX" sz="1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Clustering</a:t>
            </a:r>
            <a:endParaRPr lang="es-MX"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126;p6">
            <a:extLst>
              <a:ext uri="{FF2B5EF4-FFF2-40B4-BE49-F238E27FC236}">
                <a16:creationId xmlns:a16="http://schemas.microsoft.com/office/drawing/2014/main" id="{6AB266AC-8CFF-4C83-8857-55CA00C365FF}"/>
              </a:ext>
            </a:extLst>
          </p:cNvPr>
          <p:cNvSpPr txBox="1"/>
          <p:nvPr/>
        </p:nvSpPr>
        <p:spPr>
          <a:xfrm>
            <a:off x="6571106" y="2290119"/>
            <a:ext cx="145260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Coeficiente de   </a:t>
            </a:r>
            <a:r>
              <a:rPr lang="es-MX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Silhouette</a:t>
            </a: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91510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346;p18">
            <a:extLst>
              <a:ext uri="{FF2B5EF4-FFF2-40B4-BE49-F238E27FC236}">
                <a16:creationId xmlns:a16="http://schemas.microsoft.com/office/drawing/2014/main" id="{C3B099F5-F161-42B5-9314-8392AD43F518}"/>
              </a:ext>
            </a:extLst>
          </p:cNvPr>
          <p:cNvSpPr/>
          <p:nvPr/>
        </p:nvSpPr>
        <p:spPr>
          <a:xfrm>
            <a:off x="4432415" y="3456512"/>
            <a:ext cx="2086983" cy="961187"/>
          </a:xfrm>
          <a:prstGeom prst="roundRect">
            <a:avLst>
              <a:gd name="adj" fmla="val 16667"/>
            </a:avLst>
          </a:prstGeom>
          <a:solidFill>
            <a:srgbClr val="EE4639"/>
          </a:solidFill>
          <a:ln w="9525" cap="flat" cmpd="sng">
            <a:solidFill>
              <a:srgbClr val="EE46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325" tIns="40625" rIns="81325" bIns="40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None/>
            </a:pPr>
            <a:endParaRPr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346;p18">
            <a:extLst>
              <a:ext uri="{FF2B5EF4-FFF2-40B4-BE49-F238E27FC236}">
                <a16:creationId xmlns:a16="http://schemas.microsoft.com/office/drawing/2014/main" id="{4F3C5435-37AB-4682-AD42-34A44B4ABF23}"/>
              </a:ext>
            </a:extLst>
          </p:cNvPr>
          <p:cNvSpPr/>
          <p:nvPr/>
        </p:nvSpPr>
        <p:spPr>
          <a:xfrm>
            <a:off x="2060591" y="3456513"/>
            <a:ext cx="2086983" cy="961187"/>
          </a:xfrm>
          <a:prstGeom prst="roundRect">
            <a:avLst>
              <a:gd name="adj" fmla="val 16667"/>
            </a:avLst>
          </a:prstGeom>
          <a:solidFill>
            <a:srgbClr val="7150A0"/>
          </a:solidFill>
          <a:ln w="9525" cap="flat" cmpd="sng">
            <a:solidFill>
              <a:srgbClr val="715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325" tIns="40625" rIns="81325" bIns="40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None/>
            </a:pPr>
            <a:endParaRPr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506795" y="918372"/>
            <a:ext cx="819039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INTERPRETABILIDAD Y PRECISIÓN</a:t>
            </a:r>
          </a:p>
          <a:p>
            <a:pPr lvl="0"/>
            <a:endParaRPr lang="es-MX" sz="1000" b="1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No siempre el modelo más preciso es el más adecuado.</a:t>
            </a:r>
          </a:p>
        </p:txBody>
      </p:sp>
      <p:sp>
        <p:nvSpPr>
          <p:cNvPr id="13" name="Google Shape;77;p5">
            <a:extLst>
              <a:ext uri="{FF2B5EF4-FFF2-40B4-BE49-F238E27FC236}">
                <a16:creationId xmlns:a16="http://schemas.microsoft.com/office/drawing/2014/main" id="{1062B604-70BC-4CC4-9CD2-1713BCFD6433}"/>
              </a:ext>
            </a:extLst>
          </p:cNvPr>
          <p:cNvSpPr/>
          <p:nvPr/>
        </p:nvSpPr>
        <p:spPr>
          <a:xfrm>
            <a:off x="503237" y="380615"/>
            <a:ext cx="618850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CRITERIOS TEÓRICOS PARA LA SELECCIÓN Y ADECUACIÓN DE MODELOS A DISTINTOS TIPOS DE DATOS Y PROBLEMAS</a:t>
            </a:r>
          </a:p>
        </p:txBody>
      </p:sp>
      <p:sp>
        <p:nvSpPr>
          <p:cNvPr id="29" name="Google Shape;76;p5">
            <a:extLst>
              <a:ext uri="{FF2B5EF4-FFF2-40B4-BE49-F238E27FC236}">
                <a16:creationId xmlns:a16="http://schemas.microsoft.com/office/drawing/2014/main" id="{4EF48A32-72EA-4A1C-8EB8-A6F542A2F266}"/>
              </a:ext>
            </a:extLst>
          </p:cNvPr>
          <p:cNvSpPr txBox="1"/>
          <p:nvPr/>
        </p:nvSpPr>
        <p:spPr>
          <a:xfrm>
            <a:off x="506795" y="4605052"/>
            <a:ext cx="819039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Recomendación: </a:t>
            </a:r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valorar cuánto se necesita la transparencia frente a la ganancia en rendimiento.</a:t>
            </a:r>
          </a:p>
        </p:txBody>
      </p:sp>
      <p:sp>
        <p:nvSpPr>
          <p:cNvPr id="16" name="Google Shape;493;p25">
            <a:extLst>
              <a:ext uri="{FF2B5EF4-FFF2-40B4-BE49-F238E27FC236}">
                <a16:creationId xmlns:a16="http://schemas.microsoft.com/office/drawing/2014/main" id="{5674D185-E965-43C5-9D37-AACC0C7C40D8}"/>
              </a:ext>
            </a:extLst>
          </p:cNvPr>
          <p:cNvSpPr/>
          <p:nvPr/>
        </p:nvSpPr>
        <p:spPr>
          <a:xfrm>
            <a:off x="4601992" y="3551978"/>
            <a:ext cx="1917406" cy="865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419" sz="13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Son complejos (redes profundas, ensambles grandes) y suelen ser más precisos pero opacos.</a:t>
            </a:r>
            <a:endParaRPr sz="13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495;p25">
            <a:extLst>
              <a:ext uri="{FF2B5EF4-FFF2-40B4-BE49-F238E27FC236}">
                <a16:creationId xmlns:a16="http://schemas.microsoft.com/office/drawing/2014/main" id="{B0768DC6-C77F-420C-8D49-4F72360E309D}"/>
              </a:ext>
            </a:extLst>
          </p:cNvPr>
          <p:cNvSpPr/>
          <p:nvPr/>
        </p:nvSpPr>
        <p:spPr>
          <a:xfrm>
            <a:off x="2253144" y="3622015"/>
            <a:ext cx="1842867" cy="864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sz="14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Son transparentes (regresión lineal, árboles pequeños).</a:t>
            </a:r>
            <a:endParaRPr sz="14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496;p25">
            <a:extLst>
              <a:ext uri="{FF2B5EF4-FFF2-40B4-BE49-F238E27FC236}">
                <a16:creationId xmlns:a16="http://schemas.microsoft.com/office/drawing/2014/main" id="{1BFB1878-5ACF-4EF4-8772-631D85B63934}"/>
              </a:ext>
            </a:extLst>
          </p:cNvPr>
          <p:cNvSpPr/>
          <p:nvPr/>
        </p:nvSpPr>
        <p:spPr>
          <a:xfrm>
            <a:off x="2522681" y="1849097"/>
            <a:ext cx="1367195" cy="1367195"/>
          </a:xfrm>
          <a:prstGeom prst="ellipse">
            <a:avLst/>
          </a:prstGeom>
          <a:solidFill>
            <a:schemeClr val="accent1">
              <a:alpha val="1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endParaRPr sz="145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497;p25">
            <a:extLst>
              <a:ext uri="{FF2B5EF4-FFF2-40B4-BE49-F238E27FC236}">
                <a16:creationId xmlns:a16="http://schemas.microsoft.com/office/drawing/2014/main" id="{5CBA18A2-53B4-4B73-81A5-55579607B134}"/>
              </a:ext>
            </a:extLst>
          </p:cNvPr>
          <p:cNvSpPr/>
          <p:nvPr/>
        </p:nvSpPr>
        <p:spPr>
          <a:xfrm>
            <a:off x="2592867" y="1919757"/>
            <a:ext cx="1226350" cy="1226350"/>
          </a:xfrm>
          <a:prstGeom prst="ellipse">
            <a:avLst/>
          </a:prstGeom>
          <a:solidFill>
            <a:srgbClr val="7150A0"/>
          </a:solidFill>
          <a:ln>
            <a:noFill/>
          </a:ln>
        </p:spPr>
        <p:txBody>
          <a:bodyPr spcFirstLastPara="1" wrap="square" lIns="91425" tIns="232150" rIns="91425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0"/>
              <a:buFont typeface="Arial"/>
              <a:buNone/>
            </a:pPr>
            <a:endParaRPr sz="129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498;p25">
            <a:extLst>
              <a:ext uri="{FF2B5EF4-FFF2-40B4-BE49-F238E27FC236}">
                <a16:creationId xmlns:a16="http://schemas.microsoft.com/office/drawing/2014/main" id="{4F510888-1C19-47AA-9554-5F23F25E9D87}"/>
              </a:ext>
            </a:extLst>
          </p:cNvPr>
          <p:cNvSpPr/>
          <p:nvPr/>
        </p:nvSpPr>
        <p:spPr>
          <a:xfrm>
            <a:off x="2656888" y="1983303"/>
            <a:ext cx="1098783" cy="1098783"/>
          </a:xfrm>
          <a:prstGeom prst="ellipse">
            <a:avLst/>
          </a:prstGeom>
          <a:noFill/>
          <a:ln w="12700" cap="flat" cmpd="sng">
            <a:solidFill>
              <a:srgbClr val="FFFFFF">
                <a:alpha val="45098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2700" dir="5400000" algn="t" rotWithShape="0">
              <a:srgbClr val="2E75B5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0"/>
              <a:buFont typeface="Arial"/>
              <a:buNone/>
            </a:pPr>
            <a:endParaRPr sz="129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499;p25">
            <a:extLst>
              <a:ext uri="{FF2B5EF4-FFF2-40B4-BE49-F238E27FC236}">
                <a16:creationId xmlns:a16="http://schemas.microsoft.com/office/drawing/2014/main" id="{8B0A7FCF-93EE-474D-9CC2-199111209615}"/>
              </a:ext>
            </a:extLst>
          </p:cNvPr>
          <p:cNvSpPr/>
          <p:nvPr/>
        </p:nvSpPr>
        <p:spPr>
          <a:xfrm rot="10800000" flipH="1">
            <a:off x="2343915" y="1698759"/>
            <a:ext cx="1738514" cy="1738514"/>
          </a:xfrm>
          <a:prstGeom prst="arc">
            <a:avLst>
              <a:gd name="adj1" fmla="val 1963127"/>
              <a:gd name="adj2" fmla="val 10848491"/>
            </a:avLst>
          </a:prstGeom>
          <a:noFill/>
          <a:ln w="44450" cap="rnd" cmpd="sng">
            <a:solidFill>
              <a:srgbClr val="7150A0">
                <a:alpha val="50196"/>
              </a:srgbClr>
            </a:solidFill>
            <a:prstDash val="solid"/>
            <a:miter lim="800000"/>
            <a:headEnd type="triangle" w="med" len="med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500;p25">
            <a:extLst>
              <a:ext uri="{FF2B5EF4-FFF2-40B4-BE49-F238E27FC236}">
                <a16:creationId xmlns:a16="http://schemas.microsoft.com/office/drawing/2014/main" id="{9FC50985-EE69-4967-976B-E06BBA75C6EF}"/>
              </a:ext>
            </a:extLst>
          </p:cNvPr>
          <p:cNvSpPr/>
          <p:nvPr/>
        </p:nvSpPr>
        <p:spPr>
          <a:xfrm>
            <a:off x="4779763" y="1821916"/>
            <a:ext cx="1367195" cy="1367195"/>
          </a:xfrm>
          <a:prstGeom prst="ellipse">
            <a:avLst/>
          </a:prstGeom>
          <a:solidFill>
            <a:schemeClr val="accent2">
              <a:alpha val="1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endParaRPr sz="14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501;p25">
            <a:extLst>
              <a:ext uri="{FF2B5EF4-FFF2-40B4-BE49-F238E27FC236}">
                <a16:creationId xmlns:a16="http://schemas.microsoft.com/office/drawing/2014/main" id="{CCA7DED6-FB49-4FC0-99FD-9EA404816576}"/>
              </a:ext>
            </a:extLst>
          </p:cNvPr>
          <p:cNvSpPr/>
          <p:nvPr/>
        </p:nvSpPr>
        <p:spPr>
          <a:xfrm>
            <a:off x="4849948" y="1892576"/>
            <a:ext cx="1226350" cy="12263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232150" rIns="91425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0"/>
              <a:buFont typeface="Arial"/>
              <a:buNone/>
            </a:pPr>
            <a:endParaRPr sz="129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502;p25">
            <a:extLst>
              <a:ext uri="{FF2B5EF4-FFF2-40B4-BE49-F238E27FC236}">
                <a16:creationId xmlns:a16="http://schemas.microsoft.com/office/drawing/2014/main" id="{C7F69FD0-F259-4B99-8450-6F24A6C9DC19}"/>
              </a:ext>
            </a:extLst>
          </p:cNvPr>
          <p:cNvSpPr/>
          <p:nvPr/>
        </p:nvSpPr>
        <p:spPr>
          <a:xfrm>
            <a:off x="4913969" y="1956122"/>
            <a:ext cx="1098783" cy="1098783"/>
          </a:xfrm>
          <a:prstGeom prst="ellipse">
            <a:avLst/>
          </a:prstGeom>
          <a:noFill/>
          <a:ln w="12700" cap="flat" cmpd="sng">
            <a:solidFill>
              <a:srgbClr val="FFFFFF">
                <a:alpha val="45098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2700" dir="5400000" algn="t" rotWithShape="0">
              <a:srgbClr val="C55A11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0"/>
              <a:buFont typeface="Arial"/>
              <a:buNone/>
            </a:pPr>
            <a:endParaRPr sz="129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503;p25">
            <a:extLst>
              <a:ext uri="{FF2B5EF4-FFF2-40B4-BE49-F238E27FC236}">
                <a16:creationId xmlns:a16="http://schemas.microsoft.com/office/drawing/2014/main" id="{EC577913-6882-461A-B3E1-48C7BA91E3F2}"/>
              </a:ext>
            </a:extLst>
          </p:cNvPr>
          <p:cNvSpPr/>
          <p:nvPr/>
        </p:nvSpPr>
        <p:spPr>
          <a:xfrm rot="10800000" flipH="1">
            <a:off x="4606650" y="1564703"/>
            <a:ext cx="1738514" cy="1738514"/>
          </a:xfrm>
          <a:prstGeom prst="arc">
            <a:avLst>
              <a:gd name="adj1" fmla="val 11769423"/>
              <a:gd name="adj2" fmla="val 20157622"/>
            </a:avLst>
          </a:prstGeom>
          <a:noFill/>
          <a:ln w="44450" cap="rnd" cmpd="sng">
            <a:solidFill>
              <a:srgbClr val="EE4639">
                <a:alpha val="50196"/>
              </a:srgbClr>
            </a:solidFill>
            <a:prstDash val="solid"/>
            <a:miter lim="800000"/>
            <a:headEnd type="none" w="sm" len="sm"/>
            <a:tailEnd type="triangle" w="med" len="med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504;p25">
            <a:extLst>
              <a:ext uri="{FF2B5EF4-FFF2-40B4-BE49-F238E27FC236}">
                <a16:creationId xmlns:a16="http://schemas.microsoft.com/office/drawing/2014/main" id="{7C314CDE-6476-4982-B6A9-BA4F09F6CD06}"/>
              </a:ext>
            </a:extLst>
          </p:cNvPr>
          <p:cNvSpPr/>
          <p:nvPr/>
        </p:nvSpPr>
        <p:spPr>
          <a:xfrm>
            <a:off x="2691979" y="2483136"/>
            <a:ext cx="1028123" cy="385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125" tIns="29125" rIns="29125" bIns="29125" anchor="t" anchorCtr="0">
            <a:norm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3"/>
              <a:buFont typeface="Arial"/>
              <a:buNone/>
            </a:pPr>
            <a:r>
              <a:rPr lang="es-419" sz="1193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Modelos Simples</a:t>
            </a:r>
            <a:endParaRPr sz="1193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505;p25">
            <a:extLst>
              <a:ext uri="{FF2B5EF4-FFF2-40B4-BE49-F238E27FC236}">
                <a16:creationId xmlns:a16="http://schemas.microsoft.com/office/drawing/2014/main" id="{8445573D-FD87-459E-AC16-D8F155154B8C}"/>
              </a:ext>
            </a:extLst>
          </p:cNvPr>
          <p:cNvSpPr/>
          <p:nvPr/>
        </p:nvSpPr>
        <p:spPr>
          <a:xfrm>
            <a:off x="4949060" y="2455955"/>
            <a:ext cx="1028123" cy="385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125" tIns="29125" rIns="29125" bIns="29125" anchor="t" anchorCtr="0">
            <a:norm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3"/>
              <a:buFont typeface="Arial"/>
              <a:buNone/>
            </a:pPr>
            <a:r>
              <a:rPr lang="es-419" sz="1193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Modelos Complejos</a:t>
            </a:r>
            <a:endParaRPr sz="1193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506;p25">
            <a:extLst>
              <a:ext uri="{FF2B5EF4-FFF2-40B4-BE49-F238E27FC236}">
                <a16:creationId xmlns:a16="http://schemas.microsoft.com/office/drawing/2014/main" id="{5D581054-4F4F-4E4D-B539-81FB90CB8095}"/>
              </a:ext>
            </a:extLst>
          </p:cNvPr>
          <p:cNvSpPr/>
          <p:nvPr/>
        </p:nvSpPr>
        <p:spPr>
          <a:xfrm>
            <a:off x="5364009" y="2179008"/>
            <a:ext cx="197762" cy="232371"/>
          </a:xfrm>
          <a:custGeom>
            <a:avLst/>
            <a:gdLst/>
            <a:ahLst/>
            <a:cxnLst/>
            <a:rect l="l" t="t" r="r" b="b"/>
            <a:pathLst>
              <a:path w="264808" h="311150" extrusionOk="0">
                <a:moveTo>
                  <a:pt x="87598" y="32709"/>
                </a:moveTo>
                <a:cubicBezTo>
                  <a:pt x="93295" y="13567"/>
                  <a:pt x="111028" y="-392"/>
                  <a:pt x="132020" y="-392"/>
                </a:cubicBezTo>
                <a:cubicBezTo>
                  <a:pt x="153013" y="-392"/>
                  <a:pt x="170746" y="13567"/>
                  <a:pt x="176443" y="32709"/>
                </a:cubicBezTo>
                <a:lnTo>
                  <a:pt x="237944" y="32709"/>
                </a:lnTo>
                <a:cubicBezTo>
                  <a:pt x="252569" y="32709"/>
                  <a:pt x="264425" y="44565"/>
                  <a:pt x="264425" y="59190"/>
                </a:cubicBezTo>
                <a:lnTo>
                  <a:pt x="264425" y="284278"/>
                </a:lnTo>
                <a:cubicBezTo>
                  <a:pt x="264425" y="298902"/>
                  <a:pt x="252569" y="310758"/>
                  <a:pt x="237944" y="310758"/>
                </a:cubicBezTo>
                <a:lnTo>
                  <a:pt x="26097" y="310758"/>
                </a:lnTo>
                <a:cubicBezTo>
                  <a:pt x="11472" y="310758"/>
                  <a:pt x="-384" y="298902"/>
                  <a:pt x="-384" y="284278"/>
                </a:cubicBezTo>
                <a:lnTo>
                  <a:pt x="-384" y="59190"/>
                </a:lnTo>
                <a:cubicBezTo>
                  <a:pt x="-384" y="44565"/>
                  <a:pt x="11472" y="32709"/>
                  <a:pt x="26097" y="32709"/>
                </a:cubicBezTo>
                <a:lnTo>
                  <a:pt x="87598" y="32709"/>
                </a:lnTo>
                <a:moveTo>
                  <a:pt x="132020" y="52570"/>
                </a:moveTo>
                <a:cubicBezTo>
                  <a:pt x="139333" y="52570"/>
                  <a:pt x="145261" y="46642"/>
                  <a:pt x="145261" y="39329"/>
                </a:cubicBezTo>
                <a:cubicBezTo>
                  <a:pt x="145261" y="32017"/>
                  <a:pt x="139333" y="26089"/>
                  <a:pt x="132020" y="26089"/>
                </a:cubicBezTo>
                <a:cubicBezTo>
                  <a:pt x="124708" y="26089"/>
                  <a:pt x="118780" y="32017"/>
                  <a:pt x="118780" y="39329"/>
                </a:cubicBezTo>
                <a:cubicBezTo>
                  <a:pt x="118780" y="46642"/>
                  <a:pt x="124708" y="52570"/>
                  <a:pt x="132020" y="52570"/>
                </a:cubicBezTo>
                <a:moveTo>
                  <a:pt x="65818" y="98911"/>
                </a:moveTo>
                <a:cubicBezTo>
                  <a:pt x="58506" y="98911"/>
                  <a:pt x="52578" y="104839"/>
                  <a:pt x="52578" y="112152"/>
                </a:cubicBezTo>
                <a:cubicBezTo>
                  <a:pt x="52578" y="119464"/>
                  <a:pt x="58506" y="125392"/>
                  <a:pt x="65818" y="125392"/>
                </a:cubicBezTo>
                <a:lnTo>
                  <a:pt x="198223" y="125392"/>
                </a:lnTo>
                <a:cubicBezTo>
                  <a:pt x="205535" y="125392"/>
                  <a:pt x="211463" y="119464"/>
                  <a:pt x="211463" y="112152"/>
                </a:cubicBezTo>
                <a:cubicBezTo>
                  <a:pt x="211463" y="104839"/>
                  <a:pt x="205535" y="98911"/>
                  <a:pt x="198223" y="98911"/>
                </a:cubicBezTo>
                <a:lnTo>
                  <a:pt x="65818" y="98911"/>
                </a:lnTo>
                <a:moveTo>
                  <a:pt x="65818" y="158493"/>
                </a:moveTo>
                <a:cubicBezTo>
                  <a:pt x="58506" y="158493"/>
                  <a:pt x="52578" y="164421"/>
                  <a:pt x="52578" y="171734"/>
                </a:cubicBezTo>
                <a:cubicBezTo>
                  <a:pt x="52578" y="179046"/>
                  <a:pt x="58506" y="184974"/>
                  <a:pt x="65818" y="184974"/>
                </a:cubicBezTo>
                <a:lnTo>
                  <a:pt x="198223" y="184974"/>
                </a:lnTo>
                <a:cubicBezTo>
                  <a:pt x="205535" y="184974"/>
                  <a:pt x="211463" y="179046"/>
                  <a:pt x="211463" y="171734"/>
                </a:cubicBezTo>
                <a:cubicBezTo>
                  <a:pt x="211463" y="164421"/>
                  <a:pt x="205535" y="158493"/>
                  <a:pt x="198223" y="158493"/>
                </a:cubicBezTo>
                <a:lnTo>
                  <a:pt x="65818" y="158493"/>
                </a:lnTo>
                <a:moveTo>
                  <a:pt x="65818" y="218075"/>
                </a:moveTo>
                <a:cubicBezTo>
                  <a:pt x="58506" y="218075"/>
                  <a:pt x="52578" y="224003"/>
                  <a:pt x="52578" y="231316"/>
                </a:cubicBezTo>
                <a:cubicBezTo>
                  <a:pt x="52578" y="238628"/>
                  <a:pt x="58506" y="244556"/>
                  <a:pt x="65818" y="244556"/>
                </a:cubicBezTo>
                <a:lnTo>
                  <a:pt x="132020" y="244556"/>
                </a:lnTo>
                <a:cubicBezTo>
                  <a:pt x="139333" y="244556"/>
                  <a:pt x="145261" y="238628"/>
                  <a:pt x="145261" y="231316"/>
                </a:cubicBezTo>
                <a:cubicBezTo>
                  <a:pt x="145261" y="224003"/>
                  <a:pt x="139333" y="218075"/>
                  <a:pt x="132020" y="218075"/>
                </a:cubicBezTo>
                <a:lnTo>
                  <a:pt x="65818" y="218075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507;p25">
            <a:extLst>
              <a:ext uri="{FF2B5EF4-FFF2-40B4-BE49-F238E27FC236}">
                <a16:creationId xmlns:a16="http://schemas.microsoft.com/office/drawing/2014/main" id="{CE4C637C-AA3C-4DF5-BB91-6D8498E1CA12}"/>
              </a:ext>
            </a:extLst>
          </p:cNvPr>
          <p:cNvSpPr/>
          <p:nvPr/>
        </p:nvSpPr>
        <p:spPr>
          <a:xfrm>
            <a:off x="3104083" y="2218993"/>
            <a:ext cx="203486" cy="219567"/>
          </a:xfrm>
          <a:custGeom>
            <a:avLst/>
            <a:gdLst/>
            <a:ahLst/>
            <a:cxnLst/>
            <a:rect l="l" t="t" r="r" b="b"/>
            <a:pathLst>
              <a:path w="272472" h="294005" extrusionOk="0">
                <a:moveTo>
                  <a:pt x="221499" y="294119"/>
                </a:moveTo>
                <a:lnTo>
                  <a:pt x="51204" y="294119"/>
                </a:lnTo>
                <a:cubicBezTo>
                  <a:pt x="22253" y="294119"/>
                  <a:pt x="115" y="272886"/>
                  <a:pt x="115" y="245118"/>
                </a:cubicBezTo>
                <a:lnTo>
                  <a:pt x="115" y="49115"/>
                </a:lnTo>
                <a:cubicBezTo>
                  <a:pt x="115" y="21348"/>
                  <a:pt x="22253" y="114"/>
                  <a:pt x="51204" y="114"/>
                </a:cubicBezTo>
                <a:lnTo>
                  <a:pt x="221499" y="114"/>
                </a:lnTo>
                <a:cubicBezTo>
                  <a:pt x="250449" y="114"/>
                  <a:pt x="272588" y="21348"/>
                  <a:pt x="272588" y="49115"/>
                </a:cubicBezTo>
                <a:lnTo>
                  <a:pt x="272588" y="245118"/>
                </a:lnTo>
                <a:cubicBezTo>
                  <a:pt x="272588" y="272886"/>
                  <a:pt x="250449" y="294119"/>
                  <a:pt x="221499" y="294119"/>
                </a:cubicBezTo>
                <a:moveTo>
                  <a:pt x="136351" y="135450"/>
                </a:moveTo>
                <a:cubicBezTo>
                  <a:pt x="173816" y="135450"/>
                  <a:pt x="204469" y="104999"/>
                  <a:pt x="204469" y="67782"/>
                </a:cubicBezTo>
                <a:cubicBezTo>
                  <a:pt x="204469" y="57632"/>
                  <a:pt x="197658" y="50865"/>
                  <a:pt x="187440" y="50865"/>
                </a:cubicBezTo>
                <a:cubicBezTo>
                  <a:pt x="177222" y="50865"/>
                  <a:pt x="170411" y="57632"/>
                  <a:pt x="170411" y="67782"/>
                </a:cubicBezTo>
                <a:cubicBezTo>
                  <a:pt x="170411" y="86391"/>
                  <a:pt x="155084" y="101616"/>
                  <a:pt x="136351" y="101616"/>
                </a:cubicBezTo>
                <a:cubicBezTo>
                  <a:pt x="117619" y="101616"/>
                  <a:pt x="102292" y="86391"/>
                  <a:pt x="102292" y="67782"/>
                </a:cubicBezTo>
                <a:cubicBezTo>
                  <a:pt x="102292" y="57632"/>
                  <a:pt x="95480" y="50865"/>
                  <a:pt x="85263" y="50865"/>
                </a:cubicBezTo>
                <a:cubicBezTo>
                  <a:pt x="75045" y="50865"/>
                  <a:pt x="68233" y="57632"/>
                  <a:pt x="68233" y="67782"/>
                </a:cubicBezTo>
                <a:cubicBezTo>
                  <a:pt x="68233" y="104999"/>
                  <a:pt x="98886" y="135450"/>
                  <a:pt x="136351" y="135450"/>
                </a:cubicBezTo>
                <a:moveTo>
                  <a:pt x="170411" y="236952"/>
                </a:moveTo>
                <a:cubicBezTo>
                  <a:pt x="180628" y="236952"/>
                  <a:pt x="187440" y="230185"/>
                  <a:pt x="187440" y="220034"/>
                </a:cubicBezTo>
                <a:cubicBezTo>
                  <a:pt x="187440" y="209885"/>
                  <a:pt x="180628" y="203117"/>
                  <a:pt x="170411" y="203117"/>
                </a:cubicBezTo>
                <a:lnTo>
                  <a:pt x="102292" y="203117"/>
                </a:lnTo>
                <a:cubicBezTo>
                  <a:pt x="92075" y="203117"/>
                  <a:pt x="85263" y="209885"/>
                  <a:pt x="85263" y="220034"/>
                </a:cubicBezTo>
                <a:cubicBezTo>
                  <a:pt x="85263" y="230185"/>
                  <a:pt x="92075" y="236952"/>
                  <a:pt x="102292" y="236952"/>
                </a:cubicBezTo>
                <a:lnTo>
                  <a:pt x="170411" y="236952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476566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/>
        </p:nvSpPr>
        <p:spPr>
          <a:xfrm>
            <a:off x="506795" y="918372"/>
            <a:ext cx="819039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PARSIMONIA Y REGULARIZACIÓN</a:t>
            </a:r>
          </a:p>
        </p:txBody>
      </p:sp>
      <p:sp>
        <p:nvSpPr>
          <p:cNvPr id="15" name="Rectángulo redondeado 31">
            <a:extLst>
              <a:ext uri="{FF2B5EF4-FFF2-40B4-BE49-F238E27FC236}">
                <a16:creationId xmlns:a16="http://schemas.microsoft.com/office/drawing/2014/main" id="{27C18CF9-424A-462A-B692-A31220CD5070}"/>
              </a:ext>
            </a:extLst>
          </p:cNvPr>
          <p:cNvSpPr/>
          <p:nvPr/>
        </p:nvSpPr>
        <p:spPr>
          <a:xfrm>
            <a:off x="503237" y="1476080"/>
            <a:ext cx="8017737" cy="923356"/>
          </a:xfrm>
          <a:prstGeom prst="roundRect">
            <a:avLst/>
          </a:prstGeom>
          <a:solidFill>
            <a:srgbClr val="D1E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4000" tIns="0" rIns="0" bIns="0" rtlCol="0" anchor="ctr"/>
          <a:lstStyle/>
          <a:p>
            <a:pPr marL="134938" indent="-134938">
              <a:buClr>
                <a:srgbClr val="00B2C4"/>
              </a:buClr>
              <a:buFont typeface="Arial" charset="0"/>
              <a:buChar char="•"/>
            </a:pPr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Si los modelos tienen rendimientos similares, elegir el más simple.</a:t>
            </a:r>
          </a:p>
        </p:txBody>
      </p:sp>
      <p:sp>
        <p:nvSpPr>
          <p:cNvPr id="16" name="Redondear rectángulo de esquina del mismo lado 33">
            <a:extLst>
              <a:ext uri="{FF2B5EF4-FFF2-40B4-BE49-F238E27FC236}">
                <a16:creationId xmlns:a16="http://schemas.microsoft.com/office/drawing/2014/main" id="{F54373F5-90C3-4E9C-A823-05ACDDA70945}"/>
              </a:ext>
            </a:extLst>
          </p:cNvPr>
          <p:cNvSpPr/>
          <p:nvPr/>
        </p:nvSpPr>
        <p:spPr>
          <a:xfrm rot="16200000">
            <a:off x="420746" y="1552563"/>
            <a:ext cx="929364" cy="764381"/>
          </a:xfrm>
          <a:prstGeom prst="round2SameRect">
            <a:avLst/>
          </a:prstGeom>
          <a:solidFill>
            <a:srgbClr val="00B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87F68C9-3080-4872-89F0-9767C901A18F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623026" y="1654207"/>
            <a:ext cx="524802" cy="561091"/>
          </a:xfrm>
          <a:prstGeom prst="rect">
            <a:avLst/>
          </a:prstGeom>
        </p:spPr>
      </p:pic>
      <p:sp>
        <p:nvSpPr>
          <p:cNvPr id="18" name="Rectángulo redondeado 31">
            <a:extLst>
              <a:ext uri="{FF2B5EF4-FFF2-40B4-BE49-F238E27FC236}">
                <a16:creationId xmlns:a16="http://schemas.microsoft.com/office/drawing/2014/main" id="{52F26D70-B6D9-484E-8790-7508E8DAA5A8}"/>
              </a:ext>
            </a:extLst>
          </p:cNvPr>
          <p:cNvSpPr/>
          <p:nvPr/>
        </p:nvSpPr>
        <p:spPr>
          <a:xfrm>
            <a:off x="503238" y="2520512"/>
            <a:ext cx="8017736" cy="923356"/>
          </a:xfrm>
          <a:prstGeom prst="roundRect">
            <a:avLst/>
          </a:prstGeom>
          <a:solidFill>
            <a:srgbClr val="D1E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4000" tIns="0" rIns="0" bIns="0" rtlCol="0" anchor="ctr"/>
          <a:lstStyle/>
          <a:p>
            <a:pPr marL="134938" indent="-134938">
              <a:buClr>
                <a:srgbClr val="00B2C4"/>
              </a:buClr>
              <a:buFont typeface="Arial" charset="0"/>
              <a:buChar char="•"/>
            </a:pPr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Evitar incluir variables irrelevantes.</a:t>
            </a:r>
          </a:p>
          <a:p>
            <a:pPr marL="134938" indent="-134938">
              <a:buClr>
                <a:srgbClr val="00B2C4"/>
              </a:buClr>
              <a:buFont typeface="Arial" charset="0"/>
              <a:buChar char="•"/>
            </a:pPr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Usar técnicas de selección o regularización para reducir la complejidad.</a:t>
            </a:r>
          </a:p>
        </p:txBody>
      </p:sp>
      <p:sp>
        <p:nvSpPr>
          <p:cNvPr id="19" name="Redondear rectángulo de esquina del mismo lado 33">
            <a:extLst>
              <a:ext uri="{FF2B5EF4-FFF2-40B4-BE49-F238E27FC236}">
                <a16:creationId xmlns:a16="http://schemas.microsoft.com/office/drawing/2014/main" id="{EA2F334E-5C78-45B2-A540-C7491E0C8EE0}"/>
              </a:ext>
            </a:extLst>
          </p:cNvPr>
          <p:cNvSpPr/>
          <p:nvPr/>
        </p:nvSpPr>
        <p:spPr>
          <a:xfrm rot="16200000">
            <a:off x="420746" y="2596995"/>
            <a:ext cx="929364" cy="764381"/>
          </a:xfrm>
          <a:prstGeom prst="round2SameRect">
            <a:avLst/>
          </a:prstGeom>
          <a:solidFill>
            <a:srgbClr val="00B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3F950D32-F264-456E-A854-D1724DCDAD15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623026" y="2698639"/>
            <a:ext cx="524802" cy="561091"/>
          </a:xfrm>
          <a:prstGeom prst="rect">
            <a:avLst/>
          </a:prstGeom>
        </p:spPr>
      </p:pic>
      <p:sp>
        <p:nvSpPr>
          <p:cNvPr id="32" name="Rectángulo redondeado 31">
            <a:extLst>
              <a:ext uri="{FF2B5EF4-FFF2-40B4-BE49-F238E27FC236}">
                <a16:creationId xmlns:a16="http://schemas.microsoft.com/office/drawing/2014/main" id="{48C8BE37-14F3-4644-A7A4-2BA4764D7A4F}"/>
              </a:ext>
            </a:extLst>
          </p:cNvPr>
          <p:cNvSpPr/>
          <p:nvPr/>
        </p:nvSpPr>
        <p:spPr>
          <a:xfrm>
            <a:off x="503237" y="3558935"/>
            <a:ext cx="8017736" cy="923356"/>
          </a:xfrm>
          <a:prstGeom prst="roundRect">
            <a:avLst/>
          </a:prstGeom>
          <a:solidFill>
            <a:srgbClr val="D1E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4000" tIns="0" rIns="0" bIns="0" rtlCol="0" anchor="ctr"/>
          <a:lstStyle/>
          <a:p>
            <a:pPr marL="134938" indent="-134938">
              <a:buClr>
                <a:srgbClr val="00B2C4"/>
              </a:buClr>
              <a:buFont typeface="Arial" charset="0"/>
              <a:buChar char="•"/>
            </a:pPr>
            <a:r>
              <a:rPr lang="es-MX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Consejo: </a:t>
            </a:r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un modelo más simple con casi la misma precisión es generalmente mejor que uno muy complejo y difícil de interpretar.</a:t>
            </a:r>
          </a:p>
        </p:txBody>
      </p:sp>
      <p:sp>
        <p:nvSpPr>
          <p:cNvPr id="33" name="Redondear rectángulo de esquina del mismo lado 33">
            <a:extLst>
              <a:ext uri="{FF2B5EF4-FFF2-40B4-BE49-F238E27FC236}">
                <a16:creationId xmlns:a16="http://schemas.microsoft.com/office/drawing/2014/main" id="{6EF7A0C6-2AAD-4959-B3EE-E07F7CCEE020}"/>
              </a:ext>
            </a:extLst>
          </p:cNvPr>
          <p:cNvSpPr/>
          <p:nvPr/>
        </p:nvSpPr>
        <p:spPr>
          <a:xfrm rot="16200000">
            <a:off x="420746" y="3635418"/>
            <a:ext cx="929364" cy="764381"/>
          </a:xfrm>
          <a:prstGeom prst="round2SameRect">
            <a:avLst/>
          </a:prstGeom>
          <a:solidFill>
            <a:srgbClr val="00B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B27AE4D0-4CBB-477C-903F-B8A13898759F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623026" y="3737062"/>
            <a:ext cx="524802" cy="561091"/>
          </a:xfrm>
          <a:prstGeom prst="rect">
            <a:avLst/>
          </a:prstGeom>
        </p:spPr>
      </p:pic>
      <p:sp>
        <p:nvSpPr>
          <p:cNvPr id="13" name="Google Shape;77;p5">
            <a:extLst>
              <a:ext uri="{FF2B5EF4-FFF2-40B4-BE49-F238E27FC236}">
                <a16:creationId xmlns:a16="http://schemas.microsoft.com/office/drawing/2014/main" id="{1062B604-70BC-4CC4-9CD2-1713BCFD6433}"/>
              </a:ext>
            </a:extLst>
          </p:cNvPr>
          <p:cNvSpPr/>
          <p:nvPr/>
        </p:nvSpPr>
        <p:spPr>
          <a:xfrm>
            <a:off x="503237" y="380615"/>
            <a:ext cx="618850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CRITERIOS TEÓRICOS PARA LA SELECCIÓN Y ADECUACIÓN DE MODELOS A DISTINTOS TIPOS DE DATOS Y PROBLEMAS</a:t>
            </a:r>
          </a:p>
        </p:txBody>
      </p:sp>
    </p:spTree>
    <p:extLst>
      <p:ext uri="{BB962C8B-B14F-4D97-AF65-F5344CB8AC3E}">
        <p14:creationId xmlns:p14="http://schemas.microsoft.com/office/powerpoint/2010/main" val="4250334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/>
        </p:nvSpPr>
        <p:spPr>
          <a:xfrm>
            <a:off x="506795" y="918372"/>
            <a:ext cx="819039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DATOS DESBALANCEADOS</a:t>
            </a:r>
          </a:p>
        </p:txBody>
      </p:sp>
      <p:sp>
        <p:nvSpPr>
          <p:cNvPr id="13" name="Google Shape;77;p5">
            <a:extLst>
              <a:ext uri="{FF2B5EF4-FFF2-40B4-BE49-F238E27FC236}">
                <a16:creationId xmlns:a16="http://schemas.microsoft.com/office/drawing/2014/main" id="{1062B604-70BC-4CC4-9CD2-1713BCFD6433}"/>
              </a:ext>
            </a:extLst>
          </p:cNvPr>
          <p:cNvSpPr/>
          <p:nvPr/>
        </p:nvSpPr>
        <p:spPr>
          <a:xfrm>
            <a:off x="503237" y="380615"/>
            <a:ext cx="618850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CRITERIOS TEÓRICOS PARA LA SELECCIÓN Y ADECUACIÓN DE MODELOS A DISTINTOS TIPOS DE DATOS Y PROBLEMAS</a:t>
            </a:r>
          </a:p>
        </p:txBody>
      </p:sp>
      <p:pic>
        <p:nvPicPr>
          <p:cNvPr id="14" name="Google Shape;538;p27">
            <a:extLst>
              <a:ext uri="{FF2B5EF4-FFF2-40B4-BE49-F238E27FC236}">
                <a16:creationId xmlns:a16="http://schemas.microsoft.com/office/drawing/2014/main" id="{F56875DF-B99A-4EA2-B95F-D54B01FCC9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9388" y="1463985"/>
            <a:ext cx="5625224" cy="1724266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Rectángulo 19">
            <a:extLst>
              <a:ext uri="{FF2B5EF4-FFF2-40B4-BE49-F238E27FC236}">
                <a16:creationId xmlns:a16="http://schemas.microsoft.com/office/drawing/2014/main" id="{22BB9E06-D4EB-4503-8CEA-B92A66B855D3}"/>
              </a:ext>
            </a:extLst>
          </p:cNvPr>
          <p:cNvSpPr/>
          <p:nvPr/>
        </p:nvSpPr>
        <p:spPr>
          <a:xfrm>
            <a:off x="799298" y="3414906"/>
            <a:ext cx="7897891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977900">
              <a:lnSpc>
                <a:spcPct val="90000"/>
              </a:lnSpc>
              <a:spcAft>
                <a:spcPct val="35000"/>
              </a:spcAft>
            </a:pPr>
            <a:r>
              <a:rPr lang="es-MX" b="1" dirty="0">
                <a:solidFill>
                  <a:srgbClr val="EE4639"/>
                </a:solidFill>
                <a:latin typeface="Calibri" charset="0"/>
                <a:ea typeface="Calibri" charset="0"/>
                <a:cs typeface="Calibri" charset="0"/>
              </a:rPr>
              <a:t>Cuando las clases están desigualmente representadas (por ejemplo, 1% fraude y 99% normal), la precisión global puede resultar engañosa.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A51253E5-B074-47C6-8FE8-EED2CFB03718}"/>
              </a:ext>
            </a:extLst>
          </p:cNvPr>
          <p:cNvCxnSpPr>
            <a:cxnSpLocks/>
          </p:cNvCxnSpPr>
          <p:nvPr/>
        </p:nvCxnSpPr>
        <p:spPr>
          <a:xfrm flipH="1">
            <a:off x="584897" y="3617776"/>
            <a:ext cx="1" cy="482389"/>
          </a:xfrm>
          <a:prstGeom prst="line">
            <a:avLst/>
          </a:prstGeom>
          <a:ln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6C43A5D-8F46-45B3-B94E-43C4C35639AC}"/>
              </a:ext>
            </a:extLst>
          </p:cNvPr>
          <p:cNvSpPr/>
          <p:nvPr/>
        </p:nvSpPr>
        <p:spPr>
          <a:xfrm>
            <a:off x="799298" y="4100165"/>
            <a:ext cx="7836139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77900">
              <a:lnSpc>
                <a:spcPct val="90000"/>
              </a:lnSpc>
            </a:pPr>
            <a:r>
              <a:rPr lang="es-MX" b="1" dirty="0">
                <a:solidFill>
                  <a:srgbClr val="EE4639"/>
                </a:solidFill>
                <a:latin typeface="Calibri" charset="0"/>
                <a:ea typeface="Calibri" charset="0"/>
                <a:cs typeface="Calibri" charset="0"/>
              </a:rPr>
              <a:t>Para corregirlo, se pueden aplicar técnicas como ponderación de clases, </a:t>
            </a:r>
            <a:r>
              <a:rPr lang="es-MX" b="1" dirty="0" err="1">
                <a:solidFill>
                  <a:srgbClr val="EE4639"/>
                </a:solidFill>
                <a:latin typeface="Calibri" charset="0"/>
                <a:ea typeface="Calibri" charset="0"/>
                <a:cs typeface="Calibri" charset="0"/>
              </a:rPr>
              <a:t>sobremuestreo</a:t>
            </a:r>
            <a:r>
              <a:rPr lang="es-MX" b="1" dirty="0">
                <a:solidFill>
                  <a:srgbClr val="EE4639"/>
                </a:solidFill>
                <a:latin typeface="Calibri" charset="0"/>
                <a:ea typeface="Calibri" charset="0"/>
                <a:cs typeface="Calibri" charset="0"/>
              </a:rPr>
              <a:t> (por ejemplo, SMOTE) o submuestreo.</a:t>
            </a:r>
            <a:endParaRPr lang="es-ES" b="1" dirty="0">
              <a:solidFill>
                <a:srgbClr val="EE4639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27783D34-DE2B-4CAF-8725-81F73B7E185B}"/>
              </a:ext>
            </a:extLst>
          </p:cNvPr>
          <p:cNvSpPr/>
          <p:nvPr/>
        </p:nvSpPr>
        <p:spPr>
          <a:xfrm>
            <a:off x="799299" y="4785424"/>
            <a:ext cx="789789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977900">
              <a:lnSpc>
                <a:spcPct val="90000"/>
              </a:lnSpc>
              <a:spcAft>
                <a:spcPct val="35000"/>
              </a:spcAft>
            </a:pPr>
            <a:r>
              <a:rPr lang="es-MX" b="1" dirty="0">
                <a:solidFill>
                  <a:srgbClr val="EE4639"/>
                </a:solidFill>
                <a:latin typeface="Calibri" charset="0"/>
                <a:ea typeface="Calibri" charset="0"/>
                <a:cs typeface="Calibri" charset="0"/>
              </a:rPr>
              <a:t>Además, es recomendable utilizar métricas más adecuadas como </a:t>
            </a:r>
            <a:r>
              <a:rPr lang="es-MX" b="1" dirty="0" err="1">
                <a:solidFill>
                  <a:srgbClr val="EE4639"/>
                </a:solidFill>
                <a:latin typeface="Calibri" charset="0"/>
                <a:ea typeface="Calibri" charset="0"/>
                <a:cs typeface="Calibri" charset="0"/>
              </a:rPr>
              <a:t>recall</a:t>
            </a:r>
            <a:r>
              <a:rPr lang="es-MX" b="1" dirty="0">
                <a:solidFill>
                  <a:srgbClr val="EE4639"/>
                </a:solidFill>
                <a:latin typeface="Calibri" charset="0"/>
                <a:ea typeface="Calibri" charset="0"/>
                <a:cs typeface="Calibri" charset="0"/>
              </a:rPr>
              <a:t> o F1-score, que reflejan mejor el desempeño en la clase minoritaria.</a:t>
            </a:r>
            <a:endParaRPr lang="es-PE" sz="1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4" name="Más 4">
            <a:extLst>
              <a:ext uri="{FF2B5EF4-FFF2-40B4-BE49-F238E27FC236}">
                <a16:creationId xmlns:a16="http://schemas.microsoft.com/office/drawing/2014/main" id="{17881E6A-3FC6-4063-9217-CD8240B567E2}"/>
              </a:ext>
            </a:extLst>
          </p:cNvPr>
          <p:cNvSpPr/>
          <p:nvPr/>
        </p:nvSpPr>
        <p:spPr>
          <a:xfrm>
            <a:off x="508556" y="3424678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A6005AD2-9749-466C-B954-036FB4B04B2A}"/>
              </a:ext>
            </a:extLst>
          </p:cNvPr>
          <p:cNvCxnSpPr>
            <a:cxnSpLocks/>
          </p:cNvCxnSpPr>
          <p:nvPr/>
        </p:nvCxnSpPr>
        <p:spPr>
          <a:xfrm>
            <a:off x="584897" y="4390803"/>
            <a:ext cx="0" cy="394621"/>
          </a:xfrm>
          <a:prstGeom prst="line">
            <a:avLst/>
          </a:prstGeom>
          <a:ln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ás 36">
            <a:extLst>
              <a:ext uri="{FF2B5EF4-FFF2-40B4-BE49-F238E27FC236}">
                <a16:creationId xmlns:a16="http://schemas.microsoft.com/office/drawing/2014/main" id="{5ED95F3B-AE52-4FFC-91DA-02536F21DC2A}"/>
              </a:ext>
            </a:extLst>
          </p:cNvPr>
          <p:cNvSpPr/>
          <p:nvPr/>
        </p:nvSpPr>
        <p:spPr>
          <a:xfrm>
            <a:off x="508556" y="4153338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7" name="Más 37">
            <a:extLst>
              <a:ext uri="{FF2B5EF4-FFF2-40B4-BE49-F238E27FC236}">
                <a16:creationId xmlns:a16="http://schemas.microsoft.com/office/drawing/2014/main" id="{16556977-6CEE-4D3C-956A-FA8B7DC79F99}"/>
              </a:ext>
            </a:extLst>
          </p:cNvPr>
          <p:cNvSpPr/>
          <p:nvPr/>
        </p:nvSpPr>
        <p:spPr>
          <a:xfrm>
            <a:off x="503237" y="4826640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144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/>
          <p:nvPr/>
        </p:nvSpPr>
        <p:spPr>
          <a:xfrm>
            <a:off x="503238" y="920364"/>
            <a:ext cx="726916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419" sz="16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RECURSOS COMPUTACIONALES</a:t>
            </a:r>
          </a:p>
        </p:txBody>
      </p:sp>
      <p:sp>
        <p:nvSpPr>
          <p:cNvPr id="5" name="28 Flecha derecha">
            <a:extLst>
              <a:ext uri="{FF2B5EF4-FFF2-40B4-BE49-F238E27FC236}">
                <a16:creationId xmlns:a16="http://schemas.microsoft.com/office/drawing/2014/main" id="{F3B4BBC1-329B-49F6-BBFC-0F0A02920F99}"/>
              </a:ext>
            </a:extLst>
          </p:cNvPr>
          <p:cNvSpPr/>
          <p:nvPr/>
        </p:nvSpPr>
        <p:spPr>
          <a:xfrm>
            <a:off x="3492036" y="2855282"/>
            <a:ext cx="843086" cy="296706"/>
          </a:xfrm>
          <a:prstGeom prst="rightArrow">
            <a:avLst/>
          </a:prstGeom>
          <a:solidFill>
            <a:srgbClr val="DB4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PE" sz="1600" dirty="0">
              <a:latin typeface="Calibri" panose="020F0502020204030204" pitchFamily="34" charset="0"/>
            </a:endParaRPr>
          </a:p>
        </p:txBody>
      </p:sp>
      <p:sp>
        <p:nvSpPr>
          <p:cNvPr id="6" name="Rectángulo redondeado 14">
            <a:extLst>
              <a:ext uri="{FF2B5EF4-FFF2-40B4-BE49-F238E27FC236}">
                <a16:creationId xmlns:a16="http://schemas.microsoft.com/office/drawing/2014/main" id="{6729353F-A91F-42B3-97BD-EE6C386699F5}"/>
              </a:ext>
            </a:extLst>
          </p:cNvPr>
          <p:cNvSpPr/>
          <p:nvPr/>
        </p:nvSpPr>
        <p:spPr>
          <a:xfrm>
            <a:off x="2053456" y="1267691"/>
            <a:ext cx="2518544" cy="2635262"/>
          </a:xfrm>
          <a:prstGeom prst="roundRect">
            <a:avLst>
              <a:gd name="adj" fmla="val 6572"/>
            </a:avLst>
          </a:prstGeom>
          <a:solidFill>
            <a:schemeClr val="bg1"/>
          </a:solidFill>
          <a:ln>
            <a:solidFill>
              <a:srgbClr val="FF77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000" rtlCol="0" anchor="t"/>
          <a:lstStyle/>
          <a:p>
            <a:pPr algn="ctr"/>
            <a:r>
              <a:rPr lang="es-MX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Técnicas como las redes neuronales profundas o las SVM con </a:t>
            </a:r>
            <a:r>
              <a:rPr lang="es-MX" b="1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kernel</a:t>
            </a:r>
            <a:r>
              <a:rPr lang="es-MX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 pueden requerir gran capacidad de memoria y tiempo de procesamiento, e incluso el uso de GPU para su entrenamiento.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276B4E18-7738-44FC-B895-35FE2DC7B600}"/>
              </a:ext>
            </a:extLst>
          </p:cNvPr>
          <p:cNvSpPr/>
          <p:nvPr/>
        </p:nvSpPr>
        <p:spPr>
          <a:xfrm>
            <a:off x="2045509" y="3448134"/>
            <a:ext cx="2538511" cy="454384"/>
          </a:xfrm>
          <a:prstGeom prst="roundRect">
            <a:avLst>
              <a:gd name="adj" fmla="val 23854"/>
            </a:avLst>
          </a:prstGeom>
          <a:solidFill>
            <a:srgbClr val="FF77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PE" sz="1600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Modelos complejos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12BDF96-3595-414E-AA02-84C83D26BF69}"/>
              </a:ext>
            </a:extLst>
          </p:cNvPr>
          <p:cNvSpPr/>
          <p:nvPr/>
        </p:nvSpPr>
        <p:spPr>
          <a:xfrm>
            <a:off x="2045509" y="3413540"/>
            <a:ext cx="2538511" cy="162841"/>
          </a:xfrm>
          <a:prstGeom prst="rect">
            <a:avLst/>
          </a:prstGeom>
          <a:solidFill>
            <a:srgbClr val="FF77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3" name="28 Flecha derecha">
            <a:extLst>
              <a:ext uri="{FF2B5EF4-FFF2-40B4-BE49-F238E27FC236}">
                <a16:creationId xmlns:a16="http://schemas.microsoft.com/office/drawing/2014/main" id="{6EA800F1-5851-4A58-8E86-8482960B4346}"/>
              </a:ext>
            </a:extLst>
          </p:cNvPr>
          <p:cNvSpPr/>
          <p:nvPr/>
        </p:nvSpPr>
        <p:spPr>
          <a:xfrm>
            <a:off x="6238510" y="2855282"/>
            <a:ext cx="843086" cy="296706"/>
          </a:xfrm>
          <a:prstGeom prst="rightArrow">
            <a:avLst/>
          </a:prstGeom>
          <a:solidFill>
            <a:srgbClr val="DB4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PE" sz="1600" dirty="0">
              <a:latin typeface="Calibri" panose="020F0502020204030204" pitchFamily="34" charset="0"/>
            </a:endParaRPr>
          </a:p>
        </p:txBody>
      </p:sp>
      <p:sp>
        <p:nvSpPr>
          <p:cNvPr id="14" name="Rectángulo redondeado 55">
            <a:extLst>
              <a:ext uri="{FF2B5EF4-FFF2-40B4-BE49-F238E27FC236}">
                <a16:creationId xmlns:a16="http://schemas.microsoft.com/office/drawing/2014/main" id="{65EEB74F-BA0B-41BA-BDD8-6C598DF6B25A}"/>
              </a:ext>
            </a:extLst>
          </p:cNvPr>
          <p:cNvSpPr/>
          <p:nvPr/>
        </p:nvSpPr>
        <p:spPr>
          <a:xfrm>
            <a:off x="4799930" y="1267691"/>
            <a:ext cx="2518544" cy="2635262"/>
          </a:xfrm>
          <a:prstGeom prst="roundRect">
            <a:avLst>
              <a:gd name="adj" fmla="val 6397"/>
            </a:avLst>
          </a:prstGeom>
          <a:solidFill>
            <a:schemeClr val="bg1"/>
          </a:solidFill>
          <a:ln>
            <a:solidFill>
              <a:srgbClr val="8EC5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000" rtlCol="0" anchor="t"/>
          <a:lstStyle/>
          <a:p>
            <a:pPr algn="ctr"/>
            <a:r>
              <a:rPr lang="es-MX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La regresión y los árboles de decisión suelen entrenarse más rápido y consumir menos recursos computacionales.</a:t>
            </a:r>
          </a:p>
        </p:txBody>
      </p:sp>
      <p:sp>
        <p:nvSpPr>
          <p:cNvPr id="15" name="Rectángulo redondeado 56">
            <a:extLst>
              <a:ext uri="{FF2B5EF4-FFF2-40B4-BE49-F238E27FC236}">
                <a16:creationId xmlns:a16="http://schemas.microsoft.com/office/drawing/2014/main" id="{3D955744-577A-4009-B762-51C12B8852F9}"/>
              </a:ext>
            </a:extLst>
          </p:cNvPr>
          <p:cNvSpPr/>
          <p:nvPr/>
        </p:nvSpPr>
        <p:spPr>
          <a:xfrm>
            <a:off x="4797078" y="3448134"/>
            <a:ext cx="2511227" cy="454384"/>
          </a:xfrm>
          <a:prstGeom prst="roundRect">
            <a:avLst>
              <a:gd name="adj" fmla="val 22057"/>
            </a:avLst>
          </a:prstGeom>
          <a:solidFill>
            <a:srgbClr val="8E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PE" sz="1600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Modelos simples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4AE90B-31CF-4A0E-A36B-64A65F9507E4}"/>
              </a:ext>
            </a:extLst>
          </p:cNvPr>
          <p:cNvSpPr/>
          <p:nvPr/>
        </p:nvSpPr>
        <p:spPr>
          <a:xfrm>
            <a:off x="4791983" y="3413540"/>
            <a:ext cx="2516321" cy="146513"/>
          </a:xfrm>
          <a:prstGeom prst="rect">
            <a:avLst/>
          </a:prstGeom>
          <a:solidFill>
            <a:srgbClr val="8E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1" name="Google Shape;77;p5">
            <a:extLst>
              <a:ext uri="{FF2B5EF4-FFF2-40B4-BE49-F238E27FC236}">
                <a16:creationId xmlns:a16="http://schemas.microsoft.com/office/drawing/2014/main" id="{03B3A37D-D678-4A25-A125-2110E6832F7D}"/>
              </a:ext>
            </a:extLst>
          </p:cNvPr>
          <p:cNvSpPr/>
          <p:nvPr/>
        </p:nvSpPr>
        <p:spPr>
          <a:xfrm>
            <a:off x="503237" y="380615"/>
            <a:ext cx="618850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CRITERIOS TEÓRICOS PARA LA SELECCIÓN Y ADECUACIÓN DE MODELOS A DISTINTOS TIPOS DE DATOS Y PROBLEMAS</a:t>
            </a:r>
          </a:p>
        </p:txBody>
      </p:sp>
      <p:sp>
        <p:nvSpPr>
          <p:cNvPr id="22" name="Google Shape;76;p5">
            <a:extLst>
              <a:ext uri="{FF2B5EF4-FFF2-40B4-BE49-F238E27FC236}">
                <a16:creationId xmlns:a16="http://schemas.microsoft.com/office/drawing/2014/main" id="{968268B4-BCFA-4D0E-858D-EE5DC157C08E}"/>
              </a:ext>
            </a:extLst>
          </p:cNvPr>
          <p:cNvSpPr txBox="1"/>
          <p:nvPr/>
        </p:nvSpPr>
        <p:spPr>
          <a:xfrm>
            <a:off x="503237" y="4447309"/>
            <a:ext cx="819039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Consideración: </a:t>
            </a:r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 importante evaluar el tiempo de entrenamiento e inferencia, especialmente si el sistema necesita respuestas en tiempo real o si el análisis puede realizarse de forma offline.</a:t>
            </a:r>
          </a:p>
        </p:txBody>
      </p:sp>
    </p:spTree>
    <p:extLst>
      <p:ext uri="{BB962C8B-B14F-4D97-AF65-F5344CB8AC3E}">
        <p14:creationId xmlns:p14="http://schemas.microsoft.com/office/powerpoint/2010/main" val="971292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/>
        </p:nvSpPr>
        <p:spPr>
          <a:xfrm>
            <a:off x="506796" y="918372"/>
            <a:ext cx="4304195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SELECCIÓN DE MODELO (PRUEBAS Y VALIDACIÓN)</a:t>
            </a:r>
          </a:p>
          <a:p>
            <a:pPr lvl="0"/>
            <a:endParaRPr lang="es-MX" sz="1600" b="1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lvl="0" indent="-180975"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La selección de modelo implica probar varias alternativas de forma iterativa para identificar la que ofrece mejor desempeño.</a:t>
            </a:r>
          </a:p>
          <a:p>
            <a:pPr marL="180975" lvl="0" indent="-180975">
              <a:buClr>
                <a:srgbClr val="262626"/>
              </a:buClr>
              <a:buSzPts val="1600"/>
              <a:buFont typeface="Arial"/>
              <a:buChar char="•"/>
            </a:pPr>
            <a:endParaRPr lang="es-MX" sz="1600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lvl="0" indent="-180975"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 recomendable utilizar </a:t>
            </a:r>
            <a:r>
              <a:rPr lang="es-MX" sz="1600" b="1" dirty="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validación cruzada</a:t>
            </a:r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y técnicas de ajuste de </a:t>
            </a:r>
            <a:r>
              <a:rPr lang="es-MX" sz="1600" dirty="0" err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hiperparámetros</a:t>
            </a:r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, como </a:t>
            </a:r>
            <a:r>
              <a:rPr lang="es-MX" sz="1600" b="1" dirty="0" err="1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grid</a:t>
            </a:r>
            <a:r>
              <a:rPr lang="es-MX" sz="1600" b="1" dirty="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 sz="1600" b="1" dirty="0" err="1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, para comparar resultados de manera objetiva.</a:t>
            </a:r>
          </a:p>
          <a:p>
            <a:pPr marL="180975" lvl="0" indent="-180975">
              <a:buClr>
                <a:srgbClr val="262626"/>
              </a:buClr>
              <a:buSzPts val="1600"/>
              <a:buFont typeface="Arial"/>
              <a:buChar char="•"/>
            </a:pPr>
            <a:endParaRPr lang="es-MX" sz="1600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lvl="0" indent="-180975"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Además, existen herramientas de </a:t>
            </a:r>
            <a:r>
              <a:rPr lang="es-MX" sz="1600" b="1" dirty="0" err="1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AutoML</a:t>
            </a:r>
            <a:r>
              <a:rPr lang="es-MX" sz="1600" b="1" dirty="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que automatizan la prueba de múltiples combinaciones de modelos y parámetros, lo que optimiza el proceso de selección.</a:t>
            </a:r>
          </a:p>
        </p:txBody>
      </p:sp>
      <p:sp>
        <p:nvSpPr>
          <p:cNvPr id="5" name="Google Shape;77;p5">
            <a:extLst>
              <a:ext uri="{FF2B5EF4-FFF2-40B4-BE49-F238E27FC236}">
                <a16:creationId xmlns:a16="http://schemas.microsoft.com/office/drawing/2014/main" id="{41F71167-7415-4316-AB1A-136D6474B040}"/>
              </a:ext>
            </a:extLst>
          </p:cNvPr>
          <p:cNvSpPr/>
          <p:nvPr/>
        </p:nvSpPr>
        <p:spPr>
          <a:xfrm>
            <a:off x="503237" y="380615"/>
            <a:ext cx="618850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CRITERIOS TEÓRICOS PARA LA SELECCIÓN Y ADECUACIÓN DE MODELOS A DISTINTOS TIPOS DE DATOS Y PROBLEMAS</a:t>
            </a:r>
          </a:p>
        </p:txBody>
      </p:sp>
      <p:pic>
        <p:nvPicPr>
          <p:cNvPr id="8" name="Google Shape;562;p29">
            <a:extLst>
              <a:ext uri="{FF2B5EF4-FFF2-40B4-BE49-F238E27FC236}">
                <a16:creationId xmlns:a16="http://schemas.microsoft.com/office/drawing/2014/main" id="{8EBE493D-C440-4E1E-BD7E-D820B24D153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05845" y="918372"/>
            <a:ext cx="3431359" cy="23443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3520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564;p29">
            <a:extLst>
              <a:ext uri="{FF2B5EF4-FFF2-40B4-BE49-F238E27FC236}">
                <a16:creationId xmlns:a16="http://schemas.microsoft.com/office/drawing/2014/main" id="{50B8CA14-8EF6-4BE9-85D5-3E80AD23DFB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12995" y="918372"/>
            <a:ext cx="3424209" cy="2344373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 txBox="1"/>
          <p:nvPr/>
        </p:nvSpPr>
        <p:spPr>
          <a:xfrm>
            <a:off x="506796" y="918372"/>
            <a:ext cx="430419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RECOMENDACIONES FINALES</a:t>
            </a:r>
          </a:p>
        </p:txBody>
      </p:sp>
      <p:sp>
        <p:nvSpPr>
          <p:cNvPr id="5" name="Google Shape;77;p5">
            <a:extLst>
              <a:ext uri="{FF2B5EF4-FFF2-40B4-BE49-F238E27FC236}">
                <a16:creationId xmlns:a16="http://schemas.microsoft.com/office/drawing/2014/main" id="{41F71167-7415-4316-AB1A-136D6474B040}"/>
              </a:ext>
            </a:extLst>
          </p:cNvPr>
          <p:cNvSpPr/>
          <p:nvPr/>
        </p:nvSpPr>
        <p:spPr>
          <a:xfrm>
            <a:off x="503237" y="380615"/>
            <a:ext cx="618850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CRITERIOS TEÓRICOS PARA LA SELECCIÓN Y ADECUACIÓN DE MODELOS A DISTINTOS TIPOS DE DATOS Y PROBLEMAS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A7485CD-DDD7-4DC4-9BAC-7970EB1D7815}"/>
              </a:ext>
            </a:extLst>
          </p:cNvPr>
          <p:cNvSpPr/>
          <p:nvPr/>
        </p:nvSpPr>
        <p:spPr>
          <a:xfrm>
            <a:off x="1277713" y="1447234"/>
            <a:ext cx="3069696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/>
            <a:r>
              <a:rPr lang="es-MX" dirty="0">
                <a:latin typeface="Calibri" charset="0"/>
                <a:ea typeface="Calibri" charset="0"/>
                <a:cs typeface="Calibri" charset="0"/>
              </a:rPr>
              <a:t>Validar los supuestos de modelo antes de confiar en él.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281357F-53A8-4386-916A-A2C9E669AF74}"/>
              </a:ext>
            </a:extLst>
          </p:cNvPr>
          <p:cNvSpPr/>
          <p:nvPr/>
        </p:nvSpPr>
        <p:spPr>
          <a:xfrm>
            <a:off x="503237" y="1379185"/>
            <a:ext cx="40081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s-ES" sz="2400" b="1" dirty="0">
                <a:solidFill>
                  <a:srgbClr val="01B1C3"/>
                </a:solidFill>
                <a:latin typeface="Calibri" charset="0"/>
                <a:ea typeface="Calibri" charset="0"/>
                <a:cs typeface="Calibri" charset="0"/>
              </a:rPr>
              <a:t>01</a:t>
            </a:r>
            <a:endParaRPr lang="es-PE" sz="2400" b="1" dirty="0">
              <a:solidFill>
                <a:srgbClr val="01B1C3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D252E371-240F-4A67-8AD3-5E8F22DA4B1E}"/>
              </a:ext>
            </a:extLst>
          </p:cNvPr>
          <p:cNvCxnSpPr>
            <a:cxnSpLocks/>
            <a:endCxn id="28" idx="4"/>
          </p:cNvCxnSpPr>
          <p:nvPr/>
        </p:nvCxnSpPr>
        <p:spPr>
          <a:xfrm>
            <a:off x="1059262" y="1505101"/>
            <a:ext cx="0" cy="2323924"/>
          </a:xfrm>
          <a:prstGeom prst="line">
            <a:avLst/>
          </a:prstGeom>
          <a:ln>
            <a:solidFill>
              <a:srgbClr val="01B1C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26D78BC3-9C8D-4FB4-B355-B954DEBB24C2}"/>
              </a:ext>
            </a:extLst>
          </p:cNvPr>
          <p:cNvSpPr/>
          <p:nvPr/>
        </p:nvSpPr>
        <p:spPr>
          <a:xfrm>
            <a:off x="503237" y="2065980"/>
            <a:ext cx="40081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s-ES" sz="2400" b="1" dirty="0">
                <a:solidFill>
                  <a:srgbClr val="01B1C3"/>
                </a:solidFill>
                <a:latin typeface="Calibri" charset="0"/>
                <a:ea typeface="Calibri" charset="0"/>
                <a:cs typeface="Calibri" charset="0"/>
              </a:rPr>
              <a:t>02</a:t>
            </a:r>
            <a:endParaRPr lang="es-PE" sz="2400" b="1" dirty="0">
              <a:solidFill>
                <a:srgbClr val="01B1C3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BFC1EC7-601C-411A-AA3D-6989DDAEB68D}"/>
              </a:ext>
            </a:extLst>
          </p:cNvPr>
          <p:cNvSpPr/>
          <p:nvPr/>
        </p:nvSpPr>
        <p:spPr>
          <a:xfrm>
            <a:off x="503237" y="2713842"/>
            <a:ext cx="40081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s-ES" sz="2400" b="1" dirty="0">
                <a:solidFill>
                  <a:srgbClr val="01B1C3"/>
                </a:solidFill>
                <a:latin typeface="Calibri" charset="0"/>
                <a:ea typeface="Calibri" charset="0"/>
                <a:cs typeface="Calibri" charset="0"/>
              </a:rPr>
              <a:t>03</a:t>
            </a:r>
            <a:endParaRPr lang="es-PE" sz="2800" b="1" dirty="0">
              <a:solidFill>
                <a:srgbClr val="01B1C3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7B966C1-73DA-4F24-B491-2000CD8FAAC4}"/>
              </a:ext>
            </a:extLst>
          </p:cNvPr>
          <p:cNvSpPr/>
          <p:nvPr/>
        </p:nvSpPr>
        <p:spPr>
          <a:xfrm>
            <a:off x="1277713" y="2106820"/>
            <a:ext cx="3069696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/>
            <a:r>
              <a:rPr lang="es-MX" dirty="0">
                <a:latin typeface="Calibri" charset="0"/>
                <a:ea typeface="Calibri" charset="0"/>
                <a:cs typeface="Calibri" charset="0"/>
              </a:rPr>
              <a:t>Documentar las limitaciones (sesgos, datos faltantes).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E8F1EE1-2EA9-495E-80DD-F1296AF9FC4B}"/>
              </a:ext>
            </a:extLst>
          </p:cNvPr>
          <p:cNvSpPr/>
          <p:nvPr/>
        </p:nvSpPr>
        <p:spPr>
          <a:xfrm>
            <a:off x="1284864" y="2766406"/>
            <a:ext cx="3702530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/>
            <a:r>
              <a:rPr lang="es-MX" dirty="0">
                <a:latin typeface="Calibri" charset="0"/>
                <a:ea typeface="Calibri" charset="0"/>
                <a:cs typeface="Calibri" charset="0"/>
              </a:rPr>
              <a:t>No basarse solo en métricas cuantitativas; interpretar los resultados en conjunto con expertos del dominio.</a:t>
            </a:r>
          </a:p>
        </p:txBody>
      </p:sp>
      <p:grpSp>
        <p:nvGrpSpPr>
          <p:cNvPr id="14" name="Agrupar 29">
            <a:extLst>
              <a:ext uri="{FF2B5EF4-FFF2-40B4-BE49-F238E27FC236}">
                <a16:creationId xmlns:a16="http://schemas.microsoft.com/office/drawing/2014/main" id="{D8EC32C1-3392-40FB-BDDA-988BEE096F7A}"/>
              </a:ext>
            </a:extLst>
          </p:cNvPr>
          <p:cNvGrpSpPr/>
          <p:nvPr/>
        </p:nvGrpSpPr>
        <p:grpSpPr>
          <a:xfrm>
            <a:off x="988866" y="1483224"/>
            <a:ext cx="140792" cy="140258"/>
            <a:chOff x="3427964" y="2244682"/>
            <a:chExt cx="225891" cy="225034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6D0225BC-9EB9-4905-934C-7ADF0927BA9E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1B1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745D15CE-F37B-4162-A55B-2CE1C19EB27E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5D37F18-A023-47DE-AF64-4428D760F1B4}"/>
              </a:ext>
            </a:extLst>
          </p:cNvPr>
          <p:cNvSpPr/>
          <p:nvPr/>
        </p:nvSpPr>
        <p:spPr>
          <a:xfrm>
            <a:off x="1277713" y="3641436"/>
            <a:ext cx="3069696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/>
            <a:r>
              <a:rPr lang="es-MX" dirty="0">
                <a:latin typeface="Calibri" charset="0"/>
                <a:ea typeface="Calibri" charset="0"/>
                <a:cs typeface="Calibri" charset="0"/>
              </a:rPr>
              <a:t>Mantener un ciclo de retroalimentación para ajustar el modelo con nuevos datos.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9FD42B7-F9AA-4936-857B-15BF3A9D3EBE}"/>
              </a:ext>
            </a:extLst>
          </p:cNvPr>
          <p:cNvSpPr/>
          <p:nvPr/>
        </p:nvSpPr>
        <p:spPr>
          <a:xfrm>
            <a:off x="505564" y="3585303"/>
            <a:ext cx="40081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s-ES" sz="2400" b="1" dirty="0">
                <a:solidFill>
                  <a:srgbClr val="01B1C3"/>
                </a:solidFill>
                <a:latin typeface="Calibri" charset="0"/>
                <a:ea typeface="Calibri" charset="0"/>
                <a:cs typeface="Calibri" charset="0"/>
              </a:rPr>
              <a:t>04</a:t>
            </a:r>
            <a:endParaRPr lang="es-PE" sz="2800" b="1" dirty="0">
              <a:solidFill>
                <a:srgbClr val="01B1C3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grpSp>
        <p:nvGrpSpPr>
          <p:cNvPr id="21" name="Agrupar 29">
            <a:extLst>
              <a:ext uri="{FF2B5EF4-FFF2-40B4-BE49-F238E27FC236}">
                <a16:creationId xmlns:a16="http://schemas.microsoft.com/office/drawing/2014/main" id="{B47656D7-2847-4033-977A-DAF767483E37}"/>
              </a:ext>
            </a:extLst>
          </p:cNvPr>
          <p:cNvGrpSpPr/>
          <p:nvPr/>
        </p:nvGrpSpPr>
        <p:grpSpPr>
          <a:xfrm>
            <a:off x="988866" y="2167074"/>
            <a:ext cx="140792" cy="140258"/>
            <a:chOff x="3427964" y="2244682"/>
            <a:chExt cx="225891" cy="225034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3FF5B44D-A6E9-4EE5-820A-339F5B263030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1B1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D07D7525-3A96-4DAB-BFBA-00E4C7A3AAD8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24" name="Agrupar 29">
            <a:extLst>
              <a:ext uri="{FF2B5EF4-FFF2-40B4-BE49-F238E27FC236}">
                <a16:creationId xmlns:a16="http://schemas.microsoft.com/office/drawing/2014/main" id="{DEC1BC99-2A8D-4025-B4CF-45E907984335}"/>
              </a:ext>
            </a:extLst>
          </p:cNvPr>
          <p:cNvGrpSpPr/>
          <p:nvPr/>
        </p:nvGrpSpPr>
        <p:grpSpPr>
          <a:xfrm>
            <a:off x="988866" y="2831003"/>
            <a:ext cx="140792" cy="140258"/>
            <a:chOff x="3427964" y="2244682"/>
            <a:chExt cx="225891" cy="225034"/>
          </a:xfrm>
        </p:grpSpPr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199F0F26-9383-4A80-BE22-AB6497CF169D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1B1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68DDF1FA-9283-459D-85B6-1CFF488F91F3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27" name="Agrupar 29">
            <a:extLst>
              <a:ext uri="{FF2B5EF4-FFF2-40B4-BE49-F238E27FC236}">
                <a16:creationId xmlns:a16="http://schemas.microsoft.com/office/drawing/2014/main" id="{D3FFEA4F-5EE6-426B-8FDC-AAC9DC4E7F9B}"/>
              </a:ext>
            </a:extLst>
          </p:cNvPr>
          <p:cNvGrpSpPr/>
          <p:nvPr/>
        </p:nvGrpSpPr>
        <p:grpSpPr>
          <a:xfrm>
            <a:off x="988866" y="3688767"/>
            <a:ext cx="140792" cy="140258"/>
            <a:chOff x="3427964" y="2244682"/>
            <a:chExt cx="225891" cy="225034"/>
          </a:xfrm>
        </p:grpSpPr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AC7652CA-4490-4491-9D8C-CB78B21FDA2C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1B1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B0956336-576D-47C5-BBDA-6DD3C8F2F5BC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6725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/>
        </p:nvSpPr>
        <p:spPr>
          <a:xfrm>
            <a:off x="506796" y="918372"/>
            <a:ext cx="430419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RESUMEN Y CONCLUSIONES</a:t>
            </a:r>
          </a:p>
        </p:txBody>
      </p:sp>
      <p:sp>
        <p:nvSpPr>
          <p:cNvPr id="5" name="Google Shape;77;p5">
            <a:extLst>
              <a:ext uri="{FF2B5EF4-FFF2-40B4-BE49-F238E27FC236}">
                <a16:creationId xmlns:a16="http://schemas.microsoft.com/office/drawing/2014/main" id="{41F71167-7415-4316-AB1A-136D6474B040}"/>
              </a:ext>
            </a:extLst>
          </p:cNvPr>
          <p:cNvSpPr/>
          <p:nvPr/>
        </p:nvSpPr>
        <p:spPr>
          <a:xfrm>
            <a:off x="503237" y="380615"/>
            <a:ext cx="618850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CRITERIOS TEÓRICOS PARA LA SELECCIÓN Y ADECUACIÓN DE MODELOS A DISTINTOS TIPOS DE DATOS Y PROBLEMAS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702B5E6D-1322-459E-BE1A-FCCD090BDDC4}"/>
              </a:ext>
            </a:extLst>
          </p:cNvPr>
          <p:cNvSpPr/>
          <p:nvPr/>
        </p:nvSpPr>
        <p:spPr>
          <a:xfrm>
            <a:off x="1307802" y="1400165"/>
            <a:ext cx="4186619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977900">
              <a:lnSpc>
                <a:spcPct val="90000"/>
              </a:lnSpc>
              <a:spcAft>
                <a:spcPct val="35000"/>
              </a:spcAft>
            </a:pPr>
            <a:r>
              <a:rPr lang="es-MX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No existe un “mejor modelo” universal (teorema no free lunch).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5303248D-5C89-4388-B2D2-F09C406656D0}"/>
              </a:ext>
            </a:extLst>
          </p:cNvPr>
          <p:cNvSpPr/>
          <p:nvPr/>
        </p:nvSpPr>
        <p:spPr>
          <a:xfrm>
            <a:off x="503237" y="1302119"/>
            <a:ext cx="4008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" sz="28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01</a:t>
            </a:r>
            <a:endParaRPr lang="es-PE" sz="2800" b="1" dirty="0">
              <a:solidFill>
                <a:srgbClr val="7150A0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EA9CD57E-5260-4494-BA08-17E6A73694DE}"/>
              </a:ext>
            </a:extLst>
          </p:cNvPr>
          <p:cNvCxnSpPr>
            <a:cxnSpLocks/>
            <a:endCxn id="53" idx="4"/>
          </p:cNvCxnSpPr>
          <p:nvPr/>
        </p:nvCxnSpPr>
        <p:spPr>
          <a:xfrm flipH="1">
            <a:off x="1093400" y="1494274"/>
            <a:ext cx="7270" cy="3255856"/>
          </a:xfrm>
          <a:prstGeom prst="line">
            <a:avLst/>
          </a:prstGeom>
          <a:ln>
            <a:solidFill>
              <a:srgbClr val="715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ángulo 33">
            <a:extLst>
              <a:ext uri="{FF2B5EF4-FFF2-40B4-BE49-F238E27FC236}">
                <a16:creationId xmlns:a16="http://schemas.microsoft.com/office/drawing/2014/main" id="{B47C0B69-B855-46D7-B244-C33E9F886E4B}"/>
              </a:ext>
            </a:extLst>
          </p:cNvPr>
          <p:cNvSpPr/>
          <p:nvPr/>
        </p:nvSpPr>
        <p:spPr>
          <a:xfrm>
            <a:off x="503236" y="1947598"/>
            <a:ext cx="4008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" sz="28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02</a:t>
            </a:r>
            <a:endParaRPr lang="es-PE" sz="2800" b="1" dirty="0">
              <a:solidFill>
                <a:srgbClr val="7150A0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E5DC6268-EB95-4D89-91C7-24439597C1C4}"/>
              </a:ext>
            </a:extLst>
          </p:cNvPr>
          <p:cNvSpPr/>
          <p:nvPr/>
        </p:nvSpPr>
        <p:spPr>
          <a:xfrm>
            <a:off x="499587" y="2671789"/>
            <a:ext cx="4008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" sz="28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03</a:t>
            </a:r>
            <a:endParaRPr lang="es-PE" sz="2800" b="1" dirty="0">
              <a:solidFill>
                <a:srgbClr val="7150A0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7E241025-FBA5-4303-8574-43D6FA0C1297}"/>
              </a:ext>
            </a:extLst>
          </p:cNvPr>
          <p:cNvSpPr/>
          <p:nvPr/>
        </p:nvSpPr>
        <p:spPr>
          <a:xfrm>
            <a:off x="1307802" y="2101836"/>
            <a:ext cx="4186619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77900">
              <a:lnSpc>
                <a:spcPct val="90000"/>
              </a:lnSpc>
            </a:pPr>
            <a:r>
              <a:rPr lang="es-MX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La elección depende de los datos, el problema y los objetivos.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B616F9F8-8760-4DF3-9A22-DF65A447B07D}"/>
              </a:ext>
            </a:extLst>
          </p:cNvPr>
          <p:cNvSpPr/>
          <p:nvPr/>
        </p:nvSpPr>
        <p:spPr>
          <a:xfrm>
            <a:off x="1307802" y="2803507"/>
            <a:ext cx="4186619" cy="5816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977900">
              <a:lnSpc>
                <a:spcPct val="90000"/>
              </a:lnSpc>
              <a:spcAft>
                <a:spcPct val="35000"/>
              </a:spcAft>
            </a:pPr>
            <a:r>
              <a:rPr lang="es-MX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En la práctica se busca un compromiso: precisión, interpretabilidad, costo computacional y facilidad de implementación.</a:t>
            </a:r>
          </a:p>
        </p:txBody>
      </p:sp>
      <p:grpSp>
        <p:nvGrpSpPr>
          <p:cNvPr id="38" name="Agrupar 16">
            <a:extLst>
              <a:ext uri="{FF2B5EF4-FFF2-40B4-BE49-F238E27FC236}">
                <a16:creationId xmlns:a16="http://schemas.microsoft.com/office/drawing/2014/main" id="{CEEE044F-66BC-4EE5-851A-7457D753EA33}"/>
              </a:ext>
            </a:extLst>
          </p:cNvPr>
          <p:cNvGrpSpPr/>
          <p:nvPr/>
        </p:nvGrpSpPr>
        <p:grpSpPr>
          <a:xfrm>
            <a:off x="1023005" y="2109043"/>
            <a:ext cx="140792" cy="140258"/>
            <a:chOff x="3427964" y="2244682"/>
            <a:chExt cx="225891" cy="225034"/>
          </a:xfrm>
        </p:grpSpPr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81012D7A-A941-4A22-8B35-C5075B1C743A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714F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AC6EEBC9-54AE-4DA2-B58C-06F1EFB1A7DC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41" name="Agrupar 26">
            <a:extLst>
              <a:ext uri="{FF2B5EF4-FFF2-40B4-BE49-F238E27FC236}">
                <a16:creationId xmlns:a16="http://schemas.microsoft.com/office/drawing/2014/main" id="{2DC9043A-ECF9-4DE7-901F-5EC0A976A217}"/>
              </a:ext>
            </a:extLst>
          </p:cNvPr>
          <p:cNvGrpSpPr/>
          <p:nvPr/>
        </p:nvGrpSpPr>
        <p:grpSpPr>
          <a:xfrm>
            <a:off x="1023005" y="2809450"/>
            <a:ext cx="140792" cy="140258"/>
            <a:chOff x="3427964" y="2244682"/>
            <a:chExt cx="225891" cy="225034"/>
          </a:xfrm>
        </p:grpSpPr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91308337-E2EA-4BA6-A571-EDF6AC22B4FA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714F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3FA0D1AA-FF14-4C8B-BD53-262461633EFB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44" name="Agrupar 29">
            <a:extLst>
              <a:ext uri="{FF2B5EF4-FFF2-40B4-BE49-F238E27FC236}">
                <a16:creationId xmlns:a16="http://schemas.microsoft.com/office/drawing/2014/main" id="{CF816369-D963-4AA1-B4E1-D3BA722A90E5}"/>
              </a:ext>
            </a:extLst>
          </p:cNvPr>
          <p:cNvGrpSpPr/>
          <p:nvPr/>
        </p:nvGrpSpPr>
        <p:grpSpPr>
          <a:xfrm>
            <a:off x="1023005" y="1417310"/>
            <a:ext cx="140792" cy="140258"/>
            <a:chOff x="3427964" y="2244682"/>
            <a:chExt cx="225891" cy="225034"/>
          </a:xfrm>
        </p:grpSpPr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4AC756E9-A90D-49E2-8596-3FF154CCAB41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714F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46" name="Elipse 45">
              <a:extLst>
                <a:ext uri="{FF2B5EF4-FFF2-40B4-BE49-F238E27FC236}">
                  <a16:creationId xmlns:a16="http://schemas.microsoft.com/office/drawing/2014/main" id="{32CB1D18-98BD-4EEB-8B5F-C72DCB1785E8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sp>
        <p:nvSpPr>
          <p:cNvPr id="47" name="Rectángulo 46">
            <a:extLst>
              <a:ext uri="{FF2B5EF4-FFF2-40B4-BE49-F238E27FC236}">
                <a16:creationId xmlns:a16="http://schemas.microsoft.com/office/drawing/2014/main" id="{DFFF543B-1337-418E-AF8E-07F9B20084BB}"/>
              </a:ext>
            </a:extLst>
          </p:cNvPr>
          <p:cNvSpPr/>
          <p:nvPr/>
        </p:nvSpPr>
        <p:spPr>
          <a:xfrm>
            <a:off x="1307802" y="3699078"/>
            <a:ext cx="4186619" cy="5816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977900">
              <a:lnSpc>
                <a:spcPct val="90000"/>
              </a:lnSpc>
              <a:spcAft>
                <a:spcPct val="35000"/>
              </a:spcAft>
            </a:pPr>
            <a:r>
              <a:rPr lang="es-MX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Aplicar siempre principios de ciencia de datos: limpieza y exploración inicial, validación rigurosa y ajuste iterativo del modelo.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F4633B8D-C2F5-4981-B0B5-635CE7ED1F55}"/>
              </a:ext>
            </a:extLst>
          </p:cNvPr>
          <p:cNvSpPr/>
          <p:nvPr/>
        </p:nvSpPr>
        <p:spPr>
          <a:xfrm>
            <a:off x="1307802" y="4594649"/>
            <a:ext cx="4186619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977900">
              <a:lnSpc>
                <a:spcPct val="90000"/>
              </a:lnSpc>
              <a:spcAft>
                <a:spcPct val="35000"/>
              </a:spcAft>
            </a:pPr>
            <a:r>
              <a:rPr lang="es-MX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La selección de modelos es tanto teórica como empírica.</a:t>
            </a:r>
          </a:p>
        </p:txBody>
      </p:sp>
      <p:grpSp>
        <p:nvGrpSpPr>
          <p:cNvPr id="49" name="Agrupar 26">
            <a:extLst>
              <a:ext uri="{FF2B5EF4-FFF2-40B4-BE49-F238E27FC236}">
                <a16:creationId xmlns:a16="http://schemas.microsoft.com/office/drawing/2014/main" id="{599F2894-7899-4618-812F-BC839E18AAEF}"/>
              </a:ext>
            </a:extLst>
          </p:cNvPr>
          <p:cNvGrpSpPr/>
          <p:nvPr/>
        </p:nvGrpSpPr>
        <p:grpSpPr>
          <a:xfrm>
            <a:off x="1039722" y="3699078"/>
            <a:ext cx="140792" cy="140258"/>
            <a:chOff x="3427964" y="2244682"/>
            <a:chExt cx="225891" cy="225034"/>
          </a:xfrm>
        </p:grpSpPr>
        <p:sp>
          <p:nvSpPr>
            <p:cNvPr id="50" name="Elipse 49">
              <a:extLst>
                <a:ext uri="{FF2B5EF4-FFF2-40B4-BE49-F238E27FC236}">
                  <a16:creationId xmlns:a16="http://schemas.microsoft.com/office/drawing/2014/main" id="{67C2AB80-8C4E-425C-BA1C-F5A0BBA1CE89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714F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51" name="Elipse 50">
              <a:extLst>
                <a:ext uri="{FF2B5EF4-FFF2-40B4-BE49-F238E27FC236}">
                  <a16:creationId xmlns:a16="http://schemas.microsoft.com/office/drawing/2014/main" id="{A9DB9D50-091F-430C-8FFD-669C41F816A2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52" name="Agrupar 26">
            <a:extLst>
              <a:ext uri="{FF2B5EF4-FFF2-40B4-BE49-F238E27FC236}">
                <a16:creationId xmlns:a16="http://schemas.microsoft.com/office/drawing/2014/main" id="{6F4E7109-13AC-44E5-A1EC-9F30B994D0CF}"/>
              </a:ext>
            </a:extLst>
          </p:cNvPr>
          <p:cNvGrpSpPr/>
          <p:nvPr/>
        </p:nvGrpSpPr>
        <p:grpSpPr>
          <a:xfrm>
            <a:off x="1023004" y="4609872"/>
            <a:ext cx="140792" cy="140258"/>
            <a:chOff x="3427964" y="2244682"/>
            <a:chExt cx="225891" cy="225034"/>
          </a:xfrm>
        </p:grpSpPr>
        <p:sp>
          <p:nvSpPr>
            <p:cNvPr id="53" name="Elipse 52">
              <a:extLst>
                <a:ext uri="{FF2B5EF4-FFF2-40B4-BE49-F238E27FC236}">
                  <a16:creationId xmlns:a16="http://schemas.microsoft.com/office/drawing/2014/main" id="{593C242E-BFFC-4F96-9A39-B7EABBA340BB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714F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54" name="Elipse 53">
              <a:extLst>
                <a:ext uri="{FF2B5EF4-FFF2-40B4-BE49-F238E27FC236}">
                  <a16:creationId xmlns:a16="http://schemas.microsoft.com/office/drawing/2014/main" id="{C339FF52-0456-4E11-B2E8-DCAD72FCC676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sp>
        <p:nvSpPr>
          <p:cNvPr id="55" name="Rectángulo 54">
            <a:extLst>
              <a:ext uri="{FF2B5EF4-FFF2-40B4-BE49-F238E27FC236}">
                <a16:creationId xmlns:a16="http://schemas.microsoft.com/office/drawing/2014/main" id="{D981CFCE-2A76-4062-A6B6-71B291313C2F}"/>
              </a:ext>
            </a:extLst>
          </p:cNvPr>
          <p:cNvSpPr/>
          <p:nvPr/>
        </p:nvSpPr>
        <p:spPr>
          <a:xfrm>
            <a:off x="499586" y="3517290"/>
            <a:ext cx="4008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" sz="28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04</a:t>
            </a:r>
            <a:endParaRPr lang="es-PE" sz="2800" b="1" dirty="0">
              <a:solidFill>
                <a:srgbClr val="7150A0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758DEE4E-3604-4316-A67B-7D28C4EE17DF}"/>
              </a:ext>
            </a:extLst>
          </p:cNvPr>
          <p:cNvSpPr/>
          <p:nvPr/>
        </p:nvSpPr>
        <p:spPr>
          <a:xfrm>
            <a:off x="506796" y="4449279"/>
            <a:ext cx="4008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" sz="28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0</a:t>
            </a:r>
            <a:r>
              <a:rPr lang="es-PE" sz="28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5</a:t>
            </a:r>
            <a:endParaRPr lang="es-ES" sz="2800" b="1" dirty="0">
              <a:solidFill>
                <a:srgbClr val="7150A0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57" name="Google Shape;601;p31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52B7F76E-2D4E-4352-9D6F-2B6917A81C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1923" t="30100" r="7005" b="39463"/>
          <a:stretch/>
        </p:blipFill>
        <p:spPr>
          <a:xfrm>
            <a:off x="5822422" y="1787963"/>
            <a:ext cx="2656808" cy="25582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8311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8A495D6D-73E7-D64C-AD5A-8212D6B1E2F3}"/>
              </a:ext>
            </a:extLst>
          </p:cNvPr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682CC9F8-A9FF-BF41-B987-57AFB7D160FE}"/>
                </a:ext>
              </a:extLst>
            </p:cNvPr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ES_tradnl" sz="3600" b="1" dirty="0">
                  <a:solidFill>
                    <a:schemeClr val="bg1"/>
                  </a:solidFill>
                  <a:latin typeface="Graphik Bold" charset="0"/>
                </a:rPr>
                <a:t>CONCLUSIONES</a:t>
              </a:r>
              <a:b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</a:br>
              <a:endParaRPr lang="es-ES_tradnl" sz="36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endParaRP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2CD7628C-6304-5D4B-BA7D-591238143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</p:spPr>
        </p:pic>
      </p:grpSp>
      <p:pic>
        <p:nvPicPr>
          <p:cNvPr id="10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3" y="946969"/>
            <a:ext cx="2072214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250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2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2"/>
          <p:cNvSpPr txBox="1"/>
          <p:nvPr/>
        </p:nvSpPr>
        <p:spPr>
          <a:xfrm>
            <a:off x="1279545" y="912813"/>
            <a:ext cx="5705454" cy="236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selección del modelo es una decisión estratégica en soluciones IA.</a:t>
            </a:r>
          </a:p>
          <a:p>
            <a:pPr lvl="0"/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Comprender los fundamentos ayuda a evitar elecciones incorrectas.</a:t>
            </a:r>
          </a:p>
          <a:p>
            <a:pPr lvl="0"/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modelos básicos ofrecen un buen equilibrio entre desempeño e interpretabilidad.</a:t>
            </a:r>
          </a:p>
          <a:p>
            <a:pPr lvl="0"/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Comparar modelos permite elegir la mejor alternativa según el contexto.</a:t>
            </a:r>
          </a:p>
          <a:p>
            <a:pPr lvl="0"/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 sesión prepara al estudiante para evaluar y validar modelos en la siguiente etapa.</a:t>
            </a:r>
          </a:p>
        </p:txBody>
      </p:sp>
      <p:pic>
        <p:nvPicPr>
          <p:cNvPr id="429" name="Google Shape;429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260" y="954885"/>
            <a:ext cx="114138" cy="117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260" y="1413323"/>
            <a:ext cx="114138" cy="117546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2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2" name="Google Shape;432;p32"/>
          <p:cNvPicPr preferRelativeResize="0"/>
          <p:nvPr/>
        </p:nvPicPr>
        <p:blipFill rotWithShape="1">
          <a:blip r:embed="rId4">
            <a:alphaModFix amt="42000"/>
          </a:blip>
          <a:srcRect/>
          <a:stretch/>
        </p:blipFill>
        <p:spPr>
          <a:xfrm>
            <a:off x="6984999" y="3048772"/>
            <a:ext cx="1690689" cy="21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2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419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CONCLUSIONES </a:t>
            </a:r>
            <a:endParaRPr/>
          </a:p>
        </p:txBody>
      </p:sp>
      <p:pic>
        <p:nvPicPr>
          <p:cNvPr id="434" name="Google Shape;43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260" y="1812988"/>
            <a:ext cx="114138" cy="117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260" y="2436126"/>
            <a:ext cx="114138" cy="117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435;p32">
            <a:extLst>
              <a:ext uri="{FF2B5EF4-FFF2-40B4-BE49-F238E27FC236}">
                <a16:creationId xmlns:a16="http://schemas.microsoft.com/office/drawing/2014/main" id="{FF72F425-88FE-4940-B393-8FEB816FEF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260" y="2884565"/>
            <a:ext cx="114138" cy="117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DC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C9F27E8-E0F0-CF48-B2E7-A2617B9B1DEA}"/>
              </a:ext>
            </a:extLst>
          </p:cNvPr>
          <p:cNvSpPr txBox="1"/>
          <p:nvPr/>
        </p:nvSpPr>
        <p:spPr>
          <a:xfrm>
            <a:off x="2519363" y="2540738"/>
            <a:ext cx="4581728" cy="997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ES_tradnl" sz="36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BIBLIOGRAFÍA</a:t>
            </a:r>
            <a:br>
              <a:rPr lang="es-ES_tradnl" sz="36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</a:br>
            <a:r>
              <a:rPr lang="es-ES_tradnl" sz="36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MÁS REFERENCIAS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CD7628C-6304-5D4B-BA7D-591238143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6970"/>
            <a:ext cx="2072061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6765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4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4"/>
          <p:cNvSpPr txBox="1"/>
          <p:nvPr/>
        </p:nvSpPr>
        <p:spPr>
          <a:xfrm>
            <a:off x="1279009" y="917823"/>
            <a:ext cx="5773921" cy="220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chemeClr val="dk1"/>
              </a:buClr>
              <a:buSzPts val="1285"/>
            </a:pPr>
            <a:r>
              <a:rPr lang="es-419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Diez, J. J. R. (2023). </a:t>
            </a:r>
            <a:r>
              <a:rPr lang="es-419" i="1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Aprendizaje automático en ciencia de datos.</a:t>
            </a:r>
          </a:p>
          <a:p>
            <a:pPr lvl="0">
              <a:buClr>
                <a:schemeClr val="dk1"/>
              </a:buClr>
              <a:buSzPts val="1285"/>
            </a:pPr>
            <a:endParaRPr lang="es-419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1285"/>
            </a:pPr>
            <a:r>
              <a:rPr lang="es-419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Fan, J., Li, R., Zhang, C. H., &amp; </a:t>
            </a:r>
            <a:r>
              <a:rPr lang="es-419" dirty="0" err="1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Zou</a:t>
            </a:r>
            <a:r>
              <a:rPr lang="es-419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, H. (2020). </a:t>
            </a:r>
            <a:r>
              <a:rPr lang="es-419" i="1" dirty="0" err="1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Statistical</a:t>
            </a:r>
            <a:r>
              <a:rPr lang="es-419" i="1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419" i="1" dirty="0" err="1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foundations</a:t>
            </a:r>
            <a:r>
              <a:rPr lang="es-419" i="1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419" i="1" dirty="0" err="1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of</a:t>
            </a:r>
            <a:r>
              <a:rPr lang="es-419" i="1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data </a:t>
            </a:r>
            <a:r>
              <a:rPr lang="es-419" i="1" dirty="0" err="1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r>
              <a:rPr lang="es-419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. Chapman and Hall/CRC.</a:t>
            </a:r>
          </a:p>
          <a:p>
            <a:pPr lvl="0">
              <a:buClr>
                <a:schemeClr val="dk1"/>
              </a:buClr>
              <a:buSzPts val="1285"/>
            </a:pPr>
            <a:endParaRPr lang="es-419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1285"/>
            </a:pPr>
            <a:r>
              <a:rPr lang="es-419" dirty="0" err="1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Razzaq</a:t>
            </a:r>
            <a:r>
              <a:rPr lang="es-419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, K., &amp; </a:t>
            </a:r>
            <a:r>
              <a:rPr lang="es-419" dirty="0" err="1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Shah</a:t>
            </a:r>
            <a:r>
              <a:rPr lang="es-419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, M. (2025). </a:t>
            </a:r>
            <a:r>
              <a:rPr lang="es-419" i="1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Machine </a:t>
            </a:r>
            <a:r>
              <a:rPr lang="es-419" i="1" dirty="0" err="1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r>
              <a:rPr lang="es-419" i="1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s-419" i="1" dirty="0" err="1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deep</a:t>
            </a:r>
            <a:r>
              <a:rPr lang="es-419" i="1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419" i="1" dirty="0" err="1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r>
              <a:rPr lang="es-419" i="1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419" i="1" dirty="0" err="1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paradigms</a:t>
            </a:r>
            <a:r>
              <a:rPr lang="es-419" i="1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419" i="1" dirty="0" err="1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lang="es-419" i="1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419" i="1" dirty="0" err="1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techniques</a:t>
            </a:r>
            <a:r>
              <a:rPr lang="es-419" i="1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419" i="1" dirty="0" err="1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to</a:t>
            </a:r>
            <a:r>
              <a:rPr lang="es-419" i="1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419" i="1" dirty="0" err="1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r>
              <a:rPr lang="es-419" i="1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419" i="1" dirty="0" err="1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r>
              <a:rPr lang="es-419" i="1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s-419" i="1" dirty="0" err="1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r>
              <a:rPr lang="es-419" i="1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419" i="1" dirty="0" err="1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frontiers</a:t>
            </a:r>
            <a:r>
              <a:rPr lang="es-419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s-419" dirty="0" err="1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Computers</a:t>
            </a:r>
            <a:r>
              <a:rPr lang="es-419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, 14(3), 93</a:t>
            </a:r>
            <a:endParaRPr lang="es-419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1285"/>
            </a:pPr>
            <a:endParaRPr lang="es-419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1285"/>
            </a:pPr>
            <a:r>
              <a:rPr lang="es-419" dirty="0" err="1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Sarker</a:t>
            </a:r>
            <a:r>
              <a:rPr lang="es-419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, I. H. (2021). </a:t>
            </a:r>
            <a:r>
              <a:rPr lang="es-419" i="1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Machine </a:t>
            </a:r>
            <a:r>
              <a:rPr lang="es-419" i="1" dirty="0" err="1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r>
              <a:rPr lang="es-419" i="1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419" i="1" dirty="0" err="1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Algorithms</a:t>
            </a:r>
            <a:r>
              <a:rPr lang="es-419" i="1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, real-</a:t>
            </a:r>
            <a:r>
              <a:rPr lang="es-419" i="1" dirty="0" err="1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world</a:t>
            </a:r>
            <a:r>
              <a:rPr lang="es-419" i="1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419" i="1" dirty="0" err="1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r>
              <a:rPr lang="es-419" i="1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s-419" i="1" dirty="0" err="1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r>
              <a:rPr lang="es-419" i="1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419" i="1" dirty="0" err="1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directions</a:t>
            </a:r>
            <a:r>
              <a:rPr lang="es-419" i="1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s-419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SN </a:t>
            </a:r>
            <a:r>
              <a:rPr lang="es-419" dirty="0" err="1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computer</a:t>
            </a:r>
            <a:r>
              <a:rPr lang="es-419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419" dirty="0" err="1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r>
              <a:rPr lang="es-419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, 2(3), 160.</a:t>
            </a:r>
          </a:p>
        </p:txBody>
      </p:sp>
      <p:pic>
        <p:nvPicPr>
          <p:cNvPr id="451" name="Google Shape;451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8064" y="959114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8063" y="1298347"/>
            <a:ext cx="103867" cy="106967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4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4" name="Google Shape;454;p34"/>
          <p:cNvPicPr preferRelativeResize="0"/>
          <p:nvPr/>
        </p:nvPicPr>
        <p:blipFill rotWithShape="1">
          <a:blip r:embed="rId4">
            <a:alphaModFix amt="42000"/>
          </a:blip>
          <a:srcRect/>
          <a:stretch/>
        </p:blipFill>
        <p:spPr>
          <a:xfrm>
            <a:off x="6985000" y="3036889"/>
            <a:ext cx="1690688" cy="21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4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419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BIBLIOGRAFÍA</a:t>
            </a:r>
            <a:endParaRPr/>
          </a:p>
        </p:txBody>
      </p:sp>
      <p:pic>
        <p:nvPicPr>
          <p:cNvPr id="456" name="Google Shape;456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8063" y="1966107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8063" y="2751941"/>
            <a:ext cx="103867" cy="106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5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3" name="Google Shape;463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24199" y="2666298"/>
            <a:ext cx="1295601" cy="386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theme/theme1.xml><?xml version="1.0" encoding="utf-8"?>
<a:theme xmlns:a="http://schemas.openxmlformats.org/drawingml/2006/main" name="1_Diseño predeterminado">
  <a:themeElements>
    <a:clrScheme name="Personalizados 4 ISIL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DC212"/>
      </a:accent1>
      <a:accent2>
        <a:srgbClr val="EE4638"/>
      </a:accent2>
      <a:accent3>
        <a:srgbClr val="92C14E"/>
      </a:accent3>
      <a:accent4>
        <a:srgbClr val="FE7828"/>
      </a:accent4>
      <a:accent5>
        <a:srgbClr val="00B1C2"/>
      </a:accent5>
      <a:accent6>
        <a:srgbClr val="808799"/>
      </a:accent6>
      <a:hlink>
        <a:srgbClr val="7150A0"/>
      </a:hlink>
      <a:folHlink>
        <a:srgbClr val="00B1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2530</Words>
  <Application>Microsoft Office PowerPoint</Application>
  <PresentationFormat>Presentación en pantalla (16:10)</PresentationFormat>
  <Paragraphs>296</Paragraphs>
  <Slides>36</Slides>
  <Notes>33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2" baseType="lpstr">
      <vt:lpstr>Arial</vt:lpstr>
      <vt:lpstr>Calibri</vt:lpstr>
      <vt:lpstr>Graphik Bold</vt:lpstr>
      <vt:lpstr>Graphik Regular</vt:lpstr>
      <vt:lpstr>Graphik-Medium</vt:lpstr>
      <vt:lpstr>1_Diseño predeterminado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Isil</dc:creator>
  <cp:lastModifiedBy>Eddy Marcelo Bejarano Carranza</cp:lastModifiedBy>
  <cp:revision>100</cp:revision>
  <dcterms:created xsi:type="dcterms:W3CDTF">2006-06-01T21:36:00Z</dcterms:created>
  <dcterms:modified xsi:type="dcterms:W3CDTF">2026-02-16T20:15:01Z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F81A883DB9774FB69B2D160EEB34C9D0_13</vt:lpwstr>
  </property>
  <property fmtid="{D5CDD505-2E9C-101B-9397-08002B2CF9AE}" pid="3" name="KSOProductBuildVer">
    <vt:lpwstr>2058-12.2.0.23196</vt:lpwstr>
  </property>
</Properties>
</file>